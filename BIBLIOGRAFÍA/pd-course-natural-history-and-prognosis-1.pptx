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tags/tag15.xml" ContentType="application/vnd.openxmlformats-officedocument.presentationml.tags+xml"/>
  <Override PartName="/ppt/notesSlides/notesSlide17.xml" ContentType="application/vnd.openxmlformats-officedocument.presentationml.notesSlide+xml"/>
  <Override PartName="/ppt/tags/tag16.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7.xml" ContentType="application/vnd.openxmlformats-officedocument.presentationml.tags+xml"/>
  <Override PartName="/ppt/notesSlides/notesSlide21.xml" ContentType="application/vnd.openxmlformats-officedocument.presentationml.notesSlide+xml"/>
  <Override PartName="/ppt/tags/tag18.xml" ContentType="application/vnd.openxmlformats-officedocument.presentationml.tags+xml"/>
  <Override PartName="/ppt/notesSlides/notesSlide22.xml" ContentType="application/vnd.openxmlformats-officedocument.presentationml.notesSlide+xml"/>
  <Override PartName="/ppt/tags/tag19.xml" ContentType="application/vnd.openxmlformats-officedocument.presentationml.tags+xml"/>
  <Override PartName="/ppt/notesSlides/notesSlide23.xml" ContentType="application/vnd.openxmlformats-officedocument.presentationml.notesSlide+xml"/>
  <Override PartName="/ppt/tags/tag20.xml" ContentType="application/vnd.openxmlformats-officedocument.presentationml.tags+xml"/>
  <Override PartName="/ppt/notesSlides/notesSlide24.xml" ContentType="application/vnd.openxmlformats-officedocument.presentationml.notesSlide+xml"/>
  <Override PartName="/ppt/tags/tag21.xml" ContentType="application/vnd.openxmlformats-officedocument.presentationml.tags+xml"/>
  <Override PartName="/ppt/notesSlides/notesSlide25.xml" ContentType="application/vnd.openxmlformats-officedocument.presentationml.notesSlide+xml"/>
  <Override PartName="/ppt/tags/tag22.xml" ContentType="application/vnd.openxmlformats-officedocument.presentationml.tags+xml"/>
  <Override PartName="/ppt/notesSlides/notesSlide26.xml" ContentType="application/vnd.openxmlformats-officedocument.presentationml.notesSlide+xml"/>
  <Override PartName="/ppt/tags/tag23.xml" ContentType="application/vnd.openxmlformats-officedocument.presentationml.tags+xml"/>
  <Override PartName="/ppt/notesSlides/notesSlide27.xml" ContentType="application/vnd.openxmlformats-officedocument.presentationml.notesSlide+xml"/>
  <Override PartName="/ppt/tags/tag24.xml" ContentType="application/vnd.openxmlformats-officedocument.presentationml.tags+xml"/>
  <Override PartName="/ppt/notesSlides/notesSlide28.xml" ContentType="application/vnd.openxmlformats-officedocument.presentationml.notesSlide+xml"/>
  <Override PartName="/ppt/tags/tag25.xml" ContentType="application/vnd.openxmlformats-officedocument.presentationml.tags+xml"/>
  <Override PartName="/ppt/notesSlides/notesSlide29.xml" ContentType="application/vnd.openxmlformats-officedocument.presentationml.notesSlide+xml"/>
  <Override PartName="/ppt/tags/tag26.xml" ContentType="application/vnd.openxmlformats-officedocument.presentationml.tags+xml"/>
  <Override PartName="/ppt/notesSlides/notesSlide30.xml" ContentType="application/vnd.openxmlformats-officedocument.presentationml.notesSlide+xml"/>
  <Override PartName="/ppt/tags/tag27.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1" r:id="rId3"/>
  </p:sldMasterIdLst>
  <p:notesMasterIdLst>
    <p:notesMasterId r:id="rId37"/>
  </p:notesMasterIdLst>
  <p:handoutMasterIdLst>
    <p:handoutMasterId r:id="rId38"/>
  </p:handoutMasterIdLst>
  <p:sldIdLst>
    <p:sldId id="256" r:id="rId4"/>
    <p:sldId id="257" r:id="rId5"/>
    <p:sldId id="344" r:id="rId6"/>
    <p:sldId id="339" r:id="rId7"/>
    <p:sldId id="342" r:id="rId8"/>
    <p:sldId id="305" r:id="rId9"/>
    <p:sldId id="275" r:id="rId10"/>
    <p:sldId id="302" r:id="rId11"/>
    <p:sldId id="325" r:id="rId12"/>
    <p:sldId id="320" r:id="rId13"/>
    <p:sldId id="292" r:id="rId14"/>
    <p:sldId id="259" r:id="rId15"/>
    <p:sldId id="291" r:id="rId16"/>
    <p:sldId id="346" r:id="rId17"/>
    <p:sldId id="306" r:id="rId18"/>
    <p:sldId id="347" r:id="rId19"/>
    <p:sldId id="261" r:id="rId20"/>
    <p:sldId id="301" r:id="rId21"/>
    <p:sldId id="349" r:id="rId22"/>
    <p:sldId id="343" r:id="rId23"/>
    <p:sldId id="313" r:id="rId24"/>
    <p:sldId id="328" r:id="rId25"/>
    <p:sldId id="348" r:id="rId26"/>
    <p:sldId id="278" r:id="rId27"/>
    <p:sldId id="265" r:id="rId28"/>
    <p:sldId id="314" r:id="rId29"/>
    <p:sldId id="285" r:id="rId30"/>
    <p:sldId id="284" r:id="rId31"/>
    <p:sldId id="286" r:id="rId32"/>
    <p:sldId id="287" r:id="rId33"/>
    <p:sldId id="316" r:id="rId34"/>
    <p:sldId id="340" r:id="rId35"/>
    <p:sldId id="341" r:id="rId36"/>
  </p:sldIdLst>
  <p:sldSz cx="12192000" cy="6858000"/>
  <p:notesSz cx="6797675" cy="987425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910755-3805-7BFA-6DD6-38D0DEB42E74}" name="LIM SHEN-YANG" initials="LS" userId="S::limshenyang@365.um.edu.my::9cfd9c3b-c36f-4671-b1b7-eaf4a1f3db1d" providerId="AD"/>
  <p188:author id="{F286F46B-D11B-7411-908D-9B4A368D0C37}" name="Chris Edge" initials="CE" userId="S::Chris.Edge@primeglobalpeople.com::9878e1fe-fc43-4c11-846c-29f97c46eb4b" providerId="AD"/>
  <p188:author id="{147F2874-1246-3F60-FA90-4223E9C36F93}" name="Bryn Farnsworth von Cederwald" initials="BFvC" userId="S::bfc@lundbeckfonden.com::827f453e-d371-4a1e-8a43-bba9e40cc001" providerId="AD"/>
  <p188:author id="{1CE8D3BB-5F64-613E-D23A-23F9CD7E77BC}" name="Joshua Ooi" initials="JO" userId="64d38ccce015615d" providerId="Windows Live"/>
  <p188:author id="{5ACDF9C1-C97A-4004-6B13-08511EB5CE41}" name="Rachel Jagger" initials="RJ" userId="S::Rachel.Jagger@primeglobalpeople.com::cf4acb15-657a-45e0-bad4-d602a69c19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Ebru Karakoc Madsen" initials="EKM" lastIdx="13" clrIdx="6">
    <p:extLst>
      <p:ext uri="{19B8F6BF-5375-455C-9EA6-DF929625EA0E}">
        <p15:presenceInfo xmlns:p15="http://schemas.microsoft.com/office/powerpoint/2012/main" userId="S-1-5-21-1839211835-619659539-556599288-180377" providerId="AD"/>
      </p:ext>
    </p:extLst>
  </p:cmAuthor>
  <p:cmAuthor id="1" name="Christopher Edge" initials="CE" lastIdx="91" clrIdx="0"/>
  <p:cmAuthor id="2" name="Ebru Karakoc Madsen" initials="EBKA" lastIdx="23" clrIdx="1"/>
  <p:cmAuthor id="3" name="Audrey Dufour" initials="AD" lastIdx="18" clrIdx="2"/>
  <p:cmAuthor id="4" name="Jacob Lindblad" initials="JL" lastIdx="1" clrIdx="3"/>
  <p:cmAuthor id="5" name="Shen Yang Lim" initials="SYL" lastIdx="88" clrIdx="4"/>
  <p:cmAuthor id="6" name="Simon Wheeler" initials="SW" lastIdx="77" clrIdx="5">
    <p:extLst>
      <p:ext uri="{19B8F6BF-5375-455C-9EA6-DF929625EA0E}">
        <p15:presenceInfo xmlns:p15="http://schemas.microsoft.com/office/powerpoint/2012/main" userId="S-1-5-21-84928900-1697776596-4122394971-61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1CC"/>
    <a:srgbClr val="E8E7DE"/>
    <a:srgbClr val="3F1A01"/>
    <a:srgbClr val="7F7F7F"/>
    <a:srgbClr val="C8CAD8"/>
    <a:srgbClr val="FBE6BF"/>
    <a:srgbClr val="ECC6C4"/>
    <a:srgbClr val="B51C12"/>
    <a:srgbClr val="A5A07B"/>
    <a:srgbClr val="EF9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418F94-B0A8-48FF-8EE1-DA25D15CD294}" v="5" dt="2025-03-06T12:44:23.0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7642" autoAdjust="0"/>
    <p:restoredTop sz="87167" autoAdjust="0"/>
  </p:normalViewPr>
  <p:slideViewPr>
    <p:cSldViewPr snapToGrid="0">
      <p:cViewPr>
        <p:scale>
          <a:sx n="59" d="100"/>
          <a:sy n="59" d="100"/>
        </p:scale>
        <p:origin x="2934" y="822"/>
      </p:cViewPr>
      <p:guideLst>
        <p:guide orient="horz" pos="2160"/>
        <p:guide pos="3840"/>
      </p:guideLst>
    </p:cSldViewPr>
  </p:slideViewPr>
  <p:notesTextViewPr>
    <p:cViewPr>
      <p:scale>
        <a:sx n="100" d="100"/>
        <a:sy n="100" d="100"/>
      </p:scale>
      <p:origin x="0" y="0"/>
    </p:cViewPr>
  </p:notesTextViewPr>
  <p:notesViewPr>
    <p:cSldViewPr snapToGrid="0">
      <p:cViewPr varScale="1">
        <p:scale>
          <a:sx n="75" d="100"/>
          <a:sy n="75" d="100"/>
        </p:scale>
        <p:origin x="4026"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commentAuthors" Target="commentAuthor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handoutMaster" Target="handoutMasters/handoutMaster1.xml"/><Relationship Id="rId46" Type="http://schemas.microsoft.com/office/2018/10/relationships/authors" Target="authors.xml"/><Relationship Id="rId20" Type="http://schemas.openxmlformats.org/officeDocument/2006/relationships/slide" Target="slides/slide17.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el Jagger" userId="cf4acb15-657a-45e0-bad4-d602a69c1922" providerId="ADAL" clId="{48418F94-B0A8-48FF-8EE1-DA25D15CD294}"/>
    <pc:docChg chg="custSel modSld">
      <pc:chgData name="Rachel Jagger" userId="cf4acb15-657a-45e0-bad4-d602a69c1922" providerId="ADAL" clId="{48418F94-B0A8-48FF-8EE1-DA25D15CD294}" dt="2025-03-06T12:48:25.924" v="43" actId="13926"/>
      <pc:docMkLst>
        <pc:docMk/>
      </pc:docMkLst>
      <pc:sldChg chg="modSp">
        <pc:chgData name="Rachel Jagger" userId="cf4acb15-657a-45e0-bad4-d602a69c1922" providerId="ADAL" clId="{48418F94-B0A8-48FF-8EE1-DA25D15CD294}" dt="2025-03-06T12:44:09.168" v="20" actId="13926"/>
        <pc:sldMkLst>
          <pc:docMk/>
          <pc:sldMk cId="1937626925" sldId="275"/>
        </pc:sldMkLst>
        <pc:spChg chg="mod">
          <ac:chgData name="Rachel Jagger" userId="cf4acb15-657a-45e0-bad4-d602a69c1922" providerId="ADAL" clId="{48418F94-B0A8-48FF-8EE1-DA25D15CD294}" dt="2025-03-06T12:44:09.168" v="20" actId="13926"/>
          <ac:spMkLst>
            <pc:docMk/>
            <pc:sldMk cId="1937626925" sldId="275"/>
            <ac:spMk id="4" creationId="{00000000-0000-0000-0000-000000000000}"/>
          </ac:spMkLst>
        </pc:spChg>
        <pc:spChg chg="mod">
          <ac:chgData name="Rachel Jagger" userId="cf4acb15-657a-45e0-bad4-d602a69c1922" providerId="ADAL" clId="{48418F94-B0A8-48FF-8EE1-DA25D15CD294}" dt="2025-03-06T12:44:09.168" v="20" actId="13926"/>
          <ac:spMkLst>
            <pc:docMk/>
            <pc:sldMk cId="1937626925" sldId="275"/>
            <ac:spMk id="10" creationId="{00000000-0000-0000-0000-000000000000}"/>
          </ac:spMkLst>
        </pc:spChg>
        <pc:spChg chg="mod">
          <ac:chgData name="Rachel Jagger" userId="cf4acb15-657a-45e0-bad4-d602a69c1922" providerId="ADAL" clId="{48418F94-B0A8-48FF-8EE1-DA25D15CD294}" dt="2025-03-06T12:44:09.168" v="20" actId="13926"/>
          <ac:spMkLst>
            <pc:docMk/>
            <pc:sldMk cId="1937626925" sldId="275"/>
            <ac:spMk id="11" creationId="{00000000-0000-0000-0000-000000000000}"/>
          </ac:spMkLst>
        </pc:spChg>
        <pc:spChg chg="mod">
          <ac:chgData name="Rachel Jagger" userId="cf4acb15-657a-45e0-bad4-d602a69c1922" providerId="ADAL" clId="{48418F94-B0A8-48FF-8EE1-DA25D15CD294}" dt="2025-03-06T12:44:09.168" v="20" actId="13926"/>
          <ac:spMkLst>
            <pc:docMk/>
            <pc:sldMk cId="1937626925" sldId="275"/>
            <ac:spMk id="21" creationId="{00000000-0000-0000-0000-000000000000}"/>
          </ac:spMkLst>
        </pc:spChg>
        <pc:spChg chg="mod">
          <ac:chgData name="Rachel Jagger" userId="cf4acb15-657a-45e0-bad4-d602a69c1922" providerId="ADAL" clId="{48418F94-B0A8-48FF-8EE1-DA25D15CD294}" dt="2025-03-06T12:44:09.168" v="20" actId="13926"/>
          <ac:spMkLst>
            <pc:docMk/>
            <pc:sldMk cId="1937626925" sldId="275"/>
            <ac:spMk id="24" creationId="{00000000-0000-0000-0000-000000000000}"/>
          </ac:spMkLst>
        </pc:spChg>
        <pc:spChg chg="mod">
          <ac:chgData name="Rachel Jagger" userId="cf4acb15-657a-45e0-bad4-d602a69c1922" providerId="ADAL" clId="{48418F94-B0A8-48FF-8EE1-DA25D15CD294}" dt="2025-03-06T12:44:09.168" v="20" actId="13926"/>
          <ac:spMkLst>
            <pc:docMk/>
            <pc:sldMk cId="1937626925" sldId="275"/>
            <ac:spMk id="25" creationId="{00000000-0000-0000-0000-000000000000}"/>
          </ac:spMkLst>
        </pc:spChg>
        <pc:spChg chg="mod">
          <ac:chgData name="Rachel Jagger" userId="cf4acb15-657a-45e0-bad4-d602a69c1922" providerId="ADAL" clId="{48418F94-B0A8-48FF-8EE1-DA25D15CD294}" dt="2025-03-06T12:44:09.168" v="20" actId="13926"/>
          <ac:spMkLst>
            <pc:docMk/>
            <pc:sldMk cId="1937626925" sldId="275"/>
            <ac:spMk id="28" creationId="{00000000-0000-0000-0000-000000000000}"/>
          </ac:spMkLst>
        </pc:spChg>
        <pc:spChg chg="mod">
          <ac:chgData name="Rachel Jagger" userId="cf4acb15-657a-45e0-bad4-d602a69c1922" providerId="ADAL" clId="{48418F94-B0A8-48FF-8EE1-DA25D15CD294}" dt="2025-03-06T12:44:09.168" v="20" actId="13926"/>
          <ac:spMkLst>
            <pc:docMk/>
            <pc:sldMk cId="1937626925" sldId="275"/>
            <ac:spMk id="32" creationId="{00000000-0000-0000-0000-000000000000}"/>
          </ac:spMkLst>
        </pc:spChg>
        <pc:spChg chg="mod">
          <ac:chgData name="Rachel Jagger" userId="cf4acb15-657a-45e0-bad4-d602a69c1922" providerId="ADAL" clId="{48418F94-B0A8-48FF-8EE1-DA25D15CD294}" dt="2025-03-06T12:44:09.168" v="20" actId="13926"/>
          <ac:spMkLst>
            <pc:docMk/>
            <pc:sldMk cId="1937626925" sldId="275"/>
            <ac:spMk id="33" creationId="{00000000-0000-0000-0000-000000000000}"/>
          </ac:spMkLst>
        </pc:spChg>
        <pc:spChg chg="mod">
          <ac:chgData name="Rachel Jagger" userId="cf4acb15-657a-45e0-bad4-d602a69c1922" providerId="ADAL" clId="{48418F94-B0A8-48FF-8EE1-DA25D15CD294}" dt="2025-03-06T12:44:09.168" v="20" actId="13926"/>
          <ac:spMkLst>
            <pc:docMk/>
            <pc:sldMk cId="1937626925" sldId="275"/>
            <ac:spMk id="42" creationId="{00000000-0000-0000-0000-000000000000}"/>
          </ac:spMkLst>
        </pc:spChg>
      </pc:sldChg>
      <pc:sldChg chg="modSp mod modNotes">
        <pc:chgData name="Rachel Jagger" userId="cf4acb15-657a-45e0-bad4-d602a69c1922" providerId="ADAL" clId="{48418F94-B0A8-48FF-8EE1-DA25D15CD294}" dt="2025-03-06T12:47:26.390" v="32" actId="13926"/>
        <pc:sldMkLst>
          <pc:docMk/>
          <pc:sldMk cId="2672538941" sldId="278"/>
        </pc:sldMkLst>
        <pc:spChg chg="mod">
          <ac:chgData name="Rachel Jagger" userId="cf4acb15-657a-45e0-bad4-d602a69c1922" providerId="ADAL" clId="{48418F94-B0A8-48FF-8EE1-DA25D15CD294}" dt="2025-03-06T12:43:12.767" v="9" actId="13926"/>
          <ac:spMkLst>
            <pc:docMk/>
            <pc:sldMk cId="2672538941" sldId="278"/>
            <ac:spMk id="2" creationId="{00000000-0000-0000-0000-000000000000}"/>
          </ac:spMkLst>
        </pc:spChg>
        <pc:spChg chg="mod">
          <ac:chgData name="Rachel Jagger" userId="cf4acb15-657a-45e0-bad4-d602a69c1922" providerId="ADAL" clId="{48418F94-B0A8-48FF-8EE1-DA25D15CD294}" dt="2025-03-06T12:43:12.767" v="9" actId="13926"/>
          <ac:spMkLst>
            <pc:docMk/>
            <pc:sldMk cId="2672538941" sldId="278"/>
            <ac:spMk id="3" creationId="{5D4E4712-BC73-473D-BB9B-64428D47AC87}"/>
          </ac:spMkLst>
        </pc:spChg>
        <pc:spChg chg="mod">
          <ac:chgData name="Rachel Jagger" userId="cf4acb15-657a-45e0-bad4-d602a69c1922" providerId="ADAL" clId="{48418F94-B0A8-48FF-8EE1-DA25D15CD294}" dt="2025-03-06T12:43:12.767" v="9" actId="13926"/>
          <ac:spMkLst>
            <pc:docMk/>
            <pc:sldMk cId="2672538941" sldId="278"/>
            <ac:spMk id="4" creationId="{00000000-0000-0000-0000-000000000000}"/>
          </ac:spMkLst>
        </pc:spChg>
        <pc:spChg chg="mod">
          <ac:chgData name="Rachel Jagger" userId="cf4acb15-657a-45e0-bad4-d602a69c1922" providerId="ADAL" clId="{48418F94-B0A8-48FF-8EE1-DA25D15CD294}" dt="2025-03-06T12:43:12.767" v="9" actId="13926"/>
          <ac:spMkLst>
            <pc:docMk/>
            <pc:sldMk cId="2672538941" sldId="278"/>
            <ac:spMk id="5" creationId="{E2A0689E-BCC2-A408-72C2-3842D958F6A4}"/>
          </ac:spMkLst>
        </pc:spChg>
        <pc:spChg chg="mod">
          <ac:chgData name="Rachel Jagger" userId="cf4acb15-657a-45e0-bad4-d602a69c1922" providerId="ADAL" clId="{48418F94-B0A8-48FF-8EE1-DA25D15CD294}" dt="2025-03-06T12:43:12.767" v="9" actId="13926"/>
          <ac:spMkLst>
            <pc:docMk/>
            <pc:sldMk cId="2672538941" sldId="278"/>
            <ac:spMk id="7" creationId="{00000000-0000-0000-0000-000000000000}"/>
          </ac:spMkLst>
        </pc:spChg>
        <pc:spChg chg="mod">
          <ac:chgData name="Rachel Jagger" userId="cf4acb15-657a-45e0-bad4-d602a69c1922" providerId="ADAL" clId="{48418F94-B0A8-48FF-8EE1-DA25D15CD294}" dt="2025-03-06T12:43:12.767" v="9" actId="13926"/>
          <ac:spMkLst>
            <pc:docMk/>
            <pc:sldMk cId="2672538941" sldId="278"/>
            <ac:spMk id="8" creationId="{00000000-0000-0000-0000-000000000000}"/>
          </ac:spMkLst>
        </pc:spChg>
      </pc:sldChg>
      <pc:sldChg chg="modSp mod modNotes">
        <pc:chgData name="Rachel Jagger" userId="cf4acb15-657a-45e0-bad4-d602a69c1922" providerId="ADAL" clId="{48418F94-B0A8-48FF-8EE1-DA25D15CD294}" dt="2025-03-06T12:47:15.513" v="30" actId="13926"/>
        <pc:sldMkLst>
          <pc:docMk/>
          <pc:sldMk cId="323489128" sldId="284"/>
        </pc:sldMkLst>
        <pc:spChg chg="mod">
          <ac:chgData name="Rachel Jagger" userId="cf4acb15-657a-45e0-bad4-d602a69c1922" providerId="ADAL" clId="{48418F94-B0A8-48FF-8EE1-DA25D15CD294}" dt="2025-03-06T12:42:59.273" v="5" actId="13926"/>
          <ac:spMkLst>
            <pc:docMk/>
            <pc:sldMk cId="323489128" sldId="284"/>
            <ac:spMk id="4" creationId="{00000000-0000-0000-0000-000000000000}"/>
          </ac:spMkLst>
        </pc:spChg>
        <pc:spChg chg="mod">
          <ac:chgData name="Rachel Jagger" userId="cf4acb15-657a-45e0-bad4-d602a69c1922" providerId="ADAL" clId="{48418F94-B0A8-48FF-8EE1-DA25D15CD294}" dt="2025-03-06T12:42:59.273" v="5" actId="13926"/>
          <ac:spMkLst>
            <pc:docMk/>
            <pc:sldMk cId="323489128" sldId="284"/>
            <ac:spMk id="5" creationId="{90625FB4-5567-4E7C-B5B8-5E14B7C02548}"/>
          </ac:spMkLst>
        </pc:spChg>
        <pc:spChg chg="mod">
          <ac:chgData name="Rachel Jagger" userId="cf4acb15-657a-45e0-bad4-d602a69c1922" providerId="ADAL" clId="{48418F94-B0A8-48FF-8EE1-DA25D15CD294}" dt="2025-03-06T12:42:59.273" v="5" actId="13926"/>
          <ac:spMkLst>
            <pc:docMk/>
            <pc:sldMk cId="323489128" sldId="284"/>
            <ac:spMk id="8" creationId="{95D244B6-145E-E4F4-7351-7E0DD0FCC3E2}"/>
          </ac:spMkLst>
        </pc:spChg>
        <pc:spChg chg="mod">
          <ac:chgData name="Rachel Jagger" userId="cf4acb15-657a-45e0-bad4-d602a69c1922" providerId="ADAL" clId="{48418F94-B0A8-48FF-8EE1-DA25D15CD294}" dt="2025-03-06T12:42:59.273" v="5" actId="13926"/>
          <ac:spMkLst>
            <pc:docMk/>
            <pc:sldMk cId="323489128" sldId="284"/>
            <ac:spMk id="10" creationId="{00000000-0000-0000-0000-000000000000}"/>
          </ac:spMkLst>
        </pc:spChg>
        <pc:spChg chg="mod">
          <ac:chgData name="Rachel Jagger" userId="cf4acb15-657a-45e0-bad4-d602a69c1922" providerId="ADAL" clId="{48418F94-B0A8-48FF-8EE1-DA25D15CD294}" dt="2025-03-06T12:42:59.273" v="5" actId="13926"/>
          <ac:spMkLst>
            <pc:docMk/>
            <pc:sldMk cId="323489128" sldId="284"/>
            <ac:spMk id="27" creationId="{00000000-0000-0000-0000-000000000000}"/>
          </ac:spMkLst>
        </pc:spChg>
        <pc:spChg chg="mod">
          <ac:chgData name="Rachel Jagger" userId="cf4acb15-657a-45e0-bad4-d602a69c1922" providerId="ADAL" clId="{48418F94-B0A8-48FF-8EE1-DA25D15CD294}" dt="2025-03-06T12:42:59.273" v="5" actId="13926"/>
          <ac:spMkLst>
            <pc:docMk/>
            <pc:sldMk cId="323489128" sldId="284"/>
            <ac:spMk id="47" creationId="{00000000-0000-0000-0000-000000000000}"/>
          </ac:spMkLst>
        </pc:spChg>
        <pc:spChg chg="mod">
          <ac:chgData name="Rachel Jagger" userId="cf4acb15-657a-45e0-bad4-d602a69c1922" providerId="ADAL" clId="{48418F94-B0A8-48FF-8EE1-DA25D15CD294}" dt="2025-03-06T12:42:59.273" v="5" actId="13926"/>
          <ac:spMkLst>
            <pc:docMk/>
            <pc:sldMk cId="323489128" sldId="284"/>
            <ac:spMk id="50" creationId="{00000000-0000-0000-0000-000000000000}"/>
          </ac:spMkLst>
        </pc:spChg>
        <pc:spChg chg="mod">
          <ac:chgData name="Rachel Jagger" userId="cf4acb15-657a-45e0-bad4-d602a69c1922" providerId="ADAL" clId="{48418F94-B0A8-48FF-8EE1-DA25D15CD294}" dt="2025-03-06T12:42:59.273" v="5" actId="13926"/>
          <ac:spMkLst>
            <pc:docMk/>
            <pc:sldMk cId="323489128" sldId="284"/>
            <ac:spMk id="54" creationId="{00000000-0000-0000-0000-000000000000}"/>
          </ac:spMkLst>
        </pc:spChg>
        <pc:spChg chg="mod">
          <ac:chgData name="Rachel Jagger" userId="cf4acb15-657a-45e0-bad4-d602a69c1922" providerId="ADAL" clId="{48418F94-B0A8-48FF-8EE1-DA25D15CD294}" dt="2025-03-06T12:42:59.273" v="5" actId="13926"/>
          <ac:spMkLst>
            <pc:docMk/>
            <pc:sldMk cId="323489128" sldId="284"/>
            <ac:spMk id="57" creationId="{00000000-0000-0000-0000-000000000000}"/>
          </ac:spMkLst>
        </pc:spChg>
        <pc:spChg chg="mod">
          <ac:chgData name="Rachel Jagger" userId="cf4acb15-657a-45e0-bad4-d602a69c1922" providerId="ADAL" clId="{48418F94-B0A8-48FF-8EE1-DA25D15CD294}" dt="2025-03-06T12:42:59.273" v="5" actId="13926"/>
          <ac:spMkLst>
            <pc:docMk/>
            <pc:sldMk cId="323489128" sldId="284"/>
            <ac:spMk id="67" creationId="{00000000-0000-0000-0000-000000000000}"/>
          </ac:spMkLst>
        </pc:spChg>
      </pc:sldChg>
      <pc:sldChg chg="modSp mod">
        <pc:chgData name="Rachel Jagger" userId="cf4acb15-657a-45e0-bad4-d602a69c1922" providerId="ADAL" clId="{48418F94-B0A8-48FF-8EE1-DA25D15CD294}" dt="2025-03-06T12:43:02.019" v="6" actId="13926"/>
        <pc:sldMkLst>
          <pc:docMk/>
          <pc:sldMk cId="2660097654" sldId="285"/>
        </pc:sldMkLst>
        <pc:spChg chg="mod">
          <ac:chgData name="Rachel Jagger" userId="cf4acb15-657a-45e0-bad4-d602a69c1922" providerId="ADAL" clId="{48418F94-B0A8-48FF-8EE1-DA25D15CD294}" dt="2025-03-06T12:43:02.019" v="6" actId="13926"/>
          <ac:spMkLst>
            <pc:docMk/>
            <pc:sldMk cId="2660097654" sldId="285"/>
            <ac:spMk id="2" creationId="{00000000-0000-0000-0000-000000000000}"/>
          </ac:spMkLst>
        </pc:spChg>
        <pc:spChg chg="mod">
          <ac:chgData name="Rachel Jagger" userId="cf4acb15-657a-45e0-bad4-d602a69c1922" providerId="ADAL" clId="{48418F94-B0A8-48FF-8EE1-DA25D15CD294}" dt="2025-03-06T12:43:02.019" v="6" actId="13926"/>
          <ac:spMkLst>
            <pc:docMk/>
            <pc:sldMk cId="2660097654" sldId="285"/>
            <ac:spMk id="3" creationId="{00000000-0000-0000-0000-000000000000}"/>
          </ac:spMkLst>
        </pc:spChg>
        <pc:spChg chg="mod">
          <ac:chgData name="Rachel Jagger" userId="cf4acb15-657a-45e0-bad4-d602a69c1922" providerId="ADAL" clId="{48418F94-B0A8-48FF-8EE1-DA25D15CD294}" dt="2025-03-06T12:43:02.019" v="6" actId="13926"/>
          <ac:spMkLst>
            <pc:docMk/>
            <pc:sldMk cId="2660097654" sldId="285"/>
            <ac:spMk id="4" creationId="{00000000-0000-0000-0000-000000000000}"/>
          </ac:spMkLst>
        </pc:spChg>
        <pc:spChg chg="mod">
          <ac:chgData name="Rachel Jagger" userId="cf4acb15-657a-45e0-bad4-d602a69c1922" providerId="ADAL" clId="{48418F94-B0A8-48FF-8EE1-DA25D15CD294}" dt="2025-03-06T12:43:02.019" v="6" actId="13926"/>
          <ac:spMkLst>
            <pc:docMk/>
            <pc:sldMk cId="2660097654" sldId="285"/>
            <ac:spMk id="5" creationId="{6374E6E9-A588-4F61-AFB1-057D79358D4C}"/>
          </ac:spMkLst>
        </pc:spChg>
        <pc:spChg chg="mod">
          <ac:chgData name="Rachel Jagger" userId="cf4acb15-657a-45e0-bad4-d602a69c1922" providerId="ADAL" clId="{48418F94-B0A8-48FF-8EE1-DA25D15CD294}" dt="2025-03-06T12:43:02.019" v="6" actId="13926"/>
          <ac:spMkLst>
            <pc:docMk/>
            <pc:sldMk cId="2660097654" sldId="285"/>
            <ac:spMk id="6" creationId="{00000000-0000-0000-0000-000000000000}"/>
          </ac:spMkLst>
        </pc:spChg>
        <pc:spChg chg="mod">
          <ac:chgData name="Rachel Jagger" userId="cf4acb15-657a-45e0-bad4-d602a69c1922" providerId="ADAL" clId="{48418F94-B0A8-48FF-8EE1-DA25D15CD294}" dt="2025-03-06T12:43:02.019" v="6" actId="13926"/>
          <ac:spMkLst>
            <pc:docMk/>
            <pc:sldMk cId="2660097654" sldId="285"/>
            <ac:spMk id="7" creationId="{00000000-0000-0000-0000-000000000000}"/>
          </ac:spMkLst>
        </pc:spChg>
        <pc:spChg chg="mod">
          <ac:chgData name="Rachel Jagger" userId="cf4acb15-657a-45e0-bad4-d602a69c1922" providerId="ADAL" clId="{48418F94-B0A8-48FF-8EE1-DA25D15CD294}" dt="2025-03-06T12:43:02.019" v="6" actId="13926"/>
          <ac:spMkLst>
            <pc:docMk/>
            <pc:sldMk cId="2660097654" sldId="285"/>
            <ac:spMk id="9" creationId="{59F74254-63AD-27B1-5B23-5E7CAA795C38}"/>
          </ac:spMkLst>
        </pc:spChg>
      </pc:sldChg>
      <pc:sldChg chg="modSp mod modNotes">
        <pc:chgData name="Rachel Jagger" userId="cf4acb15-657a-45e0-bad4-d602a69c1922" providerId="ADAL" clId="{48418F94-B0A8-48FF-8EE1-DA25D15CD294}" dt="2025-03-06T12:47:11.114" v="29" actId="13926"/>
        <pc:sldMkLst>
          <pc:docMk/>
          <pc:sldMk cId="3693897010" sldId="286"/>
        </pc:sldMkLst>
        <pc:spChg chg="mod">
          <ac:chgData name="Rachel Jagger" userId="cf4acb15-657a-45e0-bad4-d602a69c1922" providerId="ADAL" clId="{48418F94-B0A8-48FF-8EE1-DA25D15CD294}" dt="2025-03-06T12:42:56.495" v="4" actId="13926"/>
          <ac:spMkLst>
            <pc:docMk/>
            <pc:sldMk cId="3693897010" sldId="286"/>
            <ac:spMk id="2" creationId="{00000000-0000-0000-0000-000000000000}"/>
          </ac:spMkLst>
        </pc:spChg>
        <pc:spChg chg="mod">
          <ac:chgData name="Rachel Jagger" userId="cf4acb15-657a-45e0-bad4-d602a69c1922" providerId="ADAL" clId="{48418F94-B0A8-48FF-8EE1-DA25D15CD294}" dt="2025-03-06T12:42:56.495" v="4" actId="13926"/>
          <ac:spMkLst>
            <pc:docMk/>
            <pc:sldMk cId="3693897010" sldId="286"/>
            <ac:spMk id="3" creationId="{00000000-0000-0000-0000-000000000000}"/>
          </ac:spMkLst>
        </pc:spChg>
        <pc:spChg chg="mod">
          <ac:chgData name="Rachel Jagger" userId="cf4acb15-657a-45e0-bad4-d602a69c1922" providerId="ADAL" clId="{48418F94-B0A8-48FF-8EE1-DA25D15CD294}" dt="2025-03-06T12:42:56.495" v="4" actId="13926"/>
          <ac:spMkLst>
            <pc:docMk/>
            <pc:sldMk cId="3693897010" sldId="286"/>
            <ac:spMk id="4" creationId="{00000000-0000-0000-0000-000000000000}"/>
          </ac:spMkLst>
        </pc:spChg>
        <pc:spChg chg="mod">
          <ac:chgData name="Rachel Jagger" userId="cf4acb15-657a-45e0-bad4-d602a69c1922" providerId="ADAL" clId="{48418F94-B0A8-48FF-8EE1-DA25D15CD294}" dt="2025-03-06T12:42:56.495" v="4" actId="13926"/>
          <ac:spMkLst>
            <pc:docMk/>
            <pc:sldMk cId="3693897010" sldId="286"/>
            <ac:spMk id="5" creationId="{00000000-0000-0000-0000-000000000000}"/>
          </ac:spMkLst>
        </pc:spChg>
        <pc:spChg chg="mod">
          <ac:chgData name="Rachel Jagger" userId="cf4acb15-657a-45e0-bad4-d602a69c1922" providerId="ADAL" clId="{48418F94-B0A8-48FF-8EE1-DA25D15CD294}" dt="2025-03-06T12:42:56.495" v="4" actId="13926"/>
          <ac:spMkLst>
            <pc:docMk/>
            <pc:sldMk cId="3693897010" sldId="286"/>
            <ac:spMk id="6" creationId="{00000000-0000-0000-0000-000000000000}"/>
          </ac:spMkLst>
        </pc:spChg>
        <pc:spChg chg="mod">
          <ac:chgData name="Rachel Jagger" userId="cf4acb15-657a-45e0-bad4-d602a69c1922" providerId="ADAL" clId="{48418F94-B0A8-48FF-8EE1-DA25D15CD294}" dt="2025-03-06T12:42:56.495" v="4" actId="13926"/>
          <ac:spMkLst>
            <pc:docMk/>
            <pc:sldMk cId="3693897010" sldId="286"/>
            <ac:spMk id="7" creationId="{6EB73B24-1009-897C-1426-6595C4847798}"/>
          </ac:spMkLst>
        </pc:spChg>
        <pc:spChg chg="mod">
          <ac:chgData name="Rachel Jagger" userId="cf4acb15-657a-45e0-bad4-d602a69c1922" providerId="ADAL" clId="{48418F94-B0A8-48FF-8EE1-DA25D15CD294}" dt="2025-03-06T12:42:56.495" v="4" actId="13926"/>
          <ac:spMkLst>
            <pc:docMk/>
            <pc:sldMk cId="3693897010" sldId="286"/>
            <ac:spMk id="8" creationId="{263C3BD8-04EC-4D5D-93E3-41BD6A2897D4}"/>
          </ac:spMkLst>
        </pc:spChg>
        <pc:spChg chg="mod">
          <ac:chgData name="Rachel Jagger" userId="cf4acb15-657a-45e0-bad4-d602a69c1922" providerId="ADAL" clId="{48418F94-B0A8-48FF-8EE1-DA25D15CD294}" dt="2025-03-06T12:42:56.495" v="4" actId="13926"/>
          <ac:spMkLst>
            <pc:docMk/>
            <pc:sldMk cId="3693897010" sldId="286"/>
            <ac:spMk id="9" creationId="{0C0F4270-EC39-1CA0-CA4B-863C05AED89A}"/>
          </ac:spMkLst>
        </pc:spChg>
        <pc:spChg chg="mod">
          <ac:chgData name="Rachel Jagger" userId="cf4acb15-657a-45e0-bad4-d602a69c1922" providerId="ADAL" clId="{48418F94-B0A8-48FF-8EE1-DA25D15CD294}" dt="2025-03-06T12:42:56.495" v="4" actId="13926"/>
          <ac:spMkLst>
            <pc:docMk/>
            <pc:sldMk cId="3693897010" sldId="286"/>
            <ac:spMk id="23" creationId="{A05653BA-B46E-2DFB-5FAF-05B11A5D061E}"/>
          </ac:spMkLst>
        </pc:spChg>
        <pc:spChg chg="mod">
          <ac:chgData name="Rachel Jagger" userId="cf4acb15-657a-45e0-bad4-d602a69c1922" providerId="ADAL" clId="{48418F94-B0A8-48FF-8EE1-DA25D15CD294}" dt="2025-03-06T12:42:56.495" v="4" actId="13926"/>
          <ac:spMkLst>
            <pc:docMk/>
            <pc:sldMk cId="3693897010" sldId="286"/>
            <ac:spMk id="24" creationId="{B7CDF142-49BF-0761-EF0E-3AEE9735B3CB}"/>
          </ac:spMkLst>
        </pc:spChg>
      </pc:sldChg>
      <pc:sldChg chg="modSp modNotes">
        <pc:chgData name="Rachel Jagger" userId="cf4acb15-657a-45e0-bad4-d602a69c1922" providerId="ADAL" clId="{48418F94-B0A8-48FF-8EE1-DA25D15CD294}" dt="2025-03-06T12:47:01.455" v="28" actId="13926"/>
        <pc:sldMkLst>
          <pc:docMk/>
          <pc:sldMk cId="3329846735" sldId="287"/>
        </pc:sldMkLst>
        <pc:spChg chg="mod">
          <ac:chgData name="Rachel Jagger" userId="cf4acb15-657a-45e0-bad4-d602a69c1922" providerId="ADAL" clId="{48418F94-B0A8-48FF-8EE1-DA25D15CD294}" dt="2025-03-06T12:42:52.504" v="3" actId="13926"/>
          <ac:spMkLst>
            <pc:docMk/>
            <pc:sldMk cId="3329846735" sldId="287"/>
            <ac:spMk id="5" creationId="{00000000-0000-0000-0000-000000000000}"/>
          </ac:spMkLst>
        </pc:spChg>
        <pc:spChg chg="mod">
          <ac:chgData name="Rachel Jagger" userId="cf4acb15-657a-45e0-bad4-d602a69c1922" providerId="ADAL" clId="{48418F94-B0A8-48FF-8EE1-DA25D15CD294}" dt="2025-03-06T12:42:52.504" v="3" actId="13926"/>
          <ac:spMkLst>
            <pc:docMk/>
            <pc:sldMk cId="3329846735" sldId="287"/>
            <ac:spMk id="11" creationId="{5ADCD08A-6339-4F44-A0FE-273CE003431C}"/>
          </ac:spMkLst>
        </pc:spChg>
        <pc:spChg chg="mod">
          <ac:chgData name="Rachel Jagger" userId="cf4acb15-657a-45e0-bad4-d602a69c1922" providerId="ADAL" clId="{48418F94-B0A8-48FF-8EE1-DA25D15CD294}" dt="2025-03-06T12:42:52.504" v="3" actId="13926"/>
          <ac:spMkLst>
            <pc:docMk/>
            <pc:sldMk cId="3329846735" sldId="287"/>
            <ac:spMk id="205" creationId="{00000000-0000-0000-0000-000000000000}"/>
          </ac:spMkLst>
        </pc:spChg>
        <pc:spChg chg="mod">
          <ac:chgData name="Rachel Jagger" userId="cf4acb15-657a-45e0-bad4-d602a69c1922" providerId="ADAL" clId="{48418F94-B0A8-48FF-8EE1-DA25D15CD294}" dt="2025-03-06T12:42:52.504" v="3" actId="13926"/>
          <ac:spMkLst>
            <pc:docMk/>
            <pc:sldMk cId="3329846735" sldId="287"/>
            <ac:spMk id="207" creationId="{00000000-0000-0000-0000-000000000000}"/>
          </ac:spMkLst>
        </pc:spChg>
        <pc:spChg chg="mod">
          <ac:chgData name="Rachel Jagger" userId="cf4acb15-657a-45e0-bad4-d602a69c1922" providerId="ADAL" clId="{48418F94-B0A8-48FF-8EE1-DA25D15CD294}" dt="2025-03-06T12:42:52.504" v="3" actId="13926"/>
          <ac:spMkLst>
            <pc:docMk/>
            <pc:sldMk cId="3329846735" sldId="287"/>
            <ac:spMk id="211" creationId="{00000000-0000-0000-0000-000000000000}"/>
          </ac:spMkLst>
        </pc:spChg>
        <pc:spChg chg="mod">
          <ac:chgData name="Rachel Jagger" userId="cf4acb15-657a-45e0-bad4-d602a69c1922" providerId="ADAL" clId="{48418F94-B0A8-48FF-8EE1-DA25D15CD294}" dt="2025-03-06T12:42:52.504" v="3" actId="13926"/>
          <ac:spMkLst>
            <pc:docMk/>
            <pc:sldMk cId="3329846735" sldId="287"/>
            <ac:spMk id="212" creationId="{00000000-0000-0000-0000-000000000000}"/>
          </ac:spMkLst>
        </pc:spChg>
        <pc:spChg chg="mod">
          <ac:chgData name="Rachel Jagger" userId="cf4acb15-657a-45e0-bad4-d602a69c1922" providerId="ADAL" clId="{48418F94-B0A8-48FF-8EE1-DA25D15CD294}" dt="2025-03-06T12:42:52.504" v="3" actId="13926"/>
          <ac:spMkLst>
            <pc:docMk/>
            <pc:sldMk cId="3329846735" sldId="287"/>
            <ac:spMk id="217" creationId="{00000000-0000-0000-0000-000000000000}"/>
          </ac:spMkLst>
        </pc:spChg>
        <pc:spChg chg="mod">
          <ac:chgData name="Rachel Jagger" userId="cf4acb15-657a-45e0-bad4-d602a69c1922" providerId="ADAL" clId="{48418F94-B0A8-48FF-8EE1-DA25D15CD294}" dt="2025-03-06T12:42:52.504" v="3" actId="13926"/>
          <ac:spMkLst>
            <pc:docMk/>
            <pc:sldMk cId="3329846735" sldId="287"/>
            <ac:spMk id="218" creationId="{00000000-0000-0000-0000-000000000000}"/>
          </ac:spMkLst>
        </pc:spChg>
        <pc:spChg chg="mod">
          <ac:chgData name="Rachel Jagger" userId="cf4acb15-657a-45e0-bad4-d602a69c1922" providerId="ADAL" clId="{48418F94-B0A8-48FF-8EE1-DA25D15CD294}" dt="2025-03-06T12:42:52.504" v="3" actId="13926"/>
          <ac:spMkLst>
            <pc:docMk/>
            <pc:sldMk cId="3329846735" sldId="287"/>
            <ac:spMk id="221" creationId="{00000000-0000-0000-0000-000000000000}"/>
          </ac:spMkLst>
        </pc:spChg>
        <pc:spChg chg="mod">
          <ac:chgData name="Rachel Jagger" userId="cf4acb15-657a-45e0-bad4-d602a69c1922" providerId="ADAL" clId="{48418F94-B0A8-48FF-8EE1-DA25D15CD294}" dt="2025-03-06T12:42:52.504" v="3" actId="13926"/>
          <ac:spMkLst>
            <pc:docMk/>
            <pc:sldMk cId="3329846735" sldId="287"/>
            <ac:spMk id="224" creationId="{00000000-0000-0000-0000-000000000000}"/>
          </ac:spMkLst>
        </pc:spChg>
      </pc:sldChg>
      <pc:sldChg chg="modSp mod modNotes">
        <pc:chgData name="Rachel Jagger" userId="cf4acb15-657a-45e0-bad4-d602a69c1922" providerId="ADAL" clId="{48418F94-B0A8-48FF-8EE1-DA25D15CD294}" dt="2025-03-06T12:48:03.928" v="38" actId="13926"/>
        <pc:sldMkLst>
          <pc:docMk/>
          <pc:sldMk cId="1718489353" sldId="291"/>
        </pc:sldMkLst>
        <pc:spChg chg="mod">
          <ac:chgData name="Rachel Jagger" userId="cf4acb15-657a-45e0-bad4-d602a69c1922" providerId="ADAL" clId="{48418F94-B0A8-48FF-8EE1-DA25D15CD294}" dt="2025-03-06T12:43:50.553" v="18" actId="13926"/>
          <ac:spMkLst>
            <pc:docMk/>
            <pc:sldMk cId="1718489353" sldId="291"/>
            <ac:spMk id="2" creationId="{00000000-0000-0000-0000-000000000000}"/>
          </ac:spMkLst>
        </pc:spChg>
        <pc:spChg chg="mod">
          <ac:chgData name="Rachel Jagger" userId="cf4acb15-657a-45e0-bad4-d602a69c1922" providerId="ADAL" clId="{48418F94-B0A8-48FF-8EE1-DA25D15CD294}" dt="2025-03-06T12:43:50.553" v="18" actId="13926"/>
          <ac:spMkLst>
            <pc:docMk/>
            <pc:sldMk cId="1718489353" sldId="291"/>
            <ac:spMk id="3" creationId="{1B81655F-B06E-4E25-ACBC-3A06F2695C3A}"/>
          </ac:spMkLst>
        </pc:spChg>
        <pc:spChg chg="mod">
          <ac:chgData name="Rachel Jagger" userId="cf4acb15-657a-45e0-bad4-d602a69c1922" providerId="ADAL" clId="{48418F94-B0A8-48FF-8EE1-DA25D15CD294}" dt="2025-03-06T12:43:50.553" v="18" actId="13926"/>
          <ac:spMkLst>
            <pc:docMk/>
            <pc:sldMk cId="1718489353" sldId="291"/>
            <ac:spMk id="4" creationId="{00000000-0000-0000-0000-000000000000}"/>
          </ac:spMkLst>
        </pc:spChg>
        <pc:spChg chg="mod">
          <ac:chgData name="Rachel Jagger" userId="cf4acb15-657a-45e0-bad4-d602a69c1922" providerId="ADAL" clId="{48418F94-B0A8-48FF-8EE1-DA25D15CD294}" dt="2025-03-06T12:43:50.553" v="18" actId="13926"/>
          <ac:spMkLst>
            <pc:docMk/>
            <pc:sldMk cId="1718489353" sldId="291"/>
            <ac:spMk id="5" creationId="{00000000-0000-0000-0000-000000000000}"/>
          </ac:spMkLst>
        </pc:spChg>
        <pc:spChg chg="mod">
          <ac:chgData name="Rachel Jagger" userId="cf4acb15-657a-45e0-bad4-d602a69c1922" providerId="ADAL" clId="{48418F94-B0A8-48FF-8EE1-DA25D15CD294}" dt="2025-03-06T12:43:50.553" v="18" actId="13926"/>
          <ac:spMkLst>
            <pc:docMk/>
            <pc:sldMk cId="1718489353" sldId="291"/>
            <ac:spMk id="6" creationId="{00000000-0000-0000-0000-000000000000}"/>
          </ac:spMkLst>
        </pc:spChg>
        <pc:spChg chg="mod">
          <ac:chgData name="Rachel Jagger" userId="cf4acb15-657a-45e0-bad4-d602a69c1922" providerId="ADAL" clId="{48418F94-B0A8-48FF-8EE1-DA25D15CD294}" dt="2025-03-06T12:43:50.553" v="18" actId="13926"/>
          <ac:spMkLst>
            <pc:docMk/>
            <pc:sldMk cId="1718489353" sldId="291"/>
            <ac:spMk id="7" creationId="{00000000-0000-0000-0000-000000000000}"/>
          </ac:spMkLst>
        </pc:spChg>
        <pc:spChg chg="mod">
          <ac:chgData name="Rachel Jagger" userId="cf4acb15-657a-45e0-bad4-d602a69c1922" providerId="ADAL" clId="{48418F94-B0A8-48FF-8EE1-DA25D15CD294}" dt="2025-03-06T12:43:50.553" v="18" actId="13926"/>
          <ac:spMkLst>
            <pc:docMk/>
            <pc:sldMk cId="1718489353" sldId="291"/>
            <ac:spMk id="8" creationId="{00000000-0000-0000-0000-000000000000}"/>
          </ac:spMkLst>
        </pc:spChg>
      </pc:sldChg>
      <pc:sldChg chg="modSp modNotes">
        <pc:chgData name="Rachel Jagger" userId="cf4acb15-657a-45e0-bad4-d602a69c1922" providerId="ADAL" clId="{48418F94-B0A8-48FF-8EE1-DA25D15CD294}" dt="2025-03-06T12:48:07.781" v="39" actId="13926"/>
        <pc:sldMkLst>
          <pc:docMk/>
          <pc:sldMk cId="3182699806" sldId="292"/>
        </pc:sldMkLst>
        <pc:spChg chg="mod">
          <ac:chgData name="Rachel Jagger" userId="cf4acb15-657a-45e0-bad4-d602a69c1922" providerId="ADAL" clId="{48418F94-B0A8-48FF-8EE1-DA25D15CD294}" dt="2025-03-06T12:43:53.916" v="19" actId="13926"/>
          <ac:spMkLst>
            <pc:docMk/>
            <pc:sldMk cId="3182699806" sldId="292"/>
            <ac:spMk id="7" creationId="{00000000-0000-0000-0000-000000000000}"/>
          </ac:spMkLst>
        </pc:spChg>
        <pc:spChg chg="mod">
          <ac:chgData name="Rachel Jagger" userId="cf4acb15-657a-45e0-bad4-d602a69c1922" providerId="ADAL" clId="{48418F94-B0A8-48FF-8EE1-DA25D15CD294}" dt="2025-03-06T12:43:53.916" v="19" actId="13926"/>
          <ac:spMkLst>
            <pc:docMk/>
            <pc:sldMk cId="3182699806" sldId="292"/>
            <ac:spMk id="100" creationId="{00000000-0000-0000-0000-000000000000}"/>
          </ac:spMkLst>
        </pc:spChg>
        <pc:spChg chg="mod">
          <ac:chgData name="Rachel Jagger" userId="cf4acb15-657a-45e0-bad4-d602a69c1922" providerId="ADAL" clId="{48418F94-B0A8-48FF-8EE1-DA25D15CD294}" dt="2025-03-06T12:43:53.916" v="19" actId="13926"/>
          <ac:spMkLst>
            <pc:docMk/>
            <pc:sldMk cId="3182699806" sldId="292"/>
            <ac:spMk id="105" creationId="{00000000-0000-0000-0000-000000000000}"/>
          </ac:spMkLst>
        </pc:spChg>
        <pc:spChg chg="mod">
          <ac:chgData name="Rachel Jagger" userId="cf4acb15-657a-45e0-bad4-d602a69c1922" providerId="ADAL" clId="{48418F94-B0A8-48FF-8EE1-DA25D15CD294}" dt="2025-03-06T12:43:53.916" v="19" actId="13926"/>
          <ac:spMkLst>
            <pc:docMk/>
            <pc:sldMk cId="3182699806" sldId="292"/>
            <ac:spMk id="122" creationId="{00000000-0000-0000-0000-000000000000}"/>
          </ac:spMkLst>
        </pc:spChg>
        <pc:spChg chg="mod">
          <ac:chgData name="Rachel Jagger" userId="cf4acb15-657a-45e0-bad4-d602a69c1922" providerId="ADAL" clId="{48418F94-B0A8-48FF-8EE1-DA25D15CD294}" dt="2025-03-06T12:43:53.916" v="19" actId="13926"/>
          <ac:spMkLst>
            <pc:docMk/>
            <pc:sldMk cId="3182699806" sldId="292"/>
            <ac:spMk id="126" creationId="{00000000-0000-0000-0000-000000000000}"/>
          </ac:spMkLst>
        </pc:spChg>
        <pc:spChg chg="mod">
          <ac:chgData name="Rachel Jagger" userId="cf4acb15-657a-45e0-bad4-d602a69c1922" providerId="ADAL" clId="{48418F94-B0A8-48FF-8EE1-DA25D15CD294}" dt="2025-03-06T12:43:53.916" v="19" actId="13926"/>
          <ac:spMkLst>
            <pc:docMk/>
            <pc:sldMk cId="3182699806" sldId="292"/>
            <ac:spMk id="127" creationId="{00000000-0000-0000-0000-000000000000}"/>
          </ac:spMkLst>
        </pc:spChg>
        <pc:spChg chg="mod">
          <ac:chgData name="Rachel Jagger" userId="cf4acb15-657a-45e0-bad4-d602a69c1922" providerId="ADAL" clId="{48418F94-B0A8-48FF-8EE1-DA25D15CD294}" dt="2025-03-06T12:43:53.916" v="19" actId="13926"/>
          <ac:spMkLst>
            <pc:docMk/>
            <pc:sldMk cId="3182699806" sldId="292"/>
            <ac:spMk id="131" creationId="{00000000-0000-0000-0000-000000000000}"/>
          </ac:spMkLst>
        </pc:spChg>
        <pc:spChg chg="mod">
          <ac:chgData name="Rachel Jagger" userId="cf4acb15-657a-45e0-bad4-d602a69c1922" providerId="ADAL" clId="{48418F94-B0A8-48FF-8EE1-DA25D15CD294}" dt="2025-03-06T12:43:53.916" v="19" actId="13926"/>
          <ac:spMkLst>
            <pc:docMk/>
            <pc:sldMk cId="3182699806" sldId="292"/>
            <ac:spMk id="138" creationId="{00000000-0000-0000-0000-000000000000}"/>
          </ac:spMkLst>
        </pc:spChg>
        <pc:spChg chg="mod">
          <ac:chgData name="Rachel Jagger" userId="cf4acb15-657a-45e0-bad4-d602a69c1922" providerId="ADAL" clId="{48418F94-B0A8-48FF-8EE1-DA25D15CD294}" dt="2025-03-06T12:43:53.916" v="19" actId="13926"/>
          <ac:spMkLst>
            <pc:docMk/>
            <pc:sldMk cId="3182699806" sldId="292"/>
            <ac:spMk id="173" creationId="{00000000-0000-0000-0000-000000000000}"/>
          </ac:spMkLst>
        </pc:spChg>
        <pc:spChg chg="mod">
          <ac:chgData name="Rachel Jagger" userId="cf4acb15-657a-45e0-bad4-d602a69c1922" providerId="ADAL" clId="{48418F94-B0A8-48FF-8EE1-DA25D15CD294}" dt="2025-03-06T12:43:53.916" v="19" actId="13926"/>
          <ac:spMkLst>
            <pc:docMk/>
            <pc:sldMk cId="3182699806" sldId="292"/>
            <ac:spMk id="174" creationId="{00000000-0000-0000-0000-000000000000}"/>
          </ac:spMkLst>
        </pc:spChg>
      </pc:sldChg>
      <pc:sldChg chg="modNotes">
        <pc:chgData name="Rachel Jagger" userId="cf4acb15-657a-45e0-bad4-d602a69c1922" providerId="ADAL" clId="{48418F94-B0A8-48FF-8EE1-DA25D15CD294}" dt="2025-03-06T12:47:51.037" v="36" actId="13926"/>
        <pc:sldMkLst>
          <pc:docMk/>
          <pc:sldMk cId="1262034504" sldId="301"/>
        </pc:sldMkLst>
      </pc:sldChg>
      <pc:sldChg chg="modNotes">
        <pc:chgData name="Rachel Jagger" userId="cf4acb15-657a-45e0-bad4-d602a69c1922" providerId="ADAL" clId="{48418F94-B0A8-48FF-8EE1-DA25D15CD294}" dt="2025-03-06T12:48:12.684" v="40" actId="13926"/>
        <pc:sldMkLst>
          <pc:docMk/>
          <pc:sldMk cId="2248459695" sldId="302"/>
        </pc:sldMkLst>
      </pc:sldChg>
      <pc:sldChg chg="modSp mod modNotes">
        <pc:chgData name="Rachel Jagger" userId="cf4acb15-657a-45e0-bad4-d602a69c1922" providerId="ADAL" clId="{48418F94-B0A8-48FF-8EE1-DA25D15CD294}" dt="2025-03-06T12:48:16.296" v="41" actId="13926"/>
        <pc:sldMkLst>
          <pc:docMk/>
          <pc:sldMk cId="3323753096" sldId="305"/>
        </pc:sldMkLst>
        <pc:spChg chg="mod">
          <ac:chgData name="Rachel Jagger" userId="cf4acb15-657a-45e0-bad4-d602a69c1922" providerId="ADAL" clId="{48418F94-B0A8-48FF-8EE1-DA25D15CD294}" dt="2025-03-06T12:46:00.018" v="26" actId="255"/>
          <ac:spMkLst>
            <pc:docMk/>
            <pc:sldMk cId="3323753096" sldId="305"/>
            <ac:spMk id="226" creationId="{00000000-0000-0000-0000-000000000000}"/>
          </ac:spMkLst>
        </pc:spChg>
      </pc:sldChg>
      <pc:sldChg chg="delSp modSp mod modNotes">
        <pc:chgData name="Rachel Jagger" userId="cf4acb15-657a-45e0-bad4-d602a69c1922" providerId="ADAL" clId="{48418F94-B0A8-48FF-8EE1-DA25D15CD294}" dt="2025-03-06T12:47:20.866" v="31" actId="13926"/>
        <pc:sldMkLst>
          <pc:docMk/>
          <pc:sldMk cId="733064313" sldId="314"/>
        </pc:sldMkLst>
        <pc:spChg chg="mod">
          <ac:chgData name="Rachel Jagger" userId="cf4acb15-657a-45e0-bad4-d602a69c1922" providerId="ADAL" clId="{48418F94-B0A8-48FF-8EE1-DA25D15CD294}" dt="2025-03-06T12:43:05.129" v="7" actId="13926"/>
          <ac:spMkLst>
            <pc:docMk/>
            <pc:sldMk cId="733064313" sldId="314"/>
            <ac:spMk id="15" creationId="{00000000-0000-0000-0000-000000000000}"/>
          </ac:spMkLst>
        </pc:spChg>
        <pc:spChg chg="mod">
          <ac:chgData name="Rachel Jagger" userId="cf4acb15-657a-45e0-bad4-d602a69c1922" providerId="ADAL" clId="{48418F94-B0A8-48FF-8EE1-DA25D15CD294}" dt="2025-03-06T12:43:05.129" v="7" actId="13926"/>
          <ac:spMkLst>
            <pc:docMk/>
            <pc:sldMk cId="733064313" sldId="314"/>
            <ac:spMk id="19" creationId="{AA129979-C606-5588-C08D-59A571CE9E97}"/>
          </ac:spMkLst>
        </pc:spChg>
        <pc:spChg chg="mod">
          <ac:chgData name="Rachel Jagger" userId="cf4acb15-657a-45e0-bad4-d602a69c1922" providerId="ADAL" clId="{48418F94-B0A8-48FF-8EE1-DA25D15CD294}" dt="2025-03-06T12:43:05.129" v="7" actId="13926"/>
          <ac:spMkLst>
            <pc:docMk/>
            <pc:sldMk cId="733064313" sldId="314"/>
            <ac:spMk id="31" creationId="{00000000-0000-0000-0000-000000000000}"/>
          </ac:spMkLst>
        </pc:spChg>
        <pc:spChg chg="mod">
          <ac:chgData name="Rachel Jagger" userId="cf4acb15-657a-45e0-bad4-d602a69c1922" providerId="ADAL" clId="{48418F94-B0A8-48FF-8EE1-DA25D15CD294}" dt="2025-03-06T12:43:05.129" v="7" actId="13926"/>
          <ac:spMkLst>
            <pc:docMk/>
            <pc:sldMk cId="733064313" sldId="314"/>
            <ac:spMk id="54" creationId="{00000000-0000-0000-0000-000000000000}"/>
          </ac:spMkLst>
        </pc:spChg>
        <pc:spChg chg="mod">
          <ac:chgData name="Rachel Jagger" userId="cf4acb15-657a-45e0-bad4-d602a69c1922" providerId="ADAL" clId="{48418F94-B0A8-48FF-8EE1-DA25D15CD294}" dt="2025-03-06T12:43:05.129" v="7" actId="13926"/>
          <ac:spMkLst>
            <pc:docMk/>
            <pc:sldMk cId="733064313" sldId="314"/>
            <ac:spMk id="55" creationId="{5DC806DE-2C04-B156-FAE5-AB22580C763C}"/>
          </ac:spMkLst>
        </pc:spChg>
        <pc:spChg chg="mod">
          <ac:chgData name="Rachel Jagger" userId="cf4acb15-657a-45e0-bad4-d602a69c1922" providerId="ADAL" clId="{48418F94-B0A8-48FF-8EE1-DA25D15CD294}" dt="2025-03-06T12:43:05.129" v="7" actId="13926"/>
          <ac:spMkLst>
            <pc:docMk/>
            <pc:sldMk cId="733064313" sldId="314"/>
            <ac:spMk id="60" creationId="{06353ED4-B0D7-77F7-B7E2-BAC0DA31EF14}"/>
          </ac:spMkLst>
        </pc:spChg>
        <pc:spChg chg="mod">
          <ac:chgData name="Rachel Jagger" userId="cf4acb15-657a-45e0-bad4-d602a69c1922" providerId="ADAL" clId="{48418F94-B0A8-48FF-8EE1-DA25D15CD294}" dt="2025-03-06T12:43:05.129" v="7" actId="13926"/>
          <ac:spMkLst>
            <pc:docMk/>
            <pc:sldMk cId="733064313" sldId="314"/>
            <ac:spMk id="61" creationId="{AF0C907A-2755-A0F9-52A6-B9A043618D90}"/>
          </ac:spMkLst>
        </pc:spChg>
        <pc:spChg chg="mod">
          <ac:chgData name="Rachel Jagger" userId="cf4acb15-657a-45e0-bad4-d602a69c1922" providerId="ADAL" clId="{48418F94-B0A8-48FF-8EE1-DA25D15CD294}" dt="2025-03-06T12:43:05.129" v="7" actId="13926"/>
          <ac:spMkLst>
            <pc:docMk/>
            <pc:sldMk cId="733064313" sldId="314"/>
            <ac:spMk id="62" creationId="{E4E6B5EF-DD8D-EA8B-8647-7AD52FB74262}"/>
          </ac:spMkLst>
        </pc:spChg>
        <pc:spChg chg="mod">
          <ac:chgData name="Rachel Jagger" userId="cf4acb15-657a-45e0-bad4-d602a69c1922" providerId="ADAL" clId="{48418F94-B0A8-48FF-8EE1-DA25D15CD294}" dt="2025-03-06T12:43:05.129" v="7" actId="13926"/>
          <ac:spMkLst>
            <pc:docMk/>
            <pc:sldMk cId="733064313" sldId="314"/>
            <ac:spMk id="64" creationId="{31088680-411D-8C5F-D481-1E1B89AB6C8E}"/>
          </ac:spMkLst>
        </pc:spChg>
        <pc:spChg chg="mod">
          <ac:chgData name="Rachel Jagger" userId="cf4acb15-657a-45e0-bad4-d602a69c1922" providerId="ADAL" clId="{48418F94-B0A8-48FF-8EE1-DA25D15CD294}" dt="2025-03-06T12:43:05.129" v="7" actId="13926"/>
          <ac:spMkLst>
            <pc:docMk/>
            <pc:sldMk cId="733064313" sldId="314"/>
            <ac:spMk id="65" creationId="{939A6F3C-1E25-4DE1-6693-A211110AB226}"/>
          </ac:spMkLst>
        </pc:spChg>
        <pc:picChg chg="del">
          <ac:chgData name="Rachel Jagger" userId="cf4acb15-657a-45e0-bad4-d602a69c1922" providerId="ADAL" clId="{48418F94-B0A8-48FF-8EE1-DA25D15CD294}" dt="2025-03-06T12:43:07.701" v="8" actId="478"/>
          <ac:picMkLst>
            <pc:docMk/>
            <pc:sldMk cId="733064313" sldId="314"/>
            <ac:picMk id="12" creationId="{075AC36F-E299-79B0-68C4-13A502BC7860}"/>
          </ac:picMkLst>
        </pc:picChg>
      </pc:sldChg>
      <pc:sldChg chg="modSp mod modNotes">
        <pc:chgData name="Rachel Jagger" userId="cf4acb15-657a-45e0-bad4-d602a69c1922" providerId="ADAL" clId="{48418F94-B0A8-48FF-8EE1-DA25D15CD294}" dt="2025-03-06T12:46:54.016" v="27" actId="13926"/>
        <pc:sldMkLst>
          <pc:docMk/>
          <pc:sldMk cId="819457611" sldId="316"/>
        </pc:sldMkLst>
        <pc:spChg chg="mod">
          <ac:chgData name="Rachel Jagger" userId="cf4acb15-657a-45e0-bad4-d602a69c1922" providerId="ADAL" clId="{48418F94-B0A8-48FF-8EE1-DA25D15CD294}" dt="2025-03-06T12:42:47.768" v="2" actId="13926"/>
          <ac:spMkLst>
            <pc:docMk/>
            <pc:sldMk cId="819457611" sldId="316"/>
            <ac:spMk id="3" creationId="{00000000-0000-0000-0000-000000000000}"/>
          </ac:spMkLst>
        </pc:spChg>
        <pc:spChg chg="mod">
          <ac:chgData name="Rachel Jagger" userId="cf4acb15-657a-45e0-bad4-d602a69c1922" providerId="ADAL" clId="{48418F94-B0A8-48FF-8EE1-DA25D15CD294}" dt="2025-03-06T12:42:47.768" v="2" actId="13926"/>
          <ac:spMkLst>
            <pc:docMk/>
            <pc:sldMk cId="819457611" sldId="316"/>
            <ac:spMk id="4" creationId="{00000000-0000-0000-0000-000000000000}"/>
          </ac:spMkLst>
        </pc:spChg>
        <pc:spChg chg="mod">
          <ac:chgData name="Rachel Jagger" userId="cf4acb15-657a-45e0-bad4-d602a69c1922" providerId="ADAL" clId="{48418F94-B0A8-48FF-8EE1-DA25D15CD294}" dt="2025-03-06T12:42:47.768" v="2" actId="13926"/>
          <ac:spMkLst>
            <pc:docMk/>
            <pc:sldMk cId="819457611" sldId="316"/>
            <ac:spMk id="5" creationId="{CF718964-802F-49C0-B296-ABAB204925B9}"/>
          </ac:spMkLst>
        </pc:spChg>
        <pc:spChg chg="mod">
          <ac:chgData name="Rachel Jagger" userId="cf4acb15-657a-45e0-bad4-d602a69c1922" providerId="ADAL" clId="{48418F94-B0A8-48FF-8EE1-DA25D15CD294}" dt="2025-03-06T12:42:47.768" v="2" actId="13926"/>
          <ac:spMkLst>
            <pc:docMk/>
            <pc:sldMk cId="819457611" sldId="316"/>
            <ac:spMk id="6" creationId="{00000000-0000-0000-0000-000000000000}"/>
          </ac:spMkLst>
        </pc:spChg>
        <pc:spChg chg="mod">
          <ac:chgData name="Rachel Jagger" userId="cf4acb15-657a-45e0-bad4-d602a69c1922" providerId="ADAL" clId="{48418F94-B0A8-48FF-8EE1-DA25D15CD294}" dt="2025-03-06T12:42:47.768" v="2" actId="13926"/>
          <ac:spMkLst>
            <pc:docMk/>
            <pc:sldMk cId="819457611" sldId="316"/>
            <ac:spMk id="12" creationId="{A8214AF0-10C7-A6E6-0BFC-86180ED4D968}"/>
          </ac:spMkLst>
        </pc:spChg>
        <pc:spChg chg="mod">
          <ac:chgData name="Rachel Jagger" userId="cf4acb15-657a-45e0-bad4-d602a69c1922" providerId="ADAL" clId="{48418F94-B0A8-48FF-8EE1-DA25D15CD294}" dt="2025-03-06T12:42:47.768" v="2" actId="13926"/>
          <ac:spMkLst>
            <pc:docMk/>
            <pc:sldMk cId="819457611" sldId="316"/>
            <ac:spMk id="14" creationId="{D53F37A6-203C-CEDC-878D-2829CF471B39}"/>
          </ac:spMkLst>
        </pc:spChg>
        <pc:spChg chg="mod">
          <ac:chgData name="Rachel Jagger" userId="cf4acb15-657a-45e0-bad4-d602a69c1922" providerId="ADAL" clId="{48418F94-B0A8-48FF-8EE1-DA25D15CD294}" dt="2025-03-06T12:42:47.768" v="2" actId="13926"/>
          <ac:spMkLst>
            <pc:docMk/>
            <pc:sldMk cId="819457611" sldId="316"/>
            <ac:spMk id="15" creationId="{B1013F77-86DB-74BE-7E46-CCAE29B1A524}"/>
          </ac:spMkLst>
        </pc:spChg>
        <pc:spChg chg="mod">
          <ac:chgData name="Rachel Jagger" userId="cf4acb15-657a-45e0-bad4-d602a69c1922" providerId="ADAL" clId="{48418F94-B0A8-48FF-8EE1-DA25D15CD294}" dt="2025-03-06T12:42:47.768" v="2" actId="13926"/>
          <ac:spMkLst>
            <pc:docMk/>
            <pc:sldMk cId="819457611" sldId="316"/>
            <ac:spMk id="18" creationId="{D7A5338C-5EA2-2163-0890-C4BF2391AFFE}"/>
          </ac:spMkLst>
        </pc:spChg>
        <pc:spChg chg="mod">
          <ac:chgData name="Rachel Jagger" userId="cf4acb15-657a-45e0-bad4-d602a69c1922" providerId="ADAL" clId="{48418F94-B0A8-48FF-8EE1-DA25D15CD294}" dt="2025-03-06T12:42:47.768" v="2" actId="13926"/>
          <ac:spMkLst>
            <pc:docMk/>
            <pc:sldMk cId="819457611" sldId="316"/>
            <ac:spMk id="19" creationId="{AD1EED1F-A280-403D-080E-8EEED897E549}"/>
          </ac:spMkLst>
        </pc:spChg>
        <pc:spChg chg="mod">
          <ac:chgData name="Rachel Jagger" userId="cf4acb15-657a-45e0-bad4-d602a69c1922" providerId="ADAL" clId="{48418F94-B0A8-48FF-8EE1-DA25D15CD294}" dt="2025-03-06T12:42:47.768" v="2" actId="13926"/>
          <ac:spMkLst>
            <pc:docMk/>
            <pc:sldMk cId="819457611" sldId="316"/>
            <ac:spMk id="21" creationId="{5598C91F-7077-D5D7-5643-BBB7DDFD52C9}"/>
          </ac:spMkLst>
        </pc:spChg>
      </pc:sldChg>
      <pc:sldChg chg="modSp mod modNotes">
        <pc:chgData name="Rachel Jagger" userId="cf4acb15-657a-45e0-bad4-d602a69c1922" providerId="ADAL" clId="{48418F94-B0A8-48FF-8EE1-DA25D15CD294}" dt="2025-03-06T12:47:36.648" v="34" actId="13926"/>
        <pc:sldMkLst>
          <pc:docMk/>
          <pc:sldMk cId="998242501" sldId="328"/>
        </pc:sldMkLst>
        <pc:spChg chg="mod">
          <ac:chgData name="Rachel Jagger" userId="cf4acb15-657a-45e0-bad4-d602a69c1922" providerId="ADAL" clId="{48418F94-B0A8-48FF-8EE1-DA25D15CD294}" dt="2025-03-06T12:43:21.704" v="12" actId="13926"/>
          <ac:spMkLst>
            <pc:docMk/>
            <pc:sldMk cId="998242501" sldId="328"/>
            <ac:spMk id="2" creationId="{3CF67CAD-C14D-4EF2-B1D3-172B9D4654FC}"/>
          </ac:spMkLst>
        </pc:spChg>
        <pc:spChg chg="mod">
          <ac:chgData name="Rachel Jagger" userId="cf4acb15-657a-45e0-bad4-d602a69c1922" providerId="ADAL" clId="{48418F94-B0A8-48FF-8EE1-DA25D15CD294}" dt="2025-03-06T12:43:21.704" v="12" actId="13926"/>
          <ac:spMkLst>
            <pc:docMk/>
            <pc:sldMk cId="998242501" sldId="328"/>
            <ac:spMk id="3" creationId="{418B8E3C-3EB4-4B45-8FCA-36967B2194DF}"/>
          </ac:spMkLst>
        </pc:spChg>
        <pc:spChg chg="mod">
          <ac:chgData name="Rachel Jagger" userId="cf4acb15-657a-45e0-bad4-d602a69c1922" providerId="ADAL" clId="{48418F94-B0A8-48FF-8EE1-DA25D15CD294}" dt="2025-03-06T12:43:21.704" v="12" actId="13926"/>
          <ac:spMkLst>
            <pc:docMk/>
            <pc:sldMk cId="998242501" sldId="328"/>
            <ac:spMk id="4" creationId="{4180F803-1019-45E0-999A-A3963DC1AC71}"/>
          </ac:spMkLst>
        </pc:spChg>
        <pc:spChg chg="mod">
          <ac:chgData name="Rachel Jagger" userId="cf4acb15-657a-45e0-bad4-d602a69c1922" providerId="ADAL" clId="{48418F94-B0A8-48FF-8EE1-DA25D15CD294}" dt="2025-03-06T12:43:21.704" v="12" actId="13926"/>
          <ac:spMkLst>
            <pc:docMk/>
            <pc:sldMk cId="998242501" sldId="328"/>
            <ac:spMk id="5" creationId="{2FC39514-71CA-49E4-8D70-D9DFC9E42852}"/>
          </ac:spMkLst>
        </pc:spChg>
        <pc:graphicFrameChg chg="modGraphic">
          <ac:chgData name="Rachel Jagger" userId="cf4acb15-657a-45e0-bad4-d602a69c1922" providerId="ADAL" clId="{48418F94-B0A8-48FF-8EE1-DA25D15CD294}" dt="2025-03-06T12:43:25.198" v="13" actId="13926"/>
          <ac:graphicFrameMkLst>
            <pc:docMk/>
            <pc:sldMk cId="998242501" sldId="328"/>
            <ac:graphicFrameMk id="10" creationId="{E7EAAE34-6C4A-4F44-AE08-C89ABFEB93B0}"/>
          </ac:graphicFrameMkLst>
        </pc:graphicFrameChg>
      </pc:sldChg>
      <pc:sldChg chg="modSp mod modNotes">
        <pc:chgData name="Rachel Jagger" userId="cf4acb15-657a-45e0-bad4-d602a69c1922" providerId="ADAL" clId="{48418F94-B0A8-48FF-8EE1-DA25D15CD294}" dt="2025-03-06T12:48:21.712" v="42" actId="13926"/>
        <pc:sldMkLst>
          <pc:docMk/>
          <pc:sldMk cId="2717484091" sldId="339"/>
        </pc:sldMkLst>
        <pc:spChg chg="mod">
          <ac:chgData name="Rachel Jagger" userId="cf4acb15-657a-45e0-bad4-d602a69c1922" providerId="ADAL" clId="{48418F94-B0A8-48FF-8EE1-DA25D15CD294}" dt="2025-03-06T12:44:19.352" v="23" actId="13926"/>
          <ac:spMkLst>
            <pc:docMk/>
            <pc:sldMk cId="2717484091" sldId="339"/>
            <ac:spMk id="2" creationId="{50788FDA-90EA-446C-98F2-C072DAB9916C}"/>
          </ac:spMkLst>
        </pc:spChg>
        <pc:spChg chg="mod">
          <ac:chgData name="Rachel Jagger" userId="cf4acb15-657a-45e0-bad4-d602a69c1922" providerId="ADAL" clId="{48418F94-B0A8-48FF-8EE1-DA25D15CD294}" dt="2025-03-06T12:44:19.352" v="23" actId="13926"/>
          <ac:spMkLst>
            <pc:docMk/>
            <pc:sldMk cId="2717484091" sldId="339"/>
            <ac:spMk id="3" creationId="{6803CC5B-203C-4A1B-B189-17F43B56B965}"/>
          </ac:spMkLst>
        </pc:spChg>
        <pc:spChg chg="mod">
          <ac:chgData name="Rachel Jagger" userId="cf4acb15-657a-45e0-bad4-d602a69c1922" providerId="ADAL" clId="{48418F94-B0A8-48FF-8EE1-DA25D15CD294}" dt="2025-03-06T12:44:19.352" v="23" actId="13926"/>
          <ac:spMkLst>
            <pc:docMk/>
            <pc:sldMk cId="2717484091" sldId="339"/>
            <ac:spMk id="5" creationId="{C6CEECF0-8C1A-4EC1-A9EC-3264141F28F8}"/>
          </ac:spMkLst>
        </pc:spChg>
        <pc:spChg chg="mod">
          <ac:chgData name="Rachel Jagger" userId="cf4acb15-657a-45e0-bad4-d602a69c1922" providerId="ADAL" clId="{48418F94-B0A8-48FF-8EE1-DA25D15CD294}" dt="2025-03-06T12:44:19.352" v="23" actId="13926"/>
          <ac:spMkLst>
            <pc:docMk/>
            <pc:sldMk cId="2717484091" sldId="339"/>
            <ac:spMk id="23" creationId="{8DED4053-4978-4336-ADFD-2B62ACC7FC06}"/>
          </ac:spMkLst>
        </pc:spChg>
        <pc:spChg chg="mod">
          <ac:chgData name="Rachel Jagger" userId="cf4acb15-657a-45e0-bad4-d602a69c1922" providerId="ADAL" clId="{48418F94-B0A8-48FF-8EE1-DA25D15CD294}" dt="2025-03-06T12:44:19.352" v="23" actId="13926"/>
          <ac:spMkLst>
            <pc:docMk/>
            <pc:sldMk cId="2717484091" sldId="339"/>
            <ac:spMk id="24" creationId="{98C7B6F7-256A-4498-87DC-06BA39D884FF}"/>
          </ac:spMkLst>
        </pc:spChg>
        <pc:spChg chg="mod">
          <ac:chgData name="Rachel Jagger" userId="cf4acb15-657a-45e0-bad4-d602a69c1922" providerId="ADAL" clId="{48418F94-B0A8-48FF-8EE1-DA25D15CD294}" dt="2025-03-06T12:44:19.352" v="23" actId="13926"/>
          <ac:spMkLst>
            <pc:docMk/>
            <pc:sldMk cId="2717484091" sldId="339"/>
            <ac:spMk id="51" creationId="{68AE89B7-5D6B-4BDF-AC73-CCC3CED21DCC}"/>
          </ac:spMkLst>
        </pc:spChg>
        <pc:spChg chg="mod">
          <ac:chgData name="Rachel Jagger" userId="cf4acb15-657a-45e0-bad4-d602a69c1922" providerId="ADAL" clId="{48418F94-B0A8-48FF-8EE1-DA25D15CD294}" dt="2025-03-06T12:44:19.352" v="23" actId="13926"/>
          <ac:spMkLst>
            <pc:docMk/>
            <pc:sldMk cId="2717484091" sldId="339"/>
            <ac:spMk id="54" creationId="{145DA427-DA51-4245-8BEC-DD612F42D443}"/>
          </ac:spMkLst>
        </pc:spChg>
        <pc:spChg chg="mod">
          <ac:chgData name="Rachel Jagger" userId="cf4acb15-657a-45e0-bad4-d602a69c1922" providerId="ADAL" clId="{48418F94-B0A8-48FF-8EE1-DA25D15CD294}" dt="2025-03-06T12:44:19.352" v="23" actId="13926"/>
          <ac:spMkLst>
            <pc:docMk/>
            <pc:sldMk cId="2717484091" sldId="339"/>
            <ac:spMk id="55" creationId="{6F4582F3-1B19-4F86-8005-D39BB90300C3}"/>
          </ac:spMkLst>
        </pc:spChg>
        <pc:spChg chg="mod">
          <ac:chgData name="Rachel Jagger" userId="cf4acb15-657a-45e0-bad4-d602a69c1922" providerId="ADAL" clId="{48418F94-B0A8-48FF-8EE1-DA25D15CD294}" dt="2025-03-06T12:44:19.352" v="23" actId="13926"/>
          <ac:spMkLst>
            <pc:docMk/>
            <pc:sldMk cId="2717484091" sldId="339"/>
            <ac:spMk id="58" creationId="{051EE7FD-828E-4A35-9A33-200DF39C03E3}"/>
          </ac:spMkLst>
        </pc:spChg>
        <pc:spChg chg="mod">
          <ac:chgData name="Rachel Jagger" userId="cf4acb15-657a-45e0-bad4-d602a69c1922" providerId="ADAL" clId="{48418F94-B0A8-48FF-8EE1-DA25D15CD294}" dt="2025-03-06T12:44:19.352" v="23" actId="13926"/>
          <ac:spMkLst>
            <pc:docMk/>
            <pc:sldMk cId="2717484091" sldId="339"/>
            <ac:spMk id="84" creationId="{B6A61C49-84F3-47F0-BD02-D4AA6D79ADB7}"/>
          </ac:spMkLst>
        </pc:spChg>
      </pc:sldChg>
      <pc:sldChg chg="delSp mod">
        <pc:chgData name="Rachel Jagger" userId="cf4acb15-657a-45e0-bad4-d602a69c1922" providerId="ADAL" clId="{48418F94-B0A8-48FF-8EE1-DA25D15CD294}" dt="2025-03-06T12:42:37.234" v="1" actId="478"/>
        <pc:sldMkLst>
          <pc:docMk/>
          <pc:sldMk cId="761489717" sldId="340"/>
        </pc:sldMkLst>
        <pc:spChg chg="del">
          <ac:chgData name="Rachel Jagger" userId="cf4acb15-657a-45e0-bad4-d602a69c1922" providerId="ADAL" clId="{48418F94-B0A8-48FF-8EE1-DA25D15CD294}" dt="2025-03-06T12:42:37.234" v="1" actId="478"/>
          <ac:spMkLst>
            <pc:docMk/>
            <pc:sldMk cId="761489717" sldId="340"/>
            <ac:spMk id="2" creationId="{BD89B925-3B1E-615E-5345-1B4A5C4E3CD3}"/>
          </ac:spMkLst>
        </pc:spChg>
      </pc:sldChg>
      <pc:sldChg chg="delSp mod">
        <pc:chgData name="Rachel Jagger" userId="cf4acb15-657a-45e0-bad4-d602a69c1922" providerId="ADAL" clId="{48418F94-B0A8-48FF-8EE1-DA25D15CD294}" dt="2025-03-06T12:42:31.082" v="0" actId="478"/>
        <pc:sldMkLst>
          <pc:docMk/>
          <pc:sldMk cId="946970922" sldId="341"/>
        </pc:sldMkLst>
        <pc:spChg chg="del">
          <ac:chgData name="Rachel Jagger" userId="cf4acb15-657a-45e0-bad4-d602a69c1922" providerId="ADAL" clId="{48418F94-B0A8-48FF-8EE1-DA25D15CD294}" dt="2025-03-06T12:42:31.082" v="0" actId="478"/>
          <ac:spMkLst>
            <pc:docMk/>
            <pc:sldMk cId="946970922" sldId="341"/>
            <ac:spMk id="4" creationId="{ED0FAFD0-9E96-51CC-6020-6936283A0606}"/>
          </ac:spMkLst>
        </pc:spChg>
      </pc:sldChg>
      <pc:sldChg chg="delSp modSp mod">
        <pc:chgData name="Rachel Jagger" userId="cf4acb15-657a-45e0-bad4-d602a69c1922" providerId="ADAL" clId="{48418F94-B0A8-48FF-8EE1-DA25D15CD294}" dt="2025-03-06T12:44:15.880" v="22" actId="13926"/>
        <pc:sldMkLst>
          <pc:docMk/>
          <pc:sldMk cId="1004024163" sldId="342"/>
        </pc:sldMkLst>
        <pc:spChg chg="mod">
          <ac:chgData name="Rachel Jagger" userId="cf4acb15-657a-45e0-bad4-d602a69c1922" providerId="ADAL" clId="{48418F94-B0A8-48FF-8EE1-DA25D15CD294}" dt="2025-03-06T12:44:15.880" v="22" actId="13926"/>
          <ac:spMkLst>
            <pc:docMk/>
            <pc:sldMk cId="1004024163" sldId="342"/>
            <ac:spMk id="2" creationId="{D95B7932-7142-9B5C-1348-25AB5FB6D59D}"/>
          </ac:spMkLst>
        </pc:spChg>
        <pc:spChg chg="mod">
          <ac:chgData name="Rachel Jagger" userId="cf4acb15-657a-45e0-bad4-d602a69c1922" providerId="ADAL" clId="{48418F94-B0A8-48FF-8EE1-DA25D15CD294}" dt="2025-03-06T12:44:15.880" v="22" actId="13926"/>
          <ac:spMkLst>
            <pc:docMk/>
            <pc:sldMk cId="1004024163" sldId="342"/>
            <ac:spMk id="3" creationId="{F1B4C6C4-AD2B-781F-DE0D-2B879067E024}"/>
          </ac:spMkLst>
        </pc:spChg>
        <pc:spChg chg="mod">
          <ac:chgData name="Rachel Jagger" userId="cf4acb15-657a-45e0-bad4-d602a69c1922" providerId="ADAL" clId="{48418F94-B0A8-48FF-8EE1-DA25D15CD294}" dt="2025-03-06T12:44:15.880" v="22" actId="13926"/>
          <ac:spMkLst>
            <pc:docMk/>
            <pc:sldMk cId="1004024163" sldId="342"/>
            <ac:spMk id="6" creationId="{3AFE7C4E-5AE1-982E-B420-2F45E83AD595}"/>
          </ac:spMkLst>
        </pc:spChg>
        <pc:spChg chg="mod">
          <ac:chgData name="Rachel Jagger" userId="cf4acb15-657a-45e0-bad4-d602a69c1922" providerId="ADAL" clId="{48418F94-B0A8-48FF-8EE1-DA25D15CD294}" dt="2025-03-06T12:44:15.880" v="22" actId="13926"/>
          <ac:spMkLst>
            <pc:docMk/>
            <pc:sldMk cId="1004024163" sldId="342"/>
            <ac:spMk id="14" creationId="{1A9E966A-5FDD-B3C4-1F61-D612C6DEADB2}"/>
          </ac:spMkLst>
        </pc:spChg>
        <pc:spChg chg="del">
          <ac:chgData name="Rachel Jagger" userId="cf4acb15-657a-45e0-bad4-d602a69c1922" providerId="ADAL" clId="{48418F94-B0A8-48FF-8EE1-DA25D15CD294}" dt="2025-03-06T12:44:13.192" v="21" actId="478"/>
          <ac:spMkLst>
            <pc:docMk/>
            <pc:sldMk cId="1004024163" sldId="342"/>
            <ac:spMk id="17" creationId="{6C544EA4-BE33-DCC6-C738-69CD32050ABD}"/>
          </ac:spMkLst>
        </pc:spChg>
        <pc:spChg chg="mod">
          <ac:chgData name="Rachel Jagger" userId="cf4acb15-657a-45e0-bad4-d602a69c1922" providerId="ADAL" clId="{48418F94-B0A8-48FF-8EE1-DA25D15CD294}" dt="2025-03-06T12:44:15.880" v="22" actId="13926"/>
          <ac:spMkLst>
            <pc:docMk/>
            <pc:sldMk cId="1004024163" sldId="342"/>
            <ac:spMk id="21" creationId="{1061F9A2-1F1D-7365-A267-D7DD6EC96270}"/>
          </ac:spMkLst>
        </pc:spChg>
        <pc:spChg chg="mod">
          <ac:chgData name="Rachel Jagger" userId="cf4acb15-657a-45e0-bad4-d602a69c1922" providerId="ADAL" clId="{48418F94-B0A8-48FF-8EE1-DA25D15CD294}" dt="2025-03-06T12:44:15.880" v="22" actId="13926"/>
          <ac:spMkLst>
            <pc:docMk/>
            <pc:sldMk cId="1004024163" sldId="342"/>
            <ac:spMk id="22" creationId="{3354F847-0A19-F58F-E294-8CC41E3A1A96}"/>
          </ac:spMkLst>
        </pc:spChg>
      </pc:sldChg>
      <pc:sldChg chg="delSp mod modNotes">
        <pc:chgData name="Rachel Jagger" userId="cf4acb15-657a-45e0-bad4-d602a69c1922" providerId="ADAL" clId="{48418F94-B0A8-48FF-8EE1-DA25D15CD294}" dt="2025-03-06T12:47:41.978" v="35" actId="13926"/>
        <pc:sldMkLst>
          <pc:docMk/>
          <pc:sldMk cId="1425796375" sldId="343"/>
        </pc:sldMkLst>
        <pc:spChg chg="del">
          <ac:chgData name="Rachel Jagger" userId="cf4acb15-657a-45e0-bad4-d602a69c1922" providerId="ADAL" clId="{48418F94-B0A8-48FF-8EE1-DA25D15CD294}" dt="2025-03-06T12:43:32.289" v="14" actId="478"/>
          <ac:spMkLst>
            <pc:docMk/>
            <pc:sldMk cId="1425796375" sldId="343"/>
            <ac:spMk id="7" creationId="{4DFB4E9A-61DA-096B-4529-086E0A08C485}"/>
          </ac:spMkLst>
        </pc:spChg>
      </pc:sldChg>
      <pc:sldChg chg="modSp modNotes">
        <pc:chgData name="Rachel Jagger" userId="cf4acb15-657a-45e0-bad4-d602a69c1922" providerId="ADAL" clId="{48418F94-B0A8-48FF-8EE1-DA25D15CD294}" dt="2025-03-06T12:48:25.924" v="43" actId="13926"/>
        <pc:sldMkLst>
          <pc:docMk/>
          <pc:sldMk cId="347478514" sldId="344"/>
        </pc:sldMkLst>
        <pc:spChg chg="mod">
          <ac:chgData name="Rachel Jagger" userId="cf4acb15-657a-45e0-bad4-d602a69c1922" providerId="ADAL" clId="{48418F94-B0A8-48FF-8EE1-DA25D15CD294}" dt="2025-03-06T12:44:23.027" v="24" actId="13926"/>
          <ac:spMkLst>
            <pc:docMk/>
            <pc:sldMk cId="347478514" sldId="344"/>
            <ac:spMk id="2" creationId="{238B1215-E1BA-4EF0-8B02-EFA93AC16A98}"/>
          </ac:spMkLst>
        </pc:spChg>
        <pc:spChg chg="mod">
          <ac:chgData name="Rachel Jagger" userId="cf4acb15-657a-45e0-bad4-d602a69c1922" providerId="ADAL" clId="{48418F94-B0A8-48FF-8EE1-DA25D15CD294}" dt="2025-03-06T12:44:23.027" v="24" actId="13926"/>
          <ac:spMkLst>
            <pc:docMk/>
            <pc:sldMk cId="347478514" sldId="344"/>
            <ac:spMk id="4" creationId="{E7506D8E-42DD-41FD-85AC-A3C5242AB6A9}"/>
          </ac:spMkLst>
        </pc:spChg>
        <pc:spChg chg="mod">
          <ac:chgData name="Rachel Jagger" userId="cf4acb15-657a-45e0-bad4-d602a69c1922" providerId="ADAL" clId="{48418F94-B0A8-48FF-8EE1-DA25D15CD294}" dt="2025-03-06T12:44:23.027" v="24" actId="13926"/>
          <ac:spMkLst>
            <pc:docMk/>
            <pc:sldMk cId="347478514" sldId="344"/>
            <ac:spMk id="6" creationId="{816C0DF4-C136-4805-BDAA-5EEC105597CA}"/>
          </ac:spMkLst>
        </pc:spChg>
        <pc:spChg chg="mod">
          <ac:chgData name="Rachel Jagger" userId="cf4acb15-657a-45e0-bad4-d602a69c1922" providerId="ADAL" clId="{48418F94-B0A8-48FF-8EE1-DA25D15CD294}" dt="2025-03-06T12:44:23.027" v="24" actId="13926"/>
          <ac:spMkLst>
            <pc:docMk/>
            <pc:sldMk cId="347478514" sldId="344"/>
            <ac:spMk id="9" creationId="{31EA52C1-3C1D-48B5-BF4F-6A429641FEE3}"/>
          </ac:spMkLst>
        </pc:spChg>
        <pc:spChg chg="mod">
          <ac:chgData name="Rachel Jagger" userId="cf4acb15-657a-45e0-bad4-d602a69c1922" providerId="ADAL" clId="{48418F94-B0A8-48FF-8EE1-DA25D15CD294}" dt="2025-03-06T12:44:23.027" v="24" actId="13926"/>
          <ac:spMkLst>
            <pc:docMk/>
            <pc:sldMk cId="347478514" sldId="344"/>
            <ac:spMk id="589" creationId="{6DB8D264-9A20-4747-8A5C-14E6E5B61C97}"/>
          </ac:spMkLst>
        </pc:spChg>
        <pc:spChg chg="mod">
          <ac:chgData name="Rachel Jagger" userId="cf4acb15-657a-45e0-bad4-d602a69c1922" providerId="ADAL" clId="{48418F94-B0A8-48FF-8EE1-DA25D15CD294}" dt="2025-03-06T12:44:23.027" v="24" actId="13926"/>
          <ac:spMkLst>
            <pc:docMk/>
            <pc:sldMk cId="347478514" sldId="344"/>
            <ac:spMk id="607" creationId="{11712897-DECD-49BD-90DB-9306668AEEF7}"/>
          </ac:spMkLst>
        </pc:spChg>
        <pc:spChg chg="mod">
          <ac:chgData name="Rachel Jagger" userId="cf4acb15-657a-45e0-bad4-d602a69c1922" providerId="ADAL" clId="{48418F94-B0A8-48FF-8EE1-DA25D15CD294}" dt="2025-03-06T12:44:23.027" v="24" actId="13926"/>
          <ac:spMkLst>
            <pc:docMk/>
            <pc:sldMk cId="347478514" sldId="344"/>
            <ac:spMk id="608" creationId="{B44F39E0-1890-4325-B8EB-93E103F06A93}"/>
          </ac:spMkLst>
        </pc:spChg>
        <pc:spChg chg="mod">
          <ac:chgData name="Rachel Jagger" userId="cf4acb15-657a-45e0-bad4-d602a69c1922" providerId="ADAL" clId="{48418F94-B0A8-48FF-8EE1-DA25D15CD294}" dt="2025-03-06T12:44:23.027" v="24" actId="13926"/>
          <ac:spMkLst>
            <pc:docMk/>
            <pc:sldMk cId="347478514" sldId="344"/>
            <ac:spMk id="609" creationId="{A8B2DDFF-DBF5-4AAD-888A-AA4A68744405}"/>
          </ac:spMkLst>
        </pc:spChg>
        <pc:spChg chg="mod">
          <ac:chgData name="Rachel Jagger" userId="cf4acb15-657a-45e0-bad4-d602a69c1922" providerId="ADAL" clId="{48418F94-B0A8-48FF-8EE1-DA25D15CD294}" dt="2025-03-06T12:44:23.027" v="24" actId="13926"/>
          <ac:spMkLst>
            <pc:docMk/>
            <pc:sldMk cId="347478514" sldId="344"/>
            <ac:spMk id="951" creationId="{F6F181CD-049C-4A7A-9B9B-FDE852FC9F49}"/>
          </ac:spMkLst>
        </pc:spChg>
        <pc:grpChg chg="mod">
          <ac:chgData name="Rachel Jagger" userId="cf4acb15-657a-45e0-bad4-d602a69c1922" providerId="ADAL" clId="{48418F94-B0A8-48FF-8EE1-DA25D15CD294}" dt="2025-03-06T12:44:23.027" v="24" actId="13926"/>
          <ac:grpSpMkLst>
            <pc:docMk/>
            <pc:sldMk cId="347478514" sldId="344"/>
            <ac:grpSpMk id="37" creationId="{227F0EB0-8557-572D-2CF4-C4EDAF4E1EB2}"/>
          </ac:grpSpMkLst>
        </pc:grpChg>
      </pc:sldChg>
      <pc:sldChg chg="delSp mod">
        <pc:chgData name="Rachel Jagger" userId="cf4acb15-657a-45e0-bad4-d602a69c1922" providerId="ADAL" clId="{48418F94-B0A8-48FF-8EE1-DA25D15CD294}" dt="2025-03-06T12:43:47.241" v="17" actId="478"/>
        <pc:sldMkLst>
          <pc:docMk/>
          <pc:sldMk cId="3272683382" sldId="346"/>
        </pc:sldMkLst>
        <pc:spChg chg="del">
          <ac:chgData name="Rachel Jagger" userId="cf4acb15-657a-45e0-bad4-d602a69c1922" providerId="ADAL" clId="{48418F94-B0A8-48FF-8EE1-DA25D15CD294}" dt="2025-03-06T12:43:47.241" v="17" actId="478"/>
          <ac:spMkLst>
            <pc:docMk/>
            <pc:sldMk cId="3272683382" sldId="346"/>
            <ac:spMk id="19" creationId="{07C5F13F-0BD4-91A3-C394-516AC8EA71AE}"/>
          </ac:spMkLst>
        </pc:spChg>
      </pc:sldChg>
      <pc:sldChg chg="modSp modNotes">
        <pc:chgData name="Rachel Jagger" userId="cf4acb15-657a-45e0-bad4-d602a69c1922" providerId="ADAL" clId="{48418F94-B0A8-48FF-8EE1-DA25D15CD294}" dt="2025-03-06T12:47:57.599" v="37" actId="13926"/>
        <pc:sldMkLst>
          <pc:docMk/>
          <pc:sldMk cId="321235925" sldId="347"/>
        </pc:sldMkLst>
        <pc:spChg chg="mod">
          <ac:chgData name="Rachel Jagger" userId="cf4acb15-657a-45e0-bad4-d602a69c1922" providerId="ADAL" clId="{48418F94-B0A8-48FF-8EE1-DA25D15CD294}" dt="2025-03-06T12:43:42.600" v="16" actId="13926"/>
          <ac:spMkLst>
            <pc:docMk/>
            <pc:sldMk cId="321235925" sldId="347"/>
            <ac:spMk id="2" creationId="{00000000-0000-0000-0000-000000000000}"/>
          </ac:spMkLst>
        </pc:spChg>
        <pc:spChg chg="mod">
          <ac:chgData name="Rachel Jagger" userId="cf4acb15-657a-45e0-bad4-d602a69c1922" providerId="ADAL" clId="{48418F94-B0A8-48FF-8EE1-DA25D15CD294}" dt="2025-03-06T12:43:42.600" v="16" actId="13926"/>
          <ac:spMkLst>
            <pc:docMk/>
            <pc:sldMk cId="321235925" sldId="347"/>
            <ac:spMk id="3" creationId="{00000000-0000-0000-0000-000000000000}"/>
          </ac:spMkLst>
        </pc:spChg>
        <pc:spChg chg="mod">
          <ac:chgData name="Rachel Jagger" userId="cf4acb15-657a-45e0-bad4-d602a69c1922" providerId="ADAL" clId="{48418F94-B0A8-48FF-8EE1-DA25D15CD294}" dt="2025-03-06T12:43:42.600" v="16" actId="13926"/>
          <ac:spMkLst>
            <pc:docMk/>
            <pc:sldMk cId="321235925" sldId="347"/>
            <ac:spMk id="4" creationId="{00000000-0000-0000-0000-000000000000}"/>
          </ac:spMkLst>
        </pc:spChg>
        <pc:spChg chg="mod">
          <ac:chgData name="Rachel Jagger" userId="cf4acb15-657a-45e0-bad4-d602a69c1922" providerId="ADAL" clId="{48418F94-B0A8-48FF-8EE1-DA25D15CD294}" dt="2025-03-06T12:43:42.600" v="16" actId="13926"/>
          <ac:spMkLst>
            <pc:docMk/>
            <pc:sldMk cId="321235925" sldId="347"/>
            <ac:spMk id="5" creationId="{0C19257B-85A4-4341-B313-7FA952424499}"/>
          </ac:spMkLst>
        </pc:spChg>
        <pc:spChg chg="mod">
          <ac:chgData name="Rachel Jagger" userId="cf4acb15-657a-45e0-bad4-d602a69c1922" providerId="ADAL" clId="{48418F94-B0A8-48FF-8EE1-DA25D15CD294}" dt="2025-03-06T12:43:42.600" v="16" actId="13926"/>
          <ac:spMkLst>
            <pc:docMk/>
            <pc:sldMk cId="321235925" sldId="347"/>
            <ac:spMk id="6" creationId="{00000000-0000-0000-0000-000000000000}"/>
          </ac:spMkLst>
        </pc:spChg>
        <pc:spChg chg="mod">
          <ac:chgData name="Rachel Jagger" userId="cf4acb15-657a-45e0-bad4-d602a69c1922" providerId="ADAL" clId="{48418F94-B0A8-48FF-8EE1-DA25D15CD294}" dt="2025-03-06T12:43:42.600" v="16" actId="13926"/>
          <ac:spMkLst>
            <pc:docMk/>
            <pc:sldMk cId="321235925" sldId="347"/>
            <ac:spMk id="236" creationId="{21E8495A-4AA3-43E7-800D-13B04726D53B}"/>
          </ac:spMkLst>
        </pc:spChg>
        <pc:spChg chg="mod">
          <ac:chgData name="Rachel Jagger" userId="cf4acb15-657a-45e0-bad4-d602a69c1922" providerId="ADAL" clId="{48418F94-B0A8-48FF-8EE1-DA25D15CD294}" dt="2025-03-06T12:43:42.600" v="16" actId="13926"/>
          <ac:spMkLst>
            <pc:docMk/>
            <pc:sldMk cId="321235925" sldId="347"/>
            <ac:spMk id="238" creationId="{6C7C2BDE-5A15-435F-8EC3-A018C66FFA2E}"/>
          </ac:spMkLst>
        </pc:spChg>
        <pc:spChg chg="mod">
          <ac:chgData name="Rachel Jagger" userId="cf4acb15-657a-45e0-bad4-d602a69c1922" providerId="ADAL" clId="{48418F94-B0A8-48FF-8EE1-DA25D15CD294}" dt="2025-03-06T12:43:42.600" v="16" actId="13926"/>
          <ac:spMkLst>
            <pc:docMk/>
            <pc:sldMk cId="321235925" sldId="347"/>
            <ac:spMk id="240" creationId="{7B45CF6C-4B94-41CF-B961-B22035D6D3CA}"/>
          </ac:spMkLst>
        </pc:spChg>
        <pc:spChg chg="mod">
          <ac:chgData name="Rachel Jagger" userId="cf4acb15-657a-45e0-bad4-d602a69c1922" providerId="ADAL" clId="{48418F94-B0A8-48FF-8EE1-DA25D15CD294}" dt="2025-03-06T12:43:42.600" v="16" actId="13926"/>
          <ac:spMkLst>
            <pc:docMk/>
            <pc:sldMk cId="321235925" sldId="347"/>
            <ac:spMk id="241" creationId="{93F411CE-2B40-4952-9CD1-9C1C7FB54D80}"/>
          </ac:spMkLst>
        </pc:spChg>
        <pc:spChg chg="mod">
          <ac:chgData name="Rachel Jagger" userId="cf4acb15-657a-45e0-bad4-d602a69c1922" providerId="ADAL" clId="{48418F94-B0A8-48FF-8EE1-DA25D15CD294}" dt="2025-03-06T12:43:42.600" v="16" actId="13926"/>
          <ac:spMkLst>
            <pc:docMk/>
            <pc:sldMk cId="321235925" sldId="347"/>
            <ac:spMk id="245" creationId="{E1D5D01D-7B53-9F2A-09E7-2A245847ABE8}"/>
          </ac:spMkLst>
        </pc:spChg>
      </pc:sldChg>
      <pc:sldChg chg="modSp mod modNotes">
        <pc:chgData name="Rachel Jagger" userId="cf4acb15-657a-45e0-bad4-d602a69c1922" providerId="ADAL" clId="{48418F94-B0A8-48FF-8EE1-DA25D15CD294}" dt="2025-03-06T12:47:31.833" v="33" actId="13926"/>
        <pc:sldMkLst>
          <pc:docMk/>
          <pc:sldMk cId="3730202329" sldId="348"/>
        </pc:sldMkLst>
        <pc:spChg chg="mod">
          <ac:chgData name="Rachel Jagger" userId="cf4acb15-657a-45e0-bad4-d602a69c1922" providerId="ADAL" clId="{48418F94-B0A8-48FF-8EE1-DA25D15CD294}" dt="2025-03-06T12:43:15.797" v="10" actId="13926"/>
          <ac:spMkLst>
            <pc:docMk/>
            <pc:sldMk cId="3730202329" sldId="348"/>
            <ac:spMk id="2" creationId="{AD33D2E8-3478-4CA6-B7D9-3A91938A3966}"/>
          </ac:spMkLst>
        </pc:spChg>
        <pc:spChg chg="mod">
          <ac:chgData name="Rachel Jagger" userId="cf4acb15-657a-45e0-bad4-d602a69c1922" providerId="ADAL" clId="{48418F94-B0A8-48FF-8EE1-DA25D15CD294}" dt="2025-03-06T12:43:15.797" v="10" actId="13926"/>
          <ac:spMkLst>
            <pc:docMk/>
            <pc:sldMk cId="3730202329" sldId="348"/>
            <ac:spMk id="8" creationId="{00000000-0000-0000-0000-000000000000}"/>
          </ac:spMkLst>
        </pc:spChg>
        <pc:spChg chg="mod">
          <ac:chgData name="Rachel Jagger" userId="cf4acb15-657a-45e0-bad4-d602a69c1922" providerId="ADAL" clId="{48418F94-B0A8-48FF-8EE1-DA25D15CD294}" dt="2025-03-06T12:43:15.797" v="10" actId="13926"/>
          <ac:spMkLst>
            <pc:docMk/>
            <pc:sldMk cId="3730202329" sldId="348"/>
            <ac:spMk id="11" creationId="{00000000-0000-0000-0000-000000000000}"/>
          </ac:spMkLst>
        </pc:spChg>
        <pc:spChg chg="mod">
          <ac:chgData name="Rachel Jagger" userId="cf4acb15-657a-45e0-bad4-d602a69c1922" providerId="ADAL" clId="{48418F94-B0A8-48FF-8EE1-DA25D15CD294}" dt="2025-03-06T12:43:15.797" v="10" actId="13926"/>
          <ac:spMkLst>
            <pc:docMk/>
            <pc:sldMk cId="3730202329" sldId="348"/>
            <ac:spMk id="15" creationId="{B6EA5722-7AA6-4D12-A41B-82FA31CBD2EE}"/>
          </ac:spMkLst>
        </pc:spChg>
        <pc:spChg chg="mod">
          <ac:chgData name="Rachel Jagger" userId="cf4acb15-657a-45e0-bad4-d602a69c1922" providerId="ADAL" clId="{48418F94-B0A8-48FF-8EE1-DA25D15CD294}" dt="2025-03-06T12:43:15.797" v="10" actId="13926"/>
          <ac:spMkLst>
            <pc:docMk/>
            <pc:sldMk cId="3730202329" sldId="348"/>
            <ac:spMk id="33" creationId="{25CEAFF9-FBAE-F903-7A35-83B5B665ED96}"/>
          </ac:spMkLst>
        </pc:spChg>
        <pc:spChg chg="mod">
          <ac:chgData name="Rachel Jagger" userId="cf4acb15-657a-45e0-bad4-d602a69c1922" providerId="ADAL" clId="{48418F94-B0A8-48FF-8EE1-DA25D15CD294}" dt="2025-03-06T12:43:15.797" v="10" actId="13926"/>
          <ac:spMkLst>
            <pc:docMk/>
            <pc:sldMk cId="3730202329" sldId="348"/>
            <ac:spMk id="34" creationId="{69216430-85B2-3A42-FE05-9CC36DF2AFBE}"/>
          </ac:spMkLst>
        </pc:spChg>
        <pc:spChg chg="mod">
          <ac:chgData name="Rachel Jagger" userId="cf4acb15-657a-45e0-bad4-d602a69c1922" providerId="ADAL" clId="{48418F94-B0A8-48FF-8EE1-DA25D15CD294}" dt="2025-03-06T12:43:15.797" v="10" actId="13926"/>
          <ac:spMkLst>
            <pc:docMk/>
            <pc:sldMk cId="3730202329" sldId="348"/>
            <ac:spMk id="35" creationId="{22B5918F-5BE6-08F9-D6B8-4BC47B931A05}"/>
          </ac:spMkLst>
        </pc:spChg>
        <pc:spChg chg="mod">
          <ac:chgData name="Rachel Jagger" userId="cf4acb15-657a-45e0-bad4-d602a69c1922" providerId="ADAL" clId="{48418F94-B0A8-48FF-8EE1-DA25D15CD294}" dt="2025-03-06T12:43:15.797" v="10" actId="13926"/>
          <ac:spMkLst>
            <pc:docMk/>
            <pc:sldMk cId="3730202329" sldId="348"/>
            <ac:spMk id="42" creationId="{EAA22899-E78A-F781-D6F9-6818F705ADB6}"/>
          </ac:spMkLst>
        </pc:spChg>
        <pc:spChg chg="mod">
          <ac:chgData name="Rachel Jagger" userId="cf4acb15-657a-45e0-bad4-d602a69c1922" providerId="ADAL" clId="{48418F94-B0A8-48FF-8EE1-DA25D15CD294}" dt="2025-03-06T12:43:15.797" v="10" actId="13926"/>
          <ac:spMkLst>
            <pc:docMk/>
            <pc:sldMk cId="3730202329" sldId="348"/>
            <ac:spMk id="44" creationId="{F71CB450-9CB8-51B7-FB88-4CE07F1ECD67}"/>
          </ac:spMkLst>
        </pc:spChg>
        <pc:spChg chg="mod">
          <ac:chgData name="Rachel Jagger" userId="cf4acb15-657a-45e0-bad4-d602a69c1922" providerId="ADAL" clId="{48418F94-B0A8-48FF-8EE1-DA25D15CD294}" dt="2025-03-06T12:43:15.797" v="10" actId="13926"/>
          <ac:spMkLst>
            <pc:docMk/>
            <pc:sldMk cId="3730202329" sldId="348"/>
            <ac:spMk id="51" creationId="{43C6683E-FE68-5E5A-8C90-6F33562AB432}"/>
          </ac:spMkLst>
        </pc:spChg>
      </pc:sldChg>
      <pc:sldChg chg="modSp mod">
        <pc:chgData name="Rachel Jagger" userId="cf4acb15-657a-45e0-bad4-d602a69c1922" providerId="ADAL" clId="{48418F94-B0A8-48FF-8EE1-DA25D15CD294}" dt="2025-03-06T12:43:37.852" v="15" actId="13926"/>
        <pc:sldMkLst>
          <pc:docMk/>
          <pc:sldMk cId="454269958" sldId="349"/>
        </pc:sldMkLst>
        <pc:spChg chg="mod">
          <ac:chgData name="Rachel Jagger" userId="cf4acb15-657a-45e0-bad4-d602a69c1922" providerId="ADAL" clId="{48418F94-B0A8-48FF-8EE1-DA25D15CD294}" dt="2025-03-06T12:43:37.852" v="15" actId="13926"/>
          <ac:spMkLst>
            <pc:docMk/>
            <pc:sldMk cId="454269958" sldId="349"/>
            <ac:spMk id="6" creationId="{378E3E1D-8399-8ABE-FF52-3EB2ECAA8771}"/>
          </ac:spMkLst>
        </pc:spChg>
        <pc:spChg chg="mod">
          <ac:chgData name="Rachel Jagger" userId="cf4acb15-657a-45e0-bad4-d602a69c1922" providerId="ADAL" clId="{48418F94-B0A8-48FF-8EE1-DA25D15CD294}" dt="2025-03-06T12:43:37.852" v="15" actId="13926"/>
          <ac:spMkLst>
            <pc:docMk/>
            <pc:sldMk cId="454269958" sldId="349"/>
            <ac:spMk id="7" creationId="{6EC84BC4-E2E2-90E7-DEAD-B22BDB5298D2}"/>
          </ac:spMkLst>
        </pc:spChg>
        <pc:spChg chg="mod">
          <ac:chgData name="Rachel Jagger" userId="cf4acb15-657a-45e0-bad4-d602a69c1922" providerId="ADAL" clId="{48418F94-B0A8-48FF-8EE1-DA25D15CD294}" dt="2025-03-06T12:43:37.852" v="15" actId="13926"/>
          <ac:spMkLst>
            <pc:docMk/>
            <pc:sldMk cId="454269958" sldId="349"/>
            <ac:spMk id="8" creationId="{E26EE44E-135D-BCDD-F6D8-16FEE7019A73}"/>
          </ac:spMkLst>
        </pc:spChg>
        <pc:spChg chg="mod">
          <ac:chgData name="Rachel Jagger" userId="cf4acb15-657a-45e0-bad4-d602a69c1922" providerId="ADAL" clId="{48418F94-B0A8-48FF-8EE1-DA25D15CD294}" dt="2025-03-06T12:43:37.852" v="15" actId="13926"/>
          <ac:spMkLst>
            <pc:docMk/>
            <pc:sldMk cId="454269958" sldId="349"/>
            <ac:spMk id="9" creationId="{8A6FBD01-7683-E0EB-BA3D-D12A24DBD065}"/>
          </ac:spMkLst>
        </pc:spChg>
        <pc:spChg chg="mod">
          <ac:chgData name="Rachel Jagger" userId="cf4acb15-657a-45e0-bad4-d602a69c1922" providerId="ADAL" clId="{48418F94-B0A8-48FF-8EE1-DA25D15CD294}" dt="2025-03-06T12:43:37.852" v="15" actId="13926"/>
          <ac:spMkLst>
            <pc:docMk/>
            <pc:sldMk cId="454269958" sldId="349"/>
            <ac:spMk id="10" creationId="{550F2349-FBF0-6664-4AE0-7637ABC79D94}"/>
          </ac:spMkLst>
        </pc:spChg>
        <pc:spChg chg="mod">
          <ac:chgData name="Rachel Jagger" userId="cf4acb15-657a-45e0-bad4-d602a69c1922" providerId="ADAL" clId="{48418F94-B0A8-48FF-8EE1-DA25D15CD294}" dt="2025-03-06T12:43:37.852" v="15" actId="13926"/>
          <ac:spMkLst>
            <pc:docMk/>
            <pc:sldMk cId="454269958" sldId="349"/>
            <ac:spMk id="13" creationId="{D0C32593-D994-362F-41F0-9E880C592A2F}"/>
          </ac:spMkLst>
        </pc:spChg>
        <pc:spChg chg="mod">
          <ac:chgData name="Rachel Jagger" userId="cf4acb15-657a-45e0-bad4-d602a69c1922" providerId="ADAL" clId="{48418F94-B0A8-48FF-8EE1-DA25D15CD294}" dt="2025-03-06T12:43:37.852" v="15" actId="13926"/>
          <ac:spMkLst>
            <pc:docMk/>
            <pc:sldMk cId="454269958" sldId="349"/>
            <ac:spMk id="14" creationId="{BF895DF9-414A-10CA-80BA-C9E0B5FA50D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 y="3"/>
            <a:ext cx="2945659" cy="495427"/>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9" y="3"/>
            <a:ext cx="2945659" cy="495427"/>
          </a:xfrm>
          <a:prstGeom prst="rect">
            <a:avLst/>
          </a:prstGeom>
        </p:spPr>
        <p:txBody>
          <a:bodyPr vert="horz" lIns="91440" tIns="45720" rIns="91440" bIns="45720" rtlCol="0"/>
          <a:lstStyle>
            <a:lvl1pPr algn="r">
              <a:defRPr sz="1200"/>
            </a:lvl1pPr>
          </a:lstStyle>
          <a:p>
            <a:fld id="{3B6579D3-62B4-4809-8D0C-4876020E209D}" type="datetimeFigureOut">
              <a:rPr lang="en-GB" smtClean="0"/>
              <a:t>06/03/2025</a:t>
            </a:fld>
            <a:endParaRPr lang="en-GB"/>
          </a:p>
        </p:txBody>
      </p:sp>
      <p:sp>
        <p:nvSpPr>
          <p:cNvPr id="4" name="Footer Placeholder 3"/>
          <p:cNvSpPr>
            <a:spLocks noGrp="1"/>
          </p:cNvSpPr>
          <p:nvPr>
            <p:ph type="ftr" sz="quarter" idx="2"/>
          </p:nvPr>
        </p:nvSpPr>
        <p:spPr>
          <a:xfrm>
            <a:off x="6" y="9378824"/>
            <a:ext cx="2945659" cy="49542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9" y="9378824"/>
            <a:ext cx="2945659" cy="495426"/>
          </a:xfrm>
          <a:prstGeom prst="rect">
            <a:avLst/>
          </a:prstGeom>
        </p:spPr>
        <p:txBody>
          <a:bodyPr vert="horz" lIns="91440" tIns="45720" rIns="91440" bIns="45720" rtlCol="0" anchor="b"/>
          <a:lstStyle>
            <a:lvl1pPr algn="r">
              <a:defRPr sz="1200"/>
            </a:lvl1pPr>
          </a:lstStyle>
          <a:p>
            <a:fld id="{0BF24BB8-5B68-4097-BC86-B79371C4510A}" type="slidenum">
              <a:rPr lang="en-GB" smtClean="0"/>
              <a:t>‹#›</a:t>
            </a:fld>
            <a:endParaRPr lang="en-GB"/>
          </a:p>
        </p:txBody>
      </p:sp>
    </p:spTree>
    <p:extLst>
      <p:ext uri="{BB962C8B-B14F-4D97-AF65-F5344CB8AC3E}">
        <p14:creationId xmlns:p14="http://schemas.microsoft.com/office/powerpoint/2010/main" val="20582021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 y="3"/>
            <a:ext cx="2945659" cy="49542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9" y="3"/>
            <a:ext cx="2945659" cy="495427"/>
          </a:xfrm>
          <a:prstGeom prst="rect">
            <a:avLst/>
          </a:prstGeom>
        </p:spPr>
        <p:txBody>
          <a:bodyPr vert="horz" lIns="91440" tIns="45720" rIns="91440" bIns="45720" rtlCol="0"/>
          <a:lstStyle>
            <a:lvl1pPr algn="r">
              <a:defRPr sz="1200"/>
            </a:lvl1pPr>
          </a:lstStyle>
          <a:p>
            <a:fld id="{799FA8D8-D74F-5A4A-BB10-7F88E22CEF6D}" type="datetimeFigureOut">
              <a:t>3/6/2025</a:t>
            </a:fld>
            <a:endParaRPr lang="en-US"/>
          </a:p>
        </p:txBody>
      </p:sp>
      <p:sp>
        <p:nvSpPr>
          <p:cNvPr id="4" name="Slide Image Placeholder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8816" y="4751984"/>
            <a:ext cx="5440044" cy="3887986"/>
          </a:xfrm>
          <a:prstGeom prst="rect">
            <a:avLst/>
          </a:prstGeom>
        </p:spPr>
        <p:txBody>
          <a:bodyPr vert="horz" lIns="91440" tIns="45720" rIns="91440" bIns="45720" rtlCol="0"/>
          <a:lstStyle/>
          <a:p>
            <a:pPr lvl="0"/>
            <a:r>
              <a:rPr lang="da-DK"/>
              <a:t>Click to edit Master text styles</a:t>
            </a:r>
          </a:p>
          <a:p>
            <a:pPr lvl="1"/>
            <a:r>
              <a:rPr lang="da-DK"/>
              <a:t>Second level</a:t>
            </a:r>
          </a:p>
          <a:p>
            <a:pPr lvl="2"/>
            <a:r>
              <a:rPr lang="da-DK"/>
              <a:t>Third level</a:t>
            </a:r>
          </a:p>
          <a:p>
            <a:pPr lvl="3"/>
            <a:r>
              <a:rPr lang="da-DK"/>
              <a:t>Fourth level</a:t>
            </a:r>
          </a:p>
          <a:p>
            <a:pPr lvl="4"/>
            <a:r>
              <a:rPr lang="da-DK"/>
              <a:t>Fifth level</a:t>
            </a:r>
            <a:endParaRPr lang="en-US"/>
          </a:p>
        </p:txBody>
      </p:sp>
      <p:sp>
        <p:nvSpPr>
          <p:cNvPr id="6" name="Footer Placeholder 5"/>
          <p:cNvSpPr>
            <a:spLocks noGrp="1"/>
          </p:cNvSpPr>
          <p:nvPr>
            <p:ph type="ftr" sz="quarter" idx="4"/>
          </p:nvPr>
        </p:nvSpPr>
        <p:spPr>
          <a:xfrm>
            <a:off x="6" y="9378824"/>
            <a:ext cx="2945659" cy="49542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9" y="9378824"/>
            <a:ext cx="2945659" cy="495426"/>
          </a:xfrm>
          <a:prstGeom prst="rect">
            <a:avLst/>
          </a:prstGeom>
        </p:spPr>
        <p:txBody>
          <a:bodyPr vert="horz" lIns="91440" tIns="45720" rIns="91440" bIns="45720" rtlCol="0" anchor="b"/>
          <a:lstStyle>
            <a:lvl1pPr algn="r">
              <a:defRPr sz="1200"/>
            </a:lvl1pPr>
          </a:lstStyle>
          <a:p>
            <a:fld id="{037C2873-EBE5-CF42-9E30-7832FC02D1D9}" type="slidenum">
              <a:t>‹#›</a:t>
            </a:fld>
            <a:endParaRPr lang="en-US"/>
          </a:p>
        </p:txBody>
      </p:sp>
    </p:spTree>
    <p:extLst>
      <p:ext uri="{BB962C8B-B14F-4D97-AF65-F5344CB8AC3E}">
        <p14:creationId xmlns:p14="http://schemas.microsoft.com/office/powerpoint/2010/main" val="47269356"/>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360"/>
      </a:spcBef>
      <a:defRPr sz="1000" kern="1200">
        <a:solidFill>
          <a:schemeClr val="tx1"/>
        </a:solidFill>
        <a:latin typeface="+mn-lt"/>
        <a:ea typeface="+mn-ea"/>
        <a:cs typeface="+mn-cs"/>
      </a:defRPr>
    </a:lvl1pPr>
    <a:lvl2pPr marL="457200" algn="l" defTabSz="914400" rtl="0" eaLnBrk="1" latinLnBrk="0" hangingPunct="1">
      <a:spcBef>
        <a:spcPts val="360"/>
      </a:spcBef>
      <a:defRPr sz="1000" kern="1200">
        <a:solidFill>
          <a:schemeClr val="tx1"/>
        </a:solidFill>
        <a:latin typeface="+mn-lt"/>
        <a:ea typeface="+mn-ea"/>
        <a:cs typeface="+mn-cs"/>
      </a:defRPr>
    </a:lvl2pPr>
    <a:lvl3pPr marL="914400" algn="l" defTabSz="914400" rtl="0" eaLnBrk="1" latinLnBrk="0" hangingPunct="1">
      <a:spcBef>
        <a:spcPts val="360"/>
      </a:spcBef>
      <a:defRPr sz="1000" kern="1200">
        <a:solidFill>
          <a:schemeClr val="tx1"/>
        </a:solidFill>
        <a:latin typeface="+mn-lt"/>
        <a:ea typeface="+mn-ea"/>
        <a:cs typeface="+mn-cs"/>
      </a:defRPr>
    </a:lvl3pPr>
    <a:lvl4pPr marL="1371600" algn="l" defTabSz="914400" rtl="0" eaLnBrk="1" latinLnBrk="0" hangingPunct="1">
      <a:spcBef>
        <a:spcPts val="360"/>
      </a:spcBef>
      <a:defRPr sz="1000" kern="1200">
        <a:solidFill>
          <a:schemeClr val="tx1"/>
        </a:solidFill>
        <a:latin typeface="+mn-lt"/>
        <a:ea typeface="+mn-ea"/>
        <a:cs typeface="+mn-cs"/>
      </a:defRPr>
    </a:lvl4pPr>
    <a:lvl5pPr marL="1828800" algn="l" defTabSz="914400" rtl="0" eaLnBrk="1" latinLnBrk="0" hangingPunct="1">
      <a:spcBef>
        <a:spcPts val="360"/>
      </a:spcBef>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p>
        </p:txBody>
      </p:sp>
      <p:sp>
        <p:nvSpPr>
          <p:cNvPr id="4" name="Slide Number Placeholder 3"/>
          <p:cNvSpPr>
            <a:spLocks noGrp="1"/>
          </p:cNvSpPr>
          <p:nvPr>
            <p:ph type="sldNum" sz="quarter" idx="10"/>
          </p:nvPr>
        </p:nvSpPr>
        <p:spPr/>
        <p:txBody>
          <a:bodyPr/>
          <a:lstStyle/>
          <a:p>
            <a:fld id="{037C2873-EBE5-CF42-9E30-7832FC02D1D9}" type="slidenum">
              <a:rPr lang="en-GB" smtClean="0"/>
              <a:t>1</a:t>
            </a:fld>
            <a:endParaRPr lang="en-GB"/>
          </a:p>
        </p:txBody>
      </p:sp>
    </p:spTree>
    <p:extLst>
      <p:ext uri="{BB962C8B-B14F-4D97-AF65-F5344CB8AC3E}">
        <p14:creationId xmlns:p14="http://schemas.microsoft.com/office/powerpoint/2010/main" val="1884370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360"/>
              </a:spcBef>
            </a:pPr>
            <a:endParaRPr lang="en-GB"/>
          </a:p>
        </p:txBody>
      </p:sp>
      <p:sp>
        <p:nvSpPr>
          <p:cNvPr id="4" name="Slide Number Placeholder 3"/>
          <p:cNvSpPr>
            <a:spLocks noGrp="1"/>
          </p:cNvSpPr>
          <p:nvPr>
            <p:ph type="sldNum" sz="quarter" idx="10"/>
          </p:nvPr>
        </p:nvSpPr>
        <p:spPr/>
        <p:txBody>
          <a:bodyPr/>
          <a:lstStyle/>
          <a:p>
            <a:fld id="{037C2873-EBE5-CF42-9E30-7832FC02D1D9}" type="slidenum">
              <a:rPr lang="en-GB" smtClean="0"/>
              <a:t>2</a:t>
            </a:fld>
            <a:endParaRPr lang="en-GB"/>
          </a:p>
        </p:txBody>
      </p:sp>
    </p:spTree>
    <p:extLst>
      <p:ext uri="{BB962C8B-B14F-4D97-AF65-F5344CB8AC3E}">
        <p14:creationId xmlns:p14="http://schemas.microsoft.com/office/powerpoint/2010/main" val="2783891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u="none" dirty="0"/>
              <a:t>The clinical effects of Parkinson’s disease (PD) are often visually obvious</a:t>
            </a:r>
            <a:r>
              <a:rPr lang="en-GB" dirty="0"/>
              <a:t>, but the underlying pathology of PD is still not fully understood.</a:t>
            </a:r>
            <a:r>
              <a:rPr lang="en-GB" baseline="30000" dirty="0"/>
              <a:t>1,2</a:t>
            </a:r>
            <a:r>
              <a:rPr lang="en-GB" dirty="0"/>
              <a:t> PD pathology is thought to spread from brain region to brain region over multiple long-distance relays during long periods of time, as well as across even longer distances in tissues outside the brain.</a:t>
            </a:r>
            <a:r>
              <a:rPr lang="en-GB" baseline="30000" dirty="0"/>
              <a:t>1,2</a:t>
            </a:r>
            <a:r>
              <a:rPr lang="en-GB" dirty="0"/>
              <a:t> To spread between brain regions, the pathology must be transferred from cell to cell; the transfer setting off a series of intracellular changes that progress within the affected cells leading to cell death.</a:t>
            </a:r>
            <a:r>
              <a:rPr lang="en-GB" baseline="30000" dirty="0"/>
              <a:t>1,2</a:t>
            </a:r>
            <a:r>
              <a:rPr lang="en-GB" dirty="0"/>
              <a:t> Several mechanisms have been implicated in the cellular pathology of PD, including mitochondrial dysfunction and impairments in autophagy.</a:t>
            </a:r>
            <a:r>
              <a:rPr lang="en-GB" baseline="30000" dirty="0"/>
              <a:t>1,2</a:t>
            </a:r>
            <a:endParaRPr lang="en-GB" dirty="0"/>
          </a:p>
          <a:p>
            <a:endParaRPr lang="en-GB" dirty="0"/>
          </a:p>
          <a:p>
            <a:r>
              <a:rPr lang="en-GB" dirty="0"/>
              <a:t>References:</a:t>
            </a:r>
          </a:p>
          <a:p>
            <a:pPr marL="228600" indent="-228600">
              <a:buFont typeface="+mj-lt"/>
              <a:buAutoNum type="arabicPeriod"/>
            </a:pPr>
            <a:r>
              <a:rPr lang="en-GB" dirty="0"/>
              <a:t>McCann H, Cartwright H, Halliday GM. Neuropathology of </a:t>
            </a:r>
            <a:r>
              <a:rPr lang="el-GR" dirty="0"/>
              <a:t>α-</a:t>
            </a:r>
            <a:r>
              <a:rPr lang="en-GB" dirty="0"/>
              <a:t>synuclein propagation and </a:t>
            </a:r>
            <a:r>
              <a:rPr lang="en-GB" dirty="0" err="1"/>
              <a:t>Braak</a:t>
            </a:r>
            <a:r>
              <a:rPr lang="en-GB" dirty="0"/>
              <a:t> hypothesis. Mov </a:t>
            </a:r>
            <a:r>
              <a:rPr lang="en-GB" dirty="0" err="1"/>
              <a:t>Disord</a:t>
            </a:r>
            <a:r>
              <a:rPr lang="en-GB" dirty="0"/>
              <a:t> 2016; 31 (2): 152–160.</a:t>
            </a:r>
          </a:p>
          <a:p>
            <a:pPr marL="228600" indent="-228600">
              <a:buFont typeface="+mj-lt"/>
              <a:buAutoNum type="arabicPeriod"/>
            </a:pPr>
            <a:r>
              <a:rPr lang="en-US" dirty="0"/>
              <a:t>Morris HR, </a:t>
            </a:r>
            <a:r>
              <a:rPr lang="en-US" dirty="0" err="1"/>
              <a:t>Spillantini</a:t>
            </a:r>
            <a:r>
              <a:rPr lang="en-US" dirty="0"/>
              <a:t> MG, Sue CM, Williams-Gray CH. The pathogenesis of Parkinson’s disease. Lancet 2024; 403 (10423): 293–304.</a:t>
            </a:r>
            <a:endParaRPr lang="en-GB" dirty="0"/>
          </a:p>
          <a:p>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t>3</a:t>
            </a:fld>
            <a:endParaRPr lang="en-GB"/>
          </a:p>
        </p:txBody>
      </p:sp>
    </p:spTree>
    <p:extLst>
      <p:ext uri="{BB962C8B-B14F-4D97-AF65-F5344CB8AC3E}">
        <p14:creationId xmlns:p14="http://schemas.microsoft.com/office/powerpoint/2010/main" val="894482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4"/>
            <a:ext cx="5438140" cy="4715866"/>
          </a:xfrm>
        </p:spPr>
        <p:txBody>
          <a:bodyPr/>
          <a:lstStyle/>
          <a:p>
            <a:r>
              <a:rPr lang="en-US" dirty="0"/>
              <a:t>The progression of PD is generally slow, taking place over years (often many years)</a:t>
            </a:r>
            <a:r>
              <a:rPr lang="en-GB" dirty="0"/>
              <a:t>.</a:t>
            </a:r>
            <a:r>
              <a:rPr lang="en-GB" baseline="30000" dirty="0"/>
              <a:t>4</a:t>
            </a:r>
            <a:r>
              <a:rPr lang="en-GB" dirty="0"/>
              <a:t> While diagnosis tends to occur with the onset of motor symptoms, this can be preceded by a long prodromal phase of 15 years or more.</a:t>
            </a:r>
            <a:r>
              <a:rPr lang="en-GB" baseline="30000" dirty="0"/>
              <a:t>5</a:t>
            </a:r>
            <a:r>
              <a:rPr lang="en-GB" dirty="0"/>
              <a:t> This prodromal phase is typically characterised by a range of non-motor symptoms, including sleep disorders, depression, and constipation.</a:t>
            </a:r>
            <a:r>
              <a:rPr lang="en-GB" baseline="30000" dirty="0"/>
              <a:t>5</a:t>
            </a:r>
            <a:r>
              <a:rPr lang="en-GB" dirty="0"/>
              <a:t> One of the most common symptoms is ‘REM sleep behaviour disorder’, in which affected individuals can become physically, even violently, active during the REM (rapid eye movement) stage of sleep.</a:t>
            </a:r>
            <a:r>
              <a:rPr lang="en-GB" baseline="30000" dirty="0"/>
              <a:t>4,5</a:t>
            </a:r>
            <a:r>
              <a:rPr lang="en-GB" dirty="0"/>
              <a:t> </a:t>
            </a:r>
          </a:p>
          <a:p>
            <a:r>
              <a:rPr lang="en-GB" dirty="0"/>
              <a:t>Additional non-motor symptoms develop following clinical diagnosis and, as the disease progresses, cause increasing disability.</a:t>
            </a:r>
            <a:r>
              <a:rPr lang="en-GB" baseline="30000" dirty="0"/>
              <a:t>4,6</a:t>
            </a:r>
            <a:r>
              <a:rPr lang="en-GB" dirty="0"/>
              <a:t> Some symptoms, such as postural instability, dysphagia, and dementia, tend to occur in more advanced disease.</a:t>
            </a:r>
            <a:r>
              <a:rPr lang="en-GB" baseline="30000" dirty="0"/>
              <a:t>4</a:t>
            </a:r>
            <a:r>
              <a:rPr lang="en-US" dirty="0"/>
              <a:t> </a:t>
            </a:r>
            <a:r>
              <a:rPr lang="en-GB" dirty="0"/>
              <a:t>After several years of levodopa therapy, complications can begin to appear.</a:t>
            </a:r>
            <a:r>
              <a:rPr lang="en-GB" baseline="30000" dirty="0"/>
              <a:t>4</a:t>
            </a:r>
            <a:r>
              <a:rPr lang="en-GB" dirty="0"/>
              <a:t> </a:t>
            </a:r>
            <a:r>
              <a:rPr lang="en-US" dirty="0"/>
              <a:t>These may include ‘fluctuations’, when patients alternate between periods of good symptom control (ON periods) and poor symptom control (OFF periods)</a:t>
            </a:r>
            <a:r>
              <a:rPr lang="en-GB" dirty="0"/>
              <a:t>.</a:t>
            </a:r>
            <a:r>
              <a:rPr lang="en-GB" baseline="30000" dirty="0"/>
              <a:t>4</a:t>
            </a:r>
            <a:r>
              <a:rPr lang="en-GB" dirty="0"/>
              <a:t> </a:t>
            </a:r>
            <a:r>
              <a:rPr lang="en-US" dirty="0"/>
              <a:t>The occurrence of these dopa-related response complications remains a major limitation of levodopa as a dopamine replacement therapy</a:t>
            </a:r>
            <a:r>
              <a:rPr lang="en-GB" dirty="0"/>
              <a:t>.</a:t>
            </a:r>
            <a:r>
              <a:rPr lang="en-GB" baseline="30000" dirty="0"/>
              <a:t>4</a:t>
            </a:r>
            <a:endParaRPr lang="en-GB" dirty="0"/>
          </a:p>
          <a:p>
            <a:r>
              <a:rPr lang="en-GB" dirty="0"/>
              <a:t>Of course, the disease progression experienced by people with Parkinson’s disease in the real world can vary from the typical clinical picture presented above quite appreciably, partly because there are selection biases that arise in clinical research.</a:t>
            </a:r>
            <a:r>
              <a:rPr lang="en-GB" baseline="30000" dirty="0"/>
              <a:t>7</a:t>
            </a:r>
            <a:r>
              <a:rPr lang="en-GB" dirty="0"/>
              <a:t> Given that disease modification is a therapeutic goal, a better understanding of real-world disease progression is of critical importance.</a:t>
            </a:r>
            <a:r>
              <a:rPr lang="en-GB" baseline="30000" dirty="0"/>
              <a:t>7</a:t>
            </a:r>
            <a:endParaRPr lang="en-GB" dirty="0"/>
          </a:p>
          <a:p>
            <a:endParaRPr lang="en-GB" dirty="0"/>
          </a:p>
          <a:p>
            <a:r>
              <a:rPr lang="en-GB" dirty="0"/>
              <a:t>References:</a:t>
            </a:r>
          </a:p>
          <a:p>
            <a:pPr marL="228600" indent="-228600">
              <a:buFont typeface="+mj-lt"/>
              <a:buAutoNum type="arabicPeriod"/>
            </a:pPr>
            <a:r>
              <a:rPr lang="en-GB" dirty="0" err="1"/>
              <a:t>Poewe</a:t>
            </a:r>
            <a:r>
              <a:rPr lang="en-GB" dirty="0"/>
              <a:t> W, Seppi K, Tanner CM, et al. Parkinson disease. Nat Rev Dis Primers 2017; 3: 17013.</a:t>
            </a:r>
          </a:p>
          <a:p>
            <a:pPr marL="228600" indent="-228600">
              <a:buFont typeface="+mj-lt"/>
              <a:buAutoNum type="arabicPeriod"/>
            </a:pPr>
            <a:r>
              <a:rPr lang="en-GB" dirty="0" err="1"/>
              <a:t>Kulisevsky</a:t>
            </a:r>
            <a:r>
              <a:rPr lang="en-GB" dirty="0"/>
              <a:t> J, </a:t>
            </a:r>
            <a:r>
              <a:rPr lang="en-GB" dirty="0" err="1"/>
              <a:t>Luquin</a:t>
            </a:r>
            <a:r>
              <a:rPr lang="en-GB" dirty="0"/>
              <a:t> MR, </a:t>
            </a:r>
            <a:r>
              <a:rPr lang="en-GB" dirty="0" err="1"/>
              <a:t>Arbelo</a:t>
            </a:r>
            <a:r>
              <a:rPr lang="en-GB" dirty="0"/>
              <a:t> JM, et al. Advanced Parkinson’s disease: clinical characteristics and treatment (part I). </a:t>
            </a:r>
            <a:r>
              <a:rPr lang="en-GB" dirty="0" err="1"/>
              <a:t>Neurologia</a:t>
            </a:r>
            <a:r>
              <a:rPr lang="en-GB" dirty="0"/>
              <a:t> 2013; 28 (8): 503–521. </a:t>
            </a:r>
          </a:p>
          <a:p>
            <a:pPr marL="228600" indent="-228600">
              <a:buFont typeface="+mj-lt"/>
              <a:buAutoNum type="arabicPeriod"/>
            </a:pPr>
            <a:r>
              <a:rPr lang="en-US" dirty="0"/>
              <a:t>Armstrong MJ, Okun MS. Diagnosis and treatment of Parkinson disease: a review. JAMA 2020; 323 (6): 548–560.</a:t>
            </a:r>
          </a:p>
          <a:p>
            <a:pPr marL="228600" indent="-228600">
              <a:buFont typeface="+mj-lt"/>
              <a:buAutoNum type="arabicPeriod"/>
            </a:pPr>
            <a:r>
              <a:rPr lang="en-GB" dirty="0"/>
              <a:t>Kalia LV, Lang AE. Parkinson’s disease. Lancet 2015; 386 (9996): 896–912.</a:t>
            </a:r>
          </a:p>
          <a:p>
            <a:pPr marL="228600" indent="-228600">
              <a:buFont typeface="+mj-lt"/>
              <a:buAutoNum type="arabicPeriod"/>
            </a:pPr>
            <a:r>
              <a:rPr lang="en-GB" dirty="0"/>
              <a:t>Goldman JG, </a:t>
            </a:r>
            <a:r>
              <a:rPr lang="en-GB" dirty="0" err="1"/>
              <a:t>Postuma</a:t>
            </a:r>
            <a:r>
              <a:rPr lang="en-GB" dirty="0"/>
              <a:t> R. Premotor and non-motor features of Parkinson’s disease. Curr </a:t>
            </a:r>
            <a:r>
              <a:rPr lang="en-GB" dirty="0" err="1"/>
              <a:t>Opin</a:t>
            </a:r>
            <a:r>
              <a:rPr lang="en-GB" dirty="0"/>
              <a:t> </a:t>
            </a:r>
            <a:r>
              <a:rPr lang="en-GB" dirty="0" err="1"/>
              <a:t>Neurol</a:t>
            </a:r>
            <a:r>
              <a:rPr lang="en-GB" dirty="0"/>
              <a:t> 2014; 27 (4): 434–441.</a:t>
            </a:r>
          </a:p>
          <a:p>
            <a:pPr marL="228600" indent="-228600">
              <a:buFont typeface="+mj-lt"/>
              <a:buAutoNum type="arabicPeriod"/>
            </a:pPr>
            <a:r>
              <a:rPr lang="en-GB" dirty="0"/>
              <a:t>Sung VW, Nicholas AP. Nonmotor symptoms in Parkinson’s disease: expanding the view of Parkinson’s disease beyond a pure motor, pure dopaminergic problem. </a:t>
            </a:r>
            <a:r>
              <a:rPr lang="en-GB" dirty="0" err="1"/>
              <a:t>Neurol</a:t>
            </a:r>
            <a:r>
              <a:rPr lang="en-GB" dirty="0"/>
              <a:t> Clin 2013; 31 (3 </a:t>
            </a:r>
            <a:r>
              <a:rPr lang="en-GB" dirty="0" err="1"/>
              <a:t>Suppl</a:t>
            </a:r>
            <a:r>
              <a:rPr lang="en-GB" dirty="0"/>
              <a:t>): S1–16.</a:t>
            </a:r>
          </a:p>
          <a:p>
            <a:pPr marL="228600" indent="-228600">
              <a:buFont typeface="+mj-lt"/>
              <a:buAutoNum type="arabicPeriod"/>
            </a:pPr>
            <a:r>
              <a:rPr lang="en-GB" dirty="0"/>
              <a:t>Beaulieu-Jones BK, Frau F, Bozzi S, et al. Disease progression strikingly differs in research and real-world Parkinson’s populations. NPJ </a:t>
            </a:r>
            <a:r>
              <a:rPr lang="en-GB" dirty="0" err="1"/>
              <a:t>Parkinsons</a:t>
            </a:r>
            <a:r>
              <a:rPr lang="en-GB" dirty="0"/>
              <a:t> Dis 2024; 10 (1): 58. </a:t>
            </a:r>
          </a:p>
        </p:txBody>
      </p:sp>
      <p:sp>
        <p:nvSpPr>
          <p:cNvPr id="4" name="Slide Number Placeholder 3"/>
          <p:cNvSpPr>
            <a:spLocks noGrp="1"/>
          </p:cNvSpPr>
          <p:nvPr>
            <p:ph type="sldNum" sz="quarter" idx="10"/>
          </p:nvPr>
        </p:nvSpPr>
        <p:spPr/>
        <p:txBody>
          <a:bodyPr/>
          <a:lstStyle/>
          <a:p>
            <a:fld id="{037C2873-EBE5-CF42-9E30-7832FC02D1D9}" type="slidenum">
              <a:rPr lang="en-GB" smtClean="0"/>
              <a:t>4</a:t>
            </a:fld>
            <a:endParaRPr lang="en-GB"/>
          </a:p>
        </p:txBody>
      </p:sp>
    </p:spTree>
    <p:extLst>
      <p:ext uri="{BB962C8B-B14F-4D97-AF65-F5344CB8AC3E}">
        <p14:creationId xmlns:p14="http://schemas.microsoft.com/office/powerpoint/2010/main" val="4260078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Compared with people with sporadic Parkinson’s disease, people with </a:t>
            </a:r>
            <a:r>
              <a:rPr lang="en-GB" i="1" dirty="0"/>
              <a:t>LRRK2</a:t>
            </a:r>
            <a:r>
              <a:rPr lang="en-GB" dirty="0"/>
              <a:t>-associated Parkinson’s disease tend to experience few cognitive and psychiatric symptoms, with slower disease progression, whereas people with </a:t>
            </a:r>
            <a:r>
              <a:rPr lang="en-GB" i="1" dirty="0"/>
              <a:t>GBA</a:t>
            </a:r>
            <a:r>
              <a:rPr lang="en-GB" dirty="0"/>
              <a:t>-associated Parkinson’s disease tend to experience an earlier onset of symptoms and faster disease progression with more cognitive and psychiatric symptoms.</a:t>
            </a:r>
            <a:r>
              <a:rPr lang="en-GB" baseline="30000" dirty="0"/>
              <a:t>1,2</a:t>
            </a:r>
            <a:endParaRPr lang="en-GB" dirty="0"/>
          </a:p>
          <a:p>
            <a:endParaRPr lang="en-GB" dirty="0"/>
          </a:p>
          <a:p>
            <a:r>
              <a:rPr lang="en-GB" dirty="0"/>
              <a:t>References:</a:t>
            </a:r>
          </a:p>
          <a:p>
            <a:pPr marL="228600" indent="-228600">
              <a:buFont typeface="+mj-lt"/>
              <a:buAutoNum type="arabicPeriod"/>
            </a:pPr>
            <a:r>
              <a:rPr lang="en-GB" dirty="0" err="1"/>
              <a:t>Senkevich</a:t>
            </a:r>
            <a:r>
              <a:rPr lang="en-GB" dirty="0"/>
              <a:t> K, </a:t>
            </a:r>
            <a:r>
              <a:rPr lang="en-GB" dirty="0" err="1"/>
              <a:t>Rudakou</a:t>
            </a:r>
            <a:r>
              <a:rPr lang="en-GB" dirty="0"/>
              <a:t> U, Gan-Or Z. New therapeutic approaches to Parkinson’s disease targeting </a:t>
            </a:r>
            <a:r>
              <a:rPr lang="en-GB" i="1" dirty="0"/>
              <a:t>GBA</a:t>
            </a:r>
            <a:r>
              <a:rPr lang="en-GB" dirty="0"/>
              <a:t>, </a:t>
            </a:r>
            <a:r>
              <a:rPr lang="en-GB" i="1" dirty="0"/>
              <a:t>LRRK2</a:t>
            </a:r>
            <a:r>
              <a:rPr lang="en-GB" dirty="0"/>
              <a:t> and </a:t>
            </a:r>
            <a:r>
              <a:rPr lang="en-GB" i="1" dirty="0"/>
              <a:t>Parkin</a:t>
            </a:r>
            <a:r>
              <a:rPr lang="en-GB" dirty="0"/>
              <a:t>. Neuropharmacology 2022; 202: 108822.</a:t>
            </a:r>
          </a:p>
          <a:p>
            <a:pPr marL="228600" indent="-228600">
              <a:buFont typeface="+mj-lt"/>
              <a:buAutoNum type="arabicPeriod"/>
            </a:pPr>
            <a:r>
              <a:rPr lang="en-GB" dirty="0" err="1"/>
              <a:t>Sosero</a:t>
            </a:r>
            <a:r>
              <a:rPr lang="en-GB" dirty="0"/>
              <a:t> YL, Gan-Or Z. LRRK2 and Parkinson’s disease: from genetics to targeted therapy. Ann Clin </a:t>
            </a:r>
            <a:r>
              <a:rPr lang="en-GB" dirty="0" err="1"/>
              <a:t>Transl</a:t>
            </a:r>
            <a:r>
              <a:rPr lang="en-GB" dirty="0"/>
              <a:t> </a:t>
            </a:r>
            <a:r>
              <a:rPr lang="en-GB" dirty="0" err="1"/>
              <a:t>Neurol</a:t>
            </a:r>
            <a:r>
              <a:rPr lang="en-GB" dirty="0"/>
              <a:t> 2023; 10 (6): 850–864.</a:t>
            </a:r>
          </a:p>
        </p:txBody>
      </p:sp>
      <p:sp>
        <p:nvSpPr>
          <p:cNvPr id="4" name="Slide Number Placeholder 3"/>
          <p:cNvSpPr>
            <a:spLocks noGrp="1"/>
          </p:cNvSpPr>
          <p:nvPr>
            <p:ph type="sldNum" sz="quarter" idx="5"/>
          </p:nvPr>
        </p:nvSpPr>
        <p:spPr/>
        <p:txBody>
          <a:bodyPr/>
          <a:lstStyle/>
          <a:p>
            <a:fld id="{037C2873-EBE5-CF42-9E30-7832FC02D1D9}" type="slidenum">
              <a:rPr lang="en-GB" smtClean="0"/>
              <a:t>5</a:t>
            </a:fld>
            <a:endParaRPr lang="en-GB"/>
          </a:p>
        </p:txBody>
      </p:sp>
    </p:spTree>
    <p:extLst>
      <p:ext uri="{BB962C8B-B14F-4D97-AF65-F5344CB8AC3E}">
        <p14:creationId xmlns:p14="http://schemas.microsoft.com/office/powerpoint/2010/main" val="2491007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6"/>
            <a:ext cx="5438140" cy="4722427"/>
          </a:xfrm>
        </p:spPr>
        <p:txBody>
          <a:bodyPr/>
          <a:lstStyle/>
          <a:p>
            <a:r>
              <a:rPr lang="en-GB" dirty="0"/>
              <a:t>During Stage 1 of PD, many individuals experience a loss of smell (hyposmia) and/or suffer from constipation.</a:t>
            </a:r>
            <a:r>
              <a:rPr lang="en-GB" baseline="30000" dirty="0"/>
              <a:t>3</a:t>
            </a:r>
            <a:r>
              <a:rPr lang="en-GB" dirty="0"/>
              <a:t> In addition, sleep may become disordered or disturbed, accompanied by crying out, punching, or kicking during rapid eye movement (REM) sleep,</a:t>
            </a:r>
            <a:r>
              <a:rPr lang="en-GB" baseline="30000" dirty="0"/>
              <a:t>3,4</a:t>
            </a:r>
            <a:r>
              <a:rPr lang="en-GB" dirty="0"/>
              <a:t> and people may experience shoulder pain.</a:t>
            </a:r>
            <a:r>
              <a:rPr lang="en-GB" baseline="30000" dirty="0"/>
              <a:t>5</a:t>
            </a:r>
            <a:r>
              <a:rPr lang="en-GB" dirty="0"/>
              <a:t> However, some of these features, such as constipation, may not be very specific, as they can also occur in many otherwise healthy people.</a:t>
            </a:r>
            <a:r>
              <a:rPr lang="en-GB" baseline="30000" dirty="0"/>
              <a:t>1</a:t>
            </a:r>
            <a:r>
              <a:rPr lang="en-GB" dirty="0"/>
              <a:t> Stages 3 and 4 mark the transition from prodromal stage to clinically overt PD, as the disease spreads from the brainstem up into the midbrain and forebrain.</a:t>
            </a:r>
            <a:r>
              <a:rPr lang="en-GB" baseline="30000" dirty="0"/>
              <a:t>1</a:t>
            </a:r>
            <a:r>
              <a:rPr lang="en-GB" dirty="0"/>
              <a:t> The classic symptoms of PD – bradykinesia, tremor, and muscular rigidity – start to appear as the substantia nigra loses its capacity to produce dopamine, and intrinsic compensatory mechanisms are overwhelmed.</a:t>
            </a:r>
            <a:r>
              <a:rPr lang="en-GB" baseline="30000" dirty="0"/>
              <a:t>6,7</a:t>
            </a:r>
            <a:r>
              <a:rPr lang="en-GB" dirty="0"/>
              <a:t> Gradually, initial clinical symptoms worsen while new ones start to appear.</a:t>
            </a:r>
            <a:r>
              <a:rPr lang="en-GB" baseline="30000" dirty="0"/>
              <a:t>6</a:t>
            </a:r>
            <a:r>
              <a:rPr lang="en-GB" dirty="0"/>
              <a:t> Resting tremors may begin to affect both sides of the body, rather than just one, and normal balance becomes increasingly difficult to maintain.</a:t>
            </a:r>
            <a:r>
              <a:rPr lang="en-GB" baseline="30000" dirty="0"/>
              <a:t>6</a:t>
            </a:r>
            <a:endParaRPr lang="en-GB" dirty="0"/>
          </a:p>
          <a:p>
            <a:r>
              <a:rPr lang="en-GB" dirty="0"/>
              <a:t> </a:t>
            </a:r>
          </a:p>
          <a:p>
            <a:r>
              <a:rPr lang="en-GB" dirty="0"/>
              <a:t>References:</a:t>
            </a:r>
          </a:p>
          <a:p>
            <a:pPr marL="228600" indent="-228600">
              <a:buFont typeface="+mj-lt"/>
              <a:buAutoNum type="arabicPeriod"/>
            </a:pPr>
            <a:r>
              <a:rPr lang="en-GB" dirty="0" err="1"/>
              <a:t>Braak</a:t>
            </a:r>
            <a:r>
              <a:rPr lang="en-GB" dirty="0"/>
              <a:t> H, </a:t>
            </a:r>
            <a:r>
              <a:rPr lang="en-GB" dirty="0" err="1"/>
              <a:t>Ghebremedhin</a:t>
            </a:r>
            <a:r>
              <a:rPr lang="en-GB" dirty="0"/>
              <a:t> E, </a:t>
            </a:r>
            <a:r>
              <a:rPr lang="en-GB" dirty="0" err="1"/>
              <a:t>Rüb</a:t>
            </a:r>
            <a:r>
              <a:rPr lang="en-GB" dirty="0"/>
              <a:t> U, et al. Stages in the development of Parkinson’s disease-related pathology. Cell Tissue Res 2004; 318 (1): 121–134.</a:t>
            </a:r>
          </a:p>
          <a:p>
            <a:pPr marL="228600" indent="-228600">
              <a:buFont typeface="+mj-lt"/>
              <a:buAutoNum type="arabicPeriod"/>
            </a:pPr>
            <a:r>
              <a:rPr lang="en-GB" dirty="0"/>
              <a:t>Halliday GM, Murphy K, Cartwright H. Pathology of Parkinson’s disease. In: Wolters &amp; Baumann (eds). Parkinson Disease and Other Movement Disorders. VU University Press, 2014.</a:t>
            </a:r>
          </a:p>
          <a:p>
            <a:pPr marL="228600" indent="-228600">
              <a:buFont typeface="+mj-lt"/>
              <a:buAutoNum type="arabicPeriod"/>
            </a:pPr>
            <a:r>
              <a:rPr lang="en-US" dirty="0"/>
              <a:t>Armstrong MJ, Okun MS. Diagnosis and treatment of Parkinson disease: a review. JAMA 2020; 323 (6): 548–560.</a:t>
            </a:r>
          </a:p>
          <a:p>
            <a:pPr marL="228600" indent="-228600">
              <a:buFont typeface="+mj-lt"/>
              <a:buAutoNum type="arabicPeriod"/>
            </a:pPr>
            <a:r>
              <a:rPr lang="en-GB" dirty="0"/>
              <a:t>Kalia LV, Lang AE. Parkinson’s disease. Lancet 2015; 386 (9996): 896–912.</a:t>
            </a:r>
          </a:p>
          <a:p>
            <a:pPr marL="228600" indent="-228600">
              <a:buFont typeface="+mj-lt"/>
              <a:buAutoNum type="arabicPeriod"/>
            </a:pPr>
            <a:r>
              <a:rPr lang="en-GB" dirty="0" err="1"/>
              <a:t>Paggou</a:t>
            </a:r>
            <a:r>
              <a:rPr lang="en-GB" dirty="0"/>
              <a:t> D, </a:t>
            </a:r>
            <a:r>
              <a:rPr lang="en-GB" dirty="0" err="1"/>
              <a:t>Stefanis</a:t>
            </a:r>
            <a:r>
              <a:rPr lang="en-GB" dirty="0"/>
              <a:t> L, </a:t>
            </a:r>
            <a:r>
              <a:rPr lang="en-GB" dirty="0" err="1"/>
              <a:t>Chronopoulos</a:t>
            </a:r>
            <a:r>
              <a:rPr lang="en-GB" dirty="0"/>
              <a:t> E, et al. Shoulder dysfunction in Parkinson disease: review of clinical, imaging findings and contributing factors. J </a:t>
            </a:r>
            <a:r>
              <a:rPr lang="en-GB" dirty="0" err="1"/>
              <a:t>Musculoskelet</a:t>
            </a:r>
            <a:r>
              <a:rPr lang="en-GB" dirty="0"/>
              <a:t> Neuronal Interact 2023; 23 (2): 263–280.</a:t>
            </a:r>
          </a:p>
          <a:p>
            <a:pPr marL="228600" indent="-228600">
              <a:buFont typeface="+mj-lt"/>
              <a:buAutoNum type="arabicPeriod"/>
            </a:pPr>
            <a:r>
              <a:rPr lang="en-GB" dirty="0"/>
              <a:t>Hawkes CH, Del </a:t>
            </a:r>
            <a:r>
              <a:rPr lang="en-GB" dirty="0" err="1"/>
              <a:t>Tredici</a:t>
            </a:r>
            <a:r>
              <a:rPr lang="en-GB" dirty="0"/>
              <a:t> K, </a:t>
            </a:r>
            <a:r>
              <a:rPr lang="en-GB" dirty="0" err="1"/>
              <a:t>Braak</a:t>
            </a:r>
            <a:r>
              <a:rPr lang="en-GB" dirty="0"/>
              <a:t> H. A timeline for Parkinson’s disease. Parkinsonism </a:t>
            </a:r>
            <a:r>
              <a:rPr lang="en-GB" dirty="0" err="1"/>
              <a:t>Relat</a:t>
            </a:r>
            <a:r>
              <a:rPr lang="en-GB" dirty="0"/>
              <a:t> </a:t>
            </a:r>
            <a:r>
              <a:rPr lang="en-GB" dirty="0" err="1"/>
              <a:t>Disord</a:t>
            </a:r>
            <a:r>
              <a:rPr lang="en-GB" dirty="0"/>
              <a:t> 2010; 16 (2): 79–84.</a:t>
            </a:r>
          </a:p>
          <a:p>
            <a:pPr marL="228600" indent="-228600">
              <a:buFont typeface="+mj-lt"/>
              <a:buAutoNum type="arabicPeriod"/>
            </a:pPr>
            <a:r>
              <a:rPr lang="en-GB" altLang="en-US" dirty="0" err="1"/>
              <a:t>Schapira</a:t>
            </a:r>
            <a:r>
              <a:rPr lang="en-GB" altLang="en-US" dirty="0"/>
              <a:t> AH, </a:t>
            </a:r>
            <a:r>
              <a:rPr lang="en-GB" altLang="en-US" dirty="0" err="1"/>
              <a:t>Obeso</a:t>
            </a:r>
            <a:r>
              <a:rPr lang="en-GB" altLang="en-US" dirty="0"/>
              <a:t> J. Timing of treatment initiation in Parkinson’s disease: a need for reappraisal? Ann </a:t>
            </a:r>
            <a:r>
              <a:rPr lang="en-GB" altLang="en-US" dirty="0" err="1"/>
              <a:t>Neurol</a:t>
            </a:r>
            <a:r>
              <a:rPr lang="en-GB" altLang="en-US" dirty="0"/>
              <a:t> 2006; 59 (3): 559–562.</a:t>
            </a:r>
          </a:p>
          <a:p>
            <a:endParaRPr lang="en-US" altLang="en-US" dirty="0"/>
          </a:p>
        </p:txBody>
      </p:sp>
      <p:sp>
        <p:nvSpPr>
          <p:cNvPr id="4" name="Slide Number Placeholder 3"/>
          <p:cNvSpPr>
            <a:spLocks noGrp="1"/>
          </p:cNvSpPr>
          <p:nvPr>
            <p:ph type="sldNum" sz="quarter" idx="10"/>
          </p:nvPr>
        </p:nvSpPr>
        <p:spPr/>
        <p:txBody>
          <a:bodyPr/>
          <a:lstStyle/>
          <a:p>
            <a:fld id="{037C2873-EBE5-CF42-9E30-7832FC02D1D9}" type="slidenum">
              <a:rPr lang="en-GB" smtClean="0"/>
              <a:t>6</a:t>
            </a:fld>
            <a:endParaRPr lang="en-GB"/>
          </a:p>
        </p:txBody>
      </p:sp>
    </p:spTree>
    <p:extLst>
      <p:ext uri="{BB962C8B-B14F-4D97-AF65-F5344CB8AC3E}">
        <p14:creationId xmlns:p14="http://schemas.microsoft.com/office/powerpoint/2010/main" val="2754135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6"/>
            <a:ext cx="5438140" cy="4557114"/>
          </a:xfrm>
        </p:spPr>
        <p:txBody>
          <a:bodyPr/>
          <a:lstStyle/>
          <a:p>
            <a:r>
              <a:rPr lang="en-GB" dirty="0"/>
              <a:t>While there have been major advances in the management and reduction of PD-related symptoms, there is still no effective way of preventing or slowing the underlying neurodegeneration.</a:t>
            </a:r>
            <a:r>
              <a:rPr lang="en-GB" baseline="30000" dirty="0"/>
              <a:t>2,5</a:t>
            </a:r>
            <a:r>
              <a:rPr lang="en-GB" dirty="0"/>
              <a:t> As the disease becomes more extensive during its advanced stages, the ability of drugs and other coping strategies to compensate for the increasing loss of neurological function is severely reduced.</a:t>
            </a:r>
            <a:r>
              <a:rPr lang="en-GB" baseline="30000" dirty="0"/>
              <a:t>2,6</a:t>
            </a:r>
            <a:r>
              <a:rPr lang="en-GB" dirty="0"/>
              <a:t> Increasingly poor responses to treatment lead to a worsening quality of life for the patient, and an increased risk of PD-related morbidity and mortality.</a:t>
            </a:r>
            <a:r>
              <a:rPr lang="en-GB" baseline="30000" dirty="0"/>
              <a:t>6</a:t>
            </a:r>
            <a:endParaRPr lang="en-GB" dirty="0"/>
          </a:p>
          <a:p>
            <a:r>
              <a:rPr lang="en-GB" dirty="0"/>
              <a:t>Many drugs have shown promise during preclinical studies as potentially protective or restorative of neurological function in PD, yet have failed during the final stages of clinical trials</a:t>
            </a:r>
            <a:r>
              <a:rPr lang="en-GB" dirty="0">
                <a:highlight>
                  <a:srgbClr val="00FFFF"/>
                </a:highlight>
              </a:rPr>
              <a:t>, and others are still being investigated in clinical research</a:t>
            </a:r>
            <a:r>
              <a:rPr lang="en-GB" dirty="0"/>
              <a:t>.</a:t>
            </a:r>
            <a:r>
              <a:rPr lang="en-GB" baseline="30000" dirty="0"/>
              <a:t>2,4,7</a:t>
            </a:r>
            <a:r>
              <a:rPr lang="en-GB" dirty="0"/>
              <a:t> Other drugs are in the pipeline but the efficacy of novel pharmacological interventions in PD </a:t>
            </a:r>
            <a:r>
              <a:rPr lang="en-GB" dirty="0">
                <a:highlight>
                  <a:srgbClr val="00FFFF"/>
                </a:highlight>
              </a:rPr>
              <a:t>can be </a:t>
            </a:r>
            <a:r>
              <a:rPr lang="en-GB" dirty="0"/>
              <a:t>difficult to predict.</a:t>
            </a:r>
            <a:r>
              <a:rPr lang="en-GB" baseline="30000" dirty="0"/>
              <a:t>2</a:t>
            </a:r>
            <a:r>
              <a:rPr lang="en-GB" dirty="0"/>
              <a:t> </a:t>
            </a:r>
            <a:r>
              <a:rPr lang="en-US" dirty="0"/>
              <a:t>Potential reasons for these failures in detecting clinical benefits of </a:t>
            </a:r>
            <a:r>
              <a:rPr lang="en-US" dirty="0">
                <a:highlight>
                  <a:srgbClr val="00FFFF"/>
                </a:highlight>
              </a:rPr>
              <a:t>potential </a:t>
            </a:r>
            <a:r>
              <a:rPr lang="en-US" dirty="0"/>
              <a:t>new therapies include the lack of good biomarkers of disease state, the lack of diagnostic biomarkers for PD in general, the use of clinical rating scales that may lack the sensitivity to detect change within the timeframe of a clinical trial, </a:t>
            </a:r>
            <a:r>
              <a:rPr lang="en-US" dirty="0">
                <a:highlight>
                  <a:srgbClr val="00FFFF"/>
                </a:highlight>
              </a:rPr>
              <a:t>an incomplete understanding of the disease process of PD, and the difference between the real-world clinical heterogeneity of the disease process of PD and that represented in clinical trials</a:t>
            </a:r>
            <a:r>
              <a:rPr lang="en-US" dirty="0"/>
              <a:t>.</a:t>
            </a:r>
            <a:r>
              <a:rPr lang="en-US" baseline="30000" dirty="0"/>
              <a:t>7-9</a:t>
            </a:r>
            <a:endParaRPr lang="en-GB" dirty="0"/>
          </a:p>
          <a:p>
            <a:endParaRPr lang="en-GB" dirty="0"/>
          </a:p>
          <a:p>
            <a:r>
              <a:rPr lang="en-GB" dirty="0"/>
              <a:t>References:</a:t>
            </a:r>
          </a:p>
          <a:p>
            <a:pPr marL="228600" indent="-228600">
              <a:buFont typeface="+mj-lt"/>
              <a:buAutoNum type="arabicPeriod"/>
            </a:pPr>
            <a:r>
              <a:rPr lang="en-GB" dirty="0" err="1"/>
              <a:t>Schapira</a:t>
            </a:r>
            <a:r>
              <a:rPr lang="en-GB" dirty="0"/>
              <a:t> AH, </a:t>
            </a:r>
            <a:r>
              <a:rPr lang="en-GB" dirty="0" err="1"/>
              <a:t>Bezard</a:t>
            </a:r>
            <a:r>
              <a:rPr lang="en-GB" dirty="0"/>
              <a:t> E, </a:t>
            </a:r>
            <a:r>
              <a:rPr lang="en-GB" dirty="0" err="1"/>
              <a:t>Brotchie</a:t>
            </a:r>
            <a:r>
              <a:rPr lang="en-GB" dirty="0"/>
              <a:t> J, et al. Novel pharmacological targets for the treatment of Parkinson’s disease. Nat Rev Drug </a:t>
            </a:r>
            <a:r>
              <a:rPr lang="en-GB" dirty="0" err="1"/>
              <a:t>Discov</a:t>
            </a:r>
            <a:r>
              <a:rPr lang="en-GB" dirty="0"/>
              <a:t> 2006; 5 (10): 845–854.</a:t>
            </a:r>
          </a:p>
          <a:p>
            <a:pPr marL="228600" indent="-228600">
              <a:buFont typeface="+mj-lt"/>
              <a:buAutoNum type="arabicPeriod"/>
            </a:pPr>
            <a:r>
              <a:rPr lang="en-GB" dirty="0" err="1"/>
              <a:t>Athauda</a:t>
            </a:r>
            <a:r>
              <a:rPr lang="en-GB" dirty="0"/>
              <a:t> D, </a:t>
            </a:r>
            <a:r>
              <a:rPr lang="en-GB" dirty="0" err="1"/>
              <a:t>Foltynie</a:t>
            </a:r>
            <a:r>
              <a:rPr lang="en-GB" dirty="0"/>
              <a:t> T. The ongoing pursuit of neuroprotective therapies in Parkinson disease. Nat Rev </a:t>
            </a:r>
            <a:r>
              <a:rPr lang="en-GB" dirty="0" err="1"/>
              <a:t>Neurol</a:t>
            </a:r>
            <a:r>
              <a:rPr lang="en-GB" dirty="0"/>
              <a:t> 2015; 11 (1): 25–40.</a:t>
            </a:r>
          </a:p>
          <a:p>
            <a:pPr marL="228600" indent="-228600">
              <a:buFont typeface="+mj-lt"/>
              <a:buAutoNum type="arabicPeriod"/>
            </a:pPr>
            <a:r>
              <a:rPr lang="en-GB" dirty="0" err="1">
                <a:highlight>
                  <a:srgbClr val="00FFFF"/>
                </a:highlight>
              </a:rPr>
              <a:t>McFarthing</a:t>
            </a:r>
            <a:r>
              <a:rPr lang="en-GB" dirty="0">
                <a:highlight>
                  <a:srgbClr val="00FFFF"/>
                </a:highlight>
              </a:rPr>
              <a:t> K, Buff S, </a:t>
            </a:r>
            <a:r>
              <a:rPr lang="en-GB" dirty="0" err="1">
                <a:highlight>
                  <a:srgbClr val="00FFFF"/>
                </a:highlight>
              </a:rPr>
              <a:t>Rafaloff</a:t>
            </a:r>
            <a:r>
              <a:rPr lang="en-GB" dirty="0">
                <a:highlight>
                  <a:srgbClr val="00FFFF"/>
                </a:highlight>
              </a:rPr>
              <a:t> G, et al. Parkinson’s disease drug therapies in the clinical trial pipeline: 2023 update. J </a:t>
            </a:r>
            <a:r>
              <a:rPr lang="en-GB" dirty="0" err="1">
                <a:highlight>
                  <a:srgbClr val="00FFFF"/>
                </a:highlight>
              </a:rPr>
              <a:t>Parkinsons</a:t>
            </a:r>
            <a:r>
              <a:rPr lang="en-GB" dirty="0">
                <a:highlight>
                  <a:srgbClr val="00FFFF"/>
                </a:highlight>
              </a:rPr>
              <a:t> Dis 2023; 13 (4): 427–439.</a:t>
            </a:r>
          </a:p>
          <a:p>
            <a:pPr marL="228600" indent="-228600">
              <a:buFont typeface="+mj-lt"/>
              <a:buAutoNum type="arabicPeriod"/>
            </a:pPr>
            <a:r>
              <a:rPr lang="en-US" dirty="0">
                <a:highlight>
                  <a:srgbClr val="00FFFF"/>
                </a:highlight>
              </a:rPr>
              <a:t>Stoker TB, Barker RA. Recent developments in the treatment of Parkinson’s disease. F1000Res 2020; 9: F1000.</a:t>
            </a:r>
          </a:p>
          <a:p>
            <a:pPr marL="228600" indent="-228600">
              <a:buFont typeface="+mj-lt"/>
              <a:buAutoNum type="arabicPeriod"/>
            </a:pPr>
            <a:r>
              <a:rPr lang="en-GB" dirty="0"/>
              <a:t>Ferreira JJ, </a:t>
            </a:r>
            <a:r>
              <a:rPr lang="en-GB" dirty="0" err="1"/>
              <a:t>Katzenschlager</a:t>
            </a:r>
            <a:r>
              <a:rPr lang="en-GB" dirty="0"/>
              <a:t> R, Bloem BR. Summary of the recommendations of the EFNS/MDS-ES review on therapeutic management of Parkinson’s disease. </a:t>
            </a:r>
            <a:r>
              <a:rPr lang="en-GB" dirty="0" err="1"/>
              <a:t>Eur</a:t>
            </a:r>
            <a:r>
              <a:rPr lang="en-GB" dirty="0"/>
              <a:t> J </a:t>
            </a:r>
            <a:r>
              <a:rPr lang="en-GB" dirty="0" err="1"/>
              <a:t>Neurol</a:t>
            </a:r>
            <a:r>
              <a:rPr lang="en-GB" dirty="0"/>
              <a:t> 2013; 20 (1): 5–15.</a:t>
            </a:r>
          </a:p>
          <a:p>
            <a:pPr marL="228600" indent="-228600">
              <a:buFont typeface="+mj-lt"/>
              <a:buAutoNum type="arabicPeriod"/>
            </a:pPr>
            <a:r>
              <a:rPr lang="en-GB" dirty="0" err="1"/>
              <a:t>Kulisevsky</a:t>
            </a:r>
            <a:r>
              <a:rPr lang="en-GB" dirty="0"/>
              <a:t> J, </a:t>
            </a:r>
            <a:r>
              <a:rPr lang="en-GB" dirty="0" err="1"/>
              <a:t>Luquin</a:t>
            </a:r>
            <a:r>
              <a:rPr lang="en-GB" dirty="0"/>
              <a:t> MR, </a:t>
            </a:r>
            <a:r>
              <a:rPr lang="en-GB" dirty="0" err="1"/>
              <a:t>Arbelo</a:t>
            </a:r>
            <a:r>
              <a:rPr lang="en-GB" dirty="0"/>
              <a:t> JM, et al. Advanced Parkinson’s disease: clinical characteristics and treatment. Part II. </a:t>
            </a:r>
            <a:r>
              <a:rPr lang="en-GB" dirty="0" err="1"/>
              <a:t>Neurologia</a:t>
            </a:r>
            <a:r>
              <a:rPr lang="en-GB" dirty="0"/>
              <a:t> 2013; 28 (9): 558–583.</a:t>
            </a:r>
          </a:p>
          <a:p>
            <a:pPr marL="228600" indent="-228600">
              <a:buFont typeface="+mj-lt"/>
              <a:buAutoNum type="arabicPeriod"/>
            </a:pPr>
            <a:r>
              <a:rPr lang="en-US" dirty="0">
                <a:highlight>
                  <a:srgbClr val="00FFFF"/>
                </a:highlight>
              </a:rPr>
              <a:t>Jensen PH, </a:t>
            </a:r>
            <a:r>
              <a:rPr lang="en-US" dirty="0" err="1">
                <a:highlight>
                  <a:srgbClr val="00FFFF"/>
                </a:highlight>
              </a:rPr>
              <a:t>Schlossmacher</a:t>
            </a:r>
            <a:r>
              <a:rPr lang="en-US" dirty="0">
                <a:highlight>
                  <a:srgbClr val="00FFFF"/>
                </a:highlight>
              </a:rPr>
              <a:t> MG, </a:t>
            </a:r>
            <a:r>
              <a:rPr lang="en-US" dirty="0" err="1">
                <a:highlight>
                  <a:srgbClr val="00FFFF"/>
                </a:highlight>
              </a:rPr>
              <a:t>Stefanis</a:t>
            </a:r>
            <a:r>
              <a:rPr lang="en-US" dirty="0">
                <a:highlight>
                  <a:srgbClr val="00FFFF"/>
                </a:highlight>
              </a:rPr>
              <a:t> L. Who ever said it would be easy? Reflecting on two clinical trials targeting α-synuclein. Mov </a:t>
            </a:r>
            <a:r>
              <a:rPr lang="en-US" dirty="0" err="1">
                <a:highlight>
                  <a:srgbClr val="00FFFF"/>
                </a:highlight>
              </a:rPr>
              <a:t>Disord</a:t>
            </a:r>
            <a:r>
              <a:rPr lang="en-US" dirty="0">
                <a:highlight>
                  <a:srgbClr val="00FFFF"/>
                </a:highlight>
              </a:rPr>
              <a:t> 2023; 38 (3): 378–384.</a:t>
            </a:r>
          </a:p>
          <a:p>
            <a:pPr marL="228600" indent="-228600">
              <a:buFont typeface="+mj-lt"/>
              <a:buAutoNum type="arabicPeriod"/>
            </a:pPr>
            <a:r>
              <a:rPr lang="en-US" dirty="0"/>
              <a:t>Lim SY, Tan AH. Historical perspective: the pros and cons of conventional outcome measures in Parkinson’s disease. Parkinsonism </a:t>
            </a:r>
            <a:r>
              <a:rPr lang="en-US" dirty="0" err="1"/>
              <a:t>Relat</a:t>
            </a:r>
            <a:r>
              <a:rPr lang="en-US" dirty="0"/>
              <a:t> </a:t>
            </a:r>
            <a:r>
              <a:rPr lang="en-US" dirty="0" err="1"/>
              <a:t>Disord</a:t>
            </a:r>
            <a:r>
              <a:rPr lang="en-US" dirty="0"/>
              <a:t> 2018; 46 (Suppl 1): S47–S52.</a:t>
            </a:r>
          </a:p>
          <a:p>
            <a:pPr marL="228600" indent="-228600">
              <a:buFont typeface="+mj-lt"/>
              <a:buAutoNum type="arabicPeriod"/>
            </a:pPr>
            <a:r>
              <a:rPr lang="en-GB" dirty="0">
                <a:highlight>
                  <a:srgbClr val="00FFFF"/>
                </a:highlight>
              </a:rPr>
              <a:t>Beaulieu-Jones BK, Frau F, Bozzi S, et al. Disease progression strikingly differs in research and real-world Parkinson’s populations. NPJ </a:t>
            </a:r>
            <a:r>
              <a:rPr lang="en-GB" dirty="0" err="1">
                <a:highlight>
                  <a:srgbClr val="00FFFF"/>
                </a:highlight>
              </a:rPr>
              <a:t>Parkinsons</a:t>
            </a:r>
            <a:r>
              <a:rPr lang="en-GB" dirty="0">
                <a:highlight>
                  <a:srgbClr val="00FFFF"/>
                </a:highlight>
              </a:rPr>
              <a:t> Dis 2024; 10 (1): 58.</a:t>
            </a:r>
          </a:p>
        </p:txBody>
      </p:sp>
      <p:sp>
        <p:nvSpPr>
          <p:cNvPr id="4" name="Slide Number Placeholder 3"/>
          <p:cNvSpPr>
            <a:spLocks noGrp="1"/>
          </p:cNvSpPr>
          <p:nvPr>
            <p:ph type="sldNum" sz="quarter" idx="10"/>
          </p:nvPr>
        </p:nvSpPr>
        <p:spPr/>
        <p:txBody>
          <a:bodyPr/>
          <a:lstStyle/>
          <a:p>
            <a:fld id="{037C2873-EBE5-CF42-9E30-7832FC02D1D9}" type="slidenum">
              <a:rPr lang="en-GB" smtClean="0"/>
              <a:t>7</a:t>
            </a:fld>
            <a:endParaRPr lang="en-GB"/>
          </a:p>
        </p:txBody>
      </p:sp>
    </p:spTree>
    <p:extLst>
      <p:ext uri="{BB962C8B-B14F-4D97-AF65-F5344CB8AC3E}">
        <p14:creationId xmlns:p14="http://schemas.microsoft.com/office/powerpoint/2010/main" val="11380608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Levodopa is the major symptomatic therapy for PD and is the most common first-line therapy because it provides benefit to virtually all patients.</a:t>
            </a:r>
            <a:r>
              <a:rPr lang="en-GB" baseline="30000" dirty="0"/>
              <a:t>1,3</a:t>
            </a:r>
            <a:r>
              <a:rPr lang="en-GB" dirty="0"/>
              <a:t> In the short-term, the effects of levodopa tend to be long-lasting and side effects are tolerable.</a:t>
            </a:r>
            <a:r>
              <a:rPr lang="en-GB" baseline="30000" dirty="0"/>
              <a:t>1</a:t>
            </a:r>
            <a:r>
              <a:rPr lang="en-GB" dirty="0"/>
              <a:t> In the longer-term, however, patients may struggle to maintain good symptom control as the duration of response to levodopa therapy becomes progressively shorter.</a:t>
            </a:r>
            <a:r>
              <a:rPr lang="en-GB" baseline="30000" dirty="0"/>
              <a:t>1</a:t>
            </a:r>
            <a:r>
              <a:rPr lang="en-GB" dirty="0"/>
              <a:t> This problem is known as ‘wearing-off’.</a:t>
            </a:r>
          </a:p>
          <a:p>
            <a:r>
              <a:rPr lang="en-GB" dirty="0"/>
              <a:t>‘Wearing-off’ is a predictable recurrence of PD symptoms that precedes a scheduled dose of levodopa and usually improves with medication.</a:t>
            </a:r>
            <a:r>
              <a:rPr lang="en-GB" baseline="30000" dirty="0"/>
              <a:t>4</a:t>
            </a:r>
            <a:r>
              <a:rPr lang="en-GB" dirty="0"/>
              <a:t> By contrast, the less predictable fluctuations – sometimes called ‘yo‑yoing’ – are associated with more advanced stages of PD.</a:t>
            </a:r>
            <a:r>
              <a:rPr lang="en-GB" baseline="30000" dirty="0"/>
              <a:t>5</a:t>
            </a:r>
            <a:endParaRPr lang="en-GB" dirty="0"/>
          </a:p>
          <a:p>
            <a:r>
              <a:rPr lang="en-GB" dirty="0"/>
              <a:t> </a:t>
            </a:r>
          </a:p>
          <a:p>
            <a:r>
              <a:rPr lang="en-GB" dirty="0"/>
              <a:t>References:</a:t>
            </a:r>
          </a:p>
          <a:p>
            <a:pPr marL="228600" indent="-228600">
              <a:buFont typeface="+mj-lt"/>
              <a:buAutoNum type="arabicPeriod"/>
            </a:pPr>
            <a:r>
              <a:rPr lang="en-GB" dirty="0" err="1"/>
              <a:t>Obeso</a:t>
            </a:r>
            <a:r>
              <a:rPr lang="en-GB" dirty="0"/>
              <a:t> JA, Rodriguez-Oroz MC, Chana P. The evolution and origin of motor complications in Parkinson’s disease. Neurology 2000; 55 (11 </a:t>
            </a:r>
            <a:r>
              <a:rPr lang="en-GB" dirty="0" err="1"/>
              <a:t>Suppl</a:t>
            </a:r>
            <a:r>
              <a:rPr lang="en-GB" dirty="0"/>
              <a:t> 4): S13–S20.</a:t>
            </a:r>
          </a:p>
          <a:p>
            <a:pPr marL="228600" indent="-228600">
              <a:buFont typeface="+mj-lt"/>
              <a:buAutoNum type="arabicPeriod"/>
            </a:pPr>
            <a:r>
              <a:rPr lang="en-GB" dirty="0" err="1"/>
              <a:t>Schapira</a:t>
            </a:r>
            <a:r>
              <a:rPr lang="en-GB" dirty="0"/>
              <a:t> AH, Emre M, Jenner P, </a:t>
            </a:r>
            <a:r>
              <a:rPr lang="en-GB" dirty="0" err="1"/>
              <a:t>Poewe</a:t>
            </a:r>
            <a:r>
              <a:rPr lang="en-GB" dirty="0"/>
              <a:t> W. Levodopa in the treatment of Parkinson’s disease. </a:t>
            </a:r>
            <a:r>
              <a:rPr lang="en-GB" dirty="0" err="1"/>
              <a:t>Eur</a:t>
            </a:r>
            <a:r>
              <a:rPr lang="en-GB" dirty="0"/>
              <a:t> J </a:t>
            </a:r>
            <a:r>
              <a:rPr lang="en-GB" dirty="0" err="1"/>
              <a:t>Neurol</a:t>
            </a:r>
            <a:r>
              <a:rPr lang="en-GB" dirty="0"/>
              <a:t> 2009; 16 (9): 982–989.</a:t>
            </a:r>
          </a:p>
          <a:p>
            <a:pPr marL="228600" indent="-228600">
              <a:buFont typeface="+mj-lt"/>
              <a:buAutoNum type="arabicPeriod"/>
            </a:pPr>
            <a:r>
              <a:rPr lang="en-GB" dirty="0"/>
              <a:t>Bloem BR, Okun MS, Klein C. Parkinson’s disease. Lancet 2021; 397 (10291): 2284–2303.</a:t>
            </a:r>
          </a:p>
          <a:p>
            <a:pPr marL="228600" indent="-228600">
              <a:buFont typeface="+mj-lt"/>
              <a:buAutoNum type="arabicPeriod"/>
            </a:pPr>
            <a:r>
              <a:rPr lang="en-GB" dirty="0" err="1"/>
              <a:t>Bhidayasiri</a:t>
            </a:r>
            <a:r>
              <a:rPr lang="en-GB" dirty="0"/>
              <a:t> R, Hattori N, Jeon B, et al. Asian perspectives on the recognition and management of levodopa ‘wearing-off’ in Parkinson’s disease. Expert Rev </a:t>
            </a:r>
            <a:r>
              <a:rPr lang="en-GB" dirty="0" err="1"/>
              <a:t>Neurother</a:t>
            </a:r>
            <a:r>
              <a:rPr lang="en-GB" dirty="0"/>
              <a:t> 2015; 15 (11): 1285–1297.</a:t>
            </a:r>
          </a:p>
          <a:p>
            <a:pPr marL="228600" indent="-228600">
              <a:buFont typeface="+mj-lt"/>
              <a:buAutoNum type="arabicPeriod"/>
            </a:pPr>
            <a:r>
              <a:rPr lang="en-GB" dirty="0" err="1"/>
              <a:t>Thanvi</a:t>
            </a:r>
            <a:r>
              <a:rPr lang="en-GB" dirty="0"/>
              <a:t> BR, Lo TC. Long term motor complications of levodopa: clinical features, mechanisms, and management strategies. Postgrad Med J 2004; 80 (946): 452–458.</a:t>
            </a:r>
          </a:p>
        </p:txBody>
      </p:sp>
      <p:sp>
        <p:nvSpPr>
          <p:cNvPr id="4" name="Slide Number Placeholder 3"/>
          <p:cNvSpPr>
            <a:spLocks noGrp="1"/>
          </p:cNvSpPr>
          <p:nvPr>
            <p:ph type="sldNum" sz="quarter" idx="10"/>
          </p:nvPr>
        </p:nvSpPr>
        <p:spPr/>
        <p:txBody>
          <a:bodyPr/>
          <a:lstStyle/>
          <a:p>
            <a:fld id="{037C2873-EBE5-CF42-9E30-7832FC02D1D9}" type="slidenum">
              <a:rPr lang="en-GB" smtClean="0"/>
              <a:t>8</a:t>
            </a:fld>
            <a:endParaRPr lang="en-GB"/>
          </a:p>
        </p:txBody>
      </p:sp>
    </p:spTree>
    <p:extLst>
      <p:ext uri="{BB962C8B-B14F-4D97-AF65-F5344CB8AC3E}">
        <p14:creationId xmlns:p14="http://schemas.microsoft.com/office/powerpoint/2010/main" val="3758085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4"/>
            <a:ext cx="5438140" cy="4339630"/>
          </a:xfrm>
        </p:spPr>
        <p:txBody>
          <a:bodyPr/>
          <a:lstStyle/>
          <a:p>
            <a:r>
              <a:rPr lang="en-US" dirty="0"/>
              <a:t>The slide includes some basic definitions of terms used to describe the course of PD.</a:t>
            </a:r>
          </a:p>
          <a:p>
            <a:endParaRPr lang="da-DK" sz="1000" dirty="0"/>
          </a:p>
          <a:p>
            <a:r>
              <a:rPr lang="da-DK" sz="1000" dirty="0"/>
              <a:t>References used on slide:</a:t>
            </a:r>
          </a:p>
          <a:p>
            <a:pPr marL="228600" indent="-228600">
              <a:buFont typeface="+mj-lt"/>
              <a:buAutoNum type="arabicPeriod"/>
            </a:pPr>
            <a:r>
              <a:rPr lang="en-GB" dirty="0"/>
              <a:t>Kalia LV, Lang AE. Parkinson’s disease. Lancet 2015; 386 (9996): 896–912.</a:t>
            </a:r>
          </a:p>
          <a:p>
            <a:pPr marL="228600" lvl="0" indent="-228600">
              <a:buFont typeface="+mj-lt"/>
              <a:buAutoNum type="arabicPeriod"/>
            </a:pPr>
            <a:r>
              <a:rPr lang="en-GB" dirty="0"/>
              <a:t>Stacy M, Bowron A, Guttman M, et al. </a:t>
            </a:r>
            <a:r>
              <a:rPr lang="en-US" dirty="0"/>
              <a:t>Identification of motor and nonmotor wearing-off in Parkinson’s disease: comparison of a patient questionnaire versus a clinician assessment. </a:t>
            </a:r>
            <a:r>
              <a:rPr lang="en-GB" dirty="0"/>
              <a:t>Mov </a:t>
            </a:r>
            <a:r>
              <a:rPr lang="en-GB" dirty="0" err="1"/>
              <a:t>Disord</a:t>
            </a:r>
            <a:r>
              <a:rPr lang="en-GB" dirty="0"/>
              <a:t> 2005; 20 (6): 726–733.</a:t>
            </a:r>
          </a:p>
          <a:p>
            <a:pPr marL="228600" indent="-228600">
              <a:buFont typeface="+mj-lt"/>
              <a:buAutoNum type="arabicPeriod"/>
            </a:pPr>
            <a:r>
              <a:rPr lang="en-US" dirty="0"/>
              <a:t>Stacy M, Hauser R. Development of a patient questionnaire to facilitate recognition of motor and non-motor wearing-off in Parkinson’s disease. J Neural </a:t>
            </a:r>
            <a:r>
              <a:rPr lang="en-US" dirty="0" err="1"/>
              <a:t>Transm</a:t>
            </a:r>
            <a:r>
              <a:rPr lang="en-US" dirty="0"/>
              <a:t> (Vienna) 2007; 114 (2): 211–217.</a:t>
            </a:r>
          </a:p>
          <a:p>
            <a:pPr marL="228600" indent="-228600">
              <a:buFont typeface="+mj-lt"/>
              <a:buAutoNum type="arabicPeriod"/>
            </a:pPr>
            <a:r>
              <a:rPr lang="en-US" dirty="0" err="1"/>
              <a:t>Hametner</a:t>
            </a:r>
            <a:r>
              <a:rPr lang="en-US" dirty="0"/>
              <a:t> E, Seppi K, Poewe W.</a:t>
            </a:r>
            <a:r>
              <a:rPr lang="en-GB" dirty="0"/>
              <a:t> </a:t>
            </a:r>
            <a:r>
              <a:rPr lang="en-US" dirty="0"/>
              <a:t>The clinical spectrum of levodopa-induced motor complications. J Neurol 2010; 257 (Suppl 2): S268–275.</a:t>
            </a:r>
          </a:p>
          <a:p>
            <a:pPr marL="228600" marR="0" lvl="0" indent="-228600" algn="l" defTabSz="914400" rtl="0" eaLnBrk="1" fontAlgn="auto" latinLnBrk="0" hangingPunct="1">
              <a:lnSpc>
                <a:spcPct val="100000"/>
              </a:lnSpc>
              <a:spcBef>
                <a:spcPts val="360"/>
              </a:spcBef>
              <a:spcAft>
                <a:spcPts val="0"/>
              </a:spcAft>
              <a:buClrTx/>
              <a:buSzTx/>
              <a:buFont typeface="+mj-lt"/>
              <a:buAutoNum type="arabicPeriod"/>
              <a:tabLst/>
              <a:defRPr/>
            </a:pPr>
            <a:r>
              <a:rPr lang="en-US" dirty="0"/>
              <a:t>Parkinson Study Group. A randomized placebo-controlled trial of rasagiline in levodopa-treated patients with Parkinson disease and motor fluctuations: the PRESTO study. Arch Neurol 2005; 62 (2): 241–248.</a:t>
            </a:r>
          </a:p>
        </p:txBody>
      </p:sp>
      <p:sp>
        <p:nvSpPr>
          <p:cNvPr id="4" name="Slide Number Placeholder 3"/>
          <p:cNvSpPr>
            <a:spLocks noGrp="1"/>
          </p:cNvSpPr>
          <p:nvPr>
            <p:ph type="sldNum" sz="quarter" idx="10"/>
          </p:nvPr>
        </p:nvSpPr>
        <p:spPr/>
        <p:txBody>
          <a:bodyPr/>
          <a:lstStyle/>
          <a:p>
            <a:fld id="{83E1D19D-EA97-49CF-99B0-58C7BE052C78}" type="slidenum">
              <a:rPr lang="en-US" smtClean="0"/>
              <a:t>9</a:t>
            </a:fld>
            <a:endParaRPr lang="en-US"/>
          </a:p>
        </p:txBody>
      </p:sp>
    </p:spTree>
    <p:extLst>
      <p:ext uri="{BB962C8B-B14F-4D97-AF65-F5344CB8AC3E}">
        <p14:creationId xmlns:p14="http://schemas.microsoft.com/office/powerpoint/2010/main" val="2798500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Levodopa-induced dyskinesias cover a broad clinical spectrum of different types of involuntary movements, ranging from chorea affecting the limbs, trunk, and head, slow dystonic movements, fixed dystonic postures, or (more rarely) myoclonus or ballism.</a:t>
            </a:r>
            <a:r>
              <a:rPr lang="en-US" baseline="30000" dirty="0"/>
              <a:t>1,2</a:t>
            </a:r>
            <a:r>
              <a:rPr lang="en-US" dirty="0"/>
              <a:t> Levodopa-induced dyskinesias can be broadly classified into three main categories:</a:t>
            </a:r>
            <a:r>
              <a:rPr lang="en-US" baseline="30000" dirty="0"/>
              <a:t>1</a:t>
            </a:r>
            <a:endParaRPr lang="en-US" dirty="0"/>
          </a:p>
          <a:p>
            <a:pPr marL="171450" indent="-171450">
              <a:buFont typeface="Arial" panose="020B0604020202020204" pitchFamily="34" charset="0"/>
              <a:buChar char="•"/>
            </a:pPr>
            <a:r>
              <a:rPr lang="en-US" dirty="0"/>
              <a:t>ON dyskinesias, appearing when motor capacity is at its greatest</a:t>
            </a:r>
          </a:p>
          <a:p>
            <a:pPr marL="171450" indent="-171450">
              <a:buFont typeface="Arial" panose="020B0604020202020204" pitchFamily="34" charset="0"/>
              <a:buChar char="•"/>
            </a:pPr>
            <a:r>
              <a:rPr lang="en-US" dirty="0"/>
              <a:t>biphasic dyskinesias, heralding the onset and end of the ON period</a:t>
            </a:r>
          </a:p>
          <a:p>
            <a:pPr marL="171450" indent="-171450">
              <a:buFont typeface="Arial" panose="020B0604020202020204" pitchFamily="34" charset="0"/>
              <a:buChar char="•"/>
            </a:pPr>
            <a:r>
              <a:rPr lang="en-US" dirty="0"/>
              <a:t>OFF period dyskinesias, typically featuring dystonic elements.</a:t>
            </a:r>
            <a:endParaRPr lang="en-GB" dirty="0"/>
          </a:p>
          <a:p>
            <a:endParaRPr lang="en-GB" dirty="0"/>
          </a:p>
          <a:p>
            <a:r>
              <a:rPr lang="en-GB" dirty="0"/>
              <a:t>References:</a:t>
            </a:r>
          </a:p>
          <a:p>
            <a:pPr marL="228600" indent="-228600">
              <a:buFont typeface="+mj-lt"/>
              <a:buAutoNum type="arabicPeriod"/>
            </a:pPr>
            <a:r>
              <a:rPr lang="en-US" dirty="0" err="1"/>
              <a:t>Hametner</a:t>
            </a:r>
            <a:r>
              <a:rPr lang="en-US" dirty="0"/>
              <a:t> E, Seppi K, </a:t>
            </a:r>
            <a:r>
              <a:rPr lang="en-US" dirty="0" err="1"/>
              <a:t>Poewe</a:t>
            </a:r>
            <a:r>
              <a:rPr lang="en-US" dirty="0"/>
              <a:t> W.</a:t>
            </a:r>
            <a:r>
              <a:rPr lang="en-GB" dirty="0"/>
              <a:t> </a:t>
            </a:r>
            <a:r>
              <a:rPr lang="en-US" dirty="0"/>
              <a:t>The clinical spectrum of levodopa-induced motor complications. J Neurol 2010; 257 (Suppl 2): S268–275. </a:t>
            </a:r>
          </a:p>
          <a:p>
            <a:pPr marL="228600" indent="-228600">
              <a:buFont typeface="+mj-lt"/>
              <a:buAutoNum type="arabicPeriod"/>
            </a:pPr>
            <a:r>
              <a:rPr lang="en-US" dirty="0" err="1"/>
              <a:t>Thanvi</a:t>
            </a:r>
            <a:r>
              <a:rPr lang="en-US" dirty="0"/>
              <a:t> B, Lo N, Robinson T. Levodopa‐induced dyskinesia in Parkinson’s disease: clinical features, pathogenesis, prevention and treatment. Postgrad Med J 2007; 83 (980): 384–388.</a:t>
            </a:r>
          </a:p>
          <a:p>
            <a:endParaRPr lang="en-US" dirty="0"/>
          </a:p>
        </p:txBody>
      </p:sp>
      <p:sp>
        <p:nvSpPr>
          <p:cNvPr id="4" name="Slide Number Placeholder 3"/>
          <p:cNvSpPr>
            <a:spLocks noGrp="1"/>
          </p:cNvSpPr>
          <p:nvPr>
            <p:ph type="sldNum" sz="quarter" idx="10"/>
          </p:nvPr>
        </p:nvSpPr>
        <p:spPr/>
        <p:txBody>
          <a:bodyPr/>
          <a:lstStyle/>
          <a:p>
            <a:fld id="{037C2873-EBE5-CF42-9E30-7832FC02D1D9}" type="slidenum">
              <a:rPr lang="en-GB" smtClean="0"/>
              <a:t>10</a:t>
            </a:fld>
            <a:endParaRPr lang="en-GB"/>
          </a:p>
        </p:txBody>
      </p:sp>
    </p:spTree>
    <p:extLst>
      <p:ext uri="{BB962C8B-B14F-4D97-AF65-F5344CB8AC3E}">
        <p14:creationId xmlns:p14="http://schemas.microsoft.com/office/powerpoint/2010/main" val="39383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8816" y="4751984"/>
            <a:ext cx="5440044" cy="4499592"/>
          </a:xfrm>
        </p:spPr>
        <p:txBody>
          <a:bodyPr/>
          <a:lstStyle/>
          <a:p>
            <a:r>
              <a:rPr lang="en-GB" dirty="0"/>
              <a:t>As the extent of neurodegeneration in the substantia nigra becomes greater, its capacity to produce dopamine diminishes to the point where patients require larger doses of levodopa to maintain normal function.</a:t>
            </a:r>
            <a:r>
              <a:rPr lang="en-GB" baseline="30000" dirty="0"/>
              <a:t>4</a:t>
            </a:r>
            <a:r>
              <a:rPr lang="en-GB" dirty="0"/>
              <a:t> Motor complications, such dyskinesia and motor fluctuations, can greatly worsen the quality of life during mid to late PD.</a:t>
            </a:r>
            <a:r>
              <a:rPr lang="en-GB" baseline="30000" dirty="0"/>
              <a:t>2</a:t>
            </a:r>
            <a:r>
              <a:rPr lang="en-GB" dirty="0"/>
              <a:t> A priority for the management of PD during this time is to optimise the administration of dopaminergic medication, minimising time spent in ‘OFF’ states (e.g., return of motor symptoms).</a:t>
            </a:r>
            <a:r>
              <a:rPr lang="en-GB" baseline="30000" dirty="0"/>
              <a:t>5</a:t>
            </a:r>
            <a:r>
              <a:rPr lang="en-GB" dirty="0"/>
              <a:t> </a:t>
            </a:r>
            <a:r>
              <a:rPr lang="en-US" dirty="0"/>
              <a:t>Strategies to combat OFF periods include the use of longer-acting levodopa formulations and other medications (e.g., dopamine agonists or monoamine oxidase inhibitors) or, in selected situations, device-aided therapies (e.g., infusions of dopaminergic medications and deep brain stimulation)</a:t>
            </a:r>
            <a:r>
              <a:rPr lang="en-GB" dirty="0"/>
              <a:t>.</a:t>
            </a:r>
            <a:r>
              <a:rPr lang="en-GB" baseline="30000" dirty="0"/>
              <a:t>6</a:t>
            </a:r>
            <a:endParaRPr lang="en-GB" dirty="0"/>
          </a:p>
          <a:p>
            <a:r>
              <a:rPr lang="en-GB" dirty="0"/>
              <a:t> </a:t>
            </a:r>
          </a:p>
          <a:p>
            <a:r>
              <a:rPr lang="en-GB" dirty="0"/>
              <a:t>References:</a:t>
            </a:r>
          </a:p>
          <a:p>
            <a:pPr marL="228600" indent="-228600">
              <a:buFont typeface="+mj-lt"/>
              <a:buAutoNum type="arabicPeriod"/>
            </a:pPr>
            <a:r>
              <a:rPr lang="en-GB" dirty="0"/>
              <a:t>Stacy M. Medical treatment of Parkinson disease. </a:t>
            </a:r>
            <a:r>
              <a:rPr lang="en-GB" dirty="0" err="1"/>
              <a:t>Neurol</a:t>
            </a:r>
            <a:r>
              <a:rPr lang="en-GB" dirty="0"/>
              <a:t> Clin 2009; 27 (3): 605–631.</a:t>
            </a:r>
          </a:p>
          <a:p>
            <a:pPr marL="228600" indent="-228600">
              <a:buFont typeface="+mj-lt"/>
              <a:buAutoNum type="arabicPeriod"/>
            </a:pPr>
            <a:r>
              <a:rPr lang="en-GB" dirty="0" err="1"/>
              <a:t>Chapuis</a:t>
            </a:r>
            <a:r>
              <a:rPr lang="en-GB" dirty="0"/>
              <a:t> S, </a:t>
            </a:r>
            <a:r>
              <a:rPr lang="en-GB" dirty="0" err="1"/>
              <a:t>Ouchchane</a:t>
            </a:r>
            <a:r>
              <a:rPr lang="en-GB" dirty="0"/>
              <a:t> L, Metz O, et al. Impact of the motor complications of Parkinson’s disease on the quality of life. Mov </a:t>
            </a:r>
            <a:r>
              <a:rPr lang="en-GB" dirty="0" err="1"/>
              <a:t>Disord</a:t>
            </a:r>
            <a:r>
              <a:rPr lang="en-GB" dirty="0"/>
              <a:t> 2005; 20 (2): 224–230.</a:t>
            </a:r>
          </a:p>
          <a:p>
            <a:pPr marL="228600" indent="-228600">
              <a:buFont typeface="+mj-lt"/>
              <a:buAutoNum type="arabicPeriod"/>
            </a:pPr>
            <a:r>
              <a:rPr lang="en-GB" dirty="0" err="1"/>
              <a:t>Olanow</a:t>
            </a:r>
            <a:r>
              <a:rPr lang="en-GB" dirty="0"/>
              <a:t> CW, </a:t>
            </a:r>
            <a:r>
              <a:rPr lang="en-GB" dirty="0" err="1"/>
              <a:t>Stocchi</a:t>
            </a:r>
            <a:r>
              <a:rPr lang="en-GB" dirty="0"/>
              <a:t> F. Levodopa: a new look at an old friend. Mov </a:t>
            </a:r>
            <a:r>
              <a:rPr lang="en-GB" dirty="0" err="1"/>
              <a:t>Disord</a:t>
            </a:r>
            <a:r>
              <a:rPr lang="en-GB" dirty="0"/>
              <a:t> 2018; 33 (6): 859–866.</a:t>
            </a:r>
          </a:p>
          <a:p>
            <a:pPr marL="228600" indent="-228600">
              <a:buFont typeface="+mj-lt"/>
              <a:buAutoNum type="arabicPeriod"/>
            </a:pPr>
            <a:r>
              <a:rPr lang="en-GB" dirty="0"/>
              <a:t>Jenner P. Wearing off, dyskinesia, and the use of continuous drug delivery in Parkinson’s disease. </a:t>
            </a:r>
            <a:r>
              <a:rPr lang="en-GB" dirty="0" err="1"/>
              <a:t>Neurol</a:t>
            </a:r>
            <a:r>
              <a:rPr lang="en-GB" dirty="0"/>
              <a:t> Clin 2013; 31 (3 </a:t>
            </a:r>
            <a:r>
              <a:rPr lang="en-GB" dirty="0" err="1"/>
              <a:t>Suppl</a:t>
            </a:r>
            <a:r>
              <a:rPr lang="en-GB" dirty="0"/>
              <a:t>): S17–S35.</a:t>
            </a:r>
          </a:p>
          <a:p>
            <a:pPr marL="228600" indent="-228600">
              <a:buFont typeface="+mj-lt"/>
              <a:buAutoNum type="arabicPeriod"/>
            </a:pPr>
            <a:r>
              <a:rPr lang="en-GB" dirty="0"/>
              <a:t>Connolly BS, Lang AE. Pharmacological treatment of Parkinson disease: a review. JAMA 2014; 311 (16): 1670–1683.</a:t>
            </a:r>
          </a:p>
          <a:p>
            <a:pPr marL="228600" indent="-228600">
              <a:buFont typeface="+mj-lt"/>
              <a:buAutoNum type="arabicPeriod"/>
            </a:pPr>
            <a:r>
              <a:rPr lang="en-GB" dirty="0"/>
              <a:t>Fox SH, </a:t>
            </a:r>
            <a:r>
              <a:rPr lang="en-GB" dirty="0" err="1"/>
              <a:t>Katzenschlager</a:t>
            </a:r>
            <a:r>
              <a:rPr lang="en-GB" dirty="0"/>
              <a:t> R, Lim SY, et al.; Movement Disorder Society Evidence-Based Medicine Committee. International Parkinson and movement disorder society evidence-based medicine review: update on treatments for the motor symptoms of Parkinson’s disease. Mov </a:t>
            </a:r>
            <a:r>
              <a:rPr lang="en-GB" dirty="0" err="1"/>
              <a:t>Disord</a:t>
            </a:r>
            <a:r>
              <a:rPr lang="en-GB" dirty="0"/>
              <a:t> 2018; 33 (8): 1248–1266.</a:t>
            </a:r>
          </a:p>
        </p:txBody>
      </p:sp>
      <p:sp>
        <p:nvSpPr>
          <p:cNvPr id="4" name="Slide Number Placeholder 3"/>
          <p:cNvSpPr>
            <a:spLocks noGrp="1"/>
          </p:cNvSpPr>
          <p:nvPr>
            <p:ph type="sldNum" sz="quarter" idx="10"/>
          </p:nvPr>
        </p:nvSpPr>
        <p:spPr/>
        <p:txBody>
          <a:bodyPr/>
          <a:lstStyle/>
          <a:p>
            <a:fld id="{037C2873-EBE5-CF42-9E30-7832FC02D1D9}" type="slidenum">
              <a:rPr lang="en-GB" smtClean="0"/>
              <a:t>11</a:t>
            </a:fld>
            <a:endParaRPr lang="en-GB"/>
          </a:p>
        </p:txBody>
      </p:sp>
    </p:spTree>
    <p:extLst>
      <p:ext uri="{BB962C8B-B14F-4D97-AF65-F5344CB8AC3E}">
        <p14:creationId xmlns:p14="http://schemas.microsoft.com/office/powerpoint/2010/main" val="1493438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37C2873-EBE5-CF42-9E30-7832FC02D1D9}" type="slidenum">
              <a:rPr lang="en-GB" smtClean="0"/>
              <a:t>12</a:t>
            </a:fld>
            <a:endParaRPr lang="en-GB"/>
          </a:p>
        </p:txBody>
      </p:sp>
    </p:spTree>
    <p:extLst>
      <p:ext uri="{BB962C8B-B14F-4D97-AF65-F5344CB8AC3E}">
        <p14:creationId xmlns:p14="http://schemas.microsoft.com/office/powerpoint/2010/main" val="25542341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Movement Disorder Society (MDS) research criteria for identification of prodromal PD were designed solely for research purposes </a:t>
            </a:r>
            <a:r>
              <a:rPr lang="en-US" dirty="0"/>
              <a:t>since, for now at least, the lack of effective treatments that are able to halt the progression of prodromal PD makes their clinical use unwarranted.</a:t>
            </a:r>
            <a:r>
              <a:rPr lang="en-US" baseline="30000" dirty="0"/>
              <a:t>1,2</a:t>
            </a:r>
            <a:r>
              <a:rPr lang="en-US" dirty="0"/>
              <a:t> Ethical considerations may prevent the disclosure of a potentially distressing diagnosis in a non-clinical context, particularly if the research participant has not yet sought medical treatment for their symptoms, if present.</a:t>
            </a:r>
            <a:r>
              <a:rPr lang="en-US" baseline="30000" dirty="0"/>
              <a:t>1,2</a:t>
            </a:r>
            <a:endParaRPr lang="en-GB" dirty="0"/>
          </a:p>
          <a:p>
            <a:r>
              <a:rPr lang="en-US" dirty="0"/>
              <a:t>When used correctly, the MDS criteria have at least 80% accuracy in diagnosing prodromal PD.</a:t>
            </a:r>
            <a:r>
              <a:rPr lang="en-US" baseline="30000" dirty="0"/>
              <a:t>1</a:t>
            </a:r>
            <a:r>
              <a:rPr lang="en-US" dirty="0"/>
              <a:t> A total score is calculated, which combines background risk, including environmental exposures and genetic traits, and the results of diagnostic markers, such as clinical symptoms (constipation, sleep disorder, impaired sense of smell, etc.) and biomarkers.</a:t>
            </a:r>
            <a:r>
              <a:rPr lang="en-US" baseline="30000" dirty="0"/>
              <a:t>1</a:t>
            </a:r>
            <a:endParaRPr lang="en-GB" dirty="0"/>
          </a:p>
          <a:p>
            <a:r>
              <a:rPr lang="en-US" dirty="0"/>
              <a:t> </a:t>
            </a:r>
            <a:endParaRPr lang="en-GB" dirty="0"/>
          </a:p>
          <a:p>
            <a:r>
              <a:rPr lang="en-GB" dirty="0"/>
              <a:t>References:</a:t>
            </a:r>
          </a:p>
          <a:p>
            <a:pPr marL="228600" indent="-228600">
              <a:buFont typeface="+mj-lt"/>
              <a:buAutoNum type="arabicPeriod"/>
            </a:pPr>
            <a:r>
              <a:rPr lang="en-GB" dirty="0"/>
              <a:t>Berg D, </a:t>
            </a:r>
            <a:r>
              <a:rPr lang="en-GB" dirty="0" err="1"/>
              <a:t>Postuma</a:t>
            </a:r>
            <a:r>
              <a:rPr lang="en-GB" dirty="0"/>
              <a:t> RB, Adler CH, et al. MDS research criteria for prodromal Parkinson’s disease. Mov </a:t>
            </a:r>
            <a:r>
              <a:rPr lang="en-GB" dirty="0" err="1"/>
              <a:t>Disord</a:t>
            </a:r>
            <a:r>
              <a:rPr lang="en-GB" dirty="0"/>
              <a:t> 2015; 30 (12): 1600–1611.</a:t>
            </a:r>
          </a:p>
          <a:p>
            <a:pPr marL="228600" indent="-228600">
              <a:buFont typeface="+mj-lt"/>
              <a:buAutoNum type="arabicPeriod"/>
            </a:pPr>
            <a:r>
              <a:rPr lang="en-GB" dirty="0" err="1"/>
              <a:t>Heinzel</a:t>
            </a:r>
            <a:r>
              <a:rPr lang="en-GB" dirty="0"/>
              <a:t> S, Berg D, Gasser T, et al.; MDS Task Force on the Definition of Parkinson’s Disease. Update of the MDS research criteria for prodromal Parkinson's disease. Mov </a:t>
            </a:r>
            <a:r>
              <a:rPr lang="en-GB" dirty="0" err="1"/>
              <a:t>Disord</a:t>
            </a:r>
            <a:r>
              <a:rPr lang="en-GB" dirty="0"/>
              <a:t> 2019; 34 (10): 1464–1470.</a:t>
            </a:r>
          </a:p>
        </p:txBody>
      </p:sp>
      <p:sp>
        <p:nvSpPr>
          <p:cNvPr id="4" name="Slide Number Placeholder 3"/>
          <p:cNvSpPr>
            <a:spLocks noGrp="1"/>
          </p:cNvSpPr>
          <p:nvPr>
            <p:ph type="sldNum" sz="quarter" idx="10"/>
          </p:nvPr>
        </p:nvSpPr>
        <p:spPr/>
        <p:txBody>
          <a:bodyPr/>
          <a:lstStyle/>
          <a:p>
            <a:fld id="{037C2873-EBE5-CF42-9E30-7832FC02D1D9}" type="slidenum">
              <a:rPr lang="en-GB" smtClean="0"/>
              <a:t>13</a:t>
            </a:fld>
            <a:endParaRPr lang="en-GB"/>
          </a:p>
        </p:txBody>
      </p:sp>
    </p:spTree>
    <p:extLst>
      <p:ext uri="{BB962C8B-B14F-4D97-AF65-F5344CB8AC3E}">
        <p14:creationId xmlns:p14="http://schemas.microsoft.com/office/powerpoint/2010/main" val="28859296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most common prodromal symptom found in this analysis was tremor – 41% of people presented with tremor 2 years before diagnosis of PD, compared with &lt;1% of controls.</a:t>
            </a:r>
            <a:r>
              <a:rPr lang="en-GB" baseline="30000" dirty="0"/>
              <a:t>1</a:t>
            </a:r>
            <a:r>
              <a:rPr lang="en-GB" dirty="0"/>
              <a:t> In this study, the incidence of neck pain was not different between people with PD and controls.</a:t>
            </a:r>
            <a:r>
              <a:rPr lang="en-GB" baseline="30000" dirty="0"/>
              <a:t>1</a:t>
            </a:r>
            <a:r>
              <a:rPr lang="en-GB" dirty="0"/>
              <a:t> The most common autonomic prodromal symptom was constipation – 32% of people presented with constipation 2 years before diagnosis, compared with 19% of controls.</a:t>
            </a:r>
            <a:r>
              <a:rPr lang="en-GB" baseline="30000" dirty="0"/>
              <a:t>1</a:t>
            </a:r>
            <a:endParaRPr lang="en-GB" dirty="0"/>
          </a:p>
          <a:p>
            <a:endParaRPr lang="en-GB" dirty="0"/>
          </a:p>
          <a:p>
            <a:r>
              <a:rPr lang="en-GB" dirty="0"/>
              <a:t>Reference:</a:t>
            </a:r>
          </a:p>
          <a:p>
            <a:pPr marL="228600" indent="-228600">
              <a:buFont typeface="+mj-lt"/>
              <a:buAutoNum type="arabicPeriod"/>
            </a:pPr>
            <a:r>
              <a:rPr lang="en-US" dirty="0"/>
              <a:t>Schrag A, Horsfall L, Walters K, et al. </a:t>
            </a:r>
            <a:r>
              <a:rPr lang="en-US" dirty="0" err="1"/>
              <a:t>Prediagnostic</a:t>
            </a:r>
            <a:r>
              <a:rPr lang="en-US" dirty="0"/>
              <a:t> presentations of Parkinson’s disease in primary care: a case-control study. Lancet Neurol 2015; 14 (1): 57–64.</a:t>
            </a:r>
            <a:endParaRPr lang="en-GB" dirty="0"/>
          </a:p>
        </p:txBody>
      </p:sp>
      <p:sp>
        <p:nvSpPr>
          <p:cNvPr id="4" name="Slide Number Placeholder 3"/>
          <p:cNvSpPr>
            <a:spLocks noGrp="1"/>
          </p:cNvSpPr>
          <p:nvPr>
            <p:ph type="sldNum" sz="quarter" idx="5"/>
          </p:nvPr>
        </p:nvSpPr>
        <p:spPr/>
        <p:txBody>
          <a:bodyPr/>
          <a:lstStyle/>
          <a:p>
            <a:fld id="{037C2873-EBE5-CF42-9E30-7832FC02D1D9}" type="slidenum">
              <a:rPr lang="en-GB" smtClean="0"/>
              <a:t>14</a:t>
            </a:fld>
            <a:endParaRPr lang="en-GB"/>
          </a:p>
        </p:txBody>
      </p:sp>
    </p:spTree>
    <p:extLst>
      <p:ext uri="{BB962C8B-B14F-4D97-AF65-F5344CB8AC3E}">
        <p14:creationId xmlns:p14="http://schemas.microsoft.com/office/powerpoint/2010/main" val="2798930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6"/>
            <a:ext cx="5438140" cy="4096225"/>
          </a:xfrm>
        </p:spPr>
        <p:txBody>
          <a:bodyPr/>
          <a:lstStyle/>
          <a:p>
            <a:r>
              <a:rPr lang="en-GB" dirty="0"/>
              <a:t>The Lewy pathology and aggregated α-synuclein proteins associated with PD are not confined to the central nervous system (CNS); they can also be found in the peripheral nervous system at various sites around the body, such as the skin, gastrointestinal tract, and salivary glands.</a:t>
            </a:r>
            <a:r>
              <a:rPr lang="en-GB" baseline="30000" dirty="0"/>
              <a:t>1</a:t>
            </a:r>
            <a:r>
              <a:rPr lang="en-GB" dirty="0"/>
              <a:t> The cause of these α-synuclein deposits is still unknown, as is the extent to which they reflect damage or loss of function in these areas.</a:t>
            </a:r>
            <a:r>
              <a:rPr lang="en-GB" baseline="30000" dirty="0"/>
              <a:t>1,3</a:t>
            </a:r>
            <a:endParaRPr lang="en-GB" dirty="0"/>
          </a:p>
          <a:p>
            <a:r>
              <a:rPr lang="en-GB" dirty="0"/>
              <a:t>The discovery of peripheral α-synuclein pathology could have profound consequences for the development of a useful biomarker of PD – one that could be measured during the pre-clinical or prodromal stages of the disease.</a:t>
            </a:r>
            <a:r>
              <a:rPr lang="en-GB" baseline="30000" dirty="0"/>
              <a:t>1</a:t>
            </a:r>
            <a:r>
              <a:rPr lang="en-GB" dirty="0"/>
              <a:t> Peripheral α-synuclein (i.e., that found outside the CNS) is easier to sample (in a skin or gut biopsy) than brain tissue.</a:t>
            </a:r>
            <a:r>
              <a:rPr lang="en-GB" baseline="30000" dirty="0"/>
              <a:t>1</a:t>
            </a:r>
            <a:r>
              <a:rPr lang="en-GB" dirty="0"/>
              <a:t> If viable, such a biomarker would not only be able to detect PD early, but it could also be used to distinguish the disease from similar forms of parkinsonism, such as multiple system atrophy.</a:t>
            </a:r>
            <a:r>
              <a:rPr lang="en-GB" baseline="30000" dirty="0"/>
              <a:t>1,2</a:t>
            </a:r>
            <a:r>
              <a:rPr lang="en-GB" dirty="0"/>
              <a:t> At present, however, researchers have yet to agree on a biopsy procedure that yields the most reliable diagnosis.</a:t>
            </a:r>
            <a:r>
              <a:rPr lang="en-GB" baseline="30000" dirty="0"/>
              <a:t>1</a:t>
            </a:r>
            <a:endParaRPr lang="en-GB" dirty="0"/>
          </a:p>
          <a:p>
            <a:r>
              <a:rPr lang="en-GB" dirty="0"/>
              <a:t> </a:t>
            </a:r>
          </a:p>
          <a:p>
            <a:r>
              <a:rPr lang="en-GB" dirty="0"/>
              <a:t>References:</a:t>
            </a:r>
          </a:p>
          <a:p>
            <a:pPr marL="228600" indent="-228600">
              <a:buFont typeface="+mj-lt"/>
              <a:buAutoNum type="arabicPeriod"/>
            </a:pPr>
            <a:r>
              <a:rPr lang="en-GB" dirty="0"/>
              <a:t>Tolosa E, Vilas D. Peripheral synuclein tissue markers: a step closer to Parkinson’s disease diagnosis. Brain 2015; 138 (8): 2120–2122.</a:t>
            </a:r>
          </a:p>
          <a:p>
            <a:pPr marL="228600" indent="-228600">
              <a:buFont typeface="+mj-lt"/>
              <a:buAutoNum type="arabicPeriod"/>
            </a:pPr>
            <a:r>
              <a:rPr lang="en-GB" dirty="0"/>
              <a:t>Wood H. Parkinson disease: peripheral α-synuclein deposits – prodromal markers for Parkinson disease? Nat Rev </a:t>
            </a:r>
            <a:r>
              <a:rPr lang="en-GB" dirty="0" err="1"/>
              <a:t>Neurol</a:t>
            </a:r>
            <a:r>
              <a:rPr lang="en-GB" dirty="0"/>
              <a:t> 2016; 12 (5): 249.</a:t>
            </a:r>
          </a:p>
          <a:p>
            <a:pPr marL="228600" indent="-228600">
              <a:buFont typeface="+mj-lt"/>
              <a:buAutoNum type="arabicPeriod"/>
            </a:pPr>
            <a:r>
              <a:rPr lang="en-GB" dirty="0"/>
              <a:t>Fasano A, </a:t>
            </a:r>
            <a:r>
              <a:rPr lang="en-GB" dirty="0" err="1"/>
              <a:t>Visanji</a:t>
            </a:r>
            <a:r>
              <a:rPr lang="en-GB" dirty="0"/>
              <a:t> NP, Liu LW, et al. Gastrointestinal dysfunction in Parkinson’s disease. Lancet </a:t>
            </a:r>
            <a:r>
              <a:rPr lang="en-GB" dirty="0" err="1"/>
              <a:t>Neurol</a:t>
            </a:r>
            <a:r>
              <a:rPr lang="en-GB" dirty="0"/>
              <a:t> 2015; 14 (6): 625–639. </a:t>
            </a:r>
          </a:p>
        </p:txBody>
      </p:sp>
      <p:sp>
        <p:nvSpPr>
          <p:cNvPr id="4" name="Slide Number Placeholder 3"/>
          <p:cNvSpPr>
            <a:spLocks noGrp="1"/>
          </p:cNvSpPr>
          <p:nvPr>
            <p:ph type="sldNum" sz="quarter" idx="10"/>
          </p:nvPr>
        </p:nvSpPr>
        <p:spPr/>
        <p:txBody>
          <a:bodyPr/>
          <a:lstStyle/>
          <a:p>
            <a:fld id="{037C2873-EBE5-CF42-9E30-7832FC02D1D9}" type="slidenum">
              <a:rPr lang="en-GB" smtClean="0"/>
              <a:t>15</a:t>
            </a:fld>
            <a:endParaRPr lang="en-GB"/>
          </a:p>
        </p:txBody>
      </p:sp>
    </p:spTree>
    <p:extLst>
      <p:ext uri="{BB962C8B-B14F-4D97-AF65-F5344CB8AC3E}">
        <p14:creationId xmlns:p14="http://schemas.microsoft.com/office/powerpoint/2010/main" val="37097748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3"/>
            <a:ext cx="5438140" cy="4982567"/>
          </a:xfrm>
        </p:spPr>
        <p:txBody>
          <a:bodyPr/>
          <a:lstStyle/>
          <a:p>
            <a:r>
              <a:rPr lang="en-GB" dirty="0"/>
              <a:t>Neurons found in the enteric (gut) nervous system (ENS) require dopamine.</a:t>
            </a:r>
            <a:r>
              <a:rPr lang="en-GB" baseline="30000" dirty="0"/>
              <a:t>1</a:t>
            </a:r>
            <a:r>
              <a:rPr lang="en-GB" dirty="0"/>
              <a:t> Without dopamine, these neurons cannot properly control gastrointestinal motility.</a:t>
            </a:r>
            <a:r>
              <a:rPr lang="en-GB" baseline="30000" dirty="0"/>
              <a:t>1</a:t>
            </a:r>
            <a:r>
              <a:rPr lang="en-GB" dirty="0"/>
              <a:t> Animal studies have suggested that the ENS may be vulnerable to degeneration during PD, and the finding of Lewy pathology in gut biopsy samples taken from patients with PD supports this.</a:t>
            </a:r>
            <a:r>
              <a:rPr lang="en-GB" baseline="30000" dirty="0"/>
              <a:t>1</a:t>
            </a:r>
            <a:r>
              <a:rPr lang="en-GB" dirty="0"/>
              <a:t> It may, therefore, be useful to measure levels of α-synuclein in the gut as a method of potentially diagnosing PD during its early stages.</a:t>
            </a:r>
            <a:r>
              <a:rPr lang="en-GB" baseline="30000" dirty="0"/>
              <a:t>1</a:t>
            </a:r>
            <a:r>
              <a:rPr lang="en-GB" dirty="0"/>
              <a:t> However, it is not yet understood how the ‘brain-first’ and the ‘gut-first’ ideas might interact, and whether both processes can exist.</a:t>
            </a:r>
            <a:r>
              <a:rPr lang="en-GB" baseline="30000" dirty="0"/>
              <a:t>2-4</a:t>
            </a:r>
            <a:endParaRPr lang="en-GB" dirty="0"/>
          </a:p>
          <a:p>
            <a:r>
              <a:rPr lang="en-GB" dirty="0"/>
              <a:t>A gut-derived biomarker may be particularly valuable if, as some studies have suggested, PD develops first in the ENS and then moves up into the brainstem via nerve fibres.</a:t>
            </a:r>
            <a:r>
              <a:rPr lang="en-GB" baseline="30000" dirty="0"/>
              <a:t>1</a:t>
            </a:r>
            <a:r>
              <a:rPr lang="en-GB" dirty="0"/>
              <a:t> Experimental data using rodents have recently demonstrated (as a proof of concept) that the application of a toxin to the gastrointestinal system can lead to neurodegeneration in the central nervous system, including the brain.</a:t>
            </a:r>
            <a:r>
              <a:rPr lang="en-GB" baseline="30000" dirty="0"/>
              <a:t>1</a:t>
            </a:r>
            <a:r>
              <a:rPr lang="en-GB" dirty="0"/>
              <a:t> This ‘gut–brain’ hypothesis is further supported by epidemiological data that indicate a reduced risk of PD in individuals who had undergone truncal vagotomy, an operation that severs the </a:t>
            </a:r>
            <a:r>
              <a:rPr lang="en-GB" dirty="0" err="1"/>
              <a:t>vagus</a:t>
            </a:r>
            <a:r>
              <a:rPr lang="en-GB" dirty="0"/>
              <a:t> nerve connecting the ENS to the brain.</a:t>
            </a:r>
            <a:r>
              <a:rPr lang="en-GB" baseline="30000" dirty="0"/>
              <a:t>6</a:t>
            </a:r>
            <a:endParaRPr lang="en-GB" dirty="0"/>
          </a:p>
          <a:p>
            <a:r>
              <a:rPr lang="en-GB" dirty="0"/>
              <a:t> </a:t>
            </a:r>
          </a:p>
          <a:p>
            <a:r>
              <a:rPr lang="en-GB" dirty="0"/>
              <a:t>References:</a:t>
            </a:r>
          </a:p>
          <a:p>
            <a:pPr marL="228600" indent="-228600">
              <a:buFont typeface="+mj-lt"/>
              <a:buAutoNum type="arabicPeriod"/>
            </a:pPr>
            <a:r>
              <a:rPr lang="en-GB" dirty="0"/>
              <a:t>Rao M, Gershon MD. The bowel and beyond: the enteric nervous system in neurological disorders. Nat Rev Gastroenterol Hepatol 2016; 13 (9): 517–528.</a:t>
            </a:r>
          </a:p>
          <a:p>
            <a:pPr marL="228600" indent="-228600">
              <a:buFont typeface="+mj-lt"/>
              <a:buAutoNum type="arabicPeriod"/>
            </a:pPr>
            <a:r>
              <a:rPr lang="en-GB" dirty="0"/>
              <a:t>Beach TG, Adler CH, Sue LI, et al. </a:t>
            </a:r>
            <a:r>
              <a:rPr lang="en-GB" dirty="0" err="1"/>
              <a:t>Vagus</a:t>
            </a:r>
            <a:r>
              <a:rPr lang="en-GB" dirty="0"/>
              <a:t> nerve and stomach </a:t>
            </a:r>
            <a:r>
              <a:rPr lang="en-GB" dirty="0" err="1"/>
              <a:t>synucleinopathy</a:t>
            </a:r>
            <a:r>
              <a:rPr lang="en-GB" dirty="0"/>
              <a:t> in Parkinson’s disease, incidental Lewy body disease, and normal elderly subjects: evidence against the “body-first” hypothesis. J </a:t>
            </a:r>
            <a:r>
              <a:rPr lang="en-GB" dirty="0" err="1"/>
              <a:t>Parkinsons</a:t>
            </a:r>
            <a:r>
              <a:rPr lang="en-GB" dirty="0"/>
              <a:t> Dis 2021; 11 (4): 1833–1843.</a:t>
            </a:r>
          </a:p>
          <a:p>
            <a:pPr marL="228600" indent="-228600">
              <a:buFont typeface="+mj-lt"/>
              <a:buAutoNum type="arabicPeriod"/>
            </a:pPr>
            <a:r>
              <a:rPr lang="en-GB" dirty="0" err="1"/>
              <a:t>Gershanik</a:t>
            </a:r>
            <a:r>
              <a:rPr lang="en-GB" dirty="0"/>
              <a:t> OS. Does Parkinson’s disease start in the gut? </a:t>
            </a:r>
            <a:r>
              <a:rPr lang="en-GB" dirty="0" err="1"/>
              <a:t>Arq</a:t>
            </a:r>
            <a:r>
              <a:rPr lang="en-GB" dirty="0"/>
              <a:t> </a:t>
            </a:r>
            <a:r>
              <a:rPr lang="en-GB" dirty="0" err="1"/>
              <a:t>Neuropsiquiatr</a:t>
            </a:r>
            <a:r>
              <a:rPr lang="en-GB" dirty="0"/>
              <a:t> 2018; 76 (2): 67–70.</a:t>
            </a:r>
          </a:p>
          <a:p>
            <a:pPr marL="228600" indent="-228600">
              <a:buFont typeface="+mj-lt"/>
              <a:buAutoNum type="arabicPeriod"/>
            </a:pPr>
            <a:r>
              <a:rPr lang="en-GB" dirty="0" err="1"/>
              <a:t>Borghammer</a:t>
            </a:r>
            <a:r>
              <a:rPr lang="en-GB" dirty="0"/>
              <a:t> P, Van Den Berge N. Brain-first versus gut-first Parkinson’s disease: a hypothesis. J </a:t>
            </a:r>
            <a:r>
              <a:rPr lang="en-GB" dirty="0" err="1"/>
              <a:t>Parkinsons</a:t>
            </a:r>
            <a:r>
              <a:rPr lang="en-GB" dirty="0"/>
              <a:t> Dis 2019; 9 (s2): S281–S295.</a:t>
            </a:r>
          </a:p>
          <a:p>
            <a:pPr marL="228600" indent="-228600">
              <a:buFont typeface="+mj-lt"/>
              <a:buAutoNum type="arabicPeriod"/>
            </a:pPr>
            <a:r>
              <a:rPr lang="en-GB" dirty="0"/>
              <a:t>Lema Tomé CM, Tyson T, Rey NL, et al. Inflammation and </a:t>
            </a:r>
            <a:r>
              <a:rPr lang="el-GR" dirty="0"/>
              <a:t>α-</a:t>
            </a:r>
            <a:r>
              <a:rPr lang="en-GB" dirty="0"/>
              <a:t>synuclein’s prion-like </a:t>
            </a:r>
            <a:r>
              <a:rPr lang="en-GB" dirty="0" err="1"/>
              <a:t>behavior</a:t>
            </a:r>
            <a:r>
              <a:rPr lang="en-GB" dirty="0"/>
              <a:t> in Parkinson’s disease – is there a link? Mol </a:t>
            </a:r>
            <a:r>
              <a:rPr lang="en-GB" dirty="0" err="1"/>
              <a:t>Neurobiol</a:t>
            </a:r>
            <a:r>
              <a:rPr lang="en-GB" dirty="0"/>
              <a:t> 2013; 47 (2): 561–574.</a:t>
            </a:r>
          </a:p>
          <a:p>
            <a:pPr marL="228600" indent="-228600">
              <a:buFont typeface="+mj-lt"/>
              <a:buAutoNum type="arabicPeriod"/>
            </a:pPr>
            <a:r>
              <a:rPr lang="en-GB" dirty="0"/>
              <a:t>Svensson E, </a:t>
            </a:r>
            <a:r>
              <a:rPr lang="en-GB" dirty="0" err="1"/>
              <a:t>Horváth-Puhó</a:t>
            </a:r>
            <a:r>
              <a:rPr lang="en-GB" dirty="0"/>
              <a:t> E, Thomsen RW, et al. Vagotomy and subsequent risk of Parkinson’s disease. Ann </a:t>
            </a:r>
            <a:r>
              <a:rPr lang="en-GB" dirty="0" err="1"/>
              <a:t>Neurol</a:t>
            </a:r>
            <a:r>
              <a:rPr lang="en-GB" dirty="0"/>
              <a:t> 2015; 78 (4): 522–529. </a:t>
            </a:r>
          </a:p>
        </p:txBody>
      </p:sp>
      <p:sp>
        <p:nvSpPr>
          <p:cNvPr id="4" name="Slide Number Placeholder 3"/>
          <p:cNvSpPr>
            <a:spLocks noGrp="1"/>
          </p:cNvSpPr>
          <p:nvPr>
            <p:ph type="sldNum" sz="quarter" idx="10"/>
          </p:nvPr>
        </p:nvSpPr>
        <p:spPr/>
        <p:txBody>
          <a:bodyPr/>
          <a:lstStyle/>
          <a:p>
            <a:fld id="{037C2873-EBE5-CF42-9E30-7832FC02D1D9}" type="slidenum">
              <a:rPr lang="en-GB" smtClean="0"/>
              <a:t>16</a:t>
            </a:fld>
            <a:endParaRPr lang="en-GB"/>
          </a:p>
        </p:txBody>
      </p:sp>
    </p:spTree>
    <p:extLst>
      <p:ext uri="{BB962C8B-B14F-4D97-AF65-F5344CB8AC3E}">
        <p14:creationId xmlns:p14="http://schemas.microsoft.com/office/powerpoint/2010/main" val="1419863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37C2873-EBE5-CF42-9E30-7832FC02D1D9}" type="slidenum">
              <a:rPr lang="en-GB" smtClean="0"/>
              <a:t>17</a:t>
            </a:fld>
            <a:endParaRPr lang="en-GB"/>
          </a:p>
        </p:txBody>
      </p:sp>
    </p:spTree>
    <p:extLst>
      <p:ext uri="{BB962C8B-B14F-4D97-AF65-F5344CB8AC3E}">
        <p14:creationId xmlns:p14="http://schemas.microsoft.com/office/powerpoint/2010/main" val="41259918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8816" y="4751984"/>
            <a:ext cx="5440044" cy="4626840"/>
          </a:xfrm>
        </p:spPr>
        <p:txBody>
          <a:bodyPr/>
          <a:lstStyle/>
          <a:p>
            <a:r>
              <a:rPr lang="en-GB" dirty="0"/>
              <a:t>During the early phase of PD, symptoms are mild-to-moderate and can be treated effectively with levodopa therapy.</a:t>
            </a:r>
            <a:r>
              <a:rPr lang="en-GB" baseline="30000" dirty="0"/>
              <a:t>1</a:t>
            </a:r>
            <a:r>
              <a:rPr lang="en-GB" dirty="0"/>
              <a:t> Over time, such treatment can become more complicated as the levodopa is required at higher doses and at shorter intervals.</a:t>
            </a:r>
            <a:r>
              <a:rPr lang="en-GB" baseline="30000" dirty="0"/>
              <a:t>2</a:t>
            </a:r>
            <a:r>
              <a:rPr lang="en-GB" dirty="0"/>
              <a:t> The middle and late stages of the disease are characterised by the onset of motor fluctuations brought about by ‘wearing off’ or ‘OFF’ states.</a:t>
            </a:r>
            <a:r>
              <a:rPr lang="en-GB" baseline="30000" dirty="0"/>
              <a:t>1,2</a:t>
            </a:r>
            <a:r>
              <a:rPr lang="en-GB" dirty="0"/>
              <a:t> From this point onwards, it becomes increasingly difficult for a patient to maintain a stable level of mobility similar to that observed during early PD.</a:t>
            </a:r>
            <a:r>
              <a:rPr lang="en-GB" baseline="30000" dirty="0"/>
              <a:t>2</a:t>
            </a:r>
            <a:endParaRPr lang="en-GB" dirty="0"/>
          </a:p>
          <a:p>
            <a:r>
              <a:rPr lang="en-GB" dirty="0"/>
              <a:t>Unfortunately, it is difficult to predict which patients will develop motor complications and fluctuations, although evidence suggests that younger age at PD onset, and greater exposure to levodopa, might make such complications more likely.</a:t>
            </a:r>
            <a:r>
              <a:rPr lang="en-GB" baseline="30000" dirty="0"/>
              <a:t>2-4</a:t>
            </a:r>
            <a:r>
              <a:rPr lang="en-GB" dirty="0"/>
              <a:t> During later stages of PD, the management of symptoms becomes further complicated by numerous non-motor symptoms, such as dementia, that are severely troublesome to the patient yet respond only partially, if at all, to dopaminergic medication.</a:t>
            </a:r>
            <a:r>
              <a:rPr lang="en-GB" baseline="30000" dirty="0"/>
              <a:t>1,2</a:t>
            </a:r>
            <a:endParaRPr lang="en-GB" dirty="0"/>
          </a:p>
          <a:p>
            <a:r>
              <a:rPr lang="en-GB" dirty="0"/>
              <a:t>Of course, the disease progression experienced by people with Parkinson’s disease in the real world can vary from the typical clinical picture presented above quite appreciably, partly because there are selection biases that arise in clinical research.</a:t>
            </a:r>
            <a:r>
              <a:rPr lang="en-GB" baseline="30000" dirty="0"/>
              <a:t>5</a:t>
            </a:r>
            <a:endParaRPr lang="en-GB" dirty="0"/>
          </a:p>
          <a:p>
            <a:endParaRPr lang="en-GB" dirty="0"/>
          </a:p>
          <a:p>
            <a:r>
              <a:rPr lang="en-GB" dirty="0"/>
              <a:t>References:</a:t>
            </a:r>
          </a:p>
          <a:p>
            <a:pPr marL="228600" indent="-228600">
              <a:buFont typeface="+mj-lt"/>
              <a:buAutoNum type="arabicPeriod"/>
            </a:pPr>
            <a:r>
              <a:rPr lang="en-GB" dirty="0"/>
              <a:t>Reichman H, Barone P, </a:t>
            </a:r>
            <a:r>
              <a:rPr lang="en-GB" dirty="0" err="1"/>
              <a:t>Poewe</a:t>
            </a:r>
            <a:r>
              <a:rPr lang="en-GB" dirty="0"/>
              <a:t> W. Progression of Parkinson’s disease and unmet needs in mid- to late-stage patients. </a:t>
            </a:r>
            <a:r>
              <a:rPr lang="en-GB" dirty="0" err="1"/>
              <a:t>Eur</a:t>
            </a:r>
            <a:r>
              <a:rPr lang="en-GB" dirty="0"/>
              <a:t> </a:t>
            </a:r>
            <a:r>
              <a:rPr lang="en-GB" dirty="0" err="1"/>
              <a:t>Neurol</a:t>
            </a:r>
            <a:r>
              <a:rPr lang="en-GB" dirty="0"/>
              <a:t> Rev 2015; 10 (2): 182–188.</a:t>
            </a:r>
          </a:p>
          <a:p>
            <a:pPr marL="228600" indent="-228600">
              <a:buFont typeface="+mj-lt"/>
              <a:buAutoNum type="arabicPeriod"/>
            </a:pPr>
            <a:r>
              <a:rPr lang="en-GB" dirty="0"/>
              <a:t>Jenner P. Treatment of the later stages of Parkinson’s disease – pharmacological approaches now and in the future. </a:t>
            </a:r>
            <a:r>
              <a:rPr lang="en-GB" dirty="0" err="1"/>
              <a:t>Transl</a:t>
            </a:r>
            <a:r>
              <a:rPr lang="en-GB" dirty="0"/>
              <a:t> </a:t>
            </a:r>
            <a:r>
              <a:rPr lang="en-GB" dirty="0" err="1"/>
              <a:t>Neurodegener</a:t>
            </a:r>
            <a:r>
              <a:rPr lang="en-GB" dirty="0"/>
              <a:t> 2015; 4: 3.</a:t>
            </a:r>
          </a:p>
          <a:p>
            <a:pPr marL="228600" indent="-228600">
              <a:buFont typeface="+mj-lt"/>
              <a:buAutoNum type="arabicPeriod"/>
            </a:pPr>
            <a:r>
              <a:rPr lang="en-GB" dirty="0" err="1"/>
              <a:t>Kadastik-Eerme</a:t>
            </a:r>
            <a:r>
              <a:rPr lang="en-GB" dirty="0"/>
              <a:t> L, Taba N, Asser T, Taba P. Factors associated with motor complications in Parkinson’s disease. Brain </a:t>
            </a:r>
            <a:r>
              <a:rPr lang="en-GB" dirty="0" err="1"/>
              <a:t>Behav</a:t>
            </a:r>
            <a:r>
              <a:rPr lang="en-GB" dirty="0"/>
              <a:t> 2017; 7 (10): e00837.</a:t>
            </a:r>
          </a:p>
          <a:p>
            <a:pPr marL="228600" indent="-228600">
              <a:buFont typeface="+mj-lt"/>
              <a:buAutoNum type="arabicPeriod"/>
            </a:pPr>
            <a:r>
              <a:rPr lang="en-GB" dirty="0" err="1"/>
              <a:t>Olanow</a:t>
            </a:r>
            <a:r>
              <a:rPr lang="en-GB" dirty="0"/>
              <a:t> CW, </a:t>
            </a:r>
            <a:r>
              <a:rPr lang="en-GB" dirty="0" err="1"/>
              <a:t>Stocchi</a:t>
            </a:r>
            <a:r>
              <a:rPr lang="en-GB" dirty="0"/>
              <a:t> F. Levodopa: a new look at an old friend. Mov </a:t>
            </a:r>
            <a:r>
              <a:rPr lang="en-GB" dirty="0" err="1"/>
              <a:t>Disord</a:t>
            </a:r>
            <a:r>
              <a:rPr lang="en-GB" dirty="0"/>
              <a:t> 2018; 33 (6): 859–866.</a:t>
            </a:r>
          </a:p>
          <a:p>
            <a:pPr marL="228600" indent="-228600">
              <a:buFont typeface="+mj-lt"/>
              <a:buAutoNum type="arabicPeriod"/>
            </a:pPr>
            <a:r>
              <a:rPr lang="en-GB" dirty="0"/>
              <a:t>Beaulieu-Jones BK, Frau F, Bozzi S, et al. Disease progression strikingly differs in research and real-world Parkinson’s populations. NPJ </a:t>
            </a:r>
            <a:r>
              <a:rPr lang="en-GB" dirty="0" err="1"/>
              <a:t>Parkinsons</a:t>
            </a:r>
            <a:r>
              <a:rPr lang="en-GB" dirty="0"/>
              <a:t> Dis 2024; 10 (1): 58. </a:t>
            </a:r>
          </a:p>
        </p:txBody>
      </p:sp>
      <p:sp>
        <p:nvSpPr>
          <p:cNvPr id="4" name="Slide Number Placeholder 3"/>
          <p:cNvSpPr>
            <a:spLocks noGrp="1"/>
          </p:cNvSpPr>
          <p:nvPr>
            <p:ph type="sldNum" sz="quarter" idx="10"/>
          </p:nvPr>
        </p:nvSpPr>
        <p:spPr/>
        <p:txBody>
          <a:bodyPr/>
          <a:lstStyle/>
          <a:p>
            <a:fld id="{037C2873-EBE5-CF42-9E30-7832FC02D1D9}" type="slidenum">
              <a:rPr lang="en-GB" smtClean="0"/>
              <a:t>18</a:t>
            </a:fld>
            <a:endParaRPr lang="en-GB"/>
          </a:p>
        </p:txBody>
      </p:sp>
    </p:spTree>
    <p:extLst>
      <p:ext uri="{BB962C8B-B14F-4D97-AF65-F5344CB8AC3E}">
        <p14:creationId xmlns:p14="http://schemas.microsoft.com/office/powerpoint/2010/main" val="1722284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8816" y="4751984"/>
            <a:ext cx="5440044" cy="3712566"/>
          </a:xfrm>
        </p:spPr>
        <p:txBody>
          <a:bodyPr/>
          <a:lstStyle/>
          <a:p>
            <a:r>
              <a:rPr lang="en-GB" dirty="0"/>
              <a:t>Whilst there are variations, and some people will not experience the symptoms of Parkinson’s disease progressing in the way described on the slide, the Hoehn &amp; Yahr system is commonly used to describe the typical progression of symptoms.</a:t>
            </a:r>
            <a:r>
              <a:rPr lang="en-GB" baseline="30000" dirty="0"/>
              <a:t>1,2</a:t>
            </a:r>
            <a:r>
              <a:rPr lang="en-GB" dirty="0"/>
              <a:t> During early PD, patients may experience one or more motor symptoms.</a:t>
            </a:r>
            <a:r>
              <a:rPr lang="en-GB" baseline="30000" dirty="0"/>
              <a:t>3</a:t>
            </a:r>
            <a:r>
              <a:rPr lang="en-GB" dirty="0"/>
              <a:t> If dopaminergic treatment is initiated at this early stage, patients experience a period during which their symptoms are effectively controlled.</a:t>
            </a:r>
            <a:r>
              <a:rPr lang="en-GB" baseline="30000" dirty="0"/>
              <a:t>3</a:t>
            </a:r>
            <a:endParaRPr lang="en-GB" dirty="0"/>
          </a:p>
          <a:p>
            <a:r>
              <a:rPr lang="en-US" dirty="0"/>
              <a:t>The mid stage of PD is characterized by the appearance of disabling symptoms and a progressive impairment in the ability to carry out activities of daily living.</a:t>
            </a:r>
            <a:r>
              <a:rPr lang="en-US" baseline="30000" dirty="0"/>
              <a:t>3</a:t>
            </a:r>
            <a:r>
              <a:rPr lang="en-US" dirty="0"/>
              <a:t> </a:t>
            </a:r>
            <a:r>
              <a:rPr lang="en-GB" dirty="0"/>
              <a:t>From mid-stage disease onwards, the focus of treatment generally shifts towards achieving an optimal balance between reduction of motor symptoms and minimizing dyskinesia and other complications.</a:t>
            </a:r>
            <a:r>
              <a:rPr lang="en-GB" baseline="30000" dirty="0"/>
              <a:t>4</a:t>
            </a:r>
            <a:r>
              <a:rPr lang="en-GB" dirty="0"/>
              <a:t> Many patients experience a ‘non-troublesome’ amount of dyskinesia at this point, which does not necessarily require treatment, while other elements of motor function are adequately maintained.</a:t>
            </a:r>
            <a:r>
              <a:rPr lang="en-GB" baseline="30000" dirty="0"/>
              <a:t>5</a:t>
            </a:r>
            <a:endParaRPr lang="en-GB" dirty="0"/>
          </a:p>
          <a:p>
            <a:r>
              <a:rPr lang="en-GB" dirty="0"/>
              <a:t>In the advanced stages of PD, the patient experiences continuing symptom progression, worsening of function, and fluctuations in the response to therapy.</a:t>
            </a:r>
            <a:r>
              <a:rPr lang="en-GB" baseline="30000" dirty="0"/>
              <a:t>3</a:t>
            </a:r>
            <a:r>
              <a:rPr lang="en-GB" dirty="0"/>
              <a:t> Patients require a high level of care and assistance with most daily activities, particularly those involving mobility and coordination.</a:t>
            </a:r>
            <a:r>
              <a:rPr lang="en-GB" baseline="30000" dirty="0"/>
              <a:t>3</a:t>
            </a:r>
            <a:r>
              <a:rPr lang="en-GB" dirty="0"/>
              <a:t> They may also start to experience impaired cognitive function, which is often associated with delusions and hallucinations.</a:t>
            </a:r>
            <a:r>
              <a:rPr lang="en-GB" baseline="30000" dirty="0"/>
              <a:t>3 </a:t>
            </a:r>
            <a:r>
              <a:rPr lang="en-GB" dirty="0"/>
              <a:t>Postural instability worsens, leading to a greater risk of falls and associated fractures.</a:t>
            </a:r>
            <a:r>
              <a:rPr lang="en-GB" baseline="30000" dirty="0"/>
              <a:t>6</a:t>
            </a:r>
            <a:r>
              <a:rPr lang="en-GB" dirty="0"/>
              <a:t> As symptoms proliferate and become more severe, the drugs required to manage them become increasingly complex.</a:t>
            </a:r>
            <a:r>
              <a:rPr lang="en-GB" baseline="30000" dirty="0"/>
              <a:t>7</a:t>
            </a:r>
            <a:r>
              <a:rPr lang="en-GB" dirty="0"/>
              <a:t> Optimal control of symptoms can be difficult without inducing severe complications, and eventually many patients fail to respond to therapy, or become unable to tolerate their medication.</a:t>
            </a:r>
            <a:r>
              <a:rPr lang="en-GB" baseline="30000" dirty="0"/>
              <a:t>6</a:t>
            </a:r>
            <a:r>
              <a:rPr lang="en-GB" dirty="0"/>
              <a:t> Consequently, patients experience periods of time with uncontrolled motor symptoms, such as gait disorders, dysphagia (difficulty swallowing), and dysarthria (difficulty speaking).</a:t>
            </a:r>
            <a:r>
              <a:rPr lang="en-GB" baseline="30000" dirty="0"/>
              <a:t>6</a:t>
            </a:r>
            <a:endParaRPr lang="en-GB" dirty="0"/>
          </a:p>
          <a:p>
            <a:endParaRPr lang="en-US" dirty="0"/>
          </a:p>
          <a:p>
            <a:r>
              <a:rPr lang="en-GB" dirty="0"/>
              <a:t>References:</a:t>
            </a:r>
          </a:p>
          <a:p>
            <a:pPr marL="228600" indent="-228600">
              <a:buFont typeface="+mj-lt"/>
              <a:buAutoNum type="arabicPeriod"/>
            </a:pPr>
            <a:r>
              <a:rPr lang="en-GB" dirty="0"/>
              <a:t>Goetz CG, </a:t>
            </a:r>
            <a:r>
              <a:rPr lang="en-GB" dirty="0" err="1"/>
              <a:t>Poewe</a:t>
            </a:r>
            <a:r>
              <a:rPr lang="en-GB" dirty="0"/>
              <a:t> W, </a:t>
            </a:r>
            <a:r>
              <a:rPr lang="en-GB" dirty="0" err="1"/>
              <a:t>Rascol</a:t>
            </a:r>
            <a:r>
              <a:rPr lang="en-GB" dirty="0"/>
              <a:t> O, et al. Movement Disorder Society Task Force report on the Hoehn and Yahr staging scale: status and recommendations. Mov </a:t>
            </a:r>
            <a:r>
              <a:rPr lang="en-GB" dirty="0" err="1"/>
              <a:t>Disord</a:t>
            </a:r>
            <a:r>
              <a:rPr lang="en-GB" dirty="0"/>
              <a:t> 2004; 19 (9): 1020–1028.</a:t>
            </a:r>
          </a:p>
          <a:p>
            <a:pPr marL="228600" indent="-228600">
              <a:buFont typeface="+mj-lt"/>
              <a:buAutoNum type="arabicPeriod"/>
            </a:pPr>
            <a:r>
              <a:rPr lang="en-GB" dirty="0"/>
              <a:t>Hoehn MM, Yahr MD. Parkinsonism: onset, progression, and mortality. Neurology 1967; 17 (5): 427–442.</a:t>
            </a:r>
          </a:p>
          <a:p>
            <a:pPr marL="228600" indent="-228600">
              <a:buFont typeface="+mj-lt"/>
              <a:buAutoNum type="arabicPeriod"/>
            </a:pPr>
            <a:r>
              <a:rPr lang="en-GB" dirty="0"/>
              <a:t>Parkinson’s Disease Foundation website. https://www.parkinson.org/understanding-parkinsons/what-is-parkinsons/stages. Accessed January 2025.</a:t>
            </a:r>
          </a:p>
          <a:p>
            <a:pPr marL="228600" indent="-228600">
              <a:buFont typeface="+mj-lt"/>
              <a:buAutoNum type="arabicPeriod"/>
            </a:pPr>
            <a:r>
              <a:rPr lang="en-GB" dirty="0"/>
              <a:t>Reichman H, Barone P, </a:t>
            </a:r>
            <a:r>
              <a:rPr lang="en-GB" dirty="0" err="1"/>
              <a:t>Poewe</a:t>
            </a:r>
            <a:r>
              <a:rPr lang="en-GB" dirty="0"/>
              <a:t> W. Progression of Parkinson’s disease and unmet needs in mid- to late-stage patients. </a:t>
            </a:r>
            <a:r>
              <a:rPr lang="en-GB" dirty="0" err="1"/>
              <a:t>Eur</a:t>
            </a:r>
            <a:r>
              <a:rPr lang="en-GB" dirty="0"/>
              <a:t> </a:t>
            </a:r>
            <a:r>
              <a:rPr lang="en-GB" dirty="0" err="1"/>
              <a:t>Neurol</a:t>
            </a:r>
            <a:r>
              <a:rPr lang="en-GB" dirty="0"/>
              <a:t> Rev 2015; 10 (2): 182–188.</a:t>
            </a:r>
          </a:p>
          <a:p>
            <a:pPr marL="228600" indent="-228600">
              <a:buFont typeface="+mj-lt"/>
              <a:buAutoNum type="arabicPeriod"/>
            </a:pPr>
            <a:r>
              <a:rPr lang="en-GB" dirty="0"/>
              <a:t>Jenner P. Treatment of the later stages of Parkinson’s disease – pharmacological approaches now and in the future. </a:t>
            </a:r>
            <a:r>
              <a:rPr lang="en-GB" dirty="0" err="1"/>
              <a:t>Transl</a:t>
            </a:r>
            <a:r>
              <a:rPr lang="en-GB" dirty="0"/>
              <a:t> </a:t>
            </a:r>
            <a:r>
              <a:rPr lang="en-GB" dirty="0" err="1"/>
              <a:t>Neurodegener</a:t>
            </a:r>
            <a:r>
              <a:rPr lang="en-GB" dirty="0"/>
              <a:t> 2015; 4: 3.</a:t>
            </a:r>
          </a:p>
          <a:p>
            <a:pPr marL="228600" indent="-228600">
              <a:buFont typeface="+mj-lt"/>
              <a:buAutoNum type="arabicPeriod"/>
            </a:pPr>
            <a:r>
              <a:rPr lang="en-GB" dirty="0" err="1"/>
              <a:t>Kulisevsky</a:t>
            </a:r>
            <a:r>
              <a:rPr lang="en-GB" dirty="0"/>
              <a:t> J, </a:t>
            </a:r>
            <a:r>
              <a:rPr lang="en-GB" dirty="0" err="1"/>
              <a:t>Luquin</a:t>
            </a:r>
            <a:r>
              <a:rPr lang="en-GB" dirty="0"/>
              <a:t> MR, </a:t>
            </a:r>
            <a:r>
              <a:rPr lang="en-GB" dirty="0" err="1"/>
              <a:t>Arbelo</a:t>
            </a:r>
            <a:r>
              <a:rPr lang="en-GB" dirty="0"/>
              <a:t> JM, et al. Advanced Parkinson’s disease: clinical characteristics and treatment (part I). </a:t>
            </a:r>
            <a:r>
              <a:rPr lang="en-GB" dirty="0" err="1"/>
              <a:t>Neurologia</a:t>
            </a:r>
            <a:r>
              <a:rPr lang="en-GB" dirty="0"/>
              <a:t> 2013; 28 (8): 503–521. </a:t>
            </a:r>
          </a:p>
          <a:p>
            <a:pPr marL="228600" indent="-228600">
              <a:buFont typeface="+mj-lt"/>
              <a:buAutoNum type="arabicPeriod"/>
            </a:pPr>
            <a:r>
              <a:rPr lang="en-GB" dirty="0" err="1"/>
              <a:t>Kulisevsky</a:t>
            </a:r>
            <a:r>
              <a:rPr lang="en-GB" dirty="0"/>
              <a:t> J, </a:t>
            </a:r>
            <a:r>
              <a:rPr lang="en-GB" dirty="0" err="1"/>
              <a:t>Luquin</a:t>
            </a:r>
            <a:r>
              <a:rPr lang="en-GB" dirty="0"/>
              <a:t> MR, </a:t>
            </a:r>
            <a:r>
              <a:rPr lang="en-GB" dirty="0" err="1"/>
              <a:t>Arbelo</a:t>
            </a:r>
            <a:r>
              <a:rPr lang="en-GB" dirty="0"/>
              <a:t> JM, et al. Advanced Parkinson’s disease: clinical characteristics and treatment (part II). </a:t>
            </a:r>
            <a:r>
              <a:rPr lang="en-GB" dirty="0" err="1"/>
              <a:t>Neurologia</a:t>
            </a:r>
            <a:r>
              <a:rPr lang="en-GB" dirty="0"/>
              <a:t> 2013; 28 (9): 558–583.</a:t>
            </a:r>
          </a:p>
        </p:txBody>
      </p:sp>
      <p:sp>
        <p:nvSpPr>
          <p:cNvPr id="4" name="Slide Number Placeholder 3"/>
          <p:cNvSpPr>
            <a:spLocks noGrp="1"/>
          </p:cNvSpPr>
          <p:nvPr>
            <p:ph type="sldNum" sz="quarter" idx="5"/>
          </p:nvPr>
        </p:nvSpPr>
        <p:spPr/>
        <p:txBody>
          <a:bodyPr/>
          <a:lstStyle/>
          <a:p>
            <a:fld id="{037C2873-EBE5-CF42-9E30-7832FC02D1D9}" type="slidenum">
              <a:rPr lang="en-GB" smtClean="0"/>
              <a:t>19</a:t>
            </a:fld>
            <a:endParaRPr lang="en-GB"/>
          </a:p>
        </p:txBody>
      </p:sp>
    </p:spTree>
    <p:extLst>
      <p:ext uri="{BB962C8B-B14F-4D97-AF65-F5344CB8AC3E}">
        <p14:creationId xmlns:p14="http://schemas.microsoft.com/office/powerpoint/2010/main" val="24109004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2024 The Lancet published two competing research-focused biological frameworks that were proposed to move the diagnosis of Parkinson’s disease beyond the presence of a combination of cardinal motor signs and symptoms.</a:t>
            </a:r>
            <a:r>
              <a:rPr lang="en-GB" baseline="30000" dirty="0"/>
              <a:t>3</a:t>
            </a:r>
            <a:r>
              <a:rPr lang="en-GB" dirty="0"/>
              <a:t> One of these was the </a:t>
            </a:r>
            <a:r>
              <a:rPr lang="en-GB" dirty="0" err="1"/>
              <a:t>SynNeurGe</a:t>
            </a:r>
            <a:r>
              <a:rPr lang="en-GB" dirty="0"/>
              <a:t> system, and another was the NSD-ISS system, as summarised on the slide.</a:t>
            </a:r>
            <a:r>
              <a:rPr lang="en-GB" baseline="30000" dirty="0"/>
              <a:t>1,2</a:t>
            </a:r>
          </a:p>
          <a:p>
            <a:endParaRPr lang="en-GB" dirty="0"/>
          </a:p>
          <a:p>
            <a:r>
              <a:rPr lang="en-GB" dirty="0"/>
              <a:t>References:</a:t>
            </a:r>
          </a:p>
          <a:p>
            <a:pPr marL="228600" indent="-228600">
              <a:buFont typeface="+mj-lt"/>
              <a:buAutoNum type="arabicPeriod"/>
            </a:pPr>
            <a:r>
              <a:rPr lang="en-GB" dirty="0" err="1"/>
              <a:t>Höglinger</a:t>
            </a:r>
            <a:r>
              <a:rPr lang="en-GB" dirty="0"/>
              <a:t> GU, Adler CH, Berg D, et al. A biological classification of Parkinson’s disease: the </a:t>
            </a:r>
            <a:r>
              <a:rPr lang="en-GB" dirty="0" err="1"/>
              <a:t>SynNeurGe</a:t>
            </a:r>
            <a:r>
              <a:rPr lang="en-GB" dirty="0"/>
              <a:t> research diagnostic criteria. Lancet </a:t>
            </a:r>
            <a:r>
              <a:rPr lang="en-GB" dirty="0" err="1"/>
              <a:t>Neurol</a:t>
            </a:r>
            <a:r>
              <a:rPr lang="en-GB" dirty="0"/>
              <a:t> 2024; 23 (2): 191–204.</a:t>
            </a:r>
          </a:p>
          <a:p>
            <a:pPr marL="228600" indent="-228600">
              <a:buFont typeface="+mj-lt"/>
              <a:buAutoNum type="arabicPeriod"/>
            </a:pPr>
            <a:r>
              <a:rPr lang="en-GB" dirty="0"/>
              <a:t>Simuni T, Chahine LM, Poston K, et al. A biological definition of neuronal </a:t>
            </a:r>
            <a:r>
              <a:rPr lang="el-GR" dirty="0"/>
              <a:t>α-</a:t>
            </a:r>
            <a:r>
              <a:rPr lang="en-GB" dirty="0"/>
              <a:t>synuclein disease: towards an integrated staging system for research. Lancet </a:t>
            </a:r>
            <a:r>
              <a:rPr lang="en-GB" dirty="0" err="1"/>
              <a:t>Neurol</a:t>
            </a:r>
            <a:r>
              <a:rPr lang="en-GB" dirty="0"/>
              <a:t> 2024; 23 (2): 178–190.</a:t>
            </a:r>
          </a:p>
          <a:p>
            <a:pPr marL="228600" indent="-228600">
              <a:buFont typeface="+mj-lt"/>
              <a:buAutoNum type="arabicPeriod"/>
            </a:pPr>
            <a:r>
              <a:rPr lang="en-GB" dirty="0" err="1"/>
              <a:t>Darweesh</a:t>
            </a:r>
            <a:r>
              <a:rPr lang="en-GB" dirty="0"/>
              <a:t> SKL, Sampaio C, Bloem BR. Has the time come to redefine Parkinson's disease? Lancet </a:t>
            </a:r>
            <a:r>
              <a:rPr lang="en-GB" dirty="0" err="1"/>
              <a:t>Neurol</a:t>
            </a:r>
            <a:r>
              <a:rPr lang="en-GB" dirty="0"/>
              <a:t> 2024; 23 (2): 130–133.</a:t>
            </a:r>
          </a:p>
          <a:p>
            <a:pPr marL="228600" indent="-228600">
              <a:buFont typeface="+mj-lt"/>
              <a:buAutoNum type="arabicPeriod"/>
            </a:pPr>
            <a:endParaRPr lang="en-GB" dirty="0"/>
          </a:p>
        </p:txBody>
      </p:sp>
      <p:sp>
        <p:nvSpPr>
          <p:cNvPr id="4" name="Slide Number Placeholder 3"/>
          <p:cNvSpPr>
            <a:spLocks noGrp="1"/>
          </p:cNvSpPr>
          <p:nvPr>
            <p:ph type="sldNum" sz="quarter" idx="5"/>
          </p:nvPr>
        </p:nvSpPr>
        <p:spPr/>
        <p:txBody>
          <a:bodyPr/>
          <a:lstStyle/>
          <a:p>
            <a:fld id="{037C2873-EBE5-CF42-9E30-7832FC02D1D9}" type="slidenum">
              <a:rPr lang="en-GB" smtClean="0"/>
              <a:t>20</a:t>
            </a:fld>
            <a:endParaRPr lang="en-GB"/>
          </a:p>
        </p:txBody>
      </p:sp>
    </p:spTree>
    <p:extLst>
      <p:ext uri="{BB962C8B-B14F-4D97-AF65-F5344CB8AC3E}">
        <p14:creationId xmlns:p14="http://schemas.microsoft.com/office/powerpoint/2010/main" val="17433121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37C2873-EBE5-CF42-9E30-7832FC02D1D9}" type="slidenum">
              <a:rPr lang="en-GB" smtClean="0"/>
              <a:t>21</a:t>
            </a:fld>
            <a:endParaRPr lang="en-GB"/>
          </a:p>
        </p:txBody>
      </p:sp>
    </p:spTree>
    <p:extLst>
      <p:ext uri="{BB962C8B-B14F-4D97-AF65-F5344CB8AC3E}">
        <p14:creationId xmlns:p14="http://schemas.microsoft.com/office/powerpoint/2010/main" val="34964563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cohort study is simply an observational study whereby a defined set of individuals are followed over a period of time.</a:t>
            </a:r>
            <a:r>
              <a:rPr lang="en-GB" baseline="30000" dirty="0"/>
              <a:t>11</a:t>
            </a:r>
            <a:r>
              <a:rPr lang="en-GB" dirty="0"/>
              <a:t> A review, published in 2017, identified 44 cohort studies in Parkinson’s Disease, some of which are described on the slide.</a:t>
            </a:r>
            <a:r>
              <a:rPr lang="en-GB" baseline="30000" dirty="0"/>
              <a:t>5</a:t>
            </a:r>
            <a:r>
              <a:rPr lang="en-GB" dirty="0">
                <a:cs typeface="Arial" panose="020B0604020202020204" pitchFamily="34" charset="0"/>
              </a:rPr>
              <a:t> </a:t>
            </a:r>
            <a:r>
              <a:rPr lang="en-GB" sz="1000" dirty="0">
                <a:effectLst/>
                <a:ea typeface="Begum Sans Medium"/>
                <a:cs typeface="Times New Roman" panose="02020603050405020304" pitchFamily="18" charset="0"/>
              </a:rPr>
              <a:t>However, research populations such as those summarized here are not a perfect representation of real-world findings, meaning that </a:t>
            </a:r>
            <a:r>
              <a:rPr lang="en-GB" dirty="0"/>
              <a:t>the disease progression experienced by people with Parkinson’s disease in the real world can vary from the typical clinical picture presented above quite appreciably.</a:t>
            </a:r>
            <a:r>
              <a:rPr lang="en-GB" baseline="30000" dirty="0"/>
              <a:t>12</a:t>
            </a:r>
            <a:endParaRPr lang="en-GB" dirty="0">
              <a:cs typeface="Arial" panose="020B0604020202020204" pitchFamily="34" charset="0"/>
            </a:endParaRPr>
          </a:p>
          <a:p>
            <a:endParaRPr lang="en-GB" dirty="0">
              <a:cs typeface="Arial" panose="020B0604020202020204" pitchFamily="34" charset="0"/>
            </a:endParaRPr>
          </a:p>
          <a:p>
            <a:r>
              <a:rPr lang="en-GB" dirty="0">
                <a:cs typeface="Arial" panose="020B0604020202020204" pitchFamily="34" charset="0"/>
              </a:rPr>
              <a:t>References:</a:t>
            </a:r>
          </a:p>
          <a:p>
            <a:pPr marL="228600" indent="-228600">
              <a:buFont typeface="+mj-lt"/>
              <a:buAutoNum type="arabicPeriod"/>
            </a:pPr>
            <a:r>
              <a:rPr lang="en-GB" dirty="0"/>
              <a:t>Neurodegeneration research website. http://www.neurodegenerationresearch.eu/cohort/the-mayo-clinic-study-of-aging/. Accessed January 2025.</a:t>
            </a:r>
          </a:p>
          <a:p>
            <a:pPr marL="228600" lvl="0" indent="-228600">
              <a:buFont typeface="+mj-lt"/>
              <a:buAutoNum type="arabicPeriod"/>
              <a:defRPr/>
            </a:pPr>
            <a:r>
              <a:rPr lang="en-GB" dirty="0"/>
              <a:t>Roberts RO, </a:t>
            </a:r>
            <a:r>
              <a:rPr lang="en-GB" dirty="0" err="1"/>
              <a:t>Geda</a:t>
            </a:r>
            <a:r>
              <a:rPr lang="en-GB" dirty="0"/>
              <a:t> YE, </a:t>
            </a:r>
            <a:r>
              <a:rPr lang="en-GB" dirty="0" err="1"/>
              <a:t>Knopman</a:t>
            </a:r>
            <a:r>
              <a:rPr lang="en-GB" dirty="0"/>
              <a:t> DS, et al. The Mayo Clinic study of aging: design and sampling, participation, baseline measures and sample characteristics. Neuroepidemiology 2008; 30 (1): 58–69.</a:t>
            </a:r>
          </a:p>
          <a:p>
            <a:pPr marL="228600" indent="-228600">
              <a:buFont typeface="+mj-lt"/>
              <a:buAutoNum type="arabicPeriod"/>
            </a:pPr>
            <a:r>
              <a:rPr lang="en-GB" dirty="0"/>
              <a:t>Malek N, Swallow DMA, </a:t>
            </a:r>
            <a:r>
              <a:rPr lang="en-GB" dirty="0" err="1"/>
              <a:t>Grosset</a:t>
            </a:r>
            <a:r>
              <a:rPr lang="en-GB" dirty="0"/>
              <a:t> KA, et al. Tracking Parkinson’s: study design and baseline patient data. J </a:t>
            </a:r>
            <a:r>
              <a:rPr lang="en-GB" dirty="0" err="1"/>
              <a:t>Parkinsons</a:t>
            </a:r>
            <a:r>
              <a:rPr lang="en-GB" dirty="0"/>
              <a:t> Dis 2015; 5 (4): 947–959.</a:t>
            </a:r>
          </a:p>
          <a:p>
            <a:pPr marL="228600" indent="-228600">
              <a:buFont typeface="+mj-lt"/>
              <a:buAutoNum type="arabicPeriod"/>
            </a:pPr>
            <a:r>
              <a:rPr lang="en-GB" dirty="0"/>
              <a:t>OPDC website. https://www.dpag.ox.ac.uk/opdc/research/theme-1-clinical-cohorts. Accessed January 2025.</a:t>
            </a:r>
          </a:p>
          <a:p>
            <a:pPr marL="228600" indent="-228600">
              <a:buFont typeface="+mj-lt"/>
              <a:buAutoNum type="arabicPeriod"/>
            </a:pPr>
            <a:r>
              <a:rPr lang="en-GB" dirty="0" err="1"/>
              <a:t>Heinzel</a:t>
            </a:r>
            <a:r>
              <a:rPr lang="en-GB" dirty="0"/>
              <a:t> S, </a:t>
            </a:r>
            <a:r>
              <a:rPr lang="en-GB" dirty="0" err="1"/>
              <a:t>Lerche</a:t>
            </a:r>
            <a:r>
              <a:rPr lang="en-GB" dirty="0"/>
              <a:t> S, </a:t>
            </a:r>
            <a:r>
              <a:rPr lang="en-GB" dirty="0" err="1"/>
              <a:t>Maetzler</a:t>
            </a:r>
            <a:r>
              <a:rPr lang="en-GB" dirty="0"/>
              <a:t> W, Berg D. Global, yet incomplete overview of cohort studies in Parkinson’s disease. J </a:t>
            </a:r>
            <a:r>
              <a:rPr lang="en-GB" dirty="0" err="1"/>
              <a:t>Parkinsons</a:t>
            </a:r>
            <a:r>
              <a:rPr lang="en-GB" dirty="0"/>
              <a:t> Dis 2017; 7 (3): 423–432.</a:t>
            </a:r>
          </a:p>
          <a:p>
            <a:pPr marL="228600" indent="-228600">
              <a:buFont typeface="+mj-lt"/>
              <a:buAutoNum type="arabicPeriod"/>
            </a:pPr>
            <a:r>
              <a:rPr lang="en-GB" dirty="0"/>
              <a:t>Szewczyk-Krolikowski K, Tomlinson P, Nithi K, et al. The influence of age and gender on motor and non-motor features of early Parkinson’s disease: initial findings from the Oxford Parkinson Disease </a:t>
            </a:r>
            <a:r>
              <a:rPr lang="en-GB" dirty="0" err="1"/>
              <a:t>Center</a:t>
            </a:r>
            <a:r>
              <a:rPr lang="en-GB" dirty="0"/>
              <a:t> (OPDC) discovery cohort. Parkinsonism </a:t>
            </a:r>
            <a:r>
              <a:rPr lang="en-GB" dirty="0" err="1"/>
              <a:t>Relat</a:t>
            </a:r>
            <a:r>
              <a:rPr lang="en-GB" dirty="0"/>
              <a:t> </a:t>
            </a:r>
            <a:r>
              <a:rPr lang="en-GB" dirty="0" err="1"/>
              <a:t>Disord</a:t>
            </a:r>
            <a:r>
              <a:rPr lang="en-GB" dirty="0"/>
              <a:t> 2014; 20 (1): 99–105.</a:t>
            </a:r>
          </a:p>
          <a:p>
            <a:pPr marL="228600" indent="-228600">
              <a:buFont typeface="+mj-lt"/>
              <a:buAutoNum type="arabicPeriod"/>
            </a:pPr>
            <a:r>
              <a:rPr lang="en-GB" dirty="0"/>
              <a:t>PPMI website. PPMI-info.org. Accessed January 2025.</a:t>
            </a:r>
          </a:p>
          <a:p>
            <a:pPr marL="228600" indent="-228600">
              <a:buFont typeface="+mj-lt"/>
              <a:buAutoNum type="arabicPeriod"/>
            </a:pPr>
            <a:r>
              <a:rPr lang="en-GB" dirty="0"/>
              <a:t>Hipp G, Vaillant M, Diederich et al. The Luxembourg Parkinson’s study: a comprehensive approach for stratification and early diagnosis. Front Aging </a:t>
            </a:r>
            <a:r>
              <a:rPr lang="en-GB" dirty="0" err="1"/>
              <a:t>Neurosci</a:t>
            </a:r>
            <a:r>
              <a:rPr lang="en-GB" dirty="0"/>
              <a:t> 2018; 10: 326.</a:t>
            </a:r>
          </a:p>
          <a:p>
            <a:pPr marL="228600" indent="-228600">
              <a:buFont typeface="+mj-lt"/>
              <a:buAutoNum type="arabicPeriod"/>
            </a:pPr>
            <a:r>
              <a:rPr lang="en-GB" dirty="0"/>
              <a:t>Northshore website. https://www.northshore.org/neurological-institute/research-innovation/the-dodona-project/. Accessed January 2025.</a:t>
            </a:r>
          </a:p>
          <a:p>
            <a:pPr marL="228600" indent="-228600">
              <a:buFont typeface="+mj-lt"/>
              <a:buAutoNum type="arabicPeriod"/>
            </a:pPr>
            <a:r>
              <a:rPr lang="en-GB" dirty="0"/>
              <a:t>Bloem BR, Marks WJ Jr, Silva de Lima AL, et al. The Personalized Parkinson Project: examining disease progression through broad biomarkers in early Parkinson’s disease. BMC </a:t>
            </a:r>
            <a:r>
              <a:rPr lang="en-GB" dirty="0" err="1"/>
              <a:t>Neurol</a:t>
            </a:r>
            <a:r>
              <a:rPr lang="en-GB" dirty="0"/>
              <a:t> 2019; 19 (1): 160.</a:t>
            </a:r>
          </a:p>
          <a:p>
            <a:pPr marL="228600" indent="-228600">
              <a:buFont typeface="+mj-lt"/>
              <a:buAutoNum type="arabicPeriod"/>
            </a:pPr>
            <a:r>
              <a:rPr lang="en-GB" dirty="0"/>
              <a:t>Song JW, Chung KC. Observational studies: cohort and case-control studies. Plast </a:t>
            </a:r>
            <a:r>
              <a:rPr lang="en-GB" dirty="0" err="1"/>
              <a:t>Reconstr</a:t>
            </a:r>
            <a:r>
              <a:rPr lang="en-GB" dirty="0"/>
              <a:t> </a:t>
            </a:r>
            <a:r>
              <a:rPr lang="en-GB" dirty="0" err="1"/>
              <a:t>Surg</a:t>
            </a:r>
            <a:r>
              <a:rPr lang="en-GB" dirty="0"/>
              <a:t> 2010; 126 (6): 2234–2242.</a:t>
            </a:r>
          </a:p>
          <a:p>
            <a:pPr marL="228600" indent="-228600">
              <a:buFont typeface="+mj-lt"/>
              <a:buAutoNum type="arabicPeriod"/>
            </a:pPr>
            <a:r>
              <a:rPr lang="en-GB" dirty="0"/>
              <a:t>Beaulieu-Jones BK, Frau F, Bozzi S, et al. Disease progression strikingly differs in research and real-world Parkinson’s populations. NPJ </a:t>
            </a:r>
            <a:r>
              <a:rPr lang="en-GB" dirty="0" err="1"/>
              <a:t>Parkinsons</a:t>
            </a:r>
            <a:r>
              <a:rPr lang="en-GB" dirty="0"/>
              <a:t> Dis 2024; 10 (1): 58. </a:t>
            </a:r>
          </a:p>
        </p:txBody>
      </p:sp>
      <p:sp>
        <p:nvSpPr>
          <p:cNvPr id="4" name="Slide Number Placeholder 3"/>
          <p:cNvSpPr>
            <a:spLocks noGrp="1"/>
          </p:cNvSpPr>
          <p:nvPr>
            <p:ph type="sldNum" sz="quarter" idx="10"/>
          </p:nvPr>
        </p:nvSpPr>
        <p:spPr/>
        <p:txBody>
          <a:bodyPr/>
          <a:lstStyle/>
          <a:p>
            <a:fld id="{037C2873-EBE5-CF42-9E30-7832FC02D1D9}" type="slidenum">
              <a:rPr lang="en-GB" smtClean="0"/>
              <a:t>22</a:t>
            </a:fld>
            <a:endParaRPr lang="en-GB"/>
          </a:p>
        </p:txBody>
      </p:sp>
    </p:spTree>
    <p:extLst>
      <p:ext uri="{BB962C8B-B14F-4D97-AF65-F5344CB8AC3E}">
        <p14:creationId xmlns:p14="http://schemas.microsoft.com/office/powerpoint/2010/main" val="26600759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3"/>
            <a:ext cx="5438140" cy="4107370"/>
          </a:xfrm>
        </p:spPr>
        <p:txBody>
          <a:bodyPr/>
          <a:lstStyle/>
          <a:p>
            <a:r>
              <a:rPr lang="en-GB" dirty="0"/>
              <a:t>The Parkinson Progression Marker Initiative (PPMI) is a comprehensive, observational, international study designed to identify PD progression biomarkers.</a:t>
            </a:r>
            <a:r>
              <a:rPr lang="en-GB" baseline="30000" dirty="0"/>
              <a:t>2,4</a:t>
            </a:r>
            <a:r>
              <a:rPr lang="en-GB" dirty="0"/>
              <a:t> The aim of the study is to improve the understanding of the causes of PD, and to provide tools to enhance future clinical trials of potential therapies.</a:t>
            </a:r>
            <a:r>
              <a:rPr lang="en-GB" baseline="30000" dirty="0"/>
              <a:t>2,4</a:t>
            </a:r>
            <a:endParaRPr lang="en-GB" dirty="0"/>
          </a:p>
          <a:p>
            <a:endParaRPr lang="en-GB" dirty="0"/>
          </a:p>
          <a:p>
            <a:r>
              <a:rPr lang="en-GB" dirty="0"/>
              <a:t>References:</a:t>
            </a:r>
          </a:p>
          <a:p>
            <a:pPr marL="228600" indent="-228600">
              <a:buFont typeface="+mj-lt"/>
              <a:buAutoNum type="arabicPeriod"/>
            </a:pPr>
            <a:r>
              <a:rPr lang="en-GB" dirty="0"/>
              <a:t>The Parkinson’s Progression Markers Initiative (PPMI). Study Protocol. October 2015.</a:t>
            </a:r>
          </a:p>
          <a:p>
            <a:pPr marL="228600" indent="-228600">
              <a:buFont typeface="+mj-lt"/>
              <a:buAutoNum type="arabicPeriod"/>
            </a:pPr>
            <a:r>
              <a:rPr lang="en-GB" dirty="0"/>
              <a:t>PPMI website. PPMI-info.org. Accessed January 2025.</a:t>
            </a:r>
          </a:p>
          <a:p>
            <a:pPr marL="228600" indent="-228600">
              <a:buFont typeface="+mj-lt"/>
              <a:buAutoNum type="arabicPeriod"/>
            </a:pPr>
            <a:r>
              <a:rPr lang="en-GB" dirty="0"/>
              <a:t>Marek K, Chowdhury S, </a:t>
            </a:r>
            <a:r>
              <a:rPr lang="en-GB" dirty="0" err="1"/>
              <a:t>Siderowf</a:t>
            </a:r>
            <a:r>
              <a:rPr lang="en-GB" dirty="0"/>
              <a:t> A, et al.; Parkinson’s progression markers initiative. The Parkinson’s progression markers initiative (PPMI) – establishing a PD biomarker cohort. Ann Clin </a:t>
            </a:r>
            <a:r>
              <a:rPr lang="en-GB" dirty="0" err="1"/>
              <a:t>Transl</a:t>
            </a:r>
            <a:r>
              <a:rPr lang="en-GB" dirty="0"/>
              <a:t> </a:t>
            </a:r>
            <a:r>
              <a:rPr lang="en-GB" dirty="0" err="1"/>
              <a:t>Neurol</a:t>
            </a:r>
            <a:r>
              <a:rPr lang="en-GB" dirty="0"/>
              <a:t> 2018; 5 (12): 1460–1477.</a:t>
            </a:r>
          </a:p>
          <a:p>
            <a:pPr marL="228600" indent="-228600">
              <a:buFont typeface="+mj-lt"/>
              <a:buAutoNum type="arabicPeriod"/>
            </a:pPr>
            <a:r>
              <a:rPr lang="en-GB" dirty="0"/>
              <a:t>Parkinson Progression Marker Initiative. The Parkinson Progression Marker Initiative (PPMI). Prog </a:t>
            </a:r>
            <a:r>
              <a:rPr lang="en-GB" dirty="0" err="1"/>
              <a:t>Neurobiol</a:t>
            </a:r>
            <a:r>
              <a:rPr lang="en-GB" dirty="0"/>
              <a:t> 2011; 95 (4): 629–635.</a:t>
            </a:r>
          </a:p>
          <a:p>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t>23</a:t>
            </a:fld>
            <a:endParaRPr lang="en-GB"/>
          </a:p>
        </p:txBody>
      </p:sp>
    </p:spTree>
    <p:extLst>
      <p:ext uri="{BB962C8B-B14F-4D97-AF65-F5344CB8AC3E}">
        <p14:creationId xmlns:p14="http://schemas.microsoft.com/office/powerpoint/2010/main" val="41448990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8816" y="4751984"/>
            <a:ext cx="5440044" cy="4252316"/>
          </a:xfrm>
        </p:spPr>
        <p:txBody>
          <a:bodyPr/>
          <a:lstStyle/>
          <a:p>
            <a:r>
              <a:rPr lang="en-GB" dirty="0"/>
              <a:t>As a result of the Parkinson Progression Marker Initiative (PPMI), several promising biomarkers have been identified.</a:t>
            </a:r>
          </a:p>
          <a:p>
            <a:r>
              <a:rPr lang="en-GB" dirty="0"/>
              <a:t>A comparison of cerebrospinal fluid (CSF) was carried out between, (a) patients with PD suffering from mild cognitive impairment at the time of enrolment, (b) patients with PD who were cognitively intact, and (c) healthy control participants who were cognitively intact.</a:t>
            </a:r>
            <a:r>
              <a:rPr lang="en-GB" baseline="30000" dirty="0"/>
              <a:t>1</a:t>
            </a:r>
            <a:r>
              <a:rPr lang="en-GB" dirty="0"/>
              <a:t> A lower level of α-synuclein in CSF was associated with poorer overall cognition, particularly in relation to executive–attentional domains.</a:t>
            </a:r>
            <a:r>
              <a:rPr lang="en-GB" baseline="30000" dirty="0"/>
              <a:t>1</a:t>
            </a:r>
            <a:r>
              <a:rPr lang="en-GB" dirty="0"/>
              <a:t> This suggests that α-synuclein might play a role in the development of cognitive impairment in PD.</a:t>
            </a:r>
            <a:r>
              <a:rPr lang="en-GB" baseline="30000" dirty="0"/>
              <a:t>1</a:t>
            </a:r>
            <a:r>
              <a:rPr lang="en-GB" dirty="0"/>
              <a:t> Kang and colleagues evaluated CSF biomarkers specifically in </a:t>
            </a:r>
            <a:r>
              <a:rPr lang="en-GB" i="1" dirty="0"/>
              <a:t>de novo</a:t>
            </a:r>
            <a:r>
              <a:rPr lang="en-GB" dirty="0"/>
              <a:t> participants with PD – i.e., those who had not yet received any medication for their disorder.</a:t>
            </a:r>
            <a:r>
              <a:rPr lang="en-GB" baseline="30000" dirty="0"/>
              <a:t>2</a:t>
            </a:r>
            <a:r>
              <a:rPr lang="en-GB" dirty="0"/>
              <a:t> They found several biomarkers associated with PD (amyloid-β, total-tau, phosphorylated tau</a:t>
            </a:r>
            <a:r>
              <a:rPr lang="en-GB" baseline="-25000" dirty="0"/>
              <a:t>181</a:t>
            </a:r>
            <a:r>
              <a:rPr lang="en-GB" dirty="0"/>
              <a:t>, and α-synuclein).</a:t>
            </a:r>
            <a:r>
              <a:rPr lang="en-GB" baseline="30000" dirty="0"/>
              <a:t>2</a:t>
            </a:r>
            <a:r>
              <a:rPr lang="en-GB" dirty="0"/>
              <a:t> The authors proposed that these biomarkers could potentially be used to facilitate a diagnosis of PD during its early stages.</a:t>
            </a:r>
            <a:r>
              <a:rPr lang="en-GB" baseline="30000" dirty="0"/>
              <a:t>2</a:t>
            </a:r>
            <a:endParaRPr lang="en-GB" dirty="0"/>
          </a:p>
          <a:p>
            <a:r>
              <a:rPr lang="en-GB" dirty="0"/>
              <a:t>More recently, data from the PPMI study have been used </a:t>
            </a:r>
            <a:r>
              <a:rPr lang="en-US" dirty="0"/>
              <a:t>to assess the α-synuclein seed amplification assay, and to </a:t>
            </a:r>
            <a:r>
              <a:rPr lang="en-GB" dirty="0"/>
              <a:t>compare </a:t>
            </a:r>
            <a:r>
              <a:rPr lang="en-US" dirty="0"/>
              <a:t>clinical features and dopamine transporter imaging characteristics of people with </a:t>
            </a:r>
            <a:r>
              <a:rPr lang="en-US" i="1" dirty="0"/>
              <a:t>LRRK2</a:t>
            </a:r>
            <a:r>
              <a:rPr lang="en-US" dirty="0"/>
              <a:t> and </a:t>
            </a:r>
            <a:r>
              <a:rPr lang="en-US" i="1" dirty="0"/>
              <a:t>GBA</a:t>
            </a:r>
            <a:r>
              <a:rPr lang="en-US" dirty="0"/>
              <a:t> mutation</a:t>
            </a:r>
            <a:r>
              <a:rPr lang="en-GB" dirty="0"/>
              <a:t>s without clinical PD.</a:t>
            </a:r>
            <a:r>
              <a:rPr lang="en-GB" baseline="30000" dirty="0"/>
              <a:t>4,5</a:t>
            </a:r>
            <a:r>
              <a:rPr lang="en-GB" dirty="0"/>
              <a:t> This analysis showed that there are subtle motor and non-motor signs in this population, despite the fact that only 11% of the </a:t>
            </a:r>
            <a:r>
              <a:rPr lang="en-GB" i="1" dirty="0"/>
              <a:t>LRRK2</a:t>
            </a:r>
            <a:r>
              <a:rPr lang="en-GB" dirty="0"/>
              <a:t> mutation carriers and 3% of the </a:t>
            </a:r>
            <a:r>
              <a:rPr lang="en-GB" i="1" dirty="0"/>
              <a:t>GBA</a:t>
            </a:r>
            <a:r>
              <a:rPr lang="en-GB" dirty="0"/>
              <a:t> mutation carriers had a clear dopamine transporter deficit when imaged.</a:t>
            </a:r>
            <a:r>
              <a:rPr lang="en-GB" baseline="30000" dirty="0"/>
              <a:t>4</a:t>
            </a:r>
            <a:endParaRPr lang="en-GB" dirty="0"/>
          </a:p>
          <a:p>
            <a:endParaRPr lang="en-GB" dirty="0"/>
          </a:p>
          <a:p>
            <a:r>
              <a:rPr lang="en-GB" dirty="0"/>
              <a:t>References:</a:t>
            </a:r>
          </a:p>
          <a:p>
            <a:pPr marL="228600" indent="-228600">
              <a:buFont typeface="+mj-lt"/>
              <a:buAutoNum type="arabicPeriod"/>
            </a:pPr>
            <a:r>
              <a:rPr lang="en-GB" dirty="0" err="1"/>
              <a:t>Skogseth</a:t>
            </a:r>
            <a:r>
              <a:rPr lang="en-GB" dirty="0"/>
              <a:t> RE, </a:t>
            </a:r>
            <a:r>
              <a:rPr lang="en-GB" dirty="0" err="1"/>
              <a:t>Bronnick</a:t>
            </a:r>
            <a:r>
              <a:rPr lang="en-GB" dirty="0"/>
              <a:t> K, Pereira JB, et al. Associations between cerebrospinal fluid biomarkers and cognition in early untreated Parkinson’s disease. J </a:t>
            </a:r>
            <a:r>
              <a:rPr lang="en-GB" dirty="0" err="1"/>
              <a:t>Parkinsons</a:t>
            </a:r>
            <a:r>
              <a:rPr lang="en-GB" dirty="0"/>
              <a:t> Dis 2015; 5 (4): 783–792. </a:t>
            </a:r>
          </a:p>
          <a:p>
            <a:pPr marL="228600" indent="-228600">
              <a:buFont typeface="+mj-lt"/>
              <a:buAutoNum type="arabicPeriod"/>
            </a:pPr>
            <a:r>
              <a:rPr lang="en-GB" dirty="0"/>
              <a:t>Kang JH, Irwin DJ, Chen-Plotkin AS, et al.; Parkinson’s Progression Markers Initiative. Association of cerebrospinal fluid β-amyloid 1-42, t-tau, p-tau</a:t>
            </a:r>
            <a:r>
              <a:rPr lang="en-GB" baseline="-25000" dirty="0"/>
              <a:t>181</a:t>
            </a:r>
            <a:r>
              <a:rPr lang="en-GB" dirty="0"/>
              <a:t>, and α-synuclein levels with clinical features of drug-naive patients with early Parkinson disease. JAMA </a:t>
            </a:r>
            <a:r>
              <a:rPr lang="en-GB" dirty="0" err="1"/>
              <a:t>Neurol</a:t>
            </a:r>
            <a:r>
              <a:rPr lang="en-GB" dirty="0"/>
              <a:t> 2013; 70 (10): 1277–1287.</a:t>
            </a:r>
          </a:p>
          <a:p>
            <a:pPr marL="228600" indent="-228600">
              <a:buFont typeface="+mj-lt"/>
              <a:buAutoNum type="arabicPeriod"/>
            </a:pPr>
            <a:r>
              <a:rPr lang="en-GB" dirty="0"/>
              <a:t>PPMI website. PPMI-info.org. Accessed January 2025.</a:t>
            </a:r>
          </a:p>
          <a:p>
            <a:pPr marL="228600" indent="-228600">
              <a:buFont typeface="+mj-lt"/>
              <a:buAutoNum type="arabicPeriod"/>
            </a:pPr>
            <a:r>
              <a:rPr lang="en-GB" dirty="0"/>
              <a:t>Simuni T, Uribe L, Cho HR, et al.; PPMI Investigators. Clinical and dopamine transporter imaging characteristics of non-manifest LRRK2 and GBA mutation carriers in the Parkinson’s Progression Markers Initiative (PPMI): a cross-sectional study. Lancet </a:t>
            </a:r>
            <a:r>
              <a:rPr lang="en-GB" dirty="0" err="1"/>
              <a:t>Neurol</a:t>
            </a:r>
            <a:r>
              <a:rPr lang="en-GB" dirty="0"/>
              <a:t> 2020; 19 (1): 71–80.</a:t>
            </a:r>
          </a:p>
          <a:p>
            <a:pPr marL="228600" indent="-228600">
              <a:buFont typeface="+mj-lt"/>
              <a:buAutoNum type="arabicPeriod"/>
            </a:pPr>
            <a:r>
              <a:rPr lang="en-GB" dirty="0" err="1"/>
              <a:t>Siderowf</a:t>
            </a:r>
            <a:r>
              <a:rPr lang="en-GB" dirty="0"/>
              <a:t> A, Concha-</a:t>
            </a:r>
            <a:r>
              <a:rPr lang="en-GB" dirty="0" err="1"/>
              <a:t>Marambio</a:t>
            </a:r>
            <a:r>
              <a:rPr lang="en-GB" dirty="0"/>
              <a:t> L, </a:t>
            </a:r>
            <a:r>
              <a:rPr lang="en-GB" dirty="0" err="1"/>
              <a:t>Lafontant</a:t>
            </a:r>
            <a:r>
              <a:rPr lang="en-GB" dirty="0"/>
              <a:t> DE, et al.; Parkinson’s Progression Markers Initiative. Assessment of heterogeneity among participants in the Parkinson’s Progression Markers Initiative cohort using </a:t>
            </a:r>
            <a:r>
              <a:rPr lang="el-GR" dirty="0"/>
              <a:t>α-</a:t>
            </a:r>
            <a:r>
              <a:rPr lang="en-GB" dirty="0"/>
              <a:t>synuclein seed amplification: a cross-sectional study. Lancet </a:t>
            </a:r>
            <a:r>
              <a:rPr lang="en-GB" dirty="0" err="1"/>
              <a:t>Neurol</a:t>
            </a:r>
            <a:r>
              <a:rPr lang="en-GB" dirty="0"/>
              <a:t> 2023; 22 (5): 407–417.</a:t>
            </a:r>
          </a:p>
          <a:p>
            <a:pPr marL="228600" indent="-228600">
              <a:buFont typeface="+mj-lt"/>
              <a:buAutoNum type="arabicPeriod"/>
            </a:pPr>
            <a:endParaRPr lang="en-GB" dirty="0"/>
          </a:p>
          <a:p>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t>24</a:t>
            </a:fld>
            <a:endParaRPr lang="en-GB"/>
          </a:p>
        </p:txBody>
      </p:sp>
    </p:spTree>
    <p:extLst>
      <p:ext uri="{BB962C8B-B14F-4D97-AF65-F5344CB8AC3E}">
        <p14:creationId xmlns:p14="http://schemas.microsoft.com/office/powerpoint/2010/main" val="3085791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37C2873-EBE5-CF42-9E30-7832FC02D1D9}" type="slidenum">
              <a:rPr lang="en-GB" smtClean="0"/>
              <a:t>25</a:t>
            </a:fld>
            <a:endParaRPr lang="en-GB"/>
          </a:p>
        </p:txBody>
      </p:sp>
    </p:spTree>
    <p:extLst>
      <p:ext uri="{BB962C8B-B14F-4D97-AF65-F5344CB8AC3E}">
        <p14:creationId xmlns:p14="http://schemas.microsoft.com/office/powerpoint/2010/main" val="12942591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3"/>
            <a:ext cx="5438140" cy="4811117"/>
          </a:xfrm>
        </p:spPr>
        <p:txBody>
          <a:bodyPr/>
          <a:lstStyle/>
          <a:p>
            <a:r>
              <a:rPr lang="en-GB" dirty="0"/>
              <a:t>As shown in an analysis of the course of PD in five groups of patients who developed the disease at different ages, from the youngest (24–53 years, left) to the oldest (73–80 years), a younger onset of PD is typically associated with a longer disease course, compared with those who develop the disease later in life.</a:t>
            </a:r>
            <a:r>
              <a:rPr lang="en-GB" baseline="30000" dirty="0"/>
              <a:t>3</a:t>
            </a:r>
            <a:r>
              <a:rPr lang="en-GB" dirty="0"/>
              <a:t> While the rate of progression can vary greatly between individuals during the earlier stages of PD, the late stage tends to be characterised by a more fixed and rapid progression as the disease spreads into the cortical regions of the brain.</a:t>
            </a:r>
            <a:r>
              <a:rPr lang="en-GB" baseline="30000" dirty="0"/>
              <a:t>3</a:t>
            </a:r>
            <a:endParaRPr lang="en-GB" dirty="0"/>
          </a:p>
          <a:p>
            <a:r>
              <a:rPr lang="en-GB" dirty="0"/>
              <a:t> </a:t>
            </a:r>
          </a:p>
          <a:p>
            <a:r>
              <a:rPr lang="en-GB" dirty="0"/>
              <a:t>References:</a:t>
            </a:r>
          </a:p>
          <a:p>
            <a:pPr marL="228600" indent="-228600">
              <a:buFont typeface="+mj-lt"/>
              <a:buAutoNum type="arabicPeriod"/>
            </a:pPr>
            <a:r>
              <a:rPr lang="en-GB" dirty="0"/>
              <a:t>Wolters E, de Munter H, </a:t>
            </a:r>
            <a:r>
              <a:rPr lang="en-GB" dirty="0" err="1"/>
              <a:t>Steinbusch</a:t>
            </a:r>
            <a:r>
              <a:rPr lang="en-GB" dirty="0"/>
              <a:t>. Parkinson’s disease. In: Wolters &amp; Baumann (eds). Parkinson Disease and Other Movement Disorders. VU University Press, 2014.</a:t>
            </a:r>
          </a:p>
          <a:p>
            <a:pPr marL="228600" indent="-228600">
              <a:buFont typeface="+mj-lt"/>
              <a:buAutoNum type="arabicPeriod"/>
            </a:pPr>
            <a:r>
              <a:rPr lang="en-GB" dirty="0"/>
              <a:t>Parkinson’s UK website. www.parkinsons.org.uk. Accessed January 2025.</a:t>
            </a:r>
          </a:p>
          <a:p>
            <a:pPr marL="228600" indent="-228600">
              <a:buFont typeface="+mj-lt"/>
              <a:buAutoNum type="arabicPeriod"/>
            </a:pPr>
            <a:r>
              <a:rPr lang="en-GB" dirty="0" err="1"/>
              <a:t>Kempster</a:t>
            </a:r>
            <a:r>
              <a:rPr lang="en-GB" dirty="0"/>
              <a:t> PA, O’Sullivan SS, Holton JL, et al. Relationships between age and late progression of Parkinson’s disease: a </a:t>
            </a:r>
            <a:r>
              <a:rPr lang="en-GB" dirty="0" err="1"/>
              <a:t>clinico</a:t>
            </a:r>
            <a:r>
              <a:rPr lang="en-GB" dirty="0"/>
              <a:t>-pathological study. Brain 2010; 133 (Pt 6): 1755–1762.</a:t>
            </a:r>
          </a:p>
          <a:p>
            <a:pPr marL="228600" indent="-228600">
              <a:buFont typeface="+mj-lt"/>
              <a:buAutoNum type="arabicPeriod"/>
            </a:pPr>
            <a:r>
              <a:rPr lang="en-US" dirty="0"/>
              <a:t>Williams-Gray CH, Mason SL, Evans JR, et al.</a:t>
            </a:r>
            <a:r>
              <a:rPr lang="en-GB" dirty="0"/>
              <a:t> </a:t>
            </a:r>
            <a:r>
              <a:rPr lang="en-US" dirty="0"/>
              <a:t>The </a:t>
            </a:r>
            <a:r>
              <a:rPr lang="en-US" dirty="0" err="1"/>
              <a:t>CamPaIGN</a:t>
            </a:r>
            <a:r>
              <a:rPr lang="en-US" dirty="0"/>
              <a:t> study of Parkinson’s disease: 10-year outlook in an incident population-based cohort. J Neurol </a:t>
            </a:r>
            <a:r>
              <a:rPr lang="en-US" dirty="0" err="1"/>
              <a:t>Neurosurg</a:t>
            </a:r>
            <a:r>
              <a:rPr lang="en-US" dirty="0"/>
              <a:t> Psychiatry 2013; 84 (11): 1258</a:t>
            </a:r>
            <a:r>
              <a:rPr lang="en-GB" dirty="0"/>
              <a:t>–12</a:t>
            </a:r>
            <a:r>
              <a:rPr lang="en-US" dirty="0"/>
              <a:t>64.</a:t>
            </a:r>
          </a:p>
          <a:p>
            <a:pPr marL="228600" indent="-228600">
              <a:buFont typeface="+mj-lt"/>
              <a:buAutoNum type="arabicPeriod"/>
            </a:pPr>
            <a:r>
              <a:rPr lang="en-US" dirty="0"/>
              <a:t>Gonzalez MC, Dalen I, Maple-</a:t>
            </a:r>
            <a:r>
              <a:rPr lang="en-US" dirty="0" err="1"/>
              <a:t>Grødem</a:t>
            </a:r>
            <a:r>
              <a:rPr lang="en-US" dirty="0"/>
              <a:t> J, et al. Parkinson’s disease clinical milestones and mortality. NPJ </a:t>
            </a:r>
            <a:r>
              <a:rPr lang="en-US" dirty="0" err="1"/>
              <a:t>Parkinsons</a:t>
            </a:r>
            <a:r>
              <a:rPr lang="en-US" dirty="0"/>
              <a:t> Dis 2022; 8 (1): 58.</a:t>
            </a:r>
          </a:p>
          <a:p>
            <a:pPr marL="228600" indent="-228600">
              <a:buFont typeface="+mj-lt"/>
              <a:buAutoNum type="arabicPeriod"/>
            </a:pPr>
            <a:r>
              <a:rPr lang="en-GB" dirty="0"/>
              <a:t>Eggers C, Pedrosa DJ, </a:t>
            </a:r>
            <a:r>
              <a:rPr lang="en-GB" dirty="0" err="1"/>
              <a:t>Kahraman</a:t>
            </a:r>
            <a:r>
              <a:rPr lang="en-GB" dirty="0"/>
              <a:t> D, et al. Parkinson subtypes progress differently in clinical course and imaging pattern. </a:t>
            </a:r>
            <a:r>
              <a:rPr lang="en-GB" dirty="0" err="1"/>
              <a:t>PLoS</a:t>
            </a:r>
            <a:r>
              <a:rPr lang="en-GB" dirty="0"/>
              <a:t> One 2012; 7 (10): e46813.</a:t>
            </a:r>
          </a:p>
          <a:p>
            <a:pPr marL="228600" indent="-228600">
              <a:buFont typeface="+mj-lt"/>
              <a:buAutoNum type="arabicPeriod"/>
            </a:pPr>
            <a:r>
              <a:rPr lang="en-GB" dirty="0"/>
              <a:t>Fernandes GC, </a:t>
            </a:r>
            <a:r>
              <a:rPr lang="en-GB" dirty="0" err="1"/>
              <a:t>Socal</a:t>
            </a:r>
            <a:r>
              <a:rPr lang="en-GB" dirty="0"/>
              <a:t> MP, Schuh AF, Rieder CR. Clinical and epidemiological factors associated with mortality in Parkinson’s disease in a Brazilian cohort. </a:t>
            </a:r>
            <a:r>
              <a:rPr lang="en-GB" dirty="0" err="1"/>
              <a:t>Parkinsons</a:t>
            </a:r>
            <a:r>
              <a:rPr lang="en-GB" dirty="0"/>
              <a:t> Dis 2015; 2015: 959304.</a:t>
            </a:r>
          </a:p>
          <a:p>
            <a:pPr marL="228600" indent="-228600">
              <a:buFont typeface="+mj-lt"/>
              <a:buAutoNum type="arabicPeriod"/>
            </a:pPr>
            <a:r>
              <a:rPr lang="en-GB" dirty="0"/>
              <a:t>Akbar U, McQueen RB, </a:t>
            </a:r>
            <a:r>
              <a:rPr lang="en-GB" dirty="0" err="1"/>
              <a:t>Bemski</a:t>
            </a:r>
            <a:r>
              <a:rPr lang="en-GB" dirty="0"/>
              <a:t> J, et al. Prognostic predictors relevant to end-of-life palliative care in Parkinson’s disease and related disorders: a systematic review. J </a:t>
            </a:r>
            <a:r>
              <a:rPr lang="en-GB" dirty="0" err="1"/>
              <a:t>Neurol</a:t>
            </a:r>
            <a:r>
              <a:rPr lang="en-GB" dirty="0"/>
              <a:t> </a:t>
            </a:r>
            <a:r>
              <a:rPr lang="en-GB" dirty="0" err="1"/>
              <a:t>Neurosurg</a:t>
            </a:r>
            <a:r>
              <a:rPr lang="en-GB" dirty="0"/>
              <a:t> Psychiatry 2021; 92 (6): 629–636.</a:t>
            </a:r>
          </a:p>
          <a:p>
            <a:pPr marL="228600" indent="-228600">
              <a:buFont typeface="+mj-lt"/>
              <a:buAutoNum type="arabicPeriod"/>
            </a:pPr>
            <a:r>
              <a:rPr lang="en-US" dirty="0"/>
              <a:t>Trevisan L, Gaudio A, </a:t>
            </a:r>
            <a:r>
              <a:rPr lang="en-US" dirty="0" err="1"/>
              <a:t>Monfrini</a:t>
            </a:r>
            <a:r>
              <a:rPr lang="en-US" dirty="0"/>
              <a:t> E, et al. Genetics in Parkinson’s disease, state-of-the-art and future perspectives. Br Med Bull 2024; 149 (1): 60–71.</a:t>
            </a:r>
          </a:p>
        </p:txBody>
      </p:sp>
      <p:sp>
        <p:nvSpPr>
          <p:cNvPr id="4" name="Slide Number Placeholder 3"/>
          <p:cNvSpPr>
            <a:spLocks noGrp="1"/>
          </p:cNvSpPr>
          <p:nvPr>
            <p:ph type="sldNum" sz="quarter" idx="10"/>
          </p:nvPr>
        </p:nvSpPr>
        <p:spPr/>
        <p:txBody>
          <a:bodyPr/>
          <a:lstStyle/>
          <a:p>
            <a:fld id="{037C2873-EBE5-CF42-9E30-7832FC02D1D9}" type="slidenum">
              <a:rPr lang="en-GB" smtClean="0"/>
              <a:t>26</a:t>
            </a:fld>
            <a:endParaRPr lang="en-GB"/>
          </a:p>
        </p:txBody>
      </p:sp>
    </p:spTree>
    <p:extLst>
      <p:ext uri="{BB962C8B-B14F-4D97-AF65-F5344CB8AC3E}">
        <p14:creationId xmlns:p14="http://schemas.microsoft.com/office/powerpoint/2010/main" val="6214929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8816" y="4751983"/>
            <a:ext cx="5440044" cy="4268191"/>
          </a:xfrm>
        </p:spPr>
        <p:txBody>
          <a:bodyPr/>
          <a:lstStyle/>
          <a:p>
            <a:r>
              <a:rPr lang="en-GB" dirty="0"/>
              <a:t>Patients with PD who enrolled in the Sydney multicentre study were found to have almost twice the risk of death 15 years later, as compared to the general population.</a:t>
            </a:r>
            <a:r>
              <a:rPr lang="en-GB" baseline="30000" dirty="0"/>
              <a:t>1</a:t>
            </a:r>
            <a:r>
              <a:rPr lang="en-GB" dirty="0"/>
              <a:t> More than one quarter of all patients (27%) in the study died from pneumonia.</a:t>
            </a:r>
            <a:r>
              <a:rPr lang="en-GB" baseline="30000" dirty="0"/>
              <a:t>1</a:t>
            </a:r>
            <a:r>
              <a:rPr lang="en-GB" dirty="0"/>
              <a:t> The main causes of disability in the Sydney multicentre study were: falls, choking, autonomic disturbance, neuropsychiatric symptoms, and dementia.</a:t>
            </a:r>
            <a:r>
              <a:rPr lang="en-GB" baseline="30000" dirty="0"/>
              <a:t>1,2</a:t>
            </a:r>
            <a:r>
              <a:rPr lang="en-GB" dirty="0"/>
              <a:t> Dementia was more prevalent at 20 years than at 15 years (83% versus 48%, respectively).</a:t>
            </a:r>
            <a:r>
              <a:rPr lang="en-GB" baseline="30000" dirty="0"/>
              <a:t>1,2</a:t>
            </a:r>
            <a:r>
              <a:rPr lang="en-GB" dirty="0"/>
              <a:t> Unfortunately, none of these symptoms respond well to dopaminergic therapy.</a:t>
            </a:r>
            <a:r>
              <a:rPr lang="en-GB" baseline="30000" dirty="0"/>
              <a:t>1</a:t>
            </a:r>
            <a:endParaRPr lang="en-GB" dirty="0"/>
          </a:p>
          <a:p>
            <a:r>
              <a:rPr lang="en-GB" dirty="0"/>
              <a:t> </a:t>
            </a:r>
          </a:p>
          <a:p>
            <a:r>
              <a:rPr lang="en-GB" dirty="0"/>
              <a:t>References:</a:t>
            </a:r>
          </a:p>
          <a:p>
            <a:pPr marL="228600" indent="-228600">
              <a:buFont typeface="+mj-lt"/>
              <a:buAutoNum type="arabicPeriod"/>
            </a:pPr>
            <a:r>
              <a:rPr lang="en-GB" dirty="0"/>
              <a:t>Hely MA, Morris JG, Reid WG, Trafficante R. Sydney </a:t>
            </a:r>
            <a:r>
              <a:rPr lang="en-GB" dirty="0" err="1"/>
              <a:t>multicenter</a:t>
            </a:r>
            <a:r>
              <a:rPr lang="en-GB" dirty="0"/>
              <a:t> study of Parkinson’s disease: non-L-dopa-responsive problems dominate at 15 years. Mov </a:t>
            </a:r>
            <a:r>
              <a:rPr lang="en-GB" dirty="0" err="1"/>
              <a:t>Disord</a:t>
            </a:r>
            <a:r>
              <a:rPr lang="en-GB" dirty="0"/>
              <a:t> 2005; 20 (2): 190–199.</a:t>
            </a:r>
          </a:p>
          <a:p>
            <a:pPr marL="228600" indent="-228600">
              <a:buFont typeface="+mj-lt"/>
              <a:buAutoNum type="arabicPeriod"/>
            </a:pPr>
            <a:r>
              <a:rPr lang="en-GB" dirty="0"/>
              <a:t>Hely MA, Reid WG, Adena MA, et al. The Sydney </a:t>
            </a:r>
            <a:r>
              <a:rPr lang="en-GB" dirty="0" err="1"/>
              <a:t>multicenter</a:t>
            </a:r>
            <a:r>
              <a:rPr lang="en-GB" dirty="0"/>
              <a:t> study of Parkinson’s disease: the inevitability of dementia at 20 years. Mov </a:t>
            </a:r>
            <a:r>
              <a:rPr lang="en-GB" dirty="0" err="1"/>
              <a:t>Disord</a:t>
            </a:r>
            <a:r>
              <a:rPr lang="en-GB" dirty="0"/>
              <a:t> 2008; 23 (6): 837–844.</a:t>
            </a:r>
          </a:p>
          <a:p>
            <a:pPr marL="228600" indent="-228600">
              <a:buFont typeface="+mj-lt"/>
              <a:buAutoNum type="arabicPeriod"/>
            </a:pPr>
            <a:r>
              <a:rPr lang="en-GB" altLang="en-US" dirty="0"/>
              <a:t>Coelho M, </a:t>
            </a:r>
            <a:r>
              <a:rPr lang="en-GB" dirty="0"/>
              <a:t>Marti M, Tolosa E, </a:t>
            </a:r>
            <a:r>
              <a:rPr lang="en-GB" altLang="en-US" dirty="0"/>
              <a:t>et al. </a:t>
            </a:r>
            <a:r>
              <a:rPr lang="en-US" dirty="0"/>
              <a:t>Late-stage Parkinson’s disease: the Barcelona and Lisbon cohort. </a:t>
            </a:r>
            <a:r>
              <a:rPr lang="en-GB" altLang="en-US" dirty="0"/>
              <a:t>J </a:t>
            </a:r>
            <a:r>
              <a:rPr lang="en-GB" altLang="en-US" dirty="0" err="1"/>
              <a:t>Neurol</a:t>
            </a:r>
            <a:r>
              <a:rPr lang="en-GB" altLang="en-US" dirty="0"/>
              <a:t> 2010; 257: 1524–1532.</a:t>
            </a:r>
            <a:endParaRPr lang="en-GB" dirty="0"/>
          </a:p>
          <a:p>
            <a:pPr marL="228600" indent="-228600">
              <a:buFont typeface="+mj-lt"/>
              <a:buAutoNum type="arabicPeriod"/>
            </a:pPr>
            <a:r>
              <a:rPr lang="en-GB" altLang="en-US" dirty="0"/>
              <a:t>Bäckström D, </a:t>
            </a:r>
            <a:r>
              <a:rPr lang="en-GB" altLang="en-US" dirty="0" err="1"/>
              <a:t>Granåsen</a:t>
            </a:r>
            <a:r>
              <a:rPr lang="en-GB" altLang="en-US" dirty="0"/>
              <a:t> G, </a:t>
            </a:r>
            <a:r>
              <a:rPr lang="en-GB" altLang="en-US" dirty="0" err="1"/>
              <a:t>Domellöf</a:t>
            </a:r>
            <a:r>
              <a:rPr lang="en-GB" altLang="en-US" dirty="0"/>
              <a:t> ME, et al. Early predictors of mortality in parkinsonism and Parkinson disease: a population-based study. Neurology 2018; 91 (22): e2045–e2056.</a:t>
            </a:r>
          </a:p>
        </p:txBody>
      </p:sp>
      <p:sp>
        <p:nvSpPr>
          <p:cNvPr id="4" name="Slide Number Placeholder 3"/>
          <p:cNvSpPr>
            <a:spLocks noGrp="1"/>
          </p:cNvSpPr>
          <p:nvPr>
            <p:ph type="sldNum" sz="quarter" idx="10"/>
          </p:nvPr>
        </p:nvSpPr>
        <p:spPr/>
        <p:txBody>
          <a:bodyPr/>
          <a:lstStyle/>
          <a:p>
            <a:fld id="{037C2873-EBE5-CF42-9E30-7832FC02D1D9}" type="slidenum">
              <a:rPr lang="en-GB" smtClean="0"/>
              <a:t>27</a:t>
            </a:fld>
            <a:endParaRPr lang="en-GB"/>
          </a:p>
        </p:txBody>
      </p:sp>
    </p:spTree>
    <p:extLst>
      <p:ext uri="{BB962C8B-B14F-4D97-AF65-F5344CB8AC3E}">
        <p14:creationId xmlns:p14="http://schemas.microsoft.com/office/powerpoint/2010/main" val="20954773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PD occurs predominantly in elderly people, who commonly have co-morbidities.</a:t>
            </a:r>
            <a:r>
              <a:rPr lang="en-GB" baseline="30000" dirty="0"/>
              <a:t>1,2,4</a:t>
            </a:r>
            <a:r>
              <a:rPr lang="en-GB" dirty="0"/>
              <a:t> A study that followed patients with PD over a 12-year period, concluded that having a higher level of comorbidity during the earlier stages of PD (0–4 years from diagnosis/recruitment) increased the likelihood of early death.</a:t>
            </a:r>
            <a:r>
              <a:rPr lang="en-GB" baseline="30000" dirty="0"/>
              <a:t>1</a:t>
            </a:r>
            <a:r>
              <a:rPr lang="en-GB" dirty="0"/>
              <a:t> Beyond 4 years, however, the amount of comorbidity in the population appeared to make little difference.</a:t>
            </a:r>
            <a:r>
              <a:rPr lang="en-GB" baseline="30000" dirty="0"/>
              <a:t>1</a:t>
            </a:r>
            <a:r>
              <a:rPr lang="en-GB" dirty="0"/>
              <a:t> Deaths that occur during early-stage PD are most often caused by other factors (e.g., cardiovascular disease) rather than PD itself, since PD symptoms during this period tend to be mild, easily-controlled, and unlikely to have severe adverse effects on health.</a:t>
            </a:r>
            <a:r>
              <a:rPr lang="en-GB" baseline="30000" dirty="0"/>
              <a:t>1</a:t>
            </a:r>
            <a:endParaRPr lang="en-GB" dirty="0"/>
          </a:p>
          <a:p>
            <a:r>
              <a:rPr lang="en-GB" dirty="0"/>
              <a:t>The study also recommended the Charlson Comorbidity Index (CCI)</a:t>
            </a:r>
            <a:r>
              <a:rPr lang="en-GB" baseline="30000" dirty="0"/>
              <a:t>3</a:t>
            </a:r>
            <a:r>
              <a:rPr lang="en-GB" dirty="0"/>
              <a:t> as the most appropriate tool for measuring comorbidity in patients with PD; it is quicker to use and produces more consistent results than other currently available assessment methods.</a:t>
            </a:r>
            <a:r>
              <a:rPr lang="en-GB" baseline="30000" dirty="0"/>
              <a:t>1</a:t>
            </a:r>
            <a:endParaRPr lang="en-GB" dirty="0"/>
          </a:p>
          <a:p>
            <a:r>
              <a:rPr lang="en-GB" dirty="0"/>
              <a:t> </a:t>
            </a:r>
          </a:p>
          <a:p>
            <a:r>
              <a:rPr lang="en-GB" dirty="0"/>
              <a:t>References:</a:t>
            </a:r>
          </a:p>
          <a:p>
            <a:pPr marL="228600" indent="-228600">
              <a:buFont typeface="+mj-lt"/>
              <a:buAutoNum type="arabicPeriod"/>
            </a:pPr>
            <a:r>
              <a:rPr lang="en-GB" dirty="0"/>
              <a:t>Macleod AD, Goddard H, Counsell CE. Co-morbidity burden in Parkinson’s disease: comparison with controls and its influence on prognosis. Parkinsonism </a:t>
            </a:r>
            <a:r>
              <a:rPr lang="en-GB" dirty="0" err="1"/>
              <a:t>Relat</a:t>
            </a:r>
            <a:r>
              <a:rPr lang="en-GB" dirty="0"/>
              <a:t> </a:t>
            </a:r>
            <a:r>
              <a:rPr lang="en-GB" dirty="0" err="1"/>
              <a:t>Disord</a:t>
            </a:r>
            <a:r>
              <a:rPr lang="en-GB" dirty="0"/>
              <a:t> 2016; 28: 124–129. </a:t>
            </a:r>
          </a:p>
          <a:p>
            <a:pPr marL="228600" indent="-228600">
              <a:buFont typeface="+mj-lt"/>
              <a:buAutoNum type="arabicPeriod"/>
            </a:pPr>
            <a:r>
              <a:rPr lang="en-GB" dirty="0"/>
              <a:t>Burchill E, Watson CJ, Fanshawe JB, et al. The impact of psychiatric comorbidity on Parkinson’s disease outcomes: a systematic review and meta-analysis. Lancet Reg Health </a:t>
            </a:r>
            <a:r>
              <a:rPr lang="en-GB" dirty="0" err="1"/>
              <a:t>Eur</a:t>
            </a:r>
            <a:r>
              <a:rPr lang="en-GB" dirty="0"/>
              <a:t> 2024; 39: 100870.</a:t>
            </a:r>
          </a:p>
          <a:p>
            <a:pPr marL="228600" indent="-228600">
              <a:buFont typeface="+mj-lt"/>
              <a:buAutoNum type="arabicPeriod"/>
            </a:pPr>
            <a:r>
              <a:rPr lang="en-GB" dirty="0"/>
              <a:t>Charlson ME, Pompei P, Ales KL, </a:t>
            </a:r>
            <a:r>
              <a:rPr lang="en-GB" dirty="0" err="1"/>
              <a:t>MacKenzie</a:t>
            </a:r>
            <a:r>
              <a:rPr lang="en-GB" dirty="0"/>
              <a:t> CR. A new method of classifying prognostic comorbidity in longitudinal studies: development and validation. J Chronic Dis 1987; 40 (5): 373–383.</a:t>
            </a:r>
          </a:p>
          <a:p>
            <a:pPr marL="228600" indent="-228600">
              <a:buFont typeface="+mj-lt"/>
              <a:buAutoNum type="arabicPeriod"/>
            </a:pPr>
            <a:r>
              <a:rPr lang="en-GB" dirty="0"/>
              <a:t>von </a:t>
            </a:r>
            <a:r>
              <a:rPr lang="en-GB" dirty="0" err="1"/>
              <a:t>Campenhausen</a:t>
            </a:r>
            <a:r>
              <a:rPr lang="en-GB" dirty="0"/>
              <a:t> S, </a:t>
            </a:r>
            <a:r>
              <a:rPr lang="en-GB" dirty="0" err="1"/>
              <a:t>Bornschein</a:t>
            </a:r>
            <a:r>
              <a:rPr lang="en-GB" dirty="0"/>
              <a:t> B, Wick R, et al. Prevalence and incidence of Parkinson’s disease in Europe. </a:t>
            </a:r>
            <a:r>
              <a:rPr lang="en-GB" dirty="0" err="1"/>
              <a:t>Eur</a:t>
            </a:r>
            <a:r>
              <a:rPr lang="en-GB" dirty="0"/>
              <a:t> </a:t>
            </a:r>
            <a:r>
              <a:rPr lang="en-GB" dirty="0" err="1"/>
              <a:t>Neuropsychopharmacol</a:t>
            </a:r>
            <a:r>
              <a:rPr lang="en-GB" dirty="0"/>
              <a:t> 2005; 15 (4): 473–490.</a:t>
            </a:r>
          </a:p>
          <a:p>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t>28</a:t>
            </a:fld>
            <a:endParaRPr lang="en-GB"/>
          </a:p>
        </p:txBody>
      </p:sp>
    </p:spTree>
    <p:extLst>
      <p:ext uri="{BB962C8B-B14F-4D97-AF65-F5344CB8AC3E}">
        <p14:creationId xmlns:p14="http://schemas.microsoft.com/office/powerpoint/2010/main" val="35376413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8816" y="4751983"/>
            <a:ext cx="5440044" cy="4919067"/>
          </a:xfrm>
        </p:spPr>
        <p:txBody>
          <a:bodyPr/>
          <a:lstStyle/>
          <a:p>
            <a:r>
              <a:rPr lang="en-GB" dirty="0"/>
              <a:t>The presence of mild cognitive impairment (MCI) in PD is associated with subsequent dementia.</a:t>
            </a:r>
            <a:r>
              <a:rPr lang="en-GB" baseline="30000" dirty="0"/>
              <a:t>1,5</a:t>
            </a:r>
            <a:r>
              <a:rPr lang="en-GB" dirty="0"/>
              <a:t> Cognitive impairment reduces overall quality of life and may ultimately require an affected individual to be placed in a nursing home.</a:t>
            </a:r>
            <a:r>
              <a:rPr lang="en-GB" baseline="30000" dirty="0"/>
              <a:t>1</a:t>
            </a:r>
            <a:r>
              <a:rPr lang="en-GB" dirty="0"/>
              <a:t> MCI is common among people with PD; a large meta-analysis identified 41 studies of the prevalence and clinical aspects of MCI in Parkinson’s disease, with a pooled incidence prevalence of 40% (95% confidence interval: 36–44%).</a:t>
            </a:r>
            <a:r>
              <a:rPr lang="en-GB" baseline="30000" dirty="0"/>
              <a:t>4</a:t>
            </a:r>
            <a:endParaRPr lang="en-GB" dirty="0"/>
          </a:p>
          <a:p>
            <a:r>
              <a:rPr lang="en-GB" dirty="0"/>
              <a:t>A community-based study carried out in Cambridgeshire, UK, recruited new cases of PD and followed them over several years to identify factors associated with the later development of dementia.</a:t>
            </a:r>
            <a:r>
              <a:rPr lang="en-GB" baseline="30000" dirty="0"/>
              <a:t>2</a:t>
            </a:r>
            <a:r>
              <a:rPr lang="en-GB" dirty="0"/>
              <a:t> In addition to older age, risk factors included a non-tremor-dominant motor phenotype, more severe motor symptoms, and poorer performance on various cognitive function tests (semantic fluency; pentagon copying; spatial recognition memory; and executive function).</a:t>
            </a:r>
            <a:r>
              <a:rPr lang="en-GB" baseline="30000" dirty="0"/>
              <a:t>2</a:t>
            </a:r>
            <a:r>
              <a:rPr lang="en-GB" dirty="0"/>
              <a:t> Patients with a non-tremor-dominant motor phenotype were &gt;4 times more likely to develop dementia than tremor-dominant patients, perhaps reflecting the faster progression of PD in the former group.</a:t>
            </a:r>
            <a:r>
              <a:rPr lang="en-GB" baseline="30000" dirty="0"/>
              <a:t>2</a:t>
            </a:r>
            <a:r>
              <a:rPr lang="en-GB" dirty="0"/>
              <a:t> Although smaller-scale studies such as the longitudinal analysis following 36 people for 20 years summarized on the slide have suggested a lower incidence of dementia in PD than have been found in other studies, there is a risk of survivor bias in such studies.</a:t>
            </a:r>
            <a:r>
              <a:rPr lang="en-GB" baseline="30000" dirty="0"/>
              <a:t>3</a:t>
            </a:r>
            <a:endParaRPr lang="en-GB" dirty="0"/>
          </a:p>
          <a:p>
            <a:endParaRPr lang="en-GB" dirty="0"/>
          </a:p>
          <a:p>
            <a:r>
              <a:rPr lang="en-GB" dirty="0"/>
              <a:t>References:</a:t>
            </a:r>
          </a:p>
          <a:p>
            <a:pPr marL="228600" indent="-228600">
              <a:buFont typeface="+mj-lt"/>
              <a:buAutoNum type="arabicPeriod"/>
            </a:pPr>
            <a:r>
              <a:rPr lang="en-GB" dirty="0" err="1"/>
              <a:t>Janvin</a:t>
            </a:r>
            <a:r>
              <a:rPr lang="en-GB" dirty="0"/>
              <a:t> CC, Larsen JP, </a:t>
            </a:r>
            <a:r>
              <a:rPr lang="en-GB" dirty="0" err="1"/>
              <a:t>Aarsland</a:t>
            </a:r>
            <a:r>
              <a:rPr lang="en-GB" dirty="0"/>
              <a:t> D, </a:t>
            </a:r>
            <a:r>
              <a:rPr lang="en-GB" dirty="0" err="1"/>
              <a:t>Hugdahl</a:t>
            </a:r>
            <a:r>
              <a:rPr lang="en-GB" dirty="0"/>
              <a:t> K. Subtypes of mild cognitive impairment in Parkinson’s disease: progression to dementia. Mov </a:t>
            </a:r>
            <a:r>
              <a:rPr lang="en-GB" dirty="0" err="1"/>
              <a:t>Disord</a:t>
            </a:r>
            <a:r>
              <a:rPr lang="en-GB" dirty="0"/>
              <a:t> 2006; 21 (9): 1343–1349.</a:t>
            </a:r>
          </a:p>
          <a:p>
            <a:pPr marL="228600" indent="-228600">
              <a:buFont typeface="+mj-lt"/>
              <a:buAutoNum type="arabicPeriod"/>
            </a:pPr>
            <a:r>
              <a:rPr lang="en-GB" dirty="0"/>
              <a:t>Williams-Gray CH, </a:t>
            </a:r>
            <a:r>
              <a:rPr lang="en-GB" dirty="0" err="1"/>
              <a:t>Foltynie</a:t>
            </a:r>
            <a:r>
              <a:rPr lang="en-GB" dirty="0"/>
              <a:t> T, </a:t>
            </a:r>
            <a:r>
              <a:rPr lang="en-GB" dirty="0" err="1"/>
              <a:t>Brayne</a:t>
            </a:r>
            <a:r>
              <a:rPr lang="en-GB" dirty="0"/>
              <a:t> CE, Barker RA. Evolution of cognitive dysfunction in an incident Parkinson’s disease cohort. Brain 2007; 130 (Pt 7): 1787–1798.</a:t>
            </a:r>
          </a:p>
          <a:p>
            <a:pPr marL="228600" indent="-228600">
              <a:buFont typeface="+mj-lt"/>
              <a:buAutoNum type="arabicPeriod"/>
            </a:pPr>
            <a:r>
              <a:rPr lang="en-GB" dirty="0"/>
              <a:t>Szeto JYY, Walton CC, </a:t>
            </a:r>
            <a:r>
              <a:rPr lang="en-GB" dirty="0" err="1"/>
              <a:t>Rizos</a:t>
            </a:r>
            <a:r>
              <a:rPr lang="en-GB" dirty="0"/>
              <a:t> A, et al. Dementia in long-term Parkinson’s disease patients: a multicentre retrospective study. NPJ </a:t>
            </a:r>
            <a:r>
              <a:rPr lang="en-GB" dirty="0" err="1"/>
              <a:t>Parkinsons</a:t>
            </a:r>
            <a:r>
              <a:rPr lang="en-GB" dirty="0"/>
              <a:t> Dis 2020; 6: 2.</a:t>
            </a:r>
          </a:p>
          <a:p>
            <a:pPr marL="228600" indent="-228600">
              <a:buFont typeface="+mj-lt"/>
              <a:buAutoNum type="arabicPeriod"/>
            </a:pPr>
            <a:r>
              <a:rPr lang="en-GB" dirty="0" err="1"/>
              <a:t>Baiano</a:t>
            </a:r>
            <a:r>
              <a:rPr lang="en-GB" dirty="0"/>
              <a:t> C, Barone P, </a:t>
            </a:r>
            <a:r>
              <a:rPr lang="en-GB" dirty="0" err="1"/>
              <a:t>Trojano</a:t>
            </a:r>
            <a:r>
              <a:rPr lang="en-GB" dirty="0"/>
              <a:t> L, Santangelo G. Prevalence and clinical aspects of mild cognitive impairment in Parkinson’s disease: a meta-analysis. Mov </a:t>
            </a:r>
            <a:r>
              <a:rPr lang="en-GB" dirty="0" err="1"/>
              <a:t>Disord</a:t>
            </a:r>
            <a:r>
              <a:rPr lang="en-GB" dirty="0"/>
              <a:t> 2020; 35 (1): 45–54.</a:t>
            </a:r>
          </a:p>
          <a:p>
            <a:pPr marL="228600" indent="-228600">
              <a:buFont typeface="+mj-lt"/>
              <a:buAutoNum type="arabicPeriod"/>
            </a:pPr>
            <a:r>
              <a:rPr lang="en-GB" dirty="0" err="1"/>
              <a:t>Aarsland</a:t>
            </a:r>
            <a:r>
              <a:rPr lang="en-GB" dirty="0"/>
              <a:t> D, Andersen K, Larsen JP, et al. The rate of cognitive decline in Parkinson disease. Arch </a:t>
            </a:r>
            <a:r>
              <a:rPr lang="en-GB" dirty="0" err="1"/>
              <a:t>Neurol</a:t>
            </a:r>
            <a:r>
              <a:rPr lang="en-GB" dirty="0"/>
              <a:t> 2004; 61: 1906–1911.</a:t>
            </a:r>
          </a:p>
        </p:txBody>
      </p:sp>
      <p:sp>
        <p:nvSpPr>
          <p:cNvPr id="4" name="Slide Number Placeholder 3"/>
          <p:cNvSpPr>
            <a:spLocks noGrp="1"/>
          </p:cNvSpPr>
          <p:nvPr>
            <p:ph type="sldNum" sz="quarter" idx="10"/>
          </p:nvPr>
        </p:nvSpPr>
        <p:spPr/>
        <p:txBody>
          <a:bodyPr/>
          <a:lstStyle/>
          <a:p>
            <a:fld id="{037C2873-EBE5-CF42-9E30-7832FC02D1D9}" type="slidenum">
              <a:rPr lang="en-GB" smtClean="0"/>
              <a:t>29</a:t>
            </a:fld>
            <a:endParaRPr lang="en-GB"/>
          </a:p>
        </p:txBody>
      </p:sp>
    </p:spTree>
    <p:extLst>
      <p:ext uri="{BB962C8B-B14F-4D97-AF65-F5344CB8AC3E}">
        <p14:creationId xmlns:p14="http://schemas.microsoft.com/office/powerpoint/2010/main" val="2872236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8816" y="4751984"/>
            <a:ext cx="5440044" cy="4252316"/>
          </a:xfrm>
        </p:spPr>
        <p:txBody>
          <a:bodyPr/>
          <a:lstStyle/>
          <a:p>
            <a:r>
              <a:rPr lang="en-GB" dirty="0"/>
              <a:t>Cognitive function appears to decrease steadily as PD progresses through the six </a:t>
            </a:r>
            <a:r>
              <a:rPr lang="en-GB" dirty="0" err="1"/>
              <a:t>Braak</a:t>
            </a:r>
            <a:r>
              <a:rPr lang="en-GB" dirty="0"/>
              <a:t> stages.</a:t>
            </a:r>
            <a:r>
              <a:rPr lang="en-GB" baseline="30000" dirty="0"/>
              <a:t>1</a:t>
            </a:r>
            <a:r>
              <a:rPr lang="en-GB" dirty="0"/>
              <a:t> A Dutch study collected cognitive function data from patients with PD.</a:t>
            </a:r>
            <a:r>
              <a:rPr lang="en-GB" baseline="30000" dirty="0"/>
              <a:t>1</a:t>
            </a:r>
            <a:r>
              <a:rPr lang="en-GB" dirty="0"/>
              <a:t> The investigators carried out autopsies on the brains of study participants to evaluate the extent of neurodegeneration and Lewy pathology.</a:t>
            </a:r>
            <a:r>
              <a:rPr lang="en-GB" baseline="30000" dirty="0"/>
              <a:t>1</a:t>
            </a:r>
            <a:r>
              <a:rPr lang="en-GB" dirty="0"/>
              <a:t> They found that greater levels of neuropathology – defined in terms of </a:t>
            </a:r>
            <a:r>
              <a:rPr lang="en-GB" dirty="0" err="1"/>
              <a:t>Braak</a:t>
            </a:r>
            <a:r>
              <a:rPr lang="en-GB" dirty="0"/>
              <a:t> stages – were significantly correlated with Mini-Mental State Examination (MMSE – a test of cognitive functioning) test scores from 12–18 months prior to the patient’s death.</a:t>
            </a:r>
            <a:r>
              <a:rPr lang="en-GB" baseline="30000" dirty="0"/>
              <a:t>1</a:t>
            </a:r>
            <a:r>
              <a:rPr lang="en-GB" dirty="0"/>
              <a:t> The average MMSE score consistently decreased from </a:t>
            </a:r>
            <a:r>
              <a:rPr lang="en-GB" dirty="0" err="1"/>
              <a:t>Braak</a:t>
            </a:r>
            <a:r>
              <a:rPr lang="en-GB" dirty="0"/>
              <a:t> stages 3 to 6, indicating that the risk of developing dementia in PD increases as the disease progresses.</a:t>
            </a:r>
            <a:r>
              <a:rPr lang="en-GB" baseline="30000" dirty="0"/>
              <a:t>1</a:t>
            </a:r>
            <a:r>
              <a:rPr lang="en-GB" dirty="0"/>
              <a:t> The study also suggested that neurodegeneration in the neocortex is not strictly necessary to develop symptoms of dementia; some individuals will experience cognitive decline before the disease spreads to the cortical regions of the brain.</a:t>
            </a:r>
            <a:r>
              <a:rPr lang="en-GB" baseline="30000" dirty="0"/>
              <a:t>1</a:t>
            </a:r>
            <a:endParaRPr lang="en-GB" dirty="0"/>
          </a:p>
          <a:p>
            <a:r>
              <a:rPr lang="en-GB" dirty="0"/>
              <a:t>Although a seminal publication, and one which </a:t>
            </a:r>
            <a:r>
              <a:rPr lang="en-US" dirty="0"/>
              <a:t>provides a powerful framework to conceptualize the neuropathological and clinical progression of PD, there is still much about the neuropathology of PD that is poorly understood, and many refinements and caveats have been added to the </a:t>
            </a:r>
            <a:r>
              <a:rPr lang="en-US" dirty="0" err="1"/>
              <a:t>Braak</a:t>
            </a:r>
            <a:r>
              <a:rPr lang="en-US" dirty="0"/>
              <a:t> model since its conception.</a:t>
            </a:r>
            <a:r>
              <a:rPr lang="en-US" baseline="30000" dirty="0"/>
              <a:t>2-7</a:t>
            </a:r>
          </a:p>
          <a:p>
            <a:endParaRPr lang="en-GB" dirty="0"/>
          </a:p>
          <a:p>
            <a:r>
              <a:rPr lang="en-GB" dirty="0"/>
              <a:t>References:</a:t>
            </a:r>
          </a:p>
          <a:p>
            <a:pPr marL="228600" indent="-228600">
              <a:buFont typeface="+mj-lt"/>
              <a:buAutoNum type="arabicPeriod"/>
            </a:pPr>
            <a:r>
              <a:rPr lang="en-GB" dirty="0" err="1"/>
              <a:t>Braak</a:t>
            </a:r>
            <a:r>
              <a:rPr lang="en-GB" dirty="0"/>
              <a:t> H, </a:t>
            </a:r>
            <a:r>
              <a:rPr lang="en-GB" dirty="0" err="1"/>
              <a:t>Rüb</a:t>
            </a:r>
            <a:r>
              <a:rPr lang="en-GB" dirty="0"/>
              <a:t> U, Jansen </a:t>
            </a:r>
            <a:r>
              <a:rPr lang="en-GB" dirty="0" err="1"/>
              <a:t>Steur</a:t>
            </a:r>
            <a:r>
              <a:rPr lang="en-GB" dirty="0"/>
              <a:t> ENH, et al. Cognitive status correlates with neuropathologic stage in Parkinson disease. Neurology 2005; 64 (8): 1404–1410.</a:t>
            </a:r>
          </a:p>
          <a:p>
            <a:pPr marL="228600" indent="-228600">
              <a:buFont typeface="+mj-lt"/>
              <a:buAutoNum type="arabicPeriod"/>
            </a:pPr>
            <a:r>
              <a:rPr lang="en-GB" dirty="0" err="1"/>
              <a:t>Borghammer</a:t>
            </a:r>
            <a:r>
              <a:rPr lang="en-GB" dirty="0"/>
              <a:t> P, Just MK, </a:t>
            </a:r>
            <a:r>
              <a:rPr lang="en-GB" dirty="0" err="1"/>
              <a:t>Horsager</a:t>
            </a:r>
            <a:r>
              <a:rPr lang="en-GB" dirty="0"/>
              <a:t> J, et al. A postmortem study suggests a revision of the dual-hit hypothesis of Parkinson's disease. NPJ </a:t>
            </a:r>
            <a:r>
              <a:rPr lang="en-GB" dirty="0" err="1"/>
              <a:t>Parkinsons</a:t>
            </a:r>
            <a:r>
              <a:rPr lang="en-GB" dirty="0"/>
              <a:t> Dis 2022; 8 (1): 166.</a:t>
            </a:r>
          </a:p>
          <a:p>
            <a:pPr marL="228600" indent="-228600">
              <a:buFont typeface="+mj-lt"/>
              <a:buAutoNum type="arabicPeriod"/>
            </a:pPr>
            <a:r>
              <a:rPr lang="en-GB" dirty="0" err="1"/>
              <a:t>Braak</a:t>
            </a:r>
            <a:r>
              <a:rPr lang="en-GB" dirty="0"/>
              <a:t> H, </a:t>
            </a:r>
            <a:r>
              <a:rPr lang="en-GB" dirty="0" err="1"/>
              <a:t>Rüb</a:t>
            </a:r>
            <a:r>
              <a:rPr lang="en-GB" dirty="0"/>
              <a:t> U, Gai WP, Del </a:t>
            </a:r>
            <a:r>
              <a:rPr lang="en-GB" dirty="0" err="1"/>
              <a:t>Tredici</a:t>
            </a:r>
            <a:r>
              <a:rPr lang="en-GB" dirty="0"/>
              <a:t> K. Idiopathic Parkinson’s disease: possible routes by which vulnerable neuronal types may be subject to </a:t>
            </a:r>
            <a:r>
              <a:rPr lang="en-GB" dirty="0" err="1"/>
              <a:t>neuroinvasion</a:t>
            </a:r>
            <a:r>
              <a:rPr lang="en-GB" dirty="0"/>
              <a:t> by an unknown pathogen. J Neural </a:t>
            </a:r>
            <a:r>
              <a:rPr lang="en-GB" dirty="0" err="1"/>
              <a:t>Transm</a:t>
            </a:r>
            <a:r>
              <a:rPr lang="en-GB" dirty="0"/>
              <a:t> (Vienna) 2003; 110 (5): 517–536. </a:t>
            </a:r>
          </a:p>
          <a:p>
            <a:pPr marL="228600" indent="-228600">
              <a:buFont typeface="+mj-lt"/>
              <a:buAutoNum type="arabicPeriod"/>
            </a:pPr>
            <a:r>
              <a:rPr lang="en-US" dirty="0"/>
              <a:t>Halliday G, Hely M, Reid W, Morris J. The progression of pathology in longitudinally followed patients with Parkinson’s disease. Acta </a:t>
            </a:r>
            <a:r>
              <a:rPr lang="en-US" dirty="0" err="1"/>
              <a:t>Neuropathol</a:t>
            </a:r>
            <a:r>
              <a:rPr lang="en-US" dirty="0"/>
              <a:t> 2008; 115 (4): 409–415.</a:t>
            </a:r>
            <a:r>
              <a:rPr lang="en-GB" dirty="0"/>
              <a:t> </a:t>
            </a:r>
          </a:p>
          <a:p>
            <a:pPr marL="228600" indent="-228600">
              <a:buFont typeface="+mj-lt"/>
              <a:buAutoNum type="arabicPeriod"/>
            </a:pPr>
            <a:r>
              <a:rPr lang="en-GB" dirty="0"/>
              <a:t>Hawkes CH, Del </a:t>
            </a:r>
            <a:r>
              <a:rPr lang="en-GB" dirty="0" err="1"/>
              <a:t>Tredici</a:t>
            </a:r>
            <a:r>
              <a:rPr lang="en-GB" dirty="0"/>
              <a:t> K, </a:t>
            </a:r>
            <a:r>
              <a:rPr lang="en-GB" dirty="0" err="1"/>
              <a:t>Braak</a:t>
            </a:r>
            <a:r>
              <a:rPr lang="en-GB" dirty="0"/>
              <a:t> H. Parkinson’s disease: a dual-hit hypothesis. </a:t>
            </a:r>
            <a:r>
              <a:rPr lang="en-GB" dirty="0" err="1"/>
              <a:t>Neuropathol</a:t>
            </a:r>
            <a:r>
              <a:rPr lang="en-GB" dirty="0"/>
              <a:t> </a:t>
            </a:r>
            <a:r>
              <a:rPr lang="en-GB" dirty="0" err="1"/>
              <a:t>Appl</a:t>
            </a:r>
            <a:r>
              <a:rPr lang="en-GB" dirty="0"/>
              <a:t> </a:t>
            </a:r>
            <a:r>
              <a:rPr lang="en-GB" dirty="0" err="1"/>
              <a:t>Neurobiol</a:t>
            </a:r>
            <a:r>
              <a:rPr lang="en-GB" dirty="0"/>
              <a:t> 2007; 33 (6): 599–614.</a:t>
            </a:r>
          </a:p>
          <a:p>
            <a:pPr marL="228600" indent="-228600">
              <a:buFont typeface="+mj-lt"/>
              <a:buAutoNum type="arabicPeriod"/>
            </a:pPr>
            <a:r>
              <a:rPr lang="en-GB" dirty="0" err="1"/>
              <a:t>Horsager</a:t>
            </a:r>
            <a:r>
              <a:rPr lang="en-GB" dirty="0"/>
              <a:t> J, Andersen KB, Knudsen K, et al. Brain-first versus body-first Parkinson’s disease: a multimodal imaging case-control study. Brain 2020; 143 (10): 3077–3088.</a:t>
            </a:r>
          </a:p>
          <a:p>
            <a:pPr marL="228600" indent="-228600">
              <a:buFont typeface="+mj-lt"/>
              <a:buAutoNum type="arabicPeriod"/>
            </a:pPr>
            <a:r>
              <a:rPr lang="en-GB" dirty="0" err="1"/>
              <a:t>Surmeier</a:t>
            </a:r>
            <a:r>
              <a:rPr lang="en-GB" dirty="0"/>
              <a:t> DJ, </a:t>
            </a:r>
            <a:r>
              <a:rPr lang="en-GB" dirty="0" err="1"/>
              <a:t>Obeso</a:t>
            </a:r>
            <a:r>
              <a:rPr lang="en-GB" dirty="0"/>
              <a:t> JA, Halliday GM. Selective neuronal vulnerability in Parkinson disease. Nat Rev </a:t>
            </a:r>
            <a:r>
              <a:rPr lang="en-GB" dirty="0" err="1"/>
              <a:t>Neurosci</a:t>
            </a:r>
            <a:r>
              <a:rPr lang="en-GB" dirty="0"/>
              <a:t> 2017; 18 (2): 101–113.</a:t>
            </a:r>
          </a:p>
        </p:txBody>
      </p:sp>
      <p:sp>
        <p:nvSpPr>
          <p:cNvPr id="4" name="Slide Number Placeholder 3"/>
          <p:cNvSpPr>
            <a:spLocks noGrp="1"/>
          </p:cNvSpPr>
          <p:nvPr>
            <p:ph type="sldNum" sz="quarter" idx="10"/>
          </p:nvPr>
        </p:nvSpPr>
        <p:spPr/>
        <p:txBody>
          <a:bodyPr/>
          <a:lstStyle/>
          <a:p>
            <a:fld id="{037C2873-EBE5-CF42-9E30-7832FC02D1D9}" type="slidenum">
              <a:rPr lang="en-GB" smtClean="0"/>
              <a:t>30</a:t>
            </a:fld>
            <a:endParaRPr lang="en-GB"/>
          </a:p>
        </p:txBody>
      </p:sp>
    </p:spTree>
    <p:extLst>
      <p:ext uri="{BB962C8B-B14F-4D97-AF65-F5344CB8AC3E}">
        <p14:creationId xmlns:p14="http://schemas.microsoft.com/office/powerpoint/2010/main" val="6468926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During late-stage PD, the ability of patients to control their symptoms diminishes as their dopaminergic medication becomes less effective.</a:t>
            </a:r>
            <a:r>
              <a:rPr lang="en-GB" baseline="30000" dirty="0"/>
              <a:t>1-3</a:t>
            </a:r>
            <a:r>
              <a:rPr lang="en-GB" dirty="0"/>
              <a:t> This lack of symptom control can potentially cause severe mental and physical disability due to the array of motor and non-motor symptoms that develop during late-stage PD.</a:t>
            </a:r>
            <a:r>
              <a:rPr lang="en-GB" baseline="30000" dirty="0"/>
              <a:t>1-3</a:t>
            </a:r>
            <a:r>
              <a:rPr lang="en-GB" dirty="0"/>
              <a:t> These symptoms can be a source of emotional distress to both the patient and their caregivers.</a:t>
            </a:r>
            <a:r>
              <a:rPr lang="en-GB" baseline="30000" dirty="0"/>
              <a:t>1-3</a:t>
            </a:r>
            <a:endParaRPr lang="en-GB" dirty="0"/>
          </a:p>
          <a:p>
            <a:r>
              <a:rPr lang="en-GB" dirty="0"/>
              <a:t>Although clinicians may be tempted to provide additional therapies to existing regimens in order to combat late-stage symptoms, one of the goals of treating advanced PD is actually to simplify overall treatment.</a:t>
            </a:r>
            <a:r>
              <a:rPr lang="en-GB" baseline="30000" dirty="0"/>
              <a:t>1</a:t>
            </a:r>
            <a:r>
              <a:rPr lang="en-GB" dirty="0"/>
              <a:t> The aim here is to reduce some of the adverse effects of drug therapies, such as drowsiness, confusion, agitation, and hallucinations.</a:t>
            </a:r>
            <a:r>
              <a:rPr lang="en-GB" baseline="30000" dirty="0"/>
              <a:t>1</a:t>
            </a:r>
            <a:endParaRPr lang="en-GB" dirty="0"/>
          </a:p>
          <a:p>
            <a:r>
              <a:rPr lang="en-GB" dirty="0"/>
              <a:t> </a:t>
            </a:r>
          </a:p>
          <a:p>
            <a:r>
              <a:rPr lang="en-GB" dirty="0"/>
              <a:t>References:</a:t>
            </a:r>
          </a:p>
          <a:p>
            <a:pPr marL="228600" indent="-228600">
              <a:buFont typeface="+mj-lt"/>
              <a:buAutoNum type="arabicPeriod"/>
            </a:pPr>
            <a:r>
              <a:rPr lang="en-GB" dirty="0" err="1"/>
              <a:t>Kulisevsky</a:t>
            </a:r>
            <a:r>
              <a:rPr lang="en-GB" dirty="0"/>
              <a:t> J, </a:t>
            </a:r>
            <a:r>
              <a:rPr lang="en-GB" dirty="0" err="1"/>
              <a:t>Luquin</a:t>
            </a:r>
            <a:r>
              <a:rPr lang="en-GB" dirty="0"/>
              <a:t> MR, </a:t>
            </a:r>
            <a:r>
              <a:rPr lang="en-GB" dirty="0" err="1"/>
              <a:t>Arbelo</a:t>
            </a:r>
            <a:r>
              <a:rPr lang="en-GB" dirty="0"/>
              <a:t> JM, et al. Advanced Parkinson’s disease: clinical characteristics and treatment. Part II. </a:t>
            </a:r>
            <a:r>
              <a:rPr lang="en-GB" dirty="0" err="1"/>
              <a:t>Neurologia</a:t>
            </a:r>
            <a:r>
              <a:rPr lang="en-GB" dirty="0"/>
              <a:t> 2013; 28 (9): 558–583.</a:t>
            </a:r>
          </a:p>
          <a:p>
            <a:pPr marL="228600" indent="-228600">
              <a:buFont typeface="+mj-lt"/>
              <a:buAutoNum type="arabicPeriod"/>
            </a:pPr>
            <a:r>
              <a:rPr lang="en-US" dirty="0"/>
              <a:t>Hussain J, Adams D, Campbell C. End-of-life care in neurodegenerative conditions: outcomes of a specialist palliative neurology service. Int J </a:t>
            </a:r>
            <a:r>
              <a:rPr lang="en-US" dirty="0" err="1"/>
              <a:t>Palliat</a:t>
            </a:r>
            <a:r>
              <a:rPr lang="en-US" dirty="0"/>
              <a:t> </a:t>
            </a:r>
            <a:r>
              <a:rPr lang="en-US" dirty="0" err="1"/>
              <a:t>Nurs</a:t>
            </a:r>
            <a:r>
              <a:rPr lang="en-US" dirty="0"/>
              <a:t> 2013; 19 (4): 162–169.</a:t>
            </a:r>
          </a:p>
          <a:p>
            <a:pPr marL="228600" indent="-228600">
              <a:buFont typeface="+mj-lt"/>
              <a:buAutoNum type="arabicPeriod"/>
            </a:pPr>
            <a:r>
              <a:rPr lang="en-GB" dirty="0"/>
              <a:t>Boersma I, </a:t>
            </a:r>
            <a:r>
              <a:rPr lang="en-GB" dirty="0" err="1"/>
              <a:t>Miyasaki</a:t>
            </a:r>
            <a:r>
              <a:rPr lang="en-GB" dirty="0"/>
              <a:t> J, Kutner J, Kluger B. Palliative care and neurology: time for a paradigm shift. Neurology 2014; 83 (6): 561–567.</a:t>
            </a:r>
          </a:p>
          <a:p>
            <a:pPr marL="228600" indent="-228600">
              <a:buFont typeface="+mj-lt"/>
              <a:buAutoNum type="arabicPeriod"/>
            </a:pPr>
            <a:r>
              <a:rPr lang="en-US" dirty="0" err="1"/>
              <a:t>Miyasaki</a:t>
            </a:r>
            <a:r>
              <a:rPr lang="en-US" dirty="0"/>
              <a:t> JM, Lim SY, Chaudhuri KR, et al. Palliative care to support the needs of adults with neurological disease. Mov </a:t>
            </a:r>
            <a:r>
              <a:rPr lang="en-US" dirty="0" err="1"/>
              <a:t>Disord</a:t>
            </a:r>
            <a:r>
              <a:rPr lang="en-US" dirty="0"/>
              <a:t> 2022; 37 (1): 182–189.</a:t>
            </a:r>
          </a:p>
          <a:p>
            <a:endParaRPr lang="en-US" dirty="0"/>
          </a:p>
        </p:txBody>
      </p:sp>
      <p:sp>
        <p:nvSpPr>
          <p:cNvPr id="4" name="Slide Number Placeholder 3"/>
          <p:cNvSpPr>
            <a:spLocks noGrp="1"/>
          </p:cNvSpPr>
          <p:nvPr>
            <p:ph type="sldNum" sz="quarter" idx="10"/>
          </p:nvPr>
        </p:nvSpPr>
        <p:spPr/>
        <p:txBody>
          <a:bodyPr/>
          <a:lstStyle/>
          <a:p>
            <a:fld id="{037C2873-EBE5-CF42-9E30-7832FC02D1D9}" type="slidenum">
              <a:rPr lang="en-GB" smtClean="0"/>
              <a:t>31</a:t>
            </a:fld>
            <a:endParaRPr lang="en-GB"/>
          </a:p>
        </p:txBody>
      </p:sp>
    </p:spTree>
    <p:extLst>
      <p:ext uri="{BB962C8B-B14F-4D97-AF65-F5344CB8AC3E}">
        <p14:creationId xmlns:p14="http://schemas.microsoft.com/office/powerpoint/2010/main" val="35865416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37C2873-EBE5-CF42-9E30-7832FC02D1D9}" type="slidenum">
              <a:rPr lang="en-GB" smtClean="0"/>
              <a:t>32</a:t>
            </a:fld>
            <a:endParaRPr lang="en-GB"/>
          </a:p>
        </p:txBody>
      </p:sp>
    </p:spTree>
    <p:extLst>
      <p:ext uri="{BB962C8B-B14F-4D97-AF65-F5344CB8AC3E}">
        <p14:creationId xmlns:p14="http://schemas.microsoft.com/office/powerpoint/2010/main" val="34995787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37C2873-EBE5-CF42-9E30-7832FC02D1D9}" type="slidenum">
              <a:rPr lang="en-GB" smtClean="0"/>
              <a:t>33</a:t>
            </a:fld>
            <a:endParaRPr lang="en-GB"/>
          </a:p>
        </p:txBody>
      </p:sp>
    </p:spTree>
    <p:extLst>
      <p:ext uri="{BB962C8B-B14F-4D97-AF65-F5344CB8AC3E}">
        <p14:creationId xmlns:p14="http://schemas.microsoft.com/office/powerpoint/2010/main" val="521013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83CB9554-DBBF-45EE-B195-27A13C15D076}"/>
              </a:ext>
            </a:extLst>
          </p:cNvPr>
          <p:cNvSpPr>
            <a:spLocks noGrp="1"/>
          </p:cNvSpPr>
          <p:nvPr>
            <p:ph type="sldNum" sz="quarter" idx="4"/>
          </p:nvPr>
        </p:nvSpPr>
        <p:spPr>
          <a:xfrm>
            <a:off x="11650662" y="6434112"/>
            <a:ext cx="271337"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
        <p:nvSpPr>
          <p:cNvPr id="28" name="Rectangle 27">
            <a:extLst>
              <a:ext uri="{FF2B5EF4-FFF2-40B4-BE49-F238E27FC236}">
                <a16:creationId xmlns:a16="http://schemas.microsoft.com/office/drawing/2014/main" id="{95ADC762-8706-49BF-B0C9-DB8B18411C25}"/>
              </a:ext>
            </a:extLst>
          </p:cNvPr>
          <p:cNvSpPr/>
          <p:nvPr/>
        </p:nvSpPr>
        <p:spPr>
          <a:xfrm>
            <a:off x="0" y="-1"/>
            <a:ext cx="12192000" cy="6858001"/>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2" name="Graphic 8">
            <a:extLst>
              <a:ext uri="{FF2B5EF4-FFF2-40B4-BE49-F238E27FC236}">
                <a16:creationId xmlns:a16="http://schemas.microsoft.com/office/drawing/2014/main" id="{7FABB232-20E7-4120-82D3-0BF832B134D8}"/>
              </a:ext>
            </a:extLst>
          </p:cNvPr>
          <p:cNvSpPr/>
          <p:nvPr/>
        </p:nvSpPr>
        <p:spPr>
          <a:xfrm>
            <a:off x="8152873" y="5937114"/>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23" name="Picture Placeholder 22">
            <a:extLst>
              <a:ext uri="{FF2B5EF4-FFF2-40B4-BE49-F238E27FC236}">
                <a16:creationId xmlns:a16="http://schemas.microsoft.com/office/drawing/2014/main" id="{5A8DB64F-28AD-40CA-9421-A2D1C7684BB0}"/>
              </a:ext>
            </a:extLst>
          </p:cNvPr>
          <p:cNvSpPr>
            <a:spLocks noGrp="1"/>
          </p:cNvSpPr>
          <p:nvPr>
            <p:ph type="pic" sz="quarter" idx="16"/>
          </p:nvPr>
        </p:nvSpPr>
        <p:spPr>
          <a:xfrm>
            <a:off x="1" y="-1"/>
            <a:ext cx="7649633" cy="6858001"/>
          </a:xfrm>
          <a:custGeom>
            <a:avLst/>
            <a:gdLst>
              <a:gd name="connsiteX0" fmla="*/ 4723566 w 5737225"/>
              <a:gd name="connsiteY0" fmla="*/ 4092221 h 5143501"/>
              <a:gd name="connsiteX1" fmla="*/ 5737225 w 5737225"/>
              <a:gd name="connsiteY1" fmla="*/ 4092221 h 5143501"/>
              <a:gd name="connsiteX2" fmla="*/ 5737225 w 5737225"/>
              <a:gd name="connsiteY2" fmla="*/ 5143501 h 5143501"/>
              <a:gd name="connsiteX3" fmla="*/ 4723566 w 5737225"/>
              <a:gd name="connsiteY3" fmla="*/ 5143501 h 5143501"/>
              <a:gd name="connsiteX4" fmla="*/ 2852079 w 5737225"/>
              <a:gd name="connsiteY4" fmla="*/ 1876859 h 5143501"/>
              <a:gd name="connsiteX5" fmla="*/ 2785700 w 5737225"/>
              <a:gd name="connsiteY5" fmla="*/ 1943387 h 5143501"/>
              <a:gd name="connsiteX6" fmla="*/ 2785700 w 5737225"/>
              <a:gd name="connsiteY6" fmla="*/ 4630359 h 5143501"/>
              <a:gd name="connsiteX7" fmla="*/ 2852015 w 5737225"/>
              <a:gd name="connsiteY7" fmla="*/ 4696957 h 5143501"/>
              <a:gd name="connsiteX8" fmla="*/ 4071744 w 5737225"/>
              <a:gd name="connsiteY8" fmla="*/ 4696957 h 5143501"/>
              <a:gd name="connsiteX9" fmla="*/ 4138341 w 5737225"/>
              <a:gd name="connsiteY9" fmla="*/ 4630550 h 5143501"/>
              <a:gd name="connsiteX10" fmla="*/ 4138341 w 5737225"/>
              <a:gd name="connsiteY10" fmla="*/ 4630549 h 5143501"/>
              <a:gd name="connsiteX11" fmla="*/ 4138341 w 5737225"/>
              <a:gd name="connsiteY11" fmla="*/ 4630359 h 5143501"/>
              <a:gd name="connsiteX12" fmla="*/ 4071744 w 5737225"/>
              <a:gd name="connsiteY12" fmla="*/ 4563977 h 5143501"/>
              <a:gd name="connsiteX13" fmla="*/ 4071755 w 5737225"/>
              <a:gd name="connsiteY13" fmla="*/ 4563976 h 5143501"/>
              <a:gd name="connsiteX14" fmla="*/ 2918679 w 5737225"/>
              <a:gd name="connsiteY14" fmla="*/ 4563976 h 5143501"/>
              <a:gd name="connsiteX15" fmla="*/ 2918679 w 5737225"/>
              <a:gd name="connsiteY15" fmla="*/ 1943457 h 5143501"/>
              <a:gd name="connsiteX16" fmla="*/ 2852079 w 5737225"/>
              <a:gd name="connsiteY16" fmla="*/ 1876859 h 5143501"/>
              <a:gd name="connsiteX17" fmla="*/ 0 w 5737225"/>
              <a:gd name="connsiteY17" fmla="*/ 0 h 5143501"/>
              <a:gd name="connsiteX18" fmla="*/ 3202169 w 5737225"/>
              <a:gd name="connsiteY18" fmla="*/ 0 h 5143501"/>
              <a:gd name="connsiteX19" fmla="*/ 3202169 w 5737225"/>
              <a:gd name="connsiteY19" fmla="*/ 1237041 h 5143501"/>
              <a:gd name="connsiteX20" fmla="*/ 3268496 w 5737225"/>
              <a:gd name="connsiteY20" fmla="*/ 1303647 h 5143501"/>
              <a:gd name="connsiteX21" fmla="*/ 4071999 w 5737225"/>
              <a:gd name="connsiteY21" fmla="*/ 1303647 h 5143501"/>
              <a:gd name="connsiteX22" fmla="*/ 4138491 w 5737225"/>
              <a:gd name="connsiteY22" fmla="*/ 1237155 h 5143501"/>
              <a:gd name="connsiteX23" fmla="*/ 4071999 w 5737225"/>
              <a:gd name="connsiteY23" fmla="*/ 1170662 h 5143501"/>
              <a:gd name="connsiteX24" fmla="*/ 3335164 w 5737225"/>
              <a:gd name="connsiteY24" fmla="*/ 1170662 h 5143501"/>
              <a:gd name="connsiteX25" fmla="*/ 3335164 w 5737225"/>
              <a:gd name="connsiteY25" fmla="*/ 0 h 5143501"/>
              <a:gd name="connsiteX26" fmla="*/ 5737225 w 5737225"/>
              <a:gd name="connsiteY26" fmla="*/ 0 h 5143501"/>
              <a:gd name="connsiteX27" fmla="*/ 5737225 w 5737225"/>
              <a:gd name="connsiteY27" fmla="*/ 456923 h 5143501"/>
              <a:gd name="connsiteX28" fmla="*/ 5061452 w 5737225"/>
              <a:gd name="connsiteY28" fmla="*/ 456923 h 5143501"/>
              <a:gd name="connsiteX29" fmla="*/ 4994854 w 5737225"/>
              <a:gd name="connsiteY29" fmla="*/ 523527 h 5143501"/>
              <a:gd name="connsiteX30" fmla="*/ 5061402 w 5737225"/>
              <a:gd name="connsiteY30" fmla="*/ 589901 h 5143501"/>
              <a:gd name="connsiteX31" fmla="*/ 5737225 w 5737225"/>
              <a:gd name="connsiteY31" fmla="*/ 589901 h 5143501"/>
              <a:gd name="connsiteX32" fmla="*/ 5737225 w 5737225"/>
              <a:gd name="connsiteY32" fmla="*/ 2089756 h 5143501"/>
              <a:gd name="connsiteX33" fmla="*/ 4629893 w 5737225"/>
              <a:gd name="connsiteY33" fmla="*/ 2089756 h 5143501"/>
              <a:gd name="connsiteX34" fmla="*/ 4629893 w 5737225"/>
              <a:gd name="connsiteY34" fmla="*/ 1510997 h 5143501"/>
              <a:gd name="connsiteX35" fmla="*/ 4563439 w 5737225"/>
              <a:gd name="connsiteY35" fmla="*/ 1444400 h 5143501"/>
              <a:gd name="connsiteX36" fmla="*/ 4563282 w 5737225"/>
              <a:gd name="connsiteY36" fmla="*/ 1444400 h 5143501"/>
              <a:gd name="connsiteX37" fmla="*/ 4496684 w 5737225"/>
              <a:gd name="connsiteY37" fmla="*/ 1510997 h 5143501"/>
              <a:gd name="connsiteX38" fmla="*/ 4496684 w 5737225"/>
              <a:gd name="connsiteY38" fmla="*/ 2156580 h 5143501"/>
              <a:gd name="connsiteX39" fmla="*/ 4563233 w 5737225"/>
              <a:gd name="connsiteY39" fmla="*/ 2222962 h 5143501"/>
              <a:gd name="connsiteX40" fmla="*/ 4563235 w 5737225"/>
              <a:gd name="connsiteY40" fmla="*/ 2222962 h 5143501"/>
              <a:gd name="connsiteX41" fmla="*/ 5737225 w 5737225"/>
              <a:gd name="connsiteY41" fmla="*/ 2222962 h 5143501"/>
              <a:gd name="connsiteX42" fmla="*/ 5737225 w 5737225"/>
              <a:gd name="connsiteY42" fmla="*/ 3959244 h 5143501"/>
              <a:gd name="connsiteX43" fmla="*/ 4723569 w 5737225"/>
              <a:gd name="connsiteY43" fmla="*/ 3959244 h 5143501"/>
              <a:gd name="connsiteX44" fmla="*/ 4723569 w 5737225"/>
              <a:gd name="connsiteY44" fmla="*/ 3172909 h 5143501"/>
              <a:gd name="connsiteX45" fmla="*/ 4656893 w 5737225"/>
              <a:gd name="connsiteY45" fmla="*/ 3106534 h 5143501"/>
              <a:gd name="connsiteX46" fmla="*/ 4656742 w 5737225"/>
              <a:gd name="connsiteY46" fmla="*/ 3106534 h 5143501"/>
              <a:gd name="connsiteX47" fmla="*/ 3781167 w 5737225"/>
              <a:gd name="connsiteY47" fmla="*/ 3106534 h 5143501"/>
              <a:gd name="connsiteX48" fmla="*/ 3781167 w 5737225"/>
              <a:gd name="connsiteY48" fmla="*/ 2468938 h 5143501"/>
              <a:gd name="connsiteX49" fmla="*/ 3714836 w 5737225"/>
              <a:gd name="connsiteY49" fmla="*/ 2402336 h 5143501"/>
              <a:gd name="connsiteX50" fmla="*/ 3714786 w 5737225"/>
              <a:gd name="connsiteY50" fmla="*/ 2402336 h 5143501"/>
              <a:gd name="connsiteX51" fmla="*/ 3648187 w 5737225"/>
              <a:gd name="connsiteY51" fmla="*/ 2468938 h 5143501"/>
              <a:gd name="connsiteX52" fmla="*/ 3648187 w 5737225"/>
              <a:gd name="connsiteY52" fmla="*/ 3172909 h 5143501"/>
              <a:gd name="connsiteX53" fmla="*/ 3714785 w 5737225"/>
              <a:gd name="connsiteY53" fmla="*/ 3239515 h 5143501"/>
              <a:gd name="connsiteX54" fmla="*/ 4590358 w 5737225"/>
              <a:gd name="connsiteY54" fmla="*/ 3239515 h 5143501"/>
              <a:gd name="connsiteX55" fmla="*/ 4590358 w 5737225"/>
              <a:gd name="connsiteY55" fmla="*/ 5143501 h 5143501"/>
              <a:gd name="connsiteX56" fmla="*/ 0 w 5737225"/>
              <a:gd name="connsiteY56" fmla="*/ 5143501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737225" h="5143501">
                <a:moveTo>
                  <a:pt x="4723566" y="4092221"/>
                </a:moveTo>
                <a:lnTo>
                  <a:pt x="5737225" y="4092221"/>
                </a:lnTo>
                <a:lnTo>
                  <a:pt x="5737225" y="5143501"/>
                </a:lnTo>
                <a:lnTo>
                  <a:pt x="4723566" y="5143501"/>
                </a:lnTo>
                <a:close/>
                <a:moveTo>
                  <a:pt x="2852079" y="1876859"/>
                </a:moveTo>
                <a:cubicBezTo>
                  <a:pt x="2815377" y="1876900"/>
                  <a:pt x="2785659" y="1906686"/>
                  <a:pt x="2785700" y="1943387"/>
                </a:cubicBezTo>
                <a:lnTo>
                  <a:pt x="2785700" y="4630359"/>
                </a:lnTo>
                <a:cubicBezTo>
                  <a:pt x="2785622" y="4667062"/>
                  <a:pt x="2815312" y="4696879"/>
                  <a:pt x="2852015" y="4696957"/>
                </a:cubicBezTo>
                <a:lnTo>
                  <a:pt x="4071744" y="4696957"/>
                </a:lnTo>
                <a:cubicBezTo>
                  <a:pt x="4108472" y="4697009"/>
                  <a:pt x="4138288" y="4667278"/>
                  <a:pt x="4138341" y="4630550"/>
                </a:cubicBezTo>
                <a:cubicBezTo>
                  <a:pt x="4138341" y="4630550"/>
                  <a:pt x="4138341" y="4630549"/>
                  <a:pt x="4138341" y="4630549"/>
                </a:cubicBezTo>
                <a:lnTo>
                  <a:pt x="4138341" y="4630359"/>
                </a:lnTo>
                <a:cubicBezTo>
                  <a:pt x="4138219" y="4593664"/>
                  <a:pt x="4108439" y="4563980"/>
                  <a:pt x="4071744" y="4563977"/>
                </a:cubicBezTo>
                <a:lnTo>
                  <a:pt x="4071755" y="4563976"/>
                </a:lnTo>
                <a:lnTo>
                  <a:pt x="2918679" y="4563976"/>
                </a:lnTo>
                <a:lnTo>
                  <a:pt x="2918679" y="1943457"/>
                </a:lnTo>
                <a:cubicBezTo>
                  <a:pt x="2918651" y="1906687"/>
                  <a:pt x="2888849" y="1876886"/>
                  <a:pt x="2852079" y="1876859"/>
                </a:cubicBezTo>
                <a:close/>
                <a:moveTo>
                  <a:pt x="0" y="0"/>
                </a:moveTo>
                <a:lnTo>
                  <a:pt x="3202169" y="0"/>
                </a:lnTo>
                <a:lnTo>
                  <a:pt x="3202169" y="1237041"/>
                </a:lnTo>
                <a:cubicBezTo>
                  <a:pt x="3202092" y="1273750"/>
                  <a:pt x="3231787" y="1303570"/>
                  <a:pt x="3268496" y="1303647"/>
                </a:cubicBezTo>
                <a:lnTo>
                  <a:pt x="4071999" y="1303647"/>
                </a:lnTo>
                <a:cubicBezTo>
                  <a:pt x="4108721" y="1303647"/>
                  <a:pt x="4138491" y="1273878"/>
                  <a:pt x="4138491" y="1237155"/>
                </a:cubicBezTo>
                <a:cubicBezTo>
                  <a:pt x="4138491" y="1200432"/>
                  <a:pt x="4108721" y="1170662"/>
                  <a:pt x="4071999" y="1170662"/>
                </a:cubicBezTo>
                <a:lnTo>
                  <a:pt x="3335164" y="1170662"/>
                </a:lnTo>
                <a:lnTo>
                  <a:pt x="3335164" y="0"/>
                </a:lnTo>
                <a:lnTo>
                  <a:pt x="5737225" y="0"/>
                </a:lnTo>
                <a:lnTo>
                  <a:pt x="5737225" y="456923"/>
                </a:lnTo>
                <a:lnTo>
                  <a:pt x="5061452" y="456923"/>
                </a:lnTo>
                <a:cubicBezTo>
                  <a:pt x="5024681" y="456954"/>
                  <a:pt x="4994882" y="486756"/>
                  <a:pt x="4994854" y="523527"/>
                </a:cubicBezTo>
                <a:cubicBezTo>
                  <a:pt x="4994902" y="560232"/>
                  <a:pt x="5024697" y="589949"/>
                  <a:pt x="5061402" y="589901"/>
                </a:cubicBezTo>
                <a:lnTo>
                  <a:pt x="5737225" y="589901"/>
                </a:lnTo>
                <a:lnTo>
                  <a:pt x="5737225" y="2089756"/>
                </a:lnTo>
                <a:lnTo>
                  <a:pt x="4629893" y="2089756"/>
                </a:lnTo>
                <a:lnTo>
                  <a:pt x="4629893" y="1510997"/>
                </a:lnTo>
                <a:cubicBezTo>
                  <a:pt x="4629933" y="1474256"/>
                  <a:pt x="4600181" y="1444440"/>
                  <a:pt x="4563439" y="1444400"/>
                </a:cubicBezTo>
                <a:lnTo>
                  <a:pt x="4563282" y="1444400"/>
                </a:lnTo>
                <a:cubicBezTo>
                  <a:pt x="4526514" y="1444429"/>
                  <a:pt x="4496714" y="1474229"/>
                  <a:pt x="4496684" y="1510997"/>
                </a:cubicBezTo>
                <a:lnTo>
                  <a:pt x="4496684" y="2156580"/>
                </a:lnTo>
                <a:cubicBezTo>
                  <a:pt x="4496730" y="2193288"/>
                  <a:pt x="4526525" y="2223008"/>
                  <a:pt x="4563233" y="2222962"/>
                </a:cubicBezTo>
                <a:cubicBezTo>
                  <a:pt x="4563234" y="2222962"/>
                  <a:pt x="4563235" y="2222962"/>
                  <a:pt x="4563235" y="2222962"/>
                </a:cubicBezTo>
                <a:lnTo>
                  <a:pt x="5737225" y="2222962"/>
                </a:lnTo>
                <a:lnTo>
                  <a:pt x="5737225" y="3959244"/>
                </a:lnTo>
                <a:lnTo>
                  <a:pt x="4723569" y="3959244"/>
                </a:lnTo>
                <a:lnTo>
                  <a:pt x="4723569" y="3172909"/>
                </a:lnTo>
                <a:cubicBezTo>
                  <a:pt x="4723486" y="3136168"/>
                  <a:pt x="4693634" y="3106451"/>
                  <a:pt x="4656893" y="3106534"/>
                </a:cubicBezTo>
                <a:lnTo>
                  <a:pt x="4656742" y="3106534"/>
                </a:lnTo>
                <a:lnTo>
                  <a:pt x="3781167" y="3106534"/>
                </a:lnTo>
                <a:lnTo>
                  <a:pt x="3781167" y="2468938"/>
                </a:lnTo>
                <a:cubicBezTo>
                  <a:pt x="3781242" y="2432230"/>
                  <a:pt x="3751545" y="2402411"/>
                  <a:pt x="3714836" y="2402336"/>
                </a:cubicBezTo>
                <a:lnTo>
                  <a:pt x="3714786" y="2402336"/>
                </a:lnTo>
                <a:cubicBezTo>
                  <a:pt x="3678045" y="2402437"/>
                  <a:pt x="3648287" y="2432197"/>
                  <a:pt x="3648187" y="2468938"/>
                </a:cubicBezTo>
                <a:lnTo>
                  <a:pt x="3648187" y="3172909"/>
                </a:lnTo>
                <a:cubicBezTo>
                  <a:pt x="3648210" y="3209682"/>
                  <a:pt x="3678012" y="3239487"/>
                  <a:pt x="3714785" y="3239515"/>
                </a:cubicBezTo>
                <a:lnTo>
                  <a:pt x="4590358" y="3239515"/>
                </a:lnTo>
                <a:lnTo>
                  <a:pt x="4590358" y="5143501"/>
                </a:lnTo>
                <a:lnTo>
                  <a:pt x="0" y="5143501"/>
                </a:lnTo>
                <a:close/>
              </a:path>
            </a:pathLst>
          </a:custGeom>
          <a:noFill/>
        </p:spPr>
        <p:txBody>
          <a:bodyPr wrap="square">
            <a:noAutofit/>
          </a:bodyPr>
          <a:lstStyle>
            <a:lvl1pPr>
              <a:defRPr>
                <a:solidFill>
                  <a:srgbClr val="1A1A17"/>
                </a:solidFill>
              </a:defRPr>
            </a:lvl1pPr>
          </a:lstStyle>
          <a:p>
            <a:r>
              <a:rPr lang="en-US"/>
              <a:t>Click icon to add picture</a:t>
            </a:r>
            <a:endParaRPr lang="da-DK"/>
          </a:p>
        </p:txBody>
      </p:sp>
      <p:sp>
        <p:nvSpPr>
          <p:cNvPr id="24" name="Text Placeholder 23">
            <a:extLst>
              <a:ext uri="{FF2B5EF4-FFF2-40B4-BE49-F238E27FC236}">
                <a16:creationId xmlns:a16="http://schemas.microsoft.com/office/drawing/2014/main" id="{93E2F4AF-D4BB-40DE-B41A-382CA3CDC043}"/>
              </a:ext>
            </a:extLst>
          </p:cNvPr>
          <p:cNvSpPr>
            <a:spLocks noGrp="1"/>
          </p:cNvSpPr>
          <p:nvPr>
            <p:ph type="body" sz="quarter" idx="17"/>
          </p:nvPr>
        </p:nvSpPr>
        <p:spPr>
          <a:xfrm>
            <a:off x="8186737" y="513000"/>
            <a:ext cx="3463926" cy="240065"/>
          </a:xfrm>
          <a:prstGeom prst="rect">
            <a:avLst/>
          </a:prstGeom>
        </p:spPr>
        <p:txBody>
          <a:bodyPr wrap="square" lIns="0" tIns="0" rIns="0" bIns="0">
            <a:noAutofit/>
          </a:bodyPr>
          <a:lstStyle>
            <a:lvl1pPr marL="0" indent="0">
              <a:buNone/>
              <a:defRPr sz="1733" kern="0" baseline="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27" name="Text Placeholder 23">
            <a:extLst>
              <a:ext uri="{FF2B5EF4-FFF2-40B4-BE49-F238E27FC236}">
                <a16:creationId xmlns:a16="http://schemas.microsoft.com/office/drawing/2014/main" id="{5C8C6C4C-26A7-480C-A356-E9C9FE7937FC}"/>
              </a:ext>
            </a:extLst>
          </p:cNvPr>
          <p:cNvSpPr>
            <a:spLocks noGrp="1"/>
          </p:cNvSpPr>
          <p:nvPr>
            <p:ph type="body" sz="quarter" idx="18"/>
          </p:nvPr>
        </p:nvSpPr>
        <p:spPr>
          <a:xfrm>
            <a:off x="8186737" y="986690"/>
            <a:ext cx="3463926" cy="4062310"/>
          </a:xfrm>
          <a:prstGeom prst="rect">
            <a:avLst/>
          </a:prstGeom>
        </p:spPr>
        <p:txBody>
          <a:bodyPr wrap="square" lIns="0" tIns="0" rIns="0" bIns="0">
            <a:noAutofit/>
          </a:bodyPr>
          <a:lstStyle>
            <a:lvl1pPr marL="0" indent="0">
              <a:lnSpc>
                <a:spcPct val="90000"/>
              </a:lnSpc>
              <a:buNone/>
              <a:defRPr sz="3733" b="1">
                <a:solidFill>
                  <a:srgbClr val="3F1A01"/>
                </a:solidFill>
              </a:defRPr>
            </a:lvl1pPr>
          </a:lstStyle>
          <a:p>
            <a:pPr lvl="0"/>
            <a:r>
              <a:rPr lang="en-US"/>
              <a:t>Click to edit Master text styles</a:t>
            </a:r>
          </a:p>
        </p:txBody>
      </p:sp>
      <p:sp>
        <p:nvSpPr>
          <p:cNvPr id="8" name="ExternalLogo" hidden="1">
            <a:extLst>
              <a:ext uri="{FF2B5EF4-FFF2-40B4-BE49-F238E27FC236}">
                <a16:creationId xmlns:a16="http://schemas.microsoft.com/office/drawing/2014/main" id="{EB83A143-A85C-483C-9696-7B32A177F6E1}"/>
              </a:ext>
            </a:extLst>
          </p:cNvPr>
          <p:cNvSpPr/>
          <p:nvPr/>
        </p:nvSpPr>
        <p:spPr>
          <a:xfrm>
            <a:off x="8181032" y="5019883"/>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304029366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ext Placeholder 23">
            <a:extLst>
              <a:ext uri="{FF2B5EF4-FFF2-40B4-BE49-F238E27FC236}">
                <a16:creationId xmlns:a16="http://schemas.microsoft.com/office/drawing/2014/main" id="{FBEA8FD4-E399-42E0-957E-570ACE0FFA37}"/>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4" name="Title Placeholder 1">
            <a:extLst>
              <a:ext uri="{FF2B5EF4-FFF2-40B4-BE49-F238E27FC236}">
                <a16:creationId xmlns:a16="http://schemas.microsoft.com/office/drawing/2014/main" id="{989A6B36-5074-4FCB-B447-1EDAD42FB645}"/>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a:p>
        </p:txBody>
      </p:sp>
      <p:sp>
        <p:nvSpPr>
          <p:cNvPr id="16" name="Content Placeholder 2">
            <a:extLst>
              <a:ext uri="{FF2B5EF4-FFF2-40B4-BE49-F238E27FC236}">
                <a16:creationId xmlns:a16="http://schemas.microsoft.com/office/drawing/2014/main" id="{22CB1E00-7536-44DF-8EF1-5DEC73C07787}"/>
              </a:ext>
            </a:extLst>
          </p:cNvPr>
          <p:cNvSpPr>
            <a:spLocks noGrp="1"/>
          </p:cNvSpPr>
          <p:nvPr>
            <p:ph idx="19"/>
          </p:nvPr>
        </p:nvSpPr>
        <p:spPr>
          <a:xfrm>
            <a:off x="539750" y="1416785"/>
            <a:ext cx="9213849"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Pladsholder til tekst 4">
            <a:extLst>
              <a:ext uri="{FF2B5EF4-FFF2-40B4-BE49-F238E27FC236}">
                <a16:creationId xmlns:a16="http://schemas.microsoft.com/office/drawing/2014/main" id="{6E8E7CF8-F359-412E-9254-CDE322263B1F}"/>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8" name="Slide Number Placeholder 5">
            <a:extLst>
              <a:ext uri="{FF2B5EF4-FFF2-40B4-BE49-F238E27FC236}">
                <a16:creationId xmlns:a16="http://schemas.microsoft.com/office/drawing/2014/main" id="{427F3E52-D28D-4107-8D72-B5A499B26B25}"/>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90355107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 w. pattern">
    <p:bg>
      <p:bgPr>
        <a:solidFill>
          <a:schemeClr val="bg1"/>
        </a:solidFill>
        <a:effectLst/>
      </p:bgPr>
    </p:bg>
    <p:spTree>
      <p:nvGrpSpPr>
        <p:cNvPr id="1" name=""/>
        <p:cNvGrpSpPr/>
        <p:nvPr/>
      </p:nvGrpSpPr>
      <p:grpSpPr>
        <a:xfrm>
          <a:off x="0" y="0"/>
          <a:ext cx="0" cy="0"/>
          <a:chOff x="0" y="0"/>
          <a:chExt cx="0" cy="0"/>
        </a:xfrm>
      </p:grpSpPr>
      <p:sp>
        <p:nvSpPr>
          <p:cNvPr id="6" name="AutoShape 3">
            <a:extLst>
              <a:ext uri="{FF2B5EF4-FFF2-40B4-BE49-F238E27FC236}">
                <a16:creationId xmlns:a16="http://schemas.microsoft.com/office/drawing/2014/main" id="{7B482223-62A2-4BE1-A7D3-439F28AF6F91}"/>
              </a:ext>
            </a:extLst>
          </p:cNvPr>
          <p:cNvSpPr>
            <a:spLocks noChangeAspect="1" noChangeArrowheads="1" noTextEdit="1"/>
          </p:cNvSpPr>
          <p:nvPr/>
        </p:nvSpPr>
        <p:spPr bwMode="auto">
          <a:xfrm>
            <a:off x="8099425" y="-1439863"/>
            <a:ext cx="8388350" cy="9813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AutoShape 7">
            <a:extLst>
              <a:ext uri="{FF2B5EF4-FFF2-40B4-BE49-F238E27FC236}">
                <a16:creationId xmlns:a16="http://schemas.microsoft.com/office/drawing/2014/main" id="{3F89116A-A372-4C46-AF50-395943F80796}"/>
              </a:ext>
            </a:extLst>
          </p:cNvPr>
          <p:cNvSpPr>
            <a:spLocks noChangeAspect="1" noChangeArrowheads="1" noTextEdit="1"/>
          </p:cNvSpPr>
          <p:nvPr/>
        </p:nvSpPr>
        <p:spPr bwMode="auto">
          <a:xfrm>
            <a:off x="8099425" y="-1439863"/>
            <a:ext cx="8388350" cy="9813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eeform 9">
            <a:extLst>
              <a:ext uri="{FF2B5EF4-FFF2-40B4-BE49-F238E27FC236}">
                <a16:creationId xmlns:a16="http://schemas.microsoft.com/office/drawing/2014/main" id="{7545D9E4-D14D-4332-BA4D-8D8CC388251E}"/>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2B2B2">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17" name="Text Placeholder 23">
            <a:extLst>
              <a:ext uri="{FF2B5EF4-FFF2-40B4-BE49-F238E27FC236}">
                <a16:creationId xmlns:a16="http://schemas.microsoft.com/office/drawing/2014/main" id="{1D1EADEB-D3C6-402C-98DE-D67CB9A828E2}"/>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21" name="Title Placeholder 1">
            <a:extLst>
              <a:ext uri="{FF2B5EF4-FFF2-40B4-BE49-F238E27FC236}">
                <a16:creationId xmlns:a16="http://schemas.microsoft.com/office/drawing/2014/main" id="{7E6EA454-641C-4B83-8B9A-6C19BCF7D973}"/>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a:p>
        </p:txBody>
      </p:sp>
      <p:sp>
        <p:nvSpPr>
          <p:cNvPr id="22" name="Content Placeholder 2">
            <a:extLst>
              <a:ext uri="{FF2B5EF4-FFF2-40B4-BE49-F238E27FC236}">
                <a16:creationId xmlns:a16="http://schemas.microsoft.com/office/drawing/2014/main" id="{E7557081-53B6-4B04-B023-A1B2D0928B11}"/>
              </a:ext>
            </a:extLst>
          </p:cNvPr>
          <p:cNvSpPr>
            <a:spLocks noGrp="1"/>
          </p:cNvSpPr>
          <p:nvPr>
            <p:ph idx="19"/>
          </p:nvPr>
        </p:nvSpPr>
        <p:spPr>
          <a:xfrm>
            <a:off x="539750" y="1416785"/>
            <a:ext cx="9213849" cy="4415215"/>
          </a:xfrm>
          <a:prstGeom prst="rect">
            <a:avLst/>
          </a:prstGeom>
        </p:spPr>
        <p:txBody>
          <a:bodyPr/>
          <a:lstStyle>
            <a:lvl1pPr marL="180000" indent="-180000">
              <a:defRPr sz="1600">
                <a:solidFill>
                  <a:srgbClr val="3F1A01"/>
                </a:solidFill>
              </a:defRPr>
            </a:lvl1pPr>
            <a:lvl2pPr marL="360000" indent="-180000">
              <a:defRPr sz="1400">
                <a:solidFill>
                  <a:srgbClr val="1A1A17"/>
                </a:solidFill>
              </a:defRPr>
            </a:lvl2pPr>
            <a:lvl3pPr marL="540000" indent="-180000">
              <a:defRPr>
                <a:solidFill>
                  <a:srgbClr val="1A1A17"/>
                </a:solidFill>
              </a:defRPr>
            </a:lvl3pPr>
            <a:lvl4pPr marL="720000" indent="-180000">
              <a:defRPr>
                <a:solidFill>
                  <a:srgbClr val="1A1A17"/>
                </a:solidFill>
              </a:defRPr>
            </a:lvl4pPr>
            <a:lvl5pPr marL="900000" indent="-180000">
              <a:defRPr>
                <a:solidFill>
                  <a:srgbClr val="1A1A1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Pladsholder til tekst 4">
            <a:extLst>
              <a:ext uri="{FF2B5EF4-FFF2-40B4-BE49-F238E27FC236}">
                <a16:creationId xmlns:a16="http://schemas.microsoft.com/office/drawing/2014/main" id="{1E8D3709-34DC-405A-8D76-A21A00B78D2E}"/>
              </a:ext>
            </a:extLst>
          </p:cNvPr>
          <p:cNvSpPr>
            <a:spLocks noGrp="1"/>
          </p:cNvSpPr>
          <p:nvPr>
            <p:ph type="body" sz="quarter" idx="18" hasCustomPrompt="1"/>
          </p:nvPr>
        </p:nvSpPr>
        <p:spPr>
          <a:xfrm>
            <a:off x="539750" y="6102000"/>
            <a:ext cx="9213849"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14" name="Slide Number Placeholder 5">
            <a:extLst>
              <a:ext uri="{FF2B5EF4-FFF2-40B4-BE49-F238E27FC236}">
                <a16:creationId xmlns:a16="http://schemas.microsoft.com/office/drawing/2014/main" id="{B4C506A6-9361-47F8-AEB5-04D5D1268463}"/>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241240897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BF16290D-CE69-4658-B15E-FCD77E35F711}"/>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7FA35FBF-0988-4D25-B662-E0B0E67AC860}"/>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a:p>
        </p:txBody>
      </p:sp>
      <p:sp>
        <p:nvSpPr>
          <p:cNvPr id="20" name="Content Placeholder 2">
            <a:extLst>
              <a:ext uri="{FF2B5EF4-FFF2-40B4-BE49-F238E27FC236}">
                <a16:creationId xmlns:a16="http://schemas.microsoft.com/office/drawing/2014/main" id="{B443BFD3-1CC9-431F-BB0E-D19B21C4B149}"/>
              </a:ext>
            </a:extLst>
          </p:cNvPr>
          <p:cNvSpPr>
            <a:spLocks noGrp="1"/>
          </p:cNvSpPr>
          <p:nvPr>
            <p:ph idx="20"/>
          </p:nvPr>
        </p:nvSpPr>
        <p:spPr>
          <a:xfrm>
            <a:off x="539750" y="1416785"/>
            <a:ext cx="5419725"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Content Placeholder 2">
            <a:extLst>
              <a:ext uri="{FF2B5EF4-FFF2-40B4-BE49-F238E27FC236}">
                <a16:creationId xmlns:a16="http://schemas.microsoft.com/office/drawing/2014/main" id="{6E0A71E4-A7B2-4FFB-80F2-94B324D4DD68}"/>
              </a:ext>
            </a:extLst>
          </p:cNvPr>
          <p:cNvSpPr>
            <a:spLocks noGrp="1"/>
          </p:cNvSpPr>
          <p:nvPr>
            <p:ph idx="21"/>
          </p:nvPr>
        </p:nvSpPr>
        <p:spPr>
          <a:xfrm>
            <a:off x="6230938" y="1416785"/>
            <a:ext cx="5419725"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Pladsholder til tekst 4">
            <a:extLst>
              <a:ext uri="{FF2B5EF4-FFF2-40B4-BE49-F238E27FC236}">
                <a16:creationId xmlns:a16="http://schemas.microsoft.com/office/drawing/2014/main" id="{EBB3946A-4DC7-4E05-93EA-397784066B92}"/>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11" name="Slide Number Placeholder 5">
            <a:extLst>
              <a:ext uri="{FF2B5EF4-FFF2-40B4-BE49-F238E27FC236}">
                <a16:creationId xmlns:a16="http://schemas.microsoft.com/office/drawing/2014/main" id="{F6BF5557-45BD-4FB3-97CB-C0FA71F86A1D}"/>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73847133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w. box">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a:p>
        </p:txBody>
      </p:sp>
      <p:sp>
        <p:nvSpPr>
          <p:cNvPr id="18" name="Content Placeholder 2">
            <a:extLst>
              <a:ext uri="{FF2B5EF4-FFF2-40B4-BE49-F238E27FC236}">
                <a16:creationId xmlns:a16="http://schemas.microsoft.com/office/drawing/2014/main" id="{EE0EABDA-198D-44FE-A8B8-E098AEB80673}"/>
              </a:ext>
            </a:extLst>
          </p:cNvPr>
          <p:cNvSpPr>
            <a:spLocks noGrp="1"/>
          </p:cNvSpPr>
          <p:nvPr>
            <p:ph idx="19"/>
          </p:nvPr>
        </p:nvSpPr>
        <p:spPr>
          <a:xfrm>
            <a:off x="539751" y="1416785"/>
            <a:ext cx="5410198"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Content Placeholder 2">
            <a:extLst>
              <a:ext uri="{FF2B5EF4-FFF2-40B4-BE49-F238E27FC236}">
                <a16:creationId xmlns:a16="http://schemas.microsoft.com/office/drawing/2014/main" id="{93C48C60-5B8B-4BD4-86C8-13AA617EF5E6}"/>
              </a:ext>
            </a:extLst>
          </p:cNvPr>
          <p:cNvSpPr>
            <a:spLocks noGrp="1"/>
          </p:cNvSpPr>
          <p:nvPr>
            <p:ph sz="half" idx="20"/>
          </p:nvPr>
        </p:nvSpPr>
        <p:spPr>
          <a:xfrm>
            <a:off x="6235703" y="1416785"/>
            <a:ext cx="5410197" cy="4415215"/>
          </a:xfrm>
          <a:prstGeom prst="round2DiagRect">
            <a:avLst>
              <a:gd name="adj1" fmla="val 0"/>
              <a:gd name="adj2" fmla="val 5647"/>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9" name="Pladsholder til tekst 4">
            <a:extLst>
              <a:ext uri="{FF2B5EF4-FFF2-40B4-BE49-F238E27FC236}">
                <a16:creationId xmlns:a16="http://schemas.microsoft.com/office/drawing/2014/main" id="{29E749E2-61A4-474C-A9F7-035784F76645}"/>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8" name="Slide Number Placeholder 5">
            <a:extLst>
              <a:ext uri="{FF2B5EF4-FFF2-40B4-BE49-F238E27FC236}">
                <a16:creationId xmlns:a16="http://schemas.microsoft.com/office/drawing/2014/main" id="{635BBE75-1630-46E1-9FA9-55908041CCFF}"/>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50413168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boxes">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a:p>
        </p:txBody>
      </p:sp>
      <p:sp>
        <p:nvSpPr>
          <p:cNvPr id="19" name="Content Placeholder 2">
            <a:extLst>
              <a:ext uri="{FF2B5EF4-FFF2-40B4-BE49-F238E27FC236}">
                <a16:creationId xmlns:a16="http://schemas.microsoft.com/office/drawing/2014/main" id="{93C48C60-5B8B-4BD4-86C8-13AA617EF5E6}"/>
              </a:ext>
            </a:extLst>
          </p:cNvPr>
          <p:cNvSpPr>
            <a:spLocks noGrp="1"/>
          </p:cNvSpPr>
          <p:nvPr>
            <p:ph sz="half" idx="20"/>
          </p:nvPr>
        </p:nvSpPr>
        <p:spPr>
          <a:xfrm>
            <a:off x="6235703" y="1416785"/>
            <a:ext cx="5410197" cy="4415215"/>
          </a:xfrm>
          <a:prstGeom prst="round2DiagRect">
            <a:avLst>
              <a:gd name="adj1" fmla="val 0"/>
              <a:gd name="adj2" fmla="val 5647"/>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11" name="Content Placeholder 2">
            <a:extLst>
              <a:ext uri="{FF2B5EF4-FFF2-40B4-BE49-F238E27FC236}">
                <a16:creationId xmlns:a16="http://schemas.microsoft.com/office/drawing/2014/main" id="{EBDA6CC7-1BAA-4EB8-B9AD-0404E7D8D6E1}"/>
              </a:ext>
            </a:extLst>
          </p:cNvPr>
          <p:cNvSpPr>
            <a:spLocks noGrp="1"/>
          </p:cNvSpPr>
          <p:nvPr>
            <p:ph sz="half" idx="21"/>
          </p:nvPr>
        </p:nvSpPr>
        <p:spPr>
          <a:xfrm>
            <a:off x="539749" y="1416785"/>
            <a:ext cx="5410197" cy="4415215"/>
          </a:xfrm>
          <a:prstGeom prst="round2DiagRect">
            <a:avLst>
              <a:gd name="adj1" fmla="val 0"/>
              <a:gd name="adj2" fmla="val 5647"/>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10" name="Pladsholder til tekst 4">
            <a:extLst>
              <a:ext uri="{FF2B5EF4-FFF2-40B4-BE49-F238E27FC236}">
                <a16:creationId xmlns:a16="http://schemas.microsoft.com/office/drawing/2014/main" id="{356E8D43-7E87-4424-807D-A430A2A3556B}"/>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8" name="Slide Number Placeholder 5">
            <a:extLst>
              <a:ext uri="{FF2B5EF4-FFF2-40B4-BE49-F238E27FC236}">
                <a16:creationId xmlns:a16="http://schemas.microsoft.com/office/drawing/2014/main" id="{6F4FDDF7-85E3-4759-BAA0-9BCCD7DE4785}"/>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309093467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ntent boxes">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a:p>
        </p:txBody>
      </p:sp>
      <p:sp>
        <p:nvSpPr>
          <p:cNvPr id="19" name="Content Placeholder 2">
            <a:extLst>
              <a:ext uri="{FF2B5EF4-FFF2-40B4-BE49-F238E27FC236}">
                <a16:creationId xmlns:a16="http://schemas.microsoft.com/office/drawing/2014/main" id="{93C48C60-5B8B-4BD4-86C8-13AA617EF5E6}"/>
              </a:ext>
            </a:extLst>
          </p:cNvPr>
          <p:cNvSpPr>
            <a:spLocks noGrp="1"/>
          </p:cNvSpPr>
          <p:nvPr>
            <p:ph sz="half" idx="20"/>
          </p:nvPr>
        </p:nvSpPr>
        <p:spPr>
          <a:xfrm>
            <a:off x="8133463" y="1416785"/>
            <a:ext cx="3517200" cy="4415215"/>
          </a:xfrm>
          <a:prstGeom prst="round2DiagRect">
            <a:avLst>
              <a:gd name="adj1" fmla="val 0"/>
              <a:gd name="adj2" fmla="val 7633"/>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13" name="Content Placeholder 2">
            <a:extLst>
              <a:ext uri="{FF2B5EF4-FFF2-40B4-BE49-F238E27FC236}">
                <a16:creationId xmlns:a16="http://schemas.microsoft.com/office/drawing/2014/main" id="{E0ABF75E-4167-4805-B291-E9228EC8A4B7}"/>
              </a:ext>
            </a:extLst>
          </p:cNvPr>
          <p:cNvSpPr>
            <a:spLocks noGrp="1"/>
          </p:cNvSpPr>
          <p:nvPr>
            <p:ph sz="half" idx="21"/>
          </p:nvPr>
        </p:nvSpPr>
        <p:spPr>
          <a:xfrm>
            <a:off x="539749" y="1416785"/>
            <a:ext cx="3517200" cy="4415215"/>
          </a:xfrm>
          <a:prstGeom prst="round2DiagRect">
            <a:avLst>
              <a:gd name="adj1" fmla="val 0"/>
              <a:gd name="adj2" fmla="val 7633"/>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18" name="Content Placeholder 2">
            <a:extLst>
              <a:ext uri="{FF2B5EF4-FFF2-40B4-BE49-F238E27FC236}">
                <a16:creationId xmlns:a16="http://schemas.microsoft.com/office/drawing/2014/main" id="{1347E5D1-9F54-45A5-A2B9-C082F6AAD75D}"/>
              </a:ext>
            </a:extLst>
          </p:cNvPr>
          <p:cNvSpPr>
            <a:spLocks noGrp="1"/>
          </p:cNvSpPr>
          <p:nvPr>
            <p:ph sz="half" idx="22"/>
          </p:nvPr>
        </p:nvSpPr>
        <p:spPr>
          <a:xfrm>
            <a:off x="4336606" y="1416785"/>
            <a:ext cx="3517200" cy="4415215"/>
          </a:xfrm>
          <a:prstGeom prst="round2DiagRect">
            <a:avLst>
              <a:gd name="adj1" fmla="val 0"/>
              <a:gd name="adj2" fmla="val 7633"/>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11" name="Pladsholder til tekst 4">
            <a:extLst>
              <a:ext uri="{FF2B5EF4-FFF2-40B4-BE49-F238E27FC236}">
                <a16:creationId xmlns:a16="http://schemas.microsoft.com/office/drawing/2014/main" id="{CADE5614-2F8F-4E7B-AED0-07DEE006528B}"/>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9" name="Slide Number Placeholder 5">
            <a:extLst>
              <a:ext uri="{FF2B5EF4-FFF2-40B4-BE49-F238E27FC236}">
                <a16:creationId xmlns:a16="http://schemas.microsoft.com/office/drawing/2014/main" id="{C259D227-360F-41E9-B0C9-D6A7486F332A}"/>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18199772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Four Content boxes">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a:p>
        </p:txBody>
      </p:sp>
      <p:sp>
        <p:nvSpPr>
          <p:cNvPr id="19" name="Content Placeholder 2">
            <a:extLst>
              <a:ext uri="{FF2B5EF4-FFF2-40B4-BE49-F238E27FC236}">
                <a16:creationId xmlns:a16="http://schemas.microsoft.com/office/drawing/2014/main" id="{93C48C60-5B8B-4BD4-86C8-13AA617EF5E6}"/>
              </a:ext>
            </a:extLst>
          </p:cNvPr>
          <p:cNvSpPr>
            <a:spLocks noGrp="1"/>
          </p:cNvSpPr>
          <p:nvPr>
            <p:ph sz="half" idx="20"/>
          </p:nvPr>
        </p:nvSpPr>
        <p:spPr>
          <a:xfrm>
            <a:off x="9083863" y="1416785"/>
            <a:ext cx="2566800" cy="4415215"/>
          </a:xfrm>
          <a:prstGeom prst="round2DiagRect">
            <a:avLst>
              <a:gd name="adj1" fmla="val 0"/>
              <a:gd name="adj2" fmla="val 10602"/>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12" name="Content Placeholder 2">
            <a:extLst>
              <a:ext uri="{FF2B5EF4-FFF2-40B4-BE49-F238E27FC236}">
                <a16:creationId xmlns:a16="http://schemas.microsoft.com/office/drawing/2014/main" id="{65BA79F2-FD03-4FA8-A335-28C51B2FEEC9}"/>
              </a:ext>
            </a:extLst>
          </p:cNvPr>
          <p:cNvSpPr>
            <a:spLocks noGrp="1"/>
          </p:cNvSpPr>
          <p:nvPr>
            <p:ph sz="half" idx="21"/>
          </p:nvPr>
        </p:nvSpPr>
        <p:spPr>
          <a:xfrm>
            <a:off x="6235825" y="1416785"/>
            <a:ext cx="2566800" cy="4415215"/>
          </a:xfrm>
          <a:prstGeom prst="round2DiagRect">
            <a:avLst>
              <a:gd name="adj1" fmla="val 0"/>
              <a:gd name="adj2" fmla="val 10602"/>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21" name="Content Placeholder 2">
            <a:extLst>
              <a:ext uri="{FF2B5EF4-FFF2-40B4-BE49-F238E27FC236}">
                <a16:creationId xmlns:a16="http://schemas.microsoft.com/office/drawing/2014/main" id="{B780CFF6-1270-4A92-8741-A0B45708FB10}"/>
              </a:ext>
            </a:extLst>
          </p:cNvPr>
          <p:cNvSpPr>
            <a:spLocks noGrp="1"/>
          </p:cNvSpPr>
          <p:nvPr>
            <p:ph sz="half" idx="22"/>
          </p:nvPr>
        </p:nvSpPr>
        <p:spPr>
          <a:xfrm>
            <a:off x="3387787" y="1416785"/>
            <a:ext cx="2566800" cy="4415215"/>
          </a:xfrm>
          <a:prstGeom prst="round2DiagRect">
            <a:avLst>
              <a:gd name="adj1" fmla="val 0"/>
              <a:gd name="adj2" fmla="val 10602"/>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22" name="Content Placeholder 2">
            <a:extLst>
              <a:ext uri="{FF2B5EF4-FFF2-40B4-BE49-F238E27FC236}">
                <a16:creationId xmlns:a16="http://schemas.microsoft.com/office/drawing/2014/main" id="{4CDCEE1B-29F3-4397-96F7-6921DB5D92F1}"/>
              </a:ext>
            </a:extLst>
          </p:cNvPr>
          <p:cNvSpPr>
            <a:spLocks noGrp="1"/>
          </p:cNvSpPr>
          <p:nvPr>
            <p:ph sz="half" idx="23"/>
          </p:nvPr>
        </p:nvSpPr>
        <p:spPr>
          <a:xfrm>
            <a:off x="539749" y="1416785"/>
            <a:ext cx="2566800" cy="4415215"/>
          </a:xfrm>
          <a:prstGeom prst="round2DiagRect">
            <a:avLst>
              <a:gd name="adj1" fmla="val 0"/>
              <a:gd name="adj2" fmla="val 10602"/>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13" name="Pladsholder til tekst 4">
            <a:extLst>
              <a:ext uri="{FF2B5EF4-FFF2-40B4-BE49-F238E27FC236}">
                <a16:creationId xmlns:a16="http://schemas.microsoft.com/office/drawing/2014/main" id="{8F84772B-8496-4FD9-81FF-31041874A1E5}"/>
              </a:ext>
            </a:extLst>
          </p:cNvPr>
          <p:cNvSpPr>
            <a:spLocks noGrp="1"/>
          </p:cNvSpPr>
          <p:nvPr>
            <p:ph type="body" sz="quarter" idx="18" hasCustomPrompt="1"/>
          </p:nvPr>
        </p:nvSpPr>
        <p:spPr>
          <a:xfrm>
            <a:off x="539750" y="6102000"/>
            <a:ext cx="9483726"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10" name="Slide Number Placeholder 5">
            <a:extLst>
              <a:ext uri="{FF2B5EF4-FFF2-40B4-BE49-F238E27FC236}">
                <a16:creationId xmlns:a16="http://schemas.microsoft.com/office/drawing/2014/main" id="{CF814FC2-2DB5-4AE0-A96E-5BBB8CC70D33}"/>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225212927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Five Content boxes">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a:p>
        </p:txBody>
      </p:sp>
      <p:sp>
        <p:nvSpPr>
          <p:cNvPr id="21" name="Content Placeholder 2">
            <a:extLst>
              <a:ext uri="{FF2B5EF4-FFF2-40B4-BE49-F238E27FC236}">
                <a16:creationId xmlns:a16="http://schemas.microsoft.com/office/drawing/2014/main" id="{B780CFF6-1270-4A92-8741-A0B45708FB10}"/>
              </a:ext>
            </a:extLst>
          </p:cNvPr>
          <p:cNvSpPr>
            <a:spLocks noGrp="1"/>
          </p:cNvSpPr>
          <p:nvPr>
            <p:ph sz="half" idx="22"/>
          </p:nvPr>
        </p:nvSpPr>
        <p:spPr>
          <a:xfrm>
            <a:off x="2816177"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13" name="Content Placeholder 2">
            <a:extLst>
              <a:ext uri="{FF2B5EF4-FFF2-40B4-BE49-F238E27FC236}">
                <a16:creationId xmlns:a16="http://schemas.microsoft.com/office/drawing/2014/main" id="{2A747F93-4DB6-442B-83CE-024D95644E22}"/>
              </a:ext>
            </a:extLst>
          </p:cNvPr>
          <p:cNvSpPr>
            <a:spLocks noGrp="1"/>
          </p:cNvSpPr>
          <p:nvPr>
            <p:ph sz="half" idx="23"/>
          </p:nvPr>
        </p:nvSpPr>
        <p:spPr>
          <a:xfrm>
            <a:off x="539749"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18" name="Content Placeholder 2">
            <a:extLst>
              <a:ext uri="{FF2B5EF4-FFF2-40B4-BE49-F238E27FC236}">
                <a16:creationId xmlns:a16="http://schemas.microsoft.com/office/drawing/2014/main" id="{E6296910-B416-47DB-9BF8-C98707B32C44}"/>
              </a:ext>
            </a:extLst>
          </p:cNvPr>
          <p:cNvSpPr>
            <a:spLocks noGrp="1"/>
          </p:cNvSpPr>
          <p:nvPr>
            <p:ph sz="half" idx="24"/>
          </p:nvPr>
        </p:nvSpPr>
        <p:spPr>
          <a:xfrm>
            <a:off x="5092606"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23" name="Content Placeholder 2">
            <a:extLst>
              <a:ext uri="{FF2B5EF4-FFF2-40B4-BE49-F238E27FC236}">
                <a16:creationId xmlns:a16="http://schemas.microsoft.com/office/drawing/2014/main" id="{CB05F6D6-0881-4AA2-8968-65028435D370}"/>
              </a:ext>
            </a:extLst>
          </p:cNvPr>
          <p:cNvSpPr>
            <a:spLocks noGrp="1"/>
          </p:cNvSpPr>
          <p:nvPr>
            <p:ph sz="half" idx="25"/>
          </p:nvPr>
        </p:nvSpPr>
        <p:spPr>
          <a:xfrm>
            <a:off x="7369035"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24" name="Content Placeholder 2">
            <a:extLst>
              <a:ext uri="{FF2B5EF4-FFF2-40B4-BE49-F238E27FC236}">
                <a16:creationId xmlns:a16="http://schemas.microsoft.com/office/drawing/2014/main" id="{53DE68EE-1CC1-40E6-BF93-25853579F688}"/>
              </a:ext>
            </a:extLst>
          </p:cNvPr>
          <p:cNvSpPr>
            <a:spLocks noGrp="1"/>
          </p:cNvSpPr>
          <p:nvPr>
            <p:ph sz="half" idx="26"/>
          </p:nvPr>
        </p:nvSpPr>
        <p:spPr>
          <a:xfrm>
            <a:off x="9645463"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14" name="Pladsholder til tekst 4">
            <a:extLst>
              <a:ext uri="{FF2B5EF4-FFF2-40B4-BE49-F238E27FC236}">
                <a16:creationId xmlns:a16="http://schemas.microsoft.com/office/drawing/2014/main" id="{C07519B2-88ED-4FAB-AC68-9B196700937F}"/>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11" name="Slide Number Placeholder 5">
            <a:extLst>
              <a:ext uri="{FF2B5EF4-FFF2-40B4-BE49-F238E27FC236}">
                <a16:creationId xmlns:a16="http://schemas.microsoft.com/office/drawing/2014/main" id="{6B433809-62F1-4C59-BF7D-FDED709DFE1F}"/>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71571319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 1/3 box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5F8AAD-49B5-41D3-8FB6-A7A1C88A8763}"/>
              </a:ext>
            </a:extLst>
          </p:cNvPr>
          <p:cNvSpPr>
            <a:spLocks noGrp="1"/>
          </p:cNvSpPr>
          <p:nvPr>
            <p:ph sz="half" idx="1"/>
          </p:nvPr>
        </p:nvSpPr>
        <p:spPr>
          <a:xfrm>
            <a:off x="9080500" y="1416785"/>
            <a:ext cx="3111501" cy="4415215"/>
          </a:xfrm>
          <a:prstGeom prst="snipRoundRect">
            <a:avLst>
              <a:gd name="adj1" fmla="val 10679"/>
              <a:gd name="adj2" fmla="val 0"/>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16" name="Text Placeholder 23">
            <a:extLst>
              <a:ext uri="{FF2B5EF4-FFF2-40B4-BE49-F238E27FC236}">
                <a16:creationId xmlns:a16="http://schemas.microsoft.com/office/drawing/2014/main" id="{0E4D4693-4659-4187-ABB4-973AA3E9F612}"/>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8" name="Title Placeholder 1">
            <a:extLst>
              <a:ext uri="{FF2B5EF4-FFF2-40B4-BE49-F238E27FC236}">
                <a16:creationId xmlns:a16="http://schemas.microsoft.com/office/drawing/2014/main" id="{86E6DD32-9C68-44BF-B120-2AE408D1786E}"/>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a:p>
        </p:txBody>
      </p:sp>
      <p:sp>
        <p:nvSpPr>
          <p:cNvPr id="20" name="Content Placeholder 2">
            <a:extLst>
              <a:ext uri="{FF2B5EF4-FFF2-40B4-BE49-F238E27FC236}">
                <a16:creationId xmlns:a16="http://schemas.microsoft.com/office/drawing/2014/main" id="{8435458E-E65E-4511-8905-9873E2C665A3}"/>
              </a:ext>
            </a:extLst>
          </p:cNvPr>
          <p:cNvSpPr>
            <a:spLocks noGrp="1"/>
          </p:cNvSpPr>
          <p:nvPr>
            <p:ph idx="19"/>
          </p:nvPr>
        </p:nvSpPr>
        <p:spPr>
          <a:xfrm>
            <a:off x="539750" y="1416785"/>
            <a:ext cx="8266113"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Pladsholder til tekst 4">
            <a:extLst>
              <a:ext uri="{FF2B5EF4-FFF2-40B4-BE49-F238E27FC236}">
                <a16:creationId xmlns:a16="http://schemas.microsoft.com/office/drawing/2014/main" id="{C7B08E89-D892-4380-88F0-37603E5C76A6}"/>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8" name="Slide Number Placeholder 5">
            <a:extLst>
              <a:ext uri="{FF2B5EF4-FFF2-40B4-BE49-F238E27FC236}">
                <a16:creationId xmlns:a16="http://schemas.microsoft.com/office/drawing/2014/main" id="{41FA609F-6FF6-40DC-8E24-6EC5975A0278}"/>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215026051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1/3 box left">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64CF8D84-61CC-4DD9-995C-3AE5406BA918}"/>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C27C748-BDAF-46F9-8F7F-7E2A7EFEC66B}"/>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a:p>
        </p:txBody>
      </p:sp>
      <p:sp>
        <p:nvSpPr>
          <p:cNvPr id="19" name="Content Placeholder 2">
            <a:extLst>
              <a:ext uri="{FF2B5EF4-FFF2-40B4-BE49-F238E27FC236}">
                <a16:creationId xmlns:a16="http://schemas.microsoft.com/office/drawing/2014/main" id="{3AEC8A2B-D88C-44AE-AC2B-A13D83E5BE3F}"/>
              </a:ext>
            </a:extLst>
          </p:cNvPr>
          <p:cNvSpPr>
            <a:spLocks noGrp="1"/>
          </p:cNvSpPr>
          <p:nvPr>
            <p:ph idx="19"/>
          </p:nvPr>
        </p:nvSpPr>
        <p:spPr>
          <a:xfrm>
            <a:off x="3384550" y="1416785"/>
            <a:ext cx="8266113"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66D84B1D-4E7E-4816-81C0-9EA4A324043C}"/>
              </a:ext>
            </a:extLst>
          </p:cNvPr>
          <p:cNvSpPr>
            <a:spLocks noGrp="1"/>
          </p:cNvSpPr>
          <p:nvPr>
            <p:ph sz="half" idx="21"/>
          </p:nvPr>
        </p:nvSpPr>
        <p:spPr>
          <a:xfrm>
            <a:off x="0" y="1416785"/>
            <a:ext cx="3114675" cy="4415215"/>
          </a:xfrm>
          <a:prstGeom prst="round1Rect">
            <a:avLst>
              <a:gd name="adj" fmla="val 7879"/>
            </a:avLst>
          </a:prstGeom>
          <a:solidFill>
            <a:srgbClr val="D9D1CC"/>
          </a:solidFill>
        </p:spPr>
        <p:txBody>
          <a:bodyPr vert="horz" lIns="36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a:p>
        </p:txBody>
      </p:sp>
      <p:sp>
        <p:nvSpPr>
          <p:cNvPr id="11" name="Pladsholder til tekst 4">
            <a:extLst>
              <a:ext uri="{FF2B5EF4-FFF2-40B4-BE49-F238E27FC236}">
                <a16:creationId xmlns:a16="http://schemas.microsoft.com/office/drawing/2014/main" id="{3B4449AF-052C-4E4D-80A8-C32F1317B185}"/>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8" name="Slide Number Placeholder 5">
            <a:extLst>
              <a:ext uri="{FF2B5EF4-FFF2-40B4-BE49-F238E27FC236}">
                <a16:creationId xmlns:a16="http://schemas.microsoft.com/office/drawing/2014/main" id="{516D23F4-4203-45CD-8C41-02DBAE627251}"/>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412967074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 box top">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5F8AAD-49B5-41D3-8FB6-A7A1C88A8763}"/>
              </a:ext>
            </a:extLst>
          </p:cNvPr>
          <p:cNvSpPr>
            <a:spLocks noGrp="1"/>
          </p:cNvSpPr>
          <p:nvPr>
            <p:ph sz="half" idx="1"/>
          </p:nvPr>
        </p:nvSpPr>
        <p:spPr>
          <a:xfrm>
            <a:off x="539750" y="1416785"/>
            <a:ext cx="11110914" cy="640551"/>
          </a:xfrm>
          <a:prstGeom prst="roundRect">
            <a:avLst>
              <a:gd name="adj" fmla="val 0"/>
            </a:avLst>
          </a:prstGeom>
          <a:noFill/>
          <a:ln w="12700">
            <a:solidFill>
              <a:srgbClr val="3F1A01"/>
            </a:solidFill>
          </a:ln>
        </p:spPr>
        <p:txBody>
          <a:bodyPr vert="horz" lIns="180000" tIns="180000" rIns="180000" bIns="180000" rtlCol="0">
            <a:noAutofit/>
          </a:bodyPr>
          <a:lstStyle>
            <a:lvl1pPr>
              <a:defRPr lang="en-GB" sz="1400" dirty="0">
                <a:solidFill>
                  <a:srgbClr val="3F1A01"/>
                </a:solidFill>
              </a:defRPr>
            </a:lvl1pPr>
          </a:lstStyle>
          <a:p>
            <a:pPr marL="180000" lvl="0" indent="-180000"/>
            <a:r>
              <a:rPr lang="en-US"/>
              <a:t>Click to edit Master text styles</a:t>
            </a:r>
          </a:p>
        </p:txBody>
      </p:sp>
      <p:sp>
        <p:nvSpPr>
          <p:cNvPr id="16" name="Text Placeholder 23">
            <a:extLst>
              <a:ext uri="{FF2B5EF4-FFF2-40B4-BE49-F238E27FC236}">
                <a16:creationId xmlns:a16="http://schemas.microsoft.com/office/drawing/2014/main" id="{2CCC86B9-2D5D-4C2B-AB04-1BEACE5EFA6F}"/>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8" name="Title Placeholder 1">
            <a:extLst>
              <a:ext uri="{FF2B5EF4-FFF2-40B4-BE49-F238E27FC236}">
                <a16:creationId xmlns:a16="http://schemas.microsoft.com/office/drawing/2014/main" id="{A312696C-CDCF-4177-B53A-0AA1EF24DB65}"/>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a:p>
        </p:txBody>
      </p:sp>
      <p:sp>
        <p:nvSpPr>
          <p:cNvPr id="20" name="Content Placeholder 2">
            <a:extLst>
              <a:ext uri="{FF2B5EF4-FFF2-40B4-BE49-F238E27FC236}">
                <a16:creationId xmlns:a16="http://schemas.microsoft.com/office/drawing/2014/main" id="{374CEACC-B1C4-4362-9DD9-7FD3DE74C17F}"/>
              </a:ext>
            </a:extLst>
          </p:cNvPr>
          <p:cNvSpPr>
            <a:spLocks noGrp="1"/>
          </p:cNvSpPr>
          <p:nvPr>
            <p:ph idx="19"/>
          </p:nvPr>
        </p:nvSpPr>
        <p:spPr>
          <a:xfrm>
            <a:off x="539750" y="2327336"/>
            <a:ext cx="11110913" cy="3504664"/>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ladsholder til tekst 4">
            <a:extLst>
              <a:ext uri="{FF2B5EF4-FFF2-40B4-BE49-F238E27FC236}">
                <a16:creationId xmlns:a16="http://schemas.microsoft.com/office/drawing/2014/main" id="{C2FA2014-45E3-4655-AD32-913166D73C50}"/>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8" name="Slide Number Placeholder 5">
            <a:extLst>
              <a:ext uri="{FF2B5EF4-FFF2-40B4-BE49-F238E27FC236}">
                <a16:creationId xmlns:a16="http://schemas.microsoft.com/office/drawing/2014/main" id="{C5BA4F94-D2E2-44F9-B1D2-71668720D83F}"/>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1443295064"/>
      </p:ext>
    </p:extLst>
  </p:cSld>
  <p:clrMapOvr>
    <a:masterClrMapping/>
  </p:clrMapOvr>
  <p:hf hdr="0" ft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3336F67-6EC0-4D94-9FA3-005804C5CF22}"/>
              </a:ext>
            </a:extLst>
          </p:cNvPr>
          <p:cNvSpPr>
            <a:spLocks noGrp="1"/>
          </p:cNvSpPr>
          <p:nvPr>
            <p:ph type="pic" idx="1"/>
          </p:nvPr>
        </p:nvSpPr>
        <p:spPr>
          <a:xfrm>
            <a:off x="5283200" y="1416785"/>
            <a:ext cx="6362700" cy="4415215"/>
          </a:xfrm>
          <a:prstGeom prst="round2DiagRect">
            <a:avLst>
              <a:gd name="adj1" fmla="val 0"/>
              <a:gd name="adj2" fmla="val 12069"/>
            </a:avLst>
          </a:prstGeom>
        </p:spPr>
        <p:txBody>
          <a:bodyPr/>
          <a:lstStyle>
            <a:lvl1pPr marL="0" indent="0">
              <a:buNone/>
              <a:defRPr sz="2000">
                <a:solidFill>
                  <a:srgbClr val="1A1A17"/>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da-DK"/>
          </a:p>
        </p:txBody>
      </p:sp>
      <p:sp>
        <p:nvSpPr>
          <p:cNvPr id="14" name="Text Placeholder 23">
            <a:extLst>
              <a:ext uri="{FF2B5EF4-FFF2-40B4-BE49-F238E27FC236}">
                <a16:creationId xmlns:a16="http://schemas.microsoft.com/office/drawing/2014/main" id="{20F21667-3A77-4BD5-AA10-B777CEEB8E92}"/>
              </a:ext>
            </a:extLst>
          </p:cNvPr>
          <p:cNvSpPr>
            <a:spLocks noGrp="1"/>
          </p:cNvSpPr>
          <p:nvPr>
            <p:ph type="body" sz="quarter" idx="19"/>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ADC0193F-BC1A-423E-8734-55776A8D0CB8}"/>
              </a:ext>
            </a:extLst>
          </p:cNvPr>
          <p:cNvSpPr>
            <a:spLocks noGrp="1"/>
          </p:cNvSpPr>
          <p:nvPr>
            <p:ph idx="21"/>
          </p:nvPr>
        </p:nvSpPr>
        <p:spPr>
          <a:xfrm>
            <a:off x="539751" y="1416785"/>
            <a:ext cx="4471988"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itle 3">
            <a:extLst>
              <a:ext uri="{FF2B5EF4-FFF2-40B4-BE49-F238E27FC236}">
                <a16:creationId xmlns:a16="http://schemas.microsoft.com/office/drawing/2014/main" id="{A853B65C-0F17-4A31-8523-13F387549FA4}"/>
              </a:ext>
            </a:extLst>
          </p:cNvPr>
          <p:cNvSpPr>
            <a:spLocks noGrp="1"/>
          </p:cNvSpPr>
          <p:nvPr>
            <p:ph type="title"/>
          </p:nvPr>
        </p:nvSpPr>
        <p:spPr>
          <a:xfrm>
            <a:off x="539749" y="813600"/>
            <a:ext cx="9213851" cy="332399"/>
          </a:xfrm>
        </p:spPr>
        <p:txBody>
          <a:bodyPr/>
          <a:lstStyle>
            <a:lvl1pPr>
              <a:defRPr>
                <a:solidFill>
                  <a:srgbClr val="3F1A01"/>
                </a:solidFill>
              </a:defRPr>
            </a:lvl1pPr>
          </a:lstStyle>
          <a:p>
            <a:r>
              <a:rPr lang="en-US"/>
              <a:t>Click to edit Master title style</a:t>
            </a:r>
            <a:endParaRPr lang="en-GB"/>
          </a:p>
        </p:txBody>
      </p:sp>
      <p:sp>
        <p:nvSpPr>
          <p:cNvPr id="9" name="Pladsholder til tekst 4">
            <a:extLst>
              <a:ext uri="{FF2B5EF4-FFF2-40B4-BE49-F238E27FC236}">
                <a16:creationId xmlns:a16="http://schemas.microsoft.com/office/drawing/2014/main" id="{AE7B6B55-5350-40F1-BCE0-62619D7C90D3}"/>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8" name="Slide Number Placeholder 5">
            <a:extLst>
              <a:ext uri="{FF2B5EF4-FFF2-40B4-BE49-F238E27FC236}">
                <a16:creationId xmlns:a16="http://schemas.microsoft.com/office/drawing/2014/main" id="{6FFFF8FD-1292-4179-931B-CE9A81C5A6FA}"/>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1813709532"/>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 White">
    <p:bg>
      <p:bgPr>
        <a:solidFill>
          <a:schemeClr val="bg1"/>
        </a:solidFill>
        <a:effectLst/>
      </p:bgPr>
    </p:bg>
    <p:spTree>
      <p:nvGrpSpPr>
        <p:cNvPr id="1" name=""/>
        <p:cNvGrpSpPr/>
        <p:nvPr/>
      </p:nvGrpSpPr>
      <p:grpSpPr>
        <a:xfrm>
          <a:off x="0" y="0"/>
          <a:ext cx="0" cy="0"/>
          <a:chOff x="0" y="0"/>
          <a:chExt cx="0" cy="0"/>
        </a:xfrm>
      </p:grpSpPr>
      <p:sp>
        <p:nvSpPr>
          <p:cNvPr id="4" name="ColoredBackground">
            <a:extLst>
              <a:ext uri="{FF2B5EF4-FFF2-40B4-BE49-F238E27FC236}">
                <a16:creationId xmlns:a16="http://schemas.microsoft.com/office/drawing/2014/main" id="{31C2D26E-04D9-461A-A4E6-425D036AE42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Noise" descr="Shape&#10;&#10;Description automatically generated with medium confidence">
            <a:extLst>
              <a:ext uri="{FF2B5EF4-FFF2-40B4-BE49-F238E27FC236}">
                <a16:creationId xmlns:a16="http://schemas.microsoft.com/office/drawing/2014/main" id="{AEFB8980-3819-4628-B1E9-F3AC1EFA58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Grafik">
            <a:extLst>
              <a:ext uri="{FF2B5EF4-FFF2-40B4-BE49-F238E27FC236}">
                <a16:creationId xmlns:a16="http://schemas.microsoft.com/office/drawing/2014/main" id="{F40430AE-3291-4DC4-984C-4D87254BA476}"/>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2B2B2">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2"/>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2" name="ExternalLogo" hidden="1">
            <a:extLst>
              <a:ext uri="{FF2B5EF4-FFF2-40B4-BE49-F238E27FC236}">
                <a16:creationId xmlns:a16="http://schemas.microsoft.com/office/drawing/2014/main" id="{F253FA73-F8E5-49E6-B795-4EEF95E9B435}"/>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147156528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 White">
    <p:bg>
      <p:bgPr>
        <a:solidFill>
          <a:schemeClr val="bg1"/>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046A0194-BE4C-426D-8A2B-CC3963A8B2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2B2B2">
              <a:alpha val="10000"/>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Pladsholder til tekst 4">
            <a:extLst>
              <a:ext uri="{FF2B5EF4-FFF2-40B4-BE49-F238E27FC236}">
                <a16:creationId xmlns:a16="http://schemas.microsoft.com/office/drawing/2014/main" id="{4ADEA91C-0F29-4DA2-BC16-BC86BFD342DD}"/>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11" name="Slide Number Placeholder 5">
            <a:extLst>
              <a:ext uri="{FF2B5EF4-FFF2-40B4-BE49-F238E27FC236}">
                <a16:creationId xmlns:a16="http://schemas.microsoft.com/office/drawing/2014/main" id="{DF8FFBA0-9BCF-4FDE-8EB5-7E1BFEB8987B}"/>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409083846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ext Placeholder 23">
            <a:extLst>
              <a:ext uri="{FF2B5EF4-FFF2-40B4-BE49-F238E27FC236}">
                <a16:creationId xmlns:a16="http://schemas.microsoft.com/office/drawing/2014/main" id="{9F380D97-DAE4-4E3E-B133-3EBC8A64F5F6}"/>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1" name="Title Placeholder 1">
            <a:extLst>
              <a:ext uri="{FF2B5EF4-FFF2-40B4-BE49-F238E27FC236}">
                <a16:creationId xmlns:a16="http://schemas.microsoft.com/office/drawing/2014/main" id="{EF3772DB-6000-4985-8EBA-51858DFE2832}"/>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a:p>
        </p:txBody>
      </p:sp>
      <p:sp>
        <p:nvSpPr>
          <p:cNvPr id="9" name="Pladsholder til tekst 4">
            <a:extLst>
              <a:ext uri="{FF2B5EF4-FFF2-40B4-BE49-F238E27FC236}">
                <a16:creationId xmlns:a16="http://schemas.microsoft.com/office/drawing/2014/main" id="{EB9918F4-186C-4F1E-9988-CE4FE67D853D}"/>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a:t>Reference text</a:t>
            </a:r>
          </a:p>
        </p:txBody>
      </p:sp>
      <p:sp>
        <p:nvSpPr>
          <p:cNvPr id="6" name="Slide Number Placeholder 5">
            <a:extLst>
              <a:ext uri="{FF2B5EF4-FFF2-40B4-BE49-F238E27FC236}">
                <a16:creationId xmlns:a16="http://schemas.microsoft.com/office/drawing/2014/main" id="{EA66928B-E5D4-4FB2-B7C6-A2880BA21980}"/>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3694782332"/>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7200634-BE12-408B-B3E1-ADF3BFE2B1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10663" y="524930"/>
            <a:ext cx="1440000" cy="281496"/>
          </a:xfrm>
          <a:prstGeom prst="rect">
            <a:avLst/>
          </a:prstGeom>
        </p:spPr>
      </p:pic>
      <p:sp>
        <p:nvSpPr>
          <p:cNvPr id="6" name="Slide Number Placeholder 5">
            <a:extLst>
              <a:ext uri="{FF2B5EF4-FFF2-40B4-BE49-F238E27FC236}">
                <a16:creationId xmlns:a16="http://schemas.microsoft.com/office/drawing/2014/main" id="{8A463EA2-0B07-4BBE-B465-49B379782DA1}"/>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376014636"/>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 Dark Grey">
    <p:bg>
      <p:bgPr>
        <a:solidFill>
          <a:srgbClr val="717171"/>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1FFDC5C2-3165-4D61-99DD-D9666F0EA897}"/>
              </a:ext>
            </a:extLst>
          </p:cNvPr>
          <p:cNvSpPr/>
          <p:nvPr/>
        </p:nvSpPr>
        <p:spPr>
          <a:xfrm>
            <a:off x="0" y="-1"/>
            <a:ext cx="12192000" cy="6858000"/>
          </a:xfrm>
          <a:prstGeom prst="rect">
            <a:avLst/>
          </a:prstGeom>
          <a:solidFill>
            <a:srgbClr val="717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Noise" descr="Shape&#10;&#10;Description automatically generated with medium confidence">
            <a:extLst>
              <a:ext uri="{FF2B5EF4-FFF2-40B4-BE49-F238E27FC236}">
                <a16:creationId xmlns:a16="http://schemas.microsoft.com/office/drawing/2014/main" id="{CE9D16BA-266C-4197-8301-D366A7B298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B2B2B2"/>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Grafik">
            <a:extLst>
              <a:ext uri="{FF2B5EF4-FFF2-40B4-BE49-F238E27FC236}">
                <a16:creationId xmlns:a16="http://schemas.microsoft.com/office/drawing/2014/main" id="{F99A5728-0C52-43BA-9A39-F36DCDDF47DF}"/>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2B2B2">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11" name="Logo">
            <a:extLst>
              <a:ext uri="{FF2B5EF4-FFF2-40B4-BE49-F238E27FC236}">
                <a16:creationId xmlns:a16="http://schemas.microsoft.com/office/drawing/2014/main" id="{4FEAB3C7-1F67-4064-B58F-EF2762E1660F}"/>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9" name="ExternalLogo" hidden="1">
            <a:extLst>
              <a:ext uri="{FF2B5EF4-FFF2-40B4-BE49-F238E27FC236}">
                <a16:creationId xmlns:a16="http://schemas.microsoft.com/office/drawing/2014/main" id="{FD50EF6D-554E-48C8-946C-CD540205D228}"/>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3835472812"/>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 Medium Grey">
    <p:bg>
      <p:bgPr>
        <a:solidFill>
          <a:srgbClr val="B2B2B2"/>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7CF42EF8-E198-468D-A6C7-F1244AFF66A8}"/>
              </a:ext>
            </a:extLst>
          </p:cNvPr>
          <p:cNvSpPr/>
          <p:nvPr/>
        </p:nvSpPr>
        <p:spPr>
          <a:xfrm>
            <a:off x="0" y="-1"/>
            <a:ext cx="12192000" cy="6858000"/>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E337853C-CD16-437A-8B48-2252E90391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1"/>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1">
              <a:alpha val="9804"/>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1" name="ExternalLogo" hidden="1">
            <a:extLst>
              <a:ext uri="{FF2B5EF4-FFF2-40B4-BE49-F238E27FC236}">
                <a16:creationId xmlns:a16="http://schemas.microsoft.com/office/drawing/2014/main" id="{3F664AED-89BC-4F6A-BDA5-EAE8B745D777}"/>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14492497"/>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 Light">
    <p:bg>
      <p:bgPr>
        <a:solidFill>
          <a:srgbClr val="DADADA"/>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A6C6616E-A4A6-4B26-A3E8-71341D2C30A8}"/>
              </a:ext>
            </a:extLst>
          </p:cNvPr>
          <p:cNvSpPr/>
          <p:nvPr/>
        </p:nvSpPr>
        <p:spPr>
          <a:xfrm>
            <a:off x="0" y="-1"/>
            <a:ext cx="12192000" cy="6858000"/>
          </a:xfrm>
          <a:prstGeom prst="rect">
            <a:avLst/>
          </a:pr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5FD2EA78-D85C-46C1-9F44-6EB0298782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F0F0F0"/>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F0F0F0">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1" name="ExternalLogo" hidden="1">
            <a:extLst>
              <a:ext uri="{FF2B5EF4-FFF2-40B4-BE49-F238E27FC236}">
                <a16:creationId xmlns:a16="http://schemas.microsoft.com/office/drawing/2014/main" id="{397D30EE-39AB-4BA8-8232-12CFBA7BF0BC}"/>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207563735"/>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 Gold">
    <p:bg>
      <p:bgPr>
        <a:solidFill>
          <a:srgbClr val="B59E5F"/>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126DFE30-06C3-497B-9AFE-8879DF874BEC}"/>
              </a:ext>
            </a:extLst>
          </p:cNvPr>
          <p:cNvSpPr/>
          <p:nvPr/>
        </p:nvSpPr>
        <p:spPr>
          <a:xfrm>
            <a:off x="0" y="-1"/>
            <a:ext cx="12192000" cy="6858000"/>
          </a:xfrm>
          <a:prstGeom prst="rect">
            <a:avLst/>
          </a:prstGeom>
          <a:solidFill>
            <a:srgbClr val="B59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63BA0CED-100D-4A9E-BA97-7FFABDDB92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E1D8BF"/>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E1D8BF">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1" name="ExternalLogo" hidden="1">
            <a:extLst>
              <a:ext uri="{FF2B5EF4-FFF2-40B4-BE49-F238E27FC236}">
                <a16:creationId xmlns:a16="http://schemas.microsoft.com/office/drawing/2014/main" id="{8A904900-0CB5-44DD-94DE-7ED587513920}"/>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819967638"/>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 Light Gold">
    <p:bg>
      <p:bgPr>
        <a:solidFill>
          <a:srgbClr val="E1D8BF"/>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1BD3E45F-B806-4BBB-B5F9-A8C48BE33013}"/>
              </a:ext>
            </a:extLst>
          </p:cNvPr>
          <p:cNvSpPr/>
          <p:nvPr/>
        </p:nvSpPr>
        <p:spPr>
          <a:xfrm>
            <a:off x="0" y="-1"/>
            <a:ext cx="12192000" cy="6858000"/>
          </a:xfrm>
          <a:prstGeom prst="rect">
            <a:avLst/>
          </a:prstGeom>
          <a:solidFill>
            <a:srgbClr val="E1D8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29B97D43-D62C-434B-849D-8E8B8BA3FF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2"/>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2">
              <a:alpha val="9804"/>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9" name="ExternalLogo" hidden="1">
            <a:extLst>
              <a:ext uri="{FF2B5EF4-FFF2-40B4-BE49-F238E27FC236}">
                <a16:creationId xmlns:a16="http://schemas.microsoft.com/office/drawing/2014/main" id="{2FFA38B6-55C7-488D-B8F0-60C88514DD9F}"/>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3571492603"/>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 Dark Green">
    <p:bg>
      <p:bgPr>
        <a:solidFill>
          <a:srgbClr val="99B3A8"/>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8B54BABF-88F4-438A-92D3-D931B6BAE8C6}"/>
              </a:ext>
            </a:extLst>
          </p:cNvPr>
          <p:cNvSpPr/>
          <p:nvPr/>
        </p:nvSpPr>
        <p:spPr>
          <a:xfrm>
            <a:off x="0" y="-1"/>
            <a:ext cx="12192000" cy="6858000"/>
          </a:xfrm>
          <a:prstGeom prst="rect">
            <a:avLst/>
          </a:prstGeom>
          <a:solidFill>
            <a:srgbClr val="99B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87CD2556-8AC5-4706-A2A2-034AFF6E02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CCD9D3"/>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CCD9D3">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Logo">
            <a:extLst>
              <a:ext uri="{FF2B5EF4-FFF2-40B4-BE49-F238E27FC236}">
                <a16:creationId xmlns:a16="http://schemas.microsoft.com/office/drawing/2014/main" id="{FA06926E-B963-4389-B26A-6E1EB0DED5EE}"/>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0" name="ExternalLogo" hidden="1">
            <a:extLst>
              <a:ext uri="{FF2B5EF4-FFF2-40B4-BE49-F238E27FC236}">
                <a16:creationId xmlns:a16="http://schemas.microsoft.com/office/drawing/2014/main" id="{A7CB6955-843C-4B5E-8320-F419CE6F818B}"/>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265564092"/>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 Light Green">
    <p:bg>
      <p:bgPr>
        <a:solidFill>
          <a:srgbClr val="CCD9D3"/>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1231D8F4-609E-4AD8-82BE-42FA9C15C855}"/>
              </a:ext>
            </a:extLst>
          </p:cNvPr>
          <p:cNvSpPr/>
          <p:nvPr/>
        </p:nvSpPr>
        <p:spPr>
          <a:xfrm>
            <a:off x="0" y="-1"/>
            <a:ext cx="12192000" cy="6858000"/>
          </a:xfrm>
          <a:prstGeom prst="rect">
            <a:avLst/>
          </a:prstGeom>
          <a:solidFill>
            <a:srgbClr val="CCD9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5504250A-5322-42F2-8102-832BBED2BE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3"/>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3">
              <a:alpha val="9804"/>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Logo">
            <a:extLst>
              <a:ext uri="{FF2B5EF4-FFF2-40B4-BE49-F238E27FC236}">
                <a16:creationId xmlns:a16="http://schemas.microsoft.com/office/drawing/2014/main" id="{71F6D4E9-51A7-498C-B915-66E0EAF3CE6D}"/>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0" name="ExternalLogo" hidden="1">
            <a:extLst>
              <a:ext uri="{FF2B5EF4-FFF2-40B4-BE49-F238E27FC236}">
                <a16:creationId xmlns:a16="http://schemas.microsoft.com/office/drawing/2014/main" id="{8D8B5B80-B8FE-4386-AD74-364BA8EEE5DF}"/>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2327328831"/>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 Dark Brown">
    <p:bg>
      <p:bgPr>
        <a:solidFill>
          <a:srgbClr val="B2A499"/>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71C17852-E684-4EA4-94B3-0DD73C9689BF}"/>
              </a:ext>
            </a:extLst>
          </p:cNvPr>
          <p:cNvSpPr/>
          <p:nvPr/>
        </p:nvSpPr>
        <p:spPr>
          <a:xfrm>
            <a:off x="0" y="-1"/>
            <a:ext cx="12192000" cy="6858000"/>
          </a:xfrm>
          <a:prstGeom prst="rect">
            <a:avLst/>
          </a:prstGeom>
          <a:solidFill>
            <a:srgbClr val="B2A4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2AFBA848-05E4-495F-BE70-69481477E5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D9D1CC"/>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D9D1CC">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Logo">
            <a:extLst>
              <a:ext uri="{FF2B5EF4-FFF2-40B4-BE49-F238E27FC236}">
                <a16:creationId xmlns:a16="http://schemas.microsoft.com/office/drawing/2014/main" id="{85DF6064-7F5D-4C69-AAE5-824283C29DC0}"/>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0" name="ExternalLogo" hidden="1">
            <a:extLst>
              <a:ext uri="{FF2B5EF4-FFF2-40B4-BE49-F238E27FC236}">
                <a16:creationId xmlns:a16="http://schemas.microsoft.com/office/drawing/2014/main" id="{785F50A2-FEAD-4B66-A58D-1F6C2BB6A70A}"/>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3105018308"/>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 Light Brown">
    <p:bg>
      <p:bgPr>
        <a:solidFill>
          <a:srgbClr val="D9D1CC"/>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B7494EA0-F8CC-4025-9CC7-BF8C612E5B66}"/>
              </a:ext>
            </a:extLst>
          </p:cNvPr>
          <p:cNvSpPr/>
          <p:nvPr/>
        </p:nvSpPr>
        <p:spPr>
          <a:xfrm>
            <a:off x="0" y="-1"/>
            <a:ext cx="12192000" cy="6858000"/>
          </a:xfrm>
          <a:prstGeom prst="rect">
            <a:avLst/>
          </a:prstGeom>
          <a:solidFill>
            <a:srgbClr val="D9D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53D2B7D2-DD62-48F8-BAE1-B006F6F25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4"/>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4">
              <a:alpha val="9804"/>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Logo">
            <a:extLst>
              <a:ext uri="{FF2B5EF4-FFF2-40B4-BE49-F238E27FC236}">
                <a16:creationId xmlns:a16="http://schemas.microsoft.com/office/drawing/2014/main" id="{BD245161-57E0-41D6-9F32-BFC30FCF8F88}"/>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0" name="ExternalLogo" hidden="1">
            <a:extLst>
              <a:ext uri="{FF2B5EF4-FFF2-40B4-BE49-F238E27FC236}">
                <a16:creationId xmlns:a16="http://schemas.microsoft.com/office/drawing/2014/main" id="{F386AFA9-1557-4349-8F44-88C1CC93F218}"/>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2264750632"/>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 Dark Blue">
    <p:bg>
      <p:bgPr>
        <a:solidFill>
          <a:srgbClr val="7B9CBB"/>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7462CE97-0D6D-44A4-B4E3-6899B51ECF64}"/>
              </a:ext>
            </a:extLst>
          </p:cNvPr>
          <p:cNvSpPr/>
          <p:nvPr/>
        </p:nvSpPr>
        <p:spPr>
          <a:xfrm>
            <a:off x="0" y="-1"/>
            <a:ext cx="12192000" cy="6858000"/>
          </a:xfrm>
          <a:prstGeom prst="rect">
            <a:avLst/>
          </a:prstGeom>
          <a:solidFill>
            <a:srgbClr val="7B9C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71DB9A65-3868-400A-9CF0-AEFEF54055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B0C4D6"/>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0C4D6">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Logo">
            <a:extLst>
              <a:ext uri="{FF2B5EF4-FFF2-40B4-BE49-F238E27FC236}">
                <a16:creationId xmlns:a16="http://schemas.microsoft.com/office/drawing/2014/main" id="{FDB19305-59F9-405C-84BE-675FD40C5C6C}"/>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0" name="ExternalLogo" hidden="1">
            <a:extLst>
              <a:ext uri="{FF2B5EF4-FFF2-40B4-BE49-F238E27FC236}">
                <a16:creationId xmlns:a16="http://schemas.microsoft.com/office/drawing/2014/main" id="{3F6C35DF-345B-471E-BB1A-9898955FCA3F}"/>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348363034"/>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 Light Blue">
    <p:bg>
      <p:bgPr>
        <a:solidFill>
          <a:srgbClr val="B0C4D6"/>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EFFE82BA-6DB8-48D4-8977-6C123C850186}"/>
              </a:ext>
            </a:extLst>
          </p:cNvPr>
          <p:cNvSpPr/>
          <p:nvPr/>
        </p:nvSpPr>
        <p:spPr>
          <a:xfrm>
            <a:off x="0" y="-1"/>
            <a:ext cx="12192000" cy="6858000"/>
          </a:xfrm>
          <a:prstGeom prst="rect">
            <a:avLst/>
          </a:prstGeom>
          <a:solidFill>
            <a:srgbClr val="B0C4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6DD2D610-B5ED-44BF-9B2B-0F8531E752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5"/>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5">
              <a:alpha val="9804"/>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Logo">
            <a:extLst>
              <a:ext uri="{FF2B5EF4-FFF2-40B4-BE49-F238E27FC236}">
                <a16:creationId xmlns:a16="http://schemas.microsoft.com/office/drawing/2014/main" id="{7AB909CE-222C-48CF-865C-8AAD4BAF45B1}"/>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0" name="ExternalLogo" hidden="1">
            <a:extLst>
              <a:ext uri="{FF2B5EF4-FFF2-40B4-BE49-F238E27FC236}">
                <a16:creationId xmlns:a16="http://schemas.microsoft.com/office/drawing/2014/main" id="{D4F1D16A-8D8C-4F72-BCB5-7B9FA4066259}"/>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2932632857"/>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Quote - Dark Grey">
    <p:bg>
      <p:bgPr>
        <a:solidFill>
          <a:srgbClr val="B2B2B2"/>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CCD7669A-785A-47FC-BD9B-6674939BD7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1">
              <a:alpha val="1000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Slide Number Placeholder 5">
            <a:extLst>
              <a:ext uri="{FF2B5EF4-FFF2-40B4-BE49-F238E27FC236}">
                <a16:creationId xmlns:a16="http://schemas.microsoft.com/office/drawing/2014/main" id="{EC1452B3-DE1E-4026-AA15-5B9EE12B4B22}"/>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2190920059"/>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Quote - Light Grey v2">
    <p:bg>
      <p:bgPr>
        <a:solidFill>
          <a:srgbClr val="B2B2B2"/>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AD0AAC3D-2AA7-42DE-9D30-35663FC7DF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DADADA">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rgbClr val="DADADA"/>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Slide Number Placeholder 5">
            <a:extLst>
              <a:ext uri="{FF2B5EF4-FFF2-40B4-BE49-F238E27FC236}">
                <a16:creationId xmlns:a16="http://schemas.microsoft.com/office/drawing/2014/main" id="{FB61BE42-3C18-404C-8698-70B4CD159AFE}"/>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480599732"/>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Quote - Light Gold">
    <p:bg>
      <p:bgPr>
        <a:solidFill>
          <a:srgbClr val="E1D8BF"/>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53475331-EC7A-4563-AD55-FE2890A719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2">
              <a:alpha val="1000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Slide Number Placeholder 5">
            <a:extLst>
              <a:ext uri="{FF2B5EF4-FFF2-40B4-BE49-F238E27FC236}">
                <a16:creationId xmlns:a16="http://schemas.microsoft.com/office/drawing/2014/main" id="{8233D69F-7A60-4C2E-8201-E58069E62980}"/>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436053228"/>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Quote - Light Green">
    <p:bg>
      <p:bgPr>
        <a:solidFill>
          <a:srgbClr val="CCD9D3"/>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DCAC8086-ACFA-44CC-91A6-C81B4EDFEB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3">
              <a:alpha val="1000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Slide Number Placeholder 5">
            <a:extLst>
              <a:ext uri="{FF2B5EF4-FFF2-40B4-BE49-F238E27FC236}">
                <a16:creationId xmlns:a16="http://schemas.microsoft.com/office/drawing/2014/main" id="{C75DE84A-9B5C-4EC6-942D-E4A1D174DD8E}"/>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4151328018"/>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Quote - Light Brown">
    <p:bg>
      <p:bgPr>
        <a:solidFill>
          <a:srgbClr val="D9D1CC"/>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8F783354-686D-4F95-A2C7-375026C51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4">
              <a:alpha val="1000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4"/>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Slide Number Placeholder 5">
            <a:extLst>
              <a:ext uri="{FF2B5EF4-FFF2-40B4-BE49-F238E27FC236}">
                <a16:creationId xmlns:a16="http://schemas.microsoft.com/office/drawing/2014/main" id="{B4FE89CE-5CDB-4DE9-B059-4719B2563F26}"/>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413268475"/>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Quote - Light Blue">
    <p:bg>
      <p:bgPr>
        <a:solidFill>
          <a:srgbClr val="CAD8E4"/>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EF1EC179-E635-4D48-8EBF-C7A43205B6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5">
              <a:alpha val="1000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Slide Number Placeholder 5">
            <a:extLst>
              <a:ext uri="{FF2B5EF4-FFF2-40B4-BE49-F238E27FC236}">
                <a16:creationId xmlns:a16="http://schemas.microsoft.com/office/drawing/2014/main" id="{CA4B47A1-8FE3-40D1-8D69-CC9AD2863E78}"/>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2043631730"/>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C4F08730-DBA8-4007-A284-175B2F954A12}"/>
              </a:ext>
            </a:extLst>
          </p:cNvPr>
          <p:cNvSpPr txBox="1"/>
          <p:nvPr/>
        </p:nvSpPr>
        <p:spPr>
          <a:xfrm>
            <a:off x="3318324" y="4444235"/>
            <a:ext cx="2651995" cy="1400383"/>
          </a:xfrm>
          <a:prstGeom prst="rect">
            <a:avLst/>
          </a:prstGeom>
          <a:noFill/>
        </p:spPr>
        <p:txBody>
          <a:bodyPr wrap="square">
            <a:spAutoFit/>
          </a:bodyPr>
          <a:lstStyle/>
          <a:p>
            <a:pPr fontAlgn="auto">
              <a:spcBef>
                <a:spcPts val="1200"/>
              </a:spcBef>
              <a:spcAft>
                <a:spcPts val="600"/>
              </a:spcAft>
              <a:buFont typeface="+mj-lt"/>
              <a:buNone/>
              <a:defRPr/>
            </a:pPr>
            <a:r>
              <a:rPr lang="en-GB" sz="1000" b="1" noProof="1">
                <a:solidFill>
                  <a:schemeClr val="tx1"/>
                </a:solidFill>
                <a:latin typeface="Arial" panose="020B0604020202020204" pitchFamily="34" charset="0"/>
                <a:cs typeface="Arial" panose="020B0604020202020204" pitchFamily="34" charset="0"/>
              </a:rPr>
              <a:t>Reset slide</a:t>
            </a:r>
          </a:p>
          <a:p>
            <a:pPr fontAlgn="auto">
              <a:spcBef>
                <a:spcPts val="1200"/>
              </a:spcBef>
              <a:spcAft>
                <a:spcPts val="600"/>
              </a:spcAft>
              <a:buFont typeface="+mj-lt"/>
              <a:buNone/>
              <a:defRPr/>
            </a:pPr>
            <a:endParaRPr lang="en-GB" sz="1000" b="1" noProof="1">
              <a:solidFill>
                <a:schemeClr val="tx1"/>
              </a:solidFill>
              <a:latin typeface="Arial" panose="020B0604020202020204" pitchFamily="34" charset="0"/>
              <a:cs typeface="Arial" panose="020B0604020202020204" pitchFamily="34" charset="0"/>
            </a:endParaRPr>
          </a:p>
          <a:p>
            <a:pPr marL="228600" marR="0" indent="-228600" algn="l" defTabSz="914400" rtl="0" eaLnBrk="1" fontAlgn="auto" latinLnBrk="0" hangingPunct="1">
              <a:lnSpc>
                <a:spcPct val="100000"/>
              </a:lnSpc>
              <a:spcBef>
                <a:spcPts val="0"/>
              </a:spcBef>
              <a:spcAft>
                <a:spcPts val="600"/>
              </a:spcAft>
              <a:buClrTx/>
              <a:buSzTx/>
              <a:buFont typeface="+mj-lt"/>
              <a:buAutoNum type="arabicPeriod"/>
              <a:tabLst/>
              <a:defRPr/>
            </a:pPr>
            <a:r>
              <a:rPr lang="en-GB" altLang="da-DK" sz="1000" noProof="1">
                <a:solidFill>
                  <a:schemeClr val="tx1"/>
                </a:solidFill>
                <a:latin typeface="Arial" panose="020B0604020202020204" pitchFamily="34" charset="0"/>
                <a:cs typeface="Arial" panose="020B0604020202020204" pitchFamily="34" charset="0"/>
              </a:rPr>
              <a:t>Click the </a:t>
            </a:r>
            <a:r>
              <a:rPr lang="en-GB" altLang="da-DK" sz="1000" b="1" noProof="1">
                <a:solidFill>
                  <a:schemeClr val="tx1"/>
                </a:solidFill>
                <a:latin typeface="Arial" panose="020B0604020202020204" pitchFamily="34" charset="0"/>
                <a:cs typeface="Arial" panose="020B0604020202020204" pitchFamily="34" charset="0"/>
              </a:rPr>
              <a:t>Home - Tab</a:t>
            </a:r>
            <a:endParaRPr lang="en-GB" altLang="da-DK" sz="1000" b="1" strike="sngStrike" noProof="1">
              <a:solidFill>
                <a:schemeClr val="tx1"/>
              </a:solidFill>
              <a:latin typeface="Arial" panose="020B0604020202020204" pitchFamily="34" charset="0"/>
              <a:cs typeface="Arial" panose="020B0604020202020204" pitchFamily="34" charset="0"/>
            </a:endParaRPr>
          </a:p>
          <a:p>
            <a:pPr marL="228600" marR="0" indent="-228600" algn="l" defTabSz="914400" rtl="0" eaLnBrk="1" fontAlgn="auto" latinLnBrk="0" hangingPunct="1">
              <a:lnSpc>
                <a:spcPct val="100000"/>
              </a:lnSpc>
              <a:spcBef>
                <a:spcPts val="0"/>
              </a:spcBef>
              <a:spcAft>
                <a:spcPts val="600"/>
              </a:spcAft>
              <a:buClrTx/>
              <a:buSzTx/>
              <a:buFont typeface="+mj-lt"/>
              <a:buAutoNum type="arabicPeriod"/>
              <a:tabLst/>
              <a:defRPr/>
            </a:pPr>
            <a:r>
              <a:rPr lang="en-GB" altLang="da-DK" sz="1000" noProof="1">
                <a:solidFill>
                  <a:schemeClr val="tx1"/>
                </a:solidFill>
                <a:latin typeface="Arial" panose="020B0604020202020204" pitchFamily="34" charset="0"/>
                <a:cs typeface="Arial" panose="020B0604020202020204" pitchFamily="34" charset="0"/>
              </a:rPr>
              <a:t>Click the </a:t>
            </a:r>
            <a:r>
              <a:rPr lang="en-GB" altLang="da-DK" sz="1000" b="1" baseline="0" noProof="1">
                <a:solidFill>
                  <a:schemeClr val="tx1"/>
                </a:solidFill>
                <a:latin typeface="Arial" panose="020B0604020202020204" pitchFamily="34" charset="0"/>
                <a:cs typeface="Arial" panose="020B0604020202020204" pitchFamily="34" charset="0"/>
              </a:rPr>
              <a:t>Reset </a:t>
            </a:r>
            <a:r>
              <a:rPr lang="en-GB" altLang="da-DK" sz="1000" noProof="1">
                <a:solidFill>
                  <a:schemeClr val="tx1"/>
                </a:solidFill>
                <a:latin typeface="Arial" panose="020B0604020202020204" pitchFamily="34" charset="0"/>
                <a:cs typeface="Arial" panose="020B0604020202020204" pitchFamily="34" charset="0"/>
              </a:rPr>
              <a:t>menu to reset position, size</a:t>
            </a:r>
            <a:r>
              <a:rPr lang="en-GB" altLang="da-DK" sz="1000" baseline="0" noProof="1">
                <a:solidFill>
                  <a:schemeClr val="tx1"/>
                </a:solidFill>
                <a:latin typeface="Arial" panose="020B0604020202020204" pitchFamily="34" charset="0"/>
                <a:cs typeface="Arial" panose="020B0604020202020204" pitchFamily="34" charset="0"/>
              </a:rPr>
              <a:t> and formatting of the slide placeholders to their default settings</a:t>
            </a:r>
            <a:endParaRPr lang="en-GB" altLang="da-DK" sz="1000" noProof="1">
              <a:solidFill>
                <a:schemeClr val="tx1"/>
              </a:solidFill>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29B69258-0759-4F9D-8A5C-C6B044632BCA}"/>
              </a:ext>
            </a:extLst>
          </p:cNvPr>
          <p:cNvSpPr txBox="1"/>
          <p:nvPr/>
        </p:nvSpPr>
        <p:spPr>
          <a:xfrm>
            <a:off x="6221682" y="2645246"/>
            <a:ext cx="2576512" cy="3000821"/>
          </a:xfrm>
          <a:prstGeom prst="rect">
            <a:avLst/>
          </a:prstGeom>
          <a:noFill/>
        </p:spPr>
        <p:txBody>
          <a:bodyPr wrap="square" lIns="0" tIns="0" rIns="0" bIns="0">
            <a:spAutoFit/>
          </a:bodyPr>
          <a:lstStyle/>
          <a:p>
            <a:pPr eaLnBrk="1" hangingPunct="1">
              <a:spcAft>
                <a:spcPts val="600"/>
              </a:spcAft>
              <a:defRPr/>
            </a:pPr>
            <a:r>
              <a:rPr lang="en-GB" altLang="da-DK" sz="1000" b="1" noProof="1">
                <a:solidFill>
                  <a:schemeClr val="tx1"/>
                </a:solidFill>
                <a:latin typeface="Arial" panose="020B0604020202020204" pitchFamily="34" charset="0"/>
                <a:cs typeface="Arial" panose="020B0604020202020204" pitchFamily="34" charset="0"/>
              </a:rPr>
              <a:t>Change / edit picture</a:t>
            </a: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marL="228600" indent="-228600" eaLnBrk="1" hangingPunct="1">
              <a:spcAft>
                <a:spcPts val="600"/>
              </a:spcAft>
              <a:buFont typeface="+mj-lt"/>
              <a:buAutoNum type="arabicPeriod"/>
              <a:defRPr/>
            </a:pPr>
            <a:r>
              <a:rPr lang="en-GB" altLang="da-DK" sz="1000" b="0" noProof="1">
                <a:solidFill>
                  <a:schemeClr val="tx1"/>
                </a:solidFill>
                <a:latin typeface="Arial" panose="020B0604020202020204" pitchFamily="34" charset="0"/>
                <a:cs typeface="Arial" panose="020B0604020202020204" pitchFamily="34" charset="0"/>
              </a:rPr>
              <a:t>To change picture </a:t>
            </a:r>
            <a:r>
              <a:rPr lang="en-GB" altLang="da-DK" sz="1000" b="1" noProof="1">
                <a:solidFill>
                  <a:schemeClr val="tx1"/>
                </a:solidFill>
                <a:latin typeface="Arial" panose="020B0604020202020204" pitchFamily="34" charset="0"/>
                <a:cs typeface="Arial" panose="020B0604020202020204" pitchFamily="34" charset="0"/>
              </a:rPr>
              <a:t>RIGHT-CLICK</a:t>
            </a:r>
            <a:r>
              <a:rPr lang="en-GB" altLang="da-DK" sz="1000" b="0" noProof="1">
                <a:solidFill>
                  <a:schemeClr val="tx1"/>
                </a:solidFill>
                <a:latin typeface="Arial" panose="020B0604020202020204" pitchFamily="34" charset="0"/>
                <a:cs typeface="Arial" panose="020B0604020202020204" pitchFamily="34" charset="0"/>
              </a:rPr>
              <a:t> on the picture and click “</a:t>
            </a:r>
            <a:r>
              <a:rPr lang="en-GB" altLang="da-DK" sz="1000" b="1" noProof="1">
                <a:solidFill>
                  <a:schemeClr val="tx1"/>
                </a:solidFill>
                <a:latin typeface="Arial" panose="020B0604020202020204" pitchFamily="34" charset="0"/>
                <a:cs typeface="Arial" panose="020B0604020202020204" pitchFamily="34" charset="0"/>
              </a:rPr>
              <a:t>Change Picture</a:t>
            </a:r>
            <a:r>
              <a:rPr lang="en-GB" altLang="da-DK" sz="1000" b="0" noProof="1">
                <a:solidFill>
                  <a:schemeClr val="tx1"/>
                </a:solidFill>
                <a:latin typeface="Arial" panose="020B0604020202020204" pitchFamily="34" charset="0"/>
                <a:cs typeface="Arial" panose="020B0604020202020204" pitchFamily="34" charset="0"/>
              </a:rPr>
              <a:t>”</a:t>
            </a:r>
          </a:p>
          <a:p>
            <a:pPr marL="228600" indent="-228600" eaLnBrk="1" hangingPunct="1">
              <a:spcAft>
                <a:spcPts val="600"/>
              </a:spcAft>
              <a:buFont typeface="+mj-lt"/>
              <a:buAutoNum type="arabicPeriod"/>
              <a:defRPr/>
            </a:pPr>
            <a:r>
              <a:rPr lang="en-GB" altLang="da-DK" sz="1000" b="0" noProof="1">
                <a:solidFill>
                  <a:schemeClr val="tx1"/>
                </a:solidFill>
                <a:latin typeface="Arial" panose="020B0604020202020204" pitchFamily="34" charset="0"/>
                <a:cs typeface="Arial" panose="020B0604020202020204" pitchFamily="34" charset="0"/>
              </a:rPr>
              <a:t>To change size or focus of the picture - </a:t>
            </a:r>
            <a:r>
              <a:rPr lang="en-GB" altLang="da-DK" sz="1000" b="1" noProof="1">
                <a:solidFill>
                  <a:schemeClr val="tx1"/>
                </a:solidFill>
                <a:latin typeface="Arial" panose="020B0604020202020204" pitchFamily="34" charset="0"/>
                <a:cs typeface="Arial" panose="020B0604020202020204" pitchFamily="34" charset="0"/>
              </a:rPr>
              <a:t>Select the picture</a:t>
            </a:r>
            <a:r>
              <a:rPr lang="en-GB" altLang="da-DK" sz="1000" b="0" noProof="1">
                <a:solidFill>
                  <a:schemeClr val="tx1"/>
                </a:solidFill>
                <a:latin typeface="Arial" panose="020B0604020202020204" pitchFamily="34" charset="0"/>
                <a:cs typeface="Arial" panose="020B0604020202020204" pitchFamily="34" charset="0"/>
              </a:rPr>
              <a:t>, click </a:t>
            </a:r>
            <a:r>
              <a:rPr lang="en-GB" altLang="da-DK" sz="1000" b="1" noProof="1">
                <a:solidFill>
                  <a:schemeClr val="tx1"/>
                </a:solidFill>
                <a:latin typeface="Arial" panose="020B0604020202020204" pitchFamily="34" charset="0"/>
                <a:cs typeface="Arial" panose="020B0604020202020204" pitchFamily="34" charset="0"/>
              </a:rPr>
              <a:t>CROP</a:t>
            </a:r>
            <a:r>
              <a:rPr lang="en-GB" altLang="da-DK" sz="1000" b="0" noProof="1">
                <a:solidFill>
                  <a:schemeClr val="tx1"/>
                </a:solidFill>
                <a:latin typeface="Arial" panose="020B0604020202020204" pitchFamily="34" charset="0"/>
                <a:cs typeface="Arial" panose="020B0604020202020204" pitchFamily="34" charset="0"/>
              </a:rPr>
              <a:t> from “The Picture Format menu”</a:t>
            </a:r>
          </a:p>
          <a:p>
            <a:pPr marL="228600" indent="-228600" eaLnBrk="1" hangingPunct="1">
              <a:spcAft>
                <a:spcPts val="600"/>
              </a:spcAft>
              <a:buFont typeface="+mj-lt"/>
              <a:buAutoNum type="arabicPeriod"/>
              <a:defRPr/>
            </a:pPr>
            <a:r>
              <a:rPr lang="en-GB" altLang="da-DK" sz="1000" b="0" noProof="1">
                <a:solidFill>
                  <a:schemeClr val="tx1"/>
                </a:solidFill>
                <a:latin typeface="Arial" panose="020B0604020202020204" pitchFamily="34" charset="0"/>
                <a:cs typeface="Arial" panose="020B0604020202020204" pitchFamily="34" charset="0"/>
              </a:rPr>
              <a:t>To scale the picture, hold SHIFT-key down while dragging the corners of the picture</a:t>
            </a: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p:txBody>
      </p:sp>
      <p:pic>
        <p:nvPicPr>
          <p:cNvPr id="22" name="Picture 21">
            <a:extLst>
              <a:ext uri="{FF2B5EF4-FFF2-40B4-BE49-F238E27FC236}">
                <a16:creationId xmlns:a16="http://schemas.microsoft.com/office/drawing/2014/main" id="{A0CF4DB0-EA3A-4922-ACBA-C0B74CF861E3}"/>
              </a:ext>
            </a:extLst>
          </p:cNvPr>
          <p:cNvPicPr>
            <a:picLocks noChangeAspect="1"/>
          </p:cNvPicPr>
          <p:nvPr/>
        </p:nvPicPr>
        <p:blipFill>
          <a:blip r:embed="rId2">
            <a:extLst>
              <a:ext uri="{28A0092B-C50C-407E-A947-70E740481C1C}">
                <a14:useLocalDpi xmlns:a14="http://schemas.microsoft.com/office/drawing/2010/main" val="0"/>
              </a:ext>
            </a:extLst>
          </a:blip>
          <a:srcRect l="461" r="461"/>
          <a:stretch/>
        </p:blipFill>
        <p:spPr>
          <a:xfrm>
            <a:off x="539750" y="4526557"/>
            <a:ext cx="2574925" cy="1458968"/>
          </a:xfrm>
          <a:prstGeom prst="rect">
            <a:avLst/>
          </a:prstGeom>
          <a:effectLst>
            <a:outerShdw blurRad="50800" dist="38100" dir="5400000" algn="t" rotWithShape="0">
              <a:prstClr val="black">
                <a:alpha val="40000"/>
              </a:prstClr>
            </a:outerShdw>
          </a:effectLst>
        </p:spPr>
      </p:pic>
      <p:sp>
        <p:nvSpPr>
          <p:cNvPr id="11" name="Title 4">
            <a:extLst>
              <a:ext uri="{FF2B5EF4-FFF2-40B4-BE49-F238E27FC236}">
                <a16:creationId xmlns:a16="http://schemas.microsoft.com/office/drawing/2014/main" id="{78DE8C21-512C-45D7-AF5D-2791E225B7EB}"/>
              </a:ext>
            </a:extLst>
          </p:cNvPr>
          <p:cNvSpPr txBox="1">
            <a:spLocks/>
          </p:cNvSpPr>
          <p:nvPr/>
        </p:nvSpPr>
        <p:spPr>
          <a:xfrm>
            <a:off x="539749" y="814386"/>
            <a:ext cx="9213851" cy="33239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400" b="1" kern="1200">
                <a:solidFill>
                  <a:srgbClr val="3F1A01"/>
                </a:solidFill>
                <a:latin typeface="+mj-lt"/>
                <a:ea typeface="+mj-ea"/>
                <a:cs typeface="+mj-cs"/>
              </a:defRPr>
            </a:lvl1pPr>
          </a:lstStyle>
          <a:p>
            <a:r>
              <a:rPr lang="en-GB"/>
              <a:t>Start here</a:t>
            </a:r>
          </a:p>
        </p:txBody>
      </p:sp>
      <p:sp>
        <p:nvSpPr>
          <p:cNvPr id="13" name="Slide Number Placeholder 2">
            <a:extLst>
              <a:ext uri="{FF2B5EF4-FFF2-40B4-BE49-F238E27FC236}">
                <a16:creationId xmlns:a16="http://schemas.microsoft.com/office/drawing/2014/main" id="{638AF027-CA0D-41A5-BE09-74C8B45BC9AF}"/>
              </a:ext>
            </a:extLst>
          </p:cNvPr>
          <p:cNvSpPr txBox="1">
            <a:spLocks/>
          </p:cNvSpPr>
          <p:nvPr/>
        </p:nvSpPr>
        <p:spPr>
          <a:xfrm>
            <a:off x="11326690" y="6434112"/>
            <a:ext cx="595310" cy="153888"/>
          </a:xfrm>
          <a:prstGeom prst="rect">
            <a:avLst/>
          </a:prstGeom>
        </p:spPr>
        <p:txBody>
          <a:bodyPr lIns="0" tIns="0" rIns="0" bIns="0" anchor="t" anchorCtr="0">
            <a:noAutofit/>
          </a:bodyPr>
          <a:lstStyle>
            <a:defPPr>
              <a:defRPr lang="da-DK"/>
            </a:defPPr>
            <a:lvl1pPr marL="0" algn="r" defTabSz="914400" rtl="0" eaLnBrk="1" latinLnBrk="0" hangingPunct="1">
              <a:defRPr sz="900" kern="1200">
                <a:solidFill>
                  <a:srgbClr val="3F1A0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F92315-F790-4E00-A189-2894250684D7}" type="slidenum">
              <a:rPr lang="en-GB" smtClean="0"/>
              <a:pPr/>
              <a:t>‹#›</a:t>
            </a:fld>
            <a:endParaRPr lang="en-GB"/>
          </a:p>
        </p:txBody>
      </p:sp>
      <p:sp>
        <p:nvSpPr>
          <p:cNvPr id="15" name="Content Placeholder 7">
            <a:extLst>
              <a:ext uri="{FF2B5EF4-FFF2-40B4-BE49-F238E27FC236}">
                <a16:creationId xmlns:a16="http://schemas.microsoft.com/office/drawing/2014/main" id="{48445BAE-D8A3-4827-AC54-6EA8BA6F766B}"/>
              </a:ext>
            </a:extLst>
          </p:cNvPr>
          <p:cNvSpPr txBox="1">
            <a:spLocks/>
          </p:cNvSpPr>
          <p:nvPr/>
        </p:nvSpPr>
        <p:spPr>
          <a:xfrm>
            <a:off x="539750" y="1409700"/>
            <a:ext cx="2574926" cy="2539157"/>
          </a:xfrm>
          <a:prstGeom prst="rect">
            <a:avLst/>
          </a:prstGeom>
        </p:spPr>
        <p:txBody>
          <a:bodyPr wrap="square" lIns="0" tIns="0" rIns="0" bIns="0">
            <a:spAutoFit/>
          </a:bodyPr>
          <a:lstStyle>
            <a:lvl1pPr marL="252000" indent="-252000" algn="l" defTabSz="914400" rtl="0" eaLnBrk="1" latinLnBrk="0" hangingPunct="1">
              <a:lnSpc>
                <a:spcPct val="100000"/>
              </a:lnSpc>
              <a:spcBef>
                <a:spcPts val="1800"/>
              </a:spcBef>
              <a:buFont typeface="Arial" panose="020B0604020202020204" pitchFamily="34" charset="0"/>
              <a:buChar char="•"/>
              <a:defRPr sz="2000" kern="1200">
                <a:solidFill>
                  <a:schemeClr val="tx1"/>
                </a:solidFill>
                <a:latin typeface="+mn-lt"/>
                <a:ea typeface="+mn-ea"/>
                <a:cs typeface="+mn-cs"/>
              </a:defRPr>
            </a:lvl1pPr>
            <a:lvl2pPr marL="504000" indent="-252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2pPr>
            <a:lvl3pPr marL="756000" indent="-252000"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3pPr>
            <a:lvl4pPr marL="1008000" indent="-252000" algn="l" defTabSz="914400" rtl="0" eaLnBrk="1" latinLnBrk="0" hangingPunct="1">
              <a:lnSpc>
                <a:spcPct val="100000"/>
              </a:lnSpc>
              <a:spcBef>
                <a:spcPts val="600"/>
              </a:spcBef>
              <a:buFont typeface="Arial" panose="020B0604020202020204" pitchFamily="34" charset="0"/>
              <a:buChar char="•"/>
              <a:defRPr sz="1000" kern="1200">
                <a:solidFill>
                  <a:schemeClr val="tx1"/>
                </a:solidFill>
                <a:latin typeface="+mn-lt"/>
                <a:ea typeface="+mn-ea"/>
                <a:cs typeface="+mn-cs"/>
              </a:defRPr>
            </a:lvl4pPr>
            <a:lvl5pPr marL="1260000" indent="-252000" algn="l" defTabSz="914400" rtl="0" eaLnBrk="1" latinLnBrk="0" hangingPunct="1">
              <a:lnSpc>
                <a:spcPct val="100000"/>
              </a:lnSpc>
              <a:spcBef>
                <a:spcPts val="6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1000" b="1">
                <a:solidFill>
                  <a:srgbClr val="3F1A01"/>
                </a:solidFill>
                <a:latin typeface="+mn-lt"/>
              </a:rPr>
              <a:t>Copy &amp; Paste</a:t>
            </a:r>
          </a:p>
          <a:p>
            <a:pPr marL="0" indent="0">
              <a:spcBef>
                <a:spcPts val="0"/>
              </a:spcBef>
              <a:buNone/>
            </a:pPr>
            <a:endParaRPr lang="en-GB" sz="1000" b="1">
              <a:solidFill>
                <a:srgbClr val="3F1A01"/>
              </a:solidFill>
              <a:latin typeface="+mn-lt"/>
            </a:endParaRPr>
          </a:p>
          <a:p>
            <a:pPr marL="0" indent="0">
              <a:spcBef>
                <a:spcPts val="0"/>
              </a:spcBef>
              <a:buNone/>
            </a:pPr>
            <a:endParaRPr lang="en-GB" sz="1000" b="1">
              <a:solidFill>
                <a:srgbClr val="3F1A01"/>
              </a:solidFill>
              <a:latin typeface="+mn-lt"/>
            </a:endParaRPr>
          </a:p>
          <a:p>
            <a:pPr marL="0" indent="0">
              <a:spcBef>
                <a:spcPts val="0"/>
              </a:spcBef>
              <a:buNone/>
            </a:pPr>
            <a:endParaRPr lang="en-GB" sz="1000" b="1">
              <a:solidFill>
                <a:srgbClr val="3F1A01"/>
              </a:solidFill>
              <a:latin typeface="+mn-lt"/>
            </a:endParaRPr>
          </a:p>
          <a:p>
            <a:pPr marL="0" indent="0">
              <a:spcBef>
                <a:spcPts val="0"/>
              </a:spcBef>
              <a:buNone/>
            </a:pPr>
            <a:endParaRPr lang="en-GB" sz="1000" b="1">
              <a:solidFill>
                <a:srgbClr val="3F1A01"/>
              </a:solidFill>
              <a:latin typeface="+mn-lt"/>
            </a:endParaRPr>
          </a:p>
          <a:p>
            <a:pPr marL="0" indent="0">
              <a:spcBef>
                <a:spcPts val="0"/>
              </a:spcBef>
              <a:buFont typeface="Arial" panose="020B0604020202020204" pitchFamily="34" charset="0"/>
              <a:buNone/>
            </a:pPr>
            <a:r>
              <a:rPr lang="en-GB" sz="1000">
                <a:solidFill>
                  <a:srgbClr val="3F1A01"/>
                </a:solidFill>
                <a:latin typeface="+mn-lt"/>
              </a:rPr>
              <a:t>When you need to paste text into the presentation </a:t>
            </a:r>
            <a:r>
              <a:rPr lang="en-GB" sz="1000" b="1">
                <a:solidFill>
                  <a:srgbClr val="3F1A01"/>
                </a:solidFill>
                <a:latin typeface="+mn-lt"/>
              </a:rPr>
              <a:t>– Right-Click</a:t>
            </a:r>
            <a:r>
              <a:rPr lang="en-GB" sz="1000">
                <a:solidFill>
                  <a:srgbClr val="3F1A01"/>
                </a:solidFill>
                <a:latin typeface="+mn-lt"/>
              </a:rPr>
              <a:t> and choose </a:t>
            </a:r>
            <a:br>
              <a:rPr lang="en-GB" sz="1000">
                <a:solidFill>
                  <a:srgbClr val="3F1A01"/>
                </a:solidFill>
                <a:latin typeface="+mn-lt"/>
              </a:rPr>
            </a:br>
            <a:r>
              <a:rPr lang="en-GB" sz="1000">
                <a:solidFill>
                  <a:srgbClr val="3F1A01"/>
                </a:solidFill>
                <a:latin typeface="+mn-lt"/>
              </a:rPr>
              <a:t>”</a:t>
            </a:r>
            <a:r>
              <a:rPr lang="en-GB" sz="1000" b="1">
                <a:solidFill>
                  <a:srgbClr val="3F1A01"/>
                </a:solidFill>
                <a:latin typeface="+mn-lt"/>
              </a:rPr>
              <a:t>Keep text only</a:t>
            </a:r>
            <a:r>
              <a:rPr lang="en-GB" sz="1000">
                <a:solidFill>
                  <a:srgbClr val="3F1A01"/>
                </a:solidFill>
                <a:latin typeface="+mn-lt"/>
              </a:rPr>
              <a:t>”.</a:t>
            </a:r>
          </a:p>
          <a:p>
            <a:pPr marL="0" indent="0">
              <a:spcBef>
                <a:spcPts val="0"/>
              </a:spcBef>
              <a:buFont typeface="Arial" panose="020B0604020202020204" pitchFamily="34" charset="0"/>
              <a:buNone/>
            </a:pPr>
            <a:endParaRPr lang="en-GB" sz="1000">
              <a:solidFill>
                <a:srgbClr val="3F1A01"/>
              </a:solidFill>
              <a:latin typeface="+mn-lt"/>
            </a:endParaRPr>
          </a:p>
          <a:p>
            <a:pPr marL="0" indent="0">
              <a:spcBef>
                <a:spcPts val="0"/>
              </a:spcBef>
              <a:buFont typeface="Arial" panose="020B0604020202020204" pitchFamily="34" charset="0"/>
              <a:buNone/>
            </a:pPr>
            <a:endParaRPr lang="en-GB" sz="1000">
              <a:solidFill>
                <a:srgbClr val="3F1A01"/>
              </a:solidFill>
              <a:latin typeface="+mn-lt"/>
            </a:endParaRPr>
          </a:p>
          <a:p>
            <a:pPr marL="0" indent="0">
              <a:spcBef>
                <a:spcPts val="0"/>
              </a:spcBef>
              <a:spcAft>
                <a:spcPts val="600"/>
              </a:spcAft>
              <a:buFont typeface="Arial" panose="020B0604020202020204" pitchFamily="34" charset="0"/>
              <a:buNone/>
            </a:pPr>
            <a:r>
              <a:rPr lang="en-GB" sz="1000" b="1">
                <a:solidFill>
                  <a:srgbClr val="3F1A01"/>
                </a:solidFill>
                <a:latin typeface="+mn-lt"/>
              </a:rPr>
              <a:t>Text styles</a:t>
            </a:r>
          </a:p>
          <a:p>
            <a:pPr marL="0" indent="0">
              <a:spcBef>
                <a:spcPts val="0"/>
              </a:spcBef>
              <a:buFont typeface="Arial" panose="020B0604020202020204" pitchFamily="34" charset="0"/>
              <a:buNone/>
            </a:pPr>
            <a:r>
              <a:rPr lang="en-GB" sz="1000">
                <a:solidFill>
                  <a:srgbClr val="3F1A01"/>
                </a:solidFill>
                <a:latin typeface="+mn-lt"/>
              </a:rPr>
              <a:t>Use the </a:t>
            </a:r>
            <a:r>
              <a:rPr lang="en-GB" sz="1000" b="1">
                <a:solidFill>
                  <a:srgbClr val="3F1A01"/>
                </a:solidFill>
                <a:latin typeface="+mn-lt"/>
              </a:rPr>
              <a:t>TAB-key</a:t>
            </a:r>
            <a:r>
              <a:rPr lang="en-GB" sz="1000">
                <a:solidFill>
                  <a:srgbClr val="3F1A01"/>
                </a:solidFill>
                <a:latin typeface="+mn-lt"/>
              </a:rPr>
              <a:t> to jump through </a:t>
            </a:r>
            <a:br>
              <a:rPr lang="en-GB" sz="1000">
                <a:solidFill>
                  <a:srgbClr val="3F1A01"/>
                </a:solidFill>
                <a:latin typeface="+mn-lt"/>
              </a:rPr>
            </a:br>
            <a:r>
              <a:rPr lang="en-GB" sz="1000">
                <a:solidFill>
                  <a:srgbClr val="3F1A01"/>
                </a:solidFill>
                <a:latin typeface="+mn-lt"/>
              </a:rPr>
              <a:t>levels. Click </a:t>
            </a:r>
            <a:r>
              <a:rPr lang="en-GB" sz="1000" b="1">
                <a:solidFill>
                  <a:srgbClr val="3F1A01"/>
                </a:solidFill>
                <a:latin typeface="+mn-lt"/>
              </a:rPr>
              <a:t>ENTER</a:t>
            </a:r>
            <a:r>
              <a:rPr lang="en-GB" sz="1000">
                <a:solidFill>
                  <a:srgbClr val="3F1A01"/>
                </a:solidFill>
                <a:latin typeface="+mn-lt"/>
              </a:rPr>
              <a:t>, then </a:t>
            </a:r>
            <a:r>
              <a:rPr lang="en-GB" sz="1000" b="1">
                <a:solidFill>
                  <a:srgbClr val="3F1A01"/>
                </a:solidFill>
                <a:latin typeface="+mn-lt"/>
              </a:rPr>
              <a:t>TAB</a:t>
            </a:r>
            <a:r>
              <a:rPr lang="en-GB" sz="1000">
                <a:solidFill>
                  <a:srgbClr val="3F1A01"/>
                </a:solidFill>
                <a:latin typeface="+mn-lt"/>
              </a:rPr>
              <a:t> to switch from one level to the next level</a:t>
            </a:r>
          </a:p>
          <a:p>
            <a:pPr marL="0" indent="0">
              <a:spcBef>
                <a:spcPts val="0"/>
              </a:spcBef>
              <a:buFont typeface="Arial" panose="020B0604020202020204" pitchFamily="34" charset="0"/>
              <a:buNone/>
            </a:pPr>
            <a:r>
              <a:rPr lang="en-GB" sz="1000">
                <a:solidFill>
                  <a:srgbClr val="3F1A01"/>
                </a:solidFill>
                <a:latin typeface="+mn-lt"/>
              </a:rPr>
              <a:t>To go back in levels use </a:t>
            </a:r>
            <a:r>
              <a:rPr lang="en-GB" sz="1000" b="1">
                <a:solidFill>
                  <a:srgbClr val="3F1A01"/>
                </a:solidFill>
                <a:latin typeface="+mn-lt"/>
              </a:rPr>
              <a:t>SHIFT-TAB</a:t>
            </a:r>
          </a:p>
          <a:p>
            <a:pPr marL="0" indent="0">
              <a:spcBef>
                <a:spcPts val="0"/>
              </a:spcBef>
              <a:buFont typeface="Arial" panose="020B0604020202020204" pitchFamily="34" charset="0"/>
              <a:buNone/>
            </a:pPr>
            <a:endParaRPr lang="en-GB" sz="1000">
              <a:solidFill>
                <a:srgbClr val="3F1A01"/>
              </a:solidFill>
              <a:latin typeface="+mn-lt"/>
            </a:endParaRPr>
          </a:p>
        </p:txBody>
      </p:sp>
      <p:pic>
        <p:nvPicPr>
          <p:cNvPr id="17" name="Picture 16">
            <a:extLst>
              <a:ext uri="{FF2B5EF4-FFF2-40B4-BE49-F238E27FC236}">
                <a16:creationId xmlns:a16="http://schemas.microsoft.com/office/drawing/2014/main" id="{EE217F0E-1690-4201-BD4A-054136C2E899}"/>
              </a:ext>
            </a:extLst>
          </p:cNvPr>
          <p:cNvPicPr>
            <a:picLocks noChangeAspect="1"/>
          </p:cNvPicPr>
          <p:nvPr/>
        </p:nvPicPr>
        <p:blipFill>
          <a:blip r:embed="rId3"/>
          <a:stretch>
            <a:fillRect/>
          </a:stretch>
        </p:blipFill>
        <p:spPr>
          <a:xfrm>
            <a:off x="510947" y="1635936"/>
            <a:ext cx="1057778" cy="433516"/>
          </a:xfrm>
          <a:prstGeom prst="rect">
            <a:avLst/>
          </a:prstGeom>
        </p:spPr>
      </p:pic>
      <p:sp>
        <p:nvSpPr>
          <p:cNvPr id="20" name="Content Placeholder 34">
            <a:extLst>
              <a:ext uri="{FF2B5EF4-FFF2-40B4-BE49-F238E27FC236}">
                <a16:creationId xmlns:a16="http://schemas.microsoft.com/office/drawing/2014/main" id="{6D001AD2-4250-4663-91F1-29AD0A53FA92}"/>
              </a:ext>
            </a:extLst>
          </p:cNvPr>
          <p:cNvSpPr txBox="1">
            <a:spLocks/>
          </p:cNvSpPr>
          <p:nvPr/>
        </p:nvSpPr>
        <p:spPr>
          <a:xfrm>
            <a:off x="9088588" y="1397909"/>
            <a:ext cx="1355724" cy="2616101"/>
          </a:xfrm>
          <a:prstGeom prst="rect">
            <a:avLst/>
          </a:prstGeom>
        </p:spPr>
        <p:txBody>
          <a:bodyPr vert="horz" wrap="square" lIns="0" tIns="0" rIns="0" bIns="0" rtlCol="0">
            <a:spAutoFit/>
          </a:bodyPr>
          <a:lstStyle>
            <a:lvl1pPr marL="252000" indent="-252000" algn="l" defTabSz="914400" rtl="0" eaLnBrk="1" latinLnBrk="0" hangingPunct="1">
              <a:lnSpc>
                <a:spcPct val="100000"/>
              </a:lnSpc>
              <a:spcBef>
                <a:spcPts val="1800"/>
              </a:spcBef>
              <a:buFont typeface="Arial" panose="020B0604020202020204" pitchFamily="34" charset="0"/>
              <a:buChar char="•"/>
              <a:defRPr sz="2000" kern="1200">
                <a:solidFill>
                  <a:schemeClr val="tx1"/>
                </a:solidFill>
                <a:latin typeface="+mn-lt"/>
                <a:ea typeface="+mn-ea"/>
                <a:cs typeface="+mn-cs"/>
              </a:defRPr>
            </a:lvl1pPr>
            <a:lvl2pPr marL="504000" indent="-252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2pPr>
            <a:lvl3pPr marL="756000" indent="-252000"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3pPr>
            <a:lvl4pPr marL="1008000" indent="-252000" algn="l" defTabSz="914400" rtl="0" eaLnBrk="1" latinLnBrk="0" hangingPunct="1">
              <a:lnSpc>
                <a:spcPct val="100000"/>
              </a:lnSpc>
              <a:spcBef>
                <a:spcPts val="600"/>
              </a:spcBef>
              <a:buFont typeface="Arial" panose="020B0604020202020204" pitchFamily="34" charset="0"/>
              <a:buChar char="•"/>
              <a:defRPr sz="1000" kern="1200">
                <a:solidFill>
                  <a:schemeClr val="tx1"/>
                </a:solidFill>
                <a:latin typeface="+mn-lt"/>
                <a:ea typeface="+mn-ea"/>
                <a:cs typeface="+mn-cs"/>
              </a:defRPr>
            </a:lvl4pPr>
            <a:lvl5pPr marL="1260000" indent="-252000" algn="l" defTabSz="914400" rtl="0" eaLnBrk="1" latinLnBrk="0" hangingPunct="1">
              <a:lnSpc>
                <a:spcPct val="100000"/>
              </a:lnSpc>
              <a:spcBef>
                <a:spcPts val="6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1000" b="1">
                <a:solidFill>
                  <a:srgbClr val="3F1A01"/>
                </a:solidFill>
              </a:rPr>
              <a:t>Building blocks</a:t>
            </a:r>
          </a:p>
          <a:p>
            <a:pPr marL="0" indent="0">
              <a:spcBef>
                <a:spcPts val="0"/>
              </a:spcBef>
              <a:buNone/>
            </a:pPr>
            <a:r>
              <a:rPr lang="en-GB" sz="1000">
                <a:solidFill>
                  <a:srgbClr val="3F1A01"/>
                </a:solidFill>
              </a:rPr>
              <a:t>The building block slides are made to help you build the presentation. You find them after this slide</a:t>
            </a:r>
          </a:p>
          <a:p>
            <a:pPr marL="0" indent="0">
              <a:spcBef>
                <a:spcPts val="0"/>
              </a:spcBef>
              <a:buNone/>
            </a:pPr>
            <a:endParaRPr lang="en-GB" sz="1000">
              <a:solidFill>
                <a:srgbClr val="3F1A01"/>
              </a:solidFill>
            </a:endParaRPr>
          </a:p>
          <a:p>
            <a:pPr marL="0" indent="0">
              <a:spcBef>
                <a:spcPts val="0"/>
              </a:spcBef>
              <a:buNone/>
            </a:pPr>
            <a:r>
              <a:rPr lang="en-GB" sz="1000">
                <a:solidFill>
                  <a:srgbClr val="3F1A01"/>
                </a:solidFill>
              </a:rPr>
              <a:t>Among the building blocks you find, </a:t>
            </a:r>
            <a:r>
              <a:rPr lang="en-GB" sz="1000" err="1">
                <a:solidFill>
                  <a:srgbClr val="3F1A01"/>
                </a:solidFill>
              </a:rPr>
              <a:t>colorguides</a:t>
            </a:r>
            <a:r>
              <a:rPr lang="en-GB" sz="1000">
                <a:solidFill>
                  <a:srgbClr val="3F1A01"/>
                </a:solidFill>
              </a:rPr>
              <a:t>, Tables and elements that you can pick from when you need to build your presentation.</a:t>
            </a:r>
          </a:p>
          <a:p>
            <a:pPr marL="0" indent="0">
              <a:spcBef>
                <a:spcPts val="0"/>
              </a:spcBef>
              <a:buNone/>
            </a:pPr>
            <a:endParaRPr lang="en-GB" sz="1000">
              <a:solidFill>
                <a:srgbClr val="3F1A01"/>
              </a:solidFill>
            </a:endParaRPr>
          </a:p>
          <a:p>
            <a:pPr marL="0" indent="0">
              <a:spcBef>
                <a:spcPts val="0"/>
              </a:spcBef>
              <a:buNone/>
            </a:pPr>
            <a:r>
              <a:rPr lang="en-GB" sz="1000">
                <a:solidFill>
                  <a:srgbClr val="3F1A01"/>
                </a:solidFill>
              </a:rPr>
              <a:t>Delete these slides after use. </a:t>
            </a:r>
            <a:r>
              <a:rPr lang="en-GB" sz="1000" b="1">
                <a:solidFill>
                  <a:srgbClr val="3F1A01"/>
                </a:solidFill>
              </a:rPr>
              <a:t> </a:t>
            </a:r>
          </a:p>
        </p:txBody>
      </p:sp>
      <p:sp>
        <p:nvSpPr>
          <p:cNvPr id="21" name="Content Placeholder 34">
            <a:extLst>
              <a:ext uri="{FF2B5EF4-FFF2-40B4-BE49-F238E27FC236}">
                <a16:creationId xmlns:a16="http://schemas.microsoft.com/office/drawing/2014/main" id="{DBAA186A-13CF-4C55-8ED1-3E1EFC7A2F90}"/>
              </a:ext>
            </a:extLst>
          </p:cNvPr>
          <p:cNvSpPr txBox="1">
            <a:spLocks/>
          </p:cNvSpPr>
          <p:nvPr/>
        </p:nvSpPr>
        <p:spPr>
          <a:xfrm>
            <a:off x="1015206" y="5102153"/>
            <a:ext cx="1624013" cy="615553"/>
          </a:xfrm>
          <a:prstGeom prst="rect">
            <a:avLst/>
          </a:prstGeom>
        </p:spPr>
        <p:txBody>
          <a:bodyPr vert="horz" wrap="square" lIns="0" tIns="0" rIns="0" bIns="0" rtlCol="0">
            <a:spAutoFit/>
          </a:bodyPr>
          <a:lstStyle>
            <a:lvl1pPr marL="252000" indent="-252000" algn="l" defTabSz="914400" rtl="0" eaLnBrk="1" latinLnBrk="0" hangingPunct="1">
              <a:lnSpc>
                <a:spcPct val="100000"/>
              </a:lnSpc>
              <a:spcBef>
                <a:spcPts val="1800"/>
              </a:spcBef>
              <a:buFont typeface="Arial" panose="020B0604020202020204" pitchFamily="34" charset="0"/>
              <a:buChar char="•"/>
              <a:defRPr sz="2000" kern="1200">
                <a:solidFill>
                  <a:schemeClr val="tx1"/>
                </a:solidFill>
                <a:latin typeface="+mn-lt"/>
                <a:ea typeface="+mn-ea"/>
                <a:cs typeface="+mn-cs"/>
              </a:defRPr>
            </a:lvl1pPr>
            <a:lvl2pPr marL="504000" indent="-252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2pPr>
            <a:lvl3pPr marL="756000" indent="-252000"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3pPr>
            <a:lvl4pPr marL="1008000" indent="-252000" algn="l" defTabSz="914400" rtl="0" eaLnBrk="1" latinLnBrk="0" hangingPunct="1">
              <a:lnSpc>
                <a:spcPct val="100000"/>
              </a:lnSpc>
              <a:spcBef>
                <a:spcPts val="600"/>
              </a:spcBef>
              <a:buFont typeface="Arial" panose="020B0604020202020204" pitchFamily="34" charset="0"/>
              <a:buChar char="•"/>
              <a:defRPr sz="1000" kern="1200">
                <a:solidFill>
                  <a:schemeClr val="tx1"/>
                </a:solidFill>
                <a:latin typeface="+mn-lt"/>
                <a:ea typeface="+mn-ea"/>
                <a:cs typeface="+mn-cs"/>
              </a:defRPr>
            </a:lvl4pPr>
            <a:lvl5pPr marL="1260000" indent="-252000" algn="l" defTabSz="914400" rtl="0" eaLnBrk="1" latinLnBrk="0" hangingPunct="1">
              <a:lnSpc>
                <a:spcPct val="100000"/>
              </a:lnSpc>
              <a:spcBef>
                <a:spcPts val="6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1000" b="1">
                <a:solidFill>
                  <a:srgbClr val="3F1A01"/>
                </a:solidFill>
              </a:rPr>
              <a:t>Guides – Show / Hide</a:t>
            </a:r>
          </a:p>
          <a:p>
            <a:pPr marL="0" indent="0">
              <a:spcBef>
                <a:spcPts val="0"/>
              </a:spcBef>
              <a:buNone/>
            </a:pPr>
            <a:r>
              <a:rPr lang="en-GB" sz="1000" b="0">
                <a:solidFill>
                  <a:srgbClr val="3F1A01"/>
                </a:solidFill>
              </a:rPr>
              <a:t>From the View-tab </a:t>
            </a:r>
          </a:p>
          <a:p>
            <a:pPr marL="0" indent="0">
              <a:spcBef>
                <a:spcPts val="0"/>
              </a:spcBef>
              <a:buNone/>
            </a:pPr>
            <a:r>
              <a:rPr lang="en-GB" sz="1000" b="0">
                <a:solidFill>
                  <a:srgbClr val="3F1A01"/>
                </a:solidFill>
              </a:rPr>
              <a:t>or Alt + F9</a:t>
            </a:r>
          </a:p>
          <a:p>
            <a:pPr marL="0" indent="0">
              <a:spcBef>
                <a:spcPts val="0"/>
              </a:spcBef>
              <a:buNone/>
            </a:pPr>
            <a:endParaRPr lang="en-GB" sz="1000" b="0">
              <a:solidFill>
                <a:srgbClr val="3F1A01"/>
              </a:solidFill>
            </a:endParaRPr>
          </a:p>
        </p:txBody>
      </p:sp>
      <p:sp>
        <p:nvSpPr>
          <p:cNvPr id="2" name="TextBox 1">
            <a:extLst>
              <a:ext uri="{FF2B5EF4-FFF2-40B4-BE49-F238E27FC236}">
                <a16:creationId xmlns:a16="http://schemas.microsoft.com/office/drawing/2014/main" id="{CFB97746-AB0C-416F-8995-6F74E0EF0EFE}"/>
              </a:ext>
            </a:extLst>
          </p:cNvPr>
          <p:cNvSpPr txBox="1"/>
          <p:nvPr/>
        </p:nvSpPr>
        <p:spPr>
          <a:xfrm>
            <a:off x="539750" y="540000"/>
            <a:ext cx="9213850" cy="215444"/>
          </a:xfrm>
          <a:prstGeom prst="rect">
            <a:avLst/>
          </a:prstGeom>
          <a:noFill/>
        </p:spPr>
        <p:txBody>
          <a:bodyPr wrap="square" lIns="0" tIns="0" rIns="0" bIns="0" rtlCol="0">
            <a:spAutoFit/>
          </a:bodyPr>
          <a:lstStyle/>
          <a:p>
            <a:r>
              <a:rPr lang="en-GB" sz="1400">
                <a:solidFill>
                  <a:schemeClr val="accent2"/>
                </a:solidFill>
                <a:latin typeface="Times New Roman" panose="02020603050405020304" pitchFamily="18" charset="0"/>
                <a:cs typeface="Times New Roman" panose="02020603050405020304" pitchFamily="18" charset="0"/>
              </a:rPr>
              <a:t>Delete this slide after use</a:t>
            </a:r>
          </a:p>
        </p:txBody>
      </p:sp>
      <p:pic>
        <p:nvPicPr>
          <p:cNvPr id="4" name="Picture 3">
            <a:extLst>
              <a:ext uri="{FF2B5EF4-FFF2-40B4-BE49-F238E27FC236}">
                <a16:creationId xmlns:a16="http://schemas.microsoft.com/office/drawing/2014/main" id="{E8DC192D-15E7-44CD-B477-C881E0E6D990}"/>
              </a:ext>
            </a:extLst>
          </p:cNvPr>
          <p:cNvPicPr>
            <a:picLocks noChangeAspect="1"/>
          </p:cNvPicPr>
          <p:nvPr/>
        </p:nvPicPr>
        <p:blipFill rotWithShape="1">
          <a:blip r:embed="rId4"/>
          <a:srcRect l="4483" r="1"/>
          <a:stretch/>
        </p:blipFill>
        <p:spPr>
          <a:xfrm>
            <a:off x="539750" y="3879102"/>
            <a:ext cx="502364" cy="306000"/>
          </a:xfrm>
          <a:prstGeom prst="rect">
            <a:avLst/>
          </a:prstGeom>
        </p:spPr>
      </p:pic>
      <p:pic>
        <p:nvPicPr>
          <p:cNvPr id="25" name="Picture 24">
            <a:extLst>
              <a:ext uri="{FF2B5EF4-FFF2-40B4-BE49-F238E27FC236}">
                <a16:creationId xmlns:a16="http://schemas.microsoft.com/office/drawing/2014/main" id="{61C5AB06-467F-4D53-8D9A-1C0D14254FE5}"/>
              </a:ext>
            </a:extLst>
          </p:cNvPr>
          <p:cNvPicPr>
            <a:picLocks noChangeAspect="1"/>
          </p:cNvPicPr>
          <p:nvPr/>
        </p:nvPicPr>
        <p:blipFill>
          <a:blip r:embed="rId5"/>
          <a:stretch>
            <a:fillRect/>
          </a:stretch>
        </p:blipFill>
        <p:spPr>
          <a:xfrm>
            <a:off x="6182034" y="2847599"/>
            <a:ext cx="1053671" cy="847781"/>
          </a:xfrm>
          <a:prstGeom prst="rect">
            <a:avLst/>
          </a:prstGeom>
        </p:spPr>
      </p:pic>
      <p:pic>
        <p:nvPicPr>
          <p:cNvPr id="26" name="Picture 25">
            <a:extLst>
              <a:ext uri="{FF2B5EF4-FFF2-40B4-BE49-F238E27FC236}">
                <a16:creationId xmlns:a16="http://schemas.microsoft.com/office/drawing/2014/main" id="{23E3D7D1-8B06-4822-B042-9E0013DC5ABD}"/>
              </a:ext>
            </a:extLst>
          </p:cNvPr>
          <p:cNvPicPr>
            <a:picLocks noChangeAspect="1"/>
          </p:cNvPicPr>
          <p:nvPr/>
        </p:nvPicPr>
        <p:blipFill>
          <a:blip r:embed="rId6"/>
          <a:stretch>
            <a:fillRect/>
          </a:stretch>
        </p:blipFill>
        <p:spPr>
          <a:xfrm>
            <a:off x="3342618" y="4737710"/>
            <a:ext cx="721382" cy="310749"/>
          </a:xfrm>
          <a:prstGeom prst="rect">
            <a:avLst/>
          </a:prstGeom>
        </p:spPr>
      </p:pic>
      <p:pic>
        <p:nvPicPr>
          <p:cNvPr id="6" name="Picture 5">
            <a:extLst>
              <a:ext uri="{FF2B5EF4-FFF2-40B4-BE49-F238E27FC236}">
                <a16:creationId xmlns:a16="http://schemas.microsoft.com/office/drawing/2014/main" id="{E69E3A62-6048-4098-92E9-31D1A7DA6A31}"/>
              </a:ext>
            </a:extLst>
          </p:cNvPr>
          <p:cNvPicPr>
            <a:picLocks noChangeAspect="1"/>
          </p:cNvPicPr>
          <p:nvPr/>
        </p:nvPicPr>
        <p:blipFill>
          <a:blip r:embed="rId7"/>
          <a:stretch>
            <a:fillRect/>
          </a:stretch>
        </p:blipFill>
        <p:spPr>
          <a:xfrm>
            <a:off x="10713191" y="1409700"/>
            <a:ext cx="937472" cy="3173789"/>
          </a:xfrm>
          <a:prstGeom prst="rect">
            <a:avLst/>
          </a:prstGeom>
        </p:spPr>
      </p:pic>
      <p:sp>
        <p:nvSpPr>
          <p:cNvPr id="28" name="TextBox 27">
            <a:extLst>
              <a:ext uri="{FF2B5EF4-FFF2-40B4-BE49-F238E27FC236}">
                <a16:creationId xmlns:a16="http://schemas.microsoft.com/office/drawing/2014/main" id="{1CF0A521-6AD8-4FA2-ABD7-4B156695725B}"/>
              </a:ext>
            </a:extLst>
          </p:cNvPr>
          <p:cNvSpPr txBox="1"/>
          <p:nvPr/>
        </p:nvSpPr>
        <p:spPr>
          <a:xfrm>
            <a:off x="1217613" y="3880138"/>
            <a:ext cx="1897062" cy="307777"/>
          </a:xfrm>
          <a:prstGeom prst="rect">
            <a:avLst/>
          </a:prstGeom>
          <a:noFill/>
        </p:spPr>
        <p:txBody>
          <a:bodyPr wrap="square" lIns="0" tIns="0" rIns="0" bIns="0">
            <a:spAutoFit/>
          </a:bodyPr>
          <a:lstStyle/>
          <a:p>
            <a:pPr eaLnBrk="1" hangingPunct="1">
              <a:spcAft>
                <a:spcPts val="600"/>
              </a:spcAft>
              <a:defRPr/>
            </a:pPr>
            <a:r>
              <a:rPr lang="en-GB" sz="1000" noProof="1">
                <a:solidFill>
                  <a:schemeClr val="tx1"/>
                </a:solidFill>
                <a:latin typeface="Arial" panose="020B0604020202020204" pitchFamily="34" charset="0"/>
                <a:cs typeface="Arial" panose="020B0604020202020204" pitchFamily="34" charset="0"/>
              </a:rPr>
              <a:t>Alternatively, </a:t>
            </a:r>
            <a:r>
              <a:rPr lang="en-GB" sz="1000" b="1" noProof="1">
                <a:solidFill>
                  <a:schemeClr val="tx1"/>
                </a:solidFill>
                <a:latin typeface="Arial" panose="020B0604020202020204" pitchFamily="34" charset="0"/>
                <a:cs typeface="Arial" panose="020B0604020202020204" pitchFamily="34" charset="0"/>
              </a:rPr>
              <a:t>Increase</a:t>
            </a:r>
            <a:r>
              <a:rPr lang="en-GB" sz="1000" baseline="0" noProof="1">
                <a:solidFill>
                  <a:schemeClr val="tx1"/>
                </a:solidFill>
                <a:latin typeface="Arial" panose="020B0604020202020204" pitchFamily="34" charset="0"/>
                <a:cs typeface="Arial" panose="020B0604020202020204" pitchFamily="34" charset="0"/>
              </a:rPr>
              <a:t> and</a:t>
            </a:r>
            <a:br>
              <a:rPr lang="en-GB" sz="1000" baseline="0" noProof="1">
                <a:solidFill>
                  <a:schemeClr val="tx1"/>
                </a:solidFill>
                <a:latin typeface="Arial" panose="020B0604020202020204" pitchFamily="34" charset="0"/>
                <a:cs typeface="Arial" panose="020B0604020202020204" pitchFamily="34" charset="0"/>
              </a:rPr>
            </a:br>
            <a:r>
              <a:rPr lang="en-GB" sz="1000" b="1" baseline="0" noProof="1">
                <a:solidFill>
                  <a:schemeClr val="tx1"/>
                </a:solidFill>
                <a:latin typeface="Arial" panose="020B0604020202020204" pitchFamily="34" charset="0"/>
                <a:cs typeface="Arial" panose="020B0604020202020204" pitchFamily="34" charset="0"/>
              </a:rPr>
              <a:t>Decrease </a:t>
            </a:r>
            <a:r>
              <a:rPr lang="en-GB" sz="1000" baseline="0" noProof="1">
                <a:solidFill>
                  <a:schemeClr val="tx1"/>
                </a:solidFill>
                <a:latin typeface="Arial" panose="020B0604020202020204" pitchFamily="34" charset="0"/>
                <a:cs typeface="Arial" panose="020B0604020202020204" pitchFamily="34" charset="0"/>
              </a:rPr>
              <a:t>list level can be used</a:t>
            </a:r>
          </a:p>
        </p:txBody>
      </p:sp>
      <p:pic>
        <p:nvPicPr>
          <p:cNvPr id="29" name="Picture 28">
            <a:extLst>
              <a:ext uri="{FF2B5EF4-FFF2-40B4-BE49-F238E27FC236}">
                <a16:creationId xmlns:a16="http://schemas.microsoft.com/office/drawing/2014/main" id="{D5AAD879-4417-455C-BF76-7F1D8FC43DAF}"/>
              </a:ext>
            </a:extLst>
          </p:cNvPr>
          <p:cNvPicPr>
            <a:picLocks noChangeAspect="1"/>
          </p:cNvPicPr>
          <p:nvPr/>
        </p:nvPicPr>
        <p:blipFill>
          <a:blip r:embed="rId8"/>
          <a:stretch>
            <a:fillRect/>
          </a:stretch>
        </p:blipFill>
        <p:spPr>
          <a:xfrm>
            <a:off x="6230938" y="1601536"/>
            <a:ext cx="439902" cy="447295"/>
          </a:xfrm>
          <a:prstGeom prst="rect">
            <a:avLst/>
          </a:prstGeom>
        </p:spPr>
      </p:pic>
      <p:sp>
        <p:nvSpPr>
          <p:cNvPr id="37" name="TextBox 36">
            <a:extLst>
              <a:ext uri="{FF2B5EF4-FFF2-40B4-BE49-F238E27FC236}">
                <a16:creationId xmlns:a16="http://schemas.microsoft.com/office/drawing/2014/main" id="{81C181B1-8DE5-4B6C-9648-F234EE5015BF}"/>
              </a:ext>
            </a:extLst>
          </p:cNvPr>
          <p:cNvSpPr txBox="1"/>
          <p:nvPr/>
        </p:nvSpPr>
        <p:spPr>
          <a:xfrm>
            <a:off x="4064000" y="1411500"/>
            <a:ext cx="1897061" cy="923330"/>
          </a:xfrm>
          <a:prstGeom prst="rect">
            <a:avLst/>
          </a:prstGeom>
          <a:noFill/>
        </p:spPr>
        <p:txBody>
          <a:bodyPr wrap="square" lIns="0" tIns="0" rIns="0" bIns="0">
            <a:spAutoFit/>
          </a:bodyPr>
          <a:lstStyle/>
          <a:p>
            <a:pPr eaLnBrk="1" hangingPunct="1">
              <a:spcBef>
                <a:spcPts val="0"/>
              </a:spcBef>
              <a:spcAft>
                <a:spcPts val="600"/>
              </a:spcAft>
              <a:defRPr/>
            </a:pPr>
            <a:r>
              <a:rPr lang="en-GB" sz="1000" b="1">
                <a:solidFill>
                  <a:srgbClr val="000000"/>
                </a:solidFill>
                <a:latin typeface="Arial" panose="020B0604020202020204" pitchFamily="34" charset="0"/>
                <a:ea typeface="Times New Roman" panose="02020603050405020304" pitchFamily="18" charset="0"/>
              </a:rPr>
              <a:t>Insert a New Slide</a:t>
            </a:r>
            <a:endParaRPr lang="en-GB" sz="1000" b="1" noProof="1">
              <a:solidFill>
                <a:schemeClr val="tx1"/>
              </a:solidFill>
              <a:latin typeface="Arial" panose="020B0604020202020204" pitchFamily="34" charset="0"/>
              <a:cs typeface="Arial" panose="020B0604020202020204" pitchFamily="34" charset="0"/>
            </a:endParaRPr>
          </a:p>
          <a:p>
            <a:pPr marL="228600" indent="-228600" eaLnBrk="1" hangingPunct="1">
              <a:spcAft>
                <a:spcPts val="600"/>
              </a:spcAft>
              <a:buFont typeface="+mj-lt"/>
              <a:buAutoNum type="arabicPeriod"/>
              <a:defRPr/>
            </a:pPr>
            <a:r>
              <a:rPr lang="en-GB" altLang="da-DK" sz="1000" noProof="1">
                <a:solidFill>
                  <a:schemeClr val="tx1"/>
                </a:solidFill>
                <a:latin typeface="Arial" panose="020B0604020202020204" pitchFamily="34" charset="0"/>
                <a:cs typeface="Arial" panose="020B0604020202020204" pitchFamily="34" charset="0"/>
              </a:rPr>
              <a:t>Click on the </a:t>
            </a:r>
            <a:r>
              <a:rPr lang="en-GB" altLang="da-DK" sz="1000" b="1" noProof="1">
                <a:solidFill>
                  <a:schemeClr val="tx1"/>
                </a:solidFill>
                <a:latin typeface="Arial" panose="020B0604020202020204" pitchFamily="34" charset="0"/>
                <a:cs typeface="Arial" panose="020B0604020202020204" pitchFamily="34" charset="0"/>
              </a:rPr>
              <a:t>Home </a:t>
            </a:r>
            <a:r>
              <a:rPr lang="en-GB" altLang="da-DK" sz="1000" b="0" noProof="1">
                <a:solidFill>
                  <a:schemeClr val="tx1"/>
                </a:solidFill>
                <a:latin typeface="Arial" panose="020B0604020202020204" pitchFamily="34" charset="0"/>
                <a:cs typeface="Arial" panose="020B0604020202020204" pitchFamily="34" charset="0"/>
              </a:rPr>
              <a:t>tab</a:t>
            </a:r>
            <a:endParaRPr lang="en-GB" altLang="da-DK" sz="1000" b="0" strike="sngStrike" noProof="1">
              <a:solidFill>
                <a:schemeClr val="tx1"/>
              </a:solidFill>
              <a:latin typeface="Arial" panose="020B0604020202020204" pitchFamily="34" charset="0"/>
              <a:cs typeface="Arial" panose="020B0604020202020204" pitchFamily="34" charset="0"/>
            </a:endParaRPr>
          </a:p>
          <a:p>
            <a:pPr marL="228600" indent="-228600" eaLnBrk="1" hangingPunct="1">
              <a:spcAft>
                <a:spcPts val="600"/>
              </a:spcAft>
              <a:buFont typeface="+mj-lt"/>
              <a:buAutoNum type="arabicPeriod"/>
              <a:defRPr/>
            </a:pPr>
            <a:r>
              <a:rPr lang="en-GB" altLang="da-DK" sz="1000" noProof="1">
                <a:solidFill>
                  <a:schemeClr val="tx1"/>
                </a:solidFill>
                <a:latin typeface="Arial" panose="020B0604020202020204" pitchFamily="34" charset="0"/>
                <a:cs typeface="Arial" panose="020B0604020202020204" pitchFamily="34" charset="0"/>
              </a:rPr>
              <a:t>Click on the </a:t>
            </a:r>
            <a:r>
              <a:rPr lang="en-GB" altLang="da-DK" sz="1000" b="1" baseline="0" noProof="1">
                <a:solidFill>
                  <a:schemeClr val="tx1"/>
                </a:solidFill>
                <a:latin typeface="Arial" panose="020B0604020202020204" pitchFamily="34" charset="0"/>
                <a:cs typeface="Arial" panose="020B0604020202020204" pitchFamily="34" charset="0"/>
              </a:rPr>
              <a:t>New Slide </a:t>
            </a:r>
            <a:r>
              <a:rPr lang="en-GB" altLang="da-DK" sz="1000" noProof="1">
                <a:solidFill>
                  <a:schemeClr val="tx1"/>
                </a:solidFill>
                <a:latin typeface="Arial" panose="020B0604020202020204" pitchFamily="34" charset="0"/>
                <a:cs typeface="Arial" panose="020B0604020202020204" pitchFamily="34" charset="0"/>
              </a:rPr>
              <a:t>to insert </a:t>
            </a:r>
            <a:br>
              <a:rPr lang="en-GB" altLang="da-DK" sz="1000" noProof="1">
                <a:solidFill>
                  <a:schemeClr val="tx1"/>
                </a:solidFill>
                <a:latin typeface="Arial" panose="020B0604020202020204" pitchFamily="34" charset="0"/>
                <a:cs typeface="Arial" panose="020B0604020202020204" pitchFamily="34" charset="0"/>
              </a:rPr>
            </a:br>
            <a:r>
              <a:rPr lang="en-GB" altLang="da-DK" sz="1000" noProof="1">
                <a:solidFill>
                  <a:schemeClr val="tx1"/>
                </a:solidFill>
                <a:latin typeface="Arial" panose="020B0604020202020204" pitchFamily="34" charset="0"/>
                <a:cs typeface="Arial" panose="020B0604020202020204" pitchFamily="34" charset="0"/>
              </a:rPr>
              <a:t>new slide</a:t>
            </a:r>
          </a:p>
        </p:txBody>
      </p:sp>
      <p:sp>
        <p:nvSpPr>
          <p:cNvPr id="38" name="TextBox 37">
            <a:extLst>
              <a:ext uri="{FF2B5EF4-FFF2-40B4-BE49-F238E27FC236}">
                <a16:creationId xmlns:a16="http://schemas.microsoft.com/office/drawing/2014/main" id="{B70D80B7-E226-4F61-9EA0-8793D82C705D}"/>
              </a:ext>
            </a:extLst>
          </p:cNvPr>
          <p:cNvSpPr txBox="1"/>
          <p:nvPr/>
        </p:nvSpPr>
        <p:spPr>
          <a:xfrm>
            <a:off x="6232944" y="1401342"/>
            <a:ext cx="2576512" cy="1000274"/>
          </a:xfrm>
          <a:prstGeom prst="rect">
            <a:avLst/>
          </a:prstGeom>
          <a:noFill/>
        </p:spPr>
        <p:txBody>
          <a:bodyPr wrap="square" lIns="0" tIns="0" rIns="0" bIns="0">
            <a:spAutoFit/>
          </a:bodyPr>
          <a:lstStyle/>
          <a:p>
            <a:pPr eaLnBrk="1" hangingPunct="1">
              <a:spcAft>
                <a:spcPts val="600"/>
              </a:spcAft>
              <a:defRPr/>
            </a:pPr>
            <a:r>
              <a:rPr lang="en-GB" sz="1000" b="1" noProof="1">
                <a:solidFill>
                  <a:schemeClr val="tx1"/>
                </a:solidFill>
                <a:latin typeface="Arial" panose="020B0604020202020204" pitchFamily="34" charset="0"/>
                <a:cs typeface="Arial" panose="020B0604020202020204" pitchFamily="34" charset="0"/>
              </a:rPr>
              <a:t>Insert picture</a:t>
            </a:r>
          </a:p>
          <a:p>
            <a:pPr eaLnBrk="1" hangingPunct="1">
              <a:spcAft>
                <a:spcPts val="600"/>
              </a:spcAft>
              <a:defRPr/>
            </a:pPr>
            <a:endParaRPr lang="en-GB"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GB" altLang="da-DK" sz="1000" b="0" noProof="1">
                <a:solidFill>
                  <a:schemeClr val="tx1"/>
                </a:solidFill>
                <a:latin typeface="Arial" panose="020B0604020202020204" pitchFamily="34" charset="0"/>
                <a:cs typeface="Arial" panose="020B0604020202020204" pitchFamily="34" charset="0"/>
              </a:rPr>
              <a:t>On slides with picture placeholder, </a:t>
            </a:r>
            <a:br>
              <a:rPr lang="en-GB" altLang="da-DK" sz="1000" b="0" noProof="1">
                <a:solidFill>
                  <a:schemeClr val="tx1"/>
                </a:solidFill>
                <a:latin typeface="Arial" panose="020B0604020202020204" pitchFamily="34" charset="0"/>
                <a:cs typeface="Arial" panose="020B0604020202020204" pitchFamily="34" charset="0"/>
              </a:rPr>
            </a:br>
            <a:r>
              <a:rPr lang="en-GB" altLang="da-DK" sz="1000" b="0" noProof="1">
                <a:solidFill>
                  <a:schemeClr val="tx1"/>
                </a:solidFill>
                <a:latin typeface="Arial" panose="020B0604020202020204" pitchFamily="34" charset="0"/>
                <a:cs typeface="Arial" panose="020B0604020202020204" pitchFamily="34" charset="0"/>
              </a:rPr>
              <a:t>click on the icon and choose </a:t>
            </a:r>
            <a:r>
              <a:rPr lang="en-GB" altLang="da-DK" sz="1000" b="1" noProof="1">
                <a:solidFill>
                  <a:schemeClr val="tx1"/>
                </a:solidFill>
                <a:latin typeface="Arial" panose="020B0604020202020204" pitchFamily="34" charset="0"/>
                <a:cs typeface="Arial" panose="020B0604020202020204" pitchFamily="34" charset="0"/>
              </a:rPr>
              <a:t>Insert</a:t>
            </a:r>
          </a:p>
        </p:txBody>
      </p:sp>
      <p:pic>
        <p:nvPicPr>
          <p:cNvPr id="44" name="Picture 43">
            <a:extLst>
              <a:ext uri="{FF2B5EF4-FFF2-40B4-BE49-F238E27FC236}">
                <a16:creationId xmlns:a16="http://schemas.microsoft.com/office/drawing/2014/main" id="{4CF1FFD3-4CFE-4643-82B2-6E865F91BE0A}"/>
              </a:ext>
            </a:extLst>
          </p:cNvPr>
          <p:cNvPicPr>
            <a:picLocks noChangeAspect="1"/>
          </p:cNvPicPr>
          <p:nvPr/>
        </p:nvPicPr>
        <p:blipFill>
          <a:blip r:embed="rId9"/>
          <a:stretch>
            <a:fillRect/>
          </a:stretch>
        </p:blipFill>
        <p:spPr>
          <a:xfrm>
            <a:off x="3377366" y="1411500"/>
            <a:ext cx="457264" cy="743054"/>
          </a:xfrm>
          <a:prstGeom prst="rect">
            <a:avLst/>
          </a:prstGeom>
        </p:spPr>
      </p:pic>
      <p:pic>
        <p:nvPicPr>
          <p:cNvPr id="46" name="Picture 45">
            <a:extLst>
              <a:ext uri="{FF2B5EF4-FFF2-40B4-BE49-F238E27FC236}">
                <a16:creationId xmlns:a16="http://schemas.microsoft.com/office/drawing/2014/main" id="{5B827A9C-2570-4A3E-AE07-6B19AAC7D44A}"/>
              </a:ext>
            </a:extLst>
          </p:cNvPr>
          <p:cNvPicPr>
            <a:picLocks noChangeAspect="1"/>
          </p:cNvPicPr>
          <p:nvPr/>
        </p:nvPicPr>
        <p:blipFill>
          <a:blip r:embed="rId10"/>
          <a:stretch>
            <a:fillRect/>
          </a:stretch>
        </p:blipFill>
        <p:spPr>
          <a:xfrm>
            <a:off x="3376881" y="2749214"/>
            <a:ext cx="980294" cy="291753"/>
          </a:xfrm>
          <a:prstGeom prst="rect">
            <a:avLst/>
          </a:prstGeom>
        </p:spPr>
      </p:pic>
      <p:sp>
        <p:nvSpPr>
          <p:cNvPr id="47" name="TextBox 46">
            <a:extLst>
              <a:ext uri="{FF2B5EF4-FFF2-40B4-BE49-F238E27FC236}">
                <a16:creationId xmlns:a16="http://schemas.microsoft.com/office/drawing/2014/main" id="{934E07CD-9CA8-4274-A486-A45921C0A566}"/>
              </a:ext>
            </a:extLst>
          </p:cNvPr>
          <p:cNvSpPr txBox="1"/>
          <p:nvPr/>
        </p:nvSpPr>
        <p:spPr>
          <a:xfrm>
            <a:off x="3393809" y="2510449"/>
            <a:ext cx="2576511" cy="1769715"/>
          </a:xfrm>
          <a:prstGeom prst="rect">
            <a:avLst/>
          </a:prstGeom>
          <a:noFill/>
        </p:spPr>
        <p:txBody>
          <a:bodyPr wrap="square" lIns="0" tIns="0" rIns="0" bIns="0">
            <a:spAutoFit/>
          </a:bodyPr>
          <a:lstStyle/>
          <a:p>
            <a:pPr eaLnBrk="1" hangingPunct="1">
              <a:spcBef>
                <a:spcPts val="1200"/>
              </a:spcBef>
              <a:spcAft>
                <a:spcPts val="600"/>
              </a:spcAft>
              <a:defRPr/>
            </a:pPr>
            <a:r>
              <a:rPr lang="en-GB" sz="1000" b="1">
                <a:solidFill>
                  <a:srgbClr val="000000"/>
                </a:solidFill>
                <a:latin typeface="Arial" panose="020B0604020202020204" pitchFamily="34" charset="0"/>
                <a:ea typeface="Times New Roman" panose="02020603050405020304" pitchFamily="18" charset="0"/>
              </a:rPr>
              <a:t>Change Slide Layout</a:t>
            </a:r>
          </a:p>
          <a:p>
            <a:pPr eaLnBrk="1" hangingPunct="1">
              <a:spcBef>
                <a:spcPts val="0"/>
              </a:spcBef>
              <a:spcAft>
                <a:spcPts val="0"/>
              </a:spcAft>
              <a:defRPr/>
            </a:pPr>
            <a:endParaRPr lang="en-GB" sz="1000" b="1">
              <a:solidFill>
                <a:srgbClr val="000000"/>
              </a:solidFill>
              <a:latin typeface="Arial" panose="020B0604020202020204" pitchFamily="34" charset="0"/>
              <a:ea typeface="Times New Roman" panose="02020603050405020304" pitchFamily="18" charset="0"/>
            </a:endParaRPr>
          </a:p>
          <a:p>
            <a:pPr eaLnBrk="1" hangingPunct="1">
              <a:spcBef>
                <a:spcPts val="0"/>
              </a:spcBef>
              <a:spcAft>
                <a:spcPts val="0"/>
              </a:spcAft>
              <a:defRPr/>
            </a:pPr>
            <a:endParaRPr lang="en-GB" sz="1000" b="1">
              <a:solidFill>
                <a:srgbClr val="000000"/>
              </a:solidFill>
              <a:latin typeface="Arial" panose="020B0604020202020204" pitchFamily="34" charset="0"/>
              <a:ea typeface="Times New Roman" panose="02020603050405020304" pitchFamily="18" charset="0"/>
            </a:endParaRPr>
          </a:p>
          <a:p>
            <a:pPr eaLnBrk="1" hangingPunct="1">
              <a:spcBef>
                <a:spcPts val="0"/>
              </a:spcBef>
              <a:spcAft>
                <a:spcPts val="0"/>
              </a:spcAft>
              <a:defRPr/>
            </a:pPr>
            <a:endParaRPr lang="en-GB" sz="1000" b="1">
              <a:solidFill>
                <a:srgbClr val="000000"/>
              </a:solidFill>
              <a:latin typeface="Arial" panose="020B0604020202020204" pitchFamily="34" charset="0"/>
              <a:ea typeface="Times New Roman" panose="02020603050405020304" pitchFamily="18" charset="0"/>
            </a:endParaRPr>
          </a:p>
          <a:p>
            <a:pPr eaLnBrk="1" hangingPunct="1">
              <a:spcBef>
                <a:spcPts val="0"/>
              </a:spcBef>
              <a:spcAft>
                <a:spcPts val="600"/>
              </a:spcAft>
              <a:defRPr/>
            </a:pPr>
            <a:r>
              <a:rPr lang="en-GB" altLang="da-DK" sz="1000" noProof="1">
                <a:solidFill>
                  <a:schemeClr val="tx1"/>
                </a:solidFill>
                <a:latin typeface="Arial" panose="020B0604020202020204" pitchFamily="34" charset="0"/>
                <a:cs typeface="Arial" panose="020B0604020202020204" pitchFamily="34" charset="0"/>
              </a:rPr>
              <a:t>From the </a:t>
            </a:r>
            <a:r>
              <a:rPr lang="en-GB" altLang="da-DK" sz="1000" b="1" noProof="1">
                <a:solidFill>
                  <a:schemeClr val="tx1"/>
                </a:solidFill>
                <a:latin typeface="Arial" panose="020B0604020202020204" pitchFamily="34" charset="0"/>
                <a:cs typeface="Arial" panose="020B0604020202020204" pitchFamily="34" charset="0"/>
              </a:rPr>
              <a:t>Home - Tab</a:t>
            </a:r>
          </a:p>
          <a:p>
            <a:pPr marL="228600" indent="-228600">
              <a:spcAft>
                <a:spcPts val="600"/>
              </a:spcAft>
              <a:buFont typeface="+mj-lt"/>
              <a:buAutoNum type="arabicPeriod"/>
            </a:pPr>
            <a:r>
              <a:rPr lang="en-GB" sz="1000">
                <a:solidFill>
                  <a:srgbClr val="000000"/>
                </a:solidFill>
                <a:latin typeface="Arial" panose="020B0604020202020204" pitchFamily="34" charset="0"/>
                <a:ea typeface="Times New Roman" panose="02020603050405020304" pitchFamily="18" charset="0"/>
              </a:rPr>
              <a:t>Click on the arrow next to </a:t>
            </a:r>
            <a:r>
              <a:rPr lang="en-GB" sz="1000" b="1">
                <a:solidFill>
                  <a:srgbClr val="000000"/>
                </a:solidFill>
                <a:latin typeface="Arial" panose="020B0604020202020204" pitchFamily="34" charset="0"/>
                <a:ea typeface="Times New Roman" panose="02020603050405020304" pitchFamily="18" charset="0"/>
              </a:rPr>
              <a:t>Layout</a:t>
            </a:r>
            <a:br>
              <a:rPr lang="en-GB" sz="1000" b="1">
                <a:solidFill>
                  <a:srgbClr val="000000"/>
                </a:solidFill>
                <a:latin typeface="Arial" panose="020B0604020202020204" pitchFamily="34" charset="0"/>
                <a:ea typeface="Times New Roman" panose="02020603050405020304" pitchFamily="18" charset="0"/>
              </a:rPr>
            </a:br>
            <a:r>
              <a:rPr lang="en-GB" sz="1000">
                <a:solidFill>
                  <a:srgbClr val="000000"/>
                </a:solidFill>
                <a:latin typeface="Arial" panose="020B0604020202020204" pitchFamily="34" charset="0"/>
                <a:ea typeface="Times New Roman" panose="02020603050405020304" pitchFamily="18" charset="0"/>
              </a:rPr>
              <a:t>to view a dropdown menu of possible slide layouts</a:t>
            </a:r>
            <a:endParaRPr lang="en-GB" sz="1000">
              <a:solidFill>
                <a:schemeClr val="tx1"/>
              </a:solidFill>
              <a:latin typeface="Times New Roman" panose="02020603050405020304" pitchFamily="18" charset="0"/>
              <a:ea typeface="Times New Roman" panose="02020603050405020304" pitchFamily="18" charset="0"/>
            </a:endParaRPr>
          </a:p>
          <a:p>
            <a:pPr marL="228600" indent="-228600">
              <a:spcAft>
                <a:spcPts val="600"/>
              </a:spcAft>
              <a:buFont typeface="+mj-lt"/>
              <a:buAutoNum type="arabicPeriod"/>
            </a:pPr>
            <a:r>
              <a:rPr lang="en-GB" sz="1000">
                <a:solidFill>
                  <a:srgbClr val="000000"/>
                </a:solidFill>
                <a:latin typeface="Arial" panose="020B0604020202020204" pitchFamily="34" charset="0"/>
                <a:ea typeface="Times New Roman" panose="02020603050405020304" pitchFamily="18" charset="0"/>
              </a:rPr>
              <a:t>Click on the layout you prefer and it will be applied to the new slide</a:t>
            </a:r>
            <a:endParaRPr lang="en-GB" sz="100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80167179"/>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LETE ALL LAYOYTS AFTER THIS">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EA96A6D-1E2F-4ADB-BDC1-E728CFCEC771}"/>
              </a:ext>
            </a:extLst>
          </p:cNvPr>
          <p:cNvSpPr txBox="1"/>
          <p:nvPr/>
        </p:nvSpPr>
        <p:spPr>
          <a:xfrm>
            <a:off x="1485900" y="2781000"/>
            <a:ext cx="9220200" cy="1077218"/>
          </a:xfrm>
          <a:prstGeom prst="rect">
            <a:avLst/>
          </a:prstGeom>
          <a:noFill/>
        </p:spPr>
        <p:txBody>
          <a:bodyPr wrap="square" rtlCol="0">
            <a:spAutoFit/>
          </a:bodyPr>
          <a:lstStyle/>
          <a:p>
            <a:r>
              <a:rPr lang="en-GB" sz="3600" b="1">
                <a:solidFill>
                  <a:srgbClr val="3F1A01"/>
                </a:solidFill>
                <a:latin typeface="+mj-lt"/>
                <a:cs typeface="Times New Roman" panose="02020603050405020304" pitchFamily="18" charset="0"/>
              </a:rPr>
              <a:t>Delete all masterslides after this slide.</a:t>
            </a:r>
          </a:p>
          <a:p>
            <a:r>
              <a:rPr lang="en-GB" sz="2800">
                <a:solidFill>
                  <a:srgbClr val="B59E5F"/>
                </a:solidFill>
                <a:latin typeface="Times New Roman" panose="02020603050405020304" pitchFamily="18" charset="0"/>
                <a:cs typeface="Times New Roman" panose="02020603050405020304" pitchFamily="18" charset="0"/>
              </a:rPr>
              <a:t>They are not part of this presentation.</a:t>
            </a:r>
          </a:p>
        </p:txBody>
      </p:sp>
    </p:spTree>
    <p:extLst>
      <p:ext uri="{BB962C8B-B14F-4D97-AF65-F5344CB8AC3E}">
        <p14:creationId xmlns:p14="http://schemas.microsoft.com/office/powerpoint/2010/main" val="2052494888"/>
      </p:ext>
    </p:extLst>
  </p:cSld>
  <p:clrMapOvr>
    <a:masterClrMapping/>
  </p:clrMapOvr>
  <p:hf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163406-5D68-413D-AFDF-90D68FD02AB8}"/>
              </a:ext>
            </a:extLst>
          </p:cNvPr>
          <p:cNvSpPr>
            <a:spLocks noGrp="1"/>
          </p:cNvSpPr>
          <p:nvPr>
            <p:ph type="title"/>
          </p:nvPr>
        </p:nvSpPr>
        <p:spPr>
          <a:xfrm>
            <a:off x="539749" y="539750"/>
            <a:ext cx="9213851" cy="332399"/>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0AFFE85-39C0-4335-A66F-8029022AA9A6}"/>
              </a:ext>
            </a:extLst>
          </p:cNvPr>
          <p:cNvSpPr>
            <a:spLocks noGrp="1"/>
          </p:cNvSpPr>
          <p:nvPr>
            <p:ph type="body" idx="1"/>
          </p:nvPr>
        </p:nvSpPr>
        <p:spPr>
          <a:xfrm>
            <a:off x="539749" y="1142150"/>
            <a:ext cx="9213851" cy="469191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C42D07B5-4BF6-4499-8E0F-9D762B6DEEF8}"/>
              </a:ext>
            </a:extLst>
          </p:cNvPr>
          <p:cNvSpPr>
            <a:spLocks noGrp="1"/>
          </p:cNvSpPr>
          <p:nvPr>
            <p:ph type="sldNum" sz="quarter" idx="4"/>
          </p:nvPr>
        </p:nvSpPr>
        <p:spPr>
          <a:xfrm>
            <a:off x="11650662" y="6434112"/>
            <a:ext cx="271337"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pic>
        <p:nvPicPr>
          <p:cNvPr id="8" name="Logo">
            <a:extLst>
              <a:ext uri="{FF2B5EF4-FFF2-40B4-BE49-F238E27FC236}">
                <a16:creationId xmlns:a16="http://schemas.microsoft.com/office/drawing/2014/main" id="{34F9AA81-9D35-4E0D-9E78-3F5C44655638}"/>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0210663" y="524930"/>
            <a:ext cx="1440000" cy="281496"/>
          </a:xfrm>
          <a:prstGeom prst="rect">
            <a:avLst/>
          </a:prstGeom>
        </p:spPr>
      </p:pic>
      <p:sp>
        <p:nvSpPr>
          <p:cNvPr id="9" name="ExternalLogo" hidden="1">
            <a:extLst>
              <a:ext uri="{FF2B5EF4-FFF2-40B4-BE49-F238E27FC236}">
                <a16:creationId xmlns:a16="http://schemas.microsoft.com/office/drawing/2014/main" id="{48088308-7A9E-4E84-BCA0-2394FBDDB9C5}"/>
              </a:ext>
            </a:extLst>
          </p:cNvPr>
          <p:cNvSpPr/>
          <p:nvPr/>
        </p:nvSpPr>
        <p:spPr>
          <a:xfrm>
            <a:off x="10023475" y="610200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2415828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 id="2147483694" r:id="rId23"/>
    <p:sldLayoutId id="2147483695" r:id="rId24"/>
    <p:sldLayoutId id="2147483696" r:id="rId25"/>
    <p:sldLayoutId id="2147483697" r:id="rId26"/>
    <p:sldLayoutId id="2147483698" r:id="rId27"/>
    <p:sldLayoutId id="2147483699" r:id="rId28"/>
    <p:sldLayoutId id="2147483700" r:id="rId29"/>
    <p:sldLayoutId id="2147483701" r:id="rId30"/>
    <p:sldLayoutId id="2147483702" r:id="rId31"/>
    <p:sldLayoutId id="2147483703" r:id="rId32"/>
    <p:sldLayoutId id="2147483704" r:id="rId33"/>
    <p:sldLayoutId id="2147483705" r:id="rId34"/>
    <p:sldLayoutId id="2147483706" r:id="rId35"/>
    <p:sldLayoutId id="2147483707" r:id="rId36"/>
  </p:sldLayoutIdLst>
  <p:hf hdr="0" ftr="0" dt="0"/>
  <p:txStyles>
    <p:titleStyle>
      <a:lvl1pPr algn="l" defTabSz="914400" rtl="0" eaLnBrk="1" latinLnBrk="0" hangingPunct="1">
        <a:lnSpc>
          <a:spcPct val="90000"/>
        </a:lnSpc>
        <a:spcBef>
          <a:spcPct val="0"/>
        </a:spcBef>
        <a:buNone/>
        <a:defRPr sz="2400" b="1" kern="1200">
          <a:solidFill>
            <a:srgbClr val="3F1A01"/>
          </a:solidFill>
          <a:latin typeface="+mj-lt"/>
          <a:ea typeface="+mj-ea"/>
          <a:cs typeface="+mj-cs"/>
        </a:defRPr>
      </a:lvl1pPr>
    </p:titleStyle>
    <p:bodyStyle>
      <a:lvl1pPr marL="180000" indent="-180000" algn="l" defTabSz="914400" rtl="0" eaLnBrk="1" latinLnBrk="0" hangingPunct="1">
        <a:lnSpc>
          <a:spcPct val="100000"/>
        </a:lnSpc>
        <a:spcBef>
          <a:spcPts val="1800"/>
        </a:spcBef>
        <a:buFont typeface="Arial" panose="020B0604020202020204" pitchFamily="34" charset="0"/>
        <a:buChar char="•"/>
        <a:defRPr sz="1600" kern="1200">
          <a:solidFill>
            <a:srgbClr val="3F1A0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400" kern="1200">
          <a:solidFill>
            <a:srgbClr val="3F1A0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200" kern="1200">
          <a:solidFill>
            <a:srgbClr val="3F1A0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000" kern="1200">
          <a:solidFill>
            <a:srgbClr val="3F1A01"/>
          </a:solidFill>
          <a:latin typeface="+mn-lt"/>
          <a:ea typeface="+mn-ea"/>
          <a:cs typeface="+mn-cs"/>
        </a:defRPr>
      </a:lvl4pPr>
      <a:lvl5pPr marL="900000" indent="-180000" algn="l" defTabSz="914400" rtl="0" eaLnBrk="1" latinLnBrk="0" hangingPunct="1">
        <a:lnSpc>
          <a:spcPct val="100000"/>
        </a:lnSpc>
        <a:spcBef>
          <a:spcPts val="600"/>
        </a:spcBef>
        <a:buFont typeface="Arial" panose="020B0604020202020204" pitchFamily="34" charset="0"/>
        <a:buChar char="•"/>
        <a:defRPr sz="800" kern="1200">
          <a:solidFill>
            <a:srgbClr val="3F1A0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340">
          <p15:clr>
            <a:srgbClr val="F26B43"/>
          </p15:clr>
        </p15:guide>
        <p15:guide id="4" pos="767">
          <p15:clr>
            <a:srgbClr val="F26B43"/>
          </p15:clr>
        </p15:guide>
        <p15:guide id="5" pos="937">
          <p15:clr>
            <a:srgbClr val="F26B43"/>
          </p15:clr>
        </p15:guide>
        <p15:guide id="6" pos="1365">
          <p15:clr>
            <a:srgbClr val="F26B43"/>
          </p15:clr>
        </p15:guide>
        <p15:guide id="7" pos="1535">
          <p15:clr>
            <a:srgbClr val="F26B43"/>
          </p15:clr>
        </p15:guide>
        <p15:guide id="8" pos="1962">
          <p15:clr>
            <a:srgbClr val="F26B43"/>
          </p15:clr>
        </p15:guide>
        <p15:guide id="9" pos="2132">
          <p15:clr>
            <a:srgbClr val="F26B43"/>
          </p15:clr>
        </p15:guide>
        <p15:guide id="10" pos="2560">
          <p15:clr>
            <a:srgbClr val="F26B43"/>
          </p15:clr>
        </p15:guide>
        <p15:guide id="11" pos="2730">
          <p15:clr>
            <a:srgbClr val="F26B43"/>
          </p15:clr>
        </p15:guide>
        <p15:guide id="12" pos="3157">
          <p15:clr>
            <a:srgbClr val="F26B43"/>
          </p15:clr>
        </p15:guide>
        <p15:guide id="13" pos="3327">
          <p15:clr>
            <a:srgbClr val="F26B43"/>
          </p15:clr>
        </p15:guide>
        <p15:guide id="14" pos="3754">
          <p15:clr>
            <a:srgbClr val="F26B43"/>
          </p15:clr>
        </p15:guide>
        <p15:guide id="15" pos="3925">
          <p15:clr>
            <a:srgbClr val="F26B43"/>
          </p15:clr>
        </p15:guide>
        <p15:guide id="16" pos="4352">
          <p15:clr>
            <a:srgbClr val="F26B43"/>
          </p15:clr>
        </p15:guide>
        <p15:guide id="17" pos="4522">
          <p15:clr>
            <a:srgbClr val="F26B43"/>
          </p15:clr>
        </p15:guide>
        <p15:guide id="18" pos="4949">
          <p15:clr>
            <a:srgbClr val="F26B43"/>
          </p15:clr>
        </p15:guide>
        <p15:guide id="19" pos="5120">
          <p15:clr>
            <a:srgbClr val="F26B43"/>
          </p15:clr>
        </p15:guide>
        <p15:guide id="20" pos="5547">
          <p15:clr>
            <a:srgbClr val="F26B43"/>
          </p15:clr>
        </p15:guide>
        <p15:guide id="21" pos="5717">
          <p15:clr>
            <a:srgbClr val="F26B43"/>
          </p15:clr>
        </p15:guide>
        <p15:guide id="22" pos="6144">
          <p15:clr>
            <a:srgbClr val="F26B43"/>
          </p15:clr>
        </p15:guide>
        <p15:guide id="23" pos="6314">
          <p15:clr>
            <a:srgbClr val="F26B43"/>
          </p15:clr>
        </p15:guide>
        <p15:guide id="24" pos="6742">
          <p15:clr>
            <a:srgbClr val="F26B43"/>
          </p15:clr>
        </p15:guide>
        <p15:guide id="25" pos="6912">
          <p15:clr>
            <a:srgbClr val="F26B43"/>
          </p15:clr>
        </p15:guide>
        <p15:guide id="26" pos="7339">
          <p15:clr>
            <a:srgbClr val="F26B43"/>
          </p15:clr>
        </p15:guide>
        <p15:guide id="27" orient="horz">
          <p15:clr>
            <a:srgbClr val="F26B43"/>
          </p15:clr>
        </p15:guide>
        <p15:guide id="28" orient="horz" pos="4320">
          <p15:clr>
            <a:srgbClr val="F26B43"/>
          </p15:clr>
        </p15:guide>
        <p15:guide id="29" orient="horz" pos="340">
          <p15:clr>
            <a:srgbClr val="F26B43"/>
          </p15:clr>
        </p15:guide>
        <p15:guide id="32" orient="horz" pos="3675">
          <p15:clr>
            <a:srgbClr val="F26B43"/>
          </p15:clr>
        </p15:guide>
        <p15:guide id="33" orient="horz" pos="3793">
          <p15:clr>
            <a:srgbClr val="F26B43"/>
          </p15:clr>
        </p15:guide>
        <p15:guide id="34" orient="horz" pos="4235">
          <p15:clr>
            <a:srgbClr val="F26B43"/>
          </p15:clr>
        </p15:guide>
        <p15:guide id="36" orient="horz" pos="504">
          <p15:clr>
            <a:srgbClr val="F26B43"/>
          </p15:clr>
        </p15:guide>
        <p15:guide id="37" orient="horz" pos="720">
          <p15:clr>
            <a:srgbClr val="F26B43"/>
          </p15:clr>
        </p15:guide>
        <p15:guide id="38" orient="horz" pos="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8.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5.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8.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8.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8.xml"/><Relationship Id="rId1" Type="http://schemas.openxmlformats.org/officeDocument/2006/relationships/tags" Target="../tags/tag1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2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8.xml"/><Relationship Id="rId1" Type="http://schemas.openxmlformats.org/officeDocument/2006/relationships/tags" Target="../tags/tag2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2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2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Placeholder 23">
            <a:extLst>
              <a:ext uri="{FF2B5EF4-FFF2-40B4-BE49-F238E27FC236}">
                <a16:creationId xmlns:a16="http://schemas.microsoft.com/office/drawing/2014/main" id="{672CA6D5-8055-4FF7-97BE-B4D7968D344F}"/>
              </a:ext>
            </a:extLst>
          </p:cNvPr>
          <p:cNvPicPr>
            <a:picLocks noGrp="1" noChangeAspect="1"/>
          </p:cNvPicPr>
          <p:nvPr>
            <p:ph type="pic" sz="quarter" idx="16"/>
          </p:nvPr>
        </p:nvPicPr>
        <p:blipFill>
          <a:blip r:embed="rId4"/>
          <a:srcRect l="8858" r="8858"/>
          <a:stretch/>
        </p:blipFill>
        <p:spPr>
          <a:xfrm>
            <a:off x="1" y="-1"/>
            <a:ext cx="7649633" cy="6858001"/>
          </a:xfrm>
        </p:spPr>
      </p:pic>
      <p:sp>
        <p:nvSpPr>
          <p:cNvPr id="3" name="Subtitle 2"/>
          <p:cNvSpPr>
            <a:spLocks noGrp="1"/>
          </p:cNvSpPr>
          <p:nvPr>
            <p:ph type="body" sz="quarter" idx="17"/>
          </p:nvPr>
        </p:nvSpPr>
        <p:spPr>
          <a:xfrm>
            <a:off x="8186737" y="513000"/>
            <a:ext cx="3463926" cy="240065"/>
          </a:xfrm>
        </p:spPr>
        <p:txBody>
          <a:bodyPr wrap="square">
            <a:normAutofit lnSpcReduction="10000"/>
          </a:bodyPr>
          <a:lstStyle/>
          <a:p>
            <a:r>
              <a:rPr lang="en-GB"/>
              <a:t>Parkinson’s disease</a:t>
            </a:r>
          </a:p>
        </p:txBody>
      </p:sp>
      <p:sp>
        <p:nvSpPr>
          <p:cNvPr id="2" name="Title 1"/>
          <p:cNvSpPr>
            <a:spLocks noGrp="1"/>
          </p:cNvSpPr>
          <p:nvPr>
            <p:ph type="body" sz="quarter" idx="18"/>
          </p:nvPr>
        </p:nvSpPr>
        <p:spPr>
          <a:xfrm>
            <a:off x="8186737" y="986690"/>
            <a:ext cx="3463926" cy="4062310"/>
          </a:xfrm>
        </p:spPr>
        <p:txBody>
          <a:bodyPr wrap="square">
            <a:normAutofit/>
          </a:bodyPr>
          <a:lstStyle/>
          <a:p>
            <a:r>
              <a:rPr lang="en-GB"/>
              <a:t>Course, natural history and prognosis</a:t>
            </a:r>
          </a:p>
        </p:txBody>
      </p:sp>
    </p:spTree>
    <p:custDataLst>
      <p:tags r:id="rId1"/>
    </p:custDataLst>
    <p:extLst>
      <p:ext uri="{BB962C8B-B14F-4D97-AF65-F5344CB8AC3E}">
        <p14:creationId xmlns:p14="http://schemas.microsoft.com/office/powerpoint/2010/main" val="1045374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199" y="546100"/>
            <a:ext cx="7912925" cy="2105818"/>
          </a:xfrm>
        </p:spPr>
        <p:txBody>
          <a:bodyPr/>
          <a:lstStyle/>
          <a:p>
            <a:r>
              <a:rPr lang="en-GB"/>
              <a:t>The course of Parkinson’s disease</a:t>
            </a:r>
          </a:p>
        </p:txBody>
      </p:sp>
      <p:sp>
        <p:nvSpPr>
          <p:cNvPr id="4" name="Text Placeholder 3">
            <a:extLst>
              <a:ext uri="{FF2B5EF4-FFF2-40B4-BE49-F238E27FC236}">
                <a16:creationId xmlns:a16="http://schemas.microsoft.com/office/drawing/2014/main" id="{F05D14E4-170C-412C-BD1C-3F0D182E782D}"/>
              </a:ext>
            </a:extLst>
          </p:cNvPr>
          <p:cNvSpPr>
            <a:spLocks noGrp="1"/>
          </p:cNvSpPr>
          <p:nvPr>
            <p:ph type="body" idx="1"/>
          </p:nvPr>
        </p:nvSpPr>
        <p:spPr/>
        <p:txBody>
          <a:bodyPr/>
          <a:lstStyle/>
          <a:p>
            <a:endParaRPr lang="da-DK"/>
          </a:p>
        </p:txBody>
      </p:sp>
    </p:spTree>
    <p:custDataLst>
      <p:tags r:id="rId1"/>
    </p:custDataLst>
    <p:extLst>
      <p:ext uri="{BB962C8B-B14F-4D97-AF65-F5344CB8AC3E}">
        <p14:creationId xmlns:p14="http://schemas.microsoft.com/office/powerpoint/2010/main" val="122922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 name="Arrow: Right 588">
            <a:extLst>
              <a:ext uri="{FF2B5EF4-FFF2-40B4-BE49-F238E27FC236}">
                <a16:creationId xmlns:a16="http://schemas.microsoft.com/office/drawing/2014/main" id="{6DB8D264-9A20-4747-8A5C-14E6E5B61C97}"/>
              </a:ext>
            </a:extLst>
          </p:cNvPr>
          <p:cNvSpPr/>
          <p:nvPr/>
        </p:nvSpPr>
        <p:spPr>
          <a:xfrm>
            <a:off x="839523" y="5173192"/>
            <a:ext cx="10539208" cy="722685"/>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accent2">
                    <a:lumMod val="50000"/>
                  </a:schemeClr>
                </a:solidFill>
                <a:latin typeface="Arial" panose="020B0604020202020204" pitchFamily="34" charset="0"/>
                <a:cs typeface="Arial" panose="020B0604020202020204" pitchFamily="34" charset="0"/>
              </a:rPr>
              <a:t>Progression of PD</a:t>
            </a:r>
          </a:p>
        </p:txBody>
      </p:sp>
      <p:grpSp>
        <p:nvGrpSpPr>
          <p:cNvPr id="38" name="Group 37">
            <a:extLst>
              <a:ext uri="{FF2B5EF4-FFF2-40B4-BE49-F238E27FC236}">
                <a16:creationId xmlns:a16="http://schemas.microsoft.com/office/drawing/2014/main" id="{5463E9C6-5DC8-30EB-7999-F746D5C3F43A}"/>
              </a:ext>
            </a:extLst>
          </p:cNvPr>
          <p:cNvGrpSpPr/>
          <p:nvPr/>
        </p:nvGrpSpPr>
        <p:grpSpPr>
          <a:xfrm>
            <a:off x="6266123" y="1382130"/>
            <a:ext cx="1756872" cy="4083495"/>
            <a:chOff x="6226345" y="1382130"/>
            <a:chExt cx="1756872" cy="4083495"/>
          </a:xfrm>
        </p:grpSpPr>
        <p:grpSp>
          <p:nvGrpSpPr>
            <p:cNvPr id="35" name="Group 34">
              <a:extLst>
                <a:ext uri="{FF2B5EF4-FFF2-40B4-BE49-F238E27FC236}">
                  <a16:creationId xmlns:a16="http://schemas.microsoft.com/office/drawing/2014/main" id="{922DA57B-85A6-EDCF-D35D-3FF9BA727621}"/>
                </a:ext>
              </a:extLst>
            </p:cNvPr>
            <p:cNvGrpSpPr/>
            <p:nvPr/>
          </p:nvGrpSpPr>
          <p:grpSpPr>
            <a:xfrm>
              <a:off x="6226345" y="3888071"/>
              <a:ext cx="1756872" cy="1577554"/>
              <a:chOff x="6128317" y="3888071"/>
              <a:chExt cx="1756872" cy="1577554"/>
            </a:xfrm>
          </p:grpSpPr>
          <p:grpSp>
            <p:nvGrpSpPr>
              <p:cNvPr id="471" name="Group 470">
                <a:extLst>
                  <a:ext uri="{FF2B5EF4-FFF2-40B4-BE49-F238E27FC236}">
                    <a16:creationId xmlns:a16="http://schemas.microsoft.com/office/drawing/2014/main" id="{061C294C-AAC6-4515-B7C8-313CF7E2CC1A}"/>
                  </a:ext>
                </a:extLst>
              </p:cNvPr>
              <p:cNvGrpSpPr/>
              <p:nvPr/>
            </p:nvGrpSpPr>
            <p:grpSpPr>
              <a:xfrm flipH="1">
                <a:off x="6128317" y="3888071"/>
                <a:ext cx="1756872" cy="1577554"/>
                <a:chOff x="4446105" y="3004222"/>
                <a:chExt cx="1232677" cy="1106861"/>
              </a:xfrm>
            </p:grpSpPr>
            <p:sp>
              <p:nvSpPr>
                <p:cNvPr id="472" name="Freeform 357">
                  <a:extLst>
                    <a:ext uri="{FF2B5EF4-FFF2-40B4-BE49-F238E27FC236}">
                      <a16:creationId xmlns:a16="http://schemas.microsoft.com/office/drawing/2014/main" id="{DCAB9FBF-49B9-4E80-9D0F-82B05FBB11B9}"/>
                    </a:ext>
                  </a:extLst>
                </p:cNvPr>
                <p:cNvSpPr>
                  <a:spLocks/>
                </p:cNvSpPr>
                <p:nvPr/>
              </p:nvSpPr>
              <p:spPr bwMode="auto">
                <a:xfrm>
                  <a:off x="4715255" y="3348225"/>
                  <a:ext cx="848063" cy="652172"/>
                </a:xfrm>
                <a:custGeom>
                  <a:avLst/>
                  <a:gdLst>
                    <a:gd name="T0" fmla="*/ 1111 w 1127"/>
                    <a:gd name="T1" fmla="*/ 542 h 868"/>
                    <a:gd name="T2" fmla="*/ 1103 w 1127"/>
                    <a:gd name="T3" fmla="*/ 571 h 868"/>
                    <a:gd name="T4" fmla="*/ 1098 w 1127"/>
                    <a:gd name="T5" fmla="*/ 613 h 868"/>
                    <a:gd name="T6" fmla="*/ 1081 w 1127"/>
                    <a:gd name="T7" fmla="*/ 656 h 868"/>
                    <a:gd name="T8" fmla="*/ 1060 w 1127"/>
                    <a:gd name="T9" fmla="*/ 694 h 868"/>
                    <a:gd name="T10" fmla="*/ 1054 w 1127"/>
                    <a:gd name="T11" fmla="*/ 721 h 868"/>
                    <a:gd name="T12" fmla="*/ 1021 w 1127"/>
                    <a:gd name="T13" fmla="*/ 751 h 868"/>
                    <a:gd name="T14" fmla="*/ 1013 w 1127"/>
                    <a:gd name="T15" fmla="*/ 765 h 868"/>
                    <a:gd name="T16" fmla="*/ 980 w 1127"/>
                    <a:gd name="T17" fmla="*/ 784 h 868"/>
                    <a:gd name="T18" fmla="*/ 934 w 1127"/>
                    <a:gd name="T19" fmla="*/ 805 h 868"/>
                    <a:gd name="T20" fmla="*/ 902 w 1127"/>
                    <a:gd name="T21" fmla="*/ 812 h 868"/>
                    <a:gd name="T22" fmla="*/ 864 w 1127"/>
                    <a:gd name="T23" fmla="*/ 820 h 868"/>
                    <a:gd name="T24" fmla="*/ 836 w 1127"/>
                    <a:gd name="T25" fmla="*/ 820 h 868"/>
                    <a:gd name="T26" fmla="*/ 799 w 1127"/>
                    <a:gd name="T27" fmla="*/ 821 h 868"/>
                    <a:gd name="T28" fmla="*/ 765 w 1127"/>
                    <a:gd name="T29" fmla="*/ 816 h 868"/>
                    <a:gd name="T30" fmla="*/ 723 w 1127"/>
                    <a:gd name="T31" fmla="*/ 814 h 868"/>
                    <a:gd name="T32" fmla="*/ 655 w 1127"/>
                    <a:gd name="T33" fmla="*/ 856 h 868"/>
                    <a:gd name="T34" fmla="*/ 620 w 1127"/>
                    <a:gd name="T35" fmla="*/ 849 h 868"/>
                    <a:gd name="T36" fmla="*/ 562 w 1127"/>
                    <a:gd name="T37" fmla="*/ 708 h 868"/>
                    <a:gd name="T38" fmla="*/ 426 w 1127"/>
                    <a:gd name="T39" fmla="*/ 507 h 868"/>
                    <a:gd name="T40" fmla="*/ 348 w 1127"/>
                    <a:gd name="T41" fmla="*/ 516 h 868"/>
                    <a:gd name="T42" fmla="*/ 317 w 1127"/>
                    <a:gd name="T43" fmla="*/ 527 h 868"/>
                    <a:gd name="T44" fmla="*/ 258 w 1127"/>
                    <a:gd name="T45" fmla="*/ 530 h 868"/>
                    <a:gd name="T46" fmla="*/ 211 w 1127"/>
                    <a:gd name="T47" fmla="*/ 528 h 868"/>
                    <a:gd name="T48" fmla="*/ 95 w 1127"/>
                    <a:gd name="T49" fmla="*/ 495 h 868"/>
                    <a:gd name="T50" fmla="*/ 76 w 1127"/>
                    <a:gd name="T51" fmla="*/ 468 h 868"/>
                    <a:gd name="T52" fmla="*/ 56 w 1127"/>
                    <a:gd name="T53" fmla="*/ 452 h 868"/>
                    <a:gd name="T54" fmla="*/ 5 w 1127"/>
                    <a:gd name="T55" fmla="*/ 390 h 868"/>
                    <a:gd name="T56" fmla="*/ 0 w 1127"/>
                    <a:gd name="T57" fmla="*/ 338 h 868"/>
                    <a:gd name="T58" fmla="*/ 178 w 1127"/>
                    <a:gd name="T59" fmla="*/ 34 h 868"/>
                    <a:gd name="T60" fmla="*/ 895 w 1127"/>
                    <a:gd name="T61" fmla="*/ 0 h 868"/>
                    <a:gd name="T62" fmla="*/ 1111 w 1127"/>
                    <a:gd name="T63" fmla="*/ 542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7" h="868">
                      <a:moveTo>
                        <a:pt x="1111" y="542"/>
                      </a:moveTo>
                      <a:cubicBezTo>
                        <a:pt x="1111" y="542"/>
                        <a:pt x="1118" y="562"/>
                        <a:pt x="1103" y="571"/>
                      </a:cubicBezTo>
                      <a:cubicBezTo>
                        <a:pt x="1101" y="572"/>
                        <a:pt x="1127" y="590"/>
                        <a:pt x="1098" y="613"/>
                      </a:cubicBezTo>
                      <a:cubicBezTo>
                        <a:pt x="1095" y="616"/>
                        <a:pt x="1120" y="637"/>
                        <a:pt x="1081" y="656"/>
                      </a:cubicBezTo>
                      <a:cubicBezTo>
                        <a:pt x="1081" y="656"/>
                        <a:pt x="1091" y="684"/>
                        <a:pt x="1060" y="694"/>
                      </a:cubicBezTo>
                      <a:cubicBezTo>
                        <a:pt x="1060" y="694"/>
                        <a:pt x="1072" y="712"/>
                        <a:pt x="1054" y="721"/>
                      </a:cubicBezTo>
                      <a:cubicBezTo>
                        <a:pt x="1048" y="723"/>
                        <a:pt x="1068" y="742"/>
                        <a:pt x="1021" y="751"/>
                      </a:cubicBezTo>
                      <a:cubicBezTo>
                        <a:pt x="1021" y="751"/>
                        <a:pt x="1013" y="757"/>
                        <a:pt x="1013" y="765"/>
                      </a:cubicBezTo>
                      <a:cubicBezTo>
                        <a:pt x="1013" y="773"/>
                        <a:pt x="1006" y="790"/>
                        <a:pt x="980" y="784"/>
                      </a:cubicBezTo>
                      <a:cubicBezTo>
                        <a:pt x="980" y="784"/>
                        <a:pt x="971" y="812"/>
                        <a:pt x="934" y="805"/>
                      </a:cubicBezTo>
                      <a:cubicBezTo>
                        <a:pt x="928" y="803"/>
                        <a:pt x="930" y="819"/>
                        <a:pt x="902" y="812"/>
                      </a:cubicBezTo>
                      <a:cubicBezTo>
                        <a:pt x="902" y="812"/>
                        <a:pt x="889" y="832"/>
                        <a:pt x="864" y="820"/>
                      </a:cubicBezTo>
                      <a:cubicBezTo>
                        <a:pt x="864" y="820"/>
                        <a:pt x="848" y="831"/>
                        <a:pt x="836" y="820"/>
                      </a:cubicBezTo>
                      <a:cubicBezTo>
                        <a:pt x="836" y="820"/>
                        <a:pt x="819" y="835"/>
                        <a:pt x="799" y="821"/>
                      </a:cubicBezTo>
                      <a:cubicBezTo>
                        <a:pt x="799" y="821"/>
                        <a:pt x="779" y="830"/>
                        <a:pt x="765" y="816"/>
                      </a:cubicBezTo>
                      <a:cubicBezTo>
                        <a:pt x="765" y="816"/>
                        <a:pt x="744" y="826"/>
                        <a:pt x="723" y="814"/>
                      </a:cubicBezTo>
                      <a:cubicBezTo>
                        <a:pt x="723" y="814"/>
                        <a:pt x="703" y="844"/>
                        <a:pt x="655" y="856"/>
                      </a:cubicBezTo>
                      <a:cubicBezTo>
                        <a:pt x="606" y="868"/>
                        <a:pt x="620" y="856"/>
                        <a:pt x="620" y="849"/>
                      </a:cubicBezTo>
                      <a:cubicBezTo>
                        <a:pt x="620" y="841"/>
                        <a:pt x="572" y="735"/>
                        <a:pt x="562" y="708"/>
                      </a:cubicBezTo>
                      <a:cubicBezTo>
                        <a:pt x="552" y="682"/>
                        <a:pt x="518" y="495"/>
                        <a:pt x="426" y="507"/>
                      </a:cubicBezTo>
                      <a:cubicBezTo>
                        <a:pt x="372" y="514"/>
                        <a:pt x="348" y="516"/>
                        <a:pt x="348" y="516"/>
                      </a:cubicBezTo>
                      <a:cubicBezTo>
                        <a:pt x="348" y="516"/>
                        <a:pt x="328" y="523"/>
                        <a:pt x="317" y="527"/>
                      </a:cubicBezTo>
                      <a:cubicBezTo>
                        <a:pt x="306" y="531"/>
                        <a:pt x="276" y="536"/>
                        <a:pt x="258" y="530"/>
                      </a:cubicBezTo>
                      <a:cubicBezTo>
                        <a:pt x="240" y="525"/>
                        <a:pt x="224" y="527"/>
                        <a:pt x="211" y="528"/>
                      </a:cubicBezTo>
                      <a:cubicBezTo>
                        <a:pt x="198" y="530"/>
                        <a:pt x="149" y="536"/>
                        <a:pt x="95" y="495"/>
                      </a:cubicBezTo>
                      <a:cubicBezTo>
                        <a:pt x="73" y="478"/>
                        <a:pt x="79" y="473"/>
                        <a:pt x="76" y="468"/>
                      </a:cubicBezTo>
                      <a:cubicBezTo>
                        <a:pt x="76" y="468"/>
                        <a:pt x="77" y="462"/>
                        <a:pt x="56" y="452"/>
                      </a:cubicBezTo>
                      <a:cubicBezTo>
                        <a:pt x="35" y="443"/>
                        <a:pt x="6" y="423"/>
                        <a:pt x="5" y="390"/>
                      </a:cubicBezTo>
                      <a:cubicBezTo>
                        <a:pt x="5" y="357"/>
                        <a:pt x="0" y="338"/>
                        <a:pt x="0" y="338"/>
                      </a:cubicBezTo>
                      <a:cubicBezTo>
                        <a:pt x="178" y="34"/>
                        <a:pt x="178" y="34"/>
                        <a:pt x="178" y="34"/>
                      </a:cubicBezTo>
                      <a:cubicBezTo>
                        <a:pt x="895" y="0"/>
                        <a:pt x="895" y="0"/>
                        <a:pt x="895" y="0"/>
                      </a:cubicBezTo>
                      <a:lnTo>
                        <a:pt x="1111" y="542"/>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473" name="Line 359">
                  <a:extLst>
                    <a:ext uri="{FF2B5EF4-FFF2-40B4-BE49-F238E27FC236}">
                      <a16:creationId xmlns:a16="http://schemas.microsoft.com/office/drawing/2014/main" id="{3CCAED17-D322-4440-B613-22D2E8E54BFB}"/>
                    </a:ext>
                  </a:extLst>
                </p:cNvPr>
                <p:cNvSpPr>
                  <a:spLocks noChangeShapeType="1"/>
                </p:cNvSpPr>
                <p:nvPr/>
              </p:nvSpPr>
              <p:spPr bwMode="auto">
                <a:xfrm flipH="1">
                  <a:off x="5433520" y="3727265"/>
                  <a:ext cx="70871" cy="19908"/>
                </a:xfrm>
                <a:prstGeom prst="line">
                  <a:avLst/>
                </a:prstGeom>
                <a:noFill/>
                <a:ln w="3175"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74" name="Freeform 360">
                  <a:extLst>
                    <a:ext uri="{FF2B5EF4-FFF2-40B4-BE49-F238E27FC236}">
                      <a16:creationId xmlns:a16="http://schemas.microsoft.com/office/drawing/2014/main" id="{A2C5F947-F3BC-4C6B-97A7-377CDC9E2588}"/>
                    </a:ext>
                  </a:extLst>
                </p:cNvPr>
                <p:cNvSpPr>
                  <a:spLocks/>
                </p:cNvSpPr>
                <p:nvPr/>
              </p:nvSpPr>
              <p:spPr bwMode="auto">
                <a:xfrm>
                  <a:off x="5447058" y="3749561"/>
                  <a:ext cx="101131" cy="19908"/>
                </a:xfrm>
                <a:custGeom>
                  <a:avLst/>
                  <a:gdLst>
                    <a:gd name="T0" fmla="*/ 134 w 134"/>
                    <a:gd name="T1" fmla="*/ 0 h 27"/>
                    <a:gd name="T2" fmla="*/ 0 w 134"/>
                    <a:gd name="T3" fmla="*/ 17 h 27"/>
                  </a:gdLst>
                  <a:ahLst/>
                  <a:cxnLst>
                    <a:cxn ang="0">
                      <a:pos x="T0" y="T1"/>
                    </a:cxn>
                    <a:cxn ang="0">
                      <a:pos x="T2" y="T3"/>
                    </a:cxn>
                  </a:cxnLst>
                  <a:rect l="0" t="0" r="r" b="b"/>
                  <a:pathLst>
                    <a:path w="134" h="27">
                      <a:moveTo>
                        <a:pt x="134" y="0"/>
                      </a:moveTo>
                      <a:cubicBezTo>
                        <a:pt x="134" y="0"/>
                        <a:pt x="125" y="27"/>
                        <a:pt x="0" y="17"/>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75" name="Freeform 361">
                  <a:extLst>
                    <a:ext uri="{FF2B5EF4-FFF2-40B4-BE49-F238E27FC236}">
                      <a16:creationId xmlns:a16="http://schemas.microsoft.com/office/drawing/2014/main" id="{FAA25891-07FB-4211-8F4E-2BCBE67E76A8}"/>
                    </a:ext>
                  </a:extLst>
                </p:cNvPr>
                <p:cNvSpPr>
                  <a:spLocks/>
                </p:cNvSpPr>
                <p:nvPr/>
              </p:nvSpPr>
              <p:spPr bwMode="auto">
                <a:xfrm>
                  <a:off x="5445465" y="3767876"/>
                  <a:ext cx="99538" cy="23889"/>
                </a:xfrm>
                <a:custGeom>
                  <a:avLst/>
                  <a:gdLst>
                    <a:gd name="T0" fmla="*/ 132 w 132"/>
                    <a:gd name="T1" fmla="*/ 13 h 32"/>
                    <a:gd name="T2" fmla="*/ 0 w 132"/>
                    <a:gd name="T3" fmla="*/ 0 h 32"/>
                  </a:gdLst>
                  <a:ahLst/>
                  <a:cxnLst>
                    <a:cxn ang="0">
                      <a:pos x="T0" y="T1"/>
                    </a:cxn>
                    <a:cxn ang="0">
                      <a:pos x="T2" y="T3"/>
                    </a:cxn>
                  </a:cxnLst>
                  <a:rect l="0" t="0" r="r" b="b"/>
                  <a:pathLst>
                    <a:path w="132" h="32">
                      <a:moveTo>
                        <a:pt x="132" y="13"/>
                      </a:moveTo>
                      <a:cubicBezTo>
                        <a:pt x="132" y="13"/>
                        <a:pt x="70" y="32"/>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76" name="Freeform 362">
                  <a:extLst>
                    <a:ext uri="{FF2B5EF4-FFF2-40B4-BE49-F238E27FC236}">
                      <a16:creationId xmlns:a16="http://schemas.microsoft.com/office/drawing/2014/main" id="{85F503A0-645F-4F74-BBCA-7B42643EB79A}"/>
                    </a:ext>
                  </a:extLst>
                </p:cNvPr>
                <p:cNvSpPr>
                  <a:spLocks/>
                </p:cNvSpPr>
                <p:nvPr/>
              </p:nvSpPr>
              <p:spPr bwMode="auto">
                <a:xfrm>
                  <a:off x="5440687" y="3785395"/>
                  <a:ext cx="100334" cy="41408"/>
                </a:xfrm>
                <a:custGeom>
                  <a:avLst/>
                  <a:gdLst>
                    <a:gd name="T0" fmla="*/ 134 w 134"/>
                    <a:gd name="T1" fmla="*/ 32 h 55"/>
                    <a:gd name="T2" fmla="*/ 0 w 134"/>
                    <a:gd name="T3" fmla="*/ 0 h 55"/>
                  </a:gdLst>
                  <a:ahLst/>
                  <a:cxnLst>
                    <a:cxn ang="0">
                      <a:pos x="T0" y="T1"/>
                    </a:cxn>
                    <a:cxn ang="0">
                      <a:pos x="T2" y="T3"/>
                    </a:cxn>
                  </a:cxnLst>
                  <a:rect l="0" t="0" r="r" b="b"/>
                  <a:pathLst>
                    <a:path w="134" h="55">
                      <a:moveTo>
                        <a:pt x="134" y="32"/>
                      </a:moveTo>
                      <a:cubicBezTo>
                        <a:pt x="134" y="32"/>
                        <a:pt x="71" y="55"/>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77" name="Freeform 363">
                  <a:extLst>
                    <a:ext uri="{FF2B5EF4-FFF2-40B4-BE49-F238E27FC236}">
                      <a16:creationId xmlns:a16="http://schemas.microsoft.com/office/drawing/2014/main" id="{E3842BEF-17AF-49F0-B9A2-C867ED291B47}"/>
                    </a:ext>
                  </a:extLst>
                </p:cNvPr>
                <p:cNvSpPr>
                  <a:spLocks/>
                </p:cNvSpPr>
                <p:nvPr/>
              </p:nvSpPr>
              <p:spPr bwMode="auto">
                <a:xfrm>
                  <a:off x="5435909" y="3806895"/>
                  <a:ext cx="92371" cy="43000"/>
                </a:xfrm>
                <a:custGeom>
                  <a:avLst/>
                  <a:gdLst>
                    <a:gd name="T0" fmla="*/ 123 w 123"/>
                    <a:gd name="T1" fmla="*/ 46 h 57"/>
                    <a:gd name="T2" fmla="*/ 0 w 123"/>
                    <a:gd name="T3" fmla="*/ 0 h 57"/>
                  </a:gdLst>
                  <a:ahLst/>
                  <a:cxnLst>
                    <a:cxn ang="0">
                      <a:pos x="T0" y="T1"/>
                    </a:cxn>
                    <a:cxn ang="0">
                      <a:pos x="T2" y="T3"/>
                    </a:cxn>
                  </a:cxnLst>
                  <a:rect l="0" t="0" r="r" b="b"/>
                  <a:pathLst>
                    <a:path w="123" h="57">
                      <a:moveTo>
                        <a:pt x="123" y="46"/>
                      </a:moveTo>
                      <a:cubicBezTo>
                        <a:pt x="123" y="46"/>
                        <a:pt x="75"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78" name="Freeform 364">
                  <a:extLst>
                    <a:ext uri="{FF2B5EF4-FFF2-40B4-BE49-F238E27FC236}">
                      <a16:creationId xmlns:a16="http://schemas.microsoft.com/office/drawing/2014/main" id="{8DE25059-4BE2-4442-90AD-4D0F9EC80625}"/>
                    </a:ext>
                  </a:extLst>
                </p:cNvPr>
                <p:cNvSpPr>
                  <a:spLocks/>
                </p:cNvSpPr>
                <p:nvPr/>
              </p:nvSpPr>
              <p:spPr bwMode="auto">
                <a:xfrm>
                  <a:off x="5415206" y="3828395"/>
                  <a:ext cx="80427" cy="25482"/>
                </a:xfrm>
                <a:custGeom>
                  <a:avLst/>
                  <a:gdLst>
                    <a:gd name="T0" fmla="*/ 0 w 106"/>
                    <a:gd name="T1" fmla="*/ 0 h 34"/>
                    <a:gd name="T2" fmla="*/ 106 w 106"/>
                    <a:gd name="T3" fmla="*/ 13 h 34"/>
                  </a:gdLst>
                  <a:ahLst/>
                  <a:cxnLst>
                    <a:cxn ang="0">
                      <a:pos x="T0" y="T1"/>
                    </a:cxn>
                    <a:cxn ang="0">
                      <a:pos x="T2" y="T3"/>
                    </a:cxn>
                  </a:cxnLst>
                  <a:rect l="0" t="0" r="r" b="b"/>
                  <a:pathLst>
                    <a:path w="106" h="34">
                      <a:moveTo>
                        <a:pt x="0" y="0"/>
                      </a:moveTo>
                      <a:cubicBezTo>
                        <a:pt x="66" y="34"/>
                        <a:pt x="106" y="13"/>
                        <a:pt x="106" y="13"/>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79" name="Freeform 365">
                  <a:extLst>
                    <a:ext uri="{FF2B5EF4-FFF2-40B4-BE49-F238E27FC236}">
                      <a16:creationId xmlns:a16="http://schemas.microsoft.com/office/drawing/2014/main" id="{856FD14D-9262-4EF0-9936-D85560D57F35}"/>
                    </a:ext>
                  </a:extLst>
                </p:cNvPr>
                <p:cNvSpPr>
                  <a:spLocks/>
                </p:cNvSpPr>
                <p:nvPr/>
              </p:nvSpPr>
              <p:spPr bwMode="auto">
                <a:xfrm>
                  <a:off x="5407243" y="3841932"/>
                  <a:ext cx="105112" cy="43000"/>
                </a:xfrm>
                <a:custGeom>
                  <a:avLst/>
                  <a:gdLst>
                    <a:gd name="T0" fmla="*/ 140 w 140"/>
                    <a:gd name="T1" fmla="*/ 37 h 57"/>
                    <a:gd name="T2" fmla="*/ 0 w 140"/>
                    <a:gd name="T3" fmla="*/ 0 h 57"/>
                  </a:gdLst>
                  <a:ahLst/>
                  <a:cxnLst>
                    <a:cxn ang="0">
                      <a:pos x="T0" y="T1"/>
                    </a:cxn>
                    <a:cxn ang="0">
                      <a:pos x="T2" y="T3"/>
                    </a:cxn>
                  </a:cxnLst>
                  <a:rect l="0" t="0" r="r" b="b"/>
                  <a:pathLst>
                    <a:path w="140" h="57">
                      <a:moveTo>
                        <a:pt x="140" y="37"/>
                      </a:moveTo>
                      <a:cubicBezTo>
                        <a:pt x="140" y="37"/>
                        <a:pt x="109"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80" name="Freeform 366">
                  <a:extLst>
                    <a:ext uri="{FF2B5EF4-FFF2-40B4-BE49-F238E27FC236}">
                      <a16:creationId xmlns:a16="http://schemas.microsoft.com/office/drawing/2014/main" id="{2F8DFB68-7865-4BF0-A12B-A956E8F6F63C}"/>
                    </a:ext>
                  </a:extLst>
                </p:cNvPr>
                <p:cNvSpPr>
                  <a:spLocks/>
                </p:cNvSpPr>
                <p:nvPr/>
              </p:nvSpPr>
              <p:spPr bwMode="auto">
                <a:xfrm>
                  <a:off x="5423169" y="3864229"/>
                  <a:ext cx="86001" cy="33445"/>
                </a:xfrm>
                <a:custGeom>
                  <a:avLst/>
                  <a:gdLst>
                    <a:gd name="T0" fmla="*/ 114 w 114"/>
                    <a:gd name="T1" fmla="*/ 33 h 44"/>
                    <a:gd name="T2" fmla="*/ 0 w 114"/>
                    <a:gd name="T3" fmla="*/ 0 h 44"/>
                  </a:gdLst>
                  <a:ahLst/>
                  <a:cxnLst>
                    <a:cxn ang="0">
                      <a:pos x="T0" y="T1"/>
                    </a:cxn>
                    <a:cxn ang="0">
                      <a:pos x="T2" y="T3"/>
                    </a:cxn>
                  </a:cxnLst>
                  <a:rect l="0" t="0" r="r" b="b"/>
                  <a:pathLst>
                    <a:path w="114" h="44">
                      <a:moveTo>
                        <a:pt x="114" y="33"/>
                      </a:moveTo>
                      <a:cubicBezTo>
                        <a:pt x="114" y="33"/>
                        <a:pt x="65" y="44"/>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81" name="Freeform 367">
                  <a:extLst>
                    <a:ext uri="{FF2B5EF4-FFF2-40B4-BE49-F238E27FC236}">
                      <a16:creationId xmlns:a16="http://schemas.microsoft.com/office/drawing/2014/main" id="{19751C0F-0B81-4D7B-8BB3-508A5BF99BB8}"/>
                    </a:ext>
                  </a:extLst>
                </p:cNvPr>
                <p:cNvSpPr>
                  <a:spLocks/>
                </p:cNvSpPr>
                <p:nvPr/>
              </p:nvSpPr>
              <p:spPr bwMode="auto">
                <a:xfrm>
                  <a:off x="5408835" y="3867414"/>
                  <a:ext cx="74056" cy="45389"/>
                </a:xfrm>
                <a:custGeom>
                  <a:avLst/>
                  <a:gdLst>
                    <a:gd name="T0" fmla="*/ 99 w 99"/>
                    <a:gd name="T1" fmla="*/ 60 h 60"/>
                    <a:gd name="T2" fmla="*/ 0 w 99"/>
                    <a:gd name="T3" fmla="*/ 0 h 60"/>
                  </a:gdLst>
                  <a:ahLst/>
                  <a:cxnLst>
                    <a:cxn ang="0">
                      <a:pos x="T0" y="T1"/>
                    </a:cxn>
                    <a:cxn ang="0">
                      <a:pos x="T2" y="T3"/>
                    </a:cxn>
                  </a:cxnLst>
                  <a:rect l="0" t="0" r="r" b="b"/>
                  <a:pathLst>
                    <a:path w="99" h="60">
                      <a:moveTo>
                        <a:pt x="99" y="60"/>
                      </a:moveTo>
                      <a:cubicBezTo>
                        <a:pt x="99" y="60"/>
                        <a:pt x="34" y="42"/>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82" name="Freeform 368">
                  <a:extLst>
                    <a:ext uri="{FF2B5EF4-FFF2-40B4-BE49-F238E27FC236}">
                      <a16:creationId xmlns:a16="http://schemas.microsoft.com/office/drawing/2014/main" id="{D6834BD1-31B2-48B0-A147-3BC7DE894E50}"/>
                    </a:ext>
                  </a:extLst>
                </p:cNvPr>
                <p:cNvSpPr>
                  <a:spLocks/>
                </p:cNvSpPr>
                <p:nvPr/>
              </p:nvSpPr>
              <p:spPr bwMode="auto">
                <a:xfrm>
                  <a:off x="5400872" y="3872988"/>
                  <a:ext cx="76445" cy="50167"/>
                </a:xfrm>
                <a:custGeom>
                  <a:avLst/>
                  <a:gdLst>
                    <a:gd name="T0" fmla="*/ 101 w 101"/>
                    <a:gd name="T1" fmla="*/ 67 h 67"/>
                    <a:gd name="T2" fmla="*/ 0 w 101"/>
                    <a:gd name="T3" fmla="*/ 0 h 67"/>
                  </a:gdLst>
                  <a:ahLst/>
                  <a:cxnLst>
                    <a:cxn ang="0">
                      <a:pos x="T0" y="T1"/>
                    </a:cxn>
                    <a:cxn ang="0">
                      <a:pos x="T2" y="T3"/>
                    </a:cxn>
                  </a:cxnLst>
                  <a:rect l="0" t="0" r="r" b="b"/>
                  <a:pathLst>
                    <a:path w="101" h="67">
                      <a:moveTo>
                        <a:pt x="101" y="67"/>
                      </a:moveTo>
                      <a:cubicBezTo>
                        <a:pt x="101" y="67"/>
                        <a:pt x="26" y="36"/>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83" name="Freeform 369">
                  <a:extLst>
                    <a:ext uri="{FF2B5EF4-FFF2-40B4-BE49-F238E27FC236}">
                      <a16:creationId xmlns:a16="http://schemas.microsoft.com/office/drawing/2014/main" id="{68AB577D-6C79-44E5-960B-5D9C6F78939F}"/>
                    </a:ext>
                  </a:extLst>
                </p:cNvPr>
                <p:cNvSpPr>
                  <a:spLocks/>
                </p:cNvSpPr>
                <p:nvPr/>
              </p:nvSpPr>
              <p:spPr bwMode="auto">
                <a:xfrm>
                  <a:off x="5387335" y="3880951"/>
                  <a:ext cx="65297" cy="56538"/>
                </a:xfrm>
                <a:custGeom>
                  <a:avLst/>
                  <a:gdLst>
                    <a:gd name="T0" fmla="*/ 87 w 87"/>
                    <a:gd name="T1" fmla="*/ 75 h 75"/>
                    <a:gd name="T2" fmla="*/ 0 w 87"/>
                    <a:gd name="T3" fmla="*/ 0 h 75"/>
                  </a:gdLst>
                  <a:ahLst/>
                  <a:cxnLst>
                    <a:cxn ang="0">
                      <a:pos x="T0" y="T1"/>
                    </a:cxn>
                    <a:cxn ang="0">
                      <a:pos x="T2" y="T3"/>
                    </a:cxn>
                  </a:cxnLst>
                  <a:rect l="0" t="0" r="r" b="b"/>
                  <a:pathLst>
                    <a:path w="87" h="75">
                      <a:moveTo>
                        <a:pt x="87" y="75"/>
                      </a:moveTo>
                      <a:cubicBezTo>
                        <a:pt x="87" y="75"/>
                        <a:pt x="43"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84" name="Freeform 370">
                  <a:extLst>
                    <a:ext uri="{FF2B5EF4-FFF2-40B4-BE49-F238E27FC236}">
                      <a16:creationId xmlns:a16="http://schemas.microsoft.com/office/drawing/2014/main" id="{6620511E-9253-48F5-8CC1-C2E3BA0C953F}"/>
                    </a:ext>
                  </a:extLst>
                </p:cNvPr>
                <p:cNvSpPr>
                  <a:spLocks/>
                </p:cNvSpPr>
                <p:nvPr/>
              </p:nvSpPr>
              <p:spPr bwMode="auto">
                <a:xfrm>
                  <a:off x="5362650" y="3892896"/>
                  <a:ext cx="53353" cy="61316"/>
                </a:xfrm>
                <a:custGeom>
                  <a:avLst/>
                  <a:gdLst>
                    <a:gd name="T0" fmla="*/ 71 w 71"/>
                    <a:gd name="T1" fmla="*/ 81 h 81"/>
                    <a:gd name="T2" fmla="*/ 0 w 71"/>
                    <a:gd name="T3" fmla="*/ 0 h 81"/>
                  </a:gdLst>
                  <a:ahLst/>
                  <a:cxnLst>
                    <a:cxn ang="0">
                      <a:pos x="T0" y="T1"/>
                    </a:cxn>
                    <a:cxn ang="0">
                      <a:pos x="T2" y="T3"/>
                    </a:cxn>
                  </a:cxnLst>
                  <a:rect l="0" t="0" r="r" b="b"/>
                  <a:pathLst>
                    <a:path w="71" h="81">
                      <a:moveTo>
                        <a:pt x="71" y="81"/>
                      </a:moveTo>
                      <a:cubicBezTo>
                        <a:pt x="71" y="81"/>
                        <a:pt x="20" y="40"/>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85" name="Freeform 371">
                  <a:extLst>
                    <a:ext uri="{FF2B5EF4-FFF2-40B4-BE49-F238E27FC236}">
                      <a16:creationId xmlns:a16="http://schemas.microsoft.com/office/drawing/2014/main" id="{32DD38A7-57BF-421B-A08B-0C424391AC66}"/>
                    </a:ext>
                  </a:extLst>
                </p:cNvPr>
                <p:cNvSpPr>
                  <a:spLocks/>
                </p:cNvSpPr>
                <p:nvPr/>
              </p:nvSpPr>
              <p:spPr bwMode="auto">
                <a:xfrm>
                  <a:off x="5359464" y="3904044"/>
                  <a:ext cx="33445" cy="54149"/>
                </a:xfrm>
                <a:custGeom>
                  <a:avLst/>
                  <a:gdLst>
                    <a:gd name="T0" fmla="*/ 45 w 45"/>
                    <a:gd name="T1" fmla="*/ 73 h 73"/>
                    <a:gd name="T2" fmla="*/ 0 w 45"/>
                    <a:gd name="T3" fmla="*/ 0 h 73"/>
                  </a:gdLst>
                  <a:ahLst/>
                  <a:cxnLst>
                    <a:cxn ang="0">
                      <a:pos x="T0" y="T1"/>
                    </a:cxn>
                    <a:cxn ang="0">
                      <a:pos x="T2" y="T3"/>
                    </a:cxn>
                  </a:cxnLst>
                  <a:rect l="0" t="0" r="r" b="b"/>
                  <a:pathLst>
                    <a:path w="45" h="73">
                      <a:moveTo>
                        <a:pt x="45" y="73"/>
                      </a:moveTo>
                      <a:cubicBezTo>
                        <a:pt x="45" y="73"/>
                        <a:pt x="13" y="33"/>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86" name="Freeform 372">
                  <a:extLst>
                    <a:ext uri="{FF2B5EF4-FFF2-40B4-BE49-F238E27FC236}">
                      <a16:creationId xmlns:a16="http://schemas.microsoft.com/office/drawing/2014/main" id="{4FF517A0-1F82-4CA8-BA26-30289189D9A0}"/>
                    </a:ext>
                  </a:extLst>
                </p:cNvPr>
                <p:cNvSpPr>
                  <a:spLocks/>
                </p:cNvSpPr>
                <p:nvPr/>
              </p:nvSpPr>
              <p:spPr bwMode="auto">
                <a:xfrm>
                  <a:off x="5365038" y="3915989"/>
                  <a:ext cx="2389" cy="48575"/>
                </a:xfrm>
                <a:custGeom>
                  <a:avLst/>
                  <a:gdLst>
                    <a:gd name="T0" fmla="*/ 0 w 3"/>
                    <a:gd name="T1" fmla="*/ 65 h 65"/>
                    <a:gd name="T2" fmla="*/ 0 w 3"/>
                    <a:gd name="T3" fmla="*/ 0 h 65"/>
                  </a:gdLst>
                  <a:ahLst/>
                  <a:cxnLst>
                    <a:cxn ang="0">
                      <a:pos x="T0" y="T1"/>
                    </a:cxn>
                    <a:cxn ang="0">
                      <a:pos x="T2" y="T3"/>
                    </a:cxn>
                  </a:cxnLst>
                  <a:rect l="0" t="0" r="r" b="b"/>
                  <a:pathLst>
                    <a:path w="3" h="65">
                      <a:moveTo>
                        <a:pt x="0" y="65"/>
                      </a:moveTo>
                      <a:cubicBezTo>
                        <a:pt x="0" y="65"/>
                        <a:pt x="3" y="14"/>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87" name="Freeform 373">
                  <a:extLst>
                    <a:ext uri="{FF2B5EF4-FFF2-40B4-BE49-F238E27FC236}">
                      <a16:creationId xmlns:a16="http://schemas.microsoft.com/office/drawing/2014/main" id="{49C0E117-4DB3-4DAD-82A3-32A470B5C7BC}"/>
                    </a:ext>
                  </a:extLst>
                </p:cNvPr>
                <p:cNvSpPr>
                  <a:spLocks/>
                </p:cNvSpPr>
                <p:nvPr/>
              </p:nvSpPr>
              <p:spPr bwMode="auto">
                <a:xfrm>
                  <a:off x="5344334" y="3904044"/>
                  <a:ext cx="20704" cy="60519"/>
                </a:xfrm>
                <a:custGeom>
                  <a:avLst/>
                  <a:gdLst>
                    <a:gd name="T0" fmla="*/ 0 w 28"/>
                    <a:gd name="T1" fmla="*/ 80 h 80"/>
                    <a:gd name="T2" fmla="*/ 7 w 28"/>
                    <a:gd name="T3" fmla="*/ 0 h 80"/>
                  </a:gdLst>
                  <a:ahLst/>
                  <a:cxnLst>
                    <a:cxn ang="0">
                      <a:pos x="T0" y="T1"/>
                    </a:cxn>
                    <a:cxn ang="0">
                      <a:pos x="T2" y="T3"/>
                    </a:cxn>
                  </a:cxnLst>
                  <a:rect l="0" t="0" r="r" b="b"/>
                  <a:pathLst>
                    <a:path w="28" h="80">
                      <a:moveTo>
                        <a:pt x="0" y="80"/>
                      </a:moveTo>
                      <a:cubicBezTo>
                        <a:pt x="0" y="80"/>
                        <a:pt x="28" y="49"/>
                        <a:pt x="7"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88" name="Freeform 374">
                  <a:extLst>
                    <a:ext uri="{FF2B5EF4-FFF2-40B4-BE49-F238E27FC236}">
                      <a16:creationId xmlns:a16="http://schemas.microsoft.com/office/drawing/2014/main" id="{F3798ABE-97A8-49DA-9314-2D2C93650340}"/>
                    </a:ext>
                  </a:extLst>
                </p:cNvPr>
                <p:cNvSpPr>
                  <a:spLocks/>
                </p:cNvSpPr>
                <p:nvPr/>
              </p:nvSpPr>
              <p:spPr bwMode="auto">
                <a:xfrm>
                  <a:off x="5316464" y="3912007"/>
                  <a:ext cx="32649" cy="53353"/>
                </a:xfrm>
                <a:custGeom>
                  <a:avLst/>
                  <a:gdLst>
                    <a:gd name="T0" fmla="*/ 18 w 44"/>
                    <a:gd name="T1" fmla="*/ 0 h 71"/>
                    <a:gd name="T2" fmla="*/ 0 w 44"/>
                    <a:gd name="T3" fmla="*/ 71 h 71"/>
                  </a:gdLst>
                  <a:ahLst/>
                  <a:cxnLst>
                    <a:cxn ang="0">
                      <a:pos x="T0" y="T1"/>
                    </a:cxn>
                    <a:cxn ang="0">
                      <a:pos x="T2" y="T3"/>
                    </a:cxn>
                  </a:cxnLst>
                  <a:rect l="0" t="0" r="r" b="b"/>
                  <a:pathLst>
                    <a:path w="44" h="71">
                      <a:moveTo>
                        <a:pt x="18" y="0"/>
                      </a:moveTo>
                      <a:cubicBezTo>
                        <a:pt x="18" y="0"/>
                        <a:pt x="44" y="55"/>
                        <a:pt x="0" y="71"/>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89" name="Freeform 375">
                  <a:extLst>
                    <a:ext uri="{FF2B5EF4-FFF2-40B4-BE49-F238E27FC236}">
                      <a16:creationId xmlns:a16="http://schemas.microsoft.com/office/drawing/2014/main" id="{3F76712F-89D4-44B4-AB42-9FC9A770D915}"/>
                    </a:ext>
                  </a:extLst>
                </p:cNvPr>
                <p:cNvSpPr>
                  <a:spLocks/>
                </p:cNvSpPr>
                <p:nvPr/>
              </p:nvSpPr>
              <p:spPr bwMode="auto">
                <a:xfrm>
                  <a:off x="5290982" y="3914396"/>
                  <a:ext cx="25482" cy="46982"/>
                </a:xfrm>
                <a:custGeom>
                  <a:avLst/>
                  <a:gdLst>
                    <a:gd name="T0" fmla="*/ 23 w 34"/>
                    <a:gd name="T1" fmla="*/ 0 h 63"/>
                    <a:gd name="T2" fmla="*/ 0 w 34"/>
                    <a:gd name="T3" fmla="*/ 63 h 63"/>
                  </a:gdLst>
                  <a:ahLst/>
                  <a:cxnLst>
                    <a:cxn ang="0">
                      <a:pos x="T0" y="T1"/>
                    </a:cxn>
                    <a:cxn ang="0">
                      <a:pos x="T2" y="T3"/>
                    </a:cxn>
                  </a:cxnLst>
                  <a:rect l="0" t="0" r="r" b="b"/>
                  <a:pathLst>
                    <a:path w="34" h="63">
                      <a:moveTo>
                        <a:pt x="23" y="0"/>
                      </a:moveTo>
                      <a:cubicBezTo>
                        <a:pt x="23" y="0"/>
                        <a:pt x="34" y="47"/>
                        <a:pt x="0" y="63"/>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90" name="Freeform 376">
                  <a:extLst>
                    <a:ext uri="{FF2B5EF4-FFF2-40B4-BE49-F238E27FC236}">
                      <a16:creationId xmlns:a16="http://schemas.microsoft.com/office/drawing/2014/main" id="{A01A53D5-B247-4B9D-9081-AF5392E55214}"/>
                    </a:ext>
                  </a:extLst>
                </p:cNvPr>
                <p:cNvSpPr>
                  <a:spLocks/>
                </p:cNvSpPr>
                <p:nvPr/>
              </p:nvSpPr>
              <p:spPr bwMode="auto">
                <a:xfrm>
                  <a:off x="5259130" y="3900859"/>
                  <a:ext cx="26278" cy="58926"/>
                </a:xfrm>
                <a:custGeom>
                  <a:avLst/>
                  <a:gdLst>
                    <a:gd name="T0" fmla="*/ 0 w 35"/>
                    <a:gd name="T1" fmla="*/ 79 h 79"/>
                    <a:gd name="T2" fmla="*/ 24 w 35"/>
                    <a:gd name="T3" fmla="*/ 0 h 79"/>
                  </a:gdLst>
                  <a:ahLst/>
                  <a:cxnLst>
                    <a:cxn ang="0">
                      <a:pos x="T0" y="T1"/>
                    </a:cxn>
                    <a:cxn ang="0">
                      <a:pos x="T2" y="T3"/>
                    </a:cxn>
                  </a:cxnLst>
                  <a:rect l="0" t="0" r="r" b="b"/>
                  <a:pathLst>
                    <a:path w="35" h="79">
                      <a:moveTo>
                        <a:pt x="0" y="79"/>
                      </a:moveTo>
                      <a:cubicBezTo>
                        <a:pt x="0" y="79"/>
                        <a:pt x="35" y="65"/>
                        <a:pt x="24"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91" name="Freeform 377">
                  <a:extLst>
                    <a:ext uri="{FF2B5EF4-FFF2-40B4-BE49-F238E27FC236}">
                      <a16:creationId xmlns:a16="http://schemas.microsoft.com/office/drawing/2014/main" id="{1E7F9D49-5766-4885-B77E-BBD08FA8FA2A}"/>
                    </a:ext>
                  </a:extLst>
                </p:cNvPr>
                <p:cNvSpPr>
                  <a:spLocks/>
                </p:cNvSpPr>
                <p:nvPr/>
              </p:nvSpPr>
              <p:spPr bwMode="auto">
                <a:xfrm>
                  <a:off x="5205778" y="3938285"/>
                  <a:ext cx="70075" cy="38223"/>
                </a:xfrm>
                <a:custGeom>
                  <a:avLst/>
                  <a:gdLst>
                    <a:gd name="T0" fmla="*/ 0 w 93"/>
                    <a:gd name="T1" fmla="*/ 51 h 51"/>
                    <a:gd name="T2" fmla="*/ 93 w 93"/>
                    <a:gd name="T3" fmla="*/ 0 h 51"/>
                  </a:gdLst>
                  <a:ahLst/>
                  <a:cxnLst>
                    <a:cxn ang="0">
                      <a:pos x="T0" y="T1"/>
                    </a:cxn>
                    <a:cxn ang="0">
                      <a:pos x="T2" y="T3"/>
                    </a:cxn>
                  </a:cxnLst>
                  <a:rect l="0" t="0" r="r" b="b"/>
                  <a:pathLst>
                    <a:path w="93" h="51">
                      <a:moveTo>
                        <a:pt x="0" y="51"/>
                      </a:moveTo>
                      <a:cubicBezTo>
                        <a:pt x="0" y="51"/>
                        <a:pt x="67" y="35"/>
                        <a:pt x="93"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92" name="Freeform 378">
                  <a:extLst>
                    <a:ext uri="{FF2B5EF4-FFF2-40B4-BE49-F238E27FC236}">
                      <a16:creationId xmlns:a16="http://schemas.microsoft.com/office/drawing/2014/main" id="{C8D75321-20ED-4D04-BF68-63D071CA9CA9}"/>
                    </a:ext>
                  </a:extLst>
                </p:cNvPr>
                <p:cNvSpPr>
                  <a:spLocks/>
                </p:cNvSpPr>
                <p:nvPr/>
              </p:nvSpPr>
              <p:spPr bwMode="auto">
                <a:xfrm>
                  <a:off x="5204982" y="3914396"/>
                  <a:ext cx="74852" cy="44593"/>
                </a:xfrm>
                <a:custGeom>
                  <a:avLst/>
                  <a:gdLst>
                    <a:gd name="T0" fmla="*/ 0 w 99"/>
                    <a:gd name="T1" fmla="*/ 56 h 60"/>
                    <a:gd name="T2" fmla="*/ 99 w 99"/>
                    <a:gd name="T3" fmla="*/ 0 h 60"/>
                  </a:gdLst>
                  <a:ahLst/>
                  <a:cxnLst>
                    <a:cxn ang="0">
                      <a:pos x="T0" y="T1"/>
                    </a:cxn>
                    <a:cxn ang="0">
                      <a:pos x="T2" y="T3"/>
                    </a:cxn>
                  </a:cxnLst>
                  <a:rect l="0" t="0" r="r" b="b"/>
                  <a:pathLst>
                    <a:path w="99" h="60">
                      <a:moveTo>
                        <a:pt x="0" y="56"/>
                      </a:moveTo>
                      <a:cubicBezTo>
                        <a:pt x="0" y="56"/>
                        <a:pt x="51" y="60"/>
                        <a:pt x="99"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93" name="Freeform 379">
                  <a:extLst>
                    <a:ext uri="{FF2B5EF4-FFF2-40B4-BE49-F238E27FC236}">
                      <a16:creationId xmlns:a16="http://schemas.microsoft.com/office/drawing/2014/main" id="{E0C74072-3721-47BD-8C1F-768D41C6DD65}"/>
                    </a:ext>
                  </a:extLst>
                </p:cNvPr>
                <p:cNvSpPr>
                  <a:spLocks/>
                </p:cNvSpPr>
                <p:nvPr/>
              </p:nvSpPr>
              <p:spPr bwMode="auto">
                <a:xfrm>
                  <a:off x="5204982" y="3903248"/>
                  <a:ext cx="52556" cy="39019"/>
                </a:xfrm>
                <a:custGeom>
                  <a:avLst/>
                  <a:gdLst>
                    <a:gd name="T0" fmla="*/ 0 w 70"/>
                    <a:gd name="T1" fmla="*/ 44 h 52"/>
                    <a:gd name="T2" fmla="*/ 70 w 70"/>
                    <a:gd name="T3" fmla="*/ 0 h 52"/>
                  </a:gdLst>
                  <a:ahLst/>
                  <a:cxnLst>
                    <a:cxn ang="0">
                      <a:pos x="T0" y="T1"/>
                    </a:cxn>
                    <a:cxn ang="0">
                      <a:pos x="T2" y="T3"/>
                    </a:cxn>
                  </a:cxnLst>
                  <a:rect l="0" t="0" r="r" b="b"/>
                  <a:pathLst>
                    <a:path w="70" h="52">
                      <a:moveTo>
                        <a:pt x="0" y="44"/>
                      </a:moveTo>
                      <a:cubicBezTo>
                        <a:pt x="0" y="44"/>
                        <a:pt x="43" y="52"/>
                        <a:pt x="7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94" name="Freeform 380">
                  <a:extLst>
                    <a:ext uri="{FF2B5EF4-FFF2-40B4-BE49-F238E27FC236}">
                      <a16:creationId xmlns:a16="http://schemas.microsoft.com/office/drawing/2014/main" id="{471834F9-D89F-45A7-84AF-4BCD6E833A99}"/>
                    </a:ext>
                  </a:extLst>
                </p:cNvPr>
                <p:cNvSpPr>
                  <a:spLocks/>
                </p:cNvSpPr>
                <p:nvPr/>
              </p:nvSpPr>
              <p:spPr bwMode="auto">
                <a:xfrm>
                  <a:off x="5203389" y="3894488"/>
                  <a:ext cx="26278" cy="25482"/>
                </a:xfrm>
                <a:custGeom>
                  <a:avLst/>
                  <a:gdLst>
                    <a:gd name="T0" fmla="*/ 0 w 35"/>
                    <a:gd name="T1" fmla="*/ 34 h 34"/>
                    <a:gd name="T2" fmla="*/ 35 w 35"/>
                    <a:gd name="T3" fmla="*/ 0 h 34"/>
                  </a:gdLst>
                  <a:ahLst/>
                  <a:cxnLst>
                    <a:cxn ang="0">
                      <a:pos x="T0" y="T1"/>
                    </a:cxn>
                    <a:cxn ang="0">
                      <a:pos x="T2" y="T3"/>
                    </a:cxn>
                  </a:cxnLst>
                  <a:rect l="0" t="0" r="r" b="b"/>
                  <a:pathLst>
                    <a:path w="35" h="34">
                      <a:moveTo>
                        <a:pt x="0" y="34"/>
                      </a:moveTo>
                      <a:cubicBezTo>
                        <a:pt x="0" y="34"/>
                        <a:pt x="24" y="34"/>
                        <a:pt x="35"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95" name="Line 381">
                  <a:extLst>
                    <a:ext uri="{FF2B5EF4-FFF2-40B4-BE49-F238E27FC236}">
                      <a16:creationId xmlns:a16="http://schemas.microsoft.com/office/drawing/2014/main" id="{DB078D11-E827-4951-9EC2-4D9F7C0BB672}"/>
                    </a:ext>
                  </a:extLst>
                </p:cNvPr>
                <p:cNvSpPr>
                  <a:spLocks noChangeShapeType="1"/>
                </p:cNvSpPr>
                <p:nvPr/>
              </p:nvSpPr>
              <p:spPr bwMode="auto">
                <a:xfrm>
                  <a:off x="5409631" y="3841932"/>
                  <a:ext cx="0" cy="0"/>
                </a:xfrm>
                <a:prstGeom prst="line">
                  <a:avLst/>
                </a:prstGeom>
                <a:noFill/>
                <a:ln w="3175"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96" name="Freeform 382">
                  <a:extLst>
                    <a:ext uri="{FF2B5EF4-FFF2-40B4-BE49-F238E27FC236}">
                      <a16:creationId xmlns:a16="http://schemas.microsoft.com/office/drawing/2014/main" id="{FC93A209-2574-4777-BB92-2656BE5FEF43}"/>
                    </a:ext>
                  </a:extLst>
                </p:cNvPr>
                <p:cNvSpPr>
                  <a:spLocks/>
                </p:cNvSpPr>
                <p:nvPr/>
              </p:nvSpPr>
              <p:spPr bwMode="auto">
                <a:xfrm>
                  <a:off x="4794886" y="3355392"/>
                  <a:ext cx="660931" cy="750117"/>
                </a:xfrm>
                <a:custGeom>
                  <a:avLst/>
                  <a:gdLst>
                    <a:gd name="T0" fmla="*/ 480 w 879"/>
                    <a:gd name="T1" fmla="*/ 525 h 997"/>
                    <a:gd name="T2" fmla="*/ 418 w 879"/>
                    <a:gd name="T3" fmla="*/ 315 h 997"/>
                    <a:gd name="T4" fmla="*/ 451 w 879"/>
                    <a:gd name="T5" fmla="*/ 218 h 997"/>
                    <a:gd name="T6" fmla="*/ 558 w 879"/>
                    <a:gd name="T7" fmla="*/ 210 h 997"/>
                    <a:gd name="T8" fmla="*/ 425 w 879"/>
                    <a:gd name="T9" fmla="*/ 5 h 997"/>
                    <a:gd name="T10" fmla="*/ 19 w 879"/>
                    <a:gd name="T11" fmla="*/ 35 h 997"/>
                    <a:gd name="T12" fmla="*/ 102 w 879"/>
                    <a:gd name="T13" fmla="*/ 209 h 997"/>
                    <a:gd name="T14" fmla="*/ 111 w 879"/>
                    <a:gd name="T15" fmla="*/ 326 h 997"/>
                    <a:gd name="T16" fmla="*/ 210 w 879"/>
                    <a:gd name="T17" fmla="*/ 305 h 997"/>
                    <a:gd name="T18" fmla="*/ 364 w 879"/>
                    <a:gd name="T19" fmla="*/ 379 h 997"/>
                    <a:gd name="T20" fmla="*/ 514 w 879"/>
                    <a:gd name="T21" fmla="*/ 997 h 997"/>
                    <a:gd name="T22" fmla="*/ 534 w 879"/>
                    <a:gd name="T23" fmla="*/ 803 h 997"/>
                    <a:gd name="T24" fmla="*/ 584 w 879"/>
                    <a:gd name="T25" fmla="*/ 729 h 997"/>
                    <a:gd name="T26" fmla="*/ 597 w 879"/>
                    <a:gd name="T27" fmla="*/ 739 h 997"/>
                    <a:gd name="T28" fmla="*/ 640 w 879"/>
                    <a:gd name="T29" fmla="*/ 739 h 997"/>
                    <a:gd name="T30" fmla="*/ 636 w 879"/>
                    <a:gd name="T31" fmla="*/ 700 h 997"/>
                    <a:gd name="T32" fmla="*/ 623 w 879"/>
                    <a:gd name="T33" fmla="*/ 640 h 997"/>
                    <a:gd name="T34" fmla="*/ 647 w 879"/>
                    <a:gd name="T35" fmla="*/ 702 h 997"/>
                    <a:gd name="T36" fmla="*/ 657 w 879"/>
                    <a:gd name="T37" fmla="*/ 756 h 997"/>
                    <a:gd name="T38" fmla="*/ 701 w 879"/>
                    <a:gd name="T39" fmla="*/ 767 h 997"/>
                    <a:gd name="T40" fmla="*/ 730 w 879"/>
                    <a:gd name="T41" fmla="*/ 754 h 997"/>
                    <a:gd name="T42" fmla="*/ 757 w 879"/>
                    <a:gd name="T43" fmla="*/ 734 h 997"/>
                    <a:gd name="T44" fmla="*/ 743 w 879"/>
                    <a:gd name="T45" fmla="*/ 695 h 997"/>
                    <a:gd name="T46" fmla="*/ 720 w 879"/>
                    <a:gd name="T47" fmla="*/ 667 h 997"/>
                    <a:gd name="T48" fmla="*/ 695 w 879"/>
                    <a:gd name="T49" fmla="*/ 616 h 997"/>
                    <a:gd name="T50" fmla="*/ 759 w 879"/>
                    <a:gd name="T51" fmla="*/ 678 h 997"/>
                    <a:gd name="T52" fmla="*/ 766 w 879"/>
                    <a:gd name="T53" fmla="*/ 716 h 997"/>
                    <a:gd name="T54" fmla="*/ 802 w 879"/>
                    <a:gd name="T55" fmla="*/ 702 h 997"/>
                    <a:gd name="T56" fmla="*/ 827 w 879"/>
                    <a:gd name="T57" fmla="*/ 668 h 997"/>
                    <a:gd name="T58" fmla="*/ 825 w 879"/>
                    <a:gd name="T59" fmla="*/ 636 h 997"/>
                    <a:gd name="T60" fmla="*/ 823 w 879"/>
                    <a:gd name="T61" fmla="*/ 627 h 997"/>
                    <a:gd name="T62" fmla="*/ 852 w 879"/>
                    <a:gd name="T63" fmla="*/ 609 h 997"/>
                    <a:gd name="T64" fmla="*/ 863 w 879"/>
                    <a:gd name="T65" fmla="*/ 577 h 997"/>
                    <a:gd name="T66" fmla="*/ 865 w 879"/>
                    <a:gd name="T67" fmla="*/ 546 h 997"/>
                    <a:gd name="T68" fmla="*/ 866 w 879"/>
                    <a:gd name="T69" fmla="*/ 521 h 997"/>
                    <a:gd name="T70" fmla="*/ 840 w 879"/>
                    <a:gd name="T71" fmla="*/ 494 h 997"/>
                    <a:gd name="T72" fmla="*/ 828 w 879"/>
                    <a:gd name="T73" fmla="*/ 462 h 997"/>
                    <a:gd name="T74" fmla="*/ 804 w 879"/>
                    <a:gd name="T75" fmla="*/ 441 h 997"/>
                    <a:gd name="T76" fmla="*/ 780 w 879"/>
                    <a:gd name="T77" fmla="*/ 423 h 997"/>
                    <a:gd name="T78" fmla="*/ 780 w 879"/>
                    <a:gd name="T79" fmla="*/ 398 h 997"/>
                    <a:gd name="T80" fmla="*/ 759 w 879"/>
                    <a:gd name="T81" fmla="*/ 368 h 997"/>
                    <a:gd name="T82" fmla="*/ 722 w 879"/>
                    <a:gd name="T83" fmla="*/ 346 h 997"/>
                    <a:gd name="T84" fmla="*/ 687 w 879"/>
                    <a:gd name="T85" fmla="*/ 333 h 997"/>
                    <a:gd name="T86" fmla="*/ 665 w 879"/>
                    <a:gd name="T87" fmla="*/ 323 h 997"/>
                    <a:gd name="T88" fmla="*/ 625 w 879"/>
                    <a:gd name="T89" fmla="*/ 317 h 997"/>
                    <a:gd name="T90" fmla="*/ 598 w 879"/>
                    <a:gd name="T91" fmla="*/ 354 h 997"/>
                    <a:gd name="T92" fmla="*/ 563 w 879"/>
                    <a:gd name="T93" fmla="*/ 360 h 997"/>
                    <a:gd name="T94" fmla="*/ 512 w 879"/>
                    <a:gd name="T95" fmla="*/ 387 h 997"/>
                    <a:gd name="T96" fmla="*/ 536 w 879"/>
                    <a:gd name="T97" fmla="*/ 432 h 997"/>
                    <a:gd name="T98" fmla="*/ 531 w 879"/>
                    <a:gd name="T99" fmla="*/ 447 h 997"/>
                    <a:gd name="T100" fmla="*/ 496 w 879"/>
                    <a:gd name="T101" fmla="*/ 449 h 997"/>
                    <a:gd name="T102" fmla="*/ 503 w 879"/>
                    <a:gd name="T103" fmla="*/ 486 h 997"/>
                    <a:gd name="T104" fmla="*/ 519 w 879"/>
                    <a:gd name="T105" fmla="*/ 497 h 997"/>
                    <a:gd name="T106" fmla="*/ 522 w 879"/>
                    <a:gd name="T107" fmla="*/ 541 h 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79" h="997">
                      <a:moveTo>
                        <a:pt x="521" y="552"/>
                      </a:moveTo>
                      <a:cubicBezTo>
                        <a:pt x="480" y="525"/>
                        <a:pt x="480" y="525"/>
                        <a:pt x="480" y="525"/>
                      </a:cubicBezTo>
                      <a:cubicBezTo>
                        <a:pt x="439" y="424"/>
                        <a:pt x="439" y="424"/>
                        <a:pt x="439" y="424"/>
                      </a:cubicBezTo>
                      <a:cubicBezTo>
                        <a:pt x="418" y="315"/>
                        <a:pt x="418" y="315"/>
                        <a:pt x="418" y="315"/>
                      </a:cubicBezTo>
                      <a:cubicBezTo>
                        <a:pt x="405" y="247"/>
                        <a:pt x="405" y="247"/>
                        <a:pt x="405" y="247"/>
                      </a:cubicBezTo>
                      <a:cubicBezTo>
                        <a:pt x="451" y="218"/>
                        <a:pt x="451" y="218"/>
                        <a:pt x="451" y="218"/>
                      </a:cubicBezTo>
                      <a:cubicBezTo>
                        <a:pt x="498" y="233"/>
                        <a:pt x="498" y="233"/>
                        <a:pt x="498" y="233"/>
                      </a:cubicBezTo>
                      <a:cubicBezTo>
                        <a:pt x="558" y="210"/>
                        <a:pt x="558" y="210"/>
                        <a:pt x="558" y="210"/>
                      </a:cubicBezTo>
                      <a:cubicBezTo>
                        <a:pt x="516" y="106"/>
                        <a:pt x="516" y="106"/>
                        <a:pt x="516" y="106"/>
                      </a:cubicBezTo>
                      <a:cubicBezTo>
                        <a:pt x="425" y="5"/>
                        <a:pt x="425" y="5"/>
                        <a:pt x="425" y="5"/>
                      </a:cubicBezTo>
                      <a:cubicBezTo>
                        <a:pt x="167" y="0"/>
                        <a:pt x="167" y="0"/>
                        <a:pt x="167" y="0"/>
                      </a:cubicBezTo>
                      <a:cubicBezTo>
                        <a:pt x="19" y="35"/>
                        <a:pt x="19" y="35"/>
                        <a:pt x="19" y="35"/>
                      </a:cubicBezTo>
                      <a:cubicBezTo>
                        <a:pt x="0" y="127"/>
                        <a:pt x="0" y="127"/>
                        <a:pt x="0" y="127"/>
                      </a:cubicBezTo>
                      <a:cubicBezTo>
                        <a:pt x="102" y="209"/>
                        <a:pt x="102" y="209"/>
                        <a:pt x="102" y="209"/>
                      </a:cubicBezTo>
                      <a:cubicBezTo>
                        <a:pt x="85" y="316"/>
                        <a:pt x="85" y="316"/>
                        <a:pt x="85" y="316"/>
                      </a:cubicBezTo>
                      <a:cubicBezTo>
                        <a:pt x="111" y="326"/>
                        <a:pt x="111" y="326"/>
                        <a:pt x="111" y="326"/>
                      </a:cubicBezTo>
                      <a:cubicBezTo>
                        <a:pt x="118" y="360"/>
                        <a:pt x="118" y="360"/>
                        <a:pt x="118" y="360"/>
                      </a:cubicBezTo>
                      <a:cubicBezTo>
                        <a:pt x="210" y="305"/>
                        <a:pt x="210" y="305"/>
                        <a:pt x="210" y="305"/>
                      </a:cubicBezTo>
                      <a:cubicBezTo>
                        <a:pt x="314" y="302"/>
                        <a:pt x="314" y="302"/>
                        <a:pt x="314" y="302"/>
                      </a:cubicBezTo>
                      <a:cubicBezTo>
                        <a:pt x="364" y="379"/>
                        <a:pt x="364" y="379"/>
                        <a:pt x="364" y="379"/>
                      </a:cubicBezTo>
                      <a:cubicBezTo>
                        <a:pt x="430" y="657"/>
                        <a:pt x="430" y="657"/>
                        <a:pt x="430" y="657"/>
                      </a:cubicBezTo>
                      <a:cubicBezTo>
                        <a:pt x="514" y="997"/>
                        <a:pt x="514" y="997"/>
                        <a:pt x="514" y="997"/>
                      </a:cubicBezTo>
                      <a:cubicBezTo>
                        <a:pt x="563" y="981"/>
                        <a:pt x="563" y="981"/>
                        <a:pt x="563" y="981"/>
                      </a:cubicBezTo>
                      <a:cubicBezTo>
                        <a:pt x="534" y="803"/>
                        <a:pt x="534" y="803"/>
                        <a:pt x="534" y="803"/>
                      </a:cubicBezTo>
                      <a:cubicBezTo>
                        <a:pt x="551" y="714"/>
                        <a:pt x="551" y="714"/>
                        <a:pt x="551" y="714"/>
                      </a:cubicBezTo>
                      <a:cubicBezTo>
                        <a:pt x="551" y="714"/>
                        <a:pt x="561" y="747"/>
                        <a:pt x="584" y="729"/>
                      </a:cubicBezTo>
                      <a:cubicBezTo>
                        <a:pt x="593" y="722"/>
                        <a:pt x="588" y="701"/>
                        <a:pt x="588" y="701"/>
                      </a:cubicBezTo>
                      <a:cubicBezTo>
                        <a:pt x="588" y="701"/>
                        <a:pt x="586" y="734"/>
                        <a:pt x="597" y="739"/>
                      </a:cubicBezTo>
                      <a:cubicBezTo>
                        <a:pt x="608" y="745"/>
                        <a:pt x="615" y="740"/>
                        <a:pt x="615" y="731"/>
                      </a:cubicBezTo>
                      <a:cubicBezTo>
                        <a:pt x="615" y="731"/>
                        <a:pt x="617" y="751"/>
                        <a:pt x="640" y="739"/>
                      </a:cubicBezTo>
                      <a:cubicBezTo>
                        <a:pt x="656" y="730"/>
                        <a:pt x="643" y="718"/>
                        <a:pt x="638" y="713"/>
                      </a:cubicBezTo>
                      <a:cubicBezTo>
                        <a:pt x="633" y="709"/>
                        <a:pt x="636" y="706"/>
                        <a:pt x="636" y="700"/>
                      </a:cubicBezTo>
                      <a:cubicBezTo>
                        <a:pt x="636" y="693"/>
                        <a:pt x="636" y="682"/>
                        <a:pt x="630" y="677"/>
                      </a:cubicBezTo>
                      <a:cubicBezTo>
                        <a:pt x="624" y="671"/>
                        <a:pt x="631" y="656"/>
                        <a:pt x="623" y="640"/>
                      </a:cubicBezTo>
                      <a:cubicBezTo>
                        <a:pt x="623" y="640"/>
                        <a:pt x="626" y="661"/>
                        <a:pt x="638" y="666"/>
                      </a:cubicBezTo>
                      <a:cubicBezTo>
                        <a:pt x="638" y="666"/>
                        <a:pt x="633" y="686"/>
                        <a:pt x="647" y="702"/>
                      </a:cubicBezTo>
                      <a:cubicBezTo>
                        <a:pt x="647" y="702"/>
                        <a:pt x="643" y="725"/>
                        <a:pt x="659" y="725"/>
                      </a:cubicBezTo>
                      <a:cubicBezTo>
                        <a:pt x="659" y="725"/>
                        <a:pt x="639" y="747"/>
                        <a:pt x="657" y="756"/>
                      </a:cubicBezTo>
                      <a:cubicBezTo>
                        <a:pt x="657" y="756"/>
                        <a:pt x="666" y="766"/>
                        <a:pt x="682" y="753"/>
                      </a:cubicBezTo>
                      <a:cubicBezTo>
                        <a:pt x="682" y="753"/>
                        <a:pt x="683" y="771"/>
                        <a:pt x="701" y="767"/>
                      </a:cubicBezTo>
                      <a:cubicBezTo>
                        <a:pt x="713" y="765"/>
                        <a:pt x="716" y="756"/>
                        <a:pt x="713" y="746"/>
                      </a:cubicBezTo>
                      <a:cubicBezTo>
                        <a:pt x="713" y="746"/>
                        <a:pt x="716" y="760"/>
                        <a:pt x="730" y="754"/>
                      </a:cubicBezTo>
                      <a:cubicBezTo>
                        <a:pt x="744" y="748"/>
                        <a:pt x="742" y="740"/>
                        <a:pt x="738" y="733"/>
                      </a:cubicBezTo>
                      <a:cubicBezTo>
                        <a:pt x="738" y="733"/>
                        <a:pt x="744" y="741"/>
                        <a:pt x="757" y="734"/>
                      </a:cubicBezTo>
                      <a:cubicBezTo>
                        <a:pt x="767" y="730"/>
                        <a:pt x="755" y="712"/>
                        <a:pt x="750" y="709"/>
                      </a:cubicBezTo>
                      <a:cubicBezTo>
                        <a:pt x="746" y="706"/>
                        <a:pt x="743" y="708"/>
                        <a:pt x="743" y="695"/>
                      </a:cubicBezTo>
                      <a:cubicBezTo>
                        <a:pt x="743" y="683"/>
                        <a:pt x="737" y="678"/>
                        <a:pt x="729" y="678"/>
                      </a:cubicBezTo>
                      <a:cubicBezTo>
                        <a:pt x="720" y="677"/>
                        <a:pt x="720" y="680"/>
                        <a:pt x="720" y="667"/>
                      </a:cubicBezTo>
                      <a:cubicBezTo>
                        <a:pt x="719" y="654"/>
                        <a:pt x="716" y="657"/>
                        <a:pt x="709" y="652"/>
                      </a:cubicBezTo>
                      <a:cubicBezTo>
                        <a:pt x="702" y="647"/>
                        <a:pt x="693" y="635"/>
                        <a:pt x="695" y="616"/>
                      </a:cubicBezTo>
                      <a:cubicBezTo>
                        <a:pt x="695" y="616"/>
                        <a:pt x="694" y="650"/>
                        <a:pt x="729" y="650"/>
                      </a:cubicBezTo>
                      <a:cubicBezTo>
                        <a:pt x="732" y="650"/>
                        <a:pt x="712" y="677"/>
                        <a:pt x="759" y="678"/>
                      </a:cubicBezTo>
                      <a:cubicBezTo>
                        <a:pt x="759" y="678"/>
                        <a:pt x="749" y="694"/>
                        <a:pt x="759" y="703"/>
                      </a:cubicBezTo>
                      <a:cubicBezTo>
                        <a:pt x="768" y="712"/>
                        <a:pt x="764" y="712"/>
                        <a:pt x="766" y="716"/>
                      </a:cubicBezTo>
                      <a:cubicBezTo>
                        <a:pt x="768" y="720"/>
                        <a:pt x="785" y="724"/>
                        <a:pt x="788" y="712"/>
                      </a:cubicBezTo>
                      <a:cubicBezTo>
                        <a:pt x="791" y="701"/>
                        <a:pt x="788" y="703"/>
                        <a:pt x="802" y="702"/>
                      </a:cubicBezTo>
                      <a:cubicBezTo>
                        <a:pt x="815" y="701"/>
                        <a:pt x="812" y="690"/>
                        <a:pt x="812" y="691"/>
                      </a:cubicBezTo>
                      <a:cubicBezTo>
                        <a:pt x="812" y="691"/>
                        <a:pt x="845" y="689"/>
                        <a:pt x="827" y="668"/>
                      </a:cubicBezTo>
                      <a:cubicBezTo>
                        <a:pt x="808" y="647"/>
                        <a:pt x="832" y="659"/>
                        <a:pt x="834" y="657"/>
                      </a:cubicBezTo>
                      <a:cubicBezTo>
                        <a:pt x="836" y="656"/>
                        <a:pt x="848" y="633"/>
                        <a:pt x="825" y="636"/>
                      </a:cubicBezTo>
                      <a:cubicBezTo>
                        <a:pt x="819" y="632"/>
                        <a:pt x="819" y="632"/>
                        <a:pt x="819" y="632"/>
                      </a:cubicBezTo>
                      <a:cubicBezTo>
                        <a:pt x="823" y="627"/>
                        <a:pt x="823" y="627"/>
                        <a:pt x="823" y="627"/>
                      </a:cubicBezTo>
                      <a:cubicBezTo>
                        <a:pt x="823" y="627"/>
                        <a:pt x="835" y="645"/>
                        <a:pt x="852" y="622"/>
                      </a:cubicBezTo>
                      <a:cubicBezTo>
                        <a:pt x="858" y="614"/>
                        <a:pt x="852" y="609"/>
                        <a:pt x="852" y="609"/>
                      </a:cubicBezTo>
                      <a:cubicBezTo>
                        <a:pt x="852" y="609"/>
                        <a:pt x="853" y="610"/>
                        <a:pt x="864" y="604"/>
                      </a:cubicBezTo>
                      <a:cubicBezTo>
                        <a:pt x="875" y="597"/>
                        <a:pt x="869" y="580"/>
                        <a:pt x="863" y="577"/>
                      </a:cubicBezTo>
                      <a:cubicBezTo>
                        <a:pt x="857" y="574"/>
                        <a:pt x="868" y="571"/>
                        <a:pt x="869" y="570"/>
                      </a:cubicBezTo>
                      <a:cubicBezTo>
                        <a:pt x="871" y="569"/>
                        <a:pt x="879" y="559"/>
                        <a:pt x="865" y="546"/>
                      </a:cubicBezTo>
                      <a:cubicBezTo>
                        <a:pt x="865" y="546"/>
                        <a:pt x="872" y="541"/>
                        <a:pt x="872" y="533"/>
                      </a:cubicBezTo>
                      <a:cubicBezTo>
                        <a:pt x="872" y="524"/>
                        <a:pt x="869" y="523"/>
                        <a:pt x="866" y="521"/>
                      </a:cubicBezTo>
                      <a:cubicBezTo>
                        <a:pt x="862" y="520"/>
                        <a:pt x="857" y="514"/>
                        <a:pt x="858" y="508"/>
                      </a:cubicBezTo>
                      <a:cubicBezTo>
                        <a:pt x="859" y="502"/>
                        <a:pt x="849" y="491"/>
                        <a:pt x="840" y="494"/>
                      </a:cubicBezTo>
                      <a:cubicBezTo>
                        <a:pt x="831" y="496"/>
                        <a:pt x="857" y="479"/>
                        <a:pt x="839" y="468"/>
                      </a:cubicBezTo>
                      <a:cubicBezTo>
                        <a:pt x="820" y="457"/>
                        <a:pt x="832" y="464"/>
                        <a:pt x="828" y="462"/>
                      </a:cubicBezTo>
                      <a:cubicBezTo>
                        <a:pt x="823" y="460"/>
                        <a:pt x="818" y="461"/>
                        <a:pt x="818" y="461"/>
                      </a:cubicBezTo>
                      <a:cubicBezTo>
                        <a:pt x="818" y="461"/>
                        <a:pt x="823" y="444"/>
                        <a:pt x="804" y="441"/>
                      </a:cubicBezTo>
                      <a:cubicBezTo>
                        <a:pt x="786" y="438"/>
                        <a:pt x="787" y="442"/>
                        <a:pt x="784" y="442"/>
                      </a:cubicBezTo>
                      <a:cubicBezTo>
                        <a:pt x="780" y="443"/>
                        <a:pt x="786" y="428"/>
                        <a:pt x="780" y="423"/>
                      </a:cubicBezTo>
                      <a:cubicBezTo>
                        <a:pt x="774" y="418"/>
                        <a:pt x="774" y="418"/>
                        <a:pt x="774" y="418"/>
                      </a:cubicBezTo>
                      <a:cubicBezTo>
                        <a:pt x="774" y="418"/>
                        <a:pt x="790" y="417"/>
                        <a:pt x="780" y="398"/>
                      </a:cubicBezTo>
                      <a:cubicBezTo>
                        <a:pt x="776" y="389"/>
                        <a:pt x="761" y="391"/>
                        <a:pt x="758" y="393"/>
                      </a:cubicBezTo>
                      <a:cubicBezTo>
                        <a:pt x="758" y="393"/>
                        <a:pt x="774" y="377"/>
                        <a:pt x="759" y="368"/>
                      </a:cubicBezTo>
                      <a:cubicBezTo>
                        <a:pt x="745" y="358"/>
                        <a:pt x="736" y="364"/>
                        <a:pt x="732" y="367"/>
                      </a:cubicBezTo>
                      <a:cubicBezTo>
                        <a:pt x="728" y="370"/>
                        <a:pt x="736" y="346"/>
                        <a:pt x="722" y="346"/>
                      </a:cubicBezTo>
                      <a:cubicBezTo>
                        <a:pt x="707" y="346"/>
                        <a:pt x="706" y="350"/>
                        <a:pt x="706" y="350"/>
                      </a:cubicBezTo>
                      <a:cubicBezTo>
                        <a:pt x="705" y="351"/>
                        <a:pt x="706" y="330"/>
                        <a:pt x="687" y="333"/>
                      </a:cubicBezTo>
                      <a:cubicBezTo>
                        <a:pt x="668" y="336"/>
                        <a:pt x="681" y="336"/>
                        <a:pt x="681" y="336"/>
                      </a:cubicBezTo>
                      <a:cubicBezTo>
                        <a:pt x="681" y="336"/>
                        <a:pt x="677" y="323"/>
                        <a:pt x="665" y="323"/>
                      </a:cubicBezTo>
                      <a:cubicBezTo>
                        <a:pt x="652" y="324"/>
                        <a:pt x="648" y="329"/>
                        <a:pt x="648" y="333"/>
                      </a:cubicBezTo>
                      <a:cubicBezTo>
                        <a:pt x="648" y="336"/>
                        <a:pt x="639" y="315"/>
                        <a:pt x="625" y="317"/>
                      </a:cubicBezTo>
                      <a:cubicBezTo>
                        <a:pt x="611" y="319"/>
                        <a:pt x="596" y="324"/>
                        <a:pt x="595" y="340"/>
                      </a:cubicBezTo>
                      <a:cubicBezTo>
                        <a:pt x="593" y="356"/>
                        <a:pt x="596" y="352"/>
                        <a:pt x="598" y="354"/>
                      </a:cubicBezTo>
                      <a:cubicBezTo>
                        <a:pt x="600" y="356"/>
                        <a:pt x="586" y="350"/>
                        <a:pt x="581" y="358"/>
                      </a:cubicBezTo>
                      <a:cubicBezTo>
                        <a:pt x="576" y="367"/>
                        <a:pt x="569" y="362"/>
                        <a:pt x="563" y="360"/>
                      </a:cubicBezTo>
                      <a:cubicBezTo>
                        <a:pt x="558" y="358"/>
                        <a:pt x="540" y="357"/>
                        <a:pt x="537" y="382"/>
                      </a:cubicBezTo>
                      <a:cubicBezTo>
                        <a:pt x="537" y="382"/>
                        <a:pt x="518" y="364"/>
                        <a:pt x="512" y="387"/>
                      </a:cubicBezTo>
                      <a:cubicBezTo>
                        <a:pt x="505" y="411"/>
                        <a:pt x="521" y="420"/>
                        <a:pt x="533" y="424"/>
                      </a:cubicBezTo>
                      <a:cubicBezTo>
                        <a:pt x="538" y="426"/>
                        <a:pt x="535" y="429"/>
                        <a:pt x="536" y="432"/>
                      </a:cubicBezTo>
                      <a:cubicBezTo>
                        <a:pt x="536" y="435"/>
                        <a:pt x="546" y="439"/>
                        <a:pt x="545" y="450"/>
                      </a:cubicBezTo>
                      <a:cubicBezTo>
                        <a:pt x="544" y="462"/>
                        <a:pt x="534" y="451"/>
                        <a:pt x="531" y="447"/>
                      </a:cubicBezTo>
                      <a:cubicBezTo>
                        <a:pt x="529" y="444"/>
                        <a:pt x="519" y="424"/>
                        <a:pt x="506" y="426"/>
                      </a:cubicBezTo>
                      <a:cubicBezTo>
                        <a:pt x="492" y="427"/>
                        <a:pt x="491" y="438"/>
                        <a:pt x="496" y="449"/>
                      </a:cubicBezTo>
                      <a:cubicBezTo>
                        <a:pt x="499" y="456"/>
                        <a:pt x="481" y="435"/>
                        <a:pt x="483" y="465"/>
                      </a:cubicBezTo>
                      <a:cubicBezTo>
                        <a:pt x="483" y="465"/>
                        <a:pt x="484" y="499"/>
                        <a:pt x="503" y="486"/>
                      </a:cubicBezTo>
                      <a:cubicBezTo>
                        <a:pt x="522" y="474"/>
                        <a:pt x="512" y="483"/>
                        <a:pt x="512" y="483"/>
                      </a:cubicBezTo>
                      <a:cubicBezTo>
                        <a:pt x="512" y="483"/>
                        <a:pt x="511" y="491"/>
                        <a:pt x="519" y="497"/>
                      </a:cubicBezTo>
                      <a:cubicBezTo>
                        <a:pt x="528" y="503"/>
                        <a:pt x="486" y="489"/>
                        <a:pt x="507" y="519"/>
                      </a:cubicBezTo>
                      <a:cubicBezTo>
                        <a:pt x="528" y="548"/>
                        <a:pt x="522" y="541"/>
                        <a:pt x="522" y="541"/>
                      </a:cubicBezTo>
                      <a:cubicBezTo>
                        <a:pt x="522" y="541"/>
                        <a:pt x="538" y="557"/>
                        <a:pt x="521" y="552"/>
                      </a:cubicBezTo>
                      <a:close/>
                    </a:path>
                  </a:pathLst>
                </a:custGeom>
                <a:solidFill>
                  <a:schemeClr val="bg1">
                    <a:lumMod val="8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497" name="Freeform 383">
                  <a:extLst>
                    <a:ext uri="{FF2B5EF4-FFF2-40B4-BE49-F238E27FC236}">
                      <a16:creationId xmlns:a16="http://schemas.microsoft.com/office/drawing/2014/main" id="{F1CC284A-3479-4F54-B026-0A16D113ADF4}"/>
                    </a:ext>
                  </a:extLst>
                </p:cNvPr>
                <p:cNvSpPr>
                  <a:spLocks/>
                </p:cNvSpPr>
                <p:nvPr/>
              </p:nvSpPr>
              <p:spPr bwMode="auto">
                <a:xfrm>
                  <a:off x="5330797" y="3646042"/>
                  <a:ext cx="34241" cy="64501"/>
                </a:xfrm>
                <a:custGeom>
                  <a:avLst/>
                  <a:gdLst>
                    <a:gd name="T0" fmla="*/ 26 w 46"/>
                    <a:gd name="T1" fmla="*/ 0 h 86"/>
                    <a:gd name="T2" fmla="*/ 13 w 46"/>
                    <a:gd name="T3" fmla="*/ 18 h 86"/>
                    <a:gd name="T4" fmla="*/ 22 w 46"/>
                    <a:gd name="T5" fmla="*/ 32 h 86"/>
                    <a:gd name="T6" fmla="*/ 8 w 46"/>
                    <a:gd name="T7" fmla="*/ 56 h 86"/>
                    <a:gd name="T8" fmla="*/ 8 w 46"/>
                    <a:gd name="T9" fmla="*/ 74 h 86"/>
                    <a:gd name="T10" fmla="*/ 2 w 46"/>
                    <a:gd name="T11" fmla="*/ 86 h 86"/>
                    <a:gd name="T12" fmla="*/ 22 w 46"/>
                    <a:gd name="T13" fmla="*/ 71 h 86"/>
                    <a:gd name="T14" fmla="*/ 23 w 46"/>
                    <a:gd name="T15" fmla="*/ 54 h 86"/>
                    <a:gd name="T16" fmla="*/ 37 w 46"/>
                    <a:gd name="T17" fmla="*/ 50 h 86"/>
                    <a:gd name="T18" fmla="*/ 33 w 46"/>
                    <a:gd name="T19" fmla="*/ 38 h 86"/>
                    <a:gd name="T20" fmla="*/ 42 w 46"/>
                    <a:gd name="T21" fmla="*/ 29 h 86"/>
                    <a:gd name="T22" fmla="*/ 26 w 46"/>
                    <a:gd name="T23"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6" h="86">
                      <a:moveTo>
                        <a:pt x="26" y="0"/>
                      </a:moveTo>
                      <a:cubicBezTo>
                        <a:pt x="26" y="0"/>
                        <a:pt x="26" y="10"/>
                        <a:pt x="13" y="18"/>
                      </a:cubicBezTo>
                      <a:cubicBezTo>
                        <a:pt x="0" y="25"/>
                        <a:pt x="22" y="20"/>
                        <a:pt x="22" y="32"/>
                      </a:cubicBezTo>
                      <a:cubicBezTo>
                        <a:pt x="22" y="45"/>
                        <a:pt x="12" y="54"/>
                        <a:pt x="8" y="56"/>
                      </a:cubicBezTo>
                      <a:cubicBezTo>
                        <a:pt x="4" y="58"/>
                        <a:pt x="10" y="65"/>
                        <a:pt x="8" y="74"/>
                      </a:cubicBezTo>
                      <a:cubicBezTo>
                        <a:pt x="6" y="83"/>
                        <a:pt x="2" y="86"/>
                        <a:pt x="2" y="86"/>
                      </a:cubicBezTo>
                      <a:cubicBezTo>
                        <a:pt x="2" y="86"/>
                        <a:pt x="13" y="72"/>
                        <a:pt x="22" y="71"/>
                      </a:cubicBezTo>
                      <a:cubicBezTo>
                        <a:pt x="32" y="70"/>
                        <a:pt x="14" y="69"/>
                        <a:pt x="23" y="54"/>
                      </a:cubicBezTo>
                      <a:cubicBezTo>
                        <a:pt x="29" y="46"/>
                        <a:pt x="33" y="49"/>
                        <a:pt x="37" y="50"/>
                      </a:cubicBezTo>
                      <a:cubicBezTo>
                        <a:pt x="41" y="50"/>
                        <a:pt x="29" y="44"/>
                        <a:pt x="33" y="38"/>
                      </a:cubicBezTo>
                      <a:cubicBezTo>
                        <a:pt x="36" y="32"/>
                        <a:pt x="38" y="30"/>
                        <a:pt x="42" y="29"/>
                      </a:cubicBezTo>
                      <a:cubicBezTo>
                        <a:pt x="46" y="28"/>
                        <a:pt x="22" y="27"/>
                        <a:pt x="26" y="0"/>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498" name="Freeform 384">
                  <a:extLst>
                    <a:ext uri="{FF2B5EF4-FFF2-40B4-BE49-F238E27FC236}">
                      <a16:creationId xmlns:a16="http://schemas.microsoft.com/office/drawing/2014/main" id="{98569450-5BD2-4B9B-AA8B-0A0EC53528F1}"/>
                    </a:ext>
                  </a:extLst>
                </p:cNvPr>
                <p:cNvSpPr>
                  <a:spLocks/>
                </p:cNvSpPr>
                <p:nvPr/>
              </p:nvSpPr>
              <p:spPr bwMode="auto">
                <a:xfrm>
                  <a:off x="5196222" y="3627727"/>
                  <a:ext cx="240483" cy="276317"/>
                </a:xfrm>
                <a:custGeom>
                  <a:avLst/>
                  <a:gdLst>
                    <a:gd name="T0" fmla="*/ 104 w 320"/>
                    <a:gd name="T1" fmla="*/ 35 h 367"/>
                    <a:gd name="T2" fmla="*/ 99 w 320"/>
                    <a:gd name="T3" fmla="*/ 58 h 367"/>
                    <a:gd name="T4" fmla="*/ 117 w 320"/>
                    <a:gd name="T5" fmla="*/ 99 h 367"/>
                    <a:gd name="T6" fmla="*/ 115 w 320"/>
                    <a:gd name="T7" fmla="*/ 143 h 367"/>
                    <a:gd name="T8" fmla="*/ 62 w 320"/>
                    <a:gd name="T9" fmla="*/ 127 h 367"/>
                    <a:gd name="T10" fmla="*/ 18 w 320"/>
                    <a:gd name="T11" fmla="*/ 136 h 367"/>
                    <a:gd name="T12" fmla="*/ 19 w 320"/>
                    <a:gd name="T13" fmla="*/ 154 h 367"/>
                    <a:gd name="T14" fmla="*/ 9 w 320"/>
                    <a:gd name="T15" fmla="*/ 181 h 367"/>
                    <a:gd name="T16" fmla="*/ 4 w 320"/>
                    <a:gd name="T17" fmla="*/ 195 h 367"/>
                    <a:gd name="T18" fmla="*/ 22 w 320"/>
                    <a:gd name="T19" fmla="*/ 200 h 367"/>
                    <a:gd name="T20" fmla="*/ 33 w 320"/>
                    <a:gd name="T21" fmla="*/ 222 h 367"/>
                    <a:gd name="T22" fmla="*/ 23 w 320"/>
                    <a:gd name="T23" fmla="*/ 248 h 367"/>
                    <a:gd name="T24" fmla="*/ 52 w 320"/>
                    <a:gd name="T25" fmla="*/ 248 h 367"/>
                    <a:gd name="T26" fmla="*/ 51 w 320"/>
                    <a:gd name="T27" fmla="*/ 285 h 367"/>
                    <a:gd name="T28" fmla="*/ 31 w 320"/>
                    <a:gd name="T29" fmla="*/ 313 h 367"/>
                    <a:gd name="T30" fmla="*/ 69 w 320"/>
                    <a:gd name="T31" fmla="*/ 312 h 367"/>
                    <a:gd name="T32" fmla="*/ 67 w 320"/>
                    <a:gd name="T33" fmla="*/ 287 h 367"/>
                    <a:gd name="T34" fmla="*/ 74 w 320"/>
                    <a:gd name="T35" fmla="*/ 261 h 367"/>
                    <a:gd name="T36" fmla="*/ 103 w 320"/>
                    <a:gd name="T37" fmla="*/ 243 h 367"/>
                    <a:gd name="T38" fmla="*/ 109 w 320"/>
                    <a:gd name="T39" fmla="*/ 268 h 367"/>
                    <a:gd name="T40" fmla="*/ 127 w 320"/>
                    <a:gd name="T41" fmla="*/ 294 h 367"/>
                    <a:gd name="T42" fmla="*/ 136 w 320"/>
                    <a:gd name="T43" fmla="*/ 328 h 367"/>
                    <a:gd name="T44" fmla="*/ 145 w 320"/>
                    <a:gd name="T45" fmla="*/ 353 h 367"/>
                    <a:gd name="T46" fmla="*/ 166 w 320"/>
                    <a:gd name="T47" fmla="*/ 340 h 367"/>
                    <a:gd name="T48" fmla="*/ 190 w 320"/>
                    <a:gd name="T49" fmla="*/ 335 h 367"/>
                    <a:gd name="T50" fmla="*/ 163 w 320"/>
                    <a:gd name="T51" fmla="*/ 311 h 367"/>
                    <a:gd name="T52" fmla="*/ 148 w 320"/>
                    <a:gd name="T53" fmla="*/ 285 h 367"/>
                    <a:gd name="T54" fmla="*/ 139 w 320"/>
                    <a:gd name="T55" fmla="*/ 259 h 367"/>
                    <a:gd name="T56" fmla="*/ 149 w 320"/>
                    <a:gd name="T57" fmla="*/ 229 h 367"/>
                    <a:gd name="T58" fmla="*/ 175 w 320"/>
                    <a:gd name="T59" fmla="*/ 248 h 367"/>
                    <a:gd name="T60" fmla="*/ 204 w 320"/>
                    <a:gd name="T61" fmla="*/ 268 h 367"/>
                    <a:gd name="T62" fmla="*/ 219 w 320"/>
                    <a:gd name="T63" fmla="*/ 295 h 367"/>
                    <a:gd name="T64" fmla="*/ 274 w 320"/>
                    <a:gd name="T65" fmla="*/ 297 h 367"/>
                    <a:gd name="T66" fmla="*/ 234 w 320"/>
                    <a:gd name="T67" fmla="*/ 284 h 367"/>
                    <a:gd name="T68" fmla="*/ 217 w 320"/>
                    <a:gd name="T69" fmla="*/ 249 h 367"/>
                    <a:gd name="T70" fmla="*/ 214 w 320"/>
                    <a:gd name="T71" fmla="*/ 204 h 367"/>
                    <a:gd name="T72" fmla="*/ 237 w 320"/>
                    <a:gd name="T73" fmla="*/ 214 h 367"/>
                    <a:gd name="T74" fmla="*/ 270 w 320"/>
                    <a:gd name="T75" fmla="*/ 226 h 367"/>
                    <a:gd name="T76" fmla="*/ 311 w 320"/>
                    <a:gd name="T77" fmla="*/ 213 h 367"/>
                    <a:gd name="T78" fmla="*/ 252 w 320"/>
                    <a:gd name="T79" fmla="*/ 212 h 367"/>
                    <a:gd name="T80" fmla="*/ 230 w 320"/>
                    <a:gd name="T81" fmla="*/ 170 h 367"/>
                    <a:gd name="T82" fmla="*/ 154 w 320"/>
                    <a:gd name="T83" fmla="*/ 206 h 367"/>
                    <a:gd name="T84" fmla="*/ 181 w 320"/>
                    <a:gd name="T85" fmla="*/ 146 h 367"/>
                    <a:gd name="T86" fmla="*/ 140 w 320"/>
                    <a:gd name="T87" fmla="*/ 110 h 367"/>
                    <a:gd name="T88" fmla="*/ 142 w 320"/>
                    <a:gd name="T89" fmla="*/ 4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67">
                      <a:moveTo>
                        <a:pt x="136" y="0"/>
                      </a:moveTo>
                      <a:cubicBezTo>
                        <a:pt x="136" y="0"/>
                        <a:pt x="125" y="46"/>
                        <a:pt x="104" y="35"/>
                      </a:cubicBezTo>
                      <a:cubicBezTo>
                        <a:pt x="89" y="28"/>
                        <a:pt x="96" y="42"/>
                        <a:pt x="96" y="42"/>
                      </a:cubicBezTo>
                      <a:cubicBezTo>
                        <a:pt x="96" y="42"/>
                        <a:pt x="104" y="48"/>
                        <a:pt x="99" y="58"/>
                      </a:cubicBezTo>
                      <a:cubicBezTo>
                        <a:pt x="95" y="66"/>
                        <a:pt x="113" y="53"/>
                        <a:pt x="119" y="85"/>
                      </a:cubicBezTo>
                      <a:cubicBezTo>
                        <a:pt x="121" y="93"/>
                        <a:pt x="119" y="94"/>
                        <a:pt x="117" y="99"/>
                      </a:cubicBezTo>
                      <a:cubicBezTo>
                        <a:pt x="115" y="103"/>
                        <a:pt x="115" y="104"/>
                        <a:pt x="120" y="113"/>
                      </a:cubicBezTo>
                      <a:cubicBezTo>
                        <a:pt x="120" y="113"/>
                        <a:pt x="128" y="130"/>
                        <a:pt x="115" y="143"/>
                      </a:cubicBezTo>
                      <a:cubicBezTo>
                        <a:pt x="102" y="157"/>
                        <a:pt x="90" y="150"/>
                        <a:pt x="83" y="144"/>
                      </a:cubicBezTo>
                      <a:cubicBezTo>
                        <a:pt x="76" y="137"/>
                        <a:pt x="65" y="130"/>
                        <a:pt x="62" y="127"/>
                      </a:cubicBezTo>
                      <a:cubicBezTo>
                        <a:pt x="59" y="125"/>
                        <a:pt x="52" y="119"/>
                        <a:pt x="47" y="131"/>
                      </a:cubicBezTo>
                      <a:cubicBezTo>
                        <a:pt x="42" y="143"/>
                        <a:pt x="27" y="143"/>
                        <a:pt x="18" y="136"/>
                      </a:cubicBezTo>
                      <a:cubicBezTo>
                        <a:pt x="8" y="130"/>
                        <a:pt x="7" y="128"/>
                        <a:pt x="7" y="128"/>
                      </a:cubicBezTo>
                      <a:cubicBezTo>
                        <a:pt x="7" y="128"/>
                        <a:pt x="25" y="145"/>
                        <a:pt x="19" y="154"/>
                      </a:cubicBezTo>
                      <a:cubicBezTo>
                        <a:pt x="14" y="163"/>
                        <a:pt x="9" y="163"/>
                        <a:pt x="9" y="163"/>
                      </a:cubicBezTo>
                      <a:cubicBezTo>
                        <a:pt x="9" y="163"/>
                        <a:pt x="18" y="174"/>
                        <a:pt x="9" y="181"/>
                      </a:cubicBezTo>
                      <a:cubicBezTo>
                        <a:pt x="0" y="188"/>
                        <a:pt x="5" y="181"/>
                        <a:pt x="4" y="186"/>
                      </a:cubicBezTo>
                      <a:cubicBezTo>
                        <a:pt x="3" y="190"/>
                        <a:pt x="4" y="195"/>
                        <a:pt x="4" y="195"/>
                      </a:cubicBezTo>
                      <a:cubicBezTo>
                        <a:pt x="4" y="195"/>
                        <a:pt x="3" y="196"/>
                        <a:pt x="10" y="197"/>
                      </a:cubicBezTo>
                      <a:cubicBezTo>
                        <a:pt x="17" y="198"/>
                        <a:pt x="17" y="198"/>
                        <a:pt x="22" y="200"/>
                      </a:cubicBezTo>
                      <a:cubicBezTo>
                        <a:pt x="27" y="202"/>
                        <a:pt x="33" y="202"/>
                        <a:pt x="33" y="202"/>
                      </a:cubicBezTo>
                      <a:cubicBezTo>
                        <a:pt x="33" y="202"/>
                        <a:pt x="46" y="207"/>
                        <a:pt x="33" y="222"/>
                      </a:cubicBezTo>
                      <a:cubicBezTo>
                        <a:pt x="26" y="230"/>
                        <a:pt x="25" y="222"/>
                        <a:pt x="12" y="235"/>
                      </a:cubicBezTo>
                      <a:cubicBezTo>
                        <a:pt x="3" y="243"/>
                        <a:pt x="12" y="256"/>
                        <a:pt x="23" y="248"/>
                      </a:cubicBezTo>
                      <a:cubicBezTo>
                        <a:pt x="23" y="248"/>
                        <a:pt x="31" y="236"/>
                        <a:pt x="42" y="236"/>
                      </a:cubicBezTo>
                      <a:cubicBezTo>
                        <a:pt x="52" y="235"/>
                        <a:pt x="54" y="241"/>
                        <a:pt x="52" y="248"/>
                      </a:cubicBezTo>
                      <a:cubicBezTo>
                        <a:pt x="51" y="255"/>
                        <a:pt x="45" y="255"/>
                        <a:pt x="52" y="261"/>
                      </a:cubicBezTo>
                      <a:cubicBezTo>
                        <a:pt x="58" y="267"/>
                        <a:pt x="57" y="277"/>
                        <a:pt x="51" y="285"/>
                      </a:cubicBezTo>
                      <a:cubicBezTo>
                        <a:pt x="44" y="292"/>
                        <a:pt x="46" y="288"/>
                        <a:pt x="46" y="291"/>
                      </a:cubicBezTo>
                      <a:cubicBezTo>
                        <a:pt x="46" y="294"/>
                        <a:pt x="54" y="307"/>
                        <a:pt x="31" y="313"/>
                      </a:cubicBezTo>
                      <a:cubicBezTo>
                        <a:pt x="31" y="313"/>
                        <a:pt x="45" y="318"/>
                        <a:pt x="45" y="323"/>
                      </a:cubicBezTo>
                      <a:cubicBezTo>
                        <a:pt x="45" y="323"/>
                        <a:pt x="51" y="301"/>
                        <a:pt x="69" y="312"/>
                      </a:cubicBezTo>
                      <a:cubicBezTo>
                        <a:pt x="69" y="312"/>
                        <a:pt x="69" y="303"/>
                        <a:pt x="66" y="300"/>
                      </a:cubicBezTo>
                      <a:cubicBezTo>
                        <a:pt x="62" y="297"/>
                        <a:pt x="66" y="290"/>
                        <a:pt x="67" y="287"/>
                      </a:cubicBezTo>
                      <a:cubicBezTo>
                        <a:pt x="68" y="284"/>
                        <a:pt x="65" y="278"/>
                        <a:pt x="65" y="275"/>
                      </a:cubicBezTo>
                      <a:cubicBezTo>
                        <a:pt x="65" y="272"/>
                        <a:pt x="64" y="267"/>
                        <a:pt x="74" y="261"/>
                      </a:cubicBezTo>
                      <a:cubicBezTo>
                        <a:pt x="74" y="261"/>
                        <a:pt x="55" y="252"/>
                        <a:pt x="72" y="236"/>
                      </a:cubicBezTo>
                      <a:cubicBezTo>
                        <a:pt x="89" y="220"/>
                        <a:pt x="102" y="238"/>
                        <a:pt x="103" y="243"/>
                      </a:cubicBezTo>
                      <a:cubicBezTo>
                        <a:pt x="103" y="249"/>
                        <a:pt x="105" y="249"/>
                        <a:pt x="103" y="254"/>
                      </a:cubicBezTo>
                      <a:cubicBezTo>
                        <a:pt x="101" y="260"/>
                        <a:pt x="102" y="265"/>
                        <a:pt x="109" y="268"/>
                      </a:cubicBezTo>
                      <a:cubicBezTo>
                        <a:pt x="116" y="270"/>
                        <a:pt x="118" y="273"/>
                        <a:pt x="117" y="285"/>
                      </a:cubicBezTo>
                      <a:cubicBezTo>
                        <a:pt x="117" y="291"/>
                        <a:pt x="118" y="287"/>
                        <a:pt x="127" y="294"/>
                      </a:cubicBezTo>
                      <a:cubicBezTo>
                        <a:pt x="127" y="294"/>
                        <a:pt x="146" y="306"/>
                        <a:pt x="133" y="321"/>
                      </a:cubicBezTo>
                      <a:cubicBezTo>
                        <a:pt x="131" y="323"/>
                        <a:pt x="132" y="326"/>
                        <a:pt x="136" y="328"/>
                      </a:cubicBezTo>
                      <a:cubicBezTo>
                        <a:pt x="136" y="328"/>
                        <a:pt x="152" y="333"/>
                        <a:pt x="148" y="346"/>
                      </a:cubicBezTo>
                      <a:cubicBezTo>
                        <a:pt x="144" y="360"/>
                        <a:pt x="145" y="353"/>
                        <a:pt x="145" y="353"/>
                      </a:cubicBezTo>
                      <a:cubicBezTo>
                        <a:pt x="158" y="359"/>
                        <a:pt x="158" y="359"/>
                        <a:pt x="158" y="359"/>
                      </a:cubicBezTo>
                      <a:cubicBezTo>
                        <a:pt x="158" y="359"/>
                        <a:pt x="155" y="342"/>
                        <a:pt x="166" y="340"/>
                      </a:cubicBezTo>
                      <a:cubicBezTo>
                        <a:pt x="166" y="340"/>
                        <a:pt x="189" y="340"/>
                        <a:pt x="190" y="354"/>
                      </a:cubicBezTo>
                      <a:cubicBezTo>
                        <a:pt x="191" y="367"/>
                        <a:pt x="190" y="335"/>
                        <a:pt x="190" y="335"/>
                      </a:cubicBezTo>
                      <a:cubicBezTo>
                        <a:pt x="190" y="335"/>
                        <a:pt x="171" y="338"/>
                        <a:pt x="171" y="317"/>
                      </a:cubicBezTo>
                      <a:cubicBezTo>
                        <a:pt x="171" y="316"/>
                        <a:pt x="168" y="314"/>
                        <a:pt x="163" y="311"/>
                      </a:cubicBezTo>
                      <a:cubicBezTo>
                        <a:pt x="159" y="309"/>
                        <a:pt x="152" y="300"/>
                        <a:pt x="155" y="290"/>
                      </a:cubicBezTo>
                      <a:cubicBezTo>
                        <a:pt x="155" y="290"/>
                        <a:pt x="156" y="288"/>
                        <a:pt x="148" y="285"/>
                      </a:cubicBezTo>
                      <a:cubicBezTo>
                        <a:pt x="141" y="282"/>
                        <a:pt x="131" y="276"/>
                        <a:pt x="133" y="269"/>
                      </a:cubicBezTo>
                      <a:cubicBezTo>
                        <a:pt x="135" y="261"/>
                        <a:pt x="137" y="260"/>
                        <a:pt x="139" y="259"/>
                      </a:cubicBezTo>
                      <a:cubicBezTo>
                        <a:pt x="141" y="258"/>
                        <a:pt x="140" y="253"/>
                        <a:pt x="135" y="250"/>
                      </a:cubicBezTo>
                      <a:cubicBezTo>
                        <a:pt x="131" y="246"/>
                        <a:pt x="128" y="229"/>
                        <a:pt x="149" y="229"/>
                      </a:cubicBezTo>
                      <a:cubicBezTo>
                        <a:pt x="169" y="228"/>
                        <a:pt x="175" y="237"/>
                        <a:pt x="175" y="245"/>
                      </a:cubicBezTo>
                      <a:cubicBezTo>
                        <a:pt x="175" y="253"/>
                        <a:pt x="175" y="248"/>
                        <a:pt x="175" y="248"/>
                      </a:cubicBezTo>
                      <a:cubicBezTo>
                        <a:pt x="175" y="248"/>
                        <a:pt x="196" y="240"/>
                        <a:pt x="193" y="263"/>
                      </a:cubicBezTo>
                      <a:cubicBezTo>
                        <a:pt x="204" y="268"/>
                        <a:pt x="204" y="268"/>
                        <a:pt x="204" y="268"/>
                      </a:cubicBezTo>
                      <a:cubicBezTo>
                        <a:pt x="204" y="268"/>
                        <a:pt x="211" y="275"/>
                        <a:pt x="208" y="290"/>
                      </a:cubicBezTo>
                      <a:cubicBezTo>
                        <a:pt x="207" y="296"/>
                        <a:pt x="209" y="292"/>
                        <a:pt x="219" y="295"/>
                      </a:cubicBezTo>
                      <a:cubicBezTo>
                        <a:pt x="229" y="297"/>
                        <a:pt x="246" y="290"/>
                        <a:pt x="249" y="321"/>
                      </a:cubicBezTo>
                      <a:cubicBezTo>
                        <a:pt x="250" y="332"/>
                        <a:pt x="244" y="302"/>
                        <a:pt x="274" y="297"/>
                      </a:cubicBezTo>
                      <a:cubicBezTo>
                        <a:pt x="281" y="295"/>
                        <a:pt x="245" y="303"/>
                        <a:pt x="252" y="283"/>
                      </a:cubicBezTo>
                      <a:cubicBezTo>
                        <a:pt x="253" y="282"/>
                        <a:pt x="243" y="293"/>
                        <a:pt x="234" y="284"/>
                      </a:cubicBezTo>
                      <a:cubicBezTo>
                        <a:pt x="225" y="274"/>
                        <a:pt x="218" y="267"/>
                        <a:pt x="218" y="267"/>
                      </a:cubicBezTo>
                      <a:cubicBezTo>
                        <a:pt x="218" y="267"/>
                        <a:pt x="214" y="261"/>
                        <a:pt x="217" y="249"/>
                      </a:cubicBezTo>
                      <a:cubicBezTo>
                        <a:pt x="220" y="238"/>
                        <a:pt x="197" y="261"/>
                        <a:pt x="189" y="231"/>
                      </a:cubicBezTo>
                      <a:cubicBezTo>
                        <a:pt x="182" y="205"/>
                        <a:pt x="214" y="205"/>
                        <a:pt x="214" y="204"/>
                      </a:cubicBezTo>
                      <a:cubicBezTo>
                        <a:pt x="214" y="204"/>
                        <a:pt x="219" y="206"/>
                        <a:pt x="223" y="210"/>
                      </a:cubicBezTo>
                      <a:cubicBezTo>
                        <a:pt x="227" y="214"/>
                        <a:pt x="229" y="215"/>
                        <a:pt x="237" y="214"/>
                      </a:cubicBezTo>
                      <a:cubicBezTo>
                        <a:pt x="245" y="214"/>
                        <a:pt x="242" y="214"/>
                        <a:pt x="249" y="219"/>
                      </a:cubicBezTo>
                      <a:cubicBezTo>
                        <a:pt x="256" y="225"/>
                        <a:pt x="257" y="235"/>
                        <a:pt x="270" y="226"/>
                      </a:cubicBezTo>
                      <a:cubicBezTo>
                        <a:pt x="282" y="216"/>
                        <a:pt x="293" y="227"/>
                        <a:pt x="303" y="235"/>
                      </a:cubicBezTo>
                      <a:cubicBezTo>
                        <a:pt x="306" y="238"/>
                        <a:pt x="295" y="226"/>
                        <a:pt x="311" y="213"/>
                      </a:cubicBezTo>
                      <a:cubicBezTo>
                        <a:pt x="320" y="206"/>
                        <a:pt x="295" y="223"/>
                        <a:pt x="286" y="206"/>
                      </a:cubicBezTo>
                      <a:cubicBezTo>
                        <a:pt x="286" y="206"/>
                        <a:pt x="263" y="220"/>
                        <a:pt x="252" y="212"/>
                      </a:cubicBezTo>
                      <a:cubicBezTo>
                        <a:pt x="241" y="203"/>
                        <a:pt x="245" y="190"/>
                        <a:pt x="248" y="187"/>
                      </a:cubicBezTo>
                      <a:cubicBezTo>
                        <a:pt x="249" y="186"/>
                        <a:pt x="229" y="193"/>
                        <a:pt x="230" y="170"/>
                      </a:cubicBezTo>
                      <a:cubicBezTo>
                        <a:pt x="230" y="165"/>
                        <a:pt x="234" y="189"/>
                        <a:pt x="196" y="187"/>
                      </a:cubicBezTo>
                      <a:cubicBezTo>
                        <a:pt x="196" y="187"/>
                        <a:pt x="181" y="215"/>
                        <a:pt x="154" y="206"/>
                      </a:cubicBezTo>
                      <a:cubicBezTo>
                        <a:pt x="127" y="196"/>
                        <a:pt x="139" y="169"/>
                        <a:pt x="157" y="160"/>
                      </a:cubicBezTo>
                      <a:cubicBezTo>
                        <a:pt x="176" y="150"/>
                        <a:pt x="181" y="146"/>
                        <a:pt x="181" y="146"/>
                      </a:cubicBezTo>
                      <a:cubicBezTo>
                        <a:pt x="181" y="146"/>
                        <a:pt x="160" y="147"/>
                        <a:pt x="176" y="119"/>
                      </a:cubicBezTo>
                      <a:cubicBezTo>
                        <a:pt x="176" y="119"/>
                        <a:pt x="143" y="131"/>
                        <a:pt x="140" y="110"/>
                      </a:cubicBezTo>
                      <a:cubicBezTo>
                        <a:pt x="136" y="79"/>
                        <a:pt x="142" y="80"/>
                        <a:pt x="144" y="75"/>
                      </a:cubicBezTo>
                      <a:cubicBezTo>
                        <a:pt x="144" y="75"/>
                        <a:pt x="119" y="70"/>
                        <a:pt x="142" y="40"/>
                      </a:cubicBezTo>
                      <a:cubicBezTo>
                        <a:pt x="142" y="40"/>
                        <a:pt x="120" y="48"/>
                        <a:pt x="136" y="0"/>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499" name="Freeform 385">
                  <a:extLst>
                    <a:ext uri="{FF2B5EF4-FFF2-40B4-BE49-F238E27FC236}">
                      <a16:creationId xmlns:a16="http://schemas.microsoft.com/office/drawing/2014/main" id="{C08A2822-C0F2-45FE-875D-C8036F08C4E0}"/>
                    </a:ext>
                  </a:extLst>
                </p:cNvPr>
                <p:cNvSpPr>
                  <a:spLocks/>
                </p:cNvSpPr>
                <p:nvPr/>
              </p:nvSpPr>
              <p:spPr bwMode="auto">
                <a:xfrm>
                  <a:off x="5302927" y="3617375"/>
                  <a:ext cx="35834" cy="89982"/>
                </a:xfrm>
                <a:custGeom>
                  <a:avLst/>
                  <a:gdLst>
                    <a:gd name="T0" fmla="*/ 31 w 48"/>
                    <a:gd name="T1" fmla="*/ 0 h 120"/>
                    <a:gd name="T2" fmla="*/ 38 w 48"/>
                    <a:gd name="T3" fmla="*/ 31 h 120"/>
                    <a:gd name="T4" fmla="*/ 30 w 48"/>
                    <a:gd name="T5" fmla="*/ 51 h 120"/>
                    <a:gd name="T6" fmla="*/ 37 w 48"/>
                    <a:gd name="T7" fmla="*/ 69 h 120"/>
                    <a:gd name="T8" fmla="*/ 25 w 48"/>
                    <a:gd name="T9" fmla="*/ 100 h 120"/>
                    <a:gd name="T10" fmla="*/ 17 w 48"/>
                    <a:gd name="T11" fmla="*/ 61 h 120"/>
                    <a:gd name="T12" fmla="*/ 10 w 48"/>
                    <a:gd name="T13" fmla="*/ 31 h 120"/>
                    <a:gd name="T14" fmla="*/ 31 w 48"/>
                    <a:gd name="T15" fmla="*/ 0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20">
                      <a:moveTo>
                        <a:pt x="31" y="0"/>
                      </a:moveTo>
                      <a:cubicBezTo>
                        <a:pt x="31" y="0"/>
                        <a:pt x="27" y="21"/>
                        <a:pt x="38" y="31"/>
                      </a:cubicBezTo>
                      <a:cubicBezTo>
                        <a:pt x="48" y="41"/>
                        <a:pt x="28" y="30"/>
                        <a:pt x="30" y="51"/>
                      </a:cubicBezTo>
                      <a:cubicBezTo>
                        <a:pt x="32" y="72"/>
                        <a:pt x="34" y="66"/>
                        <a:pt x="37" y="69"/>
                      </a:cubicBezTo>
                      <a:cubicBezTo>
                        <a:pt x="39" y="73"/>
                        <a:pt x="26" y="81"/>
                        <a:pt x="25" y="100"/>
                      </a:cubicBezTo>
                      <a:cubicBezTo>
                        <a:pt x="23" y="120"/>
                        <a:pt x="26" y="73"/>
                        <a:pt x="17" y="61"/>
                      </a:cubicBezTo>
                      <a:cubicBezTo>
                        <a:pt x="8" y="48"/>
                        <a:pt x="37" y="55"/>
                        <a:pt x="10" y="31"/>
                      </a:cubicBezTo>
                      <a:cubicBezTo>
                        <a:pt x="0" y="22"/>
                        <a:pt x="21" y="38"/>
                        <a:pt x="31" y="0"/>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00" name="Freeform 386">
                  <a:extLst>
                    <a:ext uri="{FF2B5EF4-FFF2-40B4-BE49-F238E27FC236}">
                      <a16:creationId xmlns:a16="http://schemas.microsoft.com/office/drawing/2014/main" id="{215DD5EB-A785-472D-B927-0DE35EED08B2}"/>
                    </a:ext>
                  </a:extLst>
                </p:cNvPr>
                <p:cNvSpPr>
                  <a:spLocks/>
                </p:cNvSpPr>
                <p:nvPr/>
              </p:nvSpPr>
              <p:spPr bwMode="auto">
                <a:xfrm>
                  <a:off x="5323631" y="3685061"/>
                  <a:ext cx="76445" cy="78834"/>
                </a:xfrm>
                <a:custGeom>
                  <a:avLst/>
                  <a:gdLst>
                    <a:gd name="T0" fmla="*/ 80 w 101"/>
                    <a:gd name="T1" fmla="*/ 3 h 105"/>
                    <a:gd name="T2" fmla="*/ 53 w 101"/>
                    <a:gd name="T3" fmla="*/ 20 h 105"/>
                    <a:gd name="T4" fmla="*/ 44 w 101"/>
                    <a:gd name="T5" fmla="*/ 51 h 105"/>
                    <a:gd name="T6" fmla="*/ 37 w 101"/>
                    <a:gd name="T7" fmla="*/ 78 h 105"/>
                    <a:gd name="T8" fmla="*/ 10 w 101"/>
                    <a:gd name="T9" fmla="*/ 98 h 105"/>
                    <a:gd name="T10" fmla="*/ 18 w 101"/>
                    <a:gd name="T11" fmla="*/ 101 h 105"/>
                    <a:gd name="T12" fmla="*/ 47 w 101"/>
                    <a:gd name="T13" fmla="*/ 83 h 105"/>
                    <a:gd name="T14" fmla="*/ 50 w 101"/>
                    <a:gd name="T15" fmla="*/ 73 h 105"/>
                    <a:gd name="T16" fmla="*/ 67 w 101"/>
                    <a:gd name="T17" fmla="*/ 52 h 105"/>
                    <a:gd name="T18" fmla="*/ 67 w 101"/>
                    <a:gd name="T19" fmla="*/ 42 h 105"/>
                    <a:gd name="T20" fmla="*/ 76 w 101"/>
                    <a:gd name="T21" fmla="*/ 19 h 105"/>
                    <a:gd name="T22" fmla="*/ 95 w 101"/>
                    <a:gd name="T23" fmla="*/ 2 h 105"/>
                    <a:gd name="T24" fmla="*/ 80 w 101"/>
                    <a:gd name="T25" fmla="*/ 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1" h="105">
                      <a:moveTo>
                        <a:pt x="80" y="3"/>
                      </a:moveTo>
                      <a:cubicBezTo>
                        <a:pt x="80" y="3"/>
                        <a:pt x="74" y="23"/>
                        <a:pt x="53" y="20"/>
                      </a:cubicBezTo>
                      <a:cubicBezTo>
                        <a:pt x="48" y="19"/>
                        <a:pt x="71" y="35"/>
                        <a:pt x="44" y="51"/>
                      </a:cubicBezTo>
                      <a:cubicBezTo>
                        <a:pt x="44" y="51"/>
                        <a:pt x="43" y="71"/>
                        <a:pt x="37" y="78"/>
                      </a:cubicBezTo>
                      <a:cubicBezTo>
                        <a:pt x="31" y="85"/>
                        <a:pt x="21" y="95"/>
                        <a:pt x="10" y="98"/>
                      </a:cubicBezTo>
                      <a:cubicBezTo>
                        <a:pt x="0" y="101"/>
                        <a:pt x="11" y="105"/>
                        <a:pt x="18" y="101"/>
                      </a:cubicBezTo>
                      <a:cubicBezTo>
                        <a:pt x="25" y="97"/>
                        <a:pt x="34" y="85"/>
                        <a:pt x="47" y="83"/>
                      </a:cubicBezTo>
                      <a:cubicBezTo>
                        <a:pt x="60" y="82"/>
                        <a:pt x="51" y="76"/>
                        <a:pt x="50" y="73"/>
                      </a:cubicBezTo>
                      <a:cubicBezTo>
                        <a:pt x="50" y="70"/>
                        <a:pt x="48" y="55"/>
                        <a:pt x="67" y="52"/>
                      </a:cubicBezTo>
                      <a:cubicBezTo>
                        <a:pt x="73" y="51"/>
                        <a:pt x="68" y="44"/>
                        <a:pt x="67" y="42"/>
                      </a:cubicBezTo>
                      <a:cubicBezTo>
                        <a:pt x="66" y="40"/>
                        <a:pt x="63" y="30"/>
                        <a:pt x="76" y="19"/>
                      </a:cubicBezTo>
                      <a:cubicBezTo>
                        <a:pt x="90" y="8"/>
                        <a:pt x="89" y="4"/>
                        <a:pt x="95" y="2"/>
                      </a:cubicBezTo>
                      <a:cubicBezTo>
                        <a:pt x="101" y="0"/>
                        <a:pt x="88" y="4"/>
                        <a:pt x="80" y="3"/>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01" name="Freeform 387">
                  <a:extLst>
                    <a:ext uri="{FF2B5EF4-FFF2-40B4-BE49-F238E27FC236}">
                      <a16:creationId xmlns:a16="http://schemas.microsoft.com/office/drawing/2014/main" id="{454D95F6-9CBA-4FFD-A9D7-10B10D2A4375}"/>
                    </a:ext>
                  </a:extLst>
                </p:cNvPr>
                <p:cNvSpPr>
                  <a:spLocks/>
                </p:cNvSpPr>
                <p:nvPr/>
              </p:nvSpPr>
              <p:spPr bwMode="auto">
                <a:xfrm>
                  <a:off x="5224093" y="3622153"/>
                  <a:ext cx="54149" cy="97945"/>
                </a:xfrm>
                <a:custGeom>
                  <a:avLst/>
                  <a:gdLst>
                    <a:gd name="T0" fmla="*/ 16 w 72"/>
                    <a:gd name="T1" fmla="*/ 0 h 130"/>
                    <a:gd name="T2" fmla="*/ 30 w 72"/>
                    <a:gd name="T3" fmla="*/ 29 h 130"/>
                    <a:gd name="T4" fmla="*/ 29 w 72"/>
                    <a:gd name="T5" fmla="*/ 37 h 130"/>
                    <a:gd name="T6" fmla="*/ 47 w 72"/>
                    <a:gd name="T7" fmla="*/ 70 h 130"/>
                    <a:gd name="T8" fmla="*/ 49 w 72"/>
                    <a:gd name="T9" fmla="*/ 81 h 130"/>
                    <a:gd name="T10" fmla="*/ 66 w 72"/>
                    <a:gd name="T11" fmla="*/ 94 h 130"/>
                    <a:gd name="T12" fmla="*/ 65 w 72"/>
                    <a:gd name="T13" fmla="*/ 101 h 130"/>
                    <a:gd name="T14" fmla="*/ 71 w 72"/>
                    <a:gd name="T15" fmla="*/ 128 h 130"/>
                    <a:gd name="T16" fmla="*/ 47 w 72"/>
                    <a:gd name="T17" fmla="*/ 113 h 130"/>
                    <a:gd name="T18" fmla="*/ 47 w 72"/>
                    <a:gd name="T19" fmla="*/ 105 h 130"/>
                    <a:gd name="T20" fmla="*/ 45 w 72"/>
                    <a:gd name="T21" fmla="*/ 92 h 130"/>
                    <a:gd name="T22" fmla="*/ 33 w 72"/>
                    <a:gd name="T23" fmla="*/ 81 h 130"/>
                    <a:gd name="T24" fmla="*/ 28 w 72"/>
                    <a:gd name="T25" fmla="*/ 68 h 130"/>
                    <a:gd name="T26" fmla="*/ 17 w 72"/>
                    <a:gd name="T27" fmla="*/ 41 h 130"/>
                    <a:gd name="T28" fmla="*/ 9 w 72"/>
                    <a:gd name="T29" fmla="*/ 40 h 130"/>
                    <a:gd name="T30" fmla="*/ 8 w 72"/>
                    <a:gd name="T31" fmla="*/ 33 h 130"/>
                    <a:gd name="T32" fmla="*/ 5 w 72"/>
                    <a:gd name="T33" fmla="*/ 12 h 130"/>
                    <a:gd name="T34" fmla="*/ 0 w 72"/>
                    <a:gd name="T35" fmla="*/ 6 h 130"/>
                    <a:gd name="T36" fmla="*/ 16 w 72"/>
                    <a:gd name="T37"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2" h="130">
                      <a:moveTo>
                        <a:pt x="16" y="0"/>
                      </a:moveTo>
                      <a:cubicBezTo>
                        <a:pt x="16" y="0"/>
                        <a:pt x="14" y="11"/>
                        <a:pt x="30" y="29"/>
                      </a:cubicBezTo>
                      <a:cubicBezTo>
                        <a:pt x="33" y="33"/>
                        <a:pt x="30" y="31"/>
                        <a:pt x="29" y="37"/>
                      </a:cubicBezTo>
                      <a:cubicBezTo>
                        <a:pt x="27" y="42"/>
                        <a:pt x="31" y="56"/>
                        <a:pt x="47" y="70"/>
                      </a:cubicBezTo>
                      <a:cubicBezTo>
                        <a:pt x="54" y="76"/>
                        <a:pt x="49" y="79"/>
                        <a:pt x="49" y="81"/>
                      </a:cubicBezTo>
                      <a:cubicBezTo>
                        <a:pt x="49" y="84"/>
                        <a:pt x="49" y="95"/>
                        <a:pt x="66" y="94"/>
                      </a:cubicBezTo>
                      <a:cubicBezTo>
                        <a:pt x="71" y="93"/>
                        <a:pt x="68" y="98"/>
                        <a:pt x="65" y="101"/>
                      </a:cubicBezTo>
                      <a:cubicBezTo>
                        <a:pt x="63" y="103"/>
                        <a:pt x="60" y="114"/>
                        <a:pt x="71" y="128"/>
                      </a:cubicBezTo>
                      <a:cubicBezTo>
                        <a:pt x="72" y="130"/>
                        <a:pt x="62" y="113"/>
                        <a:pt x="47" y="113"/>
                      </a:cubicBezTo>
                      <a:cubicBezTo>
                        <a:pt x="47" y="113"/>
                        <a:pt x="47" y="107"/>
                        <a:pt x="47" y="105"/>
                      </a:cubicBezTo>
                      <a:cubicBezTo>
                        <a:pt x="48" y="103"/>
                        <a:pt x="47" y="97"/>
                        <a:pt x="45" y="92"/>
                      </a:cubicBezTo>
                      <a:cubicBezTo>
                        <a:pt x="42" y="87"/>
                        <a:pt x="36" y="83"/>
                        <a:pt x="33" y="81"/>
                      </a:cubicBezTo>
                      <a:cubicBezTo>
                        <a:pt x="31" y="79"/>
                        <a:pt x="28" y="76"/>
                        <a:pt x="28" y="68"/>
                      </a:cubicBezTo>
                      <a:cubicBezTo>
                        <a:pt x="29" y="59"/>
                        <a:pt x="29" y="46"/>
                        <a:pt x="17" y="41"/>
                      </a:cubicBezTo>
                      <a:cubicBezTo>
                        <a:pt x="11" y="38"/>
                        <a:pt x="11" y="40"/>
                        <a:pt x="9" y="40"/>
                      </a:cubicBezTo>
                      <a:cubicBezTo>
                        <a:pt x="7" y="40"/>
                        <a:pt x="5" y="40"/>
                        <a:pt x="8" y="33"/>
                      </a:cubicBezTo>
                      <a:cubicBezTo>
                        <a:pt x="11" y="25"/>
                        <a:pt x="8" y="17"/>
                        <a:pt x="5" y="12"/>
                      </a:cubicBezTo>
                      <a:cubicBezTo>
                        <a:pt x="2" y="6"/>
                        <a:pt x="0" y="6"/>
                        <a:pt x="0" y="6"/>
                      </a:cubicBezTo>
                      <a:lnTo>
                        <a:pt x="16" y="0"/>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02" name="Freeform 388">
                  <a:extLst>
                    <a:ext uri="{FF2B5EF4-FFF2-40B4-BE49-F238E27FC236}">
                      <a16:creationId xmlns:a16="http://schemas.microsoft.com/office/drawing/2014/main" id="{A8F05DE2-026E-44AA-8656-652F1DD93ECE}"/>
                    </a:ext>
                  </a:extLst>
                </p:cNvPr>
                <p:cNvSpPr>
                  <a:spLocks/>
                </p:cNvSpPr>
                <p:nvPr/>
              </p:nvSpPr>
              <p:spPr bwMode="auto">
                <a:xfrm>
                  <a:off x="5381761" y="3724876"/>
                  <a:ext cx="53353" cy="30259"/>
                </a:xfrm>
                <a:custGeom>
                  <a:avLst/>
                  <a:gdLst>
                    <a:gd name="T0" fmla="*/ 55 w 71"/>
                    <a:gd name="T1" fmla="*/ 4 h 40"/>
                    <a:gd name="T2" fmla="*/ 17 w 71"/>
                    <a:gd name="T3" fmla="*/ 14 h 40"/>
                    <a:gd name="T4" fmla="*/ 0 w 71"/>
                    <a:gd name="T5" fmla="*/ 40 h 40"/>
                    <a:gd name="T6" fmla="*/ 21 w 71"/>
                    <a:gd name="T7" fmla="*/ 27 h 40"/>
                    <a:gd name="T8" fmla="*/ 38 w 71"/>
                    <a:gd name="T9" fmla="*/ 26 h 40"/>
                    <a:gd name="T10" fmla="*/ 43 w 71"/>
                    <a:gd name="T11" fmla="*/ 19 h 40"/>
                    <a:gd name="T12" fmla="*/ 64 w 71"/>
                    <a:gd name="T13" fmla="*/ 5 h 40"/>
                    <a:gd name="T14" fmla="*/ 55 w 71"/>
                    <a:gd name="T15" fmla="*/ 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40">
                      <a:moveTo>
                        <a:pt x="55" y="4"/>
                      </a:moveTo>
                      <a:cubicBezTo>
                        <a:pt x="55" y="4"/>
                        <a:pt x="42" y="14"/>
                        <a:pt x="17" y="14"/>
                      </a:cubicBezTo>
                      <a:cubicBezTo>
                        <a:pt x="16" y="14"/>
                        <a:pt x="16" y="30"/>
                        <a:pt x="0" y="40"/>
                      </a:cubicBezTo>
                      <a:cubicBezTo>
                        <a:pt x="0" y="40"/>
                        <a:pt x="14" y="35"/>
                        <a:pt x="21" y="27"/>
                      </a:cubicBezTo>
                      <a:cubicBezTo>
                        <a:pt x="28" y="19"/>
                        <a:pt x="30" y="23"/>
                        <a:pt x="38" y="26"/>
                      </a:cubicBezTo>
                      <a:cubicBezTo>
                        <a:pt x="45" y="30"/>
                        <a:pt x="42" y="25"/>
                        <a:pt x="43" y="19"/>
                      </a:cubicBezTo>
                      <a:cubicBezTo>
                        <a:pt x="45" y="14"/>
                        <a:pt x="56" y="5"/>
                        <a:pt x="64" y="5"/>
                      </a:cubicBezTo>
                      <a:cubicBezTo>
                        <a:pt x="71" y="4"/>
                        <a:pt x="65" y="0"/>
                        <a:pt x="55" y="4"/>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03" name="Freeform 389">
                  <a:extLst>
                    <a:ext uri="{FF2B5EF4-FFF2-40B4-BE49-F238E27FC236}">
                      <a16:creationId xmlns:a16="http://schemas.microsoft.com/office/drawing/2014/main" id="{0E41974A-52B3-4298-80D8-F2E198BD3372}"/>
                    </a:ext>
                  </a:extLst>
                </p:cNvPr>
                <p:cNvSpPr>
                  <a:spLocks/>
                </p:cNvSpPr>
                <p:nvPr/>
              </p:nvSpPr>
              <p:spPr bwMode="auto">
                <a:xfrm>
                  <a:off x="5392113" y="3759117"/>
                  <a:ext cx="58926" cy="19908"/>
                </a:xfrm>
                <a:custGeom>
                  <a:avLst/>
                  <a:gdLst>
                    <a:gd name="T0" fmla="*/ 68 w 78"/>
                    <a:gd name="T1" fmla="*/ 5 h 26"/>
                    <a:gd name="T2" fmla="*/ 44 w 78"/>
                    <a:gd name="T3" fmla="*/ 2 h 26"/>
                    <a:gd name="T4" fmla="*/ 40 w 78"/>
                    <a:gd name="T5" fmla="*/ 5 h 26"/>
                    <a:gd name="T6" fmla="*/ 24 w 78"/>
                    <a:gd name="T7" fmla="*/ 4 h 26"/>
                    <a:gd name="T8" fmla="*/ 18 w 78"/>
                    <a:gd name="T9" fmla="*/ 9 h 26"/>
                    <a:gd name="T10" fmla="*/ 3 w 78"/>
                    <a:gd name="T11" fmla="*/ 19 h 26"/>
                    <a:gd name="T12" fmla="*/ 7 w 78"/>
                    <a:gd name="T13" fmla="*/ 24 h 26"/>
                    <a:gd name="T14" fmla="*/ 26 w 78"/>
                    <a:gd name="T15" fmla="*/ 16 h 26"/>
                    <a:gd name="T16" fmla="*/ 44 w 78"/>
                    <a:gd name="T17" fmla="*/ 17 h 26"/>
                    <a:gd name="T18" fmla="*/ 53 w 78"/>
                    <a:gd name="T19" fmla="*/ 15 h 26"/>
                    <a:gd name="T20" fmla="*/ 69 w 78"/>
                    <a:gd name="T21" fmla="*/ 13 h 26"/>
                    <a:gd name="T22" fmla="*/ 76 w 78"/>
                    <a:gd name="T23" fmla="*/ 15 h 26"/>
                    <a:gd name="T24" fmla="*/ 74 w 78"/>
                    <a:gd name="T25" fmla="*/ 5 h 26"/>
                    <a:gd name="T26" fmla="*/ 68 w 78"/>
                    <a:gd name="T27" fmla="*/ 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 h="26">
                      <a:moveTo>
                        <a:pt x="68" y="5"/>
                      </a:moveTo>
                      <a:cubicBezTo>
                        <a:pt x="68" y="5"/>
                        <a:pt x="53" y="7"/>
                        <a:pt x="44" y="2"/>
                      </a:cubicBezTo>
                      <a:cubicBezTo>
                        <a:pt x="41" y="1"/>
                        <a:pt x="42" y="3"/>
                        <a:pt x="40" y="5"/>
                      </a:cubicBezTo>
                      <a:cubicBezTo>
                        <a:pt x="40" y="5"/>
                        <a:pt x="28" y="7"/>
                        <a:pt x="24" y="4"/>
                      </a:cubicBezTo>
                      <a:cubicBezTo>
                        <a:pt x="19" y="0"/>
                        <a:pt x="18" y="2"/>
                        <a:pt x="18" y="9"/>
                      </a:cubicBezTo>
                      <a:cubicBezTo>
                        <a:pt x="17" y="16"/>
                        <a:pt x="7" y="19"/>
                        <a:pt x="3" y="19"/>
                      </a:cubicBezTo>
                      <a:cubicBezTo>
                        <a:pt x="0" y="20"/>
                        <a:pt x="0" y="26"/>
                        <a:pt x="7" y="24"/>
                      </a:cubicBezTo>
                      <a:cubicBezTo>
                        <a:pt x="14" y="22"/>
                        <a:pt x="13" y="20"/>
                        <a:pt x="26" y="16"/>
                      </a:cubicBezTo>
                      <a:cubicBezTo>
                        <a:pt x="39" y="12"/>
                        <a:pt x="41" y="16"/>
                        <a:pt x="44" y="17"/>
                      </a:cubicBezTo>
                      <a:cubicBezTo>
                        <a:pt x="48" y="19"/>
                        <a:pt x="50" y="18"/>
                        <a:pt x="53" y="15"/>
                      </a:cubicBezTo>
                      <a:cubicBezTo>
                        <a:pt x="56" y="12"/>
                        <a:pt x="61" y="8"/>
                        <a:pt x="69" y="13"/>
                      </a:cubicBezTo>
                      <a:cubicBezTo>
                        <a:pt x="78" y="18"/>
                        <a:pt x="76" y="15"/>
                        <a:pt x="76" y="15"/>
                      </a:cubicBezTo>
                      <a:cubicBezTo>
                        <a:pt x="74" y="5"/>
                        <a:pt x="74" y="5"/>
                        <a:pt x="74" y="5"/>
                      </a:cubicBezTo>
                      <a:lnTo>
                        <a:pt x="68" y="5"/>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04" name="Freeform 390">
                  <a:extLst>
                    <a:ext uri="{FF2B5EF4-FFF2-40B4-BE49-F238E27FC236}">
                      <a16:creationId xmlns:a16="http://schemas.microsoft.com/office/drawing/2014/main" id="{48ED0E3F-DDDB-4C06-B4F9-A297F938A36D}"/>
                    </a:ext>
                  </a:extLst>
                </p:cNvPr>
                <p:cNvSpPr>
                  <a:spLocks/>
                </p:cNvSpPr>
                <p:nvPr/>
              </p:nvSpPr>
              <p:spPr bwMode="auto">
                <a:xfrm>
                  <a:off x="4446105" y="3004222"/>
                  <a:ext cx="1231880" cy="769228"/>
                </a:xfrm>
                <a:custGeom>
                  <a:avLst/>
                  <a:gdLst>
                    <a:gd name="T0" fmla="*/ 1134 w 1638"/>
                    <a:gd name="T1" fmla="*/ 638 h 1023"/>
                    <a:gd name="T2" fmla="*/ 1149 w 1638"/>
                    <a:gd name="T3" fmla="*/ 745 h 1023"/>
                    <a:gd name="T4" fmla="*/ 1305 w 1638"/>
                    <a:gd name="T5" fmla="*/ 906 h 1023"/>
                    <a:gd name="T6" fmla="*/ 1393 w 1638"/>
                    <a:gd name="T7" fmla="*/ 957 h 1023"/>
                    <a:gd name="T8" fmla="*/ 1527 w 1638"/>
                    <a:gd name="T9" fmla="*/ 981 h 1023"/>
                    <a:gd name="T10" fmla="*/ 1600 w 1638"/>
                    <a:gd name="T11" fmla="*/ 837 h 1023"/>
                    <a:gd name="T12" fmla="*/ 1631 w 1638"/>
                    <a:gd name="T13" fmla="*/ 732 h 1023"/>
                    <a:gd name="T14" fmla="*/ 1632 w 1638"/>
                    <a:gd name="T15" fmla="*/ 658 h 1023"/>
                    <a:gd name="T16" fmla="*/ 1617 w 1638"/>
                    <a:gd name="T17" fmla="*/ 585 h 1023"/>
                    <a:gd name="T18" fmla="*/ 1583 w 1638"/>
                    <a:gd name="T19" fmla="*/ 496 h 1023"/>
                    <a:gd name="T20" fmla="*/ 1556 w 1638"/>
                    <a:gd name="T21" fmla="*/ 445 h 1023"/>
                    <a:gd name="T22" fmla="*/ 1499 w 1638"/>
                    <a:gd name="T23" fmla="*/ 357 h 1023"/>
                    <a:gd name="T24" fmla="*/ 1460 w 1638"/>
                    <a:gd name="T25" fmla="*/ 326 h 1023"/>
                    <a:gd name="T26" fmla="*/ 1339 w 1638"/>
                    <a:gd name="T27" fmla="*/ 227 h 1023"/>
                    <a:gd name="T28" fmla="*/ 1248 w 1638"/>
                    <a:gd name="T29" fmla="*/ 156 h 1023"/>
                    <a:gd name="T30" fmla="*/ 1144 w 1638"/>
                    <a:gd name="T31" fmla="*/ 98 h 1023"/>
                    <a:gd name="T32" fmla="*/ 1083 w 1638"/>
                    <a:gd name="T33" fmla="*/ 68 h 1023"/>
                    <a:gd name="T34" fmla="*/ 987 w 1638"/>
                    <a:gd name="T35" fmla="*/ 50 h 1023"/>
                    <a:gd name="T36" fmla="*/ 886 w 1638"/>
                    <a:gd name="T37" fmla="*/ 13 h 1023"/>
                    <a:gd name="T38" fmla="*/ 767 w 1638"/>
                    <a:gd name="T39" fmla="*/ 2 h 1023"/>
                    <a:gd name="T40" fmla="*/ 674 w 1638"/>
                    <a:gd name="T41" fmla="*/ 5 h 1023"/>
                    <a:gd name="T42" fmla="*/ 512 w 1638"/>
                    <a:gd name="T43" fmla="*/ 18 h 1023"/>
                    <a:gd name="T44" fmla="*/ 372 w 1638"/>
                    <a:gd name="T45" fmla="*/ 56 h 1023"/>
                    <a:gd name="T46" fmla="*/ 289 w 1638"/>
                    <a:gd name="T47" fmla="*/ 100 h 1023"/>
                    <a:gd name="T48" fmla="*/ 200 w 1638"/>
                    <a:gd name="T49" fmla="*/ 166 h 1023"/>
                    <a:gd name="T50" fmla="*/ 102 w 1638"/>
                    <a:gd name="T51" fmla="*/ 260 h 1023"/>
                    <a:gd name="T52" fmla="*/ 36 w 1638"/>
                    <a:gd name="T53" fmla="*/ 355 h 1023"/>
                    <a:gd name="T54" fmla="*/ 8 w 1638"/>
                    <a:gd name="T55" fmla="*/ 400 h 1023"/>
                    <a:gd name="T56" fmla="*/ 5 w 1638"/>
                    <a:gd name="T57" fmla="*/ 565 h 1023"/>
                    <a:gd name="T58" fmla="*/ 39 w 1638"/>
                    <a:gd name="T59" fmla="*/ 700 h 1023"/>
                    <a:gd name="T60" fmla="*/ 130 w 1638"/>
                    <a:gd name="T61" fmla="*/ 779 h 1023"/>
                    <a:gd name="T62" fmla="*/ 345 w 1638"/>
                    <a:gd name="T63" fmla="*/ 829 h 1023"/>
                    <a:gd name="T64" fmla="*/ 553 w 1638"/>
                    <a:gd name="T65" fmla="*/ 666 h 1023"/>
                    <a:gd name="T66" fmla="*/ 364 w 1638"/>
                    <a:gd name="T67" fmla="*/ 499 h 1023"/>
                    <a:gd name="T68" fmla="*/ 1026 w 1638"/>
                    <a:gd name="T69" fmla="*/ 487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8" h="1023">
                      <a:moveTo>
                        <a:pt x="1026" y="487"/>
                      </a:moveTo>
                      <a:cubicBezTo>
                        <a:pt x="1026" y="487"/>
                        <a:pt x="1134" y="568"/>
                        <a:pt x="1134" y="638"/>
                      </a:cubicBezTo>
                      <a:cubicBezTo>
                        <a:pt x="1134" y="707"/>
                        <a:pt x="1094" y="726"/>
                        <a:pt x="1079" y="731"/>
                      </a:cubicBezTo>
                      <a:cubicBezTo>
                        <a:pt x="1074" y="732"/>
                        <a:pt x="1105" y="753"/>
                        <a:pt x="1149" y="745"/>
                      </a:cubicBezTo>
                      <a:cubicBezTo>
                        <a:pt x="1149" y="745"/>
                        <a:pt x="1154" y="821"/>
                        <a:pt x="1255" y="817"/>
                      </a:cubicBezTo>
                      <a:cubicBezTo>
                        <a:pt x="1255" y="817"/>
                        <a:pt x="1281" y="893"/>
                        <a:pt x="1305" y="906"/>
                      </a:cubicBezTo>
                      <a:cubicBezTo>
                        <a:pt x="1328" y="918"/>
                        <a:pt x="1311" y="902"/>
                        <a:pt x="1330" y="925"/>
                      </a:cubicBezTo>
                      <a:cubicBezTo>
                        <a:pt x="1349" y="947"/>
                        <a:pt x="1352" y="961"/>
                        <a:pt x="1393" y="957"/>
                      </a:cubicBezTo>
                      <a:cubicBezTo>
                        <a:pt x="1410" y="955"/>
                        <a:pt x="1376" y="963"/>
                        <a:pt x="1426" y="979"/>
                      </a:cubicBezTo>
                      <a:cubicBezTo>
                        <a:pt x="1426" y="979"/>
                        <a:pt x="1480" y="1023"/>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463" y="819"/>
                        <a:pt x="511" y="809"/>
                        <a:pt x="541" y="764"/>
                      </a:cubicBezTo>
                      <a:cubicBezTo>
                        <a:pt x="572" y="719"/>
                        <a:pt x="560" y="682"/>
                        <a:pt x="553" y="666"/>
                      </a:cubicBezTo>
                      <a:cubicBezTo>
                        <a:pt x="546" y="650"/>
                        <a:pt x="522" y="636"/>
                        <a:pt x="468" y="620"/>
                      </a:cubicBezTo>
                      <a:cubicBezTo>
                        <a:pt x="413" y="604"/>
                        <a:pt x="343" y="575"/>
                        <a:pt x="364" y="499"/>
                      </a:cubicBezTo>
                      <a:cubicBezTo>
                        <a:pt x="384" y="424"/>
                        <a:pt x="514" y="379"/>
                        <a:pt x="651" y="384"/>
                      </a:cubicBezTo>
                      <a:cubicBezTo>
                        <a:pt x="787" y="389"/>
                        <a:pt x="937" y="416"/>
                        <a:pt x="1026" y="487"/>
                      </a:cubicBezTo>
                      <a:close/>
                    </a:path>
                  </a:pathLst>
                </a:custGeom>
                <a:gradFill>
                  <a:gsLst>
                    <a:gs pos="0">
                      <a:srgbClr val="E1A4A0"/>
                    </a:gs>
                    <a:gs pos="72000">
                      <a:schemeClr val="bg1"/>
                    </a:gs>
                    <a:gs pos="35000">
                      <a:srgbClr val="F0D2D0"/>
                    </a:gs>
                  </a:gsLst>
                  <a:lin ang="16200000" scaled="1"/>
                </a:gradFill>
                <a:ln w="3175">
                  <a:solidFill>
                    <a:schemeClr val="tx1"/>
                  </a:solidFill>
                </a:ln>
              </p:spPr>
              <p:txBody>
                <a:bodyPr vert="horz" wrap="square" lIns="91440" tIns="45720" rIns="91440" bIns="45720" numCol="1" anchor="t" anchorCtr="0" compatLnSpc="1">
                  <a:prstTxWarp prst="textNoShape">
                    <a:avLst/>
                  </a:prstTxWarp>
                </a:bodyPr>
                <a:lstStyle/>
                <a:p>
                  <a:endParaRPr lang="en-GB" sz="1600"/>
                </a:p>
              </p:txBody>
            </p:sp>
            <p:sp>
              <p:nvSpPr>
                <p:cNvPr id="505" name="Freeform 391">
                  <a:extLst>
                    <a:ext uri="{FF2B5EF4-FFF2-40B4-BE49-F238E27FC236}">
                      <a16:creationId xmlns:a16="http://schemas.microsoft.com/office/drawing/2014/main" id="{47807B51-3827-4DDF-BF92-07094DDABD0B}"/>
                    </a:ext>
                  </a:extLst>
                </p:cNvPr>
                <p:cNvSpPr>
                  <a:spLocks/>
                </p:cNvSpPr>
                <p:nvPr/>
              </p:nvSpPr>
              <p:spPr bwMode="auto">
                <a:xfrm>
                  <a:off x="4713663" y="3004222"/>
                  <a:ext cx="672876" cy="218983"/>
                </a:xfrm>
                <a:custGeom>
                  <a:avLst/>
                  <a:gdLst>
                    <a:gd name="T0" fmla="*/ 892 w 894"/>
                    <a:gd name="T1" fmla="*/ 156 h 291"/>
                    <a:gd name="T2" fmla="*/ 831 w 894"/>
                    <a:gd name="T3" fmla="*/ 109 h 291"/>
                    <a:gd name="T4" fmla="*/ 788 w 894"/>
                    <a:gd name="T5" fmla="*/ 98 h 291"/>
                    <a:gd name="T6" fmla="*/ 776 w 894"/>
                    <a:gd name="T7" fmla="*/ 79 h 291"/>
                    <a:gd name="T8" fmla="*/ 727 w 894"/>
                    <a:gd name="T9" fmla="*/ 68 h 291"/>
                    <a:gd name="T10" fmla="*/ 669 w 894"/>
                    <a:gd name="T11" fmla="*/ 39 h 291"/>
                    <a:gd name="T12" fmla="*/ 631 w 894"/>
                    <a:gd name="T13" fmla="*/ 50 h 291"/>
                    <a:gd name="T14" fmla="*/ 597 w 894"/>
                    <a:gd name="T15" fmla="*/ 31 h 291"/>
                    <a:gd name="T16" fmla="*/ 530 w 894"/>
                    <a:gd name="T17" fmla="*/ 13 h 291"/>
                    <a:gd name="T18" fmla="*/ 474 w 894"/>
                    <a:gd name="T19" fmla="*/ 31 h 291"/>
                    <a:gd name="T20" fmla="*/ 411 w 894"/>
                    <a:gd name="T21" fmla="*/ 2 h 291"/>
                    <a:gd name="T22" fmla="*/ 356 w 894"/>
                    <a:gd name="T23" fmla="*/ 5 h 291"/>
                    <a:gd name="T24" fmla="*/ 318 w 894"/>
                    <a:gd name="T25" fmla="*/ 5 h 291"/>
                    <a:gd name="T26" fmla="*/ 231 w 894"/>
                    <a:gd name="T27" fmla="*/ 18 h 291"/>
                    <a:gd name="T28" fmla="*/ 156 w 894"/>
                    <a:gd name="T29" fmla="*/ 18 h 291"/>
                    <a:gd name="T30" fmla="*/ 119 w 894"/>
                    <a:gd name="T31" fmla="*/ 39 h 291"/>
                    <a:gd name="T32" fmla="*/ 16 w 894"/>
                    <a:gd name="T33" fmla="*/ 56 h 291"/>
                    <a:gd name="T34" fmla="*/ 3 w 894"/>
                    <a:gd name="T35" fmla="*/ 84 h 291"/>
                    <a:gd name="T36" fmla="*/ 172 w 894"/>
                    <a:gd name="T37" fmla="*/ 147 h 291"/>
                    <a:gd name="T38" fmla="*/ 344 w 894"/>
                    <a:gd name="T39" fmla="*/ 192 h 291"/>
                    <a:gd name="T40" fmla="*/ 468 w 894"/>
                    <a:gd name="T41" fmla="*/ 280 h 291"/>
                    <a:gd name="T42" fmla="*/ 626 w 894"/>
                    <a:gd name="T43" fmla="*/ 283 h 291"/>
                    <a:gd name="T44" fmla="*/ 703 w 894"/>
                    <a:gd name="T45" fmla="*/ 270 h 291"/>
                    <a:gd name="T46" fmla="*/ 713 w 894"/>
                    <a:gd name="T47" fmla="*/ 241 h 291"/>
                    <a:gd name="T48" fmla="*/ 811 w 894"/>
                    <a:gd name="T49" fmla="*/ 252 h 291"/>
                    <a:gd name="T50" fmla="*/ 883 w 894"/>
                    <a:gd name="T51" fmla="*/ 180 h 291"/>
                    <a:gd name="T52" fmla="*/ 892 w 894"/>
                    <a:gd name="T53" fmla="*/ 15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94" h="291">
                      <a:moveTo>
                        <a:pt x="892" y="156"/>
                      </a:moveTo>
                      <a:cubicBezTo>
                        <a:pt x="879" y="149"/>
                        <a:pt x="848" y="122"/>
                        <a:pt x="831" y="109"/>
                      </a:cubicBezTo>
                      <a:cubicBezTo>
                        <a:pt x="814" y="96"/>
                        <a:pt x="795" y="96"/>
                        <a:pt x="788" y="98"/>
                      </a:cubicBezTo>
                      <a:cubicBezTo>
                        <a:pt x="781" y="100"/>
                        <a:pt x="781" y="82"/>
                        <a:pt x="776" y="79"/>
                      </a:cubicBezTo>
                      <a:cubicBezTo>
                        <a:pt x="771" y="76"/>
                        <a:pt x="735" y="71"/>
                        <a:pt x="727" y="68"/>
                      </a:cubicBezTo>
                      <a:cubicBezTo>
                        <a:pt x="718" y="64"/>
                        <a:pt x="706" y="42"/>
                        <a:pt x="669" y="39"/>
                      </a:cubicBezTo>
                      <a:cubicBezTo>
                        <a:pt x="631" y="35"/>
                        <a:pt x="633" y="48"/>
                        <a:pt x="631" y="50"/>
                      </a:cubicBezTo>
                      <a:cubicBezTo>
                        <a:pt x="629" y="52"/>
                        <a:pt x="621" y="37"/>
                        <a:pt x="597" y="31"/>
                      </a:cubicBezTo>
                      <a:cubicBezTo>
                        <a:pt x="573" y="24"/>
                        <a:pt x="540" y="18"/>
                        <a:pt x="530" y="13"/>
                      </a:cubicBezTo>
                      <a:cubicBezTo>
                        <a:pt x="520" y="8"/>
                        <a:pt x="481" y="26"/>
                        <a:pt x="474" y="31"/>
                      </a:cubicBezTo>
                      <a:cubicBezTo>
                        <a:pt x="467" y="35"/>
                        <a:pt x="443" y="3"/>
                        <a:pt x="411" y="2"/>
                      </a:cubicBezTo>
                      <a:cubicBezTo>
                        <a:pt x="378" y="0"/>
                        <a:pt x="363" y="3"/>
                        <a:pt x="356" y="5"/>
                      </a:cubicBezTo>
                      <a:cubicBezTo>
                        <a:pt x="349" y="7"/>
                        <a:pt x="329" y="10"/>
                        <a:pt x="318" y="5"/>
                      </a:cubicBezTo>
                      <a:cubicBezTo>
                        <a:pt x="308" y="0"/>
                        <a:pt x="236" y="13"/>
                        <a:pt x="231" y="18"/>
                      </a:cubicBezTo>
                      <a:cubicBezTo>
                        <a:pt x="226" y="23"/>
                        <a:pt x="194" y="5"/>
                        <a:pt x="156" y="18"/>
                      </a:cubicBezTo>
                      <a:cubicBezTo>
                        <a:pt x="119" y="31"/>
                        <a:pt x="127" y="32"/>
                        <a:pt x="119" y="39"/>
                      </a:cubicBezTo>
                      <a:cubicBezTo>
                        <a:pt x="110" y="45"/>
                        <a:pt x="59" y="42"/>
                        <a:pt x="16" y="56"/>
                      </a:cubicBezTo>
                      <a:cubicBezTo>
                        <a:pt x="16" y="56"/>
                        <a:pt x="0" y="74"/>
                        <a:pt x="3" y="84"/>
                      </a:cubicBezTo>
                      <a:cubicBezTo>
                        <a:pt x="6" y="95"/>
                        <a:pt x="12" y="151"/>
                        <a:pt x="172" y="147"/>
                      </a:cubicBezTo>
                      <a:cubicBezTo>
                        <a:pt x="332" y="143"/>
                        <a:pt x="331" y="176"/>
                        <a:pt x="344" y="192"/>
                      </a:cubicBezTo>
                      <a:cubicBezTo>
                        <a:pt x="358" y="208"/>
                        <a:pt x="352" y="283"/>
                        <a:pt x="468" y="280"/>
                      </a:cubicBezTo>
                      <a:cubicBezTo>
                        <a:pt x="584" y="278"/>
                        <a:pt x="595" y="291"/>
                        <a:pt x="626" y="283"/>
                      </a:cubicBezTo>
                      <a:cubicBezTo>
                        <a:pt x="656" y="275"/>
                        <a:pt x="690" y="287"/>
                        <a:pt x="703" y="270"/>
                      </a:cubicBezTo>
                      <a:cubicBezTo>
                        <a:pt x="716" y="252"/>
                        <a:pt x="713" y="241"/>
                        <a:pt x="713" y="241"/>
                      </a:cubicBezTo>
                      <a:cubicBezTo>
                        <a:pt x="713" y="241"/>
                        <a:pt x="764" y="256"/>
                        <a:pt x="811" y="252"/>
                      </a:cubicBezTo>
                      <a:cubicBezTo>
                        <a:pt x="858" y="248"/>
                        <a:pt x="894" y="196"/>
                        <a:pt x="883" y="180"/>
                      </a:cubicBezTo>
                      <a:cubicBezTo>
                        <a:pt x="872" y="164"/>
                        <a:pt x="892" y="156"/>
                        <a:pt x="892" y="156"/>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506" name="Freeform 392">
                  <a:extLst>
                    <a:ext uri="{FF2B5EF4-FFF2-40B4-BE49-F238E27FC236}">
                      <a16:creationId xmlns:a16="http://schemas.microsoft.com/office/drawing/2014/main" id="{BB11A3D6-6FA8-4F40-8BF7-800137946636}"/>
                    </a:ext>
                  </a:extLst>
                </p:cNvPr>
                <p:cNvSpPr>
                  <a:spLocks/>
                </p:cNvSpPr>
                <p:nvPr/>
              </p:nvSpPr>
              <p:spPr bwMode="auto">
                <a:xfrm>
                  <a:off x="5310094" y="3472448"/>
                  <a:ext cx="368688" cy="284280"/>
                </a:xfrm>
                <a:custGeom>
                  <a:avLst/>
                  <a:gdLst>
                    <a:gd name="T0" fmla="*/ 483 w 490"/>
                    <a:gd name="T1" fmla="*/ 69 h 378"/>
                    <a:gd name="T2" fmla="*/ 483 w 490"/>
                    <a:gd name="T3" fmla="*/ 35 h 378"/>
                    <a:gd name="T4" fmla="*/ 481 w 490"/>
                    <a:gd name="T5" fmla="*/ 0 h 378"/>
                    <a:gd name="T6" fmla="*/ 481 w 490"/>
                    <a:gd name="T7" fmla="*/ 23 h 378"/>
                    <a:gd name="T8" fmla="*/ 363 w 490"/>
                    <a:gd name="T9" fmla="*/ 65 h 378"/>
                    <a:gd name="T10" fmla="*/ 174 w 490"/>
                    <a:gd name="T11" fmla="*/ 97 h 378"/>
                    <a:gd name="T12" fmla="*/ 0 w 490"/>
                    <a:gd name="T13" fmla="*/ 122 h 378"/>
                    <a:gd name="T14" fmla="*/ 47 w 490"/>
                    <a:gd name="T15" fmla="*/ 184 h 378"/>
                    <a:gd name="T16" fmla="*/ 319 w 490"/>
                    <a:gd name="T17" fmla="*/ 237 h 378"/>
                    <a:gd name="T18" fmla="*/ 279 w 490"/>
                    <a:gd name="T19" fmla="*/ 328 h 378"/>
                    <a:gd name="T20" fmla="*/ 322 w 490"/>
                    <a:gd name="T21" fmla="*/ 375 h 378"/>
                    <a:gd name="T22" fmla="*/ 333 w 490"/>
                    <a:gd name="T23" fmla="*/ 376 h 378"/>
                    <a:gd name="T24" fmla="*/ 322 w 490"/>
                    <a:gd name="T25" fmla="*/ 375 h 378"/>
                    <a:gd name="T26" fmla="*/ 319 w 490"/>
                    <a:gd name="T27" fmla="*/ 375 h 378"/>
                    <a:gd name="T28" fmla="*/ 378 w 490"/>
                    <a:gd name="T29" fmla="*/ 358 h 378"/>
                    <a:gd name="T30" fmla="*/ 412 w 490"/>
                    <a:gd name="T31" fmla="*/ 257 h 378"/>
                    <a:gd name="T32" fmla="*/ 451 w 490"/>
                    <a:gd name="T33" fmla="*/ 214 h 378"/>
                    <a:gd name="T34" fmla="*/ 453 w 490"/>
                    <a:gd name="T35" fmla="*/ 157 h 378"/>
                    <a:gd name="T36" fmla="*/ 482 w 490"/>
                    <a:gd name="T37" fmla="*/ 109 h 378"/>
                    <a:gd name="T38" fmla="*/ 483 w 490"/>
                    <a:gd name="T39" fmla="*/ 69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0" h="378">
                      <a:moveTo>
                        <a:pt x="483" y="69"/>
                      </a:moveTo>
                      <a:cubicBezTo>
                        <a:pt x="478" y="50"/>
                        <a:pt x="478" y="53"/>
                        <a:pt x="483" y="35"/>
                      </a:cubicBezTo>
                      <a:cubicBezTo>
                        <a:pt x="483" y="35"/>
                        <a:pt x="490" y="19"/>
                        <a:pt x="481" y="0"/>
                      </a:cubicBezTo>
                      <a:cubicBezTo>
                        <a:pt x="481" y="0"/>
                        <a:pt x="486" y="16"/>
                        <a:pt x="481" y="23"/>
                      </a:cubicBezTo>
                      <a:cubicBezTo>
                        <a:pt x="481" y="23"/>
                        <a:pt x="462" y="79"/>
                        <a:pt x="363" y="65"/>
                      </a:cubicBezTo>
                      <a:cubicBezTo>
                        <a:pt x="265" y="52"/>
                        <a:pt x="325" y="59"/>
                        <a:pt x="174" y="97"/>
                      </a:cubicBezTo>
                      <a:cubicBezTo>
                        <a:pt x="23" y="136"/>
                        <a:pt x="0" y="122"/>
                        <a:pt x="0" y="122"/>
                      </a:cubicBezTo>
                      <a:cubicBezTo>
                        <a:pt x="0" y="122"/>
                        <a:pt x="3" y="165"/>
                        <a:pt x="47" y="184"/>
                      </a:cubicBezTo>
                      <a:cubicBezTo>
                        <a:pt x="47" y="184"/>
                        <a:pt x="330" y="67"/>
                        <a:pt x="319" y="237"/>
                      </a:cubicBezTo>
                      <a:cubicBezTo>
                        <a:pt x="315" y="292"/>
                        <a:pt x="275" y="271"/>
                        <a:pt x="279" y="328"/>
                      </a:cubicBezTo>
                      <a:cubicBezTo>
                        <a:pt x="282" y="364"/>
                        <a:pt x="307" y="373"/>
                        <a:pt x="322" y="375"/>
                      </a:cubicBezTo>
                      <a:cubicBezTo>
                        <a:pt x="333" y="376"/>
                        <a:pt x="333" y="376"/>
                        <a:pt x="333" y="376"/>
                      </a:cubicBezTo>
                      <a:cubicBezTo>
                        <a:pt x="333" y="376"/>
                        <a:pt x="328" y="376"/>
                        <a:pt x="322" y="375"/>
                      </a:cubicBezTo>
                      <a:cubicBezTo>
                        <a:pt x="319" y="375"/>
                        <a:pt x="319" y="375"/>
                        <a:pt x="319" y="375"/>
                      </a:cubicBezTo>
                      <a:cubicBezTo>
                        <a:pt x="337" y="378"/>
                        <a:pt x="358" y="376"/>
                        <a:pt x="378" y="358"/>
                      </a:cubicBezTo>
                      <a:cubicBezTo>
                        <a:pt x="424" y="316"/>
                        <a:pt x="422" y="287"/>
                        <a:pt x="412" y="257"/>
                      </a:cubicBezTo>
                      <a:cubicBezTo>
                        <a:pt x="412" y="257"/>
                        <a:pt x="432" y="249"/>
                        <a:pt x="451" y="214"/>
                      </a:cubicBezTo>
                      <a:cubicBezTo>
                        <a:pt x="451" y="214"/>
                        <a:pt x="466" y="195"/>
                        <a:pt x="453" y="157"/>
                      </a:cubicBezTo>
                      <a:cubicBezTo>
                        <a:pt x="451" y="153"/>
                        <a:pt x="477" y="149"/>
                        <a:pt x="482" y="109"/>
                      </a:cubicBezTo>
                      <a:cubicBezTo>
                        <a:pt x="487" y="69"/>
                        <a:pt x="489" y="88"/>
                        <a:pt x="483" y="69"/>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507" name="Freeform 393">
                  <a:extLst>
                    <a:ext uri="{FF2B5EF4-FFF2-40B4-BE49-F238E27FC236}">
                      <a16:creationId xmlns:a16="http://schemas.microsoft.com/office/drawing/2014/main" id="{421F47C6-443A-4AAB-A0DB-4D0B8CA60D4D}"/>
                    </a:ext>
                  </a:extLst>
                </p:cNvPr>
                <p:cNvSpPr>
                  <a:spLocks/>
                </p:cNvSpPr>
                <p:nvPr/>
              </p:nvSpPr>
              <p:spPr bwMode="auto">
                <a:xfrm>
                  <a:off x="5181889" y="3349021"/>
                  <a:ext cx="219780" cy="230132"/>
                </a:xfrm>
                <a:custGeom>
                  <a:avLst/>
                  <a:gdLst>
                    <a:gd name="T0" fmla="*/ 29 w 293"/>
                    <a:gd name="T1" fmla="*/ 66 h 306"/>
                    <a:gd name="T2" fmla="*/ 236 w 293"/>
                    <a:gd name="T3" fmla="*/ 126 h 306"/>
                    <a:gd name="T4" fmla="*/ 73 w 293"/>
                    <a:gd name="T5" fmla="*/ 260 h 306"/>
                    <a:gd name="T6" fmla="*/ 29 w 293"/>
                    <a:gd name="T7" fmla="*/ 66 h 306"/>
                  </a:gdLst>
                  <a:ahLst/>
                  <a:cxnLst>
                    <a:cxn ang="0">
                      <a:pos x="T0" y="T1"/>
                    </a:cxn>
                    <a:cxn ang="0">
                      <a:pos x="T2" y="T3"/>
                    </a:cxn>
                    <a:cxn ang="0">
                      <a:pos x="T4" y="T5"/>
                    </a:cxn>
                    <a:cxn ang="0">
                      <a:pos x="T6" y="T7"/>
                    </a:cxn>
                  </a:cxnLst>
                  <a:rect l="0" t="0" r="r" b="b"/>
                  <a:pathLst>
                    <a:path w="293" h="306">
                      <a:moveTo>
                        <a:pt x="29" y="66"/>
                      </a:moveTo>
                      <a:cubicBezTo>
                        <a:pt x="29" y="66"/>
                        <a:pt x="178" y="0"/>
                        <a:pt x="236" y="126"/>
                      </a:cubicBezTo>
                      <a:cubicBezTo>
                        <a:pt x="293" y="253"/>
                        <a:pt x="146" y="306"/>
                        <a:pt x="73" y="260"/>
                      </a:cubicBezTo>
                      <a:cubicBezTo>
                        <a:pt x="0" y="213"/>
                        <a:pt x="29" y="66"/>
                        <a:pt x="29" y="66"/>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508" name="Freeform 394">
                  <a:extLst>
                    <a:ext uri="{FF2B5EF4-FFF2-40B4-BE49-F238E27FC236}">
                      <a16:creationId xmlns:a16="http://schemas.microsoft.com/office/drawing/2014/main" id="{B82DB5A4-9FE7-4AAF-B37D-3A5427CCAF5A}"/>
                    </a:ext>
                  </a:extLst>
                </p:cNvPr>
                <p:cNvSpPr>
                  <a:spLocks/>
                </p:cNvSpPr>
                <p:nvPr/>
              </p:nvSpPr>
              <p:spPr bwMode="auto">
                <a:xfrm>
                  <a:off x="4446105" y="3004222"/>
                  <a:ext cx="1231880" cy="769228"/>
                </a:xfrm>
                <a:custGeom>
                  <a:avLst/>
                  <a:gdLst>
                    <a:gd name="T0" fmla="*/ 1134 w 1638"/>
                    <a:gd name="T1" fmla="*/ 638 h 1023"/>
                    <a:gd name="T2" fmla="*/ 1149 w 1638"/>
                    <a:gd name="T3" fmla="*/ 745 h 1023"/>
                    <a:gd name="T4" fmla="*/ 1255 w 1638"/>
                    <a:gd name="T5" fmla="*/ 817 h 1023"/>
                    <a:gd name="T6" fmla="*/ 1330 w 1638"/>
                    <a:gd name="T7" fmla="*/ 925 h 1023"/>
                    <a:gd name="T8" fmla="*/ 1426 w 1638"/>
                    <a:gd name="T9" fmla="*/ 979 h 1023"/>
                    <a:gd name="T10" fmla="*/ 1561 w 1638"/>
                    <a:gd name="T11" fmla="*/ 880 h 1023"/>
                    <a:gd name="T12" fmla="*/ 1602 w 1638"/>
                    <a:gd name="T13" fmla="*/ 780 h 1023"/>
                    <a:gd name="T14" fmla="*/ 1632 w 1638"/>
                    <a:gd name="T15" fmla="*/ 692 h 1023"/>
                    <a:gd name="T16" fmla="*/ 1624 w 1638"/>
                    <a:gd name="T17" fmla="*/ 609 h 1023"/>
                    <a:gd name="T18" fmla="*/ 1597 w 1638"/>
                    <a:gd name="T19" fmla="*/ 527 h 1023"/>
                    <a:gd name="T20" fmla="*/ 1556 w 1638"/>
                    <a:gd name="T21" fmla="*/ 469 h 1023"/>
                    <a:gd name="T22" fmla="*/ 1527 w 1638"/>
                    <a:gd name="T23" fmla="*/ 400 h 1023"/>
                    <a:gd name="T24" fmla="*/ 1469 w 1638"/>
                    <a:gd name="T25" fmla="*/ 349 h 1023"/>
                    <a:gd name="T26" fmla="*/ 1417 w 1638"/>
                    <a:gd name="T27" fmla="*/ 279 h 1023"/>
                    <a:gd name="T28" fmla="*/ 1310 w 1638"/>
                    <a:gd name="T29" fmla="*/ 185 h 1023"/>
                    <a:gd name="T30" fmla="*/ 1187 w 1638"/>
                    <a:gd name="T31" fmla="*/ 109 h 1023"/>
                    <a:gd name="T32" fmla="*/ 1132 w 1638"/>
                    <a:gd name="T33" fmla="*/ 79 h 1023"/>
                    <a:gd name="T34" fmla="*/ 1025 w 1638"/>
                    <a:gd name="T35" fmla="*/ 39 h 1023"/>
                    <a:gd name="T36" fmla="*/ 953 w 1638"/>
                    <a:gd name="T37" fmla="*/ 31 h 1023"/>
                    <a:gd name="T38" fmla="*/ 830 w 1638"/>
                    <a:gd name="T39" fmla="*/ 31 h 1023"/>
                    <a:gd name="T40" fmla="*/ 712 w 1638"/>
                    <a:gd name="T41" fmla="*/ 5 h 1023"/>
                    <a:gd name="T42" fmla="*/ 587 w 1638"/>
                    <a:gd name="T43" fmla="*/ 18 h 1023"/>
                    <a:gd name="T44" fmla="*/ 475 w 1638"/>
                    <a:gd name="T45" fmla="*/ 39 h 1023"/>
                    <a:gd name="T46" fmla="*/ 321 w 1638"/>
                    <a:gd name="T47" fmla="*/ 82 h 1023"/>
                    <a:gd name="T48" fmla="*/ 225 w 1638"/>
                    <a:gd name="T49" fmla="*/ 132 h 1023"/>
                    <a:gd name="T50" fmla="*/ 164 w 1638"/>
                    <a:gd name="T51" fmla="*/ 180 h 1023"/>
                    <a:gd name="T52" fmla="*/ 67 w 1638"/>
                    <a:gd name="T53" fmla="*/ 300 h 1023"/>
                    <a:gd name="T54" fmla="*/ 34 w 1638"/>
                    <a:gd name="T55" fmla="*/ 377 h 1023"/>
                    <a:gd name="T56" fmla="*/ 5 w 1638"/>
                    <a:gd name="T57" fmla="*/ 472 h 1023"/>
                    <a:gd name="T58" fmla="*/ 19 w 1638"/>
                    <a:gd name="T59" fmla="*/ 617 h 1023"/>
                    <a:gd name="T60" fmla="*/ 89 w 1638"/>
                    <a:gd name="T61" fmla="*/ 729 h 1023"/>
                    <a:gd name="T62" fmla="*/ 198 w 1638"/>
                    <a:gd name="T63" fmla="*/ 808 h 1023"/>
                    <a:gd name="T64" fmla="*/ 541 w 1638"/>
                    <a:gd name="T65" fmla="*/ 764 h 1023"/>
                    <a:gd name="T66" fmla="*/ 468 w 1638"/>
                    <a:gd name="T67" fmla="*/ 620 h 1023"/>
                    <a:gd name="T68" fmla="*/ 651 w 1638"/>
                    <a:gd name="T69" fmla="*/ 384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8" h="1023">
                      <a:moveTo>
                        <a:pt x="1026" y="487"/>
                      </a:moveTo>
                      <a:cubicBezTo>
                        <a:pt x="1026" y="487"/>
                        <a:pt x="1134" y="568"/>
                        <a:pt x="1134" y="638"/>
                      </a:cubicBezTo>
                      <a:cubicBezTo>
                        <a:pt x="1134" y="707"/>
                        <a:pt x="1094" y="726"/>
                        <a:pt x="1079" y="731"/>
                      </a:cubicBezTo>
                      <a:cubicBezTo>
                        <a:pt x="1074" y="732"/>
                        <a:pt x="1105" y="753"/>
                        <a:pt x="1149" y="745"/>
                      </a:cubicBezTo>
                      <a:cubicBezTo>
                        <a:pt x="1149" y="745"/>
                        <a:pt x="1152" y="788"/>
                        <a:pt x="1196" y="807"/>
                      </a:cubicBezTo>
                      <a:cubicBezTo>
                        <a:pt x="1211" y="814"/>
                        <a:pt x="1230" y="818"/>
                        <a:pt x="1255" y="817"/>
                      </a:cubicBezTo>
                      <a:cubicBezTo>
                        <a:pt x="1255" y="817"/>
                        <a:pt x="1281" y="893"/>
                        <a:pt x="1305" y="906"/>
                      </a:cubicBezTo>
                      <a:cubicBezTo>
                        <a:pt x="1328" y="918"/>
                        <a:pt x="1311" y="902"/>
                        <a:pt x="1330" y="925"/>
                      </a:cubicBezTo>
                      <a:cubicBezTo>
                        <a:pt x="1349" y="947"/>
                        <a:pt x="1352" y="961"/>
                        <a:pt x="1393" y="957"/>
                      </a:cubicBezTo>
                      <a:cubicBezTo>
                        <a:pt x="1410" y="955"/>
                        <a:pt x="1376" y="963"/>
                        <a:pt x="1426" y="979"/>
                      </a:cubicBezTo>
                      <a:cubicBezTo>
                        <a:pt x="1426" y="979"/>
                        <a:pt x="1480" y="1023"/>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463" y="819"/>
                        <a:pt x="511" y="809"/>
                        <a:pt x="541" y="764"/>
                      </a:cubicBezTo>
                      <a:cubicBezTo>
                        <a:pt x="572" y="719"/>
                        <a:pt x="560" y="682"/>
                        <a:pt x="553" y="666"/>
                      </a:cubicBezTo>
                      <a:cubicBezTo>
                        <a:pt x="546" y="650"/>
                        <a:pt x="522" y="636"/>
                        <a:pt x="468" y="620"/>
                      </a:cubicBezTo>
                      <a:cubicBezTo>
                        <a:pt x="413" y="604"/>
                        <a:pt x="343" y="575"/>
                        <a:pt x="364" y="499"/>
                      </a:cubicBezTo>
                      <a:cubicBezTo>
                        <a:pt x="384" y="424"/>
                        <a:pt x="514" y="379"/>
                        <a:pt x="651" y="384"/>
                      </a:cubicBezTo>
                      <a:cubicBezTo>
                        <a:pt x="787" y="389"/>
                        <a:pt x="937" y="416"/>
                        <a:pt x="1026" y="487"/>
                      </a:cubicBezTo>
                      <a:close/>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09" name="Freeform 395">
                  <a:extLst>
                    <a:ext uri="{FF2B5EF4-FFF2-40B4-BE49-F238E27FC236}">
                      <a16:creationId xmlns:a16="http://schemas.microsoft.com/office/drawing/2014/main" id="{194A087B-0BC9-4C81-A054-DA829597F20C}"/>
                    </a:ext>
                  </a:extLst>
                </p:cNvPr>
                <p:cNvSpPr>
                  <a:spLocks/>
                </p:cNvSpPr>
                <p:nvPr/>
              </p:nvSpPr>
              <p:spPr bwMode="auto">
                <a:xfrm>
                  <a:off x="5306908" y="3145168"/>
                  <a:ext cx="75649" cy="50963"/>
                </a:xfrm>
                <a:custGeom>
                  <a:avLst/>
                  <a:gdLst>
                    <a:gd name="T0" fmla="*/ 97 w 101"/>
                    <a:gd name="T1" fmla="*/ 0 h 68"/>
                    <a:gd name="T2" fmla="*/ 79 w 101"/>
                    <a:gd name="T3" fmla="*/ 35 h 68"/>
                    <a:gd name="T4" fmla="*/ 53 w 101"/>
                    <a:gd name="T5" fmla="*/ 59 h 68"/>
                    <a:gd name="T6" fmla="*/ 0 w 101"/>
                    <a:gd name="T7" fmla="*/ 65 h 68"/>
                  </a:gdLst>
                  <a:ahLst/>
                  <a:cxnLst>
                    <a:cxn ang="0">
                      <a:pos x="T0" y="T1"/>
                    </a:cxn>
                    <a:cxn ang="0">
                      <a:pos x="T2" y="T3"/>
                    </a:cxn>
                    <a:cxn ang="0">
                      <a:pos x="T4" y="T5"/>
                    </a:cxn>
                    <a:cxn ang="0">
                      <a:pos x="T6" y="T7"/>
                    </a:cxn>
                  </a:cxnLst>
                  <a:rect l="0" t="0" r="r" b="b"/>
                  <a:pathLst>
                    <a:path w="101" h="68">
                      <a:moveTo>
                        <a:pt x="97" y="0"/>
                      </a:moveTo>
                      <a:cubicBezTo>
                        <a:pt x="97" y="0"/>
                        <a:pt x="101" y="16"/>
                        <a:pt x="79" y="35"/>
                      </a:cubicBezTo>
                      <a:cubicBezTo>
                        <a:pt x="58" y="53"/>
                        <a:pt x="53" y="59"/>
                        <a:pt x="53" y="59"/>
                      </a:cubicBezTo>
                      <a:cubicBezTo>
                        <a:pt x="53" y="59"/>
                        <a:pt x="54" y="68"/>
                        <a:pt x="0" y="6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10" name="Freeform 396">
                  <a:extLst>
                    <a:ext uri="{FF2B5EF4-FFF2-40B4-BE49-F238E27FC236}">
                      <a16:creationId xmlns:a16="http://schemas.microsoft.com/office/drawing/2014/main" id="{E26CC7A8-914A-439C-93DE-6D15C8AA3D8D}"/>
                    </a:ext>
                  </a:extLst>
                </p:cNvPr>
                <p:cNvSpPr>
                  <a:spLocks/>
                </p:cNvSpPr>
                <p:nvPr/>
              </p:nvSpPr>
              <p:spPr bwMode="auto">
                <a:xfrm>
                  <a:off x="5337964" y="3175427"/>
                  <a:ext cx="57334" cy="39815"/>
                </a:xfrm>
                <a:custGeom>
                  <a:avLst/>
                  <a:gdLst>
                    <a:gd name="T0" fmla="*/ 76 w 76"/>
                    <a:gd name="T1" fmla="*/ 2 h 53"/>
                    <a:gd name="T2" fmla="*/ 32 w 76"/>
                    <a:gd name="T3" fmla="*/ 1 h 53"/>
                    <a:gd name="T4" fmla="*/ 22 w 76"/>
                    <a:gd name="T5" fmla="*/ 7 h 53"/>
                    <a:gd name="T6" fmla="*/ 9 w 76"/>
                    <a:gd name="T7" fmla="*/ 53 h 53"/>
                  </a:gdLst>
                  <a:ahLst/>
                  <a:cxnLst>
                    <a:cxn ang="0">
                      <a:pos x="T0" y="T1"/>
                    </a:cxn>
                    <a:cxn ang="0">
                      <a:pos x="T2" y="T3"/>
                    </a:cxn>
                    <a:cxn ang="0">
                      <a:pos x="T4" y="T5"/>
                    </a:cxn>
                    <a:cxn ang="0">
                      <a:pos x="T6" y="T7"/>
                    </a:cxn>
                  </a:cxnLst>
                  <a:rect l="0" t="0" r="r" b="b"/>
                  <a:pathLst>
                    <a:path w="76" h="53">
                      <a:moveTo>
                        <a:pt x="76" y="2"/>
                      </a:moveTo>
                      <a:cubicBezTo>
                        <a:pt x="76" y="2"/>
                        <a:pt x="40" y="0"/>
                        <a:pt x="32" y="1"/>
                      </a:cubicBezTo>
                      <a:cubicBezTo>
                        <a:pt x="25" y="3"/>
                        <a:pt x="25" y="5"/>
                        <a:pt x="22" y="7"/>
                      </a:cubicBezTo>
                      <a:cubicBezTo>
                        <a:pt x="19" y="9"/>
                        <a:pt x="0" y="19"/>
                        <a:pt x="9" y="5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11" name="Freeform 397">
                  <a:extLst>
                    <a:ext uri="{FF2B5EF4-FFF2-40B4-BE49-F238E27FC236}">
                      <a16:creationId xmlns:a16="http://schemas.microsoft.com/office/drawing/2014/main" id="{383BFCAF-B4CE-482C-8E0F-797A97591F68}"/>
                    </a:ext>
                  </a:extLst>
                </p:cNvPr>
                <p:cNvSpPr>
                  <a:spLocks/>
                </p:cNvSpPr>
                <p:nvPr/>
              </p:nvSpPr>
              <p:spPr bwMode="auto">
                <a:xfrm>
                  <a:off x="5601540" y="3537745"/>
                  <a:ext cx="52556" cy="60519"/>
                </a:xfrm>
                <a:custGeom>
                  <a:avLst/>
                  <a:gdLst>
                    <a:gd name="T0" fmla="*/ 70 w 70"/>
                    <a:gd name="T1" fmla="*/ 69 h 81"/>
                    <a:gd name="T2" fmla="*/ 35 w 70"/>
                    <a:gd name="T3" fmla="*/ 58 h 81"/>
                    <a:gd name="T4" fmla="*/ 24 w 70"/>
                    <a:gd name="T5" fmla="*/ 0 h 81"/>
                  </a:gdLst>
                  <a:ahLst/>
                  <a:cxnLst>
                    <a:cxn ang="0">
                      <a:pos x="T0" y="T1"/>
                    </a:cxn>
                    <a:cxn ang="0">
                      <a:pos x="T2" y="T3"/>
                    </a:cxn>
                    <a:cxn ang="0">
                      <a:pos x="T4" y="T5"/>
                    </a:cxn>
                  </a:cxnLst>
                  <a:rect l="0" t="0" r="r" b="b"/>
                  <a:pathLst>
                    <a:path w="70" h="81">
                      <a:moveTo>
                        <a:pt x="70" y="69"/>
                      </a:moveTo>
                      <a:cubicBezTo>
                        <a:pt x="70" y="69"/>
                        <a:pt x="57" y="81"/>
                        <a:pt x="35" y="58"/>
                      </a:cubicBezTo>
                      <a:cubicBezTo>
                        <a:pt x="14" y="36"/>
                        <a:pt x="0" y="20"/>
                        <a:pt x="24"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12" name="Freeform 398">
                  <a:extLst>
                    <a:ext uri="{FF2B5EF4-FFF2-40B4-BE49-F238E27FC236}">
                      <a16:creationId xmlns:a16="http://schemas.microsoft.com/office/drawing/2014/main" id="{D0B4AB9B-1C8D-476C-863E-568207CABECA}"/>
                    </a:ext>
                  </a:extLst>
                </p:cNvPr>
                <p:cNvSpPr>
                  <a:spLocks/>
                </p:cNvSpPr>
                <p:nvPr/>
              </p:nvSpPr>
              <p:spPr bwMode="auto">
                <a:xfrm>
                  <a:off x="5580837" y="3546504"/>
                  <a:ext cx="33445" cy="17519"/>
                </a:xfrm>
                <a:custGeom>
                  <a:avLst/>
                  <a:gdLst>
                    <a:gd name="T0" fmla="*/ 0 w 44"/>
                    <a:gd name="T1" fmla="*/ 6 h 23"/>
                    <a:gd name="T2" fmla="*/ 44 w 44"/>
                    <a:gd name="T3" fmla="*/ 23 h 23"/>
                  </a:gdLst>
                  <a:ahLst/>
                  <a:cxnLst>
                    <a:cxn ang="0">
                      <a:pos x="T0" y="T1"/>
                    </a:cxn>
                    <a:cxn ang="0">
                      <a:pos x="T2" y="T3"/>
                    </a:cxn>
                  </a:cxnLst>
                  <a:rect l="0" t="0" r="r" b="b"/>
                  <a:pathLst>
                    <a:path w="44" h="23">
                      <a:moveTo>
                        <a:pt x="0" y="6"/>
                      </a:moveTo>
                      <a:cubicBezTo>
                        <a:pt x="0" y="6"/>
                        <a:pt x="27" y="0"/>
                        <a:pt x="44" y="2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13" name="Freeform 399">
                  <a:extLst>
                    <a:ext uri="{FF2B5EF4-FFF2-40B4-BE49-F238E27FC236}">
                      <a16:creationId xmlns:a16="http://schemas.microsoft.com/office/drawing/2014/main" id="{949F0B74-51E6-4570-9188-E0DEBA152B13}"/>
                    </a:ext>
                  </a:extLst>
                </p:cNvPr>
                <p:cNvSpPr>
                  <a:spLocks/>
                </p:cNvSpPr>
                <p:nvPr/>
              </p:nvSpPr>
              <p:spPr bwMode="auto">
                <a:xfrm>
                  <a:off x="5482891" y="3536949"/>
                  <a:ext cx="74056" cy="134575"/>
                </a:xfrm>
                <a:custGeom>
                  <a:avLst/>
                  <a:gdLst>
                    <a:gd name="T0" fmla="*/ 0 w 98"/>
                    <a:gd name="T1" fmla="*/ 0 h 179"/>
                    <a:gd name="T2" fmla="*/ 82 w 98"/>
                    <a:gd name="T3" fmla="*/ 98 h 179"/>
                    <a:gd name="T4" fmla="*/ 52 w 98"/>
                    <a:gd name="T5" fmla="*/ 179 h 179"/>
                  </a:gdLst>
                  <a:ahLst/>
                  <a:cxnLst>
                    <a:cxn ang="0">
                      <a:pos x="T0" y="T1"/>
                    </a:cxn>
                    <a:cxn ang="0">
                      <a:pos x="T2" y="T3"/>
                    </a:cxn>
                    <a:cxn ang="0">
                      <a:pos x="T4" y="T5"/>
                    </a:cxn>
                  </a:cxnLst>
                  <a:rect l="0" t="0" r="r" b="b"/>
                  <a:pathLst>
                    <a:path w="98" h="179">
                      <a:moveTo>
                        <a:pt x="0" y="0"/>
                      </a:moveTo>
                      <a:cubicBezTo>
                        <a:pt x="0" y="0"/>
                        <a:pt x="64" y="46"/>
                        <a:pt x="82" y="98"/>
                      </a:cubicBezTo>
                      <a:cubicBezTo>
                        <a:pt x="98" y="141"/>
                        <a:pt x="81" y="145"/>
                        <a:pt x="52" y="17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14" name="Freeform 400">
                  <a:extLst>
                    <a:ext uri="{FF2B5EF4-FFF2-40B4-BE49-F238E27FC236}">
                      <a16:creationId xmlns:a16="http://schemas.microsoft.com/office/drawing/2014/main" id="{1F51D3AF-DE11-4ABA-BAFA-A8D6426CC8C6}"/>
                    </a:ext>
                  </a:extLst>
                </p:cNvPr>
                <p:cNvSpPr>
                  <a:spLocks/>
                </p:cNvSpPr>
                <p:nvPr/>
              </p:nvSpPr>
              <p:spPr bwMode="auto">
                <a:xfrm>
                  <a:off x="5548984" y="3625338"/>
                  <a:ext cx="30260" cy="34241"/>
                </a:xfrm>
                <a:custGeom>
                  <a:avLst/>
                  <a:gdLst>
                    <a:gd name="T0" fmla="*/ 0 w 41"/>
                    <a:gd name="T1" fmla="*/ 0 h 45"/>
                    <a:gd name="T2" fmla="*/ 41 w 41"/>
                    <a:gd name="T3" fmla="*/ 45 h 45"/>
                  </a:gdLst>
                  <a:ahLst/>
                  <a:cxnLst>
                    <a:cxn ang="0">
                      <a:pos x="T0" y="T1"/>
                    </a:cxn>
                    <a:cxn ang="0">
                      <a:pos x="T2" y="T3"/>
                    </a:cxn>
                  </a:cxnLst>
                  <a:rect l="0" t="0" r="r" b="b"/>
                  <a:pathLst>
                    <a:path w="41" h="45">
                      <a:moveTo>
                        <a:pt x="0" y="0"/>
                      </a:moveTo>
                      <a:cubicBezTo>
                        <a:pt x="0" y="0"/>
                        <a:pt x="0" y="40"/>
                        <a:pt x="41" y="4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15" name="Line 401">
                  <a:extLst>
                    <a:ext uri="{FF2B5EF4-FFF2-40B4-BE49-F238E27FC236}">
                      <a16:creationId xmlns:a16="http://schemas.microsoft.com/office/drawing/2014/main" id="{05CD0BEE-5313-4608-B3BC-0C3C35CE1B75}"/>
                    </a:ext>
                  </a:extLst>
                </p:cNvPr>
                <p:cNvSpPr>
                  <a:spLocks noChangeShapeType="1"/>
                </p:cNvSpPr>
                <p:nvPr/>
              </p:nvSpPr>
              <p:spPr bwMode="auto">
                <a:xfrm flipH="1" flipV="1">
                  <a:off x="5598355" y="3663560"/>
                  <a:ext cx="24686" cy="2389"/>
                </a:xfrm>
                <a:prstGeom prst="line">
                  <a:avLst/>
                </a:prstGeom>
                <a:noFill/>
                <a:ln w="3175"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16" name="Freeform 402">
                  <a:extLst>
                    <a:ext uri="{FF2B5EF4-FFF2-40B4-BE49-F238E27FC236}">
                      <a16:creationId xmlns:a16="http://schemas.microsoft.com/office/drawing/2014/main" id="{2FF78805-DE62-4576-94B8-AAD3C7F0F1F8}"/>
                    </a:ext>
                  </a:extLst>
                </p:cNvPr>
                <p:cNvSpPr>
                  <a:spLocks/>
                </p:cNvSpPr>
                <p:nvPr/>
              </p:nvSpPr>
              <p:spPr bwMode="auto">
                <a:xfrm>
                  <a:off x="5500410" y="3699394"/>
                  <a:ext cx="62908" cy="24686"/>
                </a:xfrm>
                <a:custGeom>
                  <a:avLst/>
                  <a:gdLst>
                    <a:gd name="T0" fmla="*/ 83 w 83"/>
                    <a:gd name="T1" fmla="*/ 18 h 33"/>
                    <a:gd name="T2" fmla="*/ 0 w 83"/>
                    <a:gd name="T3" fmla="*/ 33 h 33"/>
                  </a:gdLst>
                  <a:ahLst/>
                  <a:cxnLst>
                    <a:cxn ang="0">
                      <a:pos x="T0" y="T1"/>
                    </a:cxn>
                    <a:cxn ang="0">
                      <a:pos x="T2" y="T3"/>
                    </a:cxn>
                  </a:cxnLst>
                  <a:rect l="0" t="0" r="r" b="b"/>
                  <a:pathLst>
                    <a:path w="83" h="33">
                      <a:moveTo>
                        <a:pt x="83" y="18"/>
                      </a:moveTo>
                      <a:cubicBezTo>
                        <a:pt x="83" y="18"/>
                        <a:pt x="53" y="0"/>
                        <a:pt x="0" y="3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17" name="Freeform 403">
                  <a:extLst>
                    <a:ext uri="{FF2B5EF4-FFF2-40B4-BE49-F238E27FC236}">
                      <a16:creationId xmlns:a16="http://schemas.microsoft.com/office/drawing/2014/main" id="{C8FC79E0-6F81-4802-94EC-80D709D5CB97}"/>
                    </a:ext>
                  </a:extLst>
                </p:cNvPr>
                <p:cNvSpPr>
                  <a:spLocks/>
                </p:cNvSpPr>
                <p:nvPr/>
              </p:nvSpPr>
              <p:spPr bwMode="auto">
                <a:xfrm>
                  <a:off x="5455817" y="3589505"/>
                  <a:ext cx="39815" cy="48575"/>
                </a:xfrm>
                <a:custGeom>
                  <a:avLst/>
                  <a:gdLst>
                    <a:gd name="T0" fmla="*/ 52 w 52"/>
                    <a:gd name="T1" fmla="*/ 41 h 65"/>
                    <a:gd name="T2" fmla="*/ 0 w 52"/>
                    <a:gd name="T3" fmla="*/ 65 h 65"/>
                    <a:gd name="T4" fmla="*/ 5 w 52"/>
                    <a:gd name="T5" fmla="*/ 0 h 65"/>
                  </a:gdLst>
                  <a:ahLst/>
                  <a:cxnLst>
                    <a:cxn ang="0">
                      <a:pos x="T0" y="T1"/>
                    </a:cxn>
                    <a:cxn ang="0">
                      <a:pos x="T2" y="T3"/>
                    </a:cxn>
                    <a:cxn ang="0">
                      <a:pos x="T4" y="T5"/>
                    </a:cxn>
                  </a:cxnLst>
                  <a:rect l="0" t="0" r="r" b="b"/>
                  <a:pathLst>
                    <a:path w="52" h="65">
                      <a:moveTo>
                        <a:pt x="52" y="41"/>
                      </a:moveTo>
                      <a:cubicBezTo>
                        <a:pt x="52" y="41"/>
                        <a:pt x="23" y="31"/>
                        <a:pt x="0" y="65"/>
                      </a:cubicBezTo>
                      <a:cubicBezTo>
                        <a:pt x="0" y="65"/>
                        <a:pt x="43" y="24"/>
                        <a:pt x="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18" name="Freeform 404">
                  <a:extLst>
                    <a:ext uri="{FF2B5EF4-FFF2-40B4-BE49-F238E27FC236}">
                      <a16:creationId xmlns:a16="http://schemas.microsoft.com/office/drawing/2014/main" id="{55477D42-C24F-4243-910C-1F0AAE625E37}"/>
                    </a:ext>
                  </a:extLst>
                </p:cNvPr>
                <p:cNvSpPr>
                  <a:spLocks/>
                </p:cNvSpPr>
                <p:nvPr/>
              </p:nvSpPr>
              <p:spPr bwMode="auto">
                <a:xfrm>
                  <a:off x="5389724" y="3583930"/>
                  <a:ext cx="46982" cy="35037"/>
                </a:xfrm>
                <a:custGeom>
                  <a:avLst/>
                  <a:gdLst>
                    <a:gd name="T0" fmla="*/ 62 w 62"/>
                    <a:gd name="T1" fmla="*/ 0 h 46"/>
                    <a:gd name="T2" fmla="*/ 0 w 62"/>
                    <a:gd name="T3" fmla="*/ 46 h 46"/>
                  </a:gdLst>
                  <a:ahLst/>
                  <a:cxnLst>
                    <a:cxn ang="0">
                      <a:pos x="T0" y="T1"/>
                    </a:cxn>
                    <a:cxn ang="0">
                      <a:pos x="T2" y="T3"/>
                    </a:cxn>
                  </a:cxnLst>
                  <a:rect l="0" t="0" r="r" b="b"/>
                  <a:pathLst>
                    <a:path w="62" h="46">
                      <a:moveTo>
                        <a:pt x="62" y="0"/>
                      </a:moveTo>
                      <a:cubicBezTo>
                        <a:pt x="62" y="0"/>
                        <a:pt x="10" y="31"/>
                        <a:pt x="0" y="4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19" name="Freeform 405">
                  <a:extLst>
                    <a:ext uri="{FF2B5EF4-FFF2-40B4-BE49-F238E27FC236}">
                      <a16:creationId xmlns:a16="http://schemas.microsoft.com/office/drawing/2014/main" id="{CC2F377F-7618-4422-A07B-76873F6C485D}"/>
                    </a:ext>
                  </a:extLst>
                </p:cNvPr>
                <p:cNvSpPr>
                  <a:spLocks/>
                </p:cNvSpPr>
                <p:nvPr/>
              </p:nvSpPr>
              <p:spPr bwMode="auto">
                <a:xfrm>
                  <a:off x="5548984" y="3496337"/>
                  <a:ext cx="96353" cy="23093"/>
                </a:xfrm>
                <a:custGeom>
                  <a:avLst/>
                  <a:gdLst>
                    <a:gd name="T0" fmla="*/ 129 w 129"/>
                    <a:gd name="T1" fmla="*/ 26 h 31"/>
                    <a:gd name="T2" fmla="*/ 90 w 129"/>
                    <a:gd name="T3" fmla="*/ 16 h 31"/>
                    <a:gd name="T4" fmla="*/ 0 w 129"/>
                    <a:gd name="T5" fmla="*/ 2 h 31"/>
                  </a:gdLst>
                  <a:ahLst/>
                  <a:cxnLst>
                    <a:cxn ang="0">
                      <a:pos x="T0" y="T1"/>
                    </a:cxn>
                    <a:cxn ang="0">
                      <a:pos x="T2" y="T3"/>
                    </a:cxn>
                    <a:cxn ang="0">
                      <a:pos x="T4" y="T5"/>
                    </a:cxn>
                  </a:cxnLst>
                  <a:rect l="0" t="0" r="r" b="b"/>
                  <a:pathLst>
                    <a:path w="129" h="31">
                      <a:moveTo>
                        <a:pt x="129" y="26"/>
                      </a:moveTo>
                      <a:cubicBezTo>
                        <a:pt x="129" y="26"/>
                        <a:pt x="120" y="31"/>
                        <a:pt x="90" y="16"/>
                      </a:cubicBezTo>
                      <a:cubicBezTo>
                        <a:pt x="60" y="1"/>
                        <a:pt x="23" y="0"/>
                        <a:pt x="0" y="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20" name="Freeform 406">
                  <a:extLst>
                    <a:ext uri="{FF2B5EF4-FFF2-40B4-BE49-F238E27FC236}">
                      <a16:creationId xmlns:a16="http://schemas.microsoft.com/office/drawing/2014/main" id="{429DDA9A-FC11-4DE6-8009-325BF8CA1002}"/>
                    </a:ext>
                  </a:extLst>
                </p:cNvPr>
                <p:cNvSpPr>
                  <a:spLocks/>
                </p:cNvSpPr>
                <p:nvPr/>
              </p:nvSpPr>
              <p:spPr bwMode="auto">
                <a:xfrm>
                  <a:off x="5313279" y="3371318"/>
                  <a:ext cx="260391" cy="193502"/>
                </a:xfrm>
                <a:custGeom>
                  <a:avLst/>
                  <a:gdLst>
                    <a:gd name="T0" fmla="*/ 346 w 346"/>
                    <a:gd name="T1" fmla="*/ 0 h 257"/>
                    <a:gd name="T2" fmla="*/ 309 w 346"/>
                    <a:gd name="T3" fmla="*/ 17 h 257"/>
                    <a:gd name="T4" fmla="*/ 228 w 346"/>
                    <a:gd name="T5" fmla="*/ 59 h 257"/>
                    <a:gd name="T6" fmla="*/ 153 w 346"/>
                    <a:gd name="T7" fmla="*/ 137 h 257"/>
                    <a:gd name="T8" fmla="*/ 84 w 346"/>
                    <a:gd name="T9" fmla="*/ 195 h 257"/>
                    <a:gd name="T10" fmla="*/ 0 w 346"/>
                    <a:gd name="T11" fmla="*/ 257 h 257"/>
                  </a:gdLst>
                  <a:ahLst/>
                  <a:cxnLst>
                    <a:cxn ang="0">
                      <a:pos x="T0" y="T1"/>
                    </a:cxn>
                    <a:cxn ang="0">
                      <a:pos x="T2" y="T3"/>
                    </a:cxn>
                    <a:cxn ang="0">
                      <a:pos x="T4" y="T5"/>
                    </a:cxn>
                    <a:cxn ang="0">
                      <a:pos x="T6" y="T7"/>
                    </a:cxn>
                    <a:cxn ang="0">
                      <a:pos x="T8" y="T9"/>
                    </a:cxn>
                    <a:cxn ang="0">
                      <a:pos x="T10" y="T11"/>
                    </a:cxn>
                  </a:cxnLst>
                  <a:rect l="0" t="0" r="r" b="b"/>
                  <a:pathLst>
                    <a:path w="346" h="257">
                      <a:moveTo>
                        <a:pt x="346" y="0"/>
                      </a:moveTo>
                      <a:cubicBezTo>
                        <a:pt x="346" y="0"/>
                        <a:pt x="338" y="14"/>
                        <a:pt x="309" y="17"/>
                      </a:cubicBezTo>
                      <a:cubicBezTo>
                        <a:pt x="280" y="21"/>
                        <a:pt x="248" y="37"/>
                        <a:pt x="228" y="59"/>
                      </a:cubicBezTo>
                      <a:cubicBezTo>
                        <a:pt x="208" y="82"/>
                        <a:pt x="179" y="126"/>
                        <a:pt x="153" y="137"/>
                      </a:cubicBezTo>
                      <a:cubicBezTo>
                        <a:pt x="126" y="148"/>
                        <a:pt x="104" y="172"/>
                        <a:pt x="84" y="195"/>
                      </a:cubicBezTo>
                      <a:cubicBezTo>
                        <a:pt x="63" y="218"/>
                        <a:pt x="29" y="252"/>
                        <a:pt x="0" y="25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21" name="Freeform 407">
                  <a:extLst>
                    <a:ext uri="{FF2B5EF4-FFF2-40B4-BE49-F238E27FC236}">
                      <a16:creationId xmlns:a16="http://schemas.microsoft.com/office/drawing/2014/main" id="{D36A656F-8F4D-4E80-BF9A-0BB632816CE1}"/>
                    </a:ext>
                  </a:extLst>
                </p:cNvPr>
                <p:cNvSpPr>
                  <a:spLocks/>
                </p:cNvSpPr>
                <p:nvPr/>
              </p:nvSpPr>
              <p:spPr bwMode="auto">
                <a:xfrm>
                  <a:off x="5415206" y="3475633"/>
                  <a:ext cx="103519" cy="23093"/>
                </a:xfrm>
                <a:custGeom>
                  <a:avLst/>
                  <a:gdLst>
                    <a:gd name="T0" fmla="*/ 137 w 137"/>
                    <a:gd name="T1" fmla="*/ 25 h 31"/>
                    <a:gd name="T2" fmla="*/ 71 w 137"/>
                    <a:gd name="T3" fmla="*/ 16 h 31"/>
                    <a:gd name="T4" fmla="*/ 0 w 137"/>
                    <a:gd name="T5" fmla="*/ 8 h 31"/>
                  </a:gdLst>
                  <a:ahLst/>
                  <a:cxnLst>
                    <a:cxn ang="0">
                      <a:pos x="T0" y="T1"/>
                    </a:cxn>
                    <a:cxn ang="0">
                      <a:pos x="T2" y="T3"/>
                    </a:cxn>
                    <a:cxn ang="0">
                      <a:pos x="T4" y="T5"/>
                    </a:cxn>
                  </a:cxnLst>
                  <a:rect l="0" t="0" r="r" b="b"/>
                  <a:pathLst>
                    <a:path w="137" h="31">
                      <a:moveTo>
                        <a:pt x="137" y="25"/>
                      </a:moveTo>
                      <a:cubicBezTo>
                        <a:pt x="137" y="25"/>
                        <a:pt x="106" y="31"/>
                        <a:pt x="71" y="16"/>
                      </a:cubicBezTo>
                      <a:cubicBezTo>
                        <a:pt x="36" y="0"/>
                        <a:pt x="14" y="3"/>
                        <a:pt x="0" y="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22" name="Freeform 408">
                  <a:extLst>
                    <a:ext uri="{FF2B5EF4-FFF2-40B4-BE49-F238E27FC236}">
                      <a16:creationId xmlns:a16="http://schemas.microsoft.com/office/drawing/2014/main" id="{D4A87E2D-7BD3-4269-9B46-2AE3734A8627}"/>
                    </a:ext>
                  </a:extLst>
                </p:cNvPr>
                <p:cNvSpPr>
                  <a:spLocks/>
                </p:cNvSpPr>
                <p:nvPr/>
              </p:nvSpPr>
              <p:spPr bwMode="auto">
                <a:xfrm>
                  <a:off x="5548984" y="3384855"/>
                  <a:ext cx="27074" cy="11148"/>
                </a:xfrm>
                <a:custGeom>
                  <a:avLst/>
                  <a:gdLst>
                    <a:gd name="T0" fmla="*/ 36 w 36"/>
                    <a:gd name="T1" fmla="*/ 15 h 15"/>
                    <a:gd name="T2" fmla="*/ 0 w 36"/>
                    <a:gd name="T3" fmla="*/ 0 h 15"/>
                  </a:gdLst>
                  <a:ahLst/>
                  <a:cxnLst>
                    <a:cxn ang="0">
                      <a:pos x="T0" y="T1"/>
                    </a:cxn>
                    <a:cxn ang="0">
                      <a:pos x="T2" y="T3"/>
                    </a:cxn>
                  </a:cxnLst>
                  <a:rect l="0" t="0" r="r" b="b"/>
                  <a:pathLst>
                    <a:path w="36" h="15">
                      <a:moveTo>
                        <a:pt x="36" y="15"/>
                      </a:moveTo>
                      <a:cubicBezTo>
                        <a:pt x="36" y="15"/>
                        <a:pt x="20" y="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23" name="Freeform 409">
                  <a:extLst>
                    <a:ext uri="{FF2B5EF4-FFF2-40B4-BE49-F238E27FC236}">
                      <a16:creationId xmlns:a16="http://schemas.microsoft.com/office/drawing/2014/main" id="{3D247272-4E87-491B-B418-4D27DF251CF5}"/>
                    </a:ext>
                  </a:extLst>
                </p:cNvPr>
                <p:cNvSpPr>
                  <a:spLocks/>
                </p:cNvSpPr>
                <p:nvPr/>
              </p:nvSpPr>
              <p:spPr bwMode="auto">
                <a:xfrm>
                  <a:off x="5528281" y="3265409"/>
                  <a:ext cx="20704" cy="32649"/>
                </a:xfrm>
                <a:custGeom>
                  <a:avLst/>
                  <a:gdLst>
                    <a:gd name="T0" fmla="*/ 27 w 27"/>
                    <a:gd name="T1" fmla="*/ 0 h 44"/>
                    <a:gd name="T2" fmla="*/ 0 w 27"/>
                    <a:gd name="T3" fmla="*/ 44 h 44"/>
                  </a:gdLst>
                  <a:ahLst/>
                  <a:cxnLst>
                    <a:cxn ang="0">
                      <a:pos x="T0" y="T1"/>
                    </a:cxn>
                    <a:cxn ang="0">
                      <a:pos x="T2" y="T3"/>
                    </a:cxn>
                  </a:cxnLst>
                  <a:rect l="0" t="0" r="r" b="b"/>
                  <a:pathLst>
                    <a:path w="27" h="44">
                      <a:moveTo>
                        <a:pt x="27" y="0"/>
                      </a:moveTo>
                      <a:cubicBezTo>
                        <a:pt x="27" y="0"/>
                        <a:pt x="10" y="37"/>
                        <a:pt x="0" y="4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25" name="Freeform 410">
                  <a:extLst>
                    <a:ext uri="{FF2B5EF4-FFF2-40B4-BE49-F238E27FC236}">
                      <a16:creationId xmlns:a16="http://schemas.microsoft.com/office/drawing/2014/main" id="{FE387096-A738-42D8-994C-302B99401E0B}"/>
                    </a:ext>
                  </a:extLst>
                </p:cNvPr>
                <p:cNvSpPr>
                  <a:spLocks/>
                </p:cNvSpPr>
                <p:nvPr/>
              </p:nvSpPr>
              <p:spPr bwMode="auto">
                <a:xfrm>
                  <a:off x="5420779" y="3327521"/>
                  <a:ext cx="39815" cy="56538"/>
                </a:xfrm>
                <a:custGeom>
                  <a:avLst/>
                  <a:gdLst>
                    <a:gd name="T0" fmla="*/ 53 w 53"/>
                    <a:gd name="T1" fmla="*/ 16 h 75"/>
                    <a:gd name="T2" fmla="*/ 31 w 53"/>
                    <a:gd name="T3" fmla="*/ 75 h 75"/>
                    <a:gd name="T4" fmla="*/ 0 w 53"/>
                    <a:gd name="T5" fmla="*/ 0 h 75"/>
                  </a:gdLst>
                  <a:ahLst/>
                  <a:cxnLst>
                    <a:cxn ang="0">
                      <a:pos x="T0" y="T1"/>
                    </a:cxn>
                    <a:cxn ang="0">
                      <a:pos x="T2" y="T3"/>
                    </a:cxn>
                    <a:cxn ang="0">
                      <a:pos x="T4" y="T5"/>
                    </a:cxn>
                  </a:cxnLst>
                  <a:rect l="0" t="0" r="r" b="b"/>
                  <a:pathLst>
                    <a:path w="53" h="75">
                      <a:moveTo>
                        <a:pt x="53" y="16"/>
                      </a:moveTo>
                      <a:cubicBezTo>
                        <a:pt x="53" y="16"/>
                        <a:pt x="29" y="26"/>
                        <a:pt x="31" y="75"/>
                      </a:cubicBezTo>
                      <a:cubicBezTo>
                        <a:pt x="31" y="75"/>
                        <a:pt x="41" y="26"/>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26" name="Freeform 411">
                  <a:extLst>
                    <a:ext uri="{FF2B5EF4-FFF2-40B4-BE49-F238E27FC236}">
                      <a16:creationId xmlns:a16="http://schemas.microsoft.com/office/drawing/2014/main" id="{BF7D0DAA-0957-432F-B896-DF214C5FF41A}"/>
                    </a:ext>
                  </a:extLst>
                </p:cNvPr>
                <p:cNvSpPr>
                  <a:spLocks/>
                </p:cNvSpPr>
                <p:nvPr/>
              </p:nvSpPr>
              <p:spPr bwMode="auto">
                <a:xfrm>
                  <a:off x="5315667" y="3259039"/>
                  <a:ext cx="160057" cy="45389"/>
                </a:xfrm>
                <a:custGeom>
                  <a:avLst/>
                  <a:gdLst>
                    <a:gd name="T0" fmla="*/ 213 w 213"/>
                    <a:gd name="T1" fmla="*/ 0 h 60"/>
                    <a:gd name="T2" fmla="*/ 91 w 213"/>
                    <a:gd name="T3" fmla="*/ 4 h 60"/>
                    <a:gd name="T4" fmla="*/ 50 w 213"/>
                    <a:gd name="T5" fmla="*/ 33 h 60"/>
                    <a:gd name="T6" fmla="*/ 0 w 213"/>
                    <a:gd name="T7" fmla="*/ 32 h 60"/>
                  </a:gdLst>
                  <a:ahLst/>
                  <a:cxnLst>
                    <a:cxn ang="0">
                      <a:pos x="T0" y="T1"/>
                    </a:cxn>
                    <a:cxn ang="0">
                      <a:pos x="T2" y="T3"/>
                    </a:cxn>
                    <a:cxn ang="0">
                      <a:pos x="T4" y="T5"/>
                    </a:cxn>
                    <a:cxn ang="0">
                      <a:pos x="T6" y="T7"/>
                    </a:cxn>
                  </a:cxnLst>
                  <a:rect l="0" t="0" r="r" b="b"/>
                  <a:pathLst>
                    <a:path w="213" h="60">
                      <a:moveTo>
                        <a:pt x="213" y="0"/>
                      </a:moveTo>
                      <a:cubicBezTo>
                        <a:pt x="213" y="0"/>
                        <a:pt x="140" y="60"/>
                        <a:pt x="91" y="4"/>
                      </a:cubicBezTo>
                      <a:cubicBezTo>
                        <a:pt x="91" y="4"/>
                        <a:pt x="96" y="32"/>
                        <a:pt x="50" y="33"/>
                      </a:cubicBezTo>
                      <a:cubicBezTo>
                        <a:pt x="4" y="34"/>
                        <a:pt x="21" y="36"/>
                        <a:pt x="0" y="3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27" name="Freeform 412">
                  <a:extLst>
                    <a:ext uri="{FF2B5EF4-FFF2-40B4-BE49-F238E27FC236}">
                      <a16:creationId xmlns:a16="http://schemas.microsoft.com/office/drawing/2014/main" id="{7307874F-1012-4822-95D8-C22216EA1778}"/>
                    </a:ext>
                  </a:extLst>
                </p:cNvPr>
                <p:cNvSpPr>
                  <a:spLocks/>
                </p:cNvSpPr>
                <p:nvPr/>
              </p:nvSpPr>
              <p:spPr bwMode="auto">
                <a:xfrm>
                  <a:off x="5311686" y="3280539"/>
                  <a:ext cx="50963" cy="134575"/>
                </a:xfrm>
                <a:custGeom>
                  <a:avLst/>
                  <a:gdLst>
                    <a:gd name="T0" fmla="*/ 68 w 68"/>
                    <a:gd name="T1" fmla="*/ 179 h 179"/>
                    <a:gd name="T2" fmla="*/ 12 w 68"/>
                    <a:gd name="T3" fmla="*/ 108 h 179"/>
                    <a:gd name="T4" fmla="*/ 0 w 68"/>
                    <a:gd name="T5" fmla="*/ 0 h 179"/>
                  </a:gdLst>
                  <a:ahLst/>
                  <a:cxnLst>
                    <a:cxn ang="0">
                      <a:pos x="T0" y="T1"/>
                    </a:cxn>
                    <a:cxn ang="0">
                      <a:pos x="T2" y="T3"/>
                    </a:cxn>
                    <a:cxn ang="0">
                      <a:pos x="T4" y="T5"/>
                    </a:cxn>
                  </a:cxnLst>
                  <a:rect l="0" t="0" r="r" b="b"/>
                  <a:pathLst>
                    <a:path w="68" h="179">
                      <a:moveTo>
                        <a:pt x="68" y="179"/>
                      </a:moveTo>
                      <a:cubicBezTo>
                        <a:pt x="68" y="179"/>
                        <a:pt x="60" y="103"/>
                        <a:pt x="12" y="108"/>
                      </a:cubicBezTo>
                      <a:cubicBezTo>
                        <a:pt x="12" y="108"/>
                        <a:pt x="44" y="46"/>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28" name="Freeform 413">
                  <a:extLst>
                    <a:ext uri="{FF2B5EF4-FFF2-40B4-BE49-F238E27FC236}">
                      <a16:creationId xmlns:a16="http://schemas.microsoft.com/office/drawing/2014/main" id="{0051846D-005A-424B-8ACA-0BA273362D48}"/>
                    </a:ext>
                  </a:extLst>
                </p:cNvPr>
                <p:cNvSpPr>
                  <a:spLocks/>
                </p:cNvSpPr>
                <p:nvPr/>
              </p:nvSpPr>
              <p:spPr bwMode="auto">
                <a:xfrm>
                  <a:off x="5245593" y="3079074"/>
                  <a:ext cx="66093" cy="201465"/>
                </a:xfrm>
                <a:custGeom>
                  <a:avLst/>
                  <a:gdLst>
                    <a:gd name="T0" fmla="*/ 88 w 88"/>
                    <a:gd name="T1" fmla="*/ 268 h 268"/>
                    <a:gd name="T2" fmla="*/ 35 w 88"/>
                    <a:gd name="T3" fmla="*/ 219 h 268"/>
                    <a:gd name="T4" fmla="*/ 6 w 88"/>
                    <a:gd name="T5" fmla="*/ 142 h 268"/>
                    <a:gd name="T6" fmla="*/ 31 w 88"/>
                    <a:gd name="T7" fmla="*/ 85 h 268"/>
                    <a:gd name="T8" fmla="*/ 47 w 88"/>
                    <a:gd name="T9" fmla="*/ 56 h 268"/>
                    <a:gd name="T10" fmla="*/ 65 w 88"/>
                    <a:gd name="T11" fmla="*/ 30 h 268"/>
                    <a:gd name="T12" fmla="*/ 81 w 88"/>
                    <a:gd name="T13" fmla="*/ 0 h 268"/>
                  </a:gdLst>
                  <a:ahLst/>
                  <a:cxnLst>
                    <a:cxn ang="0">
                      <a:pos x="T0" y="T1"/>
                    </a:cxn>
                    <a:cxn ang="0">
                      <a:pos x="T2" y="T3"/>
                    </a:cxn>
                    <a:cxn ang="0">
                      <a:pos x="T4" y="T5"/>
                    </a:cxn>
                    <a:cxn ang="0">
                      <a:pos x="T6" y="T7"/>
                    </a:cxn>
                    <a:cxn ang="0">
                      <a:pos x="T8" y="T9"/>
                    </a:cxn>
                    <a:cxn ang="0">
                      <a:pos x="T10" y="T11"/>
                    </a:cxn>
                    <a:cxn ang="0">
                      <a:pos x="T12" y="T13"/>
                    </a:cxn>
                  </a:cxnLst>
                  <a:rect l="0" t="0" r="r" b="b"/>
                  <a:pathLst>
                    <a:path w="88" h="268">
                      <a:moveTo>
                        <a:pt x="88" y="268"/>
                      </a:moveTo>
                      <a:cubicBezTo>
                        <a:pt x="88" y="268"/>
                        <a:pt x="54" y="230"/>
                        <a:pt x="35" y="219"/>
                      </a:cubicBezTo>
                      <a:cubicBezTo>
                        <a:pt x="17" y="209"/>
                        <a:pt x="0" y="185"/>
                        <a:pt x="6" y="142"/>
                      </a:cubicBezTo>
                      <a:cubicBezTo>
                        <a:pt x="13" y="98"/>
                        <a:pt x="21" y="94"/>
                        <a:pt x="31" y="85"/>
                      </a:cubicBezTo>
                      <a:cubicBezTo>
                        <a:pt x="41" y="75"/>
                        <a:pt x="44" y="69"/>
                        <a:pt x="47" y="56"/>
                      </a:cubicBezTo>
                      <a:cubicBezTo>
                        <a:pt x="51" y="42"/>
                        <a:pt x="58" y="43"/>
                        <a:pt x="65" y="30"/>
                      </a:cubicBezTo>
                      <a:cubicBezTo>
                        <a:pt x="73" y="17"/>
                        <a:pt x="79" y="23"/>
                        <a:pt x="81"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29" name="Freeform 414">
                  <a:extLst>
                    <a:ext uri="{FF2B5EF4-FFF2-40B4-BE49-F238E27FC236}">
                      <a16:creationId xmlns:a16="http://schemas.microsoft.com/office/drawing/2014/main" id="{820BA4B7-286B-4CEA-871A-EDABB5164CB2}"/>
                    </a:ext>
                  </a:extLst>
                </p:cNvPr>
                <p:cNvSpPr>
                  <a:spLocks/>
                </p:cNvSpPr>
                <p:nvPr/>
              </p:nvSpPr>
              <p:spPr bwMode="auto">
                <a:xfrm>
                  <a:off x="5434317" y="3173835"/>
                  <a:ext cx="21500" cy="36630"/>
                </a:xfrm>
                <a:custGeom>
                  <a:avLst/>
                  <a:gdLst>
                    <a:gd name="T0" fmla="*/ 29 w 29"/>
                    <a:gd name="T1" fmla="*/ 0 h 48"/>
                    <a:gd name="T2" fmla="*/ 0 w 29"/>
                    <a:gd name="T3" fmla="*/ 48 h 48"/>
                  </a:gdLst>
                  <a:ahLst/>
                  <a:cxnLst>
                    <a:cxn ang="0">
                      <a:pos x="T0" y="T1"/>
                    </a:cxn>
                    <a:cxn ang="0">
                      <a:pos x="T2" y="T3"/>
                    </a:cxn>
                  </a:cxnLst>
                  <a:rect l="0" t="0" r="r" b="b"/>
                  <a:pathLst>
                    <a:path w="29" h="48">
                      <a:moveTo>
                        <a:pt x="29" y="0"/>
                      </a:moveTo>
                      <a:cubicBezTo>
                        <a:pt x="29" y="0"/>
                        <a:pt x="19" y="33"/>
                        <a:pt x="0" y="4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30" name="Freeform 415">
                  <a:extLst>
                    <a:ext uri="{FF2B5EF4-FFF2-40B4-BE49-F238E27FC236}">
                      <a16:creationId xmlns:a16="http://schemas.microsoft.com/office/drawing/2014/main" id="{80068C1E-69C0-4328-9D90-CD908865D363}"/>
                    </a:ext>
                  </a:extLst>
                </p:cNvPr>
                <p:cNvSpPr>
                  <a:spLocks/>
                </p:cNvSpPr>
                <p:nvPr/>
              </p:nvSpPr>
              <p:spPr bwMode="auto">
                <a:xfrm>
                  <a:off x="5282223" y="3432633"/>
                  <a:ext cx="21500" cy="19111"/>
                </a:xfrm>
                <a:custGeom>
                  <a:avLst/>
                  <a:gdLst>
                    <a:gd name="T0" fmla="*/ 0 w 28"/>
                    <a:gd name="T1" fmla="*/ 0 h 25"/>
                    <a:gd name="T2" fmla="*/ 28 w 28"/>
                    <a:gd name="T3" fmla="*/ 5 h 25"/>
                    <a:gd name="T4" fmla="*/ 14 w 28"/>
                    <a:gd name="T5" fmla="*/ 25 h 25"/>
                  </a:gdLst>
                  <a:ahLst/>
                  <a:cxnLst>
                    <a:cxn ang="0">
                      <a:pos x="T0" y="T1"/>
                    </a:cxn>
                    <a:cxn ang="0">
                      <a:pos x="T2" y="T3"/>
                    </a:cxn>
                    <a:cxn ang="0">
                      <a:pos x="T4" y="T5"/>
                    </a:cxn>
                  </a:cxnLst>
                  <a:rect l="0" t="0" r="r" b="b"/>
                  <a:pathLst>
                    <a:path w="28" h="25">
                      <a:moveTo>
                        <a:pt x="0" y="0"/>
                      </a:moveTo>
                      <a:cubicBezTo>
                        <a:pt x="13" y="10"/>
                        <a:pt x="28" y="5"/>
                        <a:pt x="28" y="5"/>
                      </a:cubicBezTo>
                      <a:cubicBezTo>
                        <a:pt x="28" y="5"/>
                        <a:pt x="16" y="11"/>
                        <a:pt x="14" y="2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31" name="Freeform 416">
                  <a:extLst>
                    <a:ext uri="{FF2B5EF4-FFF2-40B4-BE49-F238E27FC236}">
                      <a16:creationId xmlns:a16="http://schemas.microsoft.com/office/drawing/2014/main" id="{E29E1184-09B2-429E-ADC2-6A0957C20591}"/>
                    </a:ext>
                  </a:extLst>
                </p:cNvPr>
                <p:cNvSpPr>
                  <a:spLocks/>
                </p:cNvSpPr>
                <p:nvPr/>
              </p:nvSpPr>
              <p:spPr bwMode="auto">
                <a:xfrm>
                  <a:off x="5185870" y="3282132"/>
                  <a:ext cx="68482" cy="78834"/>
                </a:xfrm>
                <a:custGeom>
                  <a:avLst/>
                  <a:gdLst>
                    <a:gd name="T0" fmla="*/ 60 w 91"/>
                    <a:gd name="T1" fmla="*/ 0 h 104"/>
                    <a:gd name="T2" fmla="*/ 61 w 91"/>
                    <a:gd name="T3" fmla="*/ 62 h 104"/>
                    <a:gd name="T4" fmla="*/ 0 w 91"/>
                    <a:gd name="T5" fmla="*/ 86 h 104"/>
                  </a:gdLst>
                  <a:ahLst/>
                  <a:cxnLst>
                    <a:cxn ang="0">
                      <a:pos x="T0" y="T1"/>
                    </a:cxn>
                    <a:cxn ang="0">
                      <a:pos x="T2" y="T3"/>
                    </a:cxn>
                    <a:cxn ang="0">
                      <a:pos x="T4" y="T5"/>
                    </a:cxn>
                  </a:cxnLst>
                  <a:rect l="0" t="0" r="r" b="b"/>
                  <a:pathLst>
                    <a:path w="91" h="104">
                      <a:moveTo>
                        <a:pt x="60" y="0"/>
                      </a:moveTo>
                      <a:cubicBezTo>
                        <a:pt x="60" y="0"/>
                        <a:pt x="91" y="29"/>
                        <a:pt x="61" y="62"/>
                      </a:cubicBezTo>
                      <a:cubicBezTo>
                        <a:pt x="30" y="95"/>
                        <a:pt x="27" y="104"/>
                        <a:pt x="0" y="8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32" name="Freeform 417">
                  <a:extLst>
                    <a:ext uri="{FF2B5EF4-FFF2-40B4-BE49-F238E27FC236}">
                      <a16:creationId xmlns:a16="http://schemas.microsoft.com/office/drawing/2014/main" id="{A740CDC3-A2B8-476F-82CC-4DFFC808E579}"/>
                    </a:ext>
                  </a:extLst>
                </p:cNvPr>
                <p:cNvSpPr>
                  <a:spLocks/>
                </p:cNvSpPr>
                <p:nvPr/>
              </p:nvSpPr>
              <p:spPr bwMode="auto">
                <a:xfrm>
                  <a:off x="5209759" y="3295669"/>
                  <a:ext cx="65297" cy="74056"/>
                </a:xfrm>
                <a:custGeom>
                  <a:avLst/>
                  <a:gdLst>
                    <a:gd name="T0" fmla="*/ 87 w 87"/>
                    <a:gd name="T1" fmla="*/ 17 h 99"/>
                    <a:gd name="T2" fmla="*/ 31 w 87"/>
                    <a:gd name="T3" fmla="*/ 40 h 99"/>
                    <a:gd name="T4" fmla="*/ 15 w 87"/>
                    <a:gd name="T5" fmla="*/ 99 h 99"/>
                  </a:gdLst>
                  <a:ahLst/>
                  <a:cxnLst>
                    <a:cxn ang="0">
                      <a:pos x="T0" y="T1"/>
                    </a:cxn>
                    <a:cxn ang="0">
                      <a:pos x="T2" y="T3"/>
                    </a:cxn>
                    <a:cxn ang="0">
                      <a:pos x="T4" y="T5"/>
                    </a:cxn>
                  </a:cxnLst>
                  <a:rect l="0" t="0" r="r" b="b"/>
                  <a:pathLst>
                    <a:path w="87" h="99">
                      <a:moveTo>
                        <a:pt x="87" y="17"/>
                      </a:moveTo>
                      <a:cubicBezTo>
                        <a:pt x="87" y="17"/>
                        <a:pt x="63" y="0"/>
                        <a:pt x="31" y="40"/>
                      </a:cubicBezTo>
                      <a:cubicBezTo>
                        <a:pt x="0" y="79"/>
                        <a:pt x="0" y="84"/>
                        <a:pt x="15" y="9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33" name="Freeform 418">
                  <a:extLst>
                    <a:ext uri="{FF2B5EF4-FFF2-40B4-BE49-F238E27FC236}">
                      <a16:creationId xmlns:a16="http://schemas.microsoft.com/office/drawing/2014/main" id="{961F6A00-64D4-4CA2-9C24-6F1BCC73ACB6}"/>
                    </a:ext>
                  </a:extLst>
                </p:cNvPr>
                <p:cNvSpPr>
                  <a:spLocks/>
                </p:cNvSpPr>
                <p:nvPr/>
              </p:nvSpPr>
              <p:spPr bwMode="auto">
                <a:xfrm>
                  <a:off x="5088721" y="3194539"/>
                  <a:ext cx="167224" cy="33445"/>
                </a:xfrm>
                <a:custGeom>
                  <a:avLst/>
                  <a:gdLst>
                    <a:gd name="T0" fmla="*/ 223 w 223"/>
                    <a:gd name="T1" fmla="*/ 44 h 45"/>
                    <a:gd name="T2" fmla="*/ 165 w 223"/>
                    <a:gd name="T3" fmla="*/ 27 h 45"/>
                    <a:gd name="T4" fmla="*/ 0 w 223"/>
                    <a:gd name="T5" fmla="*/ 0 h 45"/>
                  </a:gdLst>
                  <a:ahLst/>
                  <a:cxnLst>
                    <a:cxn ang="0">
                      <a:pos x="T0" y="T1"/>
                    </a:cxn>
                    <a:cxn ang="0">
                      <a:pos x="T2" y="T3"/>
                    </a:cxn>
                    <a:cxn ang="0">
                      <a:pos x="T4" y="T5"/>
                    </a:cxn>
                  </a:cxnLst>
                  <a:rect l="0" t="0" r="r" b="b"/>
                  <a:pathLst>
                    <a:path w="223" h="45">
                      <a:moveTo>
                        <a:pt x="223" y="44"/>
                      </a:moveTo>
                      <a:cubicBezTo>
                        <a:pt x="223" y="44"/>
                        <a:pt x="215" y="23"/>
                        <a:pt x="165" y="27"/>
                      </a:cubicBezTo>
                      <a:cubicBezTo>
                        <a:pt x="115" y="31"/>
                        <a:pt x="75" y="45"/>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34" name="Freeform 419">
                  <a:extLst>
                    <a:ext uri="{FF2B5EF4-FFF2-40B4-BE49-F238E27FC236}">
                      <a16:creationId xmlns:a16="http://schemas.microsoft.com/office/drawing/2014/main" id="{2A99CAEC-876B-45BD-9F69-9B39CF824046}"/>
                    </a:ext>
                  </a:extLst>
                </p:cNvPr>
                <p:cNvSpPr>
                  <a:spLocks/>
                </p:cNvSpPr>
                <p:nvPr/>
              </p:nvSpPr>
              <p:spPr bwMode="auto">
                <a:xfrm>
                  <a:off x="5096685" y="3133223"/>
                  <a:ext cx="46982" cy="83612"/>
                </a:xfrm>
                <a:custGeom>
                  <a:avLst/>
                  <a:gdLst>
                    <a:gd name="T0" fmla="*/ 35 w 62"/>
                    <a:gd name="T1" fmla="*/ 0 h 112"/>
                    <a:gd name="T2" fmla="*/ 39 w 62"/>
                    <a:gd name="T3" fmla="*/ 71 h 112"/>
                    <a:gd name="T4" fmla="*/ 0 w 62"/>
                    <a:gd name="T5" fmla="*/ 87 h 112"/>
                  </a:gdLst>
                  <a:ahLst/>
                  <a:cxnLst>
                    <a:cxn ang="0">
                      <a:pos x="T0" y="T1"/>
                    </a:cxn>
                    <a:cxn ang="0">
                      <a:pos x="T2" y="T3"/>
                    </a:cxn>
                    <a:cxn ang="0">
                      <a:pos x="T4" y="T5"/>
                    </a:cxn>
                  </a:cxnLst>
                  <a:rect l="0" t="0" r="r" b="b"/>
                  <a:pathLst>
                    <a:path w="62" h="112">
                      <a:moveTo>
                        <a:pt x="35" y="0"/>
                      </a:moveTo>
                      <a:cubicBezTo>
                        <a:pt x="35" y="0"/>
                        <a:pt x="62" y="17"/>
                        <a:pt x="39" y="71"/>
                      </a:cubicBezTo>
                      <a:cubicBezTo>
                        <a:pt x="21" y="112"/>
                        <a:pt x="9" y="90"/>
                        <a:pt x="0" y="8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35" name="Freeform 420">
                  <a:extLst>
                    <a:ext uri="{FF2B5EF4-FFF2-40B4-BE49-F238E27FC236}">
                      <a16:creationId xmlns:a16="http://schemas.microsoft.com/office/drawing/2014/main" id="{C25E6A62-74E8-4E32-AE2F-28942945D835}"/>
                    </a:ext>
                  </a:extLst>
                </p:cNvPr>
                <p:cNvSpPr>
                  <a:spLocks/>
                </p:cNvSpPr>
                <p:nvPr/>
              </p:nvSpPr>
              <p:spPr bwMode="auto">
                <a:xfrm>
                  <a:off x="5122166" y="3146760"/>
                  <a:ext cx="39019" cy="66093"/>
                </a:xfrm>
                <a:custGeom>
                  <a:avLst/>
                  <a:gdLst>
                    <a:gd name="T0" fmla="*/ 52 w 52"/>
                    <a:gd name="T1" fmla="*/ 0 h 87"/>
                    <a:gd name="T2" fmla="*/ 10 w 52"/>
                    <a:gd name="T3" fmla="*/ 36 h 87"/>
                    <a:gd name="T4" fmla="*/ 12 w 52"/>
                    <a:gd name="T5" fmla="*/ 87 h 87"/>
                  </a:gdLst>
                  <a:ahLst/>
                  <a:cxnLst>
                    <a:cxn ang="0">
                      <a:pos x="T0" y="T1"/>
                    </a:cxn>
                    <a:cxn ang="0">
                      <a:pos x="T2" y="T3"/>
                    </a:cxn>
                    <a:cxn ang="0">
                      <a:pos x="T4" y="T5"/>
                    </a:cxn>
                  </a:cxnLst>
                  <a:rect l="0" t="0" r="r" b="b"/>
                  <a:pathLst>
                    <a:path w="52" h="87">
                      <a:moveTo>
                        <a:pt x="52" y="0"/>
                      </a:moveTo>
                      <a:cubicBezTo>
                        <a:pt x="52" y="0"/>
                        <a:pt x="20" y="4"/>
                        <a:pt x="10" y="36"/>
                      </a:cubicBezTo>
                      <a:cubicBezTo>
                        <a:pt x="0" y="68"/>
                        <a:pt x="1" y="81"/>
                        <a:pt x="12" y="8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36" name="Freeform 421">
                  <a:extLst>
                    <a:ext uri="{FF2B5EF4-FFF2-40B4-BE49-F238E27FC236}">
                      <a16:creationId xmlns:a16="http://schemas.microsoft.com/office/drawing/2014/main" id="{05DF0A90-C7E6-413D-B9CD-86BE417217FD}"/>
                    </a:ext>
                  </a:extLst>
                </p:cNvPr>
                <p:cNvSpPr>
                  <a:spLocks/>
                </p:cNvSpPr>
                <p:nvPr/>
              </p:nvSpPr>
              <p:spPr bwMode="auto">
                <a:xfrm>
                  <a:off x="5229667" y="3194539"/>
                  <a:ext cx="19111" cy="23093"/>
                </a:xfrm>
                <a:custGeom>
                  <a:avLst/>
                  <a:gdLst>
                    <a:gd name="T0" fmla="*/ 0 w 25"/>
                    <a:gd name="T1" fmla="*/ 26 h 31"/>
                    <a:gd name="T2" fmla="*/ 25 w 25"/>
                    <a:gd name="T3" fmla="*/ 0 h 31"/>
                  </a:gdLst>
                  <a:ahLst/>
                  <a:cxnLst>
                    <a:cxn ang="0">
                      <a:pos x="T0" y="T1"/>
                    </a:cxn>
                    <a:cxn ang="0">
                      <a:pos x="T2" y="T3"/>
                    </a:cxn>
                  </a:cxnLst>
                  <a:rect l="0" t="0" r="r" b="b"/>
                  <a:pathLst>
                    <a:path w="25" h="31">
                      <a:moveTo>
                        <a:pt x="0" y="26"/>
                      </a:moveTo>
                      <a:cubicBezTo>
                        <a:pt x="0" y="26"/>
                        <a:pt x="14" y="31"/>
                        <a:pt x="2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37" name="Freeform 422">
                  <a:extLst>
                    <a:ext uri="{FF2B5EF4-FFF2-40B4-BE49-F238E27FC236}">
                      <a16:creationId xmlns:a16="http://schemas.microsoft.com/office/drawing/2014/main" id="{9EC3F687-0FC0-4DED-BE8D-5C4D315560B8}"/>
                    </a:ext>
                  </a:extLst>
                </p:cNvPr>
                <p:cNvSpPr>
                  <a:spLocks/>
                </p:cNvSpPr>
                <p:nvPr/>
              </p:nvSpPr>
              <p:spPr bwMode="auto">
                <a:xfrm>
                  <a:off x="5069610" y="3027315"/>
                  <a:ext cx="31056" cy="141742"/>
                </a:xfrm>
                <a:custGeom>
                  <a:avLst/>
                  <a:gdLst>
                    <a:gd name="T0" fmla="*/ 2 w 41"/>
                    <a:gd name="T1" fmla="*/ 0 h 188"/>
                    <a:gd name="T2" fmla="*/ 0 w 41"/>
                    <a:gd name="T3" fmla="*/ 78 h 188"/>
                    <a:gd name="T4" fmla="*/ 7 w 41"/>
                    <a:gd name="T5" fmla="*/ 188 h 188"/>
                  </a:gdLst>
                  <a:ahLst/>
                  <a:cxnLst>
                    <a:cxn ang="0">
                      <a:pos x="T0" y="T1"/>
                    </a:cxn>
                    <a:cxn ang="0">
                      <a:pos x="T2" y="T3"/>
                    </a:cxn>
                    <a:cxn ang="0">
                      <a:pos x="T4" y="T5"/>
                    </a:cxn>
                  </a:cxnLst>
                  <a:rect l="0" t="0" r="r" b="b"/>
                  <a:pathLst>
                    <a:path w="41" h="188">
                      <a:moveTo>
                        <a:pt x="2" y="0"/>
                      </a:moveTo>
                      <a:cubicBezTo>
                        <a:pt x="2" y="0"/>
                        <a:pt x="41" y="54"/>
                        <a:pt x="0" y="78"/>
                      </a:cubicBezTo>
                      <a:cubicBezTo>
                        <a:pt x="0" y="78"/>
                        <a:pt x="41" y="106"/>
                        <a:pt x="7" y="18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38" name="Freeform 423">
                  <a:extLst>
                    <a:ext uri="{FF2B5EF4-FFF2-40B4-BE49-F238E27FC236}">
                      <a16:creationId xmlns:a16="http://schemas.microsoft.com/office/drawing/2014/main" id="{93E720CD-F22B-483C-AFC3-7737F73BECC2}"/>
                    </a:ext>
                  </a:extLst>
                </p:cNvPr>
                <p:cNvSpPr>
                  <a:spLocks/>
                </p:cNvSpPr>
                <p:nvPr/>
              </p:nvSpPr>
              <p:spPr bwMode="auto">
                <a:xfrm>
                  <a:off x="5177111" y="3041648"/>
                  <a:ext cx="15926" cy="55741"/>
                </a:xfrm>
                <a:custGeom>
                  <a:avLst/>
                  <a:gdLst>
                    <a:gd name="T0" fmla="*/ 15 w 21"/>
                    <a:gd name="T1" fmla="*/ 0 h 74"/>
                    <a:gd name="T2" fmla="*/ 15 w 21"/>
                    <a:gd name="T3" fmla="*/ 30 h 74"/>
                    <a:gd name="T4" fmla="*/ 10 w 21"/>
                    <a:gd name="T5" fmla="*/ 74 h 74"/>
                  </a:gdLst>
                  <a:ahLst/>
                  <a:cxnLst>
                    <a:cxn ang="0">
                      <a:pos x="T0" y="T1"/>
                    </a:cxn>
                    <a:cxn ang="0">
                      <a:pos x="T2" y="T3"/>
                    </a:cxn>
                    <a:cxn ang="0">
                      <a:pos x="T4" y="T5"/>
                    </a:cxn>
                  </a:cxnLst>
                  <a:rect l="0" t="0" r="r" b="b"/>
                  <a:pathLst>
                    <a:path w="21" h="74">
                      <a:moveTo>
                        <a:pt x="15" y="0"/>
                      </a:moveTo>
                      <a:cubicBezTo>
                        <a:pt x="15" y="0"/>
                        <a:pt x="21" y="18"/>
                        <a:pt x="15" y="30"/>
                      </a:cubicBezTo>
                      <a:cubicBezTo>
                        <a:pt x="9" y="42"/>
                        <a:pt x="0" y="46"/>
                        <a:pt x="10" y="7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39" name="Freeform 424">
                  <a:extLst>
                    <a:ext uri="{FF2B5EF4-FFF2-40B4-BE49-F238E27FC236}">
                      <a16:creationId xmlns:a16="http://schemas.microsoft.com/office/drawing/2014/main" id="{186B87D3-DD45-452B-B01B-731BC94FB40C}"/>
                    </a:ext>
                  </a:extLst>
                </p:cNvPr>
                <p:cNvSpPr>
                  <a:spLocks/>
                </p:cNvSpPr>
                <p:nvPr/>
              </p:nvSpPr>
              <p:spPr bwMode="auto">
                <a:xfrm>
                  <a:off x="4969276" y="3011389"/>
                  <a:ext cx="12741" cy="12741"/>
                </a:xfrm>
                <a:custGeom>
                  <a:avLst/>
                  <a:gdLst>
                    <a:gd name="T0" fmla="*/ 0 w 18"/>
                    <a:gd name="T1" fmla="*/ 0 h 17"/>
                    <a:gd name="T2" fmla="*/ 18 w 18"/>
                    <a:gd name="T3" fmla="*/ 17 h 17"/>
                  </a:gdLst>
                  <a:ahLst/>
                  <a:cxnLst>
                    <a:cxn ang="0">
                      <a:pos x="T0" y="T1"/>
                    </a:cxn>
                    <a:cxn ang="0">
                      <a:pos x="T2" y="T3"/>
                    </a:cxn>
                  </a:cxnLst>
                  <a:rect l="0" t="0" r="r" b="b"/>
                  <a:pathLst>
                    <a:path w="18" h="17">
                      <a:moveTo>
                        <a:pt x="0" y="0"/>
                      </a:moveTo>
                      <a:cubicBezTo>
                        <a:pt x="0" y="0"/>
                        <a:pt x="9" y="4"/>
                        <a:pt x="18" y="1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40" name="Freeform 425">
                  <a:extLst>
                    <a:ext uri="{FF2B5EF4-FFF2-40B4-BE49-F238E27FC236}">
                      <a16:creationId xmlns:a16="http://schemas.microsoft.com/office/drawing/2014/main" id="{441FE315-633A-4296-BFA8-F6AEBEA12A03}"/>
                    </a:ext>
                  </a:extLst>
                </p:cNvPr>
                <p:cNvSpPr>
                  <a:spLocks/>
                </p:cNvSpPr>
                <p:nvPr/>
              </p:nvSpPr>
              <p:spPr bwMode="auto">
                <a:xfrm>
                  <a:off x="4888053" y="3017759"/>
                  <a:ext cx="27871" cy="125020"/>
                </a:xfrm>
                <a:custGeom>
                  <a:avLst/>
                  <a:gdLst>
                    <a:gd name="T0" fmla="*/ 0 w 38"/>
                    <a:gd name="T1" fmla="*/ 0 h 166"/>
                    <a:gd name="T2" fmla="*/ 13 w 38"/>
                    <a:gd name="T3" fmla="*/ 43 h 166"/>
                    <a:gd name="T4" fmla="*/ 31 w 38"/>
                    <a:gd name="T5" fmla="*/ 93 h 166"/>
                    <a:gd name="T6" fmla="*/ 29 w 38"/>
                    <a:gd name="T7" fmla="*/ 131 h 166"/>
                    <a:gd name="T8" fmla="*/ 12 w 38"/>
                    <a:gd name="T9" fmla="*/ 166 h 166"/>
                  </a:gdLst>
                  <a:ahLst/>
                  <a:cxnLst>
                    <a:cxn ang="0">
                      <a:pos x="T0" y="T1"/>
                    </a:cxn>
                    <a:cxn ang="0">
                      <a:pos x="T2" y="T3"/>
                    </a:cxn>
                    <a:cxn ang="0">
                      <a:pos x="T4" y="T5"/>
                    </a:cxn>
                    <a:cxn ang="0">
                      <a:pos x="T6" y="T7"/>
                    </a:cxn>
                    <a:cxn ang="0">
                      <a:pos x="T8" y="T9"/>
                    </a:cxn>
                  </a:cxnLst>
                  <a:rect l="0" t="0" r="r" b="b"/>
                  <a:pathLst>
                    <a:path w="38" h="166">
                      <a:moveTo>
                        <a:pt x="0" y="0"/>
                      </a:moveTo>
                      <a:cubicBezTo>
                        <a:pt x="0" y="0"/>
                        <a:pt x="16" y="14"/>
                        <a:pt x="13" y="43"/>
                      </a:cubicBezTo>
                      <a:cubicBezTo>
                        <a:pt x="11" y="72"/>
                        <a:pt x="25" y="71"/>
                        <a:pt x="31" y="93"/>
                      </a:cubicBezTo>
                      <a:cubicBezTo>
                        <a:pt x="38" y="114"/>
                        <a:pt x="34" y="123"/>
                        <a:pt x="29" y="131"/>
                      </a:cubicBezTo>
                      <a:cubicBezTo>
                        <a:pt x="23" y="139"/>
                        <a:pt x="16" y="152"/>
                        <a:pt x="12" y="16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41" name="Freeform 426">
                  <a:extLst>
                    <a:ext uri="{FF2B5EF4-FFF2-40B4-BE49-F238E27FC236}">
                      <a16:creationId xmlns:a16="http://schemas.microsoft.com/office/drawing/2014/main" id="{4272D798-221E-458D-9825-009DED8E608D}"/>
                    </a:ext>
                  </a:extLst>
                </p:cNvPr>
                <p:cNvSpPr>
                  <a:spLocks/>
                </p:cNvSpPr>
                <p:nvPr/>
              </p:nvSpPr>
              <p:spPr bwMode="auto">
                <a:xfrm>
                  <a:off x="4898405" y="3052797"/>
                  <a:ext cx="105112" cy="136964"/>
                </a:xfrm>
                <a:custGeom>
                  <a:avLst/>
                  <a:gdLst>
                    <a:gd name="T0" fmla="*/ 122 w 140"/>
                    <a:gd name="T1" fmla="*/ 0 h 182"/>
                    <a:gd name="T2" fmla="*/ 121 w 140"/>
                    <a:gd name="T3" fmla="*/ 60 h 182"/>
                    <a:gd name="T4" fmla="*/ 136 w 140"/>
                    <a:gd name="T5" fmla="*/ 119 h 182"/>
                    <a:gd name="T6" fmla="*/ 59 w 140"/>
                    <a:gd name="T7" fmla="*/ 177 h 182"/>
                    <a:gd name="T8" fmla="*/ 0 w 140"/>
                    <a:gd name="T9" fmla="*/ 156 h 182"/>
                  </a:gdLst>
                  <a:ahLst/>
                  <a:cxnLst>
                    <a:cxn ang="0">
                      <a:pos x="T0" y="T1"/>
                    </a:cxn>
                    <a:cxn ang="0">
                      <a:pos x="T2" y="T3"/>
                    </a:cxn>
                    <a:cxn ang="0">
                      <a:pos x="T4" y="T5"/>
                    </a:cxn>
                    <a:cxn ang="0">
                      <a:pos x="T6" y="T7"/>
                    </a:cxn>
                    <a:cxn ang="0">
                      <a:pos x="T8" y="T9"/>
                    </a:cxn>
                  </a:cxnLst>
                  <a:rect l="0" t="0" r="r" b="b"/>
                  <a:pathLst>
                    <a:path w="140" h="182">
                      <a:moveTo>
                        <a:pt x="122" y="0"/>
                      </a:moveTo>
                      <a:cubicBezTo>
                        <a:pt x="122" y="0"/>
                        <a:pt x="117" y="44"/>
                        <a:pt x="121" y="60"/>
                      </a:cubicBezTo>
                      <a:cubicBezTo>
                        <a:pt x="125" y="76"/>
                        <a:pt x="140" y="99"/>
                        <a:pt x="136" y="119"/>
                      </a:cubicBezTo>
                      <a:cubicBezTo>
                        <a:pt x="132" y="139"/>
                        <a:pt x="134" y="168"/>
                        <a:pt x="59" y="177"/>
                      </a:cubicBezTo>
                      <a:cubicBezTo>
                        <a:pt x="16" y="182"/>
                        <a:pt x="16" y="177"/>
                        <a:pt x="0" y="15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42" name="Freeform 427">
                  <a:extLst>
                    <a:ext uri="{FF2B5EF4-FFF2-40B4-BE49-F238E27FC236}">
                      <a16:creationId xmlns:a16="http://schemas.microsoft.com/office/drawing/2014/main" id="{2D2A9124-CF1F-4FF2-9403-9F845613C075}"/>
                    </a:ext>
                  </a:extLst>
                </p:cNvPr>
                <p:cNvSpPr>
                  <a:spLocks/>
                </p:cNvSpPr>
                <p:nvPr/>
              </p:nvSpPr>
              <p:spPr bwMode="auto">
                <a:xfrm>
                  <a:off x="4990776" y="3151538"/>
                  <a:ext cx="59723" cy="31056"/>
                </a:xfrm>
                <a:custGeom>
                  <a:avLst/>
                  <a:gdLst>
                    <a:gd name="T0" fmla="*/ 12 w 80"/>
                    <a:gd name="T1" fmla="*/ 0 h 41"/>
                    <a:gd name="T2" fmla="*/ 80 w 80"/>
                    <a:gd name="T3" fmla="*/ 41 h 41"/>
                  </a:gdLst>
                  <a:ahLst/>
                  <a:cxnLst>
                    <a:cxn ang="0">
                      <a:pos x="T0" y="T1"/>
                    </a:cxn>
                    <a:cxn ang="0">
                      <a:pos x="T2" y="T3"/>
                    </a:cxn>
                  </a:cxnLst>
                  <a:rect l="0" t="0" r="r" b="b"/>
                  <a:pathLst>
                    <a:path w="80" h="41">
                      <a:moveTo>
                        <a:pt x="12" y="0"/>
                      </a:moveTo>
                      <a:cubicBezTo>
                        <a:pt x="12" y="0"/>
                        <a:pt x="0" y="36"/>
                        <a:pt x="80" y="4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43" name="Freeform 428">
                  <a:extLst>
                    <a:ext uri="{FF2B5EF4-FFF2-40B4-BE49-F238E27FC236}">
                      <a16:creationId xmlns:a16="http://schemas.microsoft.com/office/drawing/2014/main" id="{3FCEB7E3-B853-4A44-89D3-288C875BD09D}"/>
                    </a:ext>
                  </a:extLst>
                </p:cNvPr>
                <p:cNvSpPr>
                  <a:spLocks/>
                </p:cNvSpPr>
                <p:nvPr/>
              </p:nvSpPr>
              <p:spPr bwMode="auto">
                <a:xfrm>
                  <a:off x="5017850" y="3174631"/>
                  <a:ext cx="8760" cy="21500"/>
                </a:xfrm>
                <a:custGeom>
                  <a:avLst/>
                  <a:gdLst>
                    <a:gd name="T0" fmla="*/ 0 w 12"/>
                    <a:gd name="T1" fmla="*/ 0 h 28"/>
                    <a:gd name="T2" fmla="*/ 9 w 12"/>
                    <a:gd name="T3" fmla="*/ 28 h 28"/>
                  </a:gdLst>
                  <a:ahLst/>
                  <a:cxnLst>
                    <a:cxn ang="0">
                      <a:pos x="T0" y="T1"/>
                    </a:cxn>
                    <a:cxn ang="0">
                      <a:pos x="T2" y="T3"/>
                    </a:cxn>
                  </a:cxnLst>
                  <a:rect l="0" t="0" r="r" b="b"/>
                  <a:pathLst>
                    <a:path w="12" h="28">
                      <a:moveTo>
                        <a:pt x="0" y="0"/>
                      </a:moveTo>
                      <a:cubicBezTo>
                        <a:pt x="0" y="0"/>
                        <a:pt x="12" y="10"/>
                        <a:pt x="9" y="2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44" name="Freeform 429">
                  <a:extLst>
                    <a:ext uri="{FF2B5EF4-FFF2-40B4-BE49-F238E27FC236}">
                      <a16:creationId xmlns:a16="http://schemas.microsoft.com/office/drawing/2014/main" id="{6A28B256-E2EE-4526-84E1-3BF2865A1DE6}"/>
                    </a:ext>
                  </a:extLst>
                </p:cNvPr>
                <p:cNvSpPr>
                  <a:spLocks/>
                </p:cNvSpPr>
                <p:nvPr/>
              </p:nvSpPr>
              <p:spPr bwMode="auto">
                <a:xfrm>
                  <a:off x="4793293" y="3084649"/>
                  <a:ext cx="116260" cy="128205"/>
                </a:xfrm>
                <a:custGeom>
                  <a:avLst/>
                  <a:gdLst>
                    <a:gd name="T0" fmla="*/ 155 w 155"/>
                    <a:gd name="T1" fmla="*/ 132 h 170"/>
                    <a:gd name="T2" fmla="*/ 51 w 155"/>
                    <a:gd name="T3" fmla="*/ 117 h 170"/>
                    <a:gd name="T4" fmla="*/ 33 w 155"/>
                    <a:gd name="T5" fmla="*/ 71 h 170"/>
                    <a:gd name="T6" fmla="*/ 28 w 155"/>
                    <a:gd name="T7" fmla="*/ 46 h 170"/>
                    <a:gd name="T8" fmla="*/ 0 w 155"/>
                    <a:gd name="T9" fmla="*/ 0 h 170"/>
                  </a:gdLst>
                  <a:ahLst/>
                  <a:cxnLst>
                    <a:cxn ang="0">
                      <a:pos x="T0" y="T1"/>
                    </a:cxn>
                    <a:cxn ang="0">
                      <a:pos x="T2" y="T3"/>
                    </a:cxn>
                    <a:cxn ang="0">
                      <a:pos x="T4" y="T5"/>
                    </a:cxn>
                    <a:cxn ang="0">
                      <a:pos x="T6" y="T7"/>
                    </a:cxn>
                    <a:cxn ang="0">
                      <a:pos x="T8" y="T9"/>
                    </a:cxn>
                  </a:cxnLst>
                  <a:rect l="0" t="0" r="r" b="b"/>
                  <a:pathLst>
                    <a:path w="155" h="170">
                      <a:moveTo>
                        <a:pt x="155" y="132"/>
                      </a:moveTo>
                      <a:cubicBezTo>
                        <a:pt x="155" y="132"/>
                        <a:pt x="78" y="170"/>
                        <a:pt x="51" y="117"/>
                      </a:cubicBezTo>
                      <a:cubicBezTo>
                        <a:pt x="24" y="64"/>
                        <a:pt x="37" y="81"/>
                        <a:pt x="33" y="71"/>
                      </a:cubicBezTo>
                      <a:cubicBezTo>
                        <a:pt x="29" y="61"/>
                        <a:pt x="25" y="67"/>
                        <a:pt x="28" y="46"/>
                      </a:cubicBezTo>
                      <a:cubicBezTo>
                        <a:pt x="30" y="24"/>
                        <a:pt x="47" y="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45" name="Freeform 430">
                  <a:extLst>
                    <a:ext uri="{FF2B5EF4-FFF2-40B4-BE49-F238E27FC236}">
                      <a16:creationId xmlns:a16="http://schemas.microsoft.com/office/drawing/2014/main" id="{DA88D7F1-F388-45F4-B4C0-40E0698874FE}"/>
                    </a:ext>
                  </a:extLst>
                </p:cNvPr>
                <p:cNvSpPr>
                  <a:spLocks/>
                </p:cNvSpPr>
                <p:nvPr/>
              </p:nvSpPr>
              <p:spPr bwMode="auto">
                <a:xfrm>
                  <a:off x="4817182" y="3075093"/>
                  <a:ext cx="18315" cy="18315"/>
                </a:xfrm>
                <a:custGeom>
                  <a:avLst/>
                  <a:gdLst>
                    <a:gd name="T0" fmla="*/ 0 w 25"/>
                    <a:gd name="T1" fmla="*/ 25 h 25"/>
                    <a:gd name="T2" fmla="*/ 25 w 25"/>
                    <a:gd name="T3" fmla="*/ 0 h 25"/>
                  </a:gdLst>
                  <a:ahLst/>
                  <a:cxnLst>
                    <a:cxn ang="0">
                      <a:pos x="T0" y="T1"/>
                    </a:cxn>
                    <a:cxn ang="0">
                      <a:pos x="T2" y="T3"/>
                    </a:cxn>
                  </a:cxnLst>
                  <a:rect l="0" t="0" r="r" b="b"/>
                  <a:pathLst>
                    <a:path w="25" h="25">
                      <a:moveTo>
                        <a:pt x="0" y="25"/>
                      </a:moveTo>
                      <a:cubicBezTo>
                        <a:pt x="0" y="25"/>
                        <a:pt x="1" y="14"/>
                        <a:pt x="2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46" name="Freeform 431">
                  <a:extLst>
                    <a:ext uri="{FF2B5EF4-FFF2-40B4-BE49-F238E27FC236}">
                      <a16:creationId xmlns:a16="http://schemas.microsoft.com/office/drawing/2014/main" id="{DF67F44D-4BA4-4C9E-8467-228788FDB41C}"/>
                    </a:ext>
                  </a:extLst>
                </p:cNvPr>
                <p:cNvSpPr>
                  <a:spLocks/>
                </p:cNvSpPr>
                <p:nvPr/>
              </p:nvSpPr>
              <p:spPr bwMode="auto">
                <a:xfrm>
                  <a:off x="4806034" y="3032889"/>
                  <a:ext cx="15130" cy="13537"/>
                </a:xfrm>
                <a:custGeom>
                  <a:avLst/>
                  <a:gdLst>
                    <a:gd name="T0" fmla="*/ 0 w 21"/>
                    <a:gd name="T1" fmla="*/ 0 h 18"/>
                    <a:gd name="T2" fmla="*/ 21 w 21"/>
                    <a:gd name="T3" fmla="*/ 18 h 18"/>
                  </a:gdLst>
                  <a:ahLst/>
                  <a:cxnLst>
                    <a:cxn ang="0">
                      <a:pos x="T0" y="T1"/>
                    </a:cxn>
                    <a:cxn ang="0">
                      <a:pos x="T2" y="T3"/>
                    </a:cxn>
                  </a:cxnLst>
                  <a:rect l="0" t="0" r="r" b="b"/>
                  <a:pathLst>
                    <a:path w="21" h="18">
                      <a:moveTo>
                        <a:pt x="0" y="0"/>
                      </a:moveTo>
                      <a:cubicBezTo>
                        <a:pt x="0" y="0"/>
                        <a:pt x="15" y="4"/>
                        <a:pt x="21" y="1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47" name="Freeform 432">
                  <a:extLst>
                    <a:ext uri="{FF2B5EF4-FFF2-40B4-BE49-F238E27FC236}">
                      <a16:creationId xmlns:a16="http://schemas.microsoft.com/office/drawing/2014/main" id="{20DE560D-150A-4C63-AF3D-560F20C09539}"/>
                    </a:ext>
                  </a:extLst>
                </p:cNvPr>
                <p:cNvSpPr>
                  <a:spLocks/>
                </p:cNvSpPr>
                <p:nvPr/>
              </p:nvSpPr>
              <p:spPr bwMode="auto">
                <a:xfrm>
                  <a:off x="5023425" y="3280539"/>
                  <a:ext cx="39019" cy="25482"/>
                </a:xfrm>
                <a:custGeom>
                  <a:avLst/>
                  <a:gdLst>
                    <a:gd name="T0" fmla="*/ 0 w 51"/>
                    <a:gd name="T1" fmla="*/ 24 h 34"/>
                    <a:gd name="T2" fmla="*/ 35 w 51"/>
                    <a:gd name="T3" fmla="*/ 0 h 34"/>
                    <a:gd name="T4" fmla="*/ 51 w 51"/>
                    <a:gd name="T5" fmla="*/ 34 h 34"/>
                  </a:gdLst>
                  <a:ahLst/>
                  <a:cxnLst>
                    <a:cxn ang="0">
                      <a:pos x="T0" y="T1"/>
                    </a:cxn>
                    <a:cxn ang="0">
                      <a:pos x="T2" y="T3"/>
                    </a:cxn>
                    <a:cxn ang="0">
                      <a:pos x="T4" y="T5"/>
                    </a:cxn>
                  </a:cxnLst>
                  <a:rect l="0" t="0" r="r" b="b"/>
                  <a:pathLst>
                    <a:path w="51" h="34">
                      <a:moveTo>
                        <a:pt x="0" y="24"/>
                      </a:moveTo>
                      <a:cubicBezTo>
                        <a:pt x="40" y="20"/>
                        <a:pt x="35" y="0"/>
                        <a:pt x="35" y="0"/>
                      </a:cubicBezTo>
                      <a:cubicBezTo>
                        <a:pt x="35" y="0"/>
                        <a:pt x="28" y="30"/>
                        <a:pt x="51" y="3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48" name="Freeform 433">
                  <a:extLst>
                    <a:ext uri="{FF2B5EF4-FFF2-40B4-BE49-F238E27FC236}">
                      <a16:creationId xmlns:a16="http://schemas.microsoft.com/office/drawing/2014/main" id="{0C356B5A-C6B4-415D-98AD-ECFB38753911}"/>
                    </a:ext>
                  </a:extLst>
                </p:cNvPr>
                <p:cNvSpPr>
                  <a:spLocks/>
                </p:cNvSpPr>
                <p:nvPr/>
              </p:nvSpPr>
              <p:spPr bwMode="auto">
                <a:xfrm>
                  <a:off x="4907961" y="3265409"/>
                  <a:ext cx="45390" cy="27871"/>
                </a:xfrm>
                <a:custGeom>
                  <a:avLst/>
                  <a:gdLst>
                    <a:gd name="T0" fmla="*/ 0 w 60"/>
                    <a:gd name="T1" fmla="*/ 36 h 37"/>
                    <a:gd name="T2" fmla="*/ 27 w 60"/>
                    <a:gd name="T3" fmla="*/ 0 h 37"/>
                    <a:gd name="T4" fmla="*/ 60 w 60"/>
                    <a:gd name="T5" fmla="*/ 37 h 37"/>
                  </a:gdLst>
                  <a:ahLst/>
                  <a:cxnLst>
                    <a:cxn ang="0">
                      <a:pos x="T0" y="T1"/>
                    </a:cxn>
                    <a:cxn ang="0">
                      <a:pos x="T2" y="T3"/>
                    </a:cxn>
                    <a:cxn ang="0">
                      <a:pos x="T4" y="T5"/>
                    </a:cxn>
                  </a:cxnLst>
                  <a:rect l="0" t="0" r="r" b="b"/>
                  <a:pathLst>
                    <a:path w="60" h="37">
                      <a:moveTo>
                        <a:pt x="0" y="36"/>
                      </a:moveTo>
                      <a:cubicBezTo>
                        <a:pt x="35" y="34"/>
                        <a:pt x="27" y="0"/>
                        <a:pt x="27" y="0"/>
                      </a:cubicBezTo>
                      <a:cubicBezTo>
                        <a:pt x="27" y="0"/>
                        <a:pt x="26" y="31"/>
                        <a:pt x="60" y="3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49" name="Freeform 434">
                  <a:extLst>
                    <a:ext uri="{FF2B5EF4-FFF2-40B4-BE49-F238E27FC236}">
                      <a16:creationId xmlns:a16="http://schemas.microsoft.com/office/drawing/2014/main" id="{BA5BEB1C-CC4F-4BAE-B1F0-457BD3F736DA}"/>
                    </a:ext>
                  </a:extLst>
                </p:cNvPr>
                <p:cNvSpPr>
                  <a:spLocks/>
                </p:cNvSpPr>
                <p:nvPr/>
              </p:nvSpPr>
              <p:spPr bwMode="auto">
                <a:xfrm>
                  <a:off x="4720830" y="3106149"/>
                  <a:ext cx="17519" cy="53353"/>
                </a:xfrm>
                <a:custGeom>
                  <a:avLst/>
                  <a:gdLst>
                    <a:gd name="T0" fmla="*/ 23 w 23"/>
                    <a:gd name="T1" fmla="*/ 71 h 71"/>
                    <a:gd name="T2" fmla="*/ 0 w 23"/>
                    <a:gd name="T3" fmla="*/ 0 h 71"/>
                  </a:gdLst>
                  <a:ahLst/>
                  <a:cxnLst>
                    <a:cxn ang="0">
                      <a:pos x="T0" y="T1"/>
                    </a:cxn>
                    <a:cxn ang="0">
                      <a:pos x="T2" y="T3"/>
                    </a:cxn>
                  </a:cxnLst>
                  <a:rect l="0" t="0" r="r" b="b"/>
                  <a:pathLst>
                    <a:path w="23" h="71">
                      <a:moveTo>
                        <a:pt x="23" y="71"/>
                      </a:moveTo>
                      <a:cubicBezTo>
                        <a:pt x="21" y="45"/>
                        <a:pt x="19" y="2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50" name="Freeform 435">
                  <a:extLst>
                    <a:ext uri="{FF2B5EF4-FFF2-40B4-BE49-F238E27FC236}">
                      <a16:creationId xmlns:a16="http://schemas.microsoft.com/office/drawing/2014/main" id="{59BAC967-B447-457F-850D-D2DD7D6E6760}"/>
                    </a:ext>
                  </a:extLst>
                </p:cNvPr>
                <p:cNvSpPr>
                  <a:spLocks/>
                </p:cNvSpPr>
                <p:nvPr/>
              </p:nvSpPr>
              <p:spPr bwMode="auto">
                <a:xfrm>
                  <a:off x="4780552" y="3173038"/>
                  <a:ext cx="52556" cy="46982"/>
                </a:xfrm>
                <a:custGeom>
                  <a:avLst/>
                  <a:gdLst>
                    <a:gd name="T0" fmla="*/ 67 w 69"/>
                    <a:gd name="T1" fmla="*/ 0 h 63"/>
                    <a:gd name="T2" fmla="*/ 0 w 69"/>
                    <a:gd name="T3" fmla="*/ 45 h 63"/>
                  </a:gdLst>
                  <a:ahLst/>
                  <a:cxnLst>
                    <a:cxn ang="0">
                      <a:pos x="T0" y="T1"/>
                    </a:cxn>
                    <a:cxn ang="0">
                      <a:pos x="T2" y="T3"/>
                    </a:cxn>
                  </a:cxnLst>
                  <a:rect l="0" t="0" r="r" b="b"/>
                  <a:pathLst>
                    <a:path w="69" h="63">
                      <a:moveTo>
                        <a:pt x="67" y="0"/>
                      </a:moveTo>
                      <a:cubicBezTo>
                        <a:pt x="67" y="0"/>
                        <a:pt x="69" y="63"/>
                        <a:pt x="0" y="4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51" name="Freeform 436">
                  <a:extLst>
                    <a:ext uri="{FF2B5EF4-FFF2-40B4-BE49-F238E27FC236}">
                      <a16:creationId xmlns:a16="http://schemas.microsoft.com/office/drawing/2014/main" id="{922A94EF-D185-4CED-82E4-2533BBFBD09B}"/>
                    </a:ext>
                  </a:extLst>
                </p:cNvPr>
                <p:cNvSpPr>
                  <a:spLocks/>
                </p:cNvSpPr>
                <p:nvPr/>
              </p:nvSpPr>
              <p:spPr bwMode="auto">
                <a:xfrm>
                  <a:off x="4674644" y="3073501"/>
                  <a:ext cx="10352" cy="35037"/>
                </a:xfrm>
                <a:custGeom>
                  <a:avLst/>
                  <a:gdLst>
                    <a:gd name="T0" fmla="*/ 13 w 13"/>
                    <a:gd name="T1" fmla="*/ 0 h 47"/>
                    <a:gd name="T2" fmla="*/ 0 w 13"/>
                    <a:gd name="T3" fmla="*/ 47 h 47"/>
                  </a:gdLst>
                  <a:ahLst/>
                  <a:cxnLst>
                    <a:cxn ang="0">
                      <a:pos x="T0" y="T1"/>
                    </a:cxn>
                    <a:cxn ang="0">
                      <a:pos x="T2" y="T3"/>
                    </a:cxn>
                  </a:cxnLst>
                  <a:rect l="0" t="0" r="r" b="b"/>
                  <a:pathLst>
                    <a:path w="13" h="47">
                      <a:moveTo>
                        <a:pt x="13" y="0"/>
                      </a:moveTo>
                      <a:cubicBezTo>
                        <a:pt x="13" y="0"/>
                        <a:pt x="0" y="34"/>
                        <a:pt x="0" y="4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52" name="Freeform 437">
                  <a:extLst>
                    <a:ext uri="{FF2B5EF4-FFF2-40B4-BE49-F238E27FC236}">
                      <a16:creationId xmlns:a16="http://schemas.microsoft.com/office/drawing/2014/main" id="{32D5CD68-224D-46D6-9F3C-CD15489D8E40}"/>
                    </a:ext>
                  </a:extLst>
                </p:cNvPr>
                <p:cNvSpPr>
                  <a:spLocks/>
                </p:cNvSpPr>
                <p:nvPr/>
              </p:nvSpPr>
              <p:spPr bwMode="auto">
                <a:xfrm>
                  <a:off x="4645977" y="3134020"/>
                  <a:ext cx="137761" cy="93964"/>
                </a:xfrm>
                <a:custGeom>
                  <a:avLst/>
                  <a:gdLst>
                    <a:gd name="T0" fmla="*/ 183 w 183"/>
                    <a:gd name="T1" fmla="*/ 98 h 125"/>
                    <a:gd name="T2" fmla="*/ 142 w 183"/>
                    <a:gd name="T3" fmla="*/ 119 h 125"/>
                    <a:gd name="T4" fmla="*/ 92 w 183"/>
                    <a:gd name="T5" fmla="*/ 93 h 125"/>
                    <a:gd name="T6" fmla="*/ 59 w 183"/>
                    <a:gd name="T7" fmla="*/ 59 h 125"/>
                    <a:gd name="T8" fmla="*/ 49 w 183"/>
                    <a:gd name="T9" fmla="*/ 0 h 125"/>
                    <a:gd name="T10" fmla="*/ 0 w 183"/>
                    <a:gd name="T11" fmla="*/ 30 h 125"/>
                  </a:gdLst>
                  <a:ahLst/>
                  <a:cxnLst>
                    <a:cxn ang="0">
                      <a:pos x="T0" y="T1"/>
                    </a:cxn>
                    <a:cxn ang="0">
                      <a:pos x="T2" y="T3"/>
                    </a:cxn>
                    <a:cxn ang="0">
                      <a:pos x="T4" y="T5"/>
                    </a:cxn>
                    <a:cxn ang="0">
                      <a:pos x="T6" y="T7"/>
                    </a:cxn>
                    <a:cxn ang="0">
                      <a:pos x="T8" y="T9"/>
                    </a:cxn>
                    <a:cxn ang="0">
                      <a:pos x="T10" y="T11"/>
                    </a:cxn>
                  </a:cxnLst>
                  <a:rect l="0" t="0" r="r" b="b"/>
                  <a:pathLst>
                    <a:path w="183" h="125">
                      <a:moveTo>
                        <a:pt x="183" y="98"/>
                      </a:moveTo>
                      <a:cubicBezTo>
                        <a:pt x="180" y="106"/>
                        <a:pt x="174" y="113"/>
                        <a:pt x="142" y="119"/>
                      </a:cubicBezTo>
                      <a:cubicBezTo>
                        <a:pt x="110" y="125"/>
                        <a:pt x="102" y="110"/>
                        <a:pt x="92" y="93"/>
                      </a:cubicBezTo>
                      <a:cubicBezTo>
                        <a:pt x="82" y="76"/>
                        <a:pt x="75" y="80"/>
                        <a:pt x="59" y="59"/>
                      </a:cubicBezTo>
                      <a:cubicBezTo>
                        <a:pt x="42" y="39"/>
                        <a:pt x="49" y="0"/>
                        <a:pt x="49" y="0"/>
                      </a:cubicBezTo>
                      <a:cubicBezTo>
                        <a:pt x="49" y="0"/>
                        <a:pt x="50" y="22"/>
                        <a:pt x="0" y="3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53" name="Freeform 438">
                  <a:extLst>
                    <a:ext uri="{FF2B5EF4-FFF2-40B4-BE49-F238E27FC236}">
                      <a16:creationId xmlns:a16="http://schemas.microsoft.com/office/drawing/2014/main" id="{CF3CDA4E-834F-46A5-90C8-EB6A0B753F39}"/>
                    </a:ext>
                  </a:extLst>
                </p:cNvPr>
                <p:cNvSpPr>
                  <a:spLocks/>
                </p:cNvSpPr>
                <p:nvPr/>
              </p:nvSpPr>
              <p:spPr bwMode="auto">
                <a:xfrm>
                  <a:off x="4731181" y="3224001"/>
                  <a:ext cx="21500" cy="17519"/>
                </a:xfrm>
                <a:custGeom>
                  <a:avLst/>
                  <a:gdLst>
                    <a:gd name="T0" fmla="*/ 29 w 29"/>
                    <a:gd name="T1" fmla="*/ 0 h 24"/>
                    <a:gd name="T2" fmla="*/ 0 w 29"/>
                    <a:gd name="T3" fmla="*/ 24 h 24"/>
                  </a:gdLst>
                  <a:ahLst/>
                  <a:cxnLst>
                    <a:cxn ang="0">
                      <a:pos x="T0" y="T1"/>
                    </a:cxn>
                    <a:cxn ang="0">
                      <a:pos x="T2" y="T3"/>
                    </a:cxn>
                  </a:cxnLst>
                  <a:rect l="0" t="0" r="r" b="b"/>
                  <a:pathLst>
                    <a:path w="29" h="24">
                      <a:moveTo>
                        <a:pt x="29" y="0"/>
                      </a:moveTo>
                      <a:cubicBezTo>
                        <a:pt x="29" y="0"/>
                        <a:pt x="7" y="15"/>
                        <a:pt x="0" y="2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54" name="Freeform 439">
                  <a:extLst>
                    <a:ext uri="{FF2B5EF4-FFF2-40B4-BE49-F238E27FC236}">
                      <a16:creationId xmlns:a16="http://schemas.microsoft.com/office/drawing/2014/main" id="{CB920719-92F9-475F-A27D-8794252A2585}"/>
                    </a:ext>
                  </a:extLst>
                </p:cNvPr>
                <p:cNvSpPr>
                  <a:spLocks/>
                </p:cNvSpPr>
                <p:nvPr/>
              </p:nvSpPr>
              <p:spPr bwMode="auto">
                <a:xfrm>
                  <a:off x="4597403" y="3130834"/>
                  <a:ext cx="7167" cy="22296"/>
                </a:xfrm>
                <a:custGeom>
                  <a:avLst/>
                  <a:gdLst>
                    <a:gd name="T0" fmla="*/ 0 w 10"/>
                    <a:gd name="T1" fmla="*/ 0 h 30"/>
                    <a:gd name="T2" fmla="*/ 10 w 10"/>
                    <a:gd name="T3" fmla="*/ 30 h 30"/>
                  </a:gdLst>
                  <a:ahLst/>
                  <a:cxnLst>
                    <a:cxn ang="0">
                      <a:pos x="T0" y="T1"/>
                    </a:cxn>
                    <a:cxn ang="0">
                      <a:pos x="T2" y="T3"/>
                    </a:cxn>
                  </a:cxnLst>
                  <a:rect l="0" t="0" r="r" b="b"/>
                  <a:pathLst>
                    <a:path w="10" h="30">
                      <a:moveTo>
                        <a:pt x="0" y="0"/>
                      </a:moveTo>
                      <a:cubicBezTo>
                        <a:pt x="0" y="0"/>
                        <a:pt x="5" y="14"/>
                        <a:pt x="10" y="3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55" name="Freeform 440">
                  <a:extLst>
                    <a:ext uri="{FF2B5EF4-FFF2-40B4-BE49-F238E27FC236}">
                      <a16:creationId xmlns:a16="http://schemas.microsoft.com/office/drawing/2014/main" id="{FFAC80A3-CFF5-41AA-93D3-F16D710EA222}"/>
                    </a:ext>
                  </a:extLst>
                </p:cNvPr>
                <p:cNvSpPr>
                  <a:spLocks/>
                </p:cNvSpPr>
                <p:nvPr/>
              </p:nvSpPr>
              <p:spPr bwMode="auto">
                <a:xfrm>
                  <a:off x="4664292" y="3254261"/>
                  <a:ext cx="50167" cy="39019"/>
                </a:xfrm>
                <a:custGeom>
                  <a:avLst/>
                  <a:gdLst>
                    <a:gd name="T0" fmla="*/ 67 w 67"/>
                    <a:gd name="T1" fmla="*/ 0 h 52"/>
                    <a:gd name="T2" fmla="*/ 0 w 67"/>
                    <a:gd name="T3" fmla="*/ 18 h 52"/>
                  </a:gdLst>
                  <a:ahLst/>
                  <a:cxnLst>
                    <a:cxn ang="0">
                      <a:pos x="T0" y="T1"/>
                    </a:cxn>
                    <a:cxn ang="0">
                      <a:pos x="T2" y="T3"/>
                    </a:cxn>
                  </a:cxnLst>
                  <a:rect l="0" t="0" r="r" b="b"/>
                  <a:pathLst>
                    <a:path w="67" h="52">
                      <a:moveTo>
                        <a:pt x="67" y="0"/>
                      </a:moveTo>
                      <a:cubicBezTo>
                        <a:pt x="67" y="0"/>
                        <a:pt x="45" y="52"/>
                        <a:pt x="0" y="1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56" name="Freeform 441">
                  <a:extLst>
                    <a:ext uri="{FF2B5EF4-FFF2-40B4-BE49-F238E27FC236}">
                      <a16:creationId xmlns:a16="http://schemas.microsoft.com/office/drawing/2014/main" id="{018F8E0F-1C7D-40C9-B6CC-CD6469018ECE}"/>
                    </a:ext>
                  </a:extLst>
                </p:cNvPr>
                <p:cNvSpPr>
                  <a:spLocks/>
                </p:cNvSpPr>
                <p:nvPr/>
              </p:nvSpPr>
              <p:spPr bwMode="auto">
                <a:xfrm>
                  <a:off x="4577495" y="3178613"/>
                  <a:ext cx="70075" cy="76445"/>
                </a:xfrm>
                <a:custGeom>
                  <a:avLst/>
                  <a:gdLst>
                    <a:gd name="T0" fmla="*/ 93 w 93"/>
                    <a:gd name="T1" fmla="*/ 101 h 101"/>
                    <a:gd name="T2" fmla="*/ 68 w 93"/>
                    <a:gd name="T3" fmla="*/ 0 h 101"/>
                    <a:gd name="T4" fmla="*/ 0 w 93"/>
                    <a:gd name="T5" fmla="*/ 33 h 101"/>
                  </a:gdLst>
                  <a:ahLst/>
                  <a:cxnLst>
                    <a:cxn ang="0">
                      <a:pos x="T0" y="T1"/>
                    </a:cxn>
                    <a:cxn ang="0">
                      <a:pos x="T2" y="T3"/>
                    </a:cxn>
                    <a:cxn ang="0">
                      <a:pos x="T4" y="T5"/>
                    </a:cxn>
                  </a:cxnLst>
                  <a:rect l="0" t="0" r="r" b="b"/>
                  <a:pathLst>
                    <a:path w="93" h="101">
                      <a:moveTo>
                        <a:pt x="93" y="101"/>
                      </a:moveTo>
                      <a:cubicBezTo>
                        <a:pt x="38" y="41"/>
                        <a:pt x="68" y="0"/>
                        <a:pt x="68" y="0"/>
                      </a:cubicBezTo>
                      <a:cubicBezTo>
                        <a:pt x="68" y="0"/>
                        <a:pt x="61" y="29"/>
                        <a:pt x="0" y="3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57" name="Freeform 442">
                  <a:extLst>
                    <a:ext uri="{FF2B5EF4-FFF2-40B4-BE49-F238E27FC236}">
                      <a16:creationId xmlns:a16="http://schemas.microsoft.com/office/drawing/2014/main" id="{44B00D64-B121-4E3D-9A3E-999A96FBF4CE}"/>
                    </a:ext>
                  </a:extLst>
                </p:cNvPr>
                <p:cNvSpPr>
                  <a:spLocks/>
                </p:cNvSpPr>
                <p:nvPr/>
              </p:nvSpPr>
              <p:spPr bwMode="auto">
                <a:xfrm>
                  <a:off x="4594217" y="3196131"/>
                  <a:ext cx="28667" cy="18315"/>
                </a:xfrm>
                <a:custGeom>
                  <a:avLst/>
                  <a:gdLst>
                    <a:gd name="T0" fmla="*/ 38 w 38"/>
                    <a:gd name="T1" fmla="*/ 25 h 25"/>
                    <a:gd name="T2" fmla="*/ 0 w 38"/>
                    <a:gd name="T3" fmla="*/ 6 h 25"/>
                  </a:gdLst>
                  <a:ahLst/>
                  <a:cxnLst>
                    <a:cxn ang="0">
                      <a:pos x="T0" y="T1"/>
                    </a:cxn>
                    <a:cxn ang="0">
                      <a:pos x="T2" y="T3"/>
                    </a:cxn>
                  </a:cxnLst>
                  <a:rect l="0" t="0" r="r" b="b"/>
                  <a:pathLst>
                    <a:path w="38" h="25">
                      <a:moveTo>
                        <a:pt x="38" y="25"/>
                      </a:moveTo>
                      <a:cubicBezTo>
                        <a:pt x="38" y="25"/>
                        <a:pt x="25" y="0"/>
                        <a:pt x="0" y="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58" name="Freeform 443">
                  <a:extLst>
                    <a:ext uri="{FF2B5EF4-FFF2-40B4-BE49-F238E27FC236}">
                      <a16:creationId xmlns:a16="http://schemas.microsoft.com/office/drawing/2014/main" id="{534AA706-EE9D-4BB9-8CE9-D287E725DEC1}"/>
                    </a:ext>
                  </a:extLst>
                </p:cNvPr>
                <p:cNvSpPr>
                  <a:spLocks/>
                </p:cNvSpPr>
                <p:nvPr/>
              </p:nvSpPr>
              <p:spPr bwMode="auto">
                <a:xfrm>
                  <a:off x="4563958" y="3276557"/>
                  <a:ext cx="123427" cy="73260"/>
                </a:xfrm>
                <a:custGeom>
                  <a:avLst/>
                  <a:gdLst>
                    <a:gd name="T0" fmla="*/ 165 w 165"/>
                    <a:gd name="T1" fmla="*/ 0 h 97"/>
                    <a:gd name="T2" fmla="*/ 92 w 165"/>
                    <a:gd name="T3" fmla="*/ 92 h 97"/>
                    <a:gd name="T4" fmla="*/ 0 w 165"/>
                    <a:gd name="T5" fmla="*/ 89 h 97"/>
                  </a:gdLst>
                  <a:ahLst/>
                  <a:cxnLst>
                    <a:cxn ang="0">
                      <a:pos x="T0" y="T1"/>
                    </a:cxn>
                    <a:cxn ang="0">
                      <a:pos x="T2" y="T3"/>
                    </a:cxn>
                    <a:cxn ang="0">
                      <a:pos x="T4" y="T5"/>
                    </a:cxn>
                  </a:cxnLst>
                  <a:rect l="0" t="0" r="r" b="b"/>
                  <a:pathLst>
                    <a:path w="165" h="97">
                      <a:moveTo>
                        <a:pt x="165" y="0"/>
                      </a:moveTo>
                      <a:cubicBezTo>
                        <a:pt x="165" y="0"/>
                        <a:pt x="144" y="87"/>
                        <a:pt x="92" y="92"/>
                      </a:cubicBezTo>
                      <a:cubicBezTo>
                        <a:pt x="39" y="97"/>
                        <a:pt x="80" y="69"/>
                        <a:pt x="0" y="8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59" name="Freeform 444">
                  <a:extLst>
                    <a:ext uri="{FF2B5EF4-FFF2-40B4-BE49-F238E27FC236}">
                      <a16:creationId xmlns:a16="http://schemas.microsoft.com/office/drawing/2014/main" id="{D8F2DE21-C4A5-4593-8D68-5301A856F4BC}"/>
                    </a:ext>
                  </a:extLst>
                </p:cNvPr>
                <p:cNvSpPr>
                  <a:spLocks/>
                </p:cNvSpPr>
                <p:nvPr/>
              </p:nvSpPr>
              <p:spPr bwMode="auto">
                <a:xfrm>
                  <a:off x="4554402" y="3274169"/>
                  <a:ext cx="43000" cy="48575"/>
                </a:xfrm>
                <a:custGeom>
                  <a:avLst/>
                  <a:gdLst>
                    <a:gd name="T0" fmla="*/ 57 w 57"/>
                    <a:gd name="T1" fmla="*/ 0 h 65"/>
                    <a:gd name="T2" fmla="*/ 17 w 57"/>
                    <a:gd name="T3" fmla="*/ 31 h 65"/>
                    <a:gd name="T4" fmla="*/ 0 w 57"/>
                    <a:gd name="T5" fmla="*/ 65 h 65"/>
                  </a:gdLst>
                  <a:ahLst/>
                  <a:cxnLst>
                    <a:cxn ang="0">
                      <a:pos x="T0" y="T1"/>
                    </a:cxn>
                    <a:cxn ang="0">
                      <a:pos x="T2" y="T3"/>
                    </a:cxn>
                    <a:cxn ang="0">
                      <a:pos x="T4" y="T5"/>
                    </a:cxn>
                  </a:cxnLst>
                  <a:rect l="0" t="0" r="r" b="b"/>
                  <a:pathLst>
                    <a:path w="57" h="65">
                      <a:moveTo>
                        <a:pt x="57" y="0"/>
                      </a:moveTo>
                      <a:cubicBezTo>
                        <a:pt x="57" y="0"/>
                        <a:pt x="28" y="7"/>
                        <a:pt x="17" y="31"/>
                      </a:cubicBezTo>
                      <a:cubicBezTo>
                        <a:pt x="5" y="55"/>
                        <a:pt x="10" y="57"/>
                        <a:pt x="0" y="6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60" name="Freeform 445">
                  <a:extLst>
                    <a:ext uri="{FF2B5EF4-FFF2-40B4-BE49-F238E27FC236}">
                      <a16:creationId xmlns:a16="http://schemas.microsoft.com/office/drawing/2014/main" id="{4BC64F2B-9147-40C5-BF68-FD7A464A536F}"/>
                    </a:ext>
                  </a:extLst>
                </p:cNvPr>
                <p:cNvSpPr>
                  <a:spLocks/>
                </p:cNvSpPr>
                <p:nvPr/>
              </p:nvSpPr>
              <p:spPr bwMode="auto">
                <a:xfrm>
                  <a:off x="4474772" y="3287706"/>
                  <a:ext cx="72464" cy="95556"/>
                </a:xfrm>
                <a:custGeom>
                  <a:avLst/>
                  <a:gdLst>
                    <a:gd name="T0" fmla="*/ 0 w 96"/>
                    <a:gd name="T1" fmla="*/ 0 h 127"/>
                    <a:gd name="T2" fmla="*/ 96 w 96"/>
                    <a:gd name="T3" fmla="*/ 74 h 127"/>
                  </a:gdLst>
                  <a:ahLst/>
                  <a:cxnLst>
                    <a:cxn ang="0">
                      <a:pos x="T0" y="T1"/>
                    </a:cxn>
                    <a:cxn ang="0">
                      <a:pos x="T2" y="T3"/>
                    </a:cxn>
                  </a:cxnLst>
                  <a:rect l="0" t="0" r="r" b="b"/>
                  <a:pathLst>
                    <a:path w="96" h="127">
                      <a:moveTo>
                        <a:pt x="0" y="0"/>
                      </a:moveTo>
                      <a:cubicBezTo>
                        <a:pt x="0" y="0"/>
                        <a:pt x="37" y="127"/>
                        <a:pt x="96" y="7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61" name="Freeform 446">
                  <a:extLst>
                    <a:ext uri="{FF2B5EF4-FFF2-40B4-BE49-F238E27FC236}">
                      <a16:creationId xmlns:a16="http://schemas.microsoft.com/office/drawing/2014/main" id="{C7446757-8BCB-4904-A82E-E955CE5C37D7}"/>
                    </a:ext>
                  </a:extLst>
                </p:cNvPr>
                <p:cNvSpPr>
                  <a:spLocks/>
                </p:cNvSpPr>
                <p:nvPr/>
              </p:nvSpPr>
              <p:spPr bwMode="auto">
                <a:xfrm>
                  <a:off x="4523347" y="3354595"/>
                  <a:ext cx="14333" cy="33445"/>
                </a:xfrm>
                <a:custGeom>
                  <a:avLst/>
                  <a:gdLst>
                    <a:gd name="T0" fmla="*/ 0 w 19"/>
                    <a:gd name="T1" fmla="*/ 0 h 44"/>
                    <a:gd name="T2" fmla="*/ 16 w 19"/>
                    <a:gd name="T3" fmla="*/ 44 h 44"/>
                  </a:gdLst>
                  <a:ahLst/>
                  <a:cxnLst>
                    <a:cxn ang="0">
                      <a:pos x="T0" y="T1"/>
                    </a:cxn>
                    <a:cxn ang="0">
                      <a:pos x="T2" y="T3"/>
                    </a:cxn>
                  </a:cxnLst>
                  <a:rect l="0" t="0" r="r" b="b"/>
                  <a:pathLst>
                    <a:path w="19" h="44">
                      <a:moveTo>
                        <a:pt x="0" y="0"/>
                      </a:moveTo>
                      <a:cubicBezTo>
                        <a:pt x="0" y="0"/>
                        <a:pt x="19" y="20"/>
                        <a:pt x="16" y="4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62" name="Freeform 447">
                  <a:extLst>
                    <a:ext uri="{FF2B5EF4-FFF2-40B4-BE49-F238E27FC236}">
                      <a16:creationId xmlns:a16="http://schemas.microsoft.com/office/drawing/2014/main" id="{A893A20A-C22C-42C8-AC0C-C138A1C09DE7}"/>
                    </a:ext>
                  </a:extLst>
                </p:cNvPr>
                <p:cNvSpPr>
                  <a:spLocks/>
                </p:cNvSpPr>
                <p:nvPr/>
              </p:nvSpPr>
              <p:spPr bwMode="auto">
                <a:xfrm>
                  <a:off x="4641199" y="3342651"/>
                  <a:ext cx="101927" cy="138557"/>
                </a:xfrm>
                <a:custGeom>
                  <a:avLst/>
                  <a:gdLst>
                    <a:gd name="T0" fmla="*/ 3 w 136"/>
                    <a:gd name="T1" fmla="*/ 0 h 184"/>
                    <a:gd name="T2" fmla="*/ 12 w 136"/>
                    <a:gd name="T3" fmla="*/ 40 h 184"/>
                    <a:gd name="T4" fmla="*/ 13 w 136"/>
                    <a:gd name="T5" fmla="*/ 123 h 184"/>
                    <a:gd name="T6" fmla="*/ 70 w 136"/>
                    <a:gd name="T7" fmla="*/ 165 h 184"/>
                    <a:gd name="T8" fmla="*/ 100 w 136"/>
                    <a:gd name="T9" fmla="*/ 179 h 184"/>
                    <a:gd name="T10" fmla="*/ 136 w 136"/>
                    <a:gd name="T11" fmla="*/ 181 h 184"/>
                  </a:gdLst>
                  <a:ahLst/>
                  <a:cxnLst>
                    <a:cxn ang="0">
                      <a:pos x="T0" y="T1"/>
                    </a:cxn>
                    <a:cxn ang="0">
                      <a:pos x="T2" y="T3"/>
                    </a:cxn>
                    <a:cxn ang="0">
                      <a:pos x="T4" y="T5"/>
                    </a:cxn>
                    <a:cxn ang="0">
                      <a:pos x="T6" y="T7"/>
                    </a:cxn>
                    <a:cxn ang="0">
                      <a:pos x="T8" y="T9"/>
                    </a:cxn>
                    <a:cxn ang="0">
                      <a:pos x="T10" y="T11"/>
                    </a:cxn>
                  </a:cxnLst>
                  <a:rect l="0" t="0" r="r" b="b"/>
                  <a:pathLst>
                    <a:path w="136" h="184">
                      <a:moveTo>
                        <a:pt x="3" y="0"/>
                      </a:moveTo>
                      <a:cubicBezTo>
                        <a:pt x="3" y="0"/>
                        <a:pt x="24" y="4"/>
                        <a:pt x="12" y="40"/>
                      </a:cubicBezTo>
                      <a:cubicBezTo>
                        <a:pt x="0" y="76"/>
                        <a:pt x="4" y="111"/>
                        <a:pt x="13" y="123"/>
                      </a:cubicBezTo>
                      <a:cubicBezTo>
                        <a:pt x="22" y="135"/>
                        <a:pt x="21" y="154"/>
                        <a:pt x="70" y="165"/>
                      </a:cubicBezTo>
                      <a:cubicBezTo>
                        <a:pt x="90" y="170"/>
                        <a:pt x="90" y="175"/>
                        <a:pt x="100" y="179"/>
                      </a:cubicBezTo>
                      <a:cubicBezTo>
                        <a:pt x="111" y="184"/>
                        <a:pt x="99" y="184"/>
                        <a:pt x="136" y="18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63" name="Freeform 448">
                  <a:extLst>
                    <a:ext uri="{FF2B5EF4-FFF2-40B4-BE49-F238E27FC236}">
                      <a16:creationId xmlns:a16="http://schemas.microsoft.com/office/drawing/2014/main" id="{4C10504A-D7EB-471F-BAC2-6A7A2D7513B9}"/>
                    </a:ext>
                  </a:extLst>
                </p:cNvPr>
                <p:cNvSpPr>
                  <a:spLocks/>
                </p:cNvSpPr>
                <p:nvPr/>
              </p:nvSpPr>
              <p:spPr bwMode="auto">
                <a:xfrm>
                  <a:off x="4571125" y="3412725"/>
                  <a:ext cx="74056" cy="25482"/>
                </a:xfrm>
                <a:custGeom>
                  <a:avLst/>
                  <a:gdLst>
                    <a:gd name="T0" fmla="*/ 99 w 99"/>
                    <a:gd name="T1" fmla="*/ 0 h 34"/>
                    <a:gd name="T2" fmla="*/ 44 w 99"/>
                    <a:gd name="T3" fmla="*/ 25 h 34"/>
                    <a:gd name="T4" fmla="*/ 0 w 99"/>
                    <a:gd name="T5" fmla="*/ 20 h 34"/>
                  </a:gdLst>
                  <a:ahLst/>
                  <a:cxnLst>
                    <a:cxn ang="0">
                      <a:pos x="T0" y="T1"/>
                    </a:cxn>
                    <a:cxn ang="0">
                      <a:pos x="T2" y="T3"/>
                    </a:cxn>
                    <a:cxn ang="0">
                      <a:pos x="T4" y="T5"/>
                    </a:cxn>
                  </a:cxnLst>
                  <a:rect l="0" t="0" r="r" b="b"/>
                  <a:pathLst>
                    <a:path w="99" h="34">
                      <a:moveTo>
                        <a:pt x="99" y="0"/>
                      </a:moveTo>
                      <a:cubicBezTo>
                        <a:pt x="99" y="0"/>
                        <a:pt x="81" y="34"/>
                        <a:pt x="44" y="25"/>
                      </a:cubicBezTo>
                      <a:cubicBezTo>
                        <a:pt x="6" y="17"/>
                        <a:pt x="8" y="19"/>
                        <a:pt x="0" y="2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64" name="Freeform 449">
                  <a:extLst>
                    <a:ext uri="{FF2B5EF4-FFF2-40B4-BE49-F238E27FC236}">
                      <a16:creationId xmlns:a16="http://schemas.microsoft.com/office/drawing/2014/main" id="{B6EDD34D-5663-4FA1-8A09-8F28C4460201}"/>
                    </a:ext>
                  </a:extLst>
                </p:cNvPr>
                <p:cNvSpPr>
                  <a:spLocks/>
                </p:cNvSpPr>
                <p:nvPr/>
              </p:nvSpPr>
              <p:spPr bwMode="auto">
                <a:xfrm>
                  <a:off x="4539273" y="3244705"/>
                  <a:ext cx="41408" cy="39815"/>
                </a:xfrm>
                <a:custGeom>
                  <a:avLst/>
                  <a:gdLst>
                    <a:gd name="T0" fmla="*/ 14 w 55"/>
                    <a:gd name="T1" fmla="*/ 0 h 53"/>
                    <a:gd name="T2" fmla="*/ 55 w 55"/>
                    <a:gd name="T3" fmla="*/ 46 h 53"/>
                  </a:gdLst>
                  <a:ahLst/>
                  <a:cxnLst>
                    <a:cxn ang="0">
                      <a:pos x="T0" y="T1"/>
                    </a:cxn>
                    <a:cxn ang="0">
                      <a:pos x="T2" y="T3"/>
                    </a:cxn>
                  </a:cxnLst>
                  <a:rect l="0" t="0" r="r" b="b"/>
                  <a:pathLst>
                    <a:path w="55" h="53">
                      <a:moveTo>
                        <a:pt x="14" y="0"/>
                      </a:moveTo>
                      <a:cubicBezTo>
                        <a:pt x="14" y="0"/>
                        <a:pt x="0" y="53"/>
                        <a:pt x="55" y="4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65" name="Freeform 450">
                  <a:extLst>
                    <a:ext uri="{FF2B5EF4-FFF2-40B4-BE49-F238E27FC236}">
                      <a16:creationId xmlns:a16="http://schemas.microsoft.com/office/drawing/2014/main" id="{665012B2-4F1F-4DA1-9572-7CA462D7C41D}"/>
                    </a:ext>
                  </a:extLst>
                </p:cNvPr>
                <p:cNvSpPr>
                  <a:spLocks/>
                </p:cNvSpPr>
                <p:nvPr/>
              </p:nvSpPr>
              <p:spPr bwMode="auto">
                <a:xfrm>
                  <a:off x="4475568" y="3390429"/>
                  <a:ext cx="246058" cy="121038"/>
                </a:xfrm>
                <a:custGeom>
                  <a:avLst/>
                  <a:gdLst>
                    <a:gd name="T0" fmla="*/ 13 w 327"/>
                    <a:gd name="T1" fmla="*/ 0 h 160"/>
                    <a:gd name="T2" fmla="*/ 50 w 327"/>
                    <a:gd name="T3" fmla="*/ 69 h 160"/>
                    <a:gd name="T4" fmla="*/ 80 w 327"/>
                    <a:gd name="T5" fmla="*/ 100 h 160"/>
                    <a:gd name="T6" fmla="*/ 160 w 327"/>
                    <a:gd name="T7" fmla="*/ 141 h 160"/>
                    <a:gd name="T8" fmla="*/ 231 w 327"/>
                    <a:gd name="T9" fmla="*/ 155 h 160"/>
                    <a:gd name="T10" fmla="*/ 327 w 327"/>
                    <a:gd name="T11" fmla="*/ 152 h 160"/>
                  </a:gdLst>
                  <a:ahLst/>
                  <a:cxnLst>
                    <a:cxn ang="0">
                      <a:pos x="T0" y="T1"/>
                    </a:cxn>
                    <a:cxn ang="0">
                      <a:pos x="T2" y="T3"/>
                    </a:cxn>
                    <a:cxn ang="0">
                      <a:pos x="T4" y="T5"/>
                    </a:cxn>
                    <a:cxn ang="0">
                      <a:pos x="T6" y="T7"/>
                    </a:cxn>
                    <a:cxn ang="0">
                      <a:pos x="T8" y="T9"/>
                    </a:cxn>
                    <a:cxn ang="0">
                      <a:pos x="T10" y="T11"/>
                    </a:cxn>
                  </a:cxnLst>
                  <a:rect l="0" t="0" r="r" b="b"/>
                  <a:pathLst>
                    <a:path w="327" h="160">
                      <a:moveTo>
                        <a:pt x="13" y="0"/>
                      </a:moveTo>
                      <a:cubicBezTo>
                        <a:pt x="13" y="0"/>
                        <a:pt x="0" y="36"/>
                        <a:pt x="50" y="69"/>
                      </a:cubicBezTo>
                      <a:cubicBezTo>
                        <a:pt x="83" y="90"/>
                        <a:pt x="78" y="96"/>
                        <a:pt x="80" y="100"/>
                      </a:cubicBezTo>
                      <a:cubicBezTo>
                        <a:pt x="81" y="103"/>
                        <a:pt x="91" y="130"/>
                        <a:pt x="160" y="141"/>
                      </a:cubicBezTo>
                      <a:cubicBezTo>
                        <a:pt x="229" y="152"/>
                        <a:pt x="209" y="150"/>
                        <a:pt x="231" y="155"/>
                      </a:cubicBezTo>
                      <a:cubicBezTo>
                        <a:pt x="252" y="160"/>
                        <a:pt x="276" y="159"/>
                        <a:pt x="327" y="15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66" name="Freeform 451">
                  <a:extLst>
                    <a:ext uri="{FF2B5EF4-FFF2-40B4-BE49-F238E27FC236}">
                      <a16:creationId xmlns:a16="http://schemas.microsoft.com/office/drawing/2014/main" id="{35679858-7845-434D-9EAE-BDD2DD6A1403}"/>
                    </a:ext>
                  </a:extLst>
                </p:cNvPr>
                <p:cNvSpPr>
                  <a:spLocks/>
                </p:cNvSpPr>
                <p:nvPr/>
              </p:nvSpPr>
              <p:spPr bwMode="auto">
                <a:xfrm>
                  <a:off x="4803645" y="3498726"/>
                  <a:ext cx="43797" cy="43000"/>
                </a:xfrm>
                <a:custGeom>
                  <a:avLst/>
                  <a:gdLst>
                    <a:gd name="T0" fmla="*/ 0 w 59"/>
                    <a:gd name="T1" fmla="*/ 0 h 58"/>
                    <a:gd name="T2" fmla="*/ 18 w 59"/>
                    <a:gd name="T3" fmla="*/ 58 h 58"/>
                  </a:gdLst>
                  <a:ahLst/>
                  <a:cxnLst>
                    <a:cxn ang="0">
                      <a:pos x="T0" y="T1"/>
                    </a:cxn>
                    <a:cxn ang="0">
                      <a:pos x="T2" y="T3"/>
                    </a:cxn>
                  </a:cxnLst>
                  <a:rect l="0" t="0" r="r" b="b"/>
                  <a:pathLst>
                    <a:path w="59" h="58">
                      <a:moveTo>
                        <a:pt x="0" y="0"/>
                      </a:moveTo>
                      <a:cubicBezTo>
                        <a:pt x="0" y="0"/>
                        <a:pt x="59" y="12"/>
                        <a:pt x="18" y="5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67" name="Freeform 453">
                  <a:extLst>
                    <a:ext uri="{FF2B5EF4-FFF2-40B4-BE49-F238E27FC236}">
                      <a16:creationId xmlns:a16="http://schemas.microsoft.com/office/drawing/2014/main" id="{6A519C5D-4FAE-4B05-984E-8445C206AFDB}"/>
                    </a:ext>
                  </a:extLst>
                </p:cNvPr>
                <p:cNvSpPr>
                  <a:spLocks/>
                </p:cNvSpPr>
                <p:nvPr/>
              </p:nvSpPr>
              <p:spPr bwMode="auto">
                <a:xfrm>
                  <a:off x="4516180" y="3536949"/>
                  <a:ext cx="44593" cy="17519"/>
                </a:xfrm>
                <a:custGeom>
                  <a:avLst/>
                  <a:gdLst>
                    <a:gd name="T0" fmla="*/ 59 w 59"/>
                    <a:gd name="T1" fmla="*/ 0 h 24"/>
                    <a:gd name="T2" fmla="*/ 38 w 59"/>
                    <a:gd name="T3" fmla="*/ 12 h 24"/>
                    <a:gd name="T4" fmla="*/ 0 w 59"/>
                    <a:gd name="T5" fmla="*/ 21 h 24"/>
                  </a:gdLst>
                  <a:ahLst/>
                  <a:cxnLst>
                    <a:cxn ang="0">
                      <a:pos x="T0" y="T1"/>
                    </a:cxn>
                    <a:cxn ang="0">
                      <a:pos x="T2" y="T3"/>
                    </a:cxn>
                    <a:cxn ang="0">
                      <a:pos x="T4" y="T5"/>
                    </a:cxn>
                  </a:cxnLst>
                  <a:rect l="0" t="0" r="r" b="b"/>
                  <a:pathLst>
                    <a:path w="59" h="24">
                      <a:moveTo>
                        <a:pt x="59" y="0"/>
                      </a:moveTo>
                      <a:cubicBezTo>
                        <a:pt x="59" y="0"/>
                        <a:pt x="42" y="7"/>
                        <a:pt x="38" y="12"/>
                      </a:cubicBezTo>
                      <a:cubicBezTo>
                        <a:pt x="35" y="17"/>
                        <a:pt x="40" y="24"/>
                        <a:pt x="0" y="2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68" name="Freeform 454">
                  <a:extLst>
                    <a:ext uri="{FF2B5EF4-FFF2-40B4-BE49-F238E27FC236}">
                      <a16:creationId xmlns:a16="http://schemas.microsoft.com/office/drawing/2014/main" id="{FFE73D12-A996-4452-83B9-67B97D8F0E2A}"/>
                    </a:ext>
                  </a:extLst>
                </p:cNvPr>
                <p:cNvSpPr>
                  <a:spLocks/>
                </p:cNvSpPr>
                <p:nvPr/>
              </p:nvSpPr>
              <p:spPr bwMode="auto">
                <a:xfrm>
                  <a:off x="4589439" y="3552875"/>
                  <a:ext cx="190317" cy="30259"/>
                </a:xfrm>
                <a:custGeom>
                  <a:avLst/>
                  <a:gdLst>
                    <a:gd name="T0" fmla="*/ 254 w 254"/>
                    <a:gd name="T1" fmla="*/ 16 h 41"/>
                    <a:gd name="T2" fmla="*/ 191 w 254"/>
                    <a:gd name="T3" fmla="*/ 32 h 41"/>
                    <a:gd name="T4" fmla="*/ 125 w 254"/>
                    <a:gd name="T5" fmla="*/ 22 h 41"/>
                    <a:gd name="T6" fmla="*/ 77 w 254"/>
                    <a:gd name="T7" fmla="*/ 27 h 41"/>
                    <a:gd name="T8" fmla="*/ 0 w 254"/>
                    <a:gd name="T9" fmla="*/ 0 h 41"/>
                    <a:gd name="T10" fmla="*/ 5 w 254"/>
                    <a:gd name="T11" fmla="*/ 26 h 41"/>
                  </a:gdLst>
                  <a:ahLst/>
                  <a:cxnLst>
                    <a:cxn ang="0">
                      <a:pos x="T0" y="T1"/>
                    </a:cxn>
                    <a:cxn ang="0">
                      <a:pos x="T2" y="T3"/>
                    </a:cxn>
                    <a:cxn ang="0">
                      <a:pos x="T4" y="T5"/>
                    </a:cxn>
                    <a:cxn ang="0">
                      <a:pos x="T6" y="T7"/>
                    </a:cxn>
                    <a:cxn ang="0">
                      <a:pos x="T8" y="T9"/>
                    </a:cxn>
                    <a:cxn ang="0">
                      <a:pos x="T10" y="T11"/>
                    </a:cxn>
                  </a:cxnLst>
                  <a:rect l="0" t="0" r="r" b="b"/>
                  <a:pathLst>
                    <a:path w="254" h="41">
                      <a:moveTo>
                        <a:pt x="254" y="16"/>
                      </a:moveTo>
                      <a:cubicBezTo>
                        <a:pt x="254" y="16"/>
                        <a:pt x="239" y="37"/>
                        <a:pt x="191" y="32"/>
                      </a:cubicBezTo>
                      <a:cubicBezTo>
                        <a:pt x="144" y="27"/>
                        <a:pt x="141" y="26"/>
                        <a:pt x="125" y="22"/>
                      </a:cubicBezTo>
                      <a:cubicBezTo>
                        <a:pt x="108" y="18"/>
                        <a:pt x="95" y="25"/>
                        <a:pt x="77" y="27"/>
                      </a:cubicBezTo>
                      <a:cubicBezTo>
                        <a:pt x="59" y="29"/>
                        <a:pt x="27" y="41"/>
                        <a:pt x="0" y="0"/>
                      </a:cubicBezTo>
                      <a:cubicBezTo>
                        <a:pt x="0" y="0"/>
                        <a:pt x="8" y="17"/>
                        <a:pt x="5" y="2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69" name="Freeform 455">
                  <a:extLst>
                    <a:ext uri="{FF2B5EF4-FFF2-40B4-BE49-F238E27FC236}">
                      <a16:creationId xmlns:a16="http://schemas.microsoft.com/office/drawing/2014/main" id="{911D8103-510E-4DBF-82BB-39447AC32E93}"/>
                    </a:ext>
                  </a:extLst>
                </p:cNvPr>
                <p:cNvSpPr>
                  <a:spLocks/>
                </p:cNvSpPr>
                <p:nvPr/>
              </p:nvSpPr>
              <p:spPr bwMode="auto">
                <a:xfrm>
                  <a:off x="4760645" y="3546504"/>
                  <a:ext cx="33445" cy="39019"/>
                </a:xfrm>
                <a:custGeom>
                  <a:avLst/>
                  <a:gdLst>
                    <a:gd name="T0" fmla="*/ 45 w 45"/>
                    <a:gd name="T1" fmla="*/ 0 h 52"/>
                    <a:gd name="T2" fmla="*/ 39 w 45"/>
                    <a:gd name="T3" fmla="*/ 52 h 52"/>
                  </a:gdLst>
                  <a:ahLst/>
                  <a:cxnLst>
                    <a:cxn ang="0">
                      <a:pos x="T0" y="T1"/>
                    </a:cxn>
                    <a:cxn ang="0">
                      <a:pos x="T2" y="T3"/>
                    </a:cxn>
                  </a:cxnLst>
                  <a:rect l="0" t="0" r="r" b="b"/>
                  <a:pathLst>
                    <a:path w="45" h="52">
                      <a:moveTo>
                        <a:pt x="45" y="0"/>
                      </a:moveTo>
                      <a:cubicBezTo>
                        <a:pt x="45" y="0"/>
                        <a:pt x="0" y="29"/>
                        <a:pt x="39" y="5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70" name="Freeform 456">
                  <a:extLst>
                    <a:ext uri="{FF2B5EF4-FFF2-40B4-BE49-F238E27FC236}">
                      <a16:creationId xmlns:a16="http://schemas.microsoft.com/office/drawing/2014/main" id="{31A98EAB-0B47-4B43-98EA-19EE55FC5025}"/>
                    </a:ext>
                  </a:extLst>
                </p:cNvPr>
                <p:cNvSpPr>
                  <a:spLocks/>
                </p:cNvSpPr>
                <p:nvPr/>
              </p:nvSpPr>
              <p:spPr bwMode="auto">
                <a:xfrm>
                  <a:off x="4801256" y="3245502"/>
                  <a:ext cx="67686" cy="33445"/>
                </a:xfrm>
                <a:custGeom>
                  <a:avLst/>
                  <a:gdLst>
                    <a:gd name="T0" fmla="*/ 90 w 90"/>
                    <a:gd name="T1" fmla="*/ 0 h 44"/>
                    <a:gd name="T2" fmla="*/ 0 w 90"/>
                    <a:gd name="T3" fmla="*/ 13 h 44"/>
                  </a:gdLst>
                  <a:ahLst/>
                  <a:cxnLst>
                    <a:cxn ang="0">
                      <a:pos x="T0" y="T1"/>
                    </a:cxn>
                    <a:cxn ang="0">
                      <a:pos x="T2" y="T3"/>
                    </a:cxn>
                  </a:cxnLst>
                  <a:rect l="0" t="0" r="r" b="b"/>
                  <a:pathLst>
                    <a:path w="90" h="44">
                      <a:moveTo>
                        <a:pt x="90" y="0"/>
                      </a:moveTo>
                      <a:cubicBezTo>
                        <a:pt x="90" y="0"/>
                        <a:pt x="62" y="44"/>
                        <a:pt x="0" y="1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71" name="Freeform 457">
                  <a:extLst>
                    <a:ext uri="{FF2B5EF4-FFF2-40B4-BE49-F238E27FC236}">
                      <a16:creationId xmlns:a16="http://schemas.microsoft.com/office/drawing/2014/main" id="{53E65790-8288-448B-802B-EEC0B926A5C5}"/>
                    </a:ext>
                  </a:extLst>
                </p:cNvPr>
                <p:cNvSpPr>
                  <a:spLocks/>
                </p:cNvSpPr>
                <p:nvPr/>
              </p:nvSpPr>
              <p:spPr bwMode="auto">
                <a:xfrm>
                  <a:off x="4695348" y="3265409"/>
                  <a:ext cx="132186" cy="57334"/>
                </a:xfrm>
                <a:custGeom>
                  <a:avLst/>
                  <a:gdLst>
                    <a:gd name="T0" fmla="*/ 176 w 176"/>
                    <a:gd name="T1" fmla="*/ 0 h 77"/>
                    <a:gd name="T2" fmla="*/ 91 w 176"/>
                    <a:gd name="T3" fmla="*/ 27 h 77"/>
                    <a:gd name="T4" fmla="*/ 0 w 176"/>
                    <a:gd name="T5" fmla="*/ 75 h 77"/>
                  </a:gdLst>
                  <a:ahLst/>
                  <a:cxnLst>
                    <a:cxn ang="0">
                      <a:pos x="T0" y="T1"/>
                    </a:cxn>
                    <a:cxn ang="0">
                      <a:pos x="T2" y="T3"/>
                    </a:cxn>
                    <a:cxn ang="0">
                      <a:pos x="T4" y="T5"/>
                    </a:cxn>
                  </a:cxnLst>
                  <a:rect l="0" t="0" r="r" b="b"/>
                  <a:pathLst>
                    <a:path w="176" h="77">
                      <a:moveTo>
                        <a:pt x="176" y="0"/>
                      </a:moveTo>
                      <a:cubicBezTo>
                        <a:pt x="176" y="0"/>
                        <a:pt x="109" y="10"/>
                        <a:pt x="91" y="27"/>
                      </a:cubicBezTo>
                      <a:cubicBezTo>
                        <a:pt x="73" y="44"/>
                        <a:pt x="41" y="77"/>
                        <a:pt x="0" y="7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72" name="Freeform 458">
                  <a:extLst>
                    <a:ext uri="{FF2B5EF4-FFF2-40B4-BE49-F238E27FC236}">
                      <a16:creationId xmlns:a16="http://schemas.microsoft.com/office/drawing/2014/main" id="{C524B753-02FD-4139-966A-A7BE34BD10BA}"/>
                    </a:ext>
                  </a:extLst>
                </p:cNvPr>
                <p:cNvSpPr>
                  <a:spLocks/>
                </p:cNvSpPr>
                <p:nvPr/>
              </p:nvSpPr>
              <p:spPr bwMode="auto">
                <a:xfrm>
                  <a:off x="4694551" y="3321150"/>
                  <a:ext cx="17519" cy="55741"/>
                </a:xfrm>
                <a:custGeom>
                  <a:avLst/>
                  <a:gdLst>
                    <a:gd name="T0" fmla="*/ 23 w 23"/>
                    <a:gd name="T1" fmla="*/ 0 h 75"/>
                    <a:gd name="T2" fmla="*/ 5 w 23"/>
                    <a:gd name="T3" fmla="*/ 75 h 75"/>
                  </a:gdLst>
                  <a:ahLst/>
                  <a:cxnLst>
                    <a:cxn ang="0">
                      <a:pos x="T0" y="T1"/>
                    </a:cxn>
                    <a:cxn ang="0">
                      <a:pos x="T2" y="T3"/>
                    </a:cxn>
                  </a:cxnLst>
                  <a:rect l="0" t="0" r="r" b="b"/>
                  <a:pathLst>
                    <a:path w="23" h="75">
                      <a:moveTo>
                        <a:pt x="23" y="0"/>
                      </a:moveTo>
                      <a:cubicBezTo>
                        <a:pt x="23" y="0"/>
                        <a:pt x="0" y="36"/>
                        <a:pt x="5" y="7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73" name="Freeform 460">
                  <a:extLst>
                    <a:ext uri="{FF2B5EF4-FFF2-40B4-BE49-F238E27FC236}">
                      <a16:creationId xmlns:a16="http://schemas.microsoft.com/office/drawing/2014/main" id="{14D603CF-4F58-47D7-A56F-EC62FAD06F9F}"/>
                    </a:ext>
                  </a:extLst>
                </p:cNvPr>
                <p:cNvSpPr>
                  <a:spLocks/>
                </p:cNvSpPr>
                <p:nvPr/>
              </p:nvSpPr>
              <p:spPr bwMode="auto">
                <a:xfrm>
                  <a:off x="4563958" y="3281335"/>
                  <a:ext cx="6370" cy="12741"/>
                </a:xfrm>
                <a:custGeom>
                  <a:avLst/>
                  <a:gdLst>
                    <a:gd name="T0" fmla="*/ 0 w 8"/>
                    <a:gd name="T1" fmla="*/ 0 h 17"/>
                    <a:gd name="T2" fmla="*/ 5 w 8"/>
                    <a:gd name="T3" fmla="*/ 17 h 17"/>
                  </a:gdLst>
                  <a:ahLst/>
                  <a:cxnLst>
                    <a:cxn ang="0">
                      <a:pos x="T0" y="T1"/>
                    </a:cxn>
                    <a:cxn ang="0">
                      <a:pos x="T2" y="T3"/>
                    </a:cxn>
                  </a:cxnLst>
                  <a:rect l="0" t="0" r="r" b="b"/>
                  <a:pathLst>
                    <a:path w="8" h="17">
                      <a:moveTo>
                        <a:pt x="0" y="0"/>
                      </a:moveTo>
                      <a:cubicBezTo>
                        <a:pt x="0" y="0"/>
                        <a:pt x="8" y="1"/>
                        <a:pt x="5" y="1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74" name="Freeform: Shape 573">
                  <a:extLst>
                    <a:ext uri="{FF2B5EF4-FFF2-40B4-BE49-F238E27FC236}">
                      <a16:creationId xmlns:a16="http://schemas.microsoft.com/office/drawing/2014/main" id="{133C7566-16C9-43F4-9A68-438A2D1385F2}"/>
                    </a:ext>
                  </a:extLst>
                </p:cNvPr>
                <p:cNvSpPr/>
                <p:nvPr/>
              </p:nvSpPr>
              <p:spPr>
                <a:xfrm>
                  <a:off x="4856390" y="3388815"/>
                  <a:ext cx="342566" cy="313019"/>
                </a:xfrm>
                <a:custGeom>
                  <a:avLst/>
                  <a:gdLst>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27467 w 695085"/>
                    <a:gd name="connsiteY9" fmla="*/ 290555 h 454927"/>
                    <a:gd name="connsiteX10" fmla="*/ 494129 w 695085"/>
                    <a:gd name="connsiteY10" fmla="*/ 335798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17942 w 695085"/>
                    <a:gd name="connsiteY9" fmla="*/ 273886 h 454927"/>
                    <a:gd name="connsiteX10" fmla="*/ 494129 w 695085"/>
                    <a:gd name="connsiteY10" fmla="*/ 335798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17942 w 695085"/>
                    <a:gd name="connsiteY9" fmla="*/ 273886 h 454927"/>
                    <a:gd name="connsiteX10" fmla="*/ 491748 w 695085"/>
                    <a:gd name="connsiteY10" fmla="*/ 338179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4"/>
                    <a:gd name="connsiteY0" fmla="*/ 235786 h 454927"/>
                    <a:gd name="connsiteX1" fmla="*/ 127417 w 695084"/>
                    <a:gd name="connsiteY1" fmla="*/ 114342 h 454927"/>
                    <a:gd name="connsiteX2" fmla="*/ 236954 w 695084"/>
                    <a:gd name="connsiteY2" fmla="*/ 28617 h 454927"/>
                    <a:gd name="connsiteX3" fmla="*/ 401261 w 695084"/>
                    <a:gd name="connsiteY3" fmla="*/ 42 h 454927"/>
                    <a:gd name="connsiteX4" fmla="*/ 572711 w 695084"/>
                    <a:gd name="connsiteY4" fmla="*/ 33380 h 454927"/>
                    <a:gd name="connsiteX5" fmla="*/ 627479 w 695084"/>
                    <a:gd name="connsiteY5" fmla="*/ 119105 h 454927"/>
                    <a:gd name="connsiteX6" fmla="*/ 677486 w 695084"/>
                    <a:gd name="connsiteY6" fmla="*/ 214355 h 454927"/>
                    <a:gd name="connsiteX7" fmla="*/ 689392 w 695084"/>
                    <a:gd name="connsiteY7" fmla="*/ 269123 h 454927"/>
                    <a:gd name="connsiteX8" fmla="*/ 591761 w 695084"/>
                    <a:gd name="connsiteY8" fmla="*/ 273885 h 454927"/>
                    <a:gd name="connsiteX9" fmla="*/ 517942 w 695084"/>
                    <a:gd name="connsiteY9" fmla="*/ 273886 h 454927"/>
                    <a:gd name="connsiteX10" fmla="*/ 491748 w 695084"/>
                    <a:gd name="connsiteY10" fmla="*/ 338179 h 454927"/>
                    <a:gd name="connsiteX11" fmla="*/ 508417 w 695084"/>
                    <a:gd name="connsiteY11" fmla="*/ 388186 h 454927"/>
                    <a:gd name="connsiteX12" fmla="*/ 384592 w 695084"/>
                    <a:gd name="connsiteY12" fmla="*/ 404855 h 454927"/>
                    <a:gd name="connsiteX13" fmla="*/ 194092 w 695084"/>
                    <a:gd name="connsiteY13" fmla="*/ 416761 h 454927"/>
                    <a:gd name="connsiteX14" fmla="*/ 67886 w 695084"/>
                    <a:gd name="connsiteY14" fmla="*/ 454861 h 454927"/>
                    <a:gd name="connsiteX15" fmla="*/ 1211 w 695084"/>
                    <a:gd name="connsiteY15" fmla="*/ 423905 h 454927"/>
                    <a:gd name="connsiteX16" fmla="*/ 25023 w 695084"/>
                    <a:gd name="connsiteY16" fmla="*/ 352467 h 454927"/>
                    <a:gd name="connsiteX17" fmla="*/ 27404 w 695084"/>
                    <a:gd name="connsiteY17" fmla="*/ 242930 h 454927"/>
                    <a:gd name="connsiteX18" fmla="*/ 86936 w 695084"/>
                    <a:gd name="connsiteY18" fmla="*/ 235786 h 454927"/>
                    <a:gd name="connsiteX0" fmla="*/ 86936 w 682178"/>
                    <a:gd name="connsiteY0" fmla="*/ 235786 h 454927"/>
                    <a:gd name="connsiteX1" fmla="*/ 127417 w 682178"/>
                    <a:gd name="connsiteY1" fmla="*/ 114342 h 454927"/>
                    <a:gd name="connsiteX2" fmla="*/ 236954 w 682178"/>
                    <a:gd name="connsiteY2" fmla="*/ 28617 h 454927"/>
                    <a:gd name="connsiteX3" fmla="*/ 401261 w 682178"/>
                    <a:gd name="connsiteY3" fmla="*/ 42 h 454927"/>
                    <a:gd name="connsiteX4" fmla="*/ 572711 w 682178"/>
                    <a:gd name="connsiteY4" fmla="*/ 33380 h 454927"/>
                    <a:gd name="connsiteX5" fmla="*/ 627479 w 682178"/>
                    <a:gd name="connsiteY5" fmla="*/ 119105 h 454927"/>
                    <a:gd name="connsiteX6" fmla="*/ 677486 w 682178"/>
                    <a:gd name="connsiteY6" fmla="*/ 214355 h 454927"/>
                    <a:gd name="connsiteX7" fmla="*/ 670342 w 682178"/>
                    <a:gd name="connsiteY7" fmla="*/ 285792 h 454927"/>
                    <a:gd name="connsiteX8" fmla="*/ 591761 w 682178"/>
                    <a:gd name="connsiteY8" fmla="*/ 273885 h 454927"/>
                    <a:gd name="connsiteX9" fmla="*/ 517942 w 682178"/>
                    <a:gd name="connsiteY9" fmla="*/ 273886 h 454927"/>
                    <a:gd name="connsiteX10" fmla="*/ 491748 w 682178"/>
                    <a:gd name="connsiteY10" fmla="*/ 338179 h 454927"/>
                    <a:gd name="connsiteX11" fmla="*/ 508417 w 682178"/>
                    <a:gd name="connsiteY11" fmla="*/ 388186 h 454927"/>
                    <a:gd name="connsiteX12" fmla="*/ 384592 w 682178"/>
                    <a:gd name="connsiteY12" fmla="*/ 404855 h 454927"/>
                    <a:gd name="connsiteX13" fmla="*/ 194092 w 682178"/>
                    <a:gd name="connsiteY13" fmla="*/ 416761 h 454927"/>
                    <a:gd name="connsiteX14" fmla="*/ 67886 w 682178"/>
                    <a:gd name="connsiteY14" fmla="*/ 454861 h 454927"/>
                    <a:gd name="connsiteX15" fmla="*/ 1211 w 682178"/>
                    <a:gd name="connsiteY15" fmla="*/ 423905 h 454927"/>
                    <a:gd name="connsiteX16" fmla="*/ 25023 w 682178"/>
                    <a:gd name="connsiteY16" fmla="*/ 352467 h 454927"/>
                    <a:gd name="connsiteX17" fmla="*/ 27404 w 682178"/>
                    <a:gd name="connsiteY17" fmla="*/ 242930 h 454927"/>
                    <a:gd name="connsiteX18" fmla="*/ 86936 w 682178"/>
                    <a:gd name="connsiteY18" fmla="*/ 235786 h 454927"/>
                    <a:gd name="connsiteX0" fmla="*/ 86936 w 682935"/>
                    <a:gd name="connsiteY0" fmla="*/ 235786 h 454927"/>
                    <a:gd name="connsiteX1" fmla="*/ 127417 w 682935"/>
                    <a:gd name="connsiteY1" fmla="*/ 114342 h 454927"/>
                    <a:gd name="connsiteX2" fmla="*/ 236954 w 682935"/>
                    <a:gd name="connsiteY2" fmla="*/ 28617 h 454927"/>
                    <a:gd name="connsiteX3" fmla="*/ 401261 w 682935"/>
                    <a:gd name="connsiteY3" fmla="*/ 42 h 454927"/>
                    <a:gd name="connsiteX4" fmla="*/ 572711 w 682935"/>
                    <a:gd name="connsiteY4" fmla="*/ 33380 h 454927"/>
                    <a:gd name="connsiteX5" fmla="*/ 627479 w 682935"/>
                    <a:gd name="connsiteY5" fmla="*/ 119105 h 454927"/>
                    <a:gd name="connsiteX6" fmla="*/ 677486 w 682935"/>
                    <a:gd name="connsiteY6" fmla="*/ 214355 h 454927"/>
                    <a:gd name="connsiteX7" fmla="*/ 670342 w 682935"/>
                    <a:gd name="connsiteY7" fmla="*/ 285792 h 454927"/>
                    <a:gd name="connsiteX8" fmla="*/ 577473 w 682935"/>
                    <a:gd name="connsiteY8" fmla="*/ 264360 h 454927"/>
                    <a:gd name="connsiteX9" fmla="*/ 517942 w 682935"/>
                    <a:gd name="connsiteY9" fmla="*/ 273886 h 454927"/>
                    <a:gd name="connsiteX10" fmla="*/ 491748 w 682935"/>
                    <a:gd name="connsiteY10" fmla="*/ 338179 h 454927"/>
                    <a:gd name="connsiteX11" fmla="*/ 508417 w 682935"/>
                    <a:gd name="connsiteY11" fmla="*/ 388186 h 454927"/>
                    <a:gd name="connsiteX12" fmla="*/ 384592 w 682935"/>
                    <a:gd name="connsiteY12" fmla="*/ 404855 h 454927"/>
                    <a:gd name="connsiteX13" fmla="*/ 194092 w 682935"/>
                    <a:gd name="connsiteY13" fmla="*/ 416761 h 454927"/>
                    <a:gd name="connsiteX14" fmla="*/ 67886 w 682935"/>
                    <a:gd name="connsiteY14" fmla="*/ 454861 h 454927"/>
                    <a:gd name="connsiteX15" fmla="*/ 1211 w 682935"/>
                    <a:gd name="connsiteY15" fmla="*/ 423905 h 454927"/>
                    <a:gd name="connsiteX16" fmla="*/ 25023 w 682935"/>
                    <a:gd name="connsiteY16" fmla="*/ 352467 h 454927"/>
                    <a:gd name="connsiteX17" fmla="*/ 27404 w 682935"/>
                    <a:gd name="connsiteY17" fmla="*/ 242930 h 454927"/>
                    <a:gd name="connsiteX18" fmla="*/ 86936 w 682935"/>
                    <a:gd name="connsiteY18" fmla="*/ 235786 h 454927"/>
                    <a:gd name="connsiteX0" fmla="*/ 86936 w 682935"/>
                    <a:gd name="connsiteY0" fmla="*/ 235786 h 454927"/>
                    <a:gd name="connsiteX1" fmla="*/ 127417 w 682935"/>
                    <a:gd name="connsiteY1" fmla="*/ 114342 h 454927"/>
                    <a:gd name="connsiteX2" fmla="*/ 236954 w 682935"/>
                    <a:gd name="connsiteY2" fmla="*/ 28617 h 454927"/>
                    <a:gd name="connsiteX3" fmla="*/ 401261 w 682935"/>
                    <a:gd name="connsiteY3" fmla="*/ 42 h 454927"/>
                    <a:gd name="connsiteX4" fmla="*/ 572711 w 682935"/>
                    <a:gd name="connsiteY4" fmla="*/ 33380 h 454927"/>
                    <a:gd name="connsiteX5" fmla="*/ 627479 w 682935"/>
                    <a:gd name="connsiteY5" fmla="*/ 119105 h 454927"/>
                    <a:gd name="connsiteX6" fmla="*/ 677486 w 682935"/>
                    <a:gd name="connsiteY6" fmla="*/ 214355 h 454927"/>
                    <a:gd name="connsiteX7" fmla="*/ 670342 w 682935"/>
                    <a:gd name="connsiteY7" fmla="*/ 285792 h 454927"/>
                    <a:gd name="connsiteX8" fmla="*/ 577473 w 682935"/>
                    <a:gd name="connsiteY8" fmla="*/ 264360 h 454927"/>
                    <a:gd name="connsiteX9" fmla="*/ 517942 w 682935"/>
                    <a:gd name="connsiteY9" fmla="*/ 273886 h 454927"/>
                    <a:gd name="connsiteX10" fmla="*/ 484605 w 682935"/>
                    <a:gd name="connsiteY10" fmla="*/ 333416 h 454927"/>
                    <a:gd name="connsiteX11" fmla="*/ 508417 w 682935"/>
                    <a:gd name="connsiteY11" fmla="*/ 388186 h 454927"/>
                    <a:gd name="connsiteX12" fmla="*/ 384592 w 682935"/>
                    <a:gd name="connsiteY12" fmla="*/ 404855 h 454927"/>
                    <a:gd name="connsiteX13" fmla="*/ 194092 w 682935"/>
                    <a:gd name="connsiteY13" fmla="*/ 416761 h 454927"/>
                    <a:gd name="connsiteX14" fmla="*/ 67886 w 682935"/>
                    <a:gd name="connsiteY14" fmla="*/ 454861 h 454927"/>
                    <a:gd name="connsiteX15" fmla="*/ 1211 w 682935"/>
                    <a:gd name="connsiteY15" fmla="*/ 423905 h 454927"/>
                    <a:gd name="connsiteX16" fmla="*/ 25023 w 682935"/>
                    <a:gd name="connsiteY16" fmla="*/ 352467 h 454927"/>
                    <a:gd name="connsiteX17" fmla="*/ 27404 w 682935"/>
                    <a:gd name="connsiteY17" fmla="*/ 242930 h 454927"/>
                    <a:gd name="connsiteX18" fmla="*/ 86936 w 682935"/>
                    <a:gd name="connsiteY18" fmla="*/ 235786 h 454927"/>
                    <a:gd name="connsiteX0" fmla="*/ 86936 w 682935"/>
                    <a:gd name="connsiteY0" fmla="*/ 235786 h 514451"/>
                    <a:gd name="connsiteX1" fmla="*/ 127417 w 682935"/>
                    <a:gd name="connsiteY1" fmla="*/ 114342 h 514451"/>
                    <a:gd name="connsiteX2" fmla="*/ 236954 w 682935"/>
                    <a:gd name="connsiteY2" fmla="*/ 28617 h 514451"/>
                    <a:gd name="connsiteX3" fmla="*/ 401261 w 682935"/>
                    <a:gd name="connsiteY3" fmla="*/ 42 h 514451"/>
                    <a:gd name="connsiteX4" fmla="*/ 572711 w 682935"/>
                    <a:gd name="connsiteY4" fmla="*/ 33380 h 514451"/>
                    <a:gd name="connsiteX5" fmla="*/ 627479 w 682935"/>
                    <a:gd name="connsiteY5" fmla="*/ 119105 h 514451"/>
                    <a:gd name="connsiteX6" fmla="*/ 677486 w 682935"/>
                    <a:gd name="connsiteY6" fmla="*/ 214355 h 514451"/>
                    <a:gd name="connsiteX7" fmla="*/ 670342 w 682935"/>
                    <a:gd name="connsiteY7" fmla="*/ 285792 h 514451"/>
                    <a:gd name="connsiteX8" fmla="*/ 577473 w 682935"/>
                    <a:gd name="connsiteY8" fmla="*/ 264360 h 514451"/>
                    <a:gd name="connsiteX9" fmla="*/ 517942 w 682935"/>
                    <a:gd name="connsiteY9" fmla="*/ 273886 h 514451"/>
                    <a:gd name="connsiteX10" fmla="*/ 484605 w 682935"/>
                    <a:gd name="connsiteY10" fmla="*/ 333416 h 514451"/>
                    <a:gd name="connsiteX11" fmla="*/ 508417 w 682935"/>
                    <a:gd name="connsiteY11" fmla="*/ 388186 h 514451"/>
                    <a:gd name="connsiteX12" fmla="*/ 529848 w 682935"/>
                    <a:gd name="connsiteY12" fmla="*/ 514392 h 514451"/>
                    <a:gd name="connsiteX13" fmla="*/ 384592 w 682935"/>
                    <a:gd name="connsiteY13" fmla="*/ 404855 h 514451"/>
                    <a:gd name="connsiteX14" fmla="*/ 194092 w 682935"/>
                    <a:gd name="connsiteY14" fmla="*/ 416761 h 514451"/>
                    <a:gd name="connsiteX15" fmla="*/ 67886 w 682935"/>
                    <a:gd name="connsiteY15" fmla="*/ 454861 h 514451"/>
                    <a:gd name="connsiteX16" fmla="*/ 1211 w 682935"/>
                    <a:gd name="connsiteY16" fmla="*/ 423905 h 514451"/>
                    <a:gd name="connsiteX17" fmla="*/ 25023 w 682935"/>
                    <a:gd name="connsiteY17" fmla="*/ 352467 h 514451"/>
                    <a:gd name="connsiteX18" fmla="*/ 27404 w 682935"/>
                    <a:gd name="connsiteY18" fmla="*/ 242930 h 514451"/>
                    <a:gd name="connsiteX19" fmla="*/ 86936 w 682935"/>
                    <a:gd name="connsiteY19" fmla="*/ 235786 h 514451"/>
                    <a:gd name="connsiteX0" fmla="*/ 86936 w 682935"/>
                    <a:gd name="connsiteY0" fmla="*/ 235786 h 540376"/>
                    <a:gd name="connsiteX1" fmla="*/ 127417 w 682935"/>
                    <a:gd name="connsiteY1" fmla="*/ 114342 h 540376"/>
                    <a:gd name="connsiteX2" fmla="*/ 236954 w 682935"/>
                    <a:gd name="connsiteY2" fmla="*/ 28617 h 540376"/>
                    <a:gd name="connsiteX3" fmla="*/ 401261 w 682935"/>
                    <a:gd name="connsiteY3" fmla="*/ 42 h 540376"/>
                    <a:gd name="connsiteX4" fmla="*/ 572711 w 682935"/>
                    <a:gd name="connsiteY4" fmla="*/ 33380 h 540376"/>
                    <a:gd name="connsiteX5" fmla="*/ 627479 w 682935"/>
                    <a:gd name="connsiteY5" fmla="*/ 119105 h 540376"/>
                    <a:gd name="connsiteX6" fmla="*/ 677486 w 682935"/>
                    <a:gd name="connsiteY6" fmla="*/ 214355 h 540376"/>
                    <a:gd name="connsiteX7" fmla="*/ 670342 w 682935"/>
                    <a:gd name="connsiteY7" fmla="*/ 285792 h 540376"/>
                    <a:gd name="connsiteX8" fmla="*/ 577473 w 682935"/>
                    <a:gd name="connsiteY8" fmla="*/ 264360 h 540376"/>
                    <a:gd name="connsiteX9" fmla="*/ 517942 w 682935"/>
                    <a:gd name="connsiteY9" fmla="*/ 273886 h 540376"/>
                    <a:gd name="connsiteX10" fmla="*/ 484605 w 682935"/>
                    <a:gd name="connsiteY10" fmla="*/ 333416 h 540376"/>
                    <a:gd name="connsiteX11" fmla="*/ 508417 w 682935"/>
                    <a:gd name="connsiteY11" fmla="*/ 388186 h 540376"/>
                    <a:gd name="connsiteX12" fmla="*/ 529848 w 682935"/>
                    <a:gd name="connsiteY12" fmla="*/ 514392 h 540376"/>
                    <a:gd name="connsiteX13" fmla="*/ 470317 w 682935"/>
                    <a:gd name="connsiteY13" fmla="*/ 533442 h 540376"/>
                    <a:gd name="connsiteX14" fmla="*/ 384592 w 682935"/>
                    <a:gd name="connsiteY14" fmla="*/ 404855 h 540376"/>
                    <a:gd name="connsiteX15" fmla="*/ 194092 w 682935"/>
                    <a:gd name="connsiteY15" fmla="*/ 416761 h 540376"/>
                    <a:gd name="connsiteX16" fmla="*/ 67886 w 682935"/>
                    <a:gd name="connsiteY16" fmla="*/ 454861 h 540376"/>
                    <a:gd name="connsiteX17" fmla="*/ 1211 w 682935"/>
                    <a:gd name="connsiteY17" fmla="*/ 423905 h 540376"/>
                    <a:gd name="connsiteX18" fmla="*/ 25023 w 682935"/>
                    <a:gd name="connsiteY18" fmla="*/ 352467 h 540376"/>
                    <a:gd name="connsiteX19" fmla="*/ 27404 w 682935"/>
                    <a:gd name="connsiteY19" fmla="*/ 242930 h 540376"/>
                    <a:gd name="connsiteX20" fmla="*/ 86936 w 682935"/>
                    <a:gd name="connsiteY20" fmla="*/ 235786 h 540376"/>
                    <a:gd name="connsiteX0" fmla="*/ 86936 w 682935"/>
                    <a:gd name="connsiteY0" fmla="*/ 235786 h 624031"/>
                    <a:gd name="connsiteX1" fmla="*/ 127417 w 682935"/>
                    <a:gd name="connsiteY1" fmla="*/ 114342 h 624031"/>
                    <a:gd name="connsiteX2" fmla="*/ 236954 w 682935"/>
                    <a:gd name="connsiteY2" fmla="*/ 28617 h 624031"/>
                    <a:gd name="connsiteX3" fmla="*/ 401261 w 682935"/>
                    <a:gd name="connsiteY3" fmla="*/ 42 h 624031"/>
                    <a:gd name="connsiteX4" fmla="*/ 572711 w 682935"/>
                    <a:gd name="connsiteY4" fmla="*/ 33380 h 624031"/>
                    <a:gd name="connsiteX5" fmla="*/ 627479 w 682935"/>
                    <a:gd name="connsiteY5" fmla="*/ 119105 h 624031"/>
                    <a:gd name="connsiteX6" fmla="*/ 677486 w 682935"/>
                    <a:gd name="connsiteY6" fmla="*/ 214355 h 624031"/>
                    <a:gd name="connsiteX7" fmla="*/ 670342 w 682935"/>
                    <a:gd name="connsiteY7" fmla="*/ 285792 h 624031"/>
                    <a:gd name="connsiteX8" fmla="*/ 577473 w 682935"/>
                    <a:gd name="connsiteY8" fmla="*/ 264360 h 624031"/>
                    <a:gd name="connsiteX9" fmla="*/ 517942 w 682935"/>
                    <a:gd name="connsiteY9" fmla="*/ 273886 h 624031"/>
                    <a:gd name="connsiteX10" fmla="*/ 484605 w 682935"/>
                    <a:gd name="connsiteY10" fmla="*/ 333416 h 624031"/>
                    <a:gd name="connsiteX11" fmla="*/ 508417 w 682935"/>
                    <a:gd name="connsiteY11" fmla="*/ 388186 h 624031"/>
                    <a:gd name="connsiteX12" fmla="*/ 529848 w 682935"/>
                    <a:gd name="connsiteY12" fmla="*/ 514392 h 624031"/>
                    <a:gd name="connsiteX13" fmla="*/ 494129 w 682935"/>
                    <a:gd name="connsiteY13" fmla="*/ 623929 h 624031"/>
                    <a:gd name="connsiteX14" fmla="*/ 470317 w 682935"/>
                    <a:gd name="connsiteY14" fmla="*/ 533442 h 624031"/>
                    <a:gd name="connsiteX15" fmla="*/ 384592 w 682935"/>
                    <a:gd name="connsiteY15" fmla="*/ 404855 h 624031"/>
                    <a:gd name="connsiteX16" fmla="*/ 194092 w 682935"/>
                    <a:gd name="connsiteY16" fmla="*/ 416761 h 624031"/>
                    <a:gd name="connsiteX17" fmla="*/ 67886 w 682935"/>
                    <a:gd name="connsiteY17" fmla="*/ 454861 h 624031"/>
                    <a:gd name="connsiteX18" fmla="*/ 1211 w 682935"/>
                    <a:gd name="connsiteY18" fmla="*/ 423905 h 624031"/>
                    <a:gd name="connsiteX19" fmla="*/ 25023 w 682935"/>
                    <a:gd name="connsiteY19" fmla="*/ 352467 h 624031"/>
                    <a:gd name="connsiteX20" fmla="*/ 27404 w 682935"/>
                    <a:gd name="connsiteY20" fmla="*/ 242930 h 624031"/>
                    <a:gd name="connsiteX21" fmla="*/ 86936 w 682935"/>
                    <a:gd name="connsiteY21" fmla="*/ 235786 h 624031"/>
                    <a:gd name="connsiteX0" fmla="*/ 86936 w 682935"/>
                    <a:gd name="connsiteY0" fmla="*/ 235786 h 624031"/>
                    <a:gd name="connsiteX1" fmla="*/ 127417 w 682935"/>
                    <a:gd name="connsiteY1" fmla="*/ 114342 h 624031"/>
                    <a:gd name="connsiteX2" fmla="*/ 236954 w 682935"/>
                    <a:gd name="connsiteY2" fmla="*/ 28617 h 624031"/>
                    <a:gd name="connsiteX3" fmla="*/ 401261 w 682935"/>
                    <a:gd name="connsiteY3" fmla="*/ 42 h 624031"/>
                    <a:gd name="connsiteX4" fmla="*/ 572711 w 682935"/>
                    <a:gd name="connsiteY4" fmla="*/ 33380 h 624031"/>
                    <a:gd name="connsiteX5" fmla="*/ 627479 w 682935"/>
                    <a:gd name="connsiteY5" fmla="*/ 119105 h 624031"/>
                    <a:gd name="connsiteX6" fmla="*/ 677486 w 682935"/>
                    <a:gd name="connsiteY6" fmla="*/ 214355 h 624031"/>
                    <a:gd name="connsiteX7" fmla="*/ 670342 w 682935"/>
                    <a:gd name="connsiteY7" fmla="*/ 285792 h 624031"/>
                    <a:gd name="connsiteX8" fmla="*/ 577473 w 682935"/>
                    <a:gd name="connsiteY8" fmla="*/ 264360 h 624031"/>
                    <a:gd name="connsiteX9" fmla="*/ 517942 w 682935"/>
                    <a:gd name="connsiteY9" fmla="*/ 273886 h 624031"/>
                    <a:gd name="connsiteX10" fmla="*/ 484605 w 682935"/>
                    <a:gd name="connsiteY10" fmla="*/ 333416 h 624031"/>
                    <a:gd name="connsiteX11" fmla="*/ 508417 w 682935"/>
                    <a:gd name="connsiteY11" fmla="*/ 388186 h 624031"/>
                    <a:gd name="connsiteX12" fmla="*/ 536992 w 682935"/>
                    <a:gd name="connsiteY12" fmla="*/ 585829 h 624031"/>
                    <a:gd name="connsiteX13" fmla="*/ 494129 w 682935"/>
                    <a:gd name="connsiteY13" fmla="*/ 623929 h 624031"/>
                    <a:gd name="connsiteX14" fmla="*/ 470317 w 682935"/>
                    <a:gd name="connsiteY14" fmla="*/ 533442 h 624031"/>
                    <a:gd name="connsiteX15" fmla="*/ 384592 w 682935"/>
                    <a:gd name="connsiteY15" fmla="*/ 404855 h 624031"/>
                    <a:gd name="connsiteX16" fmla="*/ 194092 w 682935"/>
                    <a:gd name="connsiteY16" fmla="*/ 416761 h 624031"/>
                    <a:gd name="connsiteX17" fmla="*/ 67886 w 682935"/>
                    <a:gd name="connsiteY17" fmla="*/ 454861 h 624031"/>
                    <a:gd name="connsiteX18" fmla="*/ 1211 w 682935"/>
                    <a:gd name="connsiteY18" fmla="*/ 423905 h 624031"/>
                    <a:gd name="connsiteX19" fmla="*/ 25023 w 682935"/>
                    <a:gd name="connsiteY19" fmla="*/ 352467 h 624031"/>
                    <a:gd name="connsiteX20" fmla="*/ 27404 w 682935"/>
                    <a:gd name="connsiteY20" fmla="*/ 242930 h 624031"/>
                    <a:gd name="connsiteX21" fmla="*/ 86936 w 682935"/>
                    <a:gd name="connsiteY21" fmla="*/ 235786 h 62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82935" h="624031">
                      <a:moveTo>
                        <a:pt x="86936" y="235786"/>
                      </a:moveTo>
                      <a:cubicBezTo>
                        <a:pt x="103605" y="214355"/>
                        <a:pt x="102414" y="148870"/>
                        <a:pt x="127417" y="114342"/>
                      </a:cubicBezTo>
                      <a:cubicBezTo>
                        <a:pt x="152420" y="79814"/>
                        <a:pt x="191313" y="47667"/>
                        <a:pt x="236954" y="28617"/>
                      </a:cubicBezTo>
                      <a:cubicBezTo>
                        <a:pt x="282595" y="9567"/>
                        <a:pt x="345302" y="-752"/>
                        <a:pt x="401261" y="42"/>
                      </a:cubicBezTo>
                      <a:cubicBezTo>
                        <a:pt x="457221" y="836"/>
                        <a:pt x="535008" y="13536"/>
                        <a:pt x="572711" y="33380"/>
                      </a:cubicBezTo>
                      <a:cubicBezTo>
                        <a:pt x="610414" y="53224"/>
                        <a:pt x="610017" y="88943"/>
                        <a:pt x="627479" y="119105"/>
                      </a:cubicBezTo>
                      <a:cubicBezTo>
                        <a:pt x="644941" y="149267"/>
                        <a:pt x="670342" y="186574"/>
                        <a:pt x="677486" y="214355"/>
                      </a:cubicBezTo>
                      <a:cubicBezTo>
                        <a:pt x="684630" y="242136"/>
                        <a:pt x="687011" y="277458"/>
                        <a:pt x="670342" y="285792"/>
                      </a:cubicBezTo>
                      <a:cubicBezTo>
                        <a:pt x="653673" y="294126"/>
                        <a:pt x="602873" y="266344"/>
                        <a:pt x="577473" y="264360"/>
                      </a:cubicBezTo>
                      <a:cubicBezTo>
                        <a:pt x="552073" y="262376"/>
                        <a:pt x="533420" y="262377"/>
                        <a:pt x="517942" y="273886"/>
                      </a:cubicBezTo>
                      <a:cubicBezTo>
                        <a:pt x="502464" y="285395"/>
                        <a:pt x="486192" y="314366"/>
                        <a:pt x="484605" y="333416"/>
                      </a:cubicBezTo>
                      <a:cubicBezTo>
                        <a:pt x="483018" y="352466"/>
                        <a:pt x="499686" y="346117"/>
                        <a:pt x="508417" y="388186"/>
                      </a:cubicBezTo>
                      <a:cubicBezTo>
                        <a:pt x="517148" y="430255"/>
                        <a:pt x="538976" y="560826"/>
                        <a:pt x="536992" y="585829"/>
                      </a:cubicBezTo>
                      <a:cubicBezTo>
                        <a:pt x="535008" y="610832"/>
                        <a:pt x="504051" y="620754"/>
                        <a:pt x="494129" y="623929"/>
                      </a:cubicBezTo>
                      <a:cubicBezTo>
                        <a:pt x="484207" y="627104"/>
                        <a:pt x="488970" y="555667"/>
                        <a:pt x="470317" y="533442"/>
                      </a:cubicBezTo>
                      <a:cubicBezTo>
                        <a:pt x="451664" y="511217"/>
                        <a:pt x="430630" y="424302"/>
                        <a:pt x="384592" y="404855"/>
                      </a:cubicBezTo>
                      <a:cubicBezTo>
                        <a:pt x="338555" y="385408"/>
                        <a:pt x="246876" y="408427"/>
                        <a:pt x="194092" y="416761"/>
                      </a:cubicBezTo>
                      <a:cubicBezTo>
                        <a:pt x="141308" y="425095"/>
                        <a:pt x="100033" y="453670"/>
                        <a:pt x="67886" y="454861"/>
                      </a:cubicBezTo>
                      <a:cubicBezTo>
                        <a:pt x="35739" y="456052"/>
                        <a:pt x="8355" y="440971"/>
                        <a:pt x="1211" y="423905"/>
                      </a:cubicBezTo>
                      <a:cubicBezTo>
                        <a:pt x="-5933" y="406839"/>
                        <a:pt x="20657" y="382630"/>
                        <a:pt x="25023" y="352467"/>
                      </a:cubicBezTo>
                      <a:cubicBezTo>
                        <a:pt x="29388" y="322305"/>
                        <a:pt x="20260" y="265155"/>
                        <a:pt x="27404" y="242930"/>
                      </a:cubicBezTo>
                      <a:cubicBezTo>
                        <a:pt x="34548" y="220705"/>
                        <a:pt x="70267" y="257217"/>
                        <a:pt x="86936" y="235786"/>
                      </a:cubicBezTo>
                      <a:close/>
                    </a:path>
                  </a:pathLst>
                </a:custGeom>
                <a:gradFill>
                  <a:gsLst>
                    <a:gs pos="39000">
                      <a:srgbClr val="E1A4A0"/>
                    </a:gs>
                    <a:gs pos="0">
                      <a:srgbClr val="D9D9D9"/>
                    </a:gs>
                  </a:gsLst>
                  <a:lin ang="16200000" scaled="1"/>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575" name="Freeform 461">
                  <a:extLst>
                    <a:ext uri="{FF2B5EF4-FFF2-40B4-BE49-F238E27FC236}">
                      <a16:creationId xmlns:a16="http://schemas.microsoft.com/office/drawing/2014/main" id="{2ABF3BA1-7011-4098-A20A-CEA0702C0DC7}"/>
                    </a:ext>
                  </a:extLst>
                </p:cNvPr>
                <p:cNvSpPr>
                  <a:spLocks/>
                </p:cNvSpPr>
                <p:nvPr/>
              </p:nvSpPr>
              <p:spPr bwMode="auto">
                <a:xfrm>
                  <a:off x="5161981" y="3497134"/>
                  <a:ext cx="103519" cy="86001"/>
                </a:xfrm>
                <a:custGeom>
                  <a:avLst/>
                  <a:gdLst>
                    <a:gd name="T0" fmla="*/ 106 w 137"/>
                    <a:gd name="T1" fmla="*/ 45 h 115"/>
                    <a:gd name="T2" fmla="*/ 123 w 137"/>
                    <a:gd name="T3" fmla="*/ 99 h 115"/>
                    <a:gd name="T4" fmla="*/ 75 w 137"/>
                    <a:gd name="T5" fmla="*/ 109 h 115"/>
                    <a:gd name="T6" fmla="*/ 48 w 137"/>
                    <a:gd name="T7" fmla="*/ 64 h 115"/>
                    <a:gd name="T8" fmla="*/ 14 w 137"/>
                    <a:gd name="T9" fmla="*/ 61 h 115"/>
                    <a:gd name="T10" fmla="*/ 24 w 137"/>
                    <a:gd name="T11" fmla="*/ 3 h 115"/>
                    <a:gd name="T12" fmla="*/ 106 w 137"/>
                    <a:gd name="T13" fmla="*/ 45 h 115"/>
                  </a:gdLst>
                  <a:ahLst/>
                  <a:cxnLst>
                    <a:cxn ang="0">
                      <a:pos x="T0" y="T1"/>
                    </a:cxn>
                    <a:cxn ang="0">
                      <a:pos x="T2" y="T3"/>
                    </a:cxn>
                    <a:cxn ang="0">
                      <a:pos x="T4" y="T5"/>
                    </a:cxn>
                    <a:cxn ang="0">
                      <a:pos x="T6" y="T7"/>
                    </a:cxn>
                    <a:cxn ang="0">
                      <a:pos x="T8" y="T9"/>
                    </a:cxn>
                    <a:cxn ang="0">
                      <a:pos x="T10" y="T11"/>
                    </a:cxn>
                    <a:cxn ang="0">
                      <a:pos x="T12" y="T13"/>
                    </a:cxn>
                  </a:cxnLst>
                  <a:rect l="0" t="0" r="r" b="b"/>
                  <a:pathLst>
                    <a:path w="137" h="115">
                      <a:moveTo>
                        <a:pt x="106" y="45"/>
                      </a:moveTo>
                      <a:cubicBezTo>
                        <a:pt x="106" y="45"/>
                        <a:pt x="137" y="90"/>
                        <a:pt x="123" y="99"/>
                      </a:cubicBezTo>
                      <a:cubicBezTo>
                        <a:pt x="110" y="109"/>
                        <a:pt x="86" y="115"/>
                        <a:pt x="75" y="109"/>
                      </a:cubicBezTo>
                      <a:cubicBezTo>
                        <a:pt x="65" y="103"/>
                        <a:pt x="64" y="63"/>
                        <a:pt x="48" y="64"/>
                      </a:cubicBezTo>
                      <a:cubicBezTo>
                        <a:pt x="32" y="65"/>
                        <a:pt x="17" y="77"/>
                        <a:pt x="14" y="61"/>
                      </a:cubicBezTo>
                      <a:cubicBezTo>
                        <a:pt x="10" y="45"/>
                        <a:pt x="0" y="3"/>
                        <a:pt x="24" y="3"/>
                      </a:cubicBezTo>
                      <a:cubicBezTo>
                        <a:pt x="48" y="3"/>
                        <a:pt x="86" y="0"/>
                        <a:pt x="106" y="45"/>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76" name="Freeform 462">
                  <a:extLst>
                    <a:ext uri="{FF2B5EF4-FFF2-40B4-BE49-F238E27FC236}">
                      <a16:creationId xmlns:a16="http://schemas.microsoft.com/office/drawing/2014/main" id="{F7086789-1D22-4520-83E1-173CC878537C}"/>
                    </a:ext>
                  </a:extLst>
                </p:cNvPr>
                <p:cNvSpPr>
                  <a:spLocks/>
                </p:cNvSpPr>
                <p:nvPr/>
              </p:nvSpPr>
              <p:spPr bwMode="auto">
                <a:xfrm>
                  <a:off x="4704107" y="3289298"/>
                  <a:ext cx="594042" cy="821784"/>
                </a:xfrm>
                <a:custGeom>
                  <a:avLst/>
                  <a:gdLst>
                    <a:gd name="T0" fmla="*/ 124 w 790"/>
                    <a:gd name="T1" fmla="*/ 240 h 1093"/>
                    <a:gd name="T2" fmla="*/ 210 w 790"/>
                    <a:gd name="T3" fmla="*/ 287 h 1093"/>
                    <a:gd name="T4" fmla="*/ 198 w 790"/>
                    <a:gd name="T5" fmla="*/ 385 h 1093"/>
                    <a:gd name="T6" fmla="*/ 177 w 790"/>
                    <a:gd name="T7" fmla="*/ 435 h 1093"/>
                    <a:gd name="T8" fmla="*/ 208 w 790"/>
                    <a:gd name="T9" fmla="*/ 443 h 1093"/>
                    <a:gd name="T10" fmla="*/ 225 w 790"/>
                    <a:gd name="T11" fmla="*/ 422 h 1093"/>
                    <a:gd name="T12" fmla="*/ 208 w 790"/>
                    <a:gd name="T13" fmla="*/ 494 h 1093"/>
                    <a:gd name="T14" fmla="*/ 199 w 790"/>
                    <a:gd name="T15" fmla="*/ 530 h 1093"/>
                    <a:gd name="T16" fmla="*/ 228 w 790"/>
                    <a:gd name="T17" fmla="*/ 535 h 1093"/>
                    <a:gd name="T18" fmla="*/ 244 w 790"/>
                    <a:gd name="T19" fmla="*/ 480 h 1093"/>
                    <a:gd name="T20" fmla="*/ 285 w 790"/>
                    <a:gd name="T21" fmla="*/ 435 h 1093"/>
                    <a:gd name="T22" fmla="*/ 324 w 790"/>
                    <a:gd name="T23" fmla="*/ 409 h 1093"/>
                    <a:gd name="T24" fmla="*/ 391 w 790"/>
                    <a:gd name="T25" fmla="*/ 399 h 1093"/>
                    <a:gd name="T26" fmla="*/ 415 w 790"/>
                    <a:gd name="T27" fmla="*/ 489 h 1093"/>
                    <a:gd name="T28" fmla="*/ 350 w 790"/>
                    <a:gd name="T29" fmla="*/ 571 h 1093"/>
                    <a:gd name="T30" fmla="*/ 377 w 790"/>
                    <a:gd name="T31" fmla="*/ 724 h 1093"/>
                    <a:gd name="T32" fmla="*/ 467 w 790"/>
                    <a:gd name="T33" fmla="*/ 765 h 1093"/>
                    <a:gd name="T34" fmla="*/ 519 w 790"/>
                    <a:gd name="T35" fmla="*/ 876 h 1093"/>
                    <a:gd name="T36" fmla="*/ 570 w 790"/>
                    <a:gd name="T37" fmla="*/ 950 h 1093"/>
                    <a:gd name="T38" fmla="*/ 604 w 790"/>
                    <a:gd name="T39" fmla="*/ 1093 h 1093"/>
                    <a:gd name="T40" fmla="*/ 649 w 790"/>
                    <a:gd name="T41" fmla="*/ 1082 h 1093"/>
                    <a:gd name="T42" fmla="*/ 623 w 790"/>
                    <a:gd name="T43" fmla="*/ 944 h 1093"/>
                    <a:gd name="T44" fmla="*/ 585 w 790"/>
                    <a:gd name="T45" fmla="*/ 738 h 1093"/>
                    <a:gd name="T46" fmla="*/ 514 w 790"/>
                    <a:gd name="T47" fmla="*/ 460 h 1093"/>
                    <a:gd name="T48" fmla="*/ 461 w 790"/>
                    <a:gd name="T49" fmla="*/ 382 h 1093"/>
                    <a:gd name="T50" fmla="*/ 358 w 790"/>
                    <a:gd name="T51" fmla="*/ 374 h 1093"/>
                    <a:gd name="T52" fmla="*/ 247 w 790"/>
                    <a:gd name="T53" fmla="*/ 420 h 1093"/>
                    <a:gd name="T54" fmla="*/ 220 w 790"/>
                    <a:gd name="T55" fmla="*/ 401 h 1093"/>
                    <a:gd name="T56" fmla="*/ 239 w 790"/>
                    <a:gd name="T57" fmla="*/ 300 h 1093"/>
                    <a:gd name="T58" fmla="*/ 165 w 790"/>
                    <a:gd name="T59" fmla="*/ 191 h 1093"/>
                    <a:gd name="T60" fmla="*/ 286 w 790"/>
                    <a:gd name="T61" fmla="*/ 107 h 1093"/>
                    <a:gd name="T62" fmla="*/ 464 w 790"/>
                    <a:gd name="T63" fmla="*/ 112 h 1093"/>
                    <a:gd name="T64" fmla="*/ 367 w 790"/>
                    <a:gd name="T65" fmla="*/ 132 h 1093"/>
                    <a:gd name="T66" fmla="*/ 271 w 790"/>
                    <a:gd name="T67" fmla="*/ 221 h 1093"/>
                    <a:gd name="T68" fmla="*/ 274 w 790"/>
                    <a:gd name="T69" fmla="*/ 268 h 1093"/>
                    <a:gd name="T70" fmla="*/ 295 w 790"/>
                    <a:gd name="T71" fmla="*/ 240 h 1093"/>
                    <a:gd name="T72" fmla="*/ 317 w 790"/>
                    <a:gd name="T73" fmla="*/ 197 h 1093"/>
                    <a:gd name="T74" fmla="*/ 457 w 790"/>
                    <a:gd name="T75" fmla="*/ 147 h 1093"/>
                    <a:gd name="T76" fmla="*/ 588 w 790"/>
                    <a:gd name="T77" fmla="*/ 188 h 1093"/>
                    <a:gd name="T78" fmla="*/ 647 w 790"/>
                    <a:gd name="T79" fmla="*/ 297 h 1093"/>
                    <a:gd name="T80" fmla="*/ 736 w 790"/>
                    <a:gd name="T81" fmla="*/ 351 h 1093"/>
                    <a:gd name="T82" fmla="*/ 790 w 790"/>
                    <a:gd name="T83" fmla="*/ 258 h 1093"/>
                    <a:gd name="T84" fmla="*/ 683 w 790"/>
                    <a:gd name="T85" fmla="*/ 107 h 1093"/>
                    <a:gd name="T86" fmla="*/ 307 w 790"/>
                    <a:gd name="T87" fmla="*/ 4 h 1093"/>
                    <a:gd name="T88" fmla="*/ 20 w 790"/>
                    <a:gd name="T89" fmla="*/ 120 h 1093"/>
                    <a:gd name="T90" fmla="*/ 124 w 790"/>
                    <a:gd name="T91" fmla="*/ 24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90" h="1093">
                      <a:moveTo>
                        <a:pt x="124" y="240"/>
                      </a:moveTo>
                      <a:cubicBezTo>
                        <a:pt x="179" y="257"/>
                        <a:pt x="203" y="271"/>
                        <a:pt x="210" y="287"/>
                      </a:cubicBezTo>
                      <a:cubicBezTo>
                        <a:pt x="216" y="303"/>
                        <a:pt x="228" y="340"/>
                        <a:pt x="198" y="385"/>
                      </a:cubicBezTo>
                      <a:cubicBezTo>
                        <a:pt x="198" y="385"/>
                        <a:pt x="177" y="427"/>
                        <a:pt x="177" y="435"/>
                      </a:cubicBezTo>
                      <a:cubicBezTo>
                        <a:pt x="177" y="483"/>
                        <a:pt x="204" y="449"/>
                        <a:pt x="208" y="443"/>
                      </a:cubicBezTo>
                      <a:cubicBezTo>
                        <a:pt x="211" y="436"/>
                        <a:pt x="223" y="407"/>
                        <a:pt x="225" y="422"/>
                      </a:cubicBezTo>
                      <a:cubicBezTo>
                        <a:pt x="229" y="454"/>
                        <a:pt x="225" y="468"/>
                        <a:pt x="208" y="494"/>
                      </a:cubicBezTo>
                      <a:cubicBezTo>
                        <a:pt x="191" y="520"/>
                        <a:pt x="199" y="530"/>
                        <a:pt x="199" y="530"/>
                      </a:cubicBezTo>
                      <a:cubicBezTo>
                        <a:pt x="204" y="529"/>
                        <a:pt x="204" y="531"/>
                        <a:pt x="228" y="535"/>
                      </a:cubicBezTo>
                      <a:cubicBezTo>
                        <a:pt x="263" y="540"/>
                        <a:pt x="249" y="501"/>
                        <a:pt x="244" y="480"/>
                      </a:cubicBezTo>
                      <a:cubicBezTo>
                        <a:pt x="239" y="459"/>
                        <a:pt x="256" y="448"/>
                        <a:pt x="285" y="435"/>
                      </a:cubicBezTo>
                      <a:cubicBezTo>
                        <a:pt x="314" y="422"/>
                        <a:pt x="324" y="409"/>
                        <a:pt x="324" y="409"/>
                      </a:cubicBezTo>
                      <a:cubicBezTo>
                        <a:pt x="375" y="446"/>
                        <a:pt x="391" y="399"/>
                        <a:pt x="391" y="399"/>
                      </a:cubicBezTo>
                      <a:cubicBezTo>
                        <a:pt x="417" y="432"/>
                        <a:pt x="415" y="489"/>
                        <a:pt x="415" y="489"/>
                      </a:cubicBezTo>
                      <a:cubicBezTo>
                        <a:pt x="411" y="489"/>
                        <a:pt x="358" y="504"/>
                        <a:pt x="350" y="571"/>
                      </a:cubicBezTo>
                      <a:cubicBezTo>
                        <a:pt x="338" y="666"/>
                        <a:pt x="377" y="724"/>
                        <a:pt x="377" y="724"/>
                      </a:cubicBezTo>
                      <a:cubicBezTo>
                        <a:pt x="403" y="780"/>
                        <a:pt x="467" y="765"/>
                        <a:pt x="467" y="765"/>
                      </a:cubicBezTo>
                      <a:cubicBezTo>
                        <a:pt x="456" y="851"/>
                        <a:pt x="503" y="860"/>
                        <a:pt x="519" y="876"/>
                      </a:cubicBezTo>
                      <a:cubicBezTo>
                        <a:pt x="534" y="892"/>
                        <a:pt x="555" y="915"/>
                        <a:pt x="570" y="950"/>
                      </a:cubicBezTo>
                      <a:cubicBezTo>
                        <a:pt x="585" y="985"/>
                        <a:pt x="604" y="1093"/>
                        <a:pt x="604" y="1093"/>
                      </a:cubicBezTo>
                      <a:cubicBezTo>
                        <a:pt x="604" y="1093"/>
                        <a:pt x="649" y="1083"/>
                        <a:pt x="649" y="1082"/>
                      </a:cubicBezTo>
                      <a:cubicBezTo>
                        <a:pt x="649" y="1080"/>
                        <a:pt x="630" y="992"/>
                        <a:pt x="623" y="944"/>
                      </a:cubicBezTo>
                      <a:cubicBezTo>
                        <a:pt x="616" y="896"/>
                        <a:pt x="608" y="823"/>
                        <a:pt x="585" y="738"/>
                      </a:cubicBezTo>
                      <a:cubicBezTo>
                        <a:pt x="563" y="653"/>
                        <a:pt x="529" y="518"/>
                        <a:pt x="514" y="460"/>
                      </a:cubicBezTo>
                      <a:cubicBezTo>
                        <a:pt x="498" y="403"/>
                        <a:pt x="478" y="391"/>
                        <a:pt x="461" y="382"/>
                      </a:cubicBezTo>
                      <a:cubicBezTo>
                        <a:pt x="444" y="372"/>
                        <a:pt x="421" y="366"/>
                        <a:pt x="358" y="374"/>
                      </a:cubicBezTo>
                      <a:cubicBezTo>
                        <a:pt x="295" y="382"/>
                        <a:pt x="247" y="436"/>
                        <a:pt x="247" y="420"/>
                      </a:cubicBezTo>
                      <a:cubicBezTo>
                        <a:pt x="247" y="404"/>
                        <a:pt x="220" y="401"/>
                        <a:pt x="220" y="401"/>
                      </a:cubicBezTo>
                      <a:cubicBezTo>
                        <a:pt x="223" y="393"/>
                        <a:pt x="249" y="366"/>
                        <a:pt x="239" y="300"/>
                      </a:cubicBezTo>
                      <a:cubicBezTo>
                        <a:pt x="226" y="220"/>
                        <a:pt x="172" y="261"/>
                        <a:pt x="165" y="191"/>
                      </a:cubicBezTo>
                      <a:cubicBezTo>
                        <a:pt x="158" y="120"/>
                        <a:pt x="235" y="115"/>
                        <a:pt x="286" y="107"/>
                      </a:cubicBezTo>
                      <a:cubicBezTo>
                        <a:pt x="323" y="101"/>
                        <a:pt x="402" y="102"/>
                        <a:pt x="464" y="112"/>
                      </a:cubicBezTo>
                      <a:cubicBezTo>
                        <a:pt x="437" y="110"/>
                        <a:pt x="405" y="113"/>
                        <a:pt x="367" y="132"/>
                      </a:cubicBezTo>
                      <a:cubicBezTo>
                        <a:pt x="295" y="166"/>
                        <a:pt x="279" y="205"/>
                        <a:pt x="271" y="221"/>
                      </a:cubicBezTo>
                      <a:cubicBezTo>
                        <a:pt x="263" y="236"/>
                        <a:pt x="254" y="264"/>
                        <a:pt x="274" y="268"/>
                      </a:cubicBezTo>
                      <a:cubicBezTo>
                        <a:pt x="293" y="271"/>
                        <a:pt x="294" y="247"/>
                        <a:pt x="295" y="240"/>
                      </a:cubicBezTo>
                      <a:cubicBezTo>
                        <a:pt x="297" y="233"/>
                        <a:pt x="289" y="223"/>
                        <a:pt x="317" y="197"/>
                      </a:cubicBezTo>
                      <a:cubicBezTo>
                        <a:pt x="345" y="170"/>
                        <a:pt x="380" y="157"/>
                        <a:pt x="457" y="147"/>
                      </a:cubicBezTo>
                      <a:cubicBezTo>
                        <a:pt x="525" y="139"/>
                        <a:pt x="577" y="179"/>
                        <a:pt x="588" y="188"/>
                      </a:cubicBezTo>
                      <a:cubicBezTo>
                        <a:pt x="610" y="220"/>
                        <a:pt x="628" y="260"/>
                        <a:pt x="647" y="297"/>
                      </a:cubicBezTo>
                      <a:cubicBezTo>
                        <a:pt x="681" y="364"/>
                        <a:pt x="736" y="351"/>
                        <a:pt x="736" y="351"/>
                      </a:cubicBezTo>
                      <a:cubicBezTo>
                        <a:pt x="750" y="347"/>
                        <a:pt x="790" y="327"/>
                        <a:pt x="790" y="258"/>
                      </a:cubicBezTo>
                      <a:cubicBezTo>
                        <a:pt x="790" y="189"/>
                        <a:pt x="683" y="107"/>
                        <a:pt x="683" y="107"/>
                      </a:cubicBezTo>
                      <a:cubicBezTo>
                        <a:pt x="594" y="37"/>
                        <a:pt x="444" y="9"/>
                        <a:pt x="307" y="4"/>
                      </a:cubicBezTo>
                      <a:cubicBezTo>
                        <a:pt x="170" y="0"/>
                        <a:pt x="41" y="45"/>
                        <a:pt x="20" y="120"/>
                      </a:cubicBezTo>
                      <a:cubicBezTo>
                        <a:pt x="0" y="196"/>
                        <a:pt x="70" y="224"/>
                        <a:pt x="124" y="240"/>
                      </a:cubicBezTo>
                      <a:close/>
                    </a:path>
                  </a:pathLst>
                </a:custGeom>
                <a:gradFill flip="none" rotWithShape="1">
                  <a:gsLst>
                    <a:gs pos="0">
                      <a:schemeClr val="accent1"/>
                    </a:gs>
                    <a:gs pos="67000">
                      <a:srgbClr val="D37771"/>
                    </a:gs>
                    <a:gs pos="27000">
                      <a:srgbClr val="C44941"/>
                    </a:gs>
                    <a:gs pos="68000">
                      <a:schemeClr val="bg1"/>
                    </a:gs>
                  </a:gsLst>
                  <a:lin ang="16200000" scaled="1"/>
                  <a:tileRect/>
                </a:gra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77" name="Freeform 463">
                  <a:extLst>
                    <a:ext uri="{FF2B5EF4-FFF2-40B4-BE49-F238E27FC236}">
                      <a16:creationId xmlns:a16="http://schemas.microsoft.com/office/drawing/2014/main" id="{D68FF9F6-763F-4853-80E4-1FA7D326674E}"/>
                    </a:ext>
                  </a:extLst>
                </p:cNvPr>
                <p:cNvSpPr>
                  <a:spLocks/>
                </p:cNvSpPr>
                <p:nvPr/>
              </p:nvSpPr>
              <p:spPr bwMode="auto">
                <a:xfrm>
                  <a:off x="5084740" y="3508282"/>
                  <a:ext cx="105909" cy="280298"/>
                </a:xfrm>
                <a:custGeom>
                  <a:avLst/>
                  <a:gdLst>
                    <a:gd name="T0" fmla="*/ 141 w 141"/>
                    <a:gd name="T1" fmla="*/ 350 h 373"/>
                    <a:gd name="T2" fmla="*/ 80 w 141"/>
                    <a:gd name="T3" fmla="*/ 313 h 373"/>
                    <a:gd name="T4" fmla="*/ 41 w 141"/>
                    <a:gd name="T5" fmla="*/ 207 h 373"/>
                    <a:gd name="T6" fmla="*/ 18 w 141"/>
                    <a:gd name="T7" fmla="*/ 102 h 373"/>
                    <a:gd name="T8" fmla="*/ 31 w 141"/>
                    <a:gd name="T9" fmla="*/ 18 h 373"/>
                    <a:gd name="T10" fmla="*/ 80 w 141"/>
                    <a:gd name="T11" fmla="*/ 10 h 373"/>
                    <a:gd name="T12" fmla="*/ 96 w 141"/>
                    <a:gd name="T13" fmla="*/ 13 h 373"/>
                    <a:gd name="T14" fmla="*/ 120 w 141"/>
                    <a:gd name="T15" fmla="*/ 14 h 373"/>
                    <a:gd name="T16" fmla="*/ 135 w 141"/>
                    <a:gd name="T17" fmla="*/ 50 h 373"/>
                    <a:gd name="T18" fmla="*/ 94 w 141"/>
                    <a:gd name="T19" fmla="*/ 50 h 373"/>
                    <a:gd name="T20" fmla="*/ 84 w 141"/>
                    <a:gd name="T21" fmla="*/ 34 h 373"/>
                    <a:gd name="T22" fmla="*/ 64 w 141"/>
                    <a:gd name="T23" fmla="*/ 31 h 373"/>
                    <a:gd name="T24" fmla="*/ 42 w 141"/>
                    <a:gd name="T25" fmla="*/ 43 h 373"/>
                    <a:gd name="T26" fmla="*/ 33 w 141"/>
                    <a:gd name="T27" fmla="*/ 71 h 373"/>
                    <a:gd name="T28" fmla="*/ 49 w 141"/>
                    <a:gd name="T29" fmla="*/ 94 h 373"/>
                    <a:gd name="T30" fmla="*/ 50 w 141"/>
                    <a:gd name="T31" fmla="*/ 127 h 373"/>
                    <a:gd name="T32" fmla="*/ 73 w 141"/>
                    <a:gd name="T33" fmla="*/ 171 h 373"/>
                    <a:gd name="T34" fmla="*/ 66 w 141"/>
                    <a:gd name="T35" fmla="*/ 223 h 373"/>
                    <a:gd name="T36" fmla="*/ 87 w 141"/>
                    <a:gd name="T37" fmla="*/ 304 h 373"/>
                    <a:gd name="T38" fmla="*/ 141 w 141"/>
                    <a:gd name="T39" fmla="*/ 35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1" h="373">
                      <a:moveTo>
                        <a:pt x="141" y="350"/>
                      </a:moveTo>
                      <a:cubicBezTo>
                        <a:pt x="141" y="350"/>
                        <a:pt x="109" y="373"/>
                        <a:pt x="80" y="313"/>
                      </a:cubicBezTo>
                      <a:cubicBezTo>
                        <a:pt x="51" y="253"/>
                        <a:pt x="46" y="236"/>
                        <a:pt x="41" y="207"/>
                      </a:cubicBezTo>
                      <a:cubicBezTo>
                        <a:pt x="36" y="177"/>
                        <a:pt x="29" y="133"/>
                        <a:pt x="18" y="102"/>
                      </a:cubicBezTo>
                      <a:cubicBezTo>
                        <a:pt x="7" y="71"/>
                        <a:pt x="0" y="46"/>
                        <a:pt x="31" y="18"/>
                      </a:cubicBezTo>
                      <a:cubicBezTo>
                        <a:pt x="50" y="0"/>
                        <a:pt x="77" y="8"/>
                        <a:pt x="80" y="10"/>
                      </a:cubicBezTo>
                      <a:cubicBezTo>
                        <a:pt x="80" y="10"/>
                        <a:pt x="86" y="18"/>
                        <a:pt x="96" y="13"/>
                      </a:cubicBezTo>
                      <a:cubicBezTo>
                        <a:pt x="107" y="8"/>
                        <a:pt x="114" y="9"/>
                        <a:pt x="120" y="14"/>
                      </a:cubicBezTo>
                      <a:cubicBezTo>
                        <a:pt x="120" y="14"/>
                        <a:pt x="141" y="33"/>
                        <a:pt x="135" y="50"/>
                      </a:cubicBezTo>
                      <a:cubicBezTo>
                        <a:pt x="130" y="68"/>
                        <a:pt x="105" y="66"/>
                        <a:pt x="94" y="50"/>
                      </a:cubicBezTo>
                      <a:cubicBezTo>
                        <a:pt x="86" y="38"/>
                        <a:pt x="84" y="34"/>
                        <a:pt x="84" y="34"/>
                      </a:cubicBezTo>
                      <a:cubicBezTo>
                        <a:pt x="84" y="34"/>
                        <a:pt x="70" y="15"/>
                        <a:pt x="64" y="31"/>
                      </a:cubicBezTo>
                      <a:cubicBezTo>
                        <a:pt x="57" y="46"/>
                        <a:pt x="50" y="42"/>
                        <a:pt x="42" y="43"/>
                      </a:cubicBezTo>
                      <a:cubicBezTo>
                        <a:pt x="34" y="43"/>
                        <a:pt x="16" y="53"/>
                        <a:pt x="33" y="71"/>
                      </a:cubicBezTo>
                      <a:cubicBezTo>
                        <a:pt x="39" y="77"/>
                        <a:pt x="50" y="70"/>
                        <a:pt x="49" y="94"/>
                      </a:cubicBezTo>
                      <a:cubicBezTo>
                        <a:pt x="48" y="119"/>
                        <a:pt x="48" y="118"/>
                        <a:pt x="50" y="127"/>
                      </a:cubicBezTo>
                      <a:cubicBezTo>
                        <a:pt x="53" y="136"/>
                        <a:pt x="73" y="148"/>
                        <a:pt x="73" y="171"/>
                      </a:cubicBezTo>
                      <a:cubicBezTo>
                        <a:pt x="72" y="194"/>
                        <a:pt x="66" y="202"/>
                        <a:pt x="66" y="223"/>
                      </a:cubicBezTo>
                      <a:cubicBezTo>
                        <a:pt x="65" y="245"/>
                        <a:pt x="73" y="279"/>
                        <a:pt x="87" y="304"/>
                      </a:cubicBezTo>
                      <a:cubicBezTo>
                        <a:pt x="100" y="329"/>
                        <a:pt x="118" y="348"/>
                        <a:pt x="141" y="350"/>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78" name="Freeform 464">
                  <a:extLst>
                    <a:ext uri="{FF2B5EF4-FFF2-40B4-BE49-F238E27FC236}">
                      <a16:creationId xmlns:a16="http://schemas.microsoft.com/office/drawing/2014/main" id="{CBF77EDE-4FCF-4822-8B05-FA8073503706}"/>
                    </a:ext>
                  </a:extLst>
                </p:cNvPr>
                <p:cNvSpPr>
                  <a:spLocks/>
                </p:cNvSpPr>
                <p:nvPr/>
              </p:nvSpPr>
              <p:spPr bwMode="auto">
                <a:xfrm>
                  <a:off x="5166759" y="3773450"/>
                  <a:ext cx="51760" cy="140946"/>
                </a:xfrm>
                <a:custGeom>
                  <a:avLst/>
                  <a:gdLst>
                    <a:gd name="T0" fmla="*/ 49 w 69"/>
                    <a:gd name="T1" fmla="*/ 15 h 187"/>
                    <a:gd name="T2" fmla="*/ 22 w 69"/>
                    <a:gd name="T3" fmla="*/ 92 h 187"/>
                    <a:gd name="T4" fmla="*/ 42 w 69"/>
                    <a:gd name="T5" fmla="*/ 155 h 187"/>
                    <a:gd name="T6" fmla="*/ 35 w 69"/>
                    <a:gd name="T7" fmla="*/ 164 h 187"/>
                    <a:gd name="T8" fmla="*/ 6 w 69"/>
                    <a:gd name="T9" fmla="*/ 100 h 187"/>
                    <a:gd name="T10" fmla="*/ 17 w 69"/>
                    <a:gd name="T11" fmla="*/ 24 h 187"/>
                    <a:gd name="T12" fmla="*/ 39 w 69"/>
                    <a:gd name="T13" fmla="*/ 5 h 187"/>
                    <a:gd name="T14" fmla="*/ 49 w 69"/>
                    <a:gd name="T15" fmla="*/ 15 h 1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87">
                      <a:moveTo>
                        <a:pt x="49" y="15"/>
                      </a:moveTo>
                      <a:cubicBezTo>
                        <a:pt x="28" y="30"/>
                        <a:pt x="18" y="66"/>
                        <a:pt x="22" y="92"/>
                      </a:cubicBezTo>
                      <a:cubicBezTo>
                        <a:pt x="26" y="118"/>
                        <a:pt x="35" y="144"/>
                        <a:pt x="42" y="155"/>
                      </a:cubicBezTo>
                      <a:cubicBezTo>
                        <a:pt x="50" y="166"/>
                        <a:pt x="53" y="187"/>
                        <a:pt x="35" y="164"/>
                      </a:cubicBezTo>
                      <a:cubicBezTo>
                        <a:pt x="17" y="141"/>
                        <a:pt x="8" y="133"/>
                        <a:pt x="6" y="100"/>
                      </a:cubicBezTo>
                      <a:cubicBezTo>
                        <a:pt x="4" y="67"/>
                        <a:pt x="0" y="38"/>
                        <a:pt x="17" y="24"/>
                      </a:cubicBezTo>
                      <a:cubicBezTo>
                        <a:pt x="34" y="9"/>
                        <a:pt x="23" y="16"/>
                        <a:pt x="39" y="5"/>
                      </a:cubicBezTo>
                      <a:cubicBezTo>
                        <a:pt x="39" y="5"/>
                        <a:pt x="69" y="0"/>
                        <a:pt x="49" y="15"/>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79" name="Freeform 465">
                  <a:extLst>
                    <a:ext uri="{FF2B5EF4-FFF2-40B4-BE49-F238E27FC236}">
                      <a16:creationId xmlns:a16="http://schemas.microsoft.com/office/drawing/2014/main" id="{367193BB-EB1B-4B44-8C0C-C550E8A9DA51}"/>
                    </a:ext>
                  </a:extLst>
                </p:cNvPr>
                <p:cNvSpPr>
                  <a:spLocks/>
                </p:cNvSpPr>
                <p:nvPr/>
              </p:nvSpPr>
              <p:spPr bwMode="auto">
                <a:xfrm>
                  <a:off x="5178703" y="3887322"/>
                  <a:ext cx="46982" cy="223761"/>
                </a:xfrm>
                <a:custGeom>
                  <a:avLst/>
                  <a:gdLst>
                    <a:gd name="T0" fmla="*/ 1 w 63"/>
                    <a:gd name="T1" fmla="*/ 32 h 298"/>
                    <a:gd name="T2" fmla="*/ 15 w 63"/>
                    <a:gd name="T3" fmla="*/ 23 h 298"/>
                    <a:gd name="T4" fmla="*/ 28 w 63"/>
                    <a:gd name="T5" fmla="*/ 38 h 298"/>
                    <a:gd name="T6" fmla="*/ 35 w 63"/>
                    <a:gd name="T7" fmla="*/ 88 h 298"/>
                    <a:gd name="T8" fmla="*/ 47 w 63"/>
                    <a:gd name="T9" fmla="*/ 198 h 298"/>
                    <a:gd name="T10" fmla="*/ 63 w 63"/>
                    <a:gd name="T11" fmla="*/ 273 h 298"/>
                    <a:gd name="T12" fmla="*/ 35 w 63"/>
                    <a:gd name="T13" fmla="*/ 282 h 298"/>
                    <a:gd name="T14" fmla="*/ 13 w 63"/>
                    <a:gd name="T15" fmla="*/ 150 h 298"/>
                    <a:gd name="T16" fmla="*/ 1 w 63"/>
                    <a:gd name="T17" fmla="*/ 32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298">
                      <a:moveTo>
                        <a:pt x="1" y="32"/>
                      </a:moveTo>
                      <a:cubicBezTo>
                        <a:pt x="0" y="0"/>
                        <a:pt x="15" y="23"/>
                        <a:pt x="15" y="23"/>
                      </a:cubicBezTo>
                      <a:cubicBezTo>
                        <a:pt x="18" y="30"/>
                        <a:pt x="17" y="26"/>
                        <a:pt x="28" y="38"/>
                      </a:cubicBezTo>
                      <a:cubicBezTo>
                        <a:pt x="39" y="49"/>
                        <a:pt x="34" y="62"/>
                        <a:pt x="35" y="88"/>
                      </a:cubicBezTo>
                      <a:cubicBezTo>
                        <a:pt x="36" y="113"/>
                        <a:pt x="41" y="161"/>
                        <a:pt x="47" y="198"/>
                      </a:cubicBezTo>
                      <a:cubicBezTo>
                        <a:pt x="53" y="235"/>
                        <a:pt x="63" y="273"/>
                        <a:pt x="63" y="273"/>
                      </a:cubicBezTo>
                      <a:cubicBezTo>
                        <a:pt x="63" y="273"/>
                        <a:pt x="38" y="298"/>
                        <a:pt x="35" y="282"/>
                      </a:cubicBezTo>
                      <a:cubicBezTo>
                        <a:pt x="32" y="265"/>
                        <a:pt x="18" y="186"/>
                        <a:pt x="13" y="150"/>
                      </a:cubicBezTo>
                      <a:cubicBezTo>
                        <a:pt x="9" y="115"/>
                        <a:pt x="2" y="63"/>
                        <a:pt x="1" y="32"/>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80" name="Freeform 466">
                  <a:extLst>
                    <a:ext uri="{FF2B5EF4-FFF2-40B4-BE49-F238E27FC236}">
                      <a16:creationId xmlns:a16="http://schemas.microsoft.com/office/drawing/2014/main" id="{5D4118CC-FAC2-4837-B447-025DD61AFE45}"/>
                    </a:ext>
                  </a:extLst>
                </p:cNvPr>
                <p:cNvSpPr>
                  <a:spLocks/>
                </p:cNvSpPr>
                <p:nvPr/>
              </p:nvSpPr>
              <p:spPr bwMode="auto">
                <a:xfrm>
                  <a:off x="4966091" y="3458114"/>
                  <a:ext cx="68482" cy="35037"/>
                </a:xfrm>
                <a:custGeom>
                  <a:avLst/>
                  <a:gdLst>
                    <a:gd name="T0" fmla="*/ 42 w 91"/>
                    <a:gd name="T1" fmla="*/ 4 h 47"/>
                    <a:gd name="T2" fmla="*/ 86 w 91"/>
                    <a:gd name="T3" fmla="*/ 23 h 47"/>
                    <a:gd name="T4" fmla="*/ 45 w 91"/>
                    <a:gd name="T5" fmla="*/ 46 h 47"/>
                    <a:gd name="T6" fmla="*/ 20 w 91"/>
                    <a:gd name="T7" fmla="*/ 9 h 47"/>
                    <a:gd name="T8" fmla="*/ 42 w 91"/>
                    <a:gd name="T9" fmla="*/ 4 h 47"/>
                  </a:gdLst>
                  <a:ahLst/>
                  <a:cxnLst>
                    <a:cxn ang="0">
                      <a:pos x="T0" y="T1"/>
                    </a:cxn>
                    <a:cxn ang="0">
                      <a:pos x="T2" y="T3"/>
                    </a:cxn>
                    <a:cxn ang="0">
                      <a:pos x="T4" y="T5"/>
                    </a:cxn>
                    <a:cxn ang="0">
                      <a:pos x="T6" y="T7"/>
                    </a:cxn>
                    <a:cxn ang="0">
                      <a:pos x="T8" y="T9"/>
                    </a:cxn>
                  </a:cxnLst>
                  <a:rect l="0" t="0" r="r" b="b"/>
                  <a:pathLst>
                    <a:path w="91" h="47">
                      <a:moveTo>
                        <a:pt x="42" y="4"/>
                      </a:moveTo>
                      <a:cubicBezTo>
                        <a:pt x="42" y="4"/>
                        <a:pt x="91" y="0"/>
                        <a:pt x="86" y="23"/>
                      </a:cubicBezTo>
                      <a:cubicBezTo>
                        <a:pt x="81" y="46"/>
                        <a:pt x="68" y="45"/>
                        <a:pt x="45" y="46"/>
                      </a:cubicBezTo>
                      <a:cubicBezTo>
                        <a:pt x="22" y="47"/>
                        <a:pt x="0" y="33"/>
                        <a:pt x="20" y="9"/>
                      </a:cubicBezTo>
                      <a:cubicBezTo>
                        <a:pt x="26" y="3"/>
                        <a:pt x="37" y="3"/>
                        <a:pt x="42" y="4"/>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81" name="Freeform 467">
                  <a:extLst>
                    <a:ext uri="{FF2B5EF4-FFF2-40B4-BE49-F238E27FC236}">
                      <a16:creationId xmlns:a16="http://schemas.microsoft.com/office/drawing/2014/main" id="{57613C32-73FD-41BA-9990-C905AF9B8BF7}"/>
                    </a:ext>
                  </a:extLst>
                </p:cNvPr>
                <p:cNvSpPr>
                  <a:spLocks/>
                </p:cNvSpPr>
                <p:nvPr/>
              </p:nvSpPr>
              <p:spPr bwMode="auto">
                <a:xfrm>
                  <a:off x="4872923" y="3474837"/>
                  <a:ext cx="25482" cy="50963"/>
                </a:xfrm>
                <a:custGeom>
                  <a:avLst/>
                  <a:gdLst>
                    <a:gd name="T0" fmla="*/ 1 w 34"/>
                    <a:gd name="T1" fmla="*/ 11 h 67"/>
                    <a:gd name="T2" fmla="*/ 18 w 34"/>
                    <a:gd name="T3" fmla="*/ 57 h 67"/>
                    <a:gd name="T4" fmla="*/ 32 w 34"/>
                    <a:gd name="T5" fmla="*/ 51 h 67"/>
                    <a:gd name="T6" fmla="*/ 16 w 34"/>
                    <a:gd name="T7" fmla="*/ 3 h 67"/>
                    <a:gd name="T8" fmla="*/ 1 w 34"/>
                    <a:gd name="T9" fmla="*/ 11 h 67"/>
                  </a:gdLst>
                  <a:ahLst/>
                  <a:cxnLst>
                    <a:cxn ang="0">
                      <a:pos x="T0" y="T1"/>
                    </a:cxn>
                    <a:cxn ang="0">
                      <a:pos x="T2" y="T3"/>
                    </a:cxn>
                    <a:cxn ang="0">
                      <a:pos x="T4" y="T5"/>
                    </a:cxn>
                    <a:cxn ang="0">
                      <a:pos x="T6" y="T7"/>
                    </a:cxn>
                    <a:cxn ang="0">
                      <a:pos x="T8" y="T9"/>
                    </a:cxn>
                  </a:cxnLst>
                  <a:rect l="0" t="0" r="r" b="b"/>
                  <a:pathLst>
                    <a:path w="34" h="67">
                      <a:moveTo>
                        <a:pt x="1" y="11"/>
                      </a:moveTo>
                      <a:cubicBezTo>
                        <a:pt x="1" y="11"/>
                        <a:pt x="18" y="51"/>
                        <a:pt x="18" y="57"/>
                      </a:cubicBezTo>
                      <a:cubicBezTo>
                        <a:pt x="18" y="63"/>
                        <a:pt x="29" y="67"/>
                        <a:pt x="32" y="51"/>
                      </a:cubicBezTo>
                      <a:cubicBezTo>
                        <a:pt x="34" y="35"/>
                        <a:pt x="33" y="5"/>
                        <a:pt x="16" y="3"/>
                      </a:cubicBezTo>
                      <a:cubicBezTo>
                        <a:pt x="0" y="0"/>
                        <a:pt x="1" y="11"/>
                        <a:pt x="1" y="11"/>
                      </a:cubicBezTo>
                      <a:close/>
                    </a:path>
                  </a:pathLst>
                </a:custGeom>
                <a:solidFill>
                  <a:srgbClr val="FEEAD3"/>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82" name="Freeform 468">
                  <a:extLst>
                    <a:ext uri="{FF2B5EF4-FFF2-40B4-BE49-F238E27FC236}">
                      <a16:creationId xmlns:a16="http://schemas.microsoft.com/office/drawing/2014/main" id="{D232AE35-6E44-4877-9EE0-84D110D20C96}"/>
                    </a:ext>
                  </a:extLst>
                </p:cNvPr>
                <p:cNvSpPr>
                  <a:spLocks/>
                </p:cNvSpPr>
                <p:nvPr/>
              </p:nvSpPr>
              <p:spPr bwMode="auto">
                <a:xfrm>
                  <a:off x="4446105" y="3004222"/>
                  <a:ext cx="1231880" cy="1106860"/>
                </a:xfrm>
                <a:custGeom>
                  <a:avLst/>
                  <a:gdLst>
                    <a:gd name="T0" fmla="*/ 1624 w 1638"/>
                    <a:gd name="T1" fmla="*/ 609 h 1472"/>
                    <a:gd name="T2" fmla="*/ 1597 w 1638"/>
                    <a:gd name="T3" fmla="*/ 527 h 1472"/>
                    <a:gd name="T4" fmla="*/ 1556 w 1638"/>
                    <a:gd name="T5" fmla="*/ 469 h 1472"/>
                    <a:gd name="T6" fmla="*/ 1527 w 1638"/>
                    <a:gd name="T7" fmla="*/ 400 h 1472"/>
                    <a:gd name="T8" fmla="*/ 1469 w 1638"/>
                    <a:gd name="T9" fmla="*/ 349 h 1472"/>
                    <a:gd name="T10" fmla="*/ 1417 w 1638"/>
                    <a:gd name="T11" fmla="*/ 279 h 1472"/>
                    <a:gd name="T12" fmla="*/ 1310 w 1638"/>
                    <a:gd name="T13" fmla="*/ 185 h 1472"/>
                    <a:gd name="T14" fmla="*/ 1187 w 1638"/>
                    <a:gd name="T15" fmla="*/ 109 h 1472"/>
                    <a:gd name="T16" fmla="*/ 1132 w 1638"/>
                    <a:gd name="T17" fmla="*/ 79 h 1472"/>
                    <a:gd name="T18" fmla="*/ 1025 w 1638"/>
                    <a:gd name="T19" fmla="*/ 39 h 1472"/>
                    <a:gd name="T20" fmla="*/ 953 w 1638"/>
                    <a:gd name="T21" fmla="*/ 31 h 1472"/>
                    <a:gd name="T22" fmla="*/ 830 w 1638"/>
                    <a:gd name="T23" fmla="*/ 31 h 1472"/>
                    <a:gd name="T24" fmla="*/ 712 w 1638"/>
                    <a:gd name="T25" fmla="*/ 5 h 1472"/>
                    <a:gd name="T26" fmla="*/ 587 w 1638"/>
                    <a:gd name="T27" fmla="*/ 18 h 1472"/>
                    <a:gd name="T28" fmla="*/ 475 w 1638"/>
                    <a:gd name="T29" fmla="*/ 39 h 1472"/>
                    <a:gd name="T30" fmla="*/ 321 w 1638"/>
                    <a:gd name="T31" fmla="*/ 82 h 1472"/>
                    <a:gd name="T32" fmla="*/ 225 w 1638"/>
                    <a:gd name="T33" fmla="*/ 132 h 1472"/>
                    <a:gd name="T34" fmla="*/ 164 w 1638"/>
                    <a:gd name="T35" fmla="*/ 180 h 1472"/>
                    <a:gd name="T36" fmla="*/ 67 w 1638"/>
                    <a:gd name="T37" fmla="*/ 300 h 1472"/>
                    <a:gd name="T38" fmla="*/ 34 w 1638"/>
                    <a:gd name="T39" fmla="*/ 377 h 1472"/>
                    <a:gd name="T40" fmla="*/ 5 w 1638"/>
                    <a:gd name="T41" fmla="*/ 472 h 1472"/>
                    <a:gd name="T42" fmla="*/ 19 w 1638"/>
                    <a:gd name="T43" fmla="*/ 617 h 1472"/>
                    <a:gd name="T44" fmla="*/ 89 w 1638"/>
                    <a:gd name="T45" fmla="*/ 729 h 1472"/>
                    <a:gd name="T46" fmla="*/ 198 w 1638"/>
                    <a:gd name="T47" fmla="*/ 808 h 1472"/>
                    <a:gd name="T48" fmla="*/ 362 w 1638"/>
                    <a:gd name="T49" fmla="*/ 827 h 1472"/>
                    <a:gd name="T50" fmla="*/ 414 w 1638"/>
                    <a:gd name="T51" fmla="*/ 909 h 1472"/>
                    <a:gd name="T52" fmla="*/ 453 w 1638"/>
                    <a:gd name="T53" fmla="*/ 952 h 1472"/>
                    <a:gd name="T54" fmla="*/ 616 w 1638"/>
                    <a:gd name="T55" fmla="*/ 987 h 1472"/>
                    <a:gd name="T56" fmla="*/ 691 w 1638"/>
                    <a:gd name="T57" fmla="*/ 978 h 1472"/>
                    <a:gd name="T58" fmla="*/ 810 w 1638"/>
                    <a:gd name="T59" fmla="*/ 1144 h 1472"/>
                    <a:gd name="T60" fmla="*/ 913 w 1638"/>
                    <a:gd name="T61" fmla="*/ 1329 h 1472"/>
                    <a:gd name="T62" fmla="*/ 992 w 1638"/>
                    <a:gd name="T63" fmla="*/ 1461 h 1472"/>
                    <a:gd name="T64" fmla="*/ 1009 w 1638"/>
                    <a:gd name="T65" fmla="*/ 1454 h 1472"/>
                    <a:gd name="T66" fmla="*/ 1037 w 1638"/>
                    <a:gd name="T67" fmla="*/ 1447 h 1472"/>
                    <a:gd name="T68" fmla="*/ 1013 w 1638"/>
                    <a:gd name="T69" fmla="*/ 1313 h 1472"/>
                    <a:gd name="T70" fmla="*/ 1123 w 1638"/>
                    <a:gd name="T71" fmla="*/ 1273 h 1472"/>
                    <a:gd name="T72" fmla="*/ 1194 w 1638"/>
                    <a:gd name="T73" fmla="*/ 1277 h 1472"/>
                    <a:gd name="T74" fmla="*/ 1260 w 1638"/>
                    <a:gd name="T75" fmla="*/ 1269 h 1472"/>
                    <a:gd name="T76" fmla="*/ 1338 w 1638"/>
                    <a:gd name="T77" fmla="*/ 1241 h 1472"/>
                    <a:gd name="T78" fmla="*/ 1379 w 1638"/>
                    <a:gd name="T79" fmla="*/ 1208 h 1472"/>
                    <a:gd name="T80" fmla="*/ 1418 w 1638"/>
                    <a:gd name="T81" fmla="*/ 1151 h 1472"/>
                    <a:gd name="T82" fmla="*/ 1456 w 1638"/>
                    <a:gd name="T83" fmla="*/ 1070 h 1472"/>
                    <a:gd name="T84" fmla="*/ 1469 w 1638"/>
                    <a:gd name="T85" fmla="*/ 999 h 1472"/>
                    <a:gd name="T86" fmla="*/ 1527 w 1638"/>
                    <a:gd name="T87" fmla="*/ 981 h 1472"/>
                    <a:gd name="T88" fmla="*/ 1600 w 1638"/>
                    <a:gd name="T89" fmla="*/ 837 h 1472"/>
                    <a:gd name="T90" fmla="*/ 1631 w 1638"/>
                    <a:gd name="T91" fmla="*/ 732 h 1472"/>
                    <a:gd name="T92" fmla="*/ 1632 w 1638"/>
                    <a:gd name="T93" fmla="*/ 658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38" h="1472">
                      <a:moveTo>
                        <a:pt x="1632" y="658"/>
                      </a:move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351" y="828"/>
                        <a:pt x="357" y="828"/>
                        <a:pt x="362" y="827"/>
                      </a:cubicBezTo>
                      <a:cubicBezTo>
                        <a:pt x="363" y="833"/>
                        <a:pt x="363" y="840"/>
                        <a:pt x="363" y="847"/>
                      </a:cubicBezTo>
                      <a:cubicBezTo>
                        <a:pt x="364" y="880"/>
                        <a:pt x="393" y="900"/>
                        <a:pt x="414" y="909"/>
                      </a:cubicBezTo>
                      <a:cubicBezTo>
                        <a:pt x="435" y="919"/>
                        <a:pt x="434" y="925"/>
                        <a:pt x="434" y="925"/>
                      </a:cubicBezTo>
                      <a:cubicBezTo>
                        <a:pt x="437" y="930"/>
                        <a:pt x="431" y="935"/>
                        <a:pt x="453" y="952"/>
                      </a:cubicBezTo>
                      <a:cubicBezTo>
                        <a:pt x="507" y="993"/>
                        <a:pt x="556" y="987"/>
                        <a:pt x="569" y="985"/>
                      </a:cubicBezTo>
                      <a:cubicBezTo>
                        <a:pt x="582" y="984"/>
                        <a:pt x="598" y="982"/>
                        <a:pt x="616" y="987"/>
                      </a:cubicBezTo>
                      <a:cubicBezTo>
                        <a:pt x="634" y="993"/>
                        <a:pt x="664" y="988"/>
                        <a:pt x="675" y="984"/>
                      </a:cubicBezTo>
                      <a:cubicBezTo>
                        <a:pt x="679" y="982"/>
                        <a:pt x="685" y="980"/>
                        <a:pt x="691" y="978"/>
                      </a:cubicBezTo>
                      <a:cubicBezTo>
                        <a:pt x="688" y="1056"/>
                        <a:pt x="720" y="1103"/>
                        <a:pt x="720" y="1103"/>
                      </a:cubicBezTo>
                      <a:cubicBezTo>
                        <a:pt x="746" y="1159"/>
                        <a:pt x="810" y="1144"/>
                        <a:pt x="810" y="1144"/>
                      </a:cubicBezTo>
                      <a:cubicBezTo>
                        <a:pt x="799" y="1230"/>
                        <a:pt x="846" y="1239"/>
                        <a:pt x="862" y="1255"/>
                      </a:cubicBezTo>
                      <a:cubicBezTo>
                        <a:pt x="877" y="1271"/>
                        <a:pt x="898" y="1294"/>
                        <a:pt x="913" y="1329"/>
                      </a:cubicBezTo>
                      <a:cubicBezTo>
                        <a:pt x="928" y="1364"/>
                        <a:pt x="947" y="1472"/>
                        <a:pt x="947" y="1472"/>
                      </a:cubicBezTo>
                      <a:cubicBezTo>
                        <a:pt x="947" y="1472"/>
                        <a:pt x="992" y="1462"/>
                        <a:pt x="992" y="1461"/>
                      </a:cubicBezTo>
                      <a:cubicBezTo>
                        <a:pt x="992" y="1461"/>
                        <a:pt x="991" y="1460"/>
                        <a:pt x="991" y="1460"/>
                      </a:cubicBezTo>
                      <a:cubicBezTo>
                        <a:pt x="1009" y="1454"/>
                        <a:pt x="1009" y="1454"/>
                        <a:pt x="1009" y="1454"/>
                      </a:cubicBezTo>
                      <a:cubicBezTo>
                        <a:pt x="1009" y="1455"/>
                        <a:pt x="1009" y="1455"/>
                        <a:pt x="1009" y="1456"/>
                      </a:cubicBezTo>
                      <a:cubicBezTo>
                        <a:pt x="1012" y="1472"/>
                        <a:pt x="1037" y="1447"/>
                        <a:pt x="1037" y="1447"/>
                      </a:cubicBezTo>
                      <a:cubicBezTo>
                        <a:pt x="1037" y="1447"/>
                        <a:pt x="1027" y="1409"/>
                        <a:pt x="1021" y="1372"/>
                      </a:cubicBezTo>
                      <a:cubicBezTo>
                        <a:pt x="1018" y="1354"/>
                        <a:pt x="1015" y="1333"/>
                        <a:pt x="1013" y="1313"/>
                      </a:cubicBezTo>
                      <a:cubicBezTo>
                        <a:pt x="1061" y="1301"/>
                        <a:pt x="1081" y="1271"/>
                        <a:pt x="1081" y="1271"/>
                      </a:cubicBezTo>
                      <a:cubicBezTo>
                        <a:pt x="1102" y="1283"/>
                        <a:pt x="1123" y="1273"/>
                        <a:pt x="1123" y="1273"/>
                      </a:cubicBezTo>
                      <a:cubicBezTo>
                        <a:pt x="1137" y="1287"/>
                        <a:pt x="1157" y="1278"/>
                        <a:pt x="1157" y="1278"/>
                      </a:cubicBezTo>
                      <a:cubicBezTo>
                        <a:pt x="1177" y="1292"/>
                        <a:pt x="1194" y="1277"/>
                        <a:pt x="1194" y="1277"/>
                      </a:cubicBezTo>
                      <a:cubicBezTo>
                        <a:pt x="1206" y="1288"/>
                        <a:pt x="1222" y="1277"/>
                        <a:pt x="1222" y="1277"/>
                      </a:cubicBezTo>
                      <a:cubicBezTo>
                        <a:pt x="1247" y="1289"/>
                        <a:pt x="1260" y="1269"/>
                        <a:pt x="1260" y="1269"/>
                      </a:cubicBezTo>
                      <a:cubicBezTo>
                        <a:pt x="1288" y="1276"/>
                        <a:pt x="1286" y="1260"/>
                        <a:pt x="1292" y="1262"/>
                      </a:cubicBezTo>
                      <a:cubicBezTo>
                        <a:pt x="1329" y="1269"/>
                        <a:pt x="1338" y="1241"/>
                        <a:pt x="1338" y="1241"/>
                      </a:cubicBezTo>
                      <a:cubicBezTo>
                        <a:pt x="1364" y="1247"/>
                        <a:pt x="1371" y="1230"/>
                        <a:pt x="1371" y="1222"/>
                      </a:cubicBezTo>
                      <a:cubicBezTo>
                        <a:pt x="1371" y="1214"/>
                        <a:pt x="1379" y="1208"/>
                        <a:pt x="1379" y="1208"/>
                      </a:cubicBezTo>
                      <a:cubicBezTo>
                        <a:pt x="1426" y="1199"/>
                        <a:pt x="1406" y="1180"/>
                        <a:pt x="1412" y="1178"/>
                      </a:cubicBezTo>
                      <a:cubicBezTo>
                        <a:pt x="1430" y="1169"/>
                        <a:pt x="1418" y="1151"/>
                        <a:pt x="1418" y="1151"/>
                      </a:cubicBezTo>
                      <a:cubicBezTo>
                        <a:pt x="1449" y="1141"/>
                        <a:pt x="1439" y="1113"/>
                        <a:pt x="1439" y="1113"/>
                      </a:cubicBezTo>
                      <a:cubicBezTo>
                        <a:pt x="1478" y="1094"/>
                        <a:pt x="1453" y="1073"/>
                        <a:pt x="1456" y="1070"/>
                      </a:cubicBezTo>
                      <a:cubicBezTo>
                        <a:pt x="1485" y="1047"/>
                        <a:pt x="1459" y="1029"/>
                        <a:pt x="1461" y="1028"/>
                      </a:cubicBezTo>
                      <a:cubicBezTo>
                        <a:pt x="1476" y="1019"/>
                        <a:pt x="1469" y="999"/>
                        <a:pt x="1469" y="999"/>
                      </a:cubicBezTo>
                      <a:cubicBezTo>
                        <a:pt x="1468" y="998"/>
                        <a:pt x="1468" y="998"/>
                        <a:pt x="1468" y="998"/>
                      </a:cubicBezTo>
                      <a:cubicBezTo>
                        <a:pt x="1486" y="1001"/>
                        <a:pt x="1507" y="999"/>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lose/>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583" name="Freeform 475">
                  <a:extLst>
                    <a:ext uri="{FF2B5EF4-FFF2-40B4-BE49-F238E27FC236}">
                      <a16:creationId xmlns:a16="http://schemas.microsoft.com/office/drawing/2014/main" id="{EF3827B2-7265-4DB9-9A22-5EA8BBEFB275}"/>
                    </a:ext>
                  </a:extLst>
                </p:cNvPr>
                <p:cNvSpPr>
                  <a:spLocks/>
                </p:cNvSpPr>
                <p:nvPr/>
              </p:nvSpPr>
              <p:spPr bwMode="auto">
                <a:xfrm>
                  <a:off x="4801256" y="3537745"/>
                  <a:ext cx="47778" cy="40612"/>
                </a:xfrm>
                <a:custGeom>
                  <a:avLst/>
                  <a:gdLst>
                    <a:gd name="T0" fmla="*/ 0 w 60"/>
                    <a:gd name="T1" fmla="*/ 35 h 51"/>
                    <a:gd name="T2" fmla="*/ 53 w 60"/>
                    <a:gd name="T3" fmla="*/ 0 h 51"/>
                    <a:gd name="T4" fmla="*/ 60 w 60"/>
                    <a:gd name="T5" fmla="*/ 51 h 51"/>
                    <a:gd name="T6" fmla="*/ 0 w 60"/>
                    <a:gd name="T7" fmla="*/ 35 h 51"/>
                  </a:gdLst>
                  <a:ahLst/>
                  <a:cxnLst>
                    <a:cxn ang="0">
                      <a:pos x="T0" y="T1"/>
                    </a:cxn>
                    <a:cxn ang="0">
                      <a:pos x="T2" y="T3"/>
                    </a:cxn>
                    <a:cxn ang="0">
                      <a:pos x="T4" y="T5"/>
                    </a:cxn>
                    <a:cxn ang="0">
                      <a:pos x="T6" y="T7"/>
                    </a:cxn>
                  </a:cxnLst>
                  <a:rect l="0" t="0" r="r" b="b"/>
                  <a:pathLst>
                    <a:path w="60" h="51">
                      <a:moveTo>
                        <a:pt x="0" y="35"/>
                      </a:moveTo>
                      <a:lnTo>
                        <a:pt x="53" y="0"/>
                      </a:lnTo>
                      <a:lnTo>
                        <a:pt x="60" y="51"/>
                      </a:lnTo>
                      <a:lnTo>
                        <a:pt x="0" y="35"/>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84" name="Freeform 477">
                  <a:extLst>
                    <a:ext uri="{FF2B5EF4-FFF2-40B4-BE49-F238E27FC236}">
                      <a16:creationId xmlns:a16="http://schemas.microsoft.com/office/drawing/2014/main" id="{4C063AC2-094E-4065-A9EA-835C04053B43}"/>
                    </a:ext>
                  </a:extLst>
                </p:cNvPr>
                <p:cNvSpPr>
                  <a:spLocks/>
                </p:cNvSpPr>
                <p:nvPr/>
              </p:nvSpPr>
              <p:spPr bwMode="auto">
                <a:xfrm>
                  <a:off x="4842664" y="3512263"/>
                  <a:ext cx="369484" cy="574134"/>
                </a:xfrm>
                <a:custGeom>
                  <a:avLst/>
                  <a:gdLst>
                    <a:gd name="T0" fmla="*/ 5 w 491"/>
                    <a:gd name="T1" fmla="*/ 75 h 764"/>
                    <a:gd name="T2" fmla="*/ 279 w 491"/>
                    <a:gd name="T3" fmla="*/ 281 h 764"/>
                    <a:gd name="T4" fmla="*/ 428 w 491"/>
                    <a:gd name="T5" fmla="*/ 764 h 764"/>
                    <a:gd name="T6" fmla="*/ 491 w 491"/>
                    <a:gd name="T7" fmla="*/ 748 h 764"/>
                    <a:gd name="T8" fmla="*/ 331 w 491"/>
                    <a:gd name="T9" fmla="*/ 275 h 764"/>
                    <a:gd name="T10" fmla="*/ 0 w 491"/>
                    <a:gd name="T11" fmla="*/ 49 h 764"/>
                    <a:gd name="T12" fmla="*/ 5 w 491"/>
                    <a:gd name="T13" fmla="*/ 75 h 764"/>
                  </a:gdLst>
                  <a:ahLst/>
                  <a:cxnLst>
                    <a:cxn ang="0">
                      <a:pos x="T0" y="T1"/>
                    </a:cxn>
                    <a:cxn ang="0">
                      <a:pos x="T2" y="T3"/>
                    </a:cxn>
                    <a:cxn ang="0">
                      <a:pos x="T4" y="T5"/>
                    </a:cxn>
                    <a:cxn ang="0">
                      <a:pos x="T6" y="T7"/>
                    </a:cxn>
                    <a:cxn ang="0">
                      <a:pos x="T8" y="T9"/>
                    </a:cxn>
                    <a:cxn ang="0">
                      <a:pos x="T10" y="T11"/>
                    </a:cxn>
                    <a:cxn ang="0">
                      <a:pos x="T12" y="T13"/>
                    </a:cxn>
                  </a:cxnLst>
                  <a:rect l="0" t="0" r="r" b="b"/>
                  <a:pathLst>
                    <a:path w="491" h="764">
                      <a:moveTo>
                        <a:pt x="5" y="75"/>
                      </a:moveTo>
                      <a:cubicBezTo>
                        <a:pt x="5" y="75"/>
                        <a:pt x="200" y="33"/>
                        <a:pt x="279" y="281"/>
                      </a:cubicBezTo>
                      <a:cubicBezTo>
                        <a:pt x="405" y="680"/>
                        <a:pt x="428" y="764"/>
                        <a:pt x="428" y="764"/>
                      </a:cubicBezTo>
                      <a:cubicBezTo>
                        <a:pt x="491" y="748"/>
                        <a:pt x="491" y="748"/>
                        <a:pt x="491" y="748"/>
                      </a:cubicBezTo>
                      <a:cubicBezTo>
                        <a:pt x="331" y="275"/>
                        <a:pt x="331" y="275"/>
                        <a:pt x="331" y="275"/>
                      </a:cubicBezTo>
                      <a:cubicBezTo>
                        <a:pt x="331" y="275"/>
                        <a:pt x="259" y="0"/>
                        <a:pt x="0" y="49"/>
                      </a:cubicBezTo>
                      <a:lnTo>
                        <a:pt x="5" y="75"/>
                      </a:lnTo>
                      <a:close/>
                    </a:path>
                  </a:pathLst>
                </a:custGeom>
                <a:solidFill>
                  <a:schemeClr val="accent1"/>
                </a:solidFill>
                <a:ln w="3175">
                  <a:solidFill>
                    <a:schemeClr val="accent1"/>
                  </a:solidFill>
                </a:ln>
              </p:spPr>
              <p:txBody>
                <a:bodyPr vert="horz" wrap="square" lIns="91440" tIns="45720" rIns="91440" bIns="45720" numCol="1" anchor="t" anchorCtr="0" compatLnSpc="1">
                  <a:prstTxWarp prst="textNoShape">
                    <a:avLst/>
                  </a:prstTxWarp>
                </a:bodyPr>
                <a:lstStyle/>
                <a:p>
                  <a:endParaRPr lang="en-GB" sz="1600"/>
                </a:p>
              </p:txBody>
            </p:sp>
            <p:sp>
              <p:nvSpPr>
                <p:cNvPr id="585" name="Freeform 490">
                  <a:extLst>
                    <a:ext uri="{FF2B5EF4-FFF2-40B4-BE49-F238E27FC236}">
                      <a16:creationId xmlns:a16="http://schemas.microsoft.com/office/drawing/2014/main" id="{EE5AF1F7-4DE1-4D25-B37E-1E65B81977BE}"/>
                    </a:ext>
                  </a:extLst>
                </p:cNvPr>
                <p:cNvSpPr>
                  <a:spLocks/>
                </p:cNvSpPr>
                <p:nvPr/>
              </p:nvSpPr>
              <p:spPr bwMode="auto">
                <a:xfrm>
                  <a:off x="5400076" y="3642061"/>
                  <a:ext cx="89982" cy="30259"/>
                </a:xfrm>
                <a:custGeom>
                  <a:avLst/>
                  <a:gdLst>
                    <a:gd name="T0" fmla="*/ 0 w 113"/>
                    <a:gd name="T1" fmla="*/ 0 h 38"/>
                    <a:gd name="T2" fmla="*/ 111 w 113"/>
                    <a:gd name="T3" fmla="*/ 6 h 38"/>
                    <a:gd name="T4" fmla="*/ 113 w 113"/>
                    <a:gd name="T5" fmla="*/ 24 h 38"/>
                    <a:gd name="T6" fmla="*/ 18 w 113"/>
                    <a:gd name="T7" fmla="*/ 38 h 38"/>
                    <a:gd name="T8" fmla="*/ 0 w 113"/>
                    <a:gd name="T9" fmla="*/ 0 h 38"/>
                  </a:gdLst>
                  <a:ahLst/>
                  <a:cxnLst>
                    <a:cxn ang="0">
                      <a:pos x="T0" y="T1"/>
                    </a:cxn>
                    <a:cxn ang="0">
                      <a:pos x="T2" y="T3"/>
                    </a:cxn>
                    <a:cxn ang="0">
                      <a:pos x="T4" y="T5"/>
                    </a:cxn>
                    <a:cxn ang="0">
                      <a:pos x="T6" y="T7"/>
                    </a:cxn>
                    <a:cxn ang="0">
                      <a:pos x="T8" y="T9"/>
                    </a:cxn>
                  </a:cxnLst>
                  <a:rect l="0" t="0" r="r" b="b"/>
                  <a:pathLst>
                    <a:path w="113" h="38">
                      <a:moveTo>
                        <a:pt x="0" y="0"/>
                      </a:moveTo>
                      <a:lnTo>
                        <a:pt x="111" y="6"/>
                      </a:lnTo>
                      <a:lnTo>
                        <a:pt x="113" y="24"/>
                      </a:lnTo>
                      <a:lnTo>
                        <a:pt x="18" y="38"/>
                      </a:lnTo>
                      <a:lnTo>
                        <a:pt x="0" y="0"/>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86" name="Freeform 491">
                  <a:extLst>
                    <a:ext uri="{FF2B5EF4-FFF2-40B4-BE49-F238E27FC236}">
                      <a16:creationId xmlns:a16="http://schemas.microsoft.com/office/drawing/2014/main" id="{A2EA0C2E-CDC5-4C65-BDD1-E9D80BBA8620}"/>
                    </a:ext>
                  </a:extLst>
                </p:cNvPr>
                <p:cNvSpPr>
                  <a:spLocks/>
                </p:cNvSpPr>
                <p:nvPr/>
              </p:nvSpPr>
              <p:spPr bwMode="auto">
                <a:xfrm>
                  <a:off x="5484484" y="3634894"/>
                  <a:ext cx="46982" cy="40612"/>
                </a:xfrm>
                <a:custGeom>
                  <a:avLst/>
                  <a:gdLst>
                    <a:gd name="T0" fmla="*/ 59 w 59"/>
                    <a:gd name="T1" fmla="*/ 23 h 51"/>
                    <a:gd name="T2" fmla="*/ 3 w 59"/>
                    <a:gd name="T3" fmla="*/ 51 h 51"/>
                    <a:gd name="T4" fmla="*/ 0 w 59"/>
                    <a:gd name="T5" fmla="*/ 0 h 51"/>
                    <a:gd name="T6" fmla="*/ 59 w 59"/>
                    <a:gd name="T7" fmla="*/ 23 h 51"/>
                  </a:gdLst>
                  <a:ahLst/>
                  <a:cxnLst>
                    <a:cxn ang="0">
                      <a:pos x="T0" y="T1"/>
                    </a:cxn>
                    <a:cxn ang="0">
                      <a:pos x="T2" y="T3"/>
                    </a:cxn>
                    <a:cxn ang="0">
                      <a:pos x="T4" y="T5"/>
                    </a:cxn>
                    <a:cxn ang="0">
                      <a:pos x="T6" y="T7"/>
                    </a:cxn>
                  </a:cxnLst>
                  <a:rect l="0" t="0" r="r" b="b"/>
                  <a:pathLst>
                    <a:path w="59" h="51">
                      <a:moveTo>
                        <a:pt x="59" y="23"/>
                      </a:moveTo>
                      <a:lnTo>
                        <a:pt x="3" y="51"/>
                      </a:lnTo>
                      <a:lnTo>
                        <a:pt x="0" y="0"/>
                      </a:lnTo>
                      <a:lnTo>
                        <a:pt x="59" y="23"/>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87" name="Freeform 500">
                  <a:extLst>
                    <a:ext uri="{FF2B5EF4-FFF2-40B4-BE49-F238E27FC236}">
                      <a16:creationId xmlns:a16="http://schemas.microsoft.com/office/drawing/2014/main" id="{AD2688EB-FE09-4380-9D75-2FC20CC2C9C7}"/>
                    </a:ext>
                  </a:extLst>
                </p:cNvPr>
                <p:cNvSpPr>
                  <a:spLocks/>
                </p:cNvSpPr>
                <p:nvPr/>
              </p:nvSpPr>
              <p:spPr bwMode="auto">
                <a:xfrm>
                  <a:off x="4766219" y="3649227"/>
                  <a:ext cx="49371" cy="41408"/>
                </a:xfrm>
                <a:custGeom>
                  <a:avLst/>
                  <a:gdLst>
                    <a:gd name="T0" fmla="*/ 0 w 62"/>
                    <a:gd name="T1" fmla="*/ 52 h 52"/>
                    <a:gd name="T2" fmla="*/ 35 w 62"/>
                    <a:gd name="T3" fmla="*/ 0 h 52"/>
                    <a:gd name="T4" fmla="*/ 62 w 62"/>
                    <a:gd name="T5" fmla="*/ 45 h 52"/>
                    <a:gd name="T6" fmla="*/ 0 w 62"/>
                    <a:gd name="T7" fmla="*/ 52 h 52"/>
                  </a:gdLst>
                  <a:ahLst/>
                  <a:cxnLst>
                    <a:cxn ang="0">
                      <a:pos x="T0" y="T1"/>
                    </a:cxn>
                    <a:cxn ang="0">
                      <a:pos x="T2" y="T3"/>
                    </a:cxn>
                    <a:cxn ang="0">
                      <a:pos x="T4" y="T5"/>
                    </a:cxn>
                    <a:cxn ang="0">
                      <a:pos x="T6" y="T7"/>
                    </a:cxn>
                  </a:cxnLst>
                  <a:rect l="0" t="0" r="r" b="b"/>
                  <a:pathLst>
                    <a:path w="62" h="52">
                      <a:moveTo>
                        <a:pt x="0" y="52"/>
                      </a:moveTo>
                      <a:lnTo>
                        <a:pt x="35" y="0"/>
                      </a:lnTo>
                      <a:lnTo>
                        <a:pt x="62" y="45"/>
                      </a:lnTo>
                      <a:lnTo>
                        <a:pt x="0" y="52"/>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588" name="Freeform 501">
                  <a:extLst>
                    <a:ext uri="{FF2B5EF4-FFF2-40B4-BE49-F238E27FC236}">
                      <a16:creationId xmlns:a16="http://schemas.microsoft.com/office/drawing/2014/main" id="{9EF423A2-4D7F-4DA0-8EB2-FF4A93E78106}"/>
                    </a:ext>
                  </a:extLst>
                </p:cNvPr>
                <p:cNvSpPr>
                  <a:spLocks/>
                </p:cNvSpPr>
                <p:nvPr/>
              </p:nvSpPr>
              <p:spPr bwMode="auto">
                <a:xfrm>
                  <a:off x="4798071" y="3611801"/>
                  <a:ext cx="108297" cy="64501"/>
                </a:xfrm>
                <a:custGeom>
                  <a:avLst/>
                  <a:gdLst>
                    <a:gd name="T0" fmla="*/ 0 w 144"/>
                    <a:gd name="T1" fmla="*/ 66 h 86"/>
                    <a:gd name="T2" fmla="*/ 88 w 144"/>
                    <a:gd name="T3" fmla="*/ 0 h 86"/>
                    <a:gd name="T4" fmla="*/ 144 w 144"/>
                    <a:gd name="T5" fmla="*/ 32 h 86"/>
                    <a:gd name="T6" fmla="*/ 12 w 144"/>
                    <a:gd name="T7" fmla="*/ 86 h 86"/>
                    <a:gd name="T8" fmla="*/ 0 w 144"/>
                    <a:gd name="T9" fmla="*/ 66 h 86"/>
                  </a:gdLst>
                  <a:ahLst/>
                  <a:cxnLst>
                    <a:cxn ang="0">
                      <a:pos x="T0" y="T1"/>
                    </a:cxn>
                    <a:cxn ang="0">
                      <a:pos x="T2" y="T3"/>
                    </a:cxn>
                    <a:cxn ang="0">
                      <a:pos x="T4" y="T5"/>
                    </a:cxn>
                    <a:cxn ang="0">
                      <a:pos x="T6" y="T7"/>
                    </a:cxn>
                    <a:cxn ang="0">
                      <a:pos x="T8" y="T9"/>
                    </a:cxn>
                  </a:cxnLst>
                  <a:rect l="0" t="0" r="r" b="b"/>
                  <a:pathLst>
                    <a:path w="144" h="86">
                      <a:moveTo>
                        <a:pt x="0" y="66"/>
                      </a:moveTo>
                      <a:cubicBezTo>
                        <a:pt x="0" y="66"/>
                        <a:pt x="64" y="39"/>
                        <a:pt x="88" y="0"/>
                      </a:cubicBezTo>
                      <a:cubicBezTo>
                        <a:pt x="144" y="32"/>
                        <a:pt x="144" y="32"/>
                        <a:pt x="144" y="32"/>
                      </a:cubicBezTo>
                      <a:cubicBezTo>
                        <a:pt x="144" y="32"/>
                        <a:pt x="100" y="68"/>
                        <a:pt x="12" y="86"/>
                      </a:cubicBezTo>
                      <a:lnTo>
                        <a:pt x="0" y="66"/>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grpSp>
          <p:sp>
            <p:nvSpPr>
              <p:cNvPr id="656" name="Rectangle 655">
                <a:extLst>
                  <a:ext uri="{FF2B5EF4-FFF2-40B4-BE49-F238E27FC236}">
                    <a16:creationId xmlns:a16="http://schemas.microsoft.com/office/drawing/2014/main" id="{D504057F-B4E3-410A-B595-7B37304B272F}"/>
                  </a:ext>
                </a:extLst>
              </p:cNvPr>
              <p:cNvSpPr/>
              <p:nvPr/>
            </p:nvSpPr>
            <p:spPr>
              <a:xfrm>
                <a:off x="6961686" y="4772163"/>
                <a:ext cx="222977" cy="19389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F6E7A714-833B-1212-43FA-7CE09C96B1BF}"/>
                </a:ext>
              </a:extLst>
            </p:cNvPr>
            <p:cNvGrpSpPr/>
            <p:nvPr/>
          </p:nvGrpSpPr>
          <p:grpSpPr>
            <a:xfrm>
              <a:off x="6336814" y="1382130"/>
              <a:ext cx="1535935" cy="1346931"/>
              <a:chOff x="6538946" y="1273481"/>
              <a:chExt cx="1535935" cy="1346931"/>
            </a:xfrm>
          </p:grpSpPr>
          <p:sp>
            <p:nvSpPr>
              <p:cNvPr id="637" name="Rectangle 636">
                <a:extLst>
                  <a:ext uri="{FF2B5EF4-FFF2-40B4-BE49-F238E27FC236}">
                    <a16:creationId xmlns:a16="http://schemas.microsoft.com/office/drawing/2014/main" id="{1F276EF4-3A55-45F2-BD2A-125F0F621A53}"/>
                  </a:ext>
                </a:extLst>
              </p:cNvPr>
              <p:cNvSpPr/>
              <p:nvPr/>
            </p:nvSpPr>
            <p:spPr>
              <a:xfrm>
                <a:off x="6538946" y="1273481"/>
                <a:ext cx="1535935" cy="1346931"/>
              </a:xfrm>
              <a:prstGeom prst="rect">
                <a:avLst/>
              </a:prstGeom>
              <a:solidFill>
                <a:schemeClr val="bg1"/>
              </a:solidFill>
              <a:ln w="19050">
                <a:solidFill>
                  <a:schemeClr val="tx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81" name="Group 680">
                <a:extLst>
                  <a:ext uri="{FF2B5EF4-FFF2-40B4-BE49-F238E27FC236}">
                    <a16:creationId xmlns:a16="http://schemas.microsoft.com/office/drawing/2014/main" id="{E5B1AEA9-7842-4361-8020-DE1D0BE4E82E}"/>
                  </a:ext>
                </a:extLst>
              </p:cNvPr>
              <p:cNvGrpSpPr/>
              <p:nvPr/>
            </p:nvGrpSpPr>
            <p:grpSpPr>
              <a:xfrm rot="20912584">
                <a:off x="6578051" y="1372931"/>
                <a:ext cx="1468568" cy="1121795"/>
                <a:chOff x="5704101" y="5321146"/>
                <a:chExt cx="1468568" cy="1121795"/>
              </a:xfrm>
            </p:grpSpPr>
            <p:sp>
              <p:nvSpPr>
                <p:cNvPr id="682" name="Oval 784">
                  <a:extLst>
                    <a:ext uri="{FF2B5EF4-FFF2-40B4-BE49-F238E27FC236}">
                      <a16:creationId xmlns:a16="http://schemas.microsoft.com/office/drawing/2014/main" id="{7A08C202-E686-488D-BA05-F7DF17AC916D}"/>
                    </a:ext>
                  </a:extLst>
                </p:cNvPr>
                <p:cNvSpPr/>
                <p:nvPr/>
              </p:nvSpPr>
              <p:spPr>
                <a:xfrm rot="300574">
                  <a:off x="5704101" y="5321146"/>
                  <a:ext cx="1468568" cy="1121795"/>
                </a:xfrm>
                <a:custGeom>
                  <a:avLst/>
                  <a:gdLst>
                    <a:gd name="connsiteX0" fmla="*/ 0 w 1437652"/>
                    <a:gd name="connsiteY0" fmla="*/ 538117 h 1076233"/>
                    <a:gd name="connsiteX1" fmla="*/ 718826 w 1437652"/>
                    <a:gd name="connsiteY1" fmla="*/ 0 h 1076233"/>
                    <a:gd name="connsiteX2" fmla="*/ 1437652 w 1437652"/>
                    <a:gd name="connsiteY2" fmla="*/ 538117 h 1076233"/>
                    <a:gd name="connsiteX3" fmla="*/ 718826 w 1437652"/>
                    <a:gd name="connsiteY3" fmla="*/ 1076234 h 1076233"/>
                    <a:gd name="connsiteX4" fmla="*/ 0 w 1437652"/>
                    <a:gd name="connsiteY4" fmla="*/ 538117 h 1076233"/>
                    <a:gd name="connsiteX0" fmla="*/ 1 w 1437653"/>
                    <a:gd name="connsiteY0" fmla="*/ 538117 h 1095835"/>
                    <a:gd name="connsiteX1" fmla="*/ 718827 w 1437653"/>
                    <a:gd name="connsiteY1" fmla="*/ 0 h 1095835"/>
                    <a:gd name="connsiteX2" fmla="*/ 1437653 w 1437653"/>
                    <a:gd name="connsiteY2" fmla="*/ 538117 h 1095835"/>
                    <a:gd name="connsiteX3" fmla="*/ 713374 w 1437653"/>
                    <a:gd name="connsiteY3" fmla="*/ 1095835 h 1095835"/>
                    <a:gd name="connsiteX4" fmla="*/ 1 w 1437653"/>
                    <a:gd name="connsiteY4" fmla="*/ 538117 h 1095835"/>
                    <a:gd name="connsiteX0" fmla="*/ 1 w 1438935"/>
                    <a:gd name="connsiteY0" fmla="*/ 538117 h 1131442"/>
                    <a:gd name="connsiteX1" fmla="*/ 718827 w 1438935"/>
                    <a:gd name="connsiteY1" fmla="*/ 0 h 1131442"/>
                    <a:gd name="connsiteX2" fmla="*/ 1437653 w 1438935"/>
                    <a:gd name="connsiteY2" fmla="*/ 538117 h 1131442"/>
                    <a:gd name="connsiteX3" fmla="*/ 885920 w 1438935"/>
                    <a:gd name="connsiteY3" fmla="*/ 1016356 h 1131442"/>
                    <a:gd name="connsiteX4" fmla="*/ 713374 w 1438935"/>
                    <a:gd name="connsiteY4" fmla="*/ 1095835 h 1131442"/>
                    <a:gd name="connsiteX5" fmla="*/ 1 w 1438935"/>
                    <a:gd name="connsiteY5" fmla="*/ 538117 h 1131442"/>
                    <a:gd name="connsiteX0" fmla="*/ 1 w 1448131"/>
                    <a:gd name="connsiteY0" fmla="*/ 515052 h 1133180"/>
                    <a:gd name="connsiteX1" fmla="*/ 728023 w 1448131"/>
                    <a:gd name="connsiteY1" fmla="*/ 32 h 1133180"/>
                    <a:gd name="connsiteX2" fmla="*/ 1446849 w 1448131"/>
                    <a:gd name="connsiteY2" fmla="*/ 538149 h 1133180"/>
                    <a:gd name="connsiteX3" fmla="*/ 895116 w 1448131"/>
                    <a:gd name="connsiteY3" fmla="*/ 1016388 h 1133180"/>
                    <a:gd name="connsiteX4" fmla="*/ 722570 w 1448131"/>
                    <a:gd name="connsiteY4" fmla="*/ 1095867 h 1133180"/>
                    <a:gd name="connsiteX5" fmla="*/ 1 w 1448131"/>
                    <a:gd name="connsiteY5" fmla="*/ 515052 h 1133180"/>
                    <a:gd name="connsiteX0" fmla="*/ 1 w 1448297"/>
                    <a:gd name="connsiteY0" fmla="*/ 515052 h 1115369"/>
                    <a:gd name="connsiteX1" fmla="*/ 728023 w 1448297"/>
                    <a:gd name="connsiteY1" fmla="*/ 32 h 1115369"/>
                    <a:gd name="connsiteX2" fmla="*/ 1446849 w 1448297"/>
                    <a:gd name="connsiteY2" fmla="*/ 538149 h 1115369"/>
                    <a:gd name="connsiteX3" fmla="*/ 950346 w 1448297"/>
                    <a:gd name="connsiteY3" fmla="*/ 937445 h 1115369"/>
                    <a:gd name="connsiteX4" fmla="*/ 722570 w 1448297"/>
                    <a:gd name="connsiteY4" fmla="*/ 1095867 h 1115369"/>
                    <a:gd name="connsiteX5" fmla="*/ 1 w 1448297"/>
                    <a:gd name="connsiteY5" fmla="*/ 515052 h 1115369"/>
                    <a:gd name="connsiteX0" fmla="*/ 1 w 1456200"/>
                    <a:gd name="connsiteY0" fmla="*/ 515052 h 1111478"/>
                    <a:gd name="connsiteX1" fmla="*/ 728023 w 1456200"/>
                    <a:gd name="connsiteY1" fmla="*/ 32 h 1111478"/>
                    <a:gd name="connsiteX2" fmla="*/ 1446849 w 1456200"/>
                    <a:gd name="connsiteY2" fmla="*/ 538149 h 1111478"/>
                    <a:gd name="connsiteX3" fmla="*/ 1151687 w 1456200"/>
                    <a:gd name="connsiteY3" fmla="*/ 943700 h 1111478"/>
                    <a:gd name="connsiteX4" fmla="*/ 950346 w 1456200"/>
                    <a:gd name="connsiteY4" fmla="*/ 937445 h 1111478"/>
                    <a:gd name="connsiteX5" fmla="*/ 722570 w 1456200"/>
                    <a:gd name="connsiteY5" fmla="*/ 1095867 h 1111478"/>
                    <a:gd name="connsiteX6" fmla="*/ 1 w 1456200"/>
                    <a:gd name="connsiteY6" fmla="*/ 515052 h 1111478"/>
                    <a:gd name="connsiteX0" fmla="*/ 1 w 1456200"/>
                    <a:gd name="connsiteY0" fmla="*/ 515052 h 1109690"/>
                    <a:gd name="connsiteX1" fmla="*/ 728023 w 1456200"/>
                    <a:gd name="connsiteY1" fmla="*/ 32 h 1109690"/>
                    <a:gd name="connsiteX2" fmla="*/ 1446849 w 1456200"/>
                    <a:gd name="connsiteY2" fmla="*/ 538149 h 1109690"/>
                    <a:gd name="connsiteX3" fmla="*/ 1151687 w 1456200"/>
                    <a:gd name="connsiteY3" fmla="*/ 943700 h 1109690"/>
                    <a:gd name="connsiteX4" fmla="*/ 939401 w 1456200"/>
                    <a:gd name="connsiteY4" fmla="*/ 921671 h 1109690"/>
                    <a:gd name="connsiteX5" fmla="*/ 722570 w 1456200"/>
                    <a:gd name="connsiteY5" fmla="*/ 1095867 h 1109690"/>
                    <a:gd name="connsiteX6" fmla="*/ 1 w 1456200"/>
                    <a:gd name="connsiteY6" fmla="*/ 515052 h 1109690"/>
                    <a:gd name="connsiteX0" fmla="*/ 1 w 1456200"/>
                    <a:gd name="connsiteY0" fmla="*/ 515053 h 1127304"/>
                    <a:gd name="connsiteX1" fmla="*/ 728023 w 1456200"/>
                    <a:gd name="connsiteY1" fmla="*/ 33 h 1127304"/>
                    <a:gd name="connsiteX2" fmla="*/ 1446849 w 1456200"/>
                    <a:gd name="connsiteY2" fmla="*/ 538150 h 1127304"/>
                    <a:gd name="connsiteX3" fmla="*/ 1151687 w 1456200"/>
                    <a:gd name="connsiteY3" fmla="*/ 943701 h 1127304"/>
                    <a:gd name="connsiteX4" fmla="*/ 939401 w 1456200"/>
                    <a:gd name="connsiteY4" fmla="*/ 921672 h 1127304"/>
                    <a:gd name="connsiteX5" fmla="*/ 728978 w 1456200"/>
                    <a:gd name="connsiteY5" fmla="*/ 1114429 h 1127304"/>
                    <a:gd name="connsiteX6" fmla="*/ 1 w 1456200"/>
                    <a:gd name="connsiteY6" fmla="*/ 515053 h 1127304"/>
                    <a:gd name="connsiteX0" fmla="*/ 15576 w 1471775"/>
                    <a:gd name="connsiteY0" fmla="*/ 515052 h 1116456"/>
                    <a:gd name="connsiteX1" fmla="*/ 743598 w 1471775"/>
                    <a:gd name="connsiteY1" fmla="*/ 32 h 1116456"/>
                    <a:gd name="connsiteX2" fmla="*/ 1462424 w 1471775"/>
                    <a:gd name="connsiteY2" fmla="*/ 538149 h 1116456"/>
                    <a:gd name="connsiteX3" fmla="*/ 1167262 w 1471775"/>
                    <a:gd name="connsiteY3" fmla="*/ 943700 h 1116456"/>
                    <a:gd name="connsiteX4" fmla="*/ 954976 w 1471775"/>
                    <a:gd name="connsiteY4" fmla="*/ 921671 h 1116456"/>
                    <a:gd name="connsiteX5" fmla="*/ 744553 w 1471775"/>
                    <a:gd name="connsiteY5" fmla="*/ 1114428 h 1116456"/>
                    <a:gd name="connsiteX6" fmla="*/ 284489 w 1471775"/>
                    <a:gd name="connsiteY6" fmla="*/ 990006 h 1116456"/>
                    <a:gd name="connsiteX7" fmla="*/ 15576 w 1471775"/>
                    <a:gd name="connsiteY7" fmla="*/ 515052 h 1116456"/>
                    <a:gd name="connsiteX0" fmla="*/ 18098 w 1474297"/>
                    <a:gd name="connsiteY0" fmla="*/ 515052 h 1118616"/>
                    <a:gd name="connsiteX1" fmla="*/ 746120 w 1474297"/>
                    <a:gd name="connsiteY1" fmla="*/ 32 h 1118616"/>
                    <a:gd name="connsiteX2" fmla="*/ 1464946 w 1474297"/>
                    <a:gd name="connsiteY2" fmla="*/ 538149 h 1118616"/>
                    <a:gd name="connsiteX3" fmla="*/ 1169784 w 1474297"/>
                    <a:gd name="connsiteY3" fmla="*/ 943700 h 1118616"/>
                    <a:gd name="connsiteX4" fmla="*/ 957498 w 1474297"/>
                    <a:gd name="connsiteY4" fmla="*/ 921671 h 1118616"/>
                    <a:gd name="connsiteX5" fmla="*/ 747075 w 1474297"/>
                    <a:gd name="connsiteY5" fmla="*/ 1114428 h 1118616"/>
                    <a:gd name="connsiteX6" fmla="*/ 264744 w 1474297"/>
                    <a:gd name="connsiteY6" fmla="*/ 1008691 h 1118616"/>
                    <a:gd name="connsiteX7" fmla="*/ 18098 w 1474297"/>
                    <a:gd name="connsiteY7" fmla="*/ 515052 h 1118616"/>
                    <a:gd name="connsiteX0" fmla="*/ 18098 w 1524782"/>
                    <a:gd name="connsiteY0" fmla="*/ 515032 h 1118596"/>
                    <a:gd name="connsiteX1" fmla="*/ 746120 w 1524782"/>
                    <a:gd name="connsiteY1" fmla="*/ 12 h 1118596"/>
                    <a:gd name="connsiteX2" fmla="*/ 1516717 w 1524782"/>
                    <a:gd name="connsiteY2" fmla="*/ 528811 h 1118596"/>
                    <a:gd name="connsiteX3" fmla="*/ 1169784 w 1524782"/>
                    <a:gd name="connsiteY3" fmla="*/ 943680 h 1118596"/>
                    <a:gd name="connsiteX4" fmla="*/ 957498 w 1524782"/>
                    <a:gd name="connsiteY4" fmla="*/ 921651 h 1118596"/>
                    <a:gd name="connsiteX5" fmla="*/ 747075 w 1524782"/>
                    <a:gd name="connsiteY5" fmla="*/ 1114408 h 1118596"/>
                    <a:gd name="connsiteX6" fmla="*/ 264744 w 1524782"/>
                    <a:gd name="connsiteY6" fmla="*/ 1008671 h 1118596"/>
                    <a:gd name="connsiteX7" fmla="*/ 18098 w 1524782"/>
                    <a:gd name="connsiteY7" fmla="*/ 515032 h 1118596"/>
                    <a:gd name="connsiteX0" fmla="*/ 18098 w 1517136"/>
                    <a:gd name="connsiteY0" fmla="*/ 548750 h 1152314"/>
                    <a:gd name="connsiteX1" fmla="*/ 746120 w 1517136"/>
                    <a:gd name="connsiteY1" fmla="*/ 33730 h 1152314"/>
                    <a:gd name="connsiteX2" fmla="*/ 1212910 w 1517136"/>
                    <a:gd name="connsiteY2" fmla="*/ 105909 h 1152314"/>
                    <a:gd name="connsiteX3" fmla="*/ 1516717 w 1517136"/>
                    <a:gd name="connsiteY3" fmla="*/ 562529 h 1152314"/>
                    <a:gd name="connsiteX4" fmla="*/ 1169784 w 1517136"/>
                    <a:gd name="connsiteY4" fmla="*/ 977398 h 1152314"/>
                    <a:gd name="connsiteX5" fmla="*/ 957498 w 1517136"/>
                    <a:gd name="connsiteY5" fmla="*/ 955369 h 1152314"/>
                    <a:gd name="connsiteX6" fmla="*/ 747075 w 1517136"/>
                    <a:gd name="connsiteY6" fmla="*/ 1148126 h 1152314"/>
                    <a:gd name="connsiteX7" fmla="*/ 264744 w 1517136"/>
                    <a:gd name="connsiteY7" fmla="*/ 1042389 h 1152314"/>
                    <a:gd name="connsiteX8" fmla="*/ 18098 w 1517136"/>
                    <a:gd name="connsiteY8" fmla="*/ 548750 h 1152314"/>
                    <a:gd name="connsiteX0" fmla="*/ 18098 w 1517136"/>
                    <a:gd name="connsiteY0" fmla="*/ 548750 h 1153564"/>
                    <a:gd name="connsiteX1" fmla="*/ 746120 w 1517136"/>
                    <a:gd name="connsiteY1" fmla="*/ 33730 h 1153564"/>
                    <a:gd name="connsiteX2" fmla="*/ 1212910 w 1517136"/>
                    <a:gd name="connsiteY2" fmla="*/ 105909 h 1153564"/>
                    <a:gd name="connsiteX3" fmla="*/ 1516717 w 1517136"/>
                    <a:gd name="connsiteY3" fmla="*/ 562529 h 1153564"/>
                    <a:gd name="connsiteX4" fmla="*/ 1169784 w 1517136"/>
                    <a:gd name="connsiteY4" fmla="*/ 977398 h 1153564"/>
                    <a:gd name="connsiteX5" fmla="*/ 993997 w 1517136"/>
                    <a:gd name="connsiteY5" fmla="*/ 935438 h 1153564"/>
                    <a:gd name="connsiteX6" fmla="*/ 747075 w 1517136"/>
                    <a:gd name="connsiteY6" fmla="*/ 1148126 h 1153564"/>
                    <a:gd name="connsiteX7" fmla="*/ 264744 w 1517136"/>
                    <a:gd name="connsiteY7" fmla="*/ 1042389 h 1153564"/>
                    <a:gd name="connsiteX8" fmla="*/ 18098 w 1517136"/>
                    <a:gd name="connsiteY8" fmla="*/ 548750 h 1153564"/>
                    <a:gd name="connsiteX0" fmla="*/ 18098 w 1517136"/>
                    <a:gd name="connsiteY0" fmla="*/ 548750 h 1148713"/>
                    <a:gd name="connsiteX1" fmla="*/ 746120 w 1517136"/>
                    <a:gd name="connsiteY1" fmla="*/ 33730 h 1148713"/>
                    <a:gd name="connsiteX2" fmla="*/ 1212910 w 1517136"/>
                    <a:gd name="connsiteY2" fmla="*/ 105909 h 1148713"/>
                    <a:gd name="connsiteX3" fmla="*/ 1516717 w 1517136"/>
                    <a:gd name="connsiteY3" fmla="*/ 562529 h 1148713"/>
                    <a:gd name="connsiteX4" fmla="*/ 1169784 w 1517136"/>
                    <a:gd name="connsiteY4" fmla="*/ 977398 h 1148713"/>
                    <a:gd name="connsiteX5" fmla="*/ 993997 w 1517136"/>
                    <a:gd name="connsiteY5" fmla="*/ 935438 h 1148713"/>
                    <a:gd name="connsiteX6" fmla="*/ 920453 w 1517136"/>
                    <a:gd name="connsiteY6" fmla="*/ 1078136 h 1148713"/>
                    <a:gd name="connsiteX7" fmla="*/ 747075 w 1517136"/>
                    <a:gd name="connsiteY7" fmla="*/ 1148126 h 1148713"/>
                    <a:gd name="connsiteX8" fmla="*/ 264744 w 1517136"/>
                    <a:gd name="connsiteY8" fmla="*/ 1042389 h 1148713"/>
                    <a:gd name="connsiteX9" fmla="*/ 18098 w 1517136"/>
                    <a:gd name="connsiteY9" fmla="*/ 548750 h 1148713"/>
                    <a:gd name="connsiteX0" fmla="*/ 18098 w 1517136"/>
                    <a:gd name="connsiteY0" fmla="*/ 548750 h 1148713"/>
                    <a:gd name="connsiteX1" fmla="*/ 746120 w 1517136"/>
                    <a:gd name="connsiteY1" fmla="*/ 33730 h 1148713"/>
                    <a:gd name="connsiteX2" fmla="*/ 1212910 w 1517136"/>
                    <a:gd name="connsiteY2" fmla="*/ 105909 h 1148713"/>
                    <a:gd name="connsiteX3" fmla="*/ 1516717 w 1517136"/>
                    <a:gd name="connsiteY3" fmla="*/ 562529 h 1148713"/>
                    <a:gd name="connsiteX4" fmla="*/ 1169784 w 1517136"/>
                    <a:gd name="connsiteY4" fmla="*/ 977398 h 1148713"/>
                    <a:gd name="connsiteX5" fmla="*/ 985340 w 1517136"/>
                    <a:gd name="connsiteY5" fmla="*/ 945758 h 1148713"/>
                    <a:gd name="connsiteX6" fmla="*/ 920453 w 1517136"/>
                    <a:gd name="connsiteY6" fmla="*/ 1078136 h 1148713"/>
                    <a:gd name="connsiteX7" fmla="*/ 747075 w 1517136"/>
                    <a:gd name="connsiteY7" fmla="*/ 1148126 h 1148713"/>
                    <a:gd name="connsiteX8" fmla="*/ 264744 w 1517136"/>
                    <a:gd name="connsiteY8" fmla="*/ 1042389 h 1148713"/>
                    <a:gd name="connsiteX9" fmla="*/ 18098 w 1517136"/>
                    <a:gd name="connsiteY9" fmla="*/ 548750 h 1148713"/>
                    <a:gd name="connsiteX0" fmla="*/ 18098 w 1517136"/>
                    <a:gd name="connsiteY0" fmla="*/ 548750 h 1148634"/>
                    <a:gd name="connsiteX1" fmla="*/ 746120 w 1517136"/>
                    <a:gd name="connsiteY1" fmla="*/ 33730 h 1148634"/>
                    <a:gd name="connsiteX2" fmla="*/ 1212910 w 1517136"/>
                    <a:gd name="connsiteY2" fmla="*/ 105909 h 1148634"/>
                    <a:gd name="connsiteX3" fmla="*/ 1516717 w 1517136"/>
                    <a:gd name="connsiteY3" fmla="*/ 562529 h 1148634"/>
                    <a:gd name="connsiteX4" fmla="*/ 1169784 w 1517136"/>
                    <a:gd name="connsiteY4" fmla="*/ 977398 h 1148634"/>
                    <a:gd name="connsiteX5" fmla="*/ 985340 w 1517136"/>
                    <a:gd name="connsiteY5" fmla="*/ 945758 h 1148634"/>
                    <a:gd name="connsiteX6" fmla="*/ 915755 w 1517136"/>
                    <a:gd name="connsiteY6" fmla="*/ 997276 h 1148634"/>
                    <a:gd name="connsiteX7" fmla="*/ 920453 w 1517136"/>
                    <a:gd name="connsiteY7" fmla="*/ 1078136 h 1148634"/>
                    <a:gd name="connsiteX8" fmla="*/ 747075 w 1517136"/>
                    <a:gd name="connsiteY8" fmla="*/ 1148126 h 1148634"/>
                    <a:gd name="connsiteX9" fmla="*/ 264744 w 1517136"/>
                    <a:gd name="connsiteY9" fmla="*/ 1042389 h 1148634"/>
                    <a:gd name="connsiteX10" fmla="*/ 18098 w 1517136"/>
                    <a:gd name="connsiteY10" fmla="*/ 548750 h 1148634"/>
                    <a:gd name="connsiteX0" fmla="*/ 18098 w 1517125"/>
                    <a:gd name="connsiteY0" fmla="*/ 548750 h 1148634"/>
                    <a:gd name="connsiteX1" fmla="*/ 746120 w 1517125"/>
                    <a:gd name="connsiteY1" fmla="*/ 33730 h 1148634"/>
                    <a:gd name="connsiteX2" fmla="*/ 1212910 w 1517125"/>
                    <a:gd name="connsiteY2" fmla="*/ 105909 h 1148634"/>
                    <a:gd name="connsiteX3" fmla="*/ 1516717 w 1517125"/>
                    <a:gd name="connsiteY3" fmla="*/ 562529 h 1148634"/>
                    <a:gd name="connsiteX4" fmla="*/ 1169784 w 1517125"/>
                    <a:gd name="connsiteY4" fmla="*/ 977398 h 1148634"/>
                    <a:gd name="connsiteX5" fmla="*/ 1094375 w 1517125"/>
                    <a:gd name="connsiteY5" fmla="*/ 962494 h 1148634"/>
                    <a:gd name="connsiteX6" fmla="*/ 985340 w 1517125"/>
                    <a:gd name="connsiteY6" fmla="*/ 945758 h 1148634"/>
                    <a:gd name="connsiteX7" fmla="*/ 915755 w 1517125"/>
                    <a:gd name="connsiteY7" fmla="*/ 997276 h 1148634"/>
                    <a:gd name="connsiteX8" fmla="*/ 920453 w 1517125"/>
                    <a:gd name="connsiteY8" fmla="*/ 1078136 h 1148634"/>
                    <a:gd name="connsiteX9" fmla="*/ 747075 w 1517125"/>
                    <a:gd name="connsiteY9" fmla="*/ 1148126 h 1148634"/>
                    <a:gd name="connsiteX10" fmla="*/ 264744 w 1517125"/>
                    <a:gd name="connsiteY10" fmla="*/ 1042389 h 1148634"/>
                    <a:gd name="connsiteX11" fmla="*/ 18098 w 1517125"/>
                    <a:gd name="connsiteY11" fmla="*/ 548750 h 1148634"/>
                    <a:gd name="connsiteX0" fmla="*/ 760 w 1499787"/>
                    <a:gd name="connsiteY0" fmla="*/ 522077 h 1121961"/>
                    <a:gd name="connsiteX1" fmla="*/ 320663 w 1499787"/>
                    <a:gd name="connsiteY1" fmla="*/ 160708 h 1121961"/>
                    <a:gd name="connsiteX2" fmla="*/ 728782 w 1499787"/>
                    <a:gd name="connsiteY2" fmla="*/ 7057 h 1121961"/>
                    <a:gd name="connsiteX3" fmla="*/ 1195572 w 1499787"/>
                    <a:gd name="connsiteY3" fmla="*/ 79236 h 1121961"/>
                    <a:gd name="connsiteX4" fmla="*/ 1499379 w 1499787"/>
                    <a:gd name="connsiteY4" fmla="*/ 535856 h 1121961"/>
                    <a:gd name="connsiteX5" fmla="*/ 1152446 w 1499787"/>
                    <a:gd name="connsiteY5" fmla="*/ 950725 h 1121961"/>
                    <a:gd name="connsiteX6" fmla="*/ 1077037 w 1499787"/>
                    <a:gd name="connsiteY6" fmla="*/ 935821 h 1121961"/>
                    <a:gd name="connsiteX7" fmla="*/ 968002 w 1499787"/>
                    <a:gd name="connsiteY7" fmla="*/ 919085 h 1121961"/>
                    <a:gd name="connsiteX8" fmla="*/ 898417 w 1499787"/>
                    <a:gd name="connsiteY8" fmla="*/ 970603 h 1121961"/>
                    <a:gd name="connsiteX9" fmla="*/ 903115 w 1499787"/>
                    <a:gd name="connsiteY9" fmla="*/ 1051463 h 1121961"/>
                    <a:gd name="connsiteX10" fmla="*/ 729737 w 1499787"/>
                    <a:gd name="connsiteY10" fmla="*/ 1121453 h 1121961"/>
                    <a:gd name="connsiteX11" fmla="*/ 247406 w 1499787"/>
                    <a:gd name="connsiteY11" fmla="*/ 1015716 h 1121961"/>
                    <a:gd name="connsiteX12" fmla="*/ 760 w 1499787"/>
                    <a:gd name="connsiteY12" fmla="*/ 522077 h 1121961"/>
                    <a:gd name="connsiteX0" fmla="*/ 871 w 1480713"/>
                    <a:gd name="connsiteY0" fmla="*/ 522786 h 1121961"/>
                    <a:gd name="connsiteX1" fmla="*/ 301589 w 1480713"/>
                    <a:gd name="connsiteY1" fmla="*/ 160708 h 1121961"/>
                    <a:gd name="connsiteX2" fmla="*/ 709708 w 1480713"/>
                    <a:gd name="connsiteY2" fmla="*/ 7057 h 1121961"/>
                    <a:gd name="connsiteX3" fmla="*/ 1176498 w 1480713"/>
                    <a:gd name="connsiteY3" fmla="*/ 79236 h 1121961"/>
                    <a:gd name="connsiteX4" fmla="*/ 1480305 w 1480713"/>
                    <a:gd name="connsiteY4" fmla="*/ 535856 h 1121961"/>
                    <a:gd name="connsiteX5" fmla="*/ 1133372 w 1480713"/>
                    <a:gd name="connsiteY5" fmla="*/ 950725 h 1121961"/>
                    <a:gd name="connsiteX6" fmla="*/ 1057963 w 1480713"/>
                    <a:gd name="connsiteY6" fmla="*/ 935821 h 1121961"/>
                    <a:gd name="connsiteX7" fmla="*/ 948928 w 1480713"/>
                    <a:gd name="connsiteY7" fmla="*/ 919085 h 1121961"/>
                    <a:gd name="connsiteX8" fmla="*/ 879343 w 1480713"/>
                    <a:gd name="connsiteY8" fmla="*/ 970603 h 1121961"/>
                    <a:gd name="connsiteX9" fmla="*/ 884041 w 1480713"/>
                    <a:gd name="connsiteY9" fmla="*/ 1051463 h 1121961"/>
                    <a:gd name="connsiteX10" fmla="*/ 710663 w 1480713"/>
                    <a:gd name="connsiteY10" fmla="*/ 1121453 h 1121961"/>
                    <a:gd name="connsiteX11" fmla="*/ 228332 w 1480713"/>
                    <a:gd name="connsiteY11" fmla="*/ 1015716 h 1121961"/>
                    <a:gd name="connsiteX12" fmla="*/ 871 w 1480713"/>
                    <a:gd name="connsiteY12" fmla="*/ 522786 h 1121961"/>
                    <a:gd name="connsiteX0" fmla="*/ 3446 w 1483288"/>
                    <a:gd name="connsiteY0" fmla="*/ 522786 h 1121699"/>
                    <a:gd name="connsiteX1" fmla="*/ 304164 w 1483288"/>
                    <a:gd name="connsiteY1" fmla="*/ 160708 h 1121699"/>
                    <a:gd name="connsiteX2" fmla="*/ 712283 w 1483288"/>
                    <a:gd name="connsiteY2" fmla="*/ 7057 h 1121699"/>
                    <a:gd name="connsiteX3" fmla="*/ 1179073 w 1483288"/>
                    <a:gd name="connsiteY3" fmla="*/ 79236 h 1121699"/>
                    <a:gd name="connsiteX4" fmla="*/ 1482880 w 1483288"/>
                    <a:gd name="connsiteY4" fmla="*/ 535856 h 1121699"/>
                    <a:gd name="connsiteX5" fmla="*/ 1135947 w 1483288"/>
                    <a:gd name="connsiteY5" fmla="*/ 950725 h 1121699"/>
                    <a:gd name="connsiteX6" fmla="*/ 1060538 w 1483288"/>
                    <a:gd name="connsiteY6" fmla="*/ 935821 h 1121699"/>
                    <a:gd name="connsiteX7" fmla="*/ 951503 w 1483288"/>
                    <a:gd name="connsiteY7" fmla="*/ 919085 h 1121699"/>
                    <a:gd name="connsiteX8" fmla="*/ 881918 w 1483288"/>
                    <a:gd name="connsiteY8" fmla="*/ 970603 h 1121699"/>
                    <a:gd name="connsiteX9" fmla="*/ 886616 w 1483288"/>
                    <a:gd name="connsiteY9" fmla="*/ 1051463 h 1121699"/>
                    <a:gd name="connsiteX10" fmla="*/ 713238 w 1483288"/>
                    <a:gd name="connsiteY10" fmla="*/ 1121453 h 1121699"/>
                    <a:gd name="connsiteX11" fmla="*/ 179344 w 1483288"/>
                    <a:gd name="connsiteY11" fmla="*/ 1027407 h 1121699"/>
                    <a:gd name="connsiteX12" fmla="*/ 3446 w 1483288"/>
                    <a:gd name="connsiteY12" fmla="*/ 522786 h 1121699"/>
                    <a:gd name="connsiteX0" fmla="*/ 3446 w 1468568"/>
                    <a:gd name="connsiteY0" fmla="*/ 522882 h 1121795"/>
                    <a:gd name="connsiteX1" fmla="*/ 304164 w 1468568"/>
                    <a:gd name="connsiteY1" fmla="*/ 160804 h 1121795"/>
                    <a:gd name="connsiteX2" fmla="*/ 712283 w 1468568"/>
                    <a:gd name="connsiteY2" fmla="*/ 7153 h 1121795"/>
                    <a:gd name="connsiteX3" fmla="*/ 1179073 w 1468568"/>
                    <a:gd name="connsiteY3" fmla="*/ 79332 h 1121795"/>
                    <a:gd name="connsiteX4" fmla="*/ 1468149 w 1468568"/>
                    <a:gd name="connsiteY4" fmla="*/ 539081 h 1121795"/>
                    <a:gd name="connsiteX5" fmla="*/ 1135947 w 1468568"/>
                    <a:gd name="connsiteY5" fmla="*/ 950821 h 1121795"/>
                    <a:gd name="connsiteX6" fmla="*/ 1060538 w 1468568"/>
                    <a:gd name="connsiteY6" fmla="*/ 935917 h 1121795"/>
                    <a:gd name="connsiteX7" fmla="*/ 951503 w 1468568"/>
                    <a:gd name="connsiteY7" fmla="*/ 919181 h 1121795"/>
                    <a:gd name="connsiteX8" fmla="*/ 881918 w 1468568"/>
                    <a:gd name="connsiteY8" fmla="*/ 970699 h 1121795"/>
                    <a:gd name="connsiteX9" fmla="*/ 886616 w 1468568"/>
                    <a:gd name="connsiteY9" fmla="*/ 1051559 h 1121795"/>
                    <a:gd name="connsiteX10" fmla="*/ 713238 w 1468568"/>
                    <a:gd name="connsiteY10" fmla="*/ 1121549 h 1121795"/>
                    <a:gd name="connsiteX11" fmla="*/ 179344 w 1468568"/>
                    <a:gd name="connsiteY11" fmla="*/ 1027503 h 1121795"/>
                    <a:gd name="connsiteX12" fmla="*/ 3446 w 1468568"/>
                    <a:gd name="connsiteY12" fmla="*/ 522882 h 1121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68568" h="1121795">
                      <a:moveTo>
                        <a:pt x="3446" y="522882"/>
                      </a:moveTo>
                      <a:cubicBezTo>
                        <a:pt x="24249" y="378432"/>
                        <a:pt x="182827" y="246641"/>
                        <a:pt x="304164" y="160804"/>
                      </a:cubicBezTo>
                      <a:cubicBezTo>
                        <a:pt x="425501" y="74967"/>
                        <a:pt x="566465" y="20732"/>
                        <a:pt x="712283" y="7153"/>
                      </a:cubicBezTo>
                      <a:cubicBezTo>
                        <a:pt x="858101" y="-6426"/>
                        <a:pt x="1053095" y="-9323"/>
                        <a:pt x="1179073" y="79332"/>
                      </a:cubicBezTo>
                      <a:cubicBezTo>
                        <a:pt x="1305051" y="167987"/>
                        <a:pt x="1455506" y="403938"/>
                        <a:pt x="1468149" y="539081"/>
                      </a:cubicBezTo>
                      <a:cubicBezTo>
                        <a:pt x="1480792" y="674224"/>
                        <a:pt x="1203882" y="884682"/>
                        <a:pt x="1135947" y="950821"/>
                      </a:cubicBezTo>
                      <a:cubicBezTo>
                        <a:pt x="1068012" y="1016960"/>
                        <a:pt x="1091279" y="941190"/>
                        <a:pt x="1060538" y="935917"/>
                      </a:cubicBezTo>
                      <a:cubicBezTo>
                        <a:pt x="1029797" y="930644"/>
                        <a:pt x="976875" y="917754"/>
                        <a:pt x="951503" y="919181"/>
                      </a:cubicBezTo>
                      <a:cubicBezTo>
                        <a:pt x="926131" y="920608"/>
                        <a:pt x="892732" y="948636"/>
                        <a:pt x="881918" y="970699"/>
                      </a:cubicBezTo>
                      <a:cubicBezTo>
                        <a:pt x="871104" y="992762"/>
                        <a:pt x="921242" y="1023456"/>
                        <a:pt x="886616" y="1051559"/>
                      </a:cubicBezTo>
                      <a:cubicBezTo>
                        <a:pt x="851990" y="1079662"/>
                        <a:pt x="831117" y="1125558"/>
                        <a:pt x="713238" y="1121549"/>
                      </a:cubicBezTo>
                      <a:cubicBezTo>
                        <a:pt x="595359" y="1117540"/>
                        <a:pt x="300840" y="1127399"/>
                        <a:pt x="179344" y="1027503"/>
                      </a:cubicBezTo>
                      <a:cubicBezTo>
                        <a:pt x="57848" y="927607"/>
                        <a:pt x="-17357" y="667332"/>
                        <a:pt x="3446" y="522882"/>
                      </a:cubicBezTo>
                      <a:close/>
                    </a:path>
                  </a:pathLst>
                </a:cu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3" name="Oval 682">
                  <a:extLst>
                    <a:ext uri="{FF2B5EF4-FFF2-40B4-BE49-F238E27FC236}">
                      <a16:creationId xmlns:a16="http://schemas.microsoft.com/office/drawing/2014/main" id="{694A1B18-5D75-4BDB-A346-5990F88B0BDD}"/>
                    </a:ext>
                  </a:extLst>
                </p:cNvPr>
                <p:cNvSpPr/>
                <p:nvPr/>
              </p:nvSpPr>
              <p:spPr>
                <a:xfrm>
                  <a:off x="5845291" y="5551481"/>
                  <a:ext cx="453096" cy="4762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84" name="Group 683">
                  <a:extLst>
                    <a:ext uri="{FF2B5EF4-FFF2-40B4-BE49-F238E27FC236}">
                      <a16:creationId xmlns:a16="http://schemas.microsoft.com/office/drawing/2014/main" id="{F7D2F155-B4F7-412F-B153-C14E1A97049F}"/>
                    </a:ext>
                  </a:extLst>
                </p:cNvPr>
                <p:cNvGrpSpPr/>
                <p:nvPr/>
              </p:nvGrpSpPr>
              <p:grpSpPr>
                <a:xfrm>
                  <a:off x="6310332" y="5494626"/>
                  <a:ext cx="332058" cy="219315"/>
                  <a:chOff x="2247921" y="2676541"/>
                  <a:chExt cx="1531951" cy="860430"/>
                </a:xfrm>
              </p:grpSpPr>
              <p:sp>
                <p:nvSpPr>
                  <p:cNvPr id="710" name="Freeform 10">
                    <a:extLst>
                      <a:ext uri="{FF2B5EF4-FFF2-40B4-BE49-F238E27FC236}">
                        <a16:creationId xmlns:a16="http://schemas.microsoft.com/office/drawing/2014/main" id="{7675EDC5-754C-47B9-9383-EF1FE75105C0}"/>
                      </a:ext>
                    </a:extLst>
                  </p:cNvPr>
                  <p:cNvSpPr>
                    <a:spLocks/>
                  </p:cNvSpPr>
                  <p:nvPr/>
                </p:nvSpPr>
                <p:spPr bwMode="auto">
                  <a:xfrm>
                    <a:off x="2247921" y="2676541"/>
                    <a:ext cx="1531951" cy="860430"/>
                  </a:xfrm>
                  <a:custGeom>
                    <a:avLst/>
                    <a:gdLst>
                      <a:gd name="T0" fmla="*/ 1923 w 1930"/>
                      <a:gd name="T1" fmla="*/ 484 h 1083"/>
                      <a:gd name="T2" fmla="*/ 1898 w 1930"/>
                      <a:gd name="T3" fmla="*/ 403 h 1083"/>
                      <a:gd name="T4" fmla="*/ 1852 w 1930"/>
                      <a:gd name="T5" fmla="*/ 327 h 1083"/>
                      <a:gd name="T6" fmla="*/ 1787 w 1930"/>
                      <a:gd name="T7" fmla="*/ 257 h 1083"/>
                      <a:gd name="T8" fmla="*/ 1706 w 1930"/>
                      <a:gd name="T9" fmla="*/ 193 h 1083"/>
                      <a:gd name="T10" fmla="*/ 1610 w 1930"/>
                      <a:gd name="T11" fmla="*/ 137 h 1083"/>
                      <a:gd name="T12" fmla="*/ 1500 w 1930"/>
                      <a:gd name="T13" fmla="*/ 89 h 1083"/>
                      <a:gd name="T14" fmla="*/ 1379 w 1930"/>
                      <a:gd name="T15" fmla="*/ 51 h 1083"/>
                      <a:gd name="T16" fmla="*/ 1248 w 1930"/>
                      <a:gd name="T17" fmla="*/ 23 h 1083"/>
                      <a:gd name="T18" fmla="*/ 1109 w 1930"/>
                      <a:gd name="T19" fmla="*/ 5 h 1083"/>
                      <a:gd name="T20" fmla="*/ 963 w 1930"/>
                      <a:gd name="T21" fmla="*/ 0 h 1083"/>
                      <a:gd name="T22" fmla="*/ 864 w 1930"/>
                      <a:gd name="T23" fmla="*/ 2 h 1083"/>
                      <a:gd name="T24" fmla="*/ 721 w 1930"/>
                      <a:gd name="T25" fmla="*/ 17 h 1083"/>
                      <a:gd name="T26" fmla="*/ 586 w 1930"/>
                      <a:gd name="T27" fmla="*/ 44 h 1083"/>
                      <a:gd name="T28" fmla="*/ 461 w 1930"/>
                      <a:gd name="T29" fmla="*/ 81 h 1083"/>
                      <a:gd name="T30" fmla="*/ 348 w 1930"/>
                      <a:gd name="T31" fmla="*/ 126 h 1083"/>
                      <a:gd name="T32" fmla="*/ 247 w 1930"/>
                      <a:gd name="T33" fmla="*/ 180 h 1083"/>
                      <a:gd name="T34" fmla="*/ 162 w 1930"/>
                      <a:gd name="T35" fmla="*/ 242 h 1083"/>
                      <a:gd name="T36" fmla="*/ 93 w 1930"/>
                      <a:gd name="T37" fmla="*/ 310 h 1083"/>
                      <a:gd name="T38" fmla="*/ 41 w 1930"/>
                      <a:gd name="T39" fmla="*/ 383 h 1083"/>
                      <a:gd name="T40" fmla="*/ 10 w 1930"/>
                      <a:gd name="T41" fmla="*/ 462 h 1083"/>
                      <a:gd name="T42" fmla="*/ 0 w 1930"/>
                      <a:gd name="T43" fmla="*/ 544 h 1083"/>
                      <a:gd name="T44" fmla="*/ 5 w 1930"/>
                      <a:gd name="T45" fmla="*/ 599 h 1083"/>
                      <a:gd name="T46" fmla="*/ 30 w 1930"/>
                      <a:gd name="T47" fmla="*/ 680 h 1083"/>
                      <a:gd name="T48" fmla="*/ 77 w 1930"/>
                      <a:gd name="T49" fmla="*/ 756 h 1083"/>
                      <a:gd name="T50" fmla="*/ 141 w 1930"/>
                      <a:gd name="T51" fmla="*/ 826 h 1083"/>
                      <a:gd name="T52" fmla="*/ 222 w 1930"/>
                      <a:gd name="T53" fmla="*/ 890 h 1083"/>
                      <a:gd name="T54" fmla="*/ 319 w 1930"/>
                      <a:gd name="T55" fmla="*/ 946 h 1083"/>
                      <a:gd name="T56" fmla="*/ 428 w 1930"/>
                      <a:gd name="T57" fmla="*/ 994 h 1083"/>
                      <a:gd name="T58" fmla="*/ 549 w 1930"/>
                      <a:gd name="T59" fmla="*/ 1032 h 1083"/>
                      <a:gd name="T60" fmla="*/ 680 w 1930"/>
                      <a:gd name="T61" fmla="*/ 1060 h 1083"/>
                      <a:gd name="T62" fmla="*/ 820 w 1930"/>
                      <a:gd name="T63" fmla="*/ 1078 h 1083"/>
                      <a:gd name="T64" fmla="*/ 965 w 1930"/>
                      <a:gd name="T65" fmla="*/ 1083 h 1083"/>
                      <a:gd name="T66" fmla="*/ 1064 w 1930"/>
                      <a:gd name="T67" fmla="*/ 1081 h 1083"/>
                      <a:gd name="T68" fmla="*/ 1207 w 1930"/>
                      <a:gd name="T69" fmla="*/ 1066 h 1083"/>
                      <a:gd name="T70" fmla="*/ 1342 w 1930"/>
                      <a:gd name="T71" fmla="*/ 1039 h 1083"/>
                      <a:gd name="T72" fmla="*/ 1467 w 1930"/>
                      <a:gd name="T73" fmla="*/ 1004 h 1083"/>
                      <a:gd name="T74" fmla="*/ 1581 w 1930"/>
                      <a:gd name="T75" fmla="*/ 957 h 1083"/>
                      <a:gd name="T76" fmla="*/ 1681 w 1930"/>
                      <a:gd name="T77" fmla="*/ 903 h 1083"/>
                      <a:gd name="T78" fmla="*/ 1767 w 1930"/>
                      <a:gd name="T79" fmla="*/ 842 h 1083"/>
                      <a:gd name="T80" fmla="*/ 1835 w 1930"/>
                      <a:gd name="T81" fmla="*/ 773 h 1083"/>
                      <a:gd name="T82" fmla="*/ 1887 w 1930"/>
                      <a:gd name="T83" fmla="*/ 700 h 1083"/>
                      <a:gd name="T84" fmla="*/ 1919 w 1930"/>
                      <a:gd name="T85" fmla="*/ 621 h 1083"/>
                      <a:gd name="T86" fmla="*/ 1930 w 1930"/>
                      <a:gd name="T87" fmla="*/ 539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083">
                        <a:moveTo>
                          <a:pt x="1928" y="511"/>
                        </a:moveTo>
                        <a:lnTo>
                          <a:pt x="1928" y="511"/>
                        </a:lnTo>
                        <a:lnTo>
                          <a:pt x="1923" y="484"/>
                        </a:lnTo>
                        <a:lnTo>
                          <a:pt x="1917" y="456"/>
                        </a:lnTo>
                        <a:lnTo>
                          <a:pt x="1909" y="429"/>
                        </a:lnTo>
                        <a:lnTo>
                          <a:pt x="1898" y="403"/>
                        </a:lnTo>
                        <a:lnTo>
                          <a:pt x="1885" y="377"/>
                        </a:lnTo>
                        <a:lnTo>
                          <a:pt x="1870" y="351"/>
                        </a:lnTo>
                        <a:lnTo>
                          <a:pt x="1852" y="327"/>
                        </a:lnTo>
                        <a:lnTo>
                          <a:pt x="1833" y="304"/>
                        </a:lnTo>
                        <a:lnTo>
                          <a:pt x="1811" y="279"/>
                        </a:lnTo>
                        <a:lnTo>
                          <a:pt x="1787" y="257"/>
                        </a:lnTo>
                        <a:lnTo>
                          <a:pt x="1762" y="235"/>
                        </a:lnTo>
                        <a:lnTo>
                          <a:pt x="1735" y="214"/>
                        </a:lnTo>
                        <a:lnTo>
                          <a:pt x="1706" y="193"/>
                        </a:lnTo>
                        <a:lnTo>
                          <a:pt x="1676" y="174"/>
                        </a:lnTo>
                        <a:lnTo>
                          <a:pt x="1644" y="155"/>
                        </a:lnTo>
                        <a:lnTo>
                          <a:pt x="1610" y="137"/>
                        </a:lnTo>
                        <a:lnTo>
                          <a:pt x="1575" y="121"/>
                        </a:lnTo>
                        <a:lnTo>
                          <a:pt x="1538" y="105"/>
                        </a:lnTo>
                        <a:lnTo>
                          <a:pt x="1500" y="89"/>
                        </a:lnTo>
                        <a:lnTo>
                          <a:pt x="1461" y="76"/>
                        </a:lnTo>
                        <a:lnTo>
                          <a:pt x="1421" y="63"/>
                        </a:lnTo>
                        <a:lnTo>
                          <a:pt x="1379" y="51"/>
                        </a:lnTo>
                        <a:lnTo>
                          <a:pt x="1336" y="40"/>
                        </a:lnTo>
                        <a:lnTo>
                          <a:pt x="1293" y="31"/>
                        </a:lnTo>
                        <a:lnTo>
                          <a:pt x="1248" y="23"/>
                        </a:lnTo>
                        <a:lnTo>
                          <a:pt x="1203" y="16"/>
                        </a:lnTo>
                        <a:lnTo>
                          <a:pt x="1156" y="9"/>
                        </a:lnTo>
                        <a:lnTo>
                          <a:pt x="1109" y="5"/>
                        </a:lnTo>
                        <a:lnTo>
                          <a:pt x="1062" y="2"/>
                        </a:lnTo>
                        <a:lnTo>
                          <a:pt x="1013" y="0"/>
                        </a:lnTo>
                        <a:lnTo>
                          <a:pt x="963" y="0"/>
                        </a:lnTo>
                        <a:lnTo>
                          <a:pt x="914" y="0"/>
                        </a:lnTo>
                        <a:lnTo>
                          <a:pt x="914" y="0"/>
                        </a:lnTo>
                        <a:lnTo>
                          <a:pt x="864" y="2"/>
                        </a:lnTo>
                        <a:lnTo>
                          <a:pt x="816" y="6"/>
                        </a:lnTo>
                        <a:lnTo>
                          <a:pt x="767" y="11"/>
                        </a:lnTo>
                        <a:lnTo>
                          <a:pt x="721" y="17"/>
                        </a:lnTo>
                        <a:lnTo>
                          <a:pt x="675" y="25"/>
                        </a:lnTo>
                        <a:lnTo>
                          <a:pt x="630" y="34"/>
                        </a:lnTo>
                        <a:lnTo>
                          <a:pt x="586" y="44"/>
                        </a:lnTo>
                        <a:lnTo>
                          <a:pt x="543" y="55"/>
                        </a:lnTo>
                        <a:lnTo>
                          <a:pt x="501" y="67"/>
                        </a:lnTo>
                        <a:lnTo>
                          <a:pt x="461" y="81"/>
                        </a:lnTo>
                        <a:lnTo>
                          <a:pt x="422" y="94"/>
                        </a:lnTo>
                        <a:lnTo>
                          <a:pt x="384" y="110"/>
                        </a:lnTo>
                        <a:lnTo>
                          <a:pt x="348" y="126"/>
                        </a:lnTo>
                        <a:lnTo>
                          <a:pt x="312" y="143"/>
                        </a:lnTo>
                        <a:lnTo>
                          <a:pt x="279" y="161"/>
                        </a:lnTo>
                        <a:lnTo>
                          <a:pt x="247" y="180"/>
                        </a:lnTo>
                        <a:lnTo>
                          <a:pt x="217" y="199"/>
                        </a:lnTo>
                        <a:lnTo>
                          <a:pt x="189" y="220"/>
                        </a:lnTo>
                        <a:lnTo>
                          <a:pt x="162" y="242"/>
                        </a:lnTo>
                        <a:lnTo>
                          <a:pt x="137" y="264"/>
                        </a:lnTo>
                        <a:lnTo>
                          <a:pt x="114" y="286"/>
                        </a:lnTo>
                        <a:lnTo>
                          <a:pt x="93" y="310"/>
                        </a:lnTo>
                        <a:lnTo>
                          <a:pt x="73" y="334"/>
                        </a:lnTo>
                        <a:lnTo>
                          <a:pt x="57" y="359"/>
                        </a:lnTo>
                        <a:lnTo>
                          <a:pt x="41" y="383"/>
                        </a:lnTo>
                        <a:lnTo>
                          <a:pt x="29" y="409"/>
                        </a:lnTo>
                        <a:lnTo>
                          <a:pt x="18" y="435"/>
                        </a:lnTo>
                        <a:lnTo>
                          <a:pt x="10" y="462"/>
                        </a:lnTo>
                        <a:lnTo>
                          <a:pt x="5" y="489"/>
                        </a:lnTo>
                        <a:lnTo>
                          <a:pt x="1" y="516"/>
                        </a:lnTo>
                        <a:lnTo>
                          <a:pt x="0" y="544"/>
                        </a:lnTo>
                        <a:lnTo>
                          <a:pt x="1" y="572"/>
                        </a:lnTo>
                        <a:lnTo>
                          <a:pt x="1" y="572"/>
                        </a:lnTo>
                        <a:lnTo>
                          <a:pt x="5" y="599"/>
                        </a:lnTo>
                        <a:lnTo>
                          <a:pt x="11" y="627"/>
                        </a:lnTo>
                        <a:lnTo>
                          <a:pt x="19" y="654"/>
                        </a:lnTo>
                        <a:lnTo>
                          <a:pt x="30" y="680"/>
                        </a:lnTo>
                        <a:lnTo>
                          <a:pt x="44" y="706"/>
                        </a:lnTo>
                        <a:lnTo>
                          <a:pt x="59" y="732"/>
                        </a:lnTo>
                        <a:lnTo>
                          <a:pt x="77" y="756"/>
                        </a:lnTo>
                        <a:lnTo>
                          <a:pt x="97" y="781"/>
                        </a:lnTo>
                        <a:lnTo>
                          <a:pt x="117" y="804"/>
                        </a:lnTo>
                        <a:lnTo>
                          <a:pt x="141" y="826"/>
                        </a:lnTo>
                        <a:lnTo>
                          <a:pt x="167" y="848"/>
                        </a:lnTo>
                        <a:lnTo>
                          <a:pt x="194" y="869"/>
                        </a:lnTo>
                        <a:lnTo>
                          <a:pt x="222" y="890"/>
                        </a:lnTo>
                        <a:lnTo>
                          <a:pt x="252" y="909"/>
                        </a:lnTo>
                        <a:lnTo>
                          <a:pt x="285" y="928"/>
                        </a:lnTo>
                        <a:lnTo>
                          <a:pt x="319" y="946"/>
                        </a:lnTo>
                        <a:lnTo>
                          <a:pt x="354" y="963"/>
                        </a:lnTo>
                        <a:lnTo>
                          <a:pt x="390" y="979"/>
                        </a:lnTo>
                        <a:lnTo>
                          <a:pt x="428" y="994"/>
                        </a:lnTo>
                        <a:lnTo>
                          <a:pt x="467" y="1007"/>
                        </a:lnTo>
                        <a:lnTo>
                          <a:pt x="507" y="1021"/>
                        </a:lnTo>
                        <a:lnTo>
                          <a:pt x="549" y="1032"/>
                        </a:lnTo>
                        <a:lnTo>
                          <a:pt x="592" y="1043"/>
                        </a:lnTo>
                        <a:lnTo>
                          <a:pt x="636" y="1053"/>
                        </a:lnTo>
                        <a:lnTo>
                          <a:pt x="680" y="1060"/>
                        </a:lnTo>
                        <a:lnTo>
                          <a:pt x="726" y="1067"/>
                        </a:lnTo>
                        <a:lnTo>
                          <a:pt x="772" y="1074"/>
                        </a:lnTo>
                        <a:lnTo>
                          <a:pt x="820" y="1078"/>
                        </a:lnTo>
                        <a:lnTo>
                          <a:pt x="868" y="1081"/>
                        </a:lnTo>
                        <a:lnTo>
                          <a:pt x="916" y="1083"/>
                        </a:lnTo>
                        <a:lnTo>
                          <a:pt x="965" y="1083"/>
                        </a:lnTo>
                        <a:lnTo>
                          <a:pt x="1015" y="1083"/>
                        </a:lnTo>
                        <a:lnTo>
                          <a:pt x="1015" y="1083"/>
                        </a:lnTo>
                        <a:lnTo>
                          <a:pt x="1064" y="1081"/>
                        </a:lnTo>
                        <a:lnTo>
                          <a:pt x="1113" y="1077"/>
                        </a:lnTo>
                        <a:lnTo>
                          <a:pt x="1161" y="1072"/>
                        </a:lnTo>
                        <a:lnTo>
                          <a:pt x="1207" y="1066"/>
                        </a:lnTo>
                        <a:lnTo>
                          <a:pt x="1254" y="1059"/>
                        </a:lnTo>
                        <a:lnTo>
                          <a:pt x="1298" y="1049"/>
                        </a:lnTo>
                        <a:lnTo>
                          <a:pt x="1342" y="1039"/>
                        </a:lnTo>
                        <a:lnTo>
                          <a:pt x="1385" y="1028"/>
                        </a:lnTo>
                        <a:lnTo>
                          <a:pt x="1427" y="1016"/>
                        </a:lnTo>
                        <a:lnTo>
                          <a:pt x="1467" y="1004"/>
                        </a:lnTo>
                        <a:lnTo>
                          <a:pt x="1507" y="989"/>
                        </a:lnTo>
                        <a:lnTo>
                          <a:pt x="1545" y="973"/>
                        </a:lnTo>
                        <a:lnTo>
                          <a:pt x="1581" y="957"/>
                        </a:lnTo>
                        <a:lnTo>
                          <a:pt x="1616" y="940"/>
                        </a:lnTo>
                        <a:lnTo>
                          <a:pt x="1649" y="922"/>
                        </a:lnTo>
                        <a:lnTo>
                          <a:pt x="1681" y="903"/>
                        </a:lnTo>
                        <a:lnTo>
                          <a:pt x="1711" y="884"/>
                        </a:lnTo>
                        <a:lnTo>
                          <a:pt x="1740" y="863"/>
                        </a:lnTo>
                        <a:lnTo>
                          <a:pt x="1767" y="842"/>
                        </a:lnTo>
                        <a:lnTo>
                          <a:pt x="1791" y="820"/>
                        </a:lnTo>
                        <a:lnTo>
                          <a:pt x="1814" y="797"/>
                        </a:lnTo>
                        <a:lnTo>
                          <a:pt x="1835" y="773"/>
                        </a:lnTo>
                        <a:lnTo>
                          <a:pt x="1855" y="749"/>
                        </a:lnTo>
                        <a:lnTo>
                          <a:pt x="1872" y="724"/>
                        </a:lnTo>
                        <a:lnTo>
                          <a:pt x="1887" y="700"/>
                        </a:lnTo>
                        <a:lnTo>
                          <a:pt x="1899" y="674"/>
                        </a:lnTo>
                        <a:lnTo>
                          <a:pt x="1910" y="648"/>
                        </a:lnTo>
                        <a:lnTo>
                          <a:pt x="1919" y="621"/>
                        </a:lnTo>
                        <a:lnTo>
                          <a:pt x="1925" y="594"/>
                        </a:lnTo>
                        <a:lnTo>
                          <a:pt x="1928" y="567"/>
                        </a:lnTo>
                        <a:lnTo>
                          <a:pt x="1930" y="539"/>
                        </a:lnTo>
                        <a:lnTo>
                          <a:pt x="1928" y="511"/>
                        </a:lnTo>
                        <a:lnTo>
                          <a:pt x="1928" y="511"/>
                        </a:lnTo>
                        <a:close/>
                      </a:path>
                    </a:pathLst>
                  </a:custGeom>
                  <a:solidFill>
                    <a:schemeClr val="accent1"/>
                  </a:solidFill>
                  <a:ln w="7938">
                    <a:noFill/>
                    <a:prstDash val="solid"/>
                    <a:round/>
                    <a:headEnd/>
                    <a:tailEnd/>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711" name="Freeform 11">
                    <a:extLst>
                      <a:ext uri="{FF2B5EF4-FFF2-40B4-BE49-F238E27FC236}">
                        <a16:creationId xmlns:a16="http://schemas.microsoft.com/office/drawing/2014/main" id="{85E9BCEB-BEF5-45D5-97C3-A876D0A00274}"/>
                      </a:ext>
                    </a:extLst>
                  </p:cNvPr>
                  <p:cNvSpPr>
                    <a:spLocks/>
                  </p:cNvSpPr>
                  <p:nvPr/>
                </p:nvSpPr>
                <p:spPr bwMode="auto">
                  <a:xfrm>
                    <a:off x="2354285" y="2771792"/>
                    <a:ext cx="1346212" cy="693742"/>
                  </a:xfrm>
                  <a:custGeom>
                    <a:avLst/>
                    <a:gdLst>
                      <a:gd name="T0" fmla="*/ 1 w 1697"/>
                      <a:gd name="T1" fmla="*/ 375 h 874"/>
                      <a:gd name="T2" fmla="*/ 38 w 1697"/>
                      <a:gd name="T3" fmla="*/ 545 h 874"/>
                      <a:gd name="T4" fmla="*/ 152 w 1697"/>
                      <a:gd name="T5" fmla="*/ 684 h 874"/>
                      <a:gd name="T6" fmla="*/ 304 w 1697"/>
                      <a:gd name="T7" fmla="*/ 729 h 874"/>
                      <a:gd name="T8" fmla="*/ 341 w 1697"/>
                      <a:gd name="T9" fmla="*/ 630 h 874"/>
                      <a:gd name="T10" fmla="*/ 305 w 1697"/>
                      <a:gd name="T11" fmla="*/ 285 h 874"/>
                      <a:gd name="T12" fmla="*/ 342 w 1697"/>
                      <a:gd name="T13" fmla="*/ 208 h 874"/>
                      <a:gd name="T14" fmla="*/ 389 w 1697"/>
                      <a:gd name="T15" fmla="*/ 262 h 874"/>
                      <a:gd name="T16" fmla="*/ 439 w 1697"/>
                      <a:gd name="T17" fmla="*/ 625 h 874"/>
                      <a:gd name="T18" fmla="*/ 498 w 1697"/>
                      <a:gd name="T19" fmla="*/ 808 h 874"/>
                      <a:gd name="T20" fmla="*/ 602 w 1697"/>
                      <a:gd name="T21" fmla="*/ 870 h 874"/>
                      <a:gd name="T22" fmla="*/ 801 w 1697"/>
                      <a:gd name="T23" fmla="*/ 860 h 874"/>
                      <a:gd name="T24" fmla="*/ 782 w 1697"/>
                      <a:gd name="T25" fmla="*/ 379 h 874"/>
                      <a:gd name="T26" fmla="*/ 770 w 1697"/>
                      <a:gd name="T27" fmla="*/ 207 h 874"/>
                      <a:gd name="T28" fmla="*/ 806 w 1697"/>
                      <a:gd name="T29" fmla="*/ 184 h 874"/>
                      <a:gd name="T30" fmla="*/ 862 w 1697"/>
                      <a:gd name="T31" fmla="*/ 321 h 874"/>
                      <a:gd name="T32" fmla="*/ 894 w 1697"/>
                      <a:gd name="T33" fmla="*/ 692 h 874"/>
                      <a:gd name="T34" fmla="*/ 948 w 1697"/>
                      <a:gd name="T35" fmla="*/ 841 h 874"/>
                      <a:gd name="T36" fmla="*/ 1042 w 1697"/>
                      <a:gd name="T37" fmla="*/ 862 h 874"/>
                      <a:gd name="T38" fmla="*/ 1292 w 1697"/>
                      <a:gd name="T39" fmla="*/ 786 h 874"/>
                      <a:gd name="T40" fmla="*/ 1237 w 1697"/>
                      <a:gd name="T41" fmla="*/ 627 h 874"/>
                      <a:gd name="T42" fmla="*/ 1201 w 1697"/>
                      <a:gd name="T43" fmla="*/ 342 h 874"/>
                      <a:gd name="T44" fmla="*/ 1219 w 1697"/>
                      <a:gd name="T45" fmla="*/ 195 h 874"/>
                      <a:gd name="T46" fmla="*/ 1274 w 1697"/>
                      <a:gd name="T47" fmla="*/ 238 h 874"/>
                      <a:gd name="T48" fmla="*/ 1311 w 1697"/>
                      <a:gd name="T49" fmla="*/ 392 h 874"/>
                      <a:gd name="T50" fmla="*/ 1339 w 1697"/>
                      <a:gd name="T51" fmla="*/ 662 h 874"/>
                      <a:gd name="T52" fmla="*/ 1392 w 1697"/>
                      <a:gd name="T53" fmla="*/ 715 h 874"/>
                      <a:gd name="T54" fmla="*/ 1523 w 1697"/>
                      <a:gd name="T55" fmla="*/ 673 h 874"/>
                      <a:gd name="T56" fmla="*/ 1666 w 1697"/>
                      <a:gd name="T57" fmla="*/ 533 h 874"/>
                      <a:gd name="T58" fmla="*/ 1695 w 1697"/>
                      <a:gd name="T59" fmla="*/ 387 h 874"/>
                      <a:gd name="T60" fmla="*/ 1605 w 1697"/>
                      <a:gd name="T61" fmla="*/ 168 h 874"/>
                      <a:gd name="T62" fmla="*/ 1480 w 1697"/>
                      <a:gd name="T63" fmla="*/ 71 h 874"/>
                      <a:gd name="T64" fmla="*/ 1436 w 1697"/>
                      <a:gd name="T65" fmla="*/ 87 h 874"/>
                      <a:gd name="T66" fmla="*/ 1462 w 1697"/>
                      <a:gd name="T67" fmla="*/ 371 h 874"/>
                      <a:gd name="T68" fmla="*/ 1441 w 1697"/>
                      <a:gd name="T69" fmla="*/ 472 h 874"/>
                      <a:gd name="T70" fmla="*/ 1392 w 1697"/>
                      <a:gd name="T71" fmla="*/ 415 h 874"/>
                      <a:gd name="T72" fmla="*/ 1359 w 1697"/>
                      <a:gd name="T73" fmla="*/ 148 h 874"/>
                      <a:gd name="T74" fmla="*/ 1326 w 1697"/>
                      <a:gd name="T75" fmla="*/ 54 h 874"/>
                      <a:gd name="T76" fmla="*/ 1102 w 1697"/>
                      <a:gd name="T77" fmla="*/ 7 h 874"/>
                      <a:gd name="T78" fmla="*/ 1062 w 1697"/>
                      <a:gd name="T79" fmla="*/ 73 h 874"/>
                      <a:gd name="T80" fmla="*/ 1080 w 1697"/>
                      <a:gd name="T81" fmla="*/ 439 h 874"/>
                      <a:gd name="T82" fmla="*/ 1040 w 1697"/>
                      <a:gd name="T83" fmla="*/ 467 h 874"/>
                      <a:gd name="T84" fmla="*/ 987 w 1697"/>
                      <a:gd name="T85" fmla="*/ 364 h 874"/>
                      <a:gd name="T86" fmla="*/ 965 w 1697"/>
                      <a:gd name="T87" fmla="*/ 99 h 874"/>
                      <a:gd name="T88" fmla="*/ 920 w 1697"/>
                      <a:gd name="T89" fmla="*/ 5 h 874"/>
                      <a:gd name="T90" fmla="*/ 638 w 1697"/>
                      <a:gd name="T91" fmla="*/ 7 h 874"/>
                      <a:gd name="T92" fmla="*/ 601 w 1697"/>
                      <a:gd name="T93" fmla="*/ 67 h 874"/>
                      <a:gd name="T94" fmla="*/ 618 w 1697"/>
                      <a:gd name="T95" fmla="*/ 423 h 874"/>
                      <a:gd name="T96" fmla="*/ 587 w 1697"/>
                      <a:gd name="T97" fmla="*/ 471 h 874"/>
                      <a:gd name="T98" fmla="*/ 540 w 1697"/>
                      <a:gd name="T99" fmla="*/ 332 h 874"/>
                      <a:gd name="T100" fmla="*/ 497 w 1697"/>
                      <a:gd name="T101" fmla="*/ 54 h 874"/>
                      <a:gd name="T102" fmla="*/ 350 w 1697"/>
                      <a:gd name="T103" fmla="*/ 52 h 874"/>
                      <a:gd name="T104" fmla="*/ 178 w 1697"/>
                      <a:gd name="T105" fmla="*/ 117 h 874"/>
                      <a:gd name="T106" fmla="*/ 167 w 1697"/>
                      <a:gd name="T107" fmla="*/ 255 h 874"/>
                      <a:gd name="T108" fmla="*/ 158 w 1697"/>
                      <a:gd name="T109" fmla="*/ 409 h 874"/>
                      <a:gd name="T110" fmla="*/ 114 w 1697"/>
                      <a:gd name="T111" fmla="*/ 377 h 874"/>
                      <a:gd name="T112" fmla="*/ 73 w 1697"/>
                      <a:gd name="T113" fmla="*/ 197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97" h="874">
                        <a:moveTo>
                          <a:pt x="58" y="204"/>
                        </a:moveTo>
                        <a:lnTo>
                          <a:pt x="58" y="204"/>
                        </a:lnTo>
                        <a:lnTo>
                          <a:pt x="42" y="236"/>
                        </a:lnTo>
                        <a:lnTo>
                          <a:pt x="30" y="265"/>
                        </a:lnTo>
                        <a:lnTo>
                          <a:pt x="19" y="298"/>
                        </a:lnTo>
                        <a:lnTo>
                          <a:pt x="12" y="316"/>
                        </a:lnTo>
                        <a:lnTo>
                          <a:pt x="8" y="334"/>
                        </a:lnTo>
                        <a:lnTo>
                          <a:pt x="4" y="354"/>
                        </a:lnTo>
                        <a:lnTo>
                          <a:pt x="1" y="375"/>
                        </a:lnTo>
                        <a:lnTo>
                          <a:pt x="0" y="396"/>
                        </a:lnTo>
                        <a:lnTo>
                          <a:pt x="0" y="415"/>
                        </a:lnTo>
                        <a:lnTo>
                          <a:pt x="3" y="436"/>
                        </a:lnTo>
                        <a:lnTo>
                          <a:pt x="6" y="457"/>
                        </a:lnTo>
                        <a:lnTo>
                          <a:pt x="6" y="457"/>
                        </a:lnTo>
                        <a:lnTo>
                          <a:pt x="12" y="477"/>
                        </a:lnTo>
                        <a:lnTo>
                          <a:pt x="20" y="499"/>
                        </a:lnTo>
                        <a:lnTo>
                          <a:pt x="28" y="522"/>
                        </a:lnTo>
                        <a:lnTo>
                          <a:pt x="38" y="545"/>
                        </a:lnTo>
                        <a:lnTo>
                          <a:pt x="49" y="569"/>
                        </a:lnTo>
                        <a:lnTo>
                          <a:pt x="63" y="592"/>
                        </a:lnTo>
                        <a:lnTo>
                          <a:pt x="79" y="614"/>
                        </a:lnTo>
                        <a:lnTo>
                          <a:pt x="97" y="636"/>
                        </a:lnTo>
                        <a:lnTo>
                          <a:pt x="107" y="646"/>
                        </a:lnTo>
                        <a:lnTo>
                          <a:pt x="117" y="657"/>
                        </a:lnTo>
                        <a:lnTo>
                          <a:pt x="128" y="665"/>
                        </a:lnTo>
                        <a:lnTo>
                          <a:pt x="140" y="675"/>
                        </a:lnTo>
                        <a:lnTo>
                          <a:pt x="152" y="684"/>
                        </a:lnTo>
                        <a:lnTo>
                          <a:pt x="166" y="691"/>
                        </a:lnTo>
                        <a:lnTo>
                          <a:pt x="180" y="699"/>
                        </a:lnTo>
                        <a:lnTo>
                          <a:pt x="195" y="706"/>
                        </a:lnTo>
                        <a:lnTo>
                          <a:pt x="211" y="712"/>
                        </a:lnTo>
                        <a:lnTo>
                          <a:pt x="228" y="717"/>
                        </a:lnTo>
                        <a:lnTo>
                          <a:pt x="245" y="722"/>
                        </a:lnTo>
                        <a:lnTo>
                          <a:pt x="264" y="726"/>
                        </a:lnTo>
                        <a:lnTo>
                          <a:pt x="283" y="728"/>
                        </a:lnTo>
                        <a:lnTo>
                          <a:pt x="304" y="729"/>
                        </a:lnTo>
                        <a:lnTo>
                          <a:pt x="325" y="730"/>
                        </a:lnTo>
                        <a:lnTo>
                          <a:pt x="348" y="730"/>
                        </a:lnTo>
                        <a:lnTo>
                          <a:pt x="348" y="730"/>
                        </a:lnTo>
                        <a:lnTo>
                          <a:pt x="348" y="729"/>
                        </a:lnTo>
                        <a:lnTo>
                          <a:pt x="350" y="728"/>
                        </a:lnTo>
                        <a:lnTo>
                          <a:pt x="351" y="722"/>
                        </a:lnTo>
                        <a:lnTo>
                          <a:pt x="350" y="700"/>
                        </a:lnTo>
                        <a:lnTo>
                          <a:pt x="346" y="668"/>
                        </a:lnTo>
                        <a:lnTo>
                          <a:pt x="341" y="630"/>
                        </a:lnTo>
                        <a:lnTo>
                          <a:pt x="328" y="550"/>
                        </a:lnTo>
                        <a:lnTo>
                          <a:pt x="318" y="493"/>
                        </a:lnTo>
                        <a:lnTo>
                          <a:pt x="318" y="493"/>
                        </a:lnTo>
                        <a:lnTo>
                          <a:pt x="314" y="467"/>
                        </a:lnTo>
                        <a:lnTo>
                          <a:pt x="309" y="428"/>
                        </a:lnTo>
                        <a:lnTo>
                          <a:pt x="305" y="381"/>
                        </a:lnTo>
                        <a:lnTo>
                          <a:pt x="304" y="332"/>
                        </a:lnTo>
                        <a:lnTo>
                          <a:pt x="304" y="309"/>
                        </a:lnTo>
                        <a:lnTo>
                          <a:pt x="305" y="285"/>
                        </a:lnTo>
                        <a:lnTo>
                          <a:pt x="308" y="265"/>
                        </a:lnTo>
                        <a:lnTo>
                          <a:pt x="312" y="246"/>
                        </a:lnTo>
                        <a:lnTo>
                          <a:pt x="317" y="230"/>
                        </a:lnTo>
                        <a:lnTo>
                          <a:pt x="319" y="224"/>
                        </a:lnTo>
                        <a:lnTo>
                          <a:pt x="323" y="218"/>
                        </a:lnTo>
                        <a:lnTo>
                          <a:pt x="328" y="214"/>
                        </a:lnTo>
                        <a:lnTo>
                          <a:pt x="331" y="211"/>
                        </a:lnTo>
                        <a:lnTo>
                          <a:pt x="337" y="208"/>
                        </a:lnTo>
                        <a:lnTo>
                          <a:pt x="342" y="208"/>
                        </a:lnTo>
                        <a:lnTo>
                          <a:pt x="342" y="208"/>
                        </a:lnTo>
                        <a:lnTo>
                          <a:pt x="348" y="208"/>
                        </a:lnTo>
                        <a:lnTo>
                          <a:pt x="353" y="209"/>
                        </a:lnTo>
                        <a:lnTo>
                          <a:pt x="358" y="213"/>
                        </a:lnTo>
                        <a:lnTo>
                          <a:pt x="363" y="217"/>
                        </a:lnTo>
                        <a:lnTo>
                          <a:pt x="368" y="222"/>
                        </a:lnTo>
                        <a:lnTo>
                          <a:pt x="373" y="228"/>
                        </a:lnTo>
                        <a:lnTo>
                          <a:pt x="382" y="244"/>
                        </a:lnTo>
                        <a:lnTo>
                          <a:pt x="389" y="262"/>
                        </a:lnTo>
                        <a:lnTo>
                          <a:pt x="395" y="283"/>
                        </a:lnTo>
                        <a:lnTo>
                          <a:pt x="401" y="306"/>
                        </a:lnTo>
                        <a:lnTo>
                          <a:pt x="406" y="332"/>
                        </a:lnTo>
                        <a:lnTo>
                          <a:pt x="415" y="385"/>
                        </a:lnTo>
                        <a:lnTo>
                          <a:pt x="422" y="439"/>
                        </a:lnTo>
                        <a:lnTo>
                          <a:pt x="431" y="532"/>
                        </a:lnTo>
                        <a:lnTo>
                          <a:pt x="431" y="532"/>
                        </a:lnTo>
                        <a:lnTo>
                          <a:pt x="434" y="575"/>
                        </a:lnTo>
                        <a:lnTo>
                          <a:pt x="439" y="625"/>
                        </a:lnTo>
                        <a:lnTo>
                          <a:pt x="443" y="652"/>
                        </a:lnTo>
                        <a:lnTo>
                          <a:pt x="448" y="680"/>
                        </a:lnTo>
                        <a:lnTo>
                          <a:pt x="454" y="708"/>
                        </a:lnTo>
                        <a:lnTo>
                          <a:pt x="462" y="735"/>
                        </a:lnTo>
                        <a:lnTo>
                          <a:pt x="472" y="761"/>
                        </a:lnTo>
                        <a:lnTo>
                          <a:pt x="477" y="773"/>
                        </a:lnTo>
                        <a:lnTo>
                          <a:pt x="485" y="786"/>
                        </a:lnTo>
                        <a:lnTo>
                          <a:pt x="491" y="798"/>
                        </a:lnTo>
                        <a:lnTo>
                          <a:pt x="498" y="808"/>
                        </a:lnTo>
                        <a:lnTo>
                          <a:pt x="507" y="819"/>
                        </a:lnTo>
                        <a:lnTo>
                          <a:pt x="516" y="829"/>
                        </a:lnTo>
                        <a:lnTo>
                          <a:pt x="526" y="837"/>
                        </a:lnTo>
                        <a:lnTo>
                          <a:pt x="536" y="844"/>
                        </a:lnTo>
                        <a:lnTo>
                          <a:pt x="548" y="852"/>
                        </a:lnTo>
                        <a:lnTo>
                          <a:pt x="561" y="858"/>
                        </a:lnTo>
                        <a:lnTo>
                          <a:pt x="573" y="863"/>
                        </a:lnTo>
                        <a:lnTo>
                          <a:pt x="587" y="867"/>
                        </a:lnTo>
                        <a:lnTo>
                          <a:pt x="602" y="870"/>
                        </a:lnTo>
                        <a:lnTo>
                          <a:pt x="618" y="871"/>
                        </a:lnTo>
                        <a:lnTo>
                          <a:pt x="618" y="871"/>
                        </a:lnTo>
                        <a:lnTo>
                          <a:pt x="678" y="874"/>
                        </a:lnTo>
                        <a:lnTo>
                          <a:pt x="726" y="873"/>
                        </a:lnTo>
                        <a:lnTo>
                          <a:pt x="746" y="873"/>
                        </a:lnTo>
                        <a:lnTo>
                          <a:pt x="763" y="870"/>
                        </a:lnTo>
                        <a:lnTo>
                          <a:pt x="778" y="868"/>
                        </a:lnTo>
                        <a:lnTo>
                          <a:pt x="791" y="864"/>
                        </a:lnTo>
                        <a:lnTo>
                          <a:pt x="801" y="860"/>
                        </a:lnTo>
                        <a:lnTo>
                          <a:pt x="809" y="857"/>
                        </a:lnTo>
                        <a:lnTo>
                          <a:pt x="817" y="852"/>
                        </a:lnTo>
                        <a:lnTo>
                          <a:pt x="822" y="846"/>
                        </a:lnTo>
                        <a:lnTo>
                          <a:pt x="825" y="840"/>
                        </a:lnTo>
                        <a:lnTo>
                          <a:pt x="827" y="833"/>
                        </a:lnTo>
                        <a:lnTo>
                          <a:pt x="828" y="826"/>
                        </a:lnTo>
                        <a:lnTo>
                          <a:pt x="828" y="819"/>
                        </a:lnTo>
                        <a:lnTo>
                          <a:pt x="828" y="819"/>
                        </a:lnTo>
                        <a:lnTo>
                          <a:pt x="782" y="379"/>
                        </a:lnTo>
                        <a:lnTo>
                          <a:pt x="782" y="379"/>
                        </a:lnTo>
                        <a:lnTo>
                          <a:pt x="780" y="358"/>
                        </a:lnTo>
                        <a:lnTo>
                          <a:pt x="775" y="330"/>
                        </a:lnTo>
                        <a:lnTo>
                          <a:pt x="770" y="298"/>
                        </a:lnTo>
                        <a:lnTo>
                          <a:pt x="768" y="265"/>
                        </a:lnTo>
                        <a:lnTo>
                          <a:pt x="766" y="249"/>
                        </a:lnTo>
                        <a:lnTo>
                          <a:pt x="766" y="234"/>
                        </a:lnTo>
                        <a:lnTo>
                          <a:pt x="768" y="219"/>
                        </a:lnTo>
                        <a:lnTo>
                          <a:pt x="770" y="207"/>
                        </a:lnTo>
                        <a:lnTo>
                          <a:pt x="774" y="197"/>
                        </a:lnTo>
                        <a:lnTo>
                          <a:pt x="780" y="189"/>
                        </a:lnTo>
                        <a:lnTo>
                          <a:pt x="782" y="186"/>
                        </a:lnTo>
                        <a:lnTo>
                          <a:pt x="786" y="184"/>
                        </a:lnTo>
                        <a:lnTo>
                          <a:pt x="791" y="182"/>
                        </a:lnTo>
                        <a:lnTo>
                          <a:pt x="796" y="182"/>
                        </a:lnTo>
                        <a:lnTo>
                          <a:pt x="796" y="182"/>
                        </a:lnTo>
                        <a:lnTo>
                          <a:pt x="801" y="182"/>
                        </a:lnTo>
                        <a:lnTo>
                          <a:pt x="806" y="184"/>
                        </a:lnTo>
                        <a:lnTo>
                          <a:pt x="811" y="186"/>
                        </a:lnTo>
                        <a:lnTo>
                          <a:pt x="814" y="190"/>
                        </a:lnTo>
                        <a:lnTo>
                          <a:pt x="823" y="200"/>
                        </a:lnTo>
                        <a:lnTo>
                          <a:pt x="831" y="213"/>
                        </a:lnTo>
                        <a:lnTo>
                          <a:pt x="839" y="230"/>
                        </a:lnTo>
                        <a:lnTo>
                          <a:pt x="845" y="250"/>
                        </a:lnTo>
                        <a:lnTo>
                          <a:pt x="852" y="272"/>
                        </a:lnTo>
                        <a:lnTo>
                          <a:pt x="857" y="295"/>
                        </a:lnTo>
                        <a:lnTo>
                          <a:pt x="862" y="321"/>
                        </a:lnTo>
                        <a:lnTo>
                          <a:pt x="867" y="348"/>
                        </a:lnTo>
                        <a:lnTo>
                          <a:pt x="874" y="403"/>
                        </a:lnTo>
                        <a:lnTo>
                          <a:pt x="881" y="460"/>
                        </a:lnTo>
                        <a:lnTo>
                          <a:pt x="885" y="513"/>
                        </a:lnTo>
                        <a:lnTo>
                          <a:pt x="885" y="513"/>
                        </a:lnTo>
                        <a:lnTo>
                          <a:pt x="888" y="570"/>
                        </a:lnTo>
                        <a:lnTo>
                          <a:pt x="889" y="631"/>
                        </a:lnTo>
                        <a:lnTo>
                          <a:pt x="892" y="662"/>
                        </a:lnTo>
                        <a:lnTo>
                          <a:pt x="894" y="692"/>
                        </a:lnTo>
                        <a:lnTo>
                          <a:pt x="898" y="723"/>
                        </a:lnTo>
                        <a:lnTo>
                          <a:pt x="904" y="751"/>
                        </a:lnTo>
                        <a:lnTo>
                          <a:pt x="911" y="778"/>
                        </a:lnTo>
                        <a:lnTo>
                          <a:pt x="916" y="791"/>
                        </a:lnTo>
                        <a:lnTo>
                          <a:pt x="921" y="803"/>
                        </a:lnTo>
                        <a:lnTo>
                          <a:pt x="926" y="813"/>
                        </a:lnTo>
                        <a:lnTo>
                          <a:pt x="933" y="824"/>
                        </a:lnTo>
                        <a:lnTo>
                          <a:pt x="939" y="832"/>
                        </a:lnTo>
                        <a:lnTo>
                          <a:pt x="948" y="841"/>
                        </a:lnTo>
                        <a:lnTo>
                          <a:pt x="957" y="848"/>
                        </a:lnTo>
                        <a:lnTo>
                          <a:pt x="966" y="854"/>
                        </a:lnTo>
                        <a:lnTo>
                          <a:pt x="976" y="858"/>
                        </a:lnTo>
                        <a:lnTo>
                          <a:pt x="987" y="862"/>
                        </a:lnTo>
                        <a:lnTo>
                          <a:pt x="999" y="864"/>
                        </a:lnTo>
                        <a:lnTo>
                          <a:pt x="1013" y="865"/>
                        </a:lnTo>
                        <a:lnTo>
                          <a:pt x="1026" y="864"/>
                        </a:lnTo>
                        <a:lnTo>
                          <a:pt x="1042" y="862"/>
                        </a:lnTo>
                        <a:lnTo>
                          <a:pt x="1042" y="862"/>
                        </a:lnTo>
                        <a:lnTo>
                          <a:pt x="1102" y="849"/>
                        </a:lnTo>
                        <a:lnTo>
                          <a:pt x="1155" y="838"/>
                        </a:lnTo>
                        <a:lnTo>
                          <a:pt x="1201" y="826"/>
                        </a:lnTo>
                        <a:lnTo>
                          <a:pt x="1239" y="814"/>
                        </a:lnTo>
                        <a:lnTo>
                          <a:pt x="1253" y="808"/>
                        </a:lnTo>
                        <a:lnTo>
                          <a:pt x="1267" y="802"/>
                        </a:lnTo>
                        <a:lnTo>
                          <a:pt x="1278" y="797"/>
                        </a:lnTo>
                        <a:lnTo>
                          <a:pt x="1286" y="791"/>
                        </a:lnTo>
                        <a:lnTo>
                          <a:pt x="1292" y="786"/>
                        </a:lnTo>
                        <a:lnTo>
                          <a:pt x="1296" y="779"/>
                        </a:lnTo>
                        <a:lnTo>
                          <a:pt x="1296" y="775"/>
                        </a:lnTo>
                        <a:lnTo>
                          <a:pt x="1295" y="770"/>
                        </a:lnTo>
                        <a:lnTo>
                          <a:pt x="1295" y="770"/>
                        </a:lnTo>
                        <a:lnTo>
                          <a:pt x="1285" y="755"/>
                        </a:lnTo>
                        <a:lnTo>
                          <a:pt x="1273" y="729"/>
                        </a:lnTo>
                        <a:lnTo>
                          <a:pt x="1259" y="695"/>
                        </a:lnTo>
                        <a:lnTo>
                          <a:pt x="1245" y="652"/>
                        </a:lnTo>
                        <a:lnTo>
                          <a:pt x="1237" y="627"/>
                        </a:lnTo>
                        <a:lnTo>
                          <a:pt x="1230" y="602"/>
                        </a:lnTo>
                        <a:lnTo>
                          <a:pt x="1223" y="572"/>
                        </a:lnTo>
                        <a:lnTo>
                          <a:pt x="1216" y="543"/>
                        </a:lnTo>
                        <a:lnTo>
                          <a:pt x="1212" y="511"/>
                        </a:lnTo>
                        <a:lnTo>
                          <a:pt x="1208" y="478"/>
                        </a:lnTo>
                        <a:lnTo>
                          <a:pt x="1204" y="444"/>
                        </a:lnTo>
                        <a:lnTo>
                          <a:pt x="1202" y="408"/>
                        </a:lnTo>
                        <a:lnTo>
                          <a:pt x="1202" y="408"/>
                        </a:lnTo>
                        <a:lnTo>
                          <a:pt x="1201" y="342"/>
                        </a:lnTo>
                        <a:lnTo>
                          <a:pt x="1199" y="292"/>
                        </a:lnTo>
                        <a:lnTo>
                          <a:pt x="1201" y="255"/>
                        </a:lnTo>
                        <a:lnTo>
                          <a:pt x="1202" y="228"/>
                        </a:lnTo>
                        <a:lnTo>
                          <a:pt x="1203" y="218"/>
                        </a:lnTo>
                        <a:lnTo>
                          <a:pt x="1205" y="211"/>
                        </a:lnTo>
                        <a:lnTo>
                          <a:pt x="1208" y="204"/>
                        </a:lnTo>
                        <a:lnTo>
                          <a:pt x="1212" y="200"/>
                        </a:lnTo>
                        <a:lnTo>
                          <a:pt x="1215" y="196"/>
                        </a:lnTo>
                        <a:lnTo>
                          <a:pt x="1219" y="195"/>
                        </a:lnTo>
                        <a:lnTo>
                          <a:pt x="1229" y="191"/>
                        </a:lnTo>
                        <a:lnTo>
                          <a:pt x="1229" y="191"/>
                        </a:lnTo>
                        <a:lnTo>
                          <a:pt x="1235" y="192"/>
                        </a:lnTo>
                        <a:lnTo>
                          <a:pt x="1241" y="195"/>
                        </a:lnTo>
                        <a:lnTo>
                          <a:pt x="1248" y="200"/>
                        </a:lnTo>
                        <a:lnTo>
                          <a:pt x="1254" y="206"/>
                        </a:lnTo>
                        <a:lnTo>
                          <a:pt x="1262" y="216"/>
                        </a:lnTo>
                        <a:lnTo>
                          <a:pt x="1268" y="225"/>
                        </a:lnTo>
                        <a:lnTo>
                          <a:pt x="1274" y="238"/>
                        </a:lnTo>
                        <a:lnTo>
                          <a:pt x="1280" y="251"/>
                        </a:lnTo>
                        <a:lnTo>
                          <a:pt x="1286" y="266"/>
                        </a:lnTo>
                        <a:lnTo>
                          <a:pt x="1292" y="282"/>
                        </a:lnTo>
                        <a:lnTo>
                          <a:pt x="1297" y="299"/>
                        </a:lnTo>
                        <a:lnTo>
                          <a:pt x="1301" y="316"/>
                        </a:lnTo>
                        <a:lnTo>
                          <a:pt x="1305" y="334"/>
                        </a:lnTo>
                        <a:lnTo>
                          <a:pt x="1307" y="354"/>
                        </a:lnTo>
                        <a:lnTo>
                          <a:pt x="1310" y="372"/>
                        </a:lnTo>
                        <a:lnTo>
                          <a:pt x="1311" y="392"/>
                        </a:lnTo>
                        <a:lnTo>
                          <a:pt x="1311" y="392"/>
                        </a:lnTo>
                        <a:lnTo>
                          <a:pt x="1311" y="435"/>
                        </a:lnTo>
                        <a:lnTo>
                          <a:pt x="1313" y="483"/>
                        </a:lnTo>
                        <a:lnTo>
                          <a:pt x="1317" y="532"/>
                        </a:lnTo>
                        <a:lnTo>
                          <a:pt x="1322" y="580"/>
                        </a:lnTo>
                        <a:lnTo>
                          <a:pt x="1326" y="603"/>
                        </a:lnTo>
                        <a:lnTo>
                          <a:pt x="1329" y="625"/>
                        </a:lnTo>
                        <a:lnTo>
                          <a:pt x="1334" y="645"/>
                        </a:lnTo>
                        <a:lnTo>
                          <a:pt x="1339" y="662"/>
                        </a:lnTo>
                        <a:lnTo>
                          <a:pt x="1345" y="678"/>
                        </a:lnTo>
                        <a:lnTo>
                          <a:pt x="1351" y="690"/>
                        </a:lnTo>
                        <a:lnTo>
                          <a:pt x="1359" y="700"/>
                        </a:lnTo>
                        <a:lnTo>
                          <a:pt x="1362" y="703"/>
                        </a:lnTo>
                        <a:lnTo>
                          <a:pt x="1366" y="706"/>
                        </a:lnTo>
                        <a:lnTo>
                          <a:pt x="1366" y="706"/>
                        </a:lnTo>
                        <a:lnTo>
                          <a:pt x="1375" y="710"/>
                        </a:lnTo>
                        <a:lnTo>
                          <a:pt x="1383" y="712"/>
                        </a:lnTo>
                        <a:lnTo>
                          <a:pt x="1392" y="715"/>
                        </a:lnTo>
                        <a:lnTo>
                          <a:pt x="1400" y="716"/>
                        </a:lnTo>
                        <a:lnTo>
                          <a:pt x="1418" y="716"/>
                        </a:lnTo>
                        <a:lnTo>
                          <a:pt x="1436" y="713"/>
                        </a:lnTo>
                        <a:lnTo>
                          <a:pt x="1453" y="708"/>
                        </a:lnTo>
                        <a:lnTo>
                          <a:pt x="1469" y="702"/>
                        </a:lnTo>
                        <a:lnTo>
                          <a:pt x="1485" y="695"/>
                        </a:lnTo>
                        <a:lnTo>
                          <a:pt x="1501" y="686"/>
                        </a:lnTo>
                        <a:lnTo>
                          <a:pt x="1501" y="686"/>
                        </a:lnTo>
                        <a:lnTo>
                          <a:pt x="1523" y="673"/>
                        </a:lnTo>
                        <a:lnTo>
                          <a:pt x="1539" y="663"/>
                        </a:lnTo>
                        <a:lnTo>
                          <a:pt x="1556" y="652"/>
                        </a:lnTo>
                        <a:lnTo>
                          <a:pt x="1576" y="637"/>
                        </a:lnTo>
                        <a:lnTo>
                          <a:pt x="1595" y="621"/>
                        </a:lnTo>
                        <a:lnTo>
                          <a:pt x="1615" y="603"/>
                        </a:lnTo>
                        <a:lnTo>
                          <a:pt x="1633" y="582"/>
                        </a:lnTo>
                        <a:lnTo>
                          <a:pt x="1652" y="559"/>
                        </a:lnTo>
                        <a:lnTo>
                          <a:pt x="1659" y="547"/>
                        </a:lnTo>
                        <a:lnTo>
                          <a:pt x="1666" y="533"/>
                        </a:lnTo>
                        <a:lnTo>
                          <a:pt x="1674" y="520"/>
                        </a:lnTo>
                        <a:lnTo>
                          <a:pt x="1680" y="505"/>
                        </a:lnTo>
                        <a:lnTo>
                          <a:pt x="1685" y="490"/>
                        </a:lnTo>
                        <a:lnTo>
                          <a:pt x="1690" y="474"/>
                        </a:lnTo>
                        <a:lnTo>
                          <a:pt x="1693" y="458"/>
                        </a:lnTo>
                        <a:lnTo>
                          <a:pt x="1696" y="441"/>
                        </a:lnTo>
                        <a:lnTo>
                          <a:pt x="1697" y="424"/>
                        </a:lnTo>
                        <a:lnTo>
                          <a:pt x="1696" y="406"/>
                        </a:lnTo>
                        <a:lnTo>
                          <a:pt x="1695" y="387"/>
                        </a:lnTo>
                        <a:lnTo>
                          <a:pt x="1692" y="368"/>
                        </a:lnTo>
                        <a:lnTo>
                          <a:pt x="1688" y="348"/>
                        </a:lnTo>
                        <a:lnTo>
                          <a:pt x="1682" y="327"/>
                        </a:lnTo>
                        <a:lnTo>
                          <a:pt x="1682" y="327"/>
                        </a:lnTo>
                        <a:lnTo>
                          <a:pt x="1668" y="287"/>
                        </a:lnTo>
                        <a:lnTo>
                          <a:pt x="1653" y="251"/>
                        </a:lnTo>
                        <a:lnTo>
                          <a:pt x="1637" y="220"/>
                        </a:lnTo>
                        <a:lnTo>
                          <a:pt x="1621" y="192"/>
                        </a:lnTo>
                        <a:lnTo>
                          <a:pt x="1605" y="168"/>
                        </a:lnTo>
                        <a:lnTo>
                          <a:pt x="1589" y="147"/>
                        </a:lnTo>
                        <a:lnTo>
                          <a:pt x="1572" y="128"/>
                        </a:lnTo>
                        <a:lnTo>
                          <a:pt x="1556" y="114"/>
                        </a:lnTo>
                        <a:lnTo>
                          <a:pt x="1541" y="102"/>
                        </a:lnTo>
                        <a:lnTo>
                          <a:pt x="1527" y="90"/>
                        </a:lnTo>
                        <a:lnTo>
                          <a:pt x="1513" y="83"/>
                        </a:lnTo>
                        <a:lnTo>
                          <a:pt x="1501" y="77"/>
                        </a:lnTo>
                        <a:lnTo>
                          <a:pt x="1490" y="73"/>
                        </a:lnTo>
                        <a:lnTo>
                          <a:pt x="1480" y="71"/>
                        </a:lnTo>
                        <a:lnTo>
                          <a:pt x="1473" y="70"/>
                        </a:lnTo>
                        <a:lnTo>
                          <a:pt x="1468" y="68"/>
                        </a:lnTo>
                        <a:lnTo>
                          <a:pt x="1468" y="68"/>
                        </a:lnTo>
                        <a:lnTo>
                          <a:pt x="1459" y="70"/>
                        </a:lnTo>
                        <a:lnTo>
                          <a:pt x="1452" y="71"/>
                        </a:lnTo>
                        <a:lnTo>
                          <a:pt x="1445" y="73"/>
                        </a:lnTo>
                        <a:lnTo>
                          <a:pt x="1442" y="76"/>
                        </a:lnTo>
                        <a:lnTo>
                          <a:pt x="1440" y="78"/>
                        </a:lnTo>
                        <a:lnTo>
                          <a:pt x="1436" y="87"/>
                        </a:lnTo>
                        <a:lnTo>
                          <a:pt x="1433" y="99"/>
                        </a:lnTo>
                        <a:lnTo>
                          <a:pt x="1433" y="116"/>
                        </a:lnTo>
                        <a:lnTo>
                          <a:pt x="1435" y="138"/>
                        </a:lnTo>
                        <a:lnTo>
                          <a:pt x="1435" y="138"/>
                        </a:lnTo>
                        <a:lnTo>
                          <a:pt x="1440" y="174"/>
                        </a:lnTo>
                        <a:lnTo>
                          <a:pt x="1446" y="224"/>
                        </a:lnTo>
                        <a:lnTo>
                          <a:pt x="1453" y="282"/>
                        </a:lnTo>
                        <a:lnTo>
                          <a:pt x="1459" y="342"/>
                        </a:lnTo>
                        <a:lnTo>
                          <a:pt x="1462" y="371"/>
                        </a:lnTo>
                        <a:lnTo>
                          <a:pt x="1462" y="397"/>
                        </a:lnTo>
                        <a:lnTo>
                          <a:pt x="1462" y="422"/>
                        </a:lnTo>
                        <a:lnTo>
                          <a:pt x="1459" y="441"/>
                        </a:lnTo>
                        <a:lnTo>
                          <a:pt x="1458" y="450"/>
                        </a:lnTo>
                        <a:lnTo>
                          <a:pt x="1456" y="457"/>
                        </a:lnTo>
                        <a:lnTo>
                          <a:pt x="1453" y="463"/>
                        </a:lnTo>
                        <a:lnTo>
                          <a:pt x="1449" y="467"/>
                        </a:lnTo>
                        <a:lnTo>
                          <a:pt x="1446" y="471"/>
                        </a:lnTo>
                        <a:lnTo>
                          <a:pt x="1441" y="472"/>
                        </a:lnTo>
                        <a:lnTo>
                          <a:pt x="1436" y="472"/>
                        </a:lnTo>
                        <a:lnTo>
                          <a:pt x="1430" y="469"/>
                        </a:lnTo>
                        <a:lnTo>
                          <a:pt x="1430" y="469"/>
                        </a:lnTo>
                        <a:lnTo>
                          <a:pt x="1425" y="466"/>
                        </a:lnTo>
                        <a:lnTo>
                          <a:pt x="1419" y="461"/>
                        </a:lnTo>
                        <a:lnTo>
                          <a:pt x="1414" y="456"/>
                        </a:lnTo>
                        <a:lnTo>
                          <a:pt x="1409" y="448"/>
                        </a:lnTo>
                        <a:lnTo>
                          <a:pt x="1400" y="434"/>
                        </a:lnTo>
                        <a:lnTo>
                          <a:pt x="1392" y="415"/>
                        </a:lnTo>
                        <a:lnTo>
                          <a:pt x="1386" y="395"/>
                        </a:lnTo>
                        <a:lnTo>
                          <a:pt x="1381" y="371"/>
                        </a:lnTo>
                        <a:lnTo>
                          <a:pt x="1376" y="348"/>
                        </a:lnTo>
                        <a:lnTo>
                          <a:pt x="1372" y="323"/>
                        </a:lnTo>
                        <a:lnTo>
                          <a:pt x="1367" y="277"/>
                        </a:lnTo>
                        <a:lnTo>
                          <a:pt x="1364" y="233"/>
                        </a:lnTo>
                        <a:lnTo>
                          <a:pt x="1361" y="180"/>
                        </a:lnTo>
                        <a:lnTo>
                          <a:pt x="1361" y="180"/>
                        </a:lnTo>
                        <a:lnTo>
                          <a:pt x="1359" y="148"/>
                        </a:lnTo>
                        <a:lnTo>
                          <a:pt x="1356" y="128"/>
                        </a:lnTo>
                        <a:lnTo>
                          <a:pt x="1354" y="108"/>
                        </a:lnTo>
                        <a:lnTo>
                          <a:pt x="1350" y="88"/>
                        </a:lnTo>
                        <a:lnTo>
                          <a:pt x="1348" y="79"/>
                        </a:lnTo>
                        <a:lnTo>
                          <a:pt x="1344" y="72"/>
                        </a:lnTo>
                        <a:lnTo>
                          <a:pt x="1340" y="65"/>
                        </a:lnTo>
                        <a:lnTo>
                          <a:pt x="1337" y="60"/>
                        </a:lnTo>
                        <a:lnTo>
                          <a:pt x="1332" y="56"/>
                        </a:lnTo>
                        <a:lnTo>
                          <a:pt x="1326" y="54"/>
                        </a:lnTo>
                        <a:lnTo>
                          <a:pt x="1326" y="54"/>
                        </a:lnTo>
                        <a:lnTo>
                          <a:pt x="1281" y="43"/>
                        </a:lnTo>
                        <a:lnTo>
                          <a:pt x="1214" y="27"/>
                        </a:lnTo>
                        <a:lnTo>
                          <a:pt x="1178" y="18"/>
                        </a:lnTo>
                        <a:lnTo>
                          <a:pt x="1147" y="12"/>
                        </a:lnTo>
                        <a:lnTo>
                          <a:pt x="1120" y="7"/>
                        </a:lnTo>
                        <a:lnTo>
                          <a:pt x="1110" y="7"/>
                        </a:lnTo>
                        <a:lnTo>
                          <a:pt x="1102" y="7"/>
                        </a:lnTo>
                        <a:lnTo>
                          <a:pt x="1102" y="7"/>
                        </a:lnTo>
                        <a:lnTo>
                          <a:pt x="1093" y="10"/>
                        </a:lnTo>
                        <a:lnTo>
                          <a:pt x="1083" y="12"/>
                        </a:lnTo>
                        <a:lnTo>
                          <a:pt x="1075" y="16"/>
                        </a:lnTo>
                        <a:lnTo>
                          <a:pt x="1069" y="22"/>
                        </a:lnTo>
                        <a:lnTo>
                          <a:pt x="1064" y="30"/>
                        </a:lnTo>
                        <a:lnTo>
                          <a:pt x="1062" y="41"/>
                        </a:lnTo>
                        <a:lnTo>
                          <a:pt x="1062" y="56"/>
                        </a:lnTo>
                        <a:lnTo>
                          <a:pt x="1062" y="73"/>
                        </a:lnTo>
                        <a:lnTo>
                          <a:pt x="1062" y="73"/>
                        </a:lnTo>
                        <a:lnTo>
                          <a:pt x="1073" y="158"/>
                        </a:lnTo>
                        <a:lnTo>
                          <a:pt x="1080" y="223"/>
                        </a:lnTo>
                        <a:lnTo>
                          <a:pt x="1085" y="293"/>
                        </a:lnTo>
                        <a:lnTo>
                          <a:pt x="1088" y="327"/>
                        </a:lnTo>
                        <a:lnTo>
                          <a:pt x="1088" y="359"/>
                        </a:lnTo>
                        <a:lnTo>
                          <a:pt x="1086" y="390"/>
                        </a:lnTo>
                        <a:lnTo>
                          <a:pt x="1084" y="417"/>
                        </a:lnTo>
                        <a:lnTo>
                          <a:pt x="1083" y="428"/>
                        </a:lnTo>
                        <a:lnTo>
                          <a:pt x="1080" y="439"/>
                        </a:lnTo>
                        <a:lnTo>
                          <a:pt x="1077" y="447"/>
                        </a:lnTo>
                        <a:lnTo>
                          <a:pt x="1073" y="456"/>
                        </a:lnTo>
                        <a:lnTo>
                          <a:pt x="1069" y="462"/>
                        </a:lnTo>
                        <a:lnTo>
                          <a:pt x="1064" y="466"/>
                        </a:lnTo>
                        <a:lnTo>
                          <a:pt x="1058" y="469"/>
                        </a:lnTo>
                        <a:lnTo>
                          <a:pt x="1052" y="469"/>
                        </a:lnTo>
                        <a:lnTo>
                          <a:pt x="1052" y="469"/>
                        </a:lnTo>
                        <a:lnTo>
                          <a:pt x="1046" y="469"/>
                        </a:lnTo>
                        <a:lnTo>
                          <a:pt x="1040" y="467"/>
                        </a:lnTo>
                        <a:lnTo>
                          <a:pt x="1034" y="464"/>
                        </a:lnTo>
                        <a:lnTo>
                          <a:pt x="1029" y="461"/>
                        </a:lnTo>
                        <a:lnTo>
                          <a:pt x="1024" y="457"/>
                        </a:lnTo>
                        <a:lnTo>
                          <a:pt x="1019" y="451"/>
                        </a:lnTo>
                        <a:lnTo>
                          <a:pt x="1010" y="439"/>
                        </a:lnTo>
                        <a:lnTo>
                          <a:pt x="1003" y="423"/>
                        </a:lnTo>
                        <a:lnTo>
                          <a:pt x="997" y="404"/>
                        </a:lnTo>
                        <a:lnTo>
                          <a:pt x="992" y="385"/>
                        </a:lnTo>
                        <a:lnTo>
                          <a:pt x="987" y="364"/>
                        </a:lnTo>
                        <a:lnTo>
                          <a:pt x="984" y="342"/>
                        </a:lnTo>
                        <a:lnTo>
                          <a:pt x="981" y="319"/>
                        </a:lnTo>
                        <a:lnTo>
                          <a:pt x="976" y="274"/>
                        </a:lnTo>
                        <a:lnTo>
                          <a:pt x="974" y="231"/>
                        </a:lnTo>
                        <a:lnTo>
                          <a:pt x="972" y="196"/>
                        </a:lnTo>
                        <a:lnTo>
                          <a:pt x="972" y="196"/>
                        </a:lnTo>
                        <a:lnTo>
                          <a:pt x="971" y="163"/>
                        </a:lnTo>
                        <a:lnTo>
                          <a:pt x="969" y="131"/>
                        </a:lnTo>
                        <a:lnTo>
                          <a:pt x="965" y="99"/>
                        </a:lnTo>
                        <a:lnTo>
                          <a:pt x="960" y="70"/>
                        </a:lnTo>
                        <a:lnTo>
                          <a:pt x="958" y="56"/>
                        </a:lnTo>
                        <a:lnTo>
                          <a:pt x="954" y="44"/>
                        </a:lnTo>
                        <a:lnTo>
                          <a:pt x="950" y="33"/>
                        </a:lnTo>
                        <a:lnTo>
                          <a:pt x="945" y="24"/>
                        </a:lnTo>
                        <a:lnTo>
                          <a:pt x="941" y="17"/>
                        </a:lnTo>
                        <a:lnTo>
                          <a:pt x="934" y="11"/>
                        </a:lnTo>
                        <a:lnTo>
                          <a:pt x="927" y="7"/>
                        </a:lnTo>
                        <a:lnTo>
                          <a:pt x="920" y="5"/>
                        </a:lnTo>
                        <a:lnTo>
                          <a:pt x="920" y="5"/>
                        </a:lnTo>
                        <a:lnTo>
                          <a:pt x="862" y="2"/>
                        </a:lnTo>
                        <a:lnTo>
                          <a:pt x="819" y="0"/>
                        </a:lnTo>
                        <a:lnTo>
                          <a:pt x="773" y="0"/>
                        </a:lnTo>
                        <a:lnTo>
                          <a:pt x="727" y="0"/>
                        </a:lnTo>
                        <a:lnTo>
                          <a:pt x="684" y="1"/>
                        </a:lnTo>
                        <a:lnTo>
                          <a:pt x="666" y="2"/>
                        </a:lnTo>
                        <a:lnTo>
                          <a:pt x="650" y="5"/>
                        </a:lnTo>
                        <a:lnTo>
                          <a:pt x="638" y="7"/>
                        </a:lnTo>
                        <a:lnTo>
                          <a:pt x="628" y="11"/>
                        </a:lnTo>
                        <a:lnTo>
                          <a:pt x="628" y="11"/>
                        </a:lnTo>
                        <a:lnTo>
                          <a:pt x="614" y="18"/>
                        </a:lnTo>
                        <a:lnTo>
                          <a:pt x="606" y="24"/>
                        </a:lnTo>
                        <a:lnTo>
                          <a:pt x="601" y="29"/>
                        </a:lnTo>
                        <a:lnTo>
                          <a:pt x="599" y="37"/>
                        </a:lnTo>
                        <a:lnTo>
                          <a:pt x="599" y="44"/>
                        </a:lnTo>
                        <a:lnTo>
                          <a:pt x="600" y="55"/>
                        </a:lnTo>
                        <a:lnTo>
                          <a:pt x="601" y="67"/>
                        </a:lnTo>
                        <a:lnTo>
                          <a:pt x="603" y="84"/>
                        </a:lnTo>
                        <a:lnTo>
                          <a:pt x="603" y="84"/>
                        </a:lnTo>
                        <a:lnTo>
                          <a:pt x="612" y="168"/>
                        </a:lnTo>
                        <a:lnTo>
                          <a:pt x="617" y="231"/>
                        </a:lnTo>
                        <a:lnTo>
                          <a:pt x="621" y="301"/>
                        </a:lnTo>
                        <a:lnTo>
                          <a:pt x="622" y="334"/>
                        </a:lnTo>
                        <a:lnTo>
                          <a:pt x="622" y="368"/>
                        </a:lnTo>
                        <a:lnTo>
                          <a:pt x="621" y="397"/>
                        </a:lnTo>
                        <a:lnTo>
                          <a:pt x="618" y="423"/>
                        </a:lnTo>
                        <a:lnTo>
                          <a:pt x="614" y="445"/>
                        </a:lnTo>
                        <a:lnTo>
                          <a:pt x="612" y="453"/>
                        </a:lnTo>
                        <a:lnTo>
                          <a:pt x="610" y="461"/>
                        </a:lnTo>
                        <a:lnTo>
                          <a:pt x="606" y="467"/>
                        </a:lnTo>
                        <a:lnTo>
                          <a:pt x="602" y="471"/>
                        </a:lnTo>
                        <a:lnTo>
                          <a:pt x="599" y="473"/>
                        </a:lnTo>
                        <a:lnTo>
                          <a:pt x="594" y="473"/>
                        </a:lnTo>
                        <a:lnTo>
                          <a:pt x="594" y="473"/>
                        </a:lnTo>
                        <a:lnTo>
                          <a:pt x="587" y="471"/>
                        </a:lnTo>
                        <a:lnTo>
                          <a:pt x="583" y="467"/>
                        </a:lnTo>
                        <a:lnTo>
                          <a:pt x="579" y="462"/>
                        </a:lnTo>
                        <a:lnTo>
                          <a:pt x="574" y="456"/>
                        </a:lnTo>
                        <a:lnTo>
                          <a:pt x="569" y="447"/>
                        </a:lnTo>
                        <a:lnTo>
                          <a:pt x="565" y="439"/>
                        </a:lnTo>
                        <a:lnTo>
                          <a:pt x="558" y="417"/>
                        </a:lnTo>
                        <a:lnTo>
                          <a:pt x="551" y="391"/>
                        </a:lnTo>
                        <a:lnTo>
                          <a:pt x="545" y="363"/>
                        </a:lnTo>
                        <a:lnTo>
                          <a:pt x="540" y="332"/>
                        </a:lnTo>
                        <a:lnTo>
                          <a:pt x="535" y="300"/>
                        </a:lnTo>
                        <a:lnTo>
                          <a:pt x="527" y="235"/>
                        </a:lnTo>
                        <a:lnTo>
                          <a:pt x="521" y="176"/>
                        </a:lnTo>
                        <a:lnTo>
                          <a:pt x="515" y="103"/>
                        </a:lnTo>
                        <a:lnTo>
                          <a:pt x="515" y="103"/>
                        </a:lnTo>
                        <a:lnTo>
                          <a:pt x="513" y="88"/>
                        </a:lnTo>
                        <a:lnTo>
                          <a:pt x="509" y="75"/>
                        </a:lnTo>
                        <a:lnTo>
                          <a:pt x="504" y="62"/>
                        </a:lnTo>
                        <a:lnTo>
                          <a:pt x="497" y="54"/>
                        </a:lnTo>
                        <a:lnTo>
                          <a:pt x="487" y="46"/>
                        </a:lnTo>
                        <a:lnTo>
                          <a:pt x="482" y="43"/>
                        </a:lnTo>
                        <a:lnTo>
                          <a:pt x="477" y="41"/>
                        </a:lnTo>
                        <a:lnTo>
                          <a:pt x="471" y="39"/>
                        </a:lnTo>
                        <a:lnTo>
                          <a:pt x="465" y="39"/>
                        </a:lnTo>
                        <a:lnTo>
                          <a:pt x="451" y="39"/>
                        </a:lnTo>
                        <a:lnTo>
                          <a:pt x="451" y="39"/>
                        </a:lnTo>
                        <a:lnTo>
                          <a:pt x="394" y="46"/>
                        </a:lnTo>
                        <a:lnTo>
                          <a:pt x="350" y="52"/>
                        </a:lnTo>
                        <a:lnTo>
                          <a:pt x="302" y="62"/>
                        </a:lnTo>
                        <a:lnTo>
                          <a:pt x="277" y="68"/>
                        </a:lnTo>
                        <a:lnTo>
                          <a:pt x="255" y="75"/>
                        </a:lnTo>
                        <a:lnTo>
                          <a:pt x="233" y="82"/>
                        </a:lnTo>
                        <a:lnTo>
                          <a:pt x="214" y="90"/>
                        </a:lnTo>
                        <a:lnTo>
                          <a:pt x="198" y="100"/>
                        </a:lnTo>
                        <a:lnTo>
                          <a:pt x="190" y="105"/>
                        </a:lnTo>
                        <a:lnTo>
                          <a:pt x="183" y="111"/>
                        </a:lnTo>
                        <a:lnTo>
                          <a:pt x="178" y="117"/>
                        </a:lnTo>
                        <a:lnTo>
                          <a:pt x="173" y="124"/>
                        </a:lnTo>
                        <a:lnTo>
                          <a:pt x="171" y="130"/>
                        </a:lnTo>
                        <a:lnTo>
                          <a:pt x="168" y="136"/>
                        </a:lnTo>
                        <a:lnTo>
                          <a:pt x="168" y="136"/>
                        </a:lnTo>
                        <a:lnTo>
                          <a:pt x="166" y="152"/>
                        </a:lnTo>
                        <a:lnTo>
                          <a:pt x="165" y="169"/>
                        </a:lnTo>
                        <a:lnTo>
                          <a:pt x="165" y="189"/>
                        </a:lnTo>
                        <a:lnTo>
                          <a:pt x="165" y="209"/>
                        </a:lnTo>
                        <a:lnTo>
                          <a:pt x="167" y="255"/>
                        </a:lnTo>
                        <a:lnTo>
                          <a:pt x="169" y="300"/>
                        </a:lnTo>
                        <a:lnTo>
                          <a:pt x="172" y="342"/>
                        </a:lnTo>
                        <a:lnTo>
                          <a:pt x="172" y="360"/>
                        </a:lnTo>
                        <a:lnTo>
                          <a:pt x="171" y="376"/>
                        </a:lnTo>
                        <a:lnTo>
                          <a:pt x="169" y="390"/>
                        </a:lnTo>
                        <a:lnTo>
                          <a:pt x="166" y="401"/>
                        </a:lnTo>
                        <a:lnTo>
                          <a:pt x="163" y="404"/>
                        </a:lnTo>
                        <a:lnTo>
                          <a:pt x="161" y="407"/>
                        </a:lnTo>
                        <a:lnTo>
                          <a:pt x="158" y="409"/>
                        </a:lnTo>
                        <a:lnTo>
                          <a:pt x="155" y="409"/>
                        </a:lnTo>
                        <a:lnTo>
                          <a:pt x="155" y="409"/>
                        </a:lnTo>
                        <a:lnTo>
                          <a:pt x="147" y="409"/>
                        </a:lnTo>
                        <a:lnTo>
                          <a:pt x="140" y="407"/>
                        </a:lnTo>
                        <a:lnTo>
                          <a:pt x="134" y="403"/>
                        </a:lnTo>
                        <a:lnTo>
                          <a:pt x="129" y="398"/>
                        </a:lnTo>
                        <a:lnTo>
                          <a:pt x="123" y="392"/>
                        </a:lnTo>
                        <a:lnTo>
                          <a:pt x="118" y="385"/>
                        </a:lnTo>
                        <a:lnTo>
                          <a:pt x="114" y="377"/>
                        </a:lnTo>
                        <a:lnTo>
                          <a:pt x="111" y="369"/>
                        </a:lnTo>
                        <a:lnTo>
                          <a:pt x="103" y="348"/>
                        </a:lnTo>
                        <a:lnTo>
                          <a:pt x="97" y="326"/>
                        </a:lnTo>
                        <a:lnTo>
                          <a:pt x="93" y="304"/>
                        </a:lnTo>
                        <a:lnTo>
                          <a:pt x="88" y="281"/>
                        </a:lnTo>
                        <a:lnTo>
                          <a:pt x="82" y="238"/>
                        </a:lnTo>
                        <a:lnTo>
                          <a:pt x="80" y="220"/>
                        </a:lnTo>
                        <a:lnTo>
                          <a:pt x="76" y="206"/>
                        </a:lnTo>
                        <a:lnTo>
                          <a:pt x="73" y="197"/>
                        </a:lnTo>
                        <a:lnTo>
                          <a:pt x="71" y="193"/>
                        </a:lnTo>
                        <a:lnTo>
                          <a:pt x="69" y="192"/>
                        </a:lnTo>
                        <a:lnTo>
                          <a:pt x="66" y="193"/>
                        </a:lnTo>
                        <a:lnTo>
                          <a:pt x="64" y="195"/>
                        </a:lnTo>
                        <a:lnTo>
                          <a:pt x="60" y="200"/>
                        </a:lnTo>
                        <a:lnTo>
                          <a:pt x="58" y="204"/>
                        </a:lnTo>
                        <a:lnTo>
                          <a:pt x="58" y="204"/>
                        </a:lnTo>
                        <a:close/>
                      </a:path>
                    </a:pathLst>
                  </a:cu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grpSp>
            <p:sp>
              <p:nvSpPr>
                <p:cNvPr id="685" name="Freeform 10">
                  <a:extLst>
                    <a:ext uri="{FF2B5EF4-FFF2-40B4-BE49-F238E27FC236}">
                      <a16:creationId xmlns:a16="http://schemas.microsoft.com/office/drawing/2014/main" id="{B4E3F8ED-A03B-44E2-9A9D-8DE7C6688F77}"/>
                    </a:ext>
                  </a:extLst>
                </p:cNvPr>
                <p:cNvSpPr>
                  <a:spLocks/>
                </p:cNvSpPr>
                <p:nvPr/>
              </p:nvSpPr>
              <p:spPr bwMode="auto">
                <a:xfrm>
                  <a:off x="6106478" y="6081586"/>
                  <a:ext cx="332058" cy="219315"/>
                </a:xfrm>
                <a:custGeom>
                  <a:avLst/>
                  <a:gdLst>
                    <a:gd name="T0" fmla="*/ 1923 w 1930"/>
                    <a:gd name="T1" fmla="*/ 484 h 1083"/>
                    <a:gd name="T2" fmla="*/ 1898 w 1930"/>
                    <a:gd name="T3" fmla="*/ 403 h 1083"/>
                    <a:gd name="T4" fmla="*/ 1852 w 1930"/>
                    <a:gd name="T5" fmla="*/ 327 h 1083"/>
                    <a:gd name="T6" fmla="*/ 1787 w 1930"/>
                    <a:gd name="T7" fmla="*/ 257 h 1083"/>
                    <a:gd name="T8" fmla="*/ 1706 w 1930"/>
                    <a:gd name="T9" fmla="*/ 193 h 1083"/>
                    <a:gd name="T10" fmla="*/ 1610 w 1930"/>
                    <a:gd name="T11" fmla="*/ 137 h 1083"/>
                    <a:gd name="T12" fmla="*/ 1500 w 1930"/>
                    <a:gd name="T13" fmla="*/ 89 h 1083"/>
                    <a:gd name="T14" fmla="*/ 1379 w 1930"/>
                    <a:gd name="T15" fmla="*/ 51 h 1083"/>
                    <a:gd name="T16" fmla="*/ 1248 w 1930"/>
                    <a:gd name="T17" fmla="*/ 23 h 1083"/>
                    <a:gd name="T18" fmla="*/ 1109 w 1930"/>
                    <a:gd name="T19" fmla="*/ 5 h 1083"/>
                    <a:gd name="T20" fmla="*/ 963 w 1930"/>
                    <a:gd name="T21" fmla="*/ 0 h 1083"/>
                    <a:gd name="T22" fmla="*/ 864 w 1930"/>
                    <a:gd name="T23" fmla="*/ 2 h 1083"/>
                    <a:gd name="T24" fmla="*/ 721 w 1930"/>
                    <a:gd name="T25" fmla="*/ 17 h 1083"/>
                    <a:gd name="T26" fmla="*/ 586 w 1930"/>
                    <a:gd name="T27" fmla="*/ 44 h 1083"/>
                    <a:gd name="T28" fmla="*/ 461 w 1930"/>
                    <a:gd name="T29" fmla="*/ 81 h 1083"/>
                    <a:gd name="T30" fmla="*/ 348 w 1930"/>
                    <a:gd name="T31" fmla="*/ 126 h 1083"/>
                    <a:gd name="T32" fmla="*/ 247 w 1930"/>
                    <a:gd name="T33" fmla="*/ 180 h 1083"/>
                    <a:gd name="T34" fmla="*/ 162 w 1930"/>
                    <a:gd name="T35" fmla="*/ 242 h 1083"/>
                    <a:gd name="T36" fmla="*/ 93 w 1930"/>
                    <a:gd name="T37" fmla="*/ 310 h 1083"/>
                    <a:gd name="T38" fmla="*/ 41 w 1930"/>
                    <a:gd name="T39" fmla="*/ 383 h 1083"/>
                    <a:gd name="T40" fmla="*/ 10 w 1930"/>
                    <a:gd name="T41" fmla="*/ 462 h 1083"/>
                    <a:gd name="T42" fmla="*/ 0 w 1930"/>
                    <a:gd name="T43" fmla="*/ 544 h 1083"/>
                    <a:gd name="T44" fmla="*/ 5 w 1930"/>
                    <a:gd name="T45" fmla="*/ 599 h 1083"/>
                    <a:gd name="T46" fmla="*/ 30 w 1930"/>
                    <a:gd name="T47" fmla="*/ 680 h 1083"/>
                    <a:gd name="T48" fmla="*/ 77 w 1930"/>
                    <a:gd name="T49" fmla="*/ 756 h 1083"/>
                    <a:gd name="T50" fmla="*/ 141 w 1930"/>
                    <a:gd name="T51" fmla="*/ 826 h 1083"/>
                    <a:gd name="T52" fmla="*/ 222 w 1930"/>
                    <a:gd name="T53" fmla="*/ 890 h 1083"/>
                    <a:gd name="T54" fmla="*/ 319 w 1930"/>
                    <a:gd name="T55" fmla="*/ 946 h 1083"/>
                    <a:gd name="T56" fmla="*/ 428 w 1930"/>
                    <a:gd name="T57" fmla="*/ 994 h 1083"/>
                    <a:gd name="T58" fmla="*/ 549 w 1930"/>
                    <a:gd name="T59" fmla="*/ 1032 h 1083"/>
                    <a:gd name="T60" fmla="*/ 680 w 1930"/>
                    <a:gd name="T61" fmla="*/ 1060 h 1083"/>
                    <a:gd name="T62" fmla="*/ 820 w 1930"/>
                    <a:gd name="T63" fmla="*/ 1078 h 1083"/>
                    <a:gd name="T64" fmla="*/ 965 w 1930"/>
                    <a:gd name="T65" fmla="*/ 1083 h 1083"/>
                    <a:gd name="T66" fmla="*/ 1064 w 1930"/>
                    <a:gd name="T67" fmla="*/ 1081 h 1083"/>
                    <a:gd name="T68" fmla="*/ 1207 w 1930"/>
                    <a:gd name="T69" fmla="*/ 1066 h 1083"/>
                    <a:gd name="T70" fmla="*/ 1342 w 1930"/>
                    <a:gd name="T71" fmla="*/ 1039 h 1083"/>
                    <a:gd name="T72" fmla="*/ 1467 w 1930"/>
                    <a:gd name="T73" fmla="*/ 1004 h 1083"/>
                    <a:gd name="T74" fmla="*/ 1581 w 1930"/>
                    <a:gd name="T75" fmla="*/ 957 h 1083"/>
                    <a:gd name="T76" fmla="*/ 1681 w 1930"/>
                    <a:gd name="T77" fmla="*/ 903 h 1083"/>
                    <a:gd name="T78" fmla="*/ 1767 w 1930"/>
                    <a:gd name="T79" fmla="*/ 842 h 1083"/>
                    <a:gd name="T80" fmla="*/ 1835 w 1930"/>
                    <a:gd name="T81" fmla="*/ 773 h 1083"/>
                    <a:gd name="T82" fmla="*/ 1887 w 1930"/>
                    <a:gd name="T83" fmla="*/ 700 h 1083"/>
                    <a:gd name="T84" fmla="*/ 1919 w 1930"/>
                    <a:gd name="T85" fmla="*/ 621 h 1083"/>
                    <a:gd name="T86" fmla="*/ 1930 w 1930"/>
                    <a:gd name="T87" fmla="*/ 539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083">
                      <a:moveTo>
                        <a:pt x="1928" y="511"/>
                      </a:moveTo>
                      <a:lnTo>
                        <a:pt x="1928" y="511"/>
                      </a:lnTo>
                      <a:lnTo>
                        <a:pt x="1923" y="484"/>
                      </a:lnTo>
                      <a:lnTo>
                        <a:pt x="1917" y="456"/>
                      </a:lnTo>
                      <a:lnTo>
                        <a:pt x="1909" y="429"/>
                      </a:lnTo>
                      <a:lnTo>
                        <a:pt x="1898" y="403"/>
                      </a:lnTo>
                      <a:lnTo>
                        <a:pt x="1885" y="377"/>
                      </a:lnTo>
                      <a:lnTo>
                        <a:pt x="1870" y="351"/>
                      </a:lnTo>
                      <a:lnTo>
                        <a:pt x="1852" y="327"/>
                      </a:lnTo>
                      <a:lnTo>
                        <a:pt x="1833" y="304"/>
                      </a:lnTo>
                      <a:lnTo>
                        <a:pt x="1811" y="279"/>
                      </a:lnTo>
                      <a:lnTo>
                        <a:pt x="1787" y="257"/>
                      </a:lnTo>
                      <a:lnTo>
                        <a:pt x="1762" y="235"/>
                      </a:lnTo>
                      <a:lnTo>
                        <a:pt x="1735" y="214"/>
                      </a:lnTo>
                      <a:lnTo>
                        <a:pt x="1706" y="193"/>
                      </a:lnTo>
                      <a:lnTo>
                        <a:pt x="1676" y="174"/>
                      </a:lnTo>
                      <a:lnTo>
                        <a:pt x="1644" y="155"/>
                      </a:lnTo>
                      <a:lnTo>
                        <a:pt x="1610" y="137"/>
                      </a:lnTo>
                      <a:lnTo>
                        <a:pt x="1575" y="121"/>
                      </a:lnTo>
                      <a:lnTo>
                        <a:pt x="1538" y="105"/>
                      </a:lnTo>
                      <a:lnTo>
                        <a:pt x="1500" y="89"/>
                      </a:lnTo>
                      <a:lnTo>
                        <a:pt x="1461" y="76"/>
                      </a:lnTo>
                      <a:lnTo>
                        <a:pt x="1421" y="63"/>
                      </a:lnTo>
                      <a:lnTo>
                        <a:pt x="1379" y="51"/>
                      </a:lnTo>
                      <a:lnTo>
                        <a:pt x="1336" y="40"/>
                      </a:lnTo>
                      <a:lnTo>
                        <a:pt x="1293" y="31"/>
                      </a:lnTo>
                      <a:lnTo>
                        <a:pt x="1248" y="23"/>
                      </a:lnTo>
                      <a:lnTo>
                        <a:pt x="1203" y="16"/>
                      </a:lnTo>
                      <a:lnTo>
                        <a:pt x="1156" y="9"/>
                      </a:lnTo>
                      <a:lnTo>
                        <a:pt x="1109" y="5"/>
                      </a:lnTo>
                      <a:lnTo>
                        <a:pt x="1062" y="2"/>
                      </a:lnTo>
                      <a:lnTo>
                        <a:pt x="1013" y="0"/>
                      </a:lnTo>
                      <a:lnTo>
                        <a:pt x="963" y="0"/>
                      </a:lnTo>
                      <a:lnTo>
                        <a:pt x="914" y="0"/>
                      </a:lnTo>
                      <a:lnTo>
                        <a:pt x="914" y="0"/>
                      </a:lnTo>
                      <a:lnTo>
                        <a:pt x="864" y="2"/>
                      </a:lnTo>
                      <a:lnTo>
                        <a:pt x="816" y="6"/>
                      </a:lnTo>
                      <a:lnTo>
                        <a:pt x="767" y="11"/>
                      </a:lnTo>
                      <a:lnTo>
                        <a:pt x="721" y="17"/>
                      </a:lnTo>
                      <a:lnTo>
                        <a:pt x="675" y="25"/>
                      </a:lnTo>
                      <a:lnTo>
                        <a:pt x="630" y="34"/>
                      </a:lnTo>
                      <a:lnTo>
                        <a:pt x="586" y="44"/>
                      </a:lnTo>
                      <a:lnTo>
                        <a:pt x="543" y="55"/>
                      </a:lnTo>
                      <a:lnTo>
                        <a:pt x="501" y="67"/>
                      </a:lnTo>
                      <a:lnTo>
                        <a:pt x="461" y="81"/>
                      </a:lnTo>
                      <a:lnTo>
                        <a:pt x="422" y="94"/>
                      </a:lnTo>
                      <a:lnTo>
                        <a:pt x="384" y="110"/>
                      </a:lnTo>
                      <a:lnTo>
                        <a:pt x="348" y="126"/>
                      </a:lnTo>
                      <a:lnTo>
                        <a:pt x="312" y="143"/>
                      </a:lnTo>
                      <a:lnTo>
                        <a:pt x="279" y="161"/>
                      </a:lnTo>
                      <a:lnTo>
                        <a:pt x="247" y="180"/>
                      </a:lnTo>
                      <a:lnTo>
                        <a:pt x="217" y="199"/>
                      </a:lnTo>
                      <a:lnTo>
                        <a:pt x="189" y="220"/>
                      </a:lnTo>
                      <a:lnTo>
                        <a:pt x="162" y="242"/>
                      </a:lnTo>
                      <a:lnTo>
                        <a:pt x="137" y="264"/>
                      </a:lnTo>
                      <a:lnTo>
                        <a:pt x="114" y="286"/>
                      </a:lnTo>
                      <a:lnTo>
                        <a:pt x="93" y="310"/>
                      </a:lnTo>
                      <a:lnTo>
                        <a:pt x="73" y="334"/>
                      </a:lnTo>
                      <a:lnTo>
                        <a:pt x="57" y="359"/>
                      </a:lnTo>
                      <a:lnTo>
                        <a:pt x="41" y="383"/>
                      </a:lnTo>
                      <a:lnTo>
                        <a:pt x="29" y="409"/>
                      </a:lnTo>
                      <a:lnTo>
                        <a:pt x="18" y="435"/>
                      </a:lnTo>
                      <a:lnTo>
                        <a:pt x="10" y="462"/>
                      </a:lnTo>
                      <a:lnTo>
                        <a:pt x="5" y="489"/>
                      </a:lnTo>
                      <a:lnTo>
                        <a:pt x="1" y="516"/>
                      </a:lnTo>
                      <a:lnTo>
                        <a:pt x="0" y="544"/>
                      </a:lnTo>
                      <a:lnTo>
                        <a:pt x="1" y="572"/>
                      </a:lnTo>
                      <a:lnTo>
                        <a:pt x="1" y="572"/>
                      </a:lnTo>
                      <a:lnTo>
                        <a:pt x="5" y="599"/>
                      </a:lnTo>
                      <a:lnTo>
                        <a:pt x="11" y="627"/>
                      </a:lnTo>
                      <a:lnTo>
                        <a:pt x="19" y="654"/>
                      </a:lnTo>
                      <a:lnTo>
                        <a:pt x="30" y="680"/>
                      </a:lnTo>
                      <a:lnTo>
                        <a:pt x="44" y="706"/>
                      </a:lnTo>
                      <a:lnTo>
                        <a:pt x="59" y="732"/>
                      </a:lnTo>
                      <a:lnTo>
                        <a:pt x="77" y="756"/>
                      </a:lnTo>
                      <a:lnTo>
                        <a:pt x="97" y="781"/>
                      </a:lnTo>
                      <a:lnTo>
                        <a:pt x="117" y="804"/>
                      </a:lnTo>
                      <a:lnTo>
                        <a:pt x="141" y="826"/>
                      </a:lnTo>
                      <a:lnTo>
                        <a:pt x="167" y="848"/>
                      </a:lnTo>
                      <a:lnTo>
                        <a:pt x="194" y="869"/>
                      </a:lnTo>
                      <a:lnTo>
                        <a:pt x="222" y="890"/>
                      </a:lnTo>
                      <a:lnTo>
                        <a:pt x="252" y="909"/>
                      </a:lnTo>
                      <a:lnTo>
                        <a:pt x="285" y="928"/>
                      </a:lnTo>
                      <a:lnTo>
                        <a:pt x="319" y="946"/>
                      </a:lnTo>
                      <a:lnTo>
                        <a:pt x="354" y="963"/>
                      </a:lnTo>
                      <a:lnTo>
                        <a:pt x="390" y="979"/>
                      </a:lnTo>
                      <a:lnTo>
                        <a:pt x="428" y="994"/>
                      </a:lnTo>
                      <a:lnTo>
                        <a:pt x="467" y="1007"/>
                      </a:lnTo>
                      <a:lnTo>
                        <a:pt x="507" y="1021"/>
                      </a:lnTo>
                      <a:lnTo>
                        <a:pt x="549" y="1032"/>
                      </a:lnTo>
                      <a:lnTo>
                        <a:pt x="592" y="1043"/>
                      </a:lnTo>
                      <a:lnTo>
                        <a:pt x="636" y="1053"/>
                      </a:lnTo>
                      <a:lnTo>
                        <a:pt x="680" y="1060"/>
                      </a:lnTo>
                      <a:lnTo>
                        <a:pt x="726" y="1067"/>
                      </a:lnTo>
                      <a:lnTo>
                        <a:pt x="772" y="1074"/>
                      </a:lnTo>
                      <a:lnTo>
                        <a:pt x="820" y="1078"/>
                      </a:lnTo>
                      <a:lnTo>
                        <a:pt x="868" y="1081"/>
                      </a:lnTo>
                      <a:lnTo>
                        <a:pt x="916" y="1083"/>
                      </a:lnTo>
                      <a:lnTo>
                        <a:pt x="965" y="1083"/>
                      </a:lnTo>
                      <a:lnTo>
                        <a:pt x="1015" y="1083"/>
                      </a:lnTo>
                      <a:lnTo>
                        <a:pt x="1015" y="1083"/>
                      </a:lnTo>
                      <a:lnTo>
                        <a:pt x="1064" y="1081"/>
                      </a:lnTo>
                      <a:lnTo>
                        <a:pt x="1113" y="1077"/>
                      </a:lnTo>
                      <a:lnTo>
                        <a:pt x="1161" y="1072"/>
                      </a:lnTo>
                      <a:lnTo>
                        <a:pt x="1207" y="1066"/>
                      </a:lnTo>
                      <a:lnTo>
                        <a:pt x="1254" y="1059"/>
                      </a:lnTo>
                      <a:lnTo>
                        <a:pt x="1298" y="1049"/>
                      </a:lnTo>
                      <a:lnTo>
                        <a:pt x="1342" y="1039"/>
                      </a:lnTo>
                      <a:lnTo>
                        <a:pt x="1385" y="1028"/>
                      </a:lnTo>
                      <a:lnTo>
                        <a:pt x="1427" y="1016"/>
                      </a:lnTo>
                      <a:lnTo>
                        <a:pt x="1467" y="1004"/>
                      </a:lnTo>
                      <a:lnTo>
                        <a:pt x="1507" y="989"/>
                      </a:lnTo>
                      <a:lnTo>
                        <a:pt x="1545" y="973"/>
                      </a:lnTo>
                      <a:lnTo>
                        <a:pt x="1581" y="957"/>
                      </a:lnTo>
                      <a:lnTo>
                        <a:pt x="1616" y="940"/>
                      </a:lnTo>
                      <a:lnTo>
                        <a:pt x="1649" y="922"/>
                      </a:lnTo>
                      <a:lnTo>
                        <a:pt x="1681" y="903"/>
                      </a:lnTo>
                      <a:lnTo>
                        <a:pt x="1711" y="884"/>
                      </a:lnTo>
                      <a:lnTo>
                        <a:pt x="1740" y="863"/>
                      </a:lnTo>
                      <a:lnTo>
                        <a:pt x="1767" y="842"/>
                      </a:lnTo>
                      <a:lnTo>
                        <a:pt x="1791" y="820"/>
                      </a:lnTo>
                      <a:lnTo>
                        <a:pt x="1814" y="797"/>
                      </a:lnTo>
                      <a:lnTo>
                        <a:pt x="1835" y="773"/>
                      </a:lnTo>
                      <a:lnTo>
                        <a:pt x="1855" y="749"/>
                      </a:lnTo>
                      <a:lnTo>
                        <a:pt x="1872" y="724"/>
                      </a:lnTo>
                      <a:lnTo>
                        <a:pt x="1887" y="700"/>
                      </a:lnTo>
                      <a:lnTo>
                        <a:pt x="1899" y="674"/>
                      </a:lnTo>
                      <a:lnTo>
                        <a:pt x="1910" y="648"/>
                      </a:lnTo>
                      <a:lnTo>
                        <a:pt x="1919" y="621"/>
                      </a:lnTo>
                      <a:lnTo>
                        <a:pt x="1925" y="594"/>
                      </a:lnTo>
                      <a:lnTo>
                        <a:pt x="1928" y="567"/>
                      </a:lnTo>
                      <a:lnTo>
                        <a:pt x="1930" y="539"/>
                      </a:lnTo>
                      <a:lnTo>
                        <a:pt x="1928" y="511"/>
                      </a:lnTo>
                      <a:lnTo>
                        <a:pt x="1928" y="511"/>
                      </a:lnTo>
                      <a:close/>
                    </a:path>
                  </a:pathLst>
                </a:custGeom>
                <a:solidFill>
                  <a:schemeClr val="accent1"/>
                </a:solidFill>
                <a:ln w="7938">
                  <a:noFill/>
                  <a:prstDash val="solid"/>
                  <a:round/>
                  <a:headEnd/>
                  <a:tailEnd/>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86" name="Freeform 11">
                  <a:extLst>
                    <a:ext uri="{FF2B5EF4-FFF2-40B4-BE49-F238E27FC236}">
                      <a16:creationId xmlns:a16="http://schemas.microsoft.com/office/drawing/2014/main" id="{8D1F86B9-E81E-4E4D-B640-C20FAA72E947}"/>
                    </a:ext>
                  </a:extLst>
                </p:cNvPr>
                <p:cNvSpPr>
                  <a:spLocks/>
                </p:cNvSpPr>
                <p:nvPr/>
              </p:nvSpPr>
              <p:spPr bwMode="auto">
                <a:xfrm>
                  <a:off x="6129533" y="6105865"/>
                  <a:ext cx="291798" cy="176828"/>
                </a:xfrm>
                <a:custGeom>
                  <a:avLst/>
                  <a:gdLst>
                    <a:gd name="T0" fmla="*/ 1 w 1697"/>
                    <a:gd name="T1" fmla="*/ 375 h 874"/>
                    <a:gd name="T2" fmla="*/ 38 w 1697"/>
                    <a:gd name="T3" fmla="*/ 545 h 874"/>
                    <a:gd name="T4" fmla="*/ 152 w 1697"/>
                    <a:gd name="T5" fmla="*/ 684 h 874"/>
                    <a:gd name="T6" fmla="*/ 304 w 1697"/>
                    <a:gd name="T7" fmla="*/ 729 h 874"/>
                    <a:gd name="T8" fmla="*/ 341 w 1697"/>
                    <a:gd name="T9" fmla="*/ 630 h 874"/>
                    <a:gd name="T10" fmla="*/ 305 w 1697"/>
                    <a:gd name="T11" fmla="*/ 285 h 874"/>
                    <a:gd name="T12" fmla="*/ 342 w 1697"/>
                    <a:gd name="T13" fmla="*/ 208 h 874"/>
                    <a:gd name="T14" fmla="*/ 389 w 1697"/>
                    <a:gd name="T15" fmla="*/ 262 h 874"/>
                    <a:gd name="T16" fmla="*/ 439 w 1697"/>
                    <a:gd name="T17" fmla="*/ 625 h 874"/>
                    <a:gd name="T18" fmla="*/ 498 w 1697"/>
                    <a:gd name="T19" fmla="*/ 808 h 874"/>
                    <a:gd name="T20" fmla="*/ 602 w 1697"/>
                    <a:gd name="T21" fmla="*/ 870 h 874"/>
                    <a:gd name="T22" fmla="*/ 801 w 1697"/>
                    <a:gd name="T23" fmla="*/ 860 h 874"/>
                    <a:gd name="T24" fmla="*/ 782 w 1697"/>
                    <a:gd name="T25" fmla="*/ 379 h 874"/>
                    <a:gd name="T26" fmla="*/ 770 w 1697"/>
                    <a:gd name="T27" fmla="*/ 207 h 874"/>
                    <a:gd name="T28" fmla="*/ 806 w 1697"/>
                    <a:gd name="T29" fmla="*/ 184 h 874"/>
                    <a:gd name="T30" fmla="*/ 862 w 1697"/>
                    <a:gd name="T31" fmla="*/ 321 h 874"/>
                    <a:gd name="T32" fmla="*/ 894 w 1697"/>
                    <a:gd name="T33" fmla="*/ 692 h 874"/>
                    <a:gd name="T34" fmla="*/ 948 w 1697"/>
                    <a:gd name="T35" fmla="*/ 841 h 874"/>
                    <a:gd name="T36" fmla="*/ 1042 w 1697"/>
                    <a:gd name="T37" fmla="*/ 862 h 874"/>
                    <a:gd name="T38" fmla="*/ 1292 w 1697"/>
                    <a:gd name="T39" fmla="*/ 786 h 874"/>
                    <a:gd name="T40" fmla="*/ 1237 w 1697"/>
                    <a:gd name="T41" fmla="*/ 627 h 874"/>
                    <a:gd name="T42" fmla="*/ 1201 w 1697"/>
                    <a:gd name="T43" fmla="*/ 342 h 874"/>
                    <a:gd name="T44" fmla="*/ 1219 w 1697"/>
                    <a:gd name="T45" fmla="*/ 195 h 874"/>
                    <a:gd name="T46" fmla="*/ 1274 w 1697"/>
                    <a:gd name="T47" fmla="*/ 238 h 874"/>
                    <a:gd name="T48" fmla="*/ 1311 w 1697"/>
                    <a:gd name="T49" fmla="*/ 392 h 874"/>
                    <a:gd name="T50" fmla="*/ 1339 w 1697"/>
                    <a:gd name="T51" fmla="*/ 662 h 874"/>
                    <a:gd name="T52" fmla="*/ 1392 w 1697"/>
                    <a:gd name="T53" fmla="*/ 715 h 874"/>
                    <a:gd name="T54" fmla="*/ 1523 w 1697"/>
                    <a:gd name="T55" fmla="*/ 673 h 874"/>
                    <a:gd name="T56" fmla="*/ 1666 w 1697"/>
                    <a:gd name="T57" fmla="*/ 533 h 874"/>
                    <a:gd name="T58" fmla="*/ 1695 w 1697"/>
                    <a:gd name="T59" fmla="*/ 387 h 874"/>
                    <a:gd name="T60" fmla="*/ 1605 w 1697"/>
                    <a:gd name="T61" fmla="*/ 168 h 874"/>
                    <a:gd name="T62" fmla="*/ 1480 w 1697"/>
                    <a:gd name="T63" fmla="*/ 71 h 874"/>
                    <a:gd name="T64" fmla="*/ 1436 w 1697"/>
                    <a:gd name="T65" fmla="*/ 87 h 874"/>
                    <a:gd name="T66" fmla="*/ 1462 w 1697"/>
                    <a:gd name="T67" fmla="*/ 371 h 874"/>
                    <a:gd name="T68" fmla="*/ 1441 w 1697"/>
                    <a:gd name="T69" fmla="*/ 472 h 874"/>
                    <a:gd name="T70" fmla="*/ 1392 w 1697"/>
                    <a:gd name="T71" fmla="*/ 415 h 874"/>
                    <a:gd name="T72" fmla="*/ 1359 w 1697"/>
                    <a:gd name="T73" fmla="*/ 148 h 874"/>
                    <a:gd name="T74" fmla="*/ 1326 w 1697"/>
                    <a:gd name="T75" fmla="*/ 54 h 874"/>
                    <a:gd name="T76" fmla="*/ 1102 w 1697"/>
                    <a:gd name="T77" fmla="*/ 7 h 874"/>
                    <a:gd name="T78" fmla="*/ 1062 w 1697"/>
                    <a:gd name="T79" fmla="*/ 73 h 874"/>
                    <a:gd name="T80" fmla="*/ 1080 w 1697"/>
                    <a:gd name="T81" fmla="*/ 439 h 874"/>
                    <a:gd name="T82" fmla="*/ 1040 w 1697"/>
                    <a:gd name="T83" fmla="*/ 467 h 874"/>
                    <a:gd name="T84" fmla="*/ 987 w 1697"/>
                    <a:gd name="T85" fmla="*/ 364 h 874"/>
                    <a:gd name="T86" fmla="*/ 965 w 1697"/>
                    <a:gd name="T87" fmla="*/ 99 h 874"/>
                    <a:gd name="T88" fmla="*/ 920 w 1697"/>
                    <a:gd name="T89" fmla="*/ 5 h 874"/>
                    <a:gd name="T90" fmla="*/ 638 w 1697"/>
                    <a:gd name="T91" fmla="*/ 7 h 874"/>
                    <a:gd name="T92" fmla="*/ 601 w 1697"/>
                    <a:gd name="T93" fmla="*/ 67 h 874"/>
                    <a:gd name="T94" fmla="*/ 618 w 1697"/>
                    <a:gd name="T95" fmla="*/ 423 h 874"/>
                    <a:gd name="T96" fmla="*/ 587 w 1697"/>
                    <a:gd name="T97" fmla="*/ 471 h 874"/>
                    <a:gd name="T98" fmla="*/ 540 w 1697"/>
                    <a:gd name="T99" fmla="*/ 332 h 874"/>
                    <a:gd name="T100" fmla="*/ 497 w 1697"/>
                    <a:gd name="T101" fmla="*/ 54 h 874"/>
                    <a:gd name="T102" fmla="*/ 350 w 1697"/>
                    <a:gd name="T103" fmla="*/ 52 h 874"/>
                    <a:gd name="T104" fmla="*/ 178 w 1697"/>
                    <a:gd name="T105" fmla="*/ 117 h 874"/>
                    <a:gd name="T106" fmla="*/ 167 w 1697"/>
                    <a:gd name="T107" fmla="*/ 255 h 874"/>
                    <a:gd name="T108" fmla="*/ 158 w 1697"/>
                    <a:gd name="T109" fmla="*/ 409 h 874"/>
                    <a:gd name="T110" fmla="*/ 114 w 1697"/>
                    <a:gd name="T111" fmla="*/ 377 h 874"/>
                    <a:gd name="T112" fmla="*/ 73 w 1697"/>
                    <a:gd name="T113" fmla="*/ 197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97" h="874">
                      <a:moveTo>
                        <a:pt x="58" y="204"/>
                      </a:moveTo>
                      <a:lnTo>
                        <a:pt x="58" y="204"/>
                      </a:lnTo>
                      <a:lnTo>
                        <a:pt x="42" y="236"/>
                      </a:lnTo>
                      <a:lnTo>
                        <a:pt x="30" y="265"/>
                      </a:lnTo>
                      <a:lnTo>
                        <a:pt x="19" y="298"/>
                      </a:lnTo>
                      <a:lnTo>
                        <a:pt x="12" y="316"/>
                      </a:lnTo>
                      <a:lnTo>
                        <a:pt x="8" y="334"/>
                      </a:lnTo>
                      <a:lnTo>
                        <a:pt x="4" y="354"/>
                      </a:lnTo>
                      <a:lnTo>
                        <a:pt x="1" y="375"/>
                      </a:lnTo>
                      <a:lnTo>
                        <a:pt x="0" y="396"/>
                      </a:lnTo>
                      <a:lnTo>
                        <a:pt x="0" y="415"/>
                      </a:lnTo>
                      <a:lnTo>
                        <a:pt x="3" y="436"/>
                      </a:lnTo>
                      <a:lnTo>
                        <a:pt x="6" y="457"/>
                      </a:lnTo>
                      <a:lnTo>
                        <a:pt x="6" y="457"/>
                      </a:lnTo>
                      <a:lnTo>
                        <a:pt x="12" y="477"/>
                      </a:lnTo>
                      <a:lnTo>
                        <a:pt x="20" y="499"/>
                      </a:lnTo>
                      <a:lnTo>
                        <a:pt x="28" y="522"/>
                      </a:lnTo>
                      <a:lnTo>
                        <a:pt x="38" y="545"/>
                      </a:lnTo>
                      <a:lnTo>
                        <a:pt x="49" y="569"/>
                      </a:lnTo>
                      <a:lnTo>
                        <a:pt x="63" y="592"/>
                      </a:lnTo>
                      <a:lnTo>
                        <a:pt x="79" y="614"/>
                      </a:lnTo>
                      <a:lnTo>
                        <a:pt x="97" y="636"/>
                      </a:lnTo>
                      <a:lnTo>
                        <a:pt x="107" y="646"/>
                      </a:lnTo>
                      <a:lnTo>
                        <a:pt x="117" y="657"/>
                      </a:lnTo>
                      <a:lnTo>
                        <a:pt x="128" y="665"/>
                      </a:lnTo>
                      <a:lnTo>
                        <a:pt x="140" y="675"/>
                      </a:lnTo>
                      <a:lnTo>
                        <a:pt x="152" y="684"/>
                      </a:lnTo>
                      <a:lnTo>
                        <a:pt x="166" y="691"/>
                      </a:lnTo>
                      <a:lnTo>
                        <a:pt x="180" y="699"/>
                      </a:lnTo>
                      <a:lnTo>
                        <a:pt x="195" y="706"/>
                      </a:lnTo>
                      <a:lnTo>
                        <a:pt x="211" y="712"/>
                      </a:lnTo>
                      <a:lnTo>
                        <a:pt x="228" y="717"/>
                      </a:lnTo>
                      <a:lnTo>
                        <a:pt x="245" y="722"/>
                      </a:lnTo>
                      <a:lnTo>
                        <a:pt x="264" y="726"/>
                      </a:lnTo>
                      <a:lnTo>
                        <a:pt x="283" y="728"/>
                      </a:lnTo>
                      <a:lnTo>
                        <a:pt x="304" y="729"/>
                      </a:lnTo>
                      <a:lnTo>
                        <a:pt x="325" y="730"/>
                      </a:lnTo>
                      <a:lnTo>
                        <a:pt x="348" y="730"/>
                      </a:lnTo>
                      <a:lnTo>
                        <a:pt x="348" y="730"/>
                      </a:lnTo>
                      <a:lnTo>
                        <a:pt x="348" y="729"/>
                      </a:lnTo>
                      <a:lnTo>
                        <a:pt x="350" y="728"/>
                      </a:lnTo>
                      <a:lnTo>
                        <a:pt x="351" y="722"/>
                      </a:lnTo>
                      <a:lnTo>
                        <a:pt x="350" y="700"/>
                      </a:lnTo>
                      <a:lnTo>
                        <a:pt x="346" y="668"/>
                      </a:lnTo>
                      <a:lnTo>
                        <a:pt x="341" y="630"/>
                      </a:lnTo>
                      <a:lnTo>
                        <a:pt x="328" y="550"/>
                      </a:lnTo>
                      <a:lnTo>
                        <a:pt x="318" y="493"/>
                      </a:lnTo>
                      <a:lnTo>
                        <a:pt x="318" y="493"/>
                      </a:lnTo>
                      <a:lnTo>
                        <a:pt x="314" y="467"/>
                      </a:lnTo>
                      <a:lnTo>
                        <a:pt x="309" y="428"/>
                      </a:lnTo>
                      <a:lnTo>
                        <a:pt x="305" y="381"/>
                      </a:lnTo>
                      <a:lnTo>
                        <a:pt x="304" y="332"/>
                      </a:lnTo>
                      <a:lnTo>
                        <a:pt x="304" y="309"/>
                      </a:lnTo>
                      <a:lnTo>
                        <a:pt x="305" y="285"/>
                      </a:lnTo>
                      <a:lnTo>
                        <a:pt x="308" y="265"/>
                      </a:lnTo>
                      <a:lnTo>
                        <a:pt x="312" y="246"/>
                      </a:lnTo>
                      <a:lnTo>
                        <a:pt x="317" y="230"/>
                      </a:lnTo>
                      <a:lnTo>
                        <a:pt x="319" y="224"/>
                      </a:lnTo>
                      <a:lnTo>
                        <a:pt x="323" y="218"/>
                      </a:lnTo>
                      <a:lnTo>
                        <a:pt x="328" y="214"/>
                      </a:lnTo>
                      <a:lnTo>
                        <a:pt x="331" y="211"/>
                      </a:lnTo>
                      <a:lnTo>
                        <a:pt x="337" y="208"/>
                      </a:lnTo>
                      <a:lnTo>
                        <a:pt x="342" y="208"/>
                      </a:lnTo>
                      <a:lnTo>
                        <a:pt x="342" y="208"/>
                      </a:lnTo>
                      <a:lnTo>
                        <a:pt x="348" y="208"/>
                      </a:lnTo>
                      <a:lnTo>
                        <a:pt x="353" y="209"/>
                      </a:lnTo>
                      <a:lnTo>
                        <a:pt x="358" y="213"/>
                      </a:lnTo>
                      <a:lnTo>
                        <a:pt x="363" y="217"/>
                      </a:lnTo>
                      <a:lnTo>
                        <a:pt x="368" y="222"/>
                      </a:lnTo>
                      <a:lnTo>
                        <a:pt x="373" y="228"/>
                      </a:lnTo>
                      <a:lnTo>
                        <a:pt x="382" y="244"/>
                      </a:lnTo>
                      <a:lnTo>
                        <a:pt x="389" y="262"/>
                      </a:lnTo>
                      <a:lnTo>
                        <a:pt x="395" y="283"/>
                      </a:lnTo>
                      <a:lnTo>
                        <a:pt x="401" y="306"/>
                      </a:lnTo>
                      <a:lnTo>
                        <a:pt x="406" y="332"/>
                      </a:lnTo>
                      <a:lnTo>
                        <a:pt x="415" y="385"/>
                      </a:lnTo>
                      <a:lnTo>
                        <a:pt x="422" y="439"/>
                      </a:lnTo>
                      <a:lnTo>
                        <a:pt x="431" y="532"/>
                      </a:lnTo>
                      <a:lnTo>
                        <a:pt x="431" y="532"/>
                      </a:lnTo>
                      <a:lnTo>
                        <a:pt x="434" y="575"/>
                      </a:lnTo>
                      <a:lnTo>
                        <a:pt x="439" y="625"/>
                      </a:lnTo>
                      <a:lnTo>
                        <a:pt x="443" y="652"/>
                      </a:lnTo>
                      <a:lnTo>
                        <a:pt x="448" y="680"/>
                      </a:lnTo>
                      <a:lnTo>
                        <a:pt x="454" y="708"/>
                      </a:lnTo>
                      <a:lnTo>
                        <a:pt x="462" y="735"/>
                      </a:lnTo>
                      <a:lnTo>
                        <a:pt x="472" y="761"/>
                      </a:lnTo>
                      <a:lnTo>
                        <a:pt x="477" y="773"/>
                      </a:lnTo>
                      <a:lnTo>
                        <a:pt x="485" y="786"/>
                      </a:lnTo>
                      <a:lnTo>
                        <a:pt x="491" y="798"/>
                      </a:lnTo>
                      <a:lnTo>
                        <a:pt x="498" y="808"/>
                      </a:lnTo>
                      <a:lnTo>
                        <a:pt x="507" y="819"/>
                      </a:lnTo>
                      <a:lnTo>
                        <a:pt x="516" y="829"/>
                      </a:lnTo>
                      <a:lnTo>
                        <a:pt x="526" y="837"/>
                      </a:lnTo>
                      <a:lnTo>
                        <a:pt x="536" y="844"/>
                      </a:lnTo>
                      <a:lnTo>
                        <a:pt x="548" y="852"/>
                      </a:lnTo>
                      <a:lnTo>
                        <a:pt x="561" y="858"/>
                      </a:lnTo>
                      <a:lnTo>
                        <a:pt x="573" y="863"/>
                      </a:lnTo>
                      <a:lnTo>
                        <a:pt x="587" y="867"/>
                      </a:lnTo>
                      <a:lnTo>
                        <a:pt x="602" y="870"/>
                      </a:lnTo>
                      <a:lnTo>
                        <a:pt x="618" y="871"/>
                      </a:lnTo>
                      <a:lnTo>
                        <a:pt x="618" y="871"/>
                      </a:lnTo>
                      <a:lnTo>
                        <a:pt x="678" y="874"/>
                      </a:lnTo>
                      <a:lnTo>
                        <a:pt x="726" y="873"/>
                      </a:lnTo>
                      <a:lnTo>
                        <a:pt x="746" y="873"/>
                      </a:lnTo>
                      <a:lnTo>
                        <a:pt x="763" y="870"/>
                      </a:lnTo>
                      <a:lnTo>
                        <a:pt x="778" y="868"/>
                      </a:lnTo>
                      <a:lnTo>
                        <a:pt x="791" y="864"/>
                      </a:lnTo>
                      <a:lnTo>
                        <a:pt x="801" y="860"/>
                      </a:lnTo>
                      <a:lnTo>
                        <a:pt x="809" y="857"/>
                      </a:lnTo>
                      <a:lnTo>
                        <a:pt x="817" y="852"/>
                      </a:lnTo>
                      <a:lnTo>
                        <a:pt x="822" y="846"/>
                      </a:lnTo>
                      <a:lnTo>
                        <a:pt x="825" y="840"/>
                      </a:lnTo>
                      <a:lnTo>
                        <a:pt x="827" y="833"/>
                      </a:lnTo>
                      <a:lnTo>
                        <a:pt x="828" y="826"/>
                      </a:lnTo>
                      <a:lnTo>
                        <a:pt x="828" y="819"/>
                      </a:lnTo>
                      <a:lnTo>
                        <a:pt x="828" y="819"/>
                      </a:lnTo>
                      <a:lnTo>
                        <a:pt x="782" y="379"/>
                      </a:lnTo>
                      <a:lnTo>
                        <a:pt x="782" y="379"/>
                      </a:lnTo>
                      <a:lnTo>
                        <a:pt x="780" y="358"/>
                      </a:lnTo>
                      <a:lnTo>
                        <a:pt x="775" y="330"/>
                      </a:lnTo>
                      <a:lnTo>
                        <a:pt x="770" y="298"/>
                      </a:lnTo>
                      <a:lnTo>
                        <a:pt x="768" y="265"/>
                      </a:lnTo>
                      <a:lnTo>
                        <a:pt x="766" y="249"/>
                      </a:lnTo>
                      <a:lnTo>
                        <a:pt x="766" y="234"/>
                      </a:lnTo>
                      <a:lnTo>
                        <a:pt x="768" y="219"/>
                      </a:lnTo>
                      <a:lnTo>
                        <a:pt x="770" y="207"/>
                      </a:lnTo>
                      <a:lnTo>
                        <a:pt x="774" y="197"/>
                      </a:lnTo>
                      <a:lnTo>
                        <a:pt x="780" y="189"/>
                      </a:lnTo>
                      <a:lnTo>
                        <a:pt x="782" y="186"/>
                      </a:lnTo>
                      <a:lnTo>
                        <a:pt x="786" y="184"/>
                      </a:lnTo>
                      <a:lnTo>
                        <a:pt x="791" y="182"/>
                      </a:lnTo>
                      <a:lnTo>
                        <a:pt x="796" y="182"/>
                      </a:lnTo>
                      <a:lnTo>
                        <a:pt x="796" y="182"/>
                      </a:lnTo>
                      <a:lnTo>
                        <a:pt x="801" y="182"/>
                      </a:lnTo>
                      <a:lnTo>
                        <a:pt x="806" y="184"/>
                      </a:lnTo>
                      <a:lnTo>
                        <a:pt x="811" y="186"/>
                      </a:lnTo>
                      <a:lnTo>
                        <a:pt x="814" y="190"/>
                      </a:lnTo>
                      <a:lnTo>
                        <a:pt x="823" y="200"/>
                      </a:lnTo>
                      <a:lnTo>
                        <a:pt x="831" y="213"/>
                      </a:lnTo>
                      <a:lnTo>
                        <a:pt x="839" y="230"/>
                      </a:lnTo>
                      <a:lnTo>
                        <a:pt x="845" y="250"/>
                      </a:lnTo>
                      <a:lnTo>
                        <a:pt x="852" y="272"/>
                      </a:lnTo>
                      <a:lnTo>
                        <a:pt x="857" y="295"/>
                      </a:lnTo>
                      <a:lnTo>
                        <a:pt x="862" y="321"/>
                      </a:lnTo>
                      <a:lnTo>
                        <a:pt x="867" y="348"/>
                      </a:lnTo>
                      <a:lnTo>
                        <a:pt x="874" y="403"/>
                      </a:lnTo>
                      <a:lnTo>
                        <a:pt x="881" y="460"/>
                      </a:lnTo>
                      <a:lnTo>
                        <a:pt x="885" y="513"/>
                      </a:lnTo>
                      <a:lnTo>
                        <a:pt x="885" y="513"/>
                      </a:lnTo>
                      <a:lnTo>
                        <a:pt x="888" y="570"/>
                      </a:lnTo>
                      <a:lnTo>
                        <a:pt x="889" y="631"/>
                      </a:lnTo>
                      <a:lnTo>
                        <a:pt x="892" y="662"/>
                      </a:lnTo>
                      <a:lnTo>
                        <a:pt x="894" y="692"/>
                      </a:lnTo>
                      <a:lnTo>
                        <a:pt x="898" y="723"/>
                      </a:lnTo>
                      <a:lnTo>
                        <a:pt x="904" y="751"/>
                      </a:lnTo>
                      <a:lnTo>
                        <a:pt x="911" y="778"/>
                      </a:lnTo>
                      <a:lnTo>
                        <a:pt x="916" y="791"/>
                      </a:lnTo>
                      <a:lnTo>
                        <a:pt x="921" y="803"/>
                      </a:lnTo>
                      <a:lnTo>
                        <a:pt x="926" y="813"/>
                      </a:lnTo>
                      <a:lnTo>
                        <a:pt x="933" y="824"/>
                      </a:lnTo>
                      <a:lnTo>
                        <a:pt x="939" y="832"/>
                      </a:lnTo>
                      <a:lnTo>
                        <a:pt x="948" y="841"/>
                      </a:lnTo>
                      <a:lnTo>
                        <a:pt x="957" y="848"/>
                      </a:lnTo>
                      <a:lnTo>
                        <a:pt x="966" y="854"/>
                      </a:lnTo>
                      <a:lnTo>
                        <a:pt x="976" y="858"/>
                      </a:lnTo>
                      <a:lnTo>
                        <a:pt x="987" y="862"/>
                      </a:lnTo>
                      <a:lnTo>
                        <a:pt x="999" y="864"/>
                      </a:lnTo>
                      <a:lnTo>
                        <a:pt x="1013" y="865"/>
                      </a:lnTo>
                      <a:lnTo>
                        <a:pt x="1026" y="864"/>
                      </a:lnTo>
                      <a:lnTo>
                        <a:pt x="1042" y="862"/>
                      </a:lnTo>
                      <a:lnTo>
                        <a:pt x="1042" y="862"/>
                      </a:lnTo>
                      <a:lnTo>
                        <a:pt x="1102" y="849"/>
                      </a:lnTo>
                      <a:lnTo>
                        <a:pt x="1155" y="838"/>
                      </a:lnTo>
                      <a:lnTo>
                        <a:pt x="1201" y="826"/>
                      </a:lnTo>
                      <a:lnTo>
                        <a:pt x="1239" y="814"/>
                      </a:lnTo>
                      <a:lnTo>
                        <a:pt x="1253" y="808"/>
                      </a:lnTo>
                      <a:lnTo>
                        <a:pt x="1267" y="802"/>
                      </a:lnTo>
                      <a:lnTo>
                        <a:pt x="1278" y="797"/>
                      </a:lnTo>
                      <a:lnTo>
                        <a:pt x="1286" y="791"/>
                      </a:lnTo>
                      <a:lnTo>
                        <a:pt x="1292" y="786"/>
                      </a:lnTo>
                      <a:lnTo>
                        <a:pt x="1296" y="779"/>
                      </a:lnTo>
                      <a:lnTo>
                        <a:pt x="1296" y="775"/>
                      </a:lnTo>
                      <a:lnTo>
                        <a:pt x="1295" y="770"/>
                      </a:lnTo>
                      <a:lnTo>
                        <a:pt x="1295" y="770"/>
                      </a:lnTo>
                      <a:lnTo>
                        <a:pt x="1285" y="755"/>
                      </a:lnTo>
                      <a:lnTo>
                        <a:pt x="1273" y="729"/>
                      </a:lnTo>
                      <a:lnTo>
                        <a:pt x="1259" y="695"/>
                      </a:lnTo>
                      <a:lnTo>
                        <a:pt x="1245" y="652"/>
                      </a:lnTo>
                      <a:lnTo>
                        <a:pt x="1237" y="627"/>
                      </a:lnTo>
                      <a:lnTo>
                        <a:pt x="1230" y="602"/>
                      </a:lnTo>
                      <a:lnTo>
                        <a:pt x="1223" y="572"/>
                      </a:lnTo>
                      <a:lnTo>
                        <a:pt x="1216" y="543"/>
                      </a:lnTo>
                      <a:lnTo>
                        <a:pt x="1212" y="511"/>
                      </a:lnTo>
                      <a:lnTo>
                        <a:pt x="1208" y="478"/>
                      </a:lnTo>
                      <a:lnTo>
                        <a:pt x="1204" y="444"/>
                      </a:lnTo>
                      <a:lnTo>
                        <a:pt x="1202" y="408"/>
                      </a:lnTo>
                      <a:lnTo>
                        <a:pt x="1202" y="408"/>
                      </a:lnTo>
                      <a:lnTo>
                        <a:pt x="1201" y="342"/>
                      </a:lnTo>
                      <a:lnTo>
                        <a:pt x="1199" y="292"/>
                      </a:lnTo>
                      <a:lnTo>
                        <a:pt x="1201" y="255"/>
                      </a:lnTo>
                      <a:lnTo>
                        <a:pt x="1202" y="228"/>
                      </a:lnTo>
                      <a:lnTo>
                        <a:pt x="1203" y="218"/>
                      </a:lnTo>
                      <a:lnTo>
                        <a:pt x="1205" y="211"/>
                      </a:lnTo>
                      <a:lnTo>
                        <a:pt x="1208" y="204"/>
                      </a:lnTo>
                      <a:lnTo>
                        <a:pt x="1212" y="200"/>
                      </a:lnTo>
                      <a:lnTo>
                        <a:pt x="1215" y="196"/>
                      </a:lnTo>
                      <a:lnTo>
                        <a:pt x="1219" y="195"/>
                      </a:lnTo>
                      <a:lnTo>
                        <a:pt x="1229" y="191"/>
                      </a:lnTo>
                      <a:lnTo>
                        <a:pt x="1229" y="191"/>
                      </a:lnTo>
                      <a:lnTo>
                        <a:pt x="1235" y="192"/>
                      </a:lnTo>
                      <a:lnTo>
                        <a:pt x="1241" y="195"/>
                      </a:lnTo>
                      <a:lnTo>
                        <a:pt x="1248" y="200"/>
                      </a:lnTo>
                      <a:lnTo>
                        <a:pt x="1254" y="206"/>
                      </a:lnTo>
                      <a:lnTo>
                        <a:pt x="1262" y="216"/>
                      </a:lnTo>
                      <a:lnTo>
                        <a:pt x="1268" y="225"/>
                      </a:lnTo>
                      <a:lnTo>
                        <a:pt x="1274" y="238"/>
                      </a:lnTo>
                      <a:lnTo>
                        <a:pt x="1280" y="251"/>
                      </a:lnTo>
                      <a:lnTo>
                        <a:pt x="1286" y="266"/>
                      </a:lnTo>
                      <a:lnTo>
                        <a:pt x="1292" y="282"/>
                      </a:lnTo>
                      <a:lnTo>
                        <a:pt x="1297" y="299"/>
                      </a:lnTo>
                      <a:lnTo>
                        <a:pt x="1301" y="316"/>
                      </a:lnTo>
                      <a:lnTo>
                        <a:pt x="1305" y="334"/>
                      </a:lnTo>
                      <a:lnTo>
                        <a:pt x="1307" y="354"/>
                      </a:lnTo>
                      <a:lnTo>
                        <a:pt x="1310" y="372"/>
                      </a:lnTo>
                      <a:lnTo>
                        <a:pt x="1311" y="392"/>
                      </a:lnTo>
                      <a:lnTo>
                        <a:pt x="1311" y="392"/>
                      </a:lnTo>
                      <a:lnTo>
                        <a:pt x="1311" y="435"/>
                      </a:lnTo>
                      <a:lnTo>
                        <a:pt x="1313" y="483"/>
                      </a:lnTo>
                      <a:lnTo>
                        <a:pt x="1317" y="532"/>
                      </a:lnTo>
                      <a:lnTo>
                        <a:pt x="1322" y="580"/>
                      </a:lnTo>
                      <a:lnTo>
                        <a:pt x="1326" y="603"/>
                      </a:lnTo>
                      <a:lnTo>
                        <a:pt x="1329" y="625"/>
                      </a:lnTo>
                      <a:lnTo>
                        <a:pt x="1334" y="645"/>
                      </a:lnTo>
                      <a:lnTo>
                        <a:pt x="1339" y="662"/>
                      </a:lnTo>
                      <a:lnTo>
                        <a:pt x="1345" y="678"/>
                      </a:lnTo>
                      <a:lnTo>
                        <a:pt x="1351" y="690"/>
                      </a:lnTo>
                      <a:lnTo>
                        <a:pt x="1359" y="700"/>
                      </a:lnTo>
                      <a:lnTo>
                        <a:pt x="1362" y="703"/>
                      </a:lnTo>
                      <a:lnTo>
                        <a:pt x="1366" y="706"/>
                      </a:lnTo>
                      <a:lnTo>
                        <a:pt x="1366" y="706"/>
                      </a:lnTo>
                      <a:lnTo>
                        <a:pt x="1375" y="710"/>
                      </a:lnTo>
                      <a:lnTo>
                        <a:pt x="1383" y="712"/>
                      </a:lnTo>
                      <a:lnTo>
                        <a:pt x="1392" y="715"/>
                      </a:lnTo>
                      <a:lnTo>
                        <a:pt x="1400" y="716"/>
                      </a:lnTo>
                      <a:lnTo>
                        <a:pt x="1418" y="716"/>
                      </a:lnTo>
                      <a:lnTo>
                        <a:pt x="1436" y="713"/>
                      </a:lnTo>
                      <a:lnTo>
                        <a:pt x="1453" y="708"/>
                      </a:lnTo>
                      <a:lnTo>
                        <a:pt x="1469" y="702"/>
                      </a:lnTo>
                      <a:lnTo>
                        <a:pt x="1485" y="695"/>
                      </a:lnTo>
                      <a:lnTo>
                        <a:pt x="1501" y="686"/>
                      </a:lnTo>
                      <a:lnTo>
                        <a:pt x="1501" y="686"/>
                      </a:lnTo>
                      <a:lnTo>
                        <a:pt x="1523" y="673"/>
                      </a:lnTo>
                      <a:lnTo>
                        <a:pt x="1539" y="663"/>
                      </a:lnTo>
                      <a:lnTo>
                        <a:pt x="1556" y="652"/>
                      </a:lnTo>
                      <a:lnTo>
                        <a:pt x="1576" y="637"/>
                      </a:lnTo>
                      <a:lnTo>
                        <a:pt x="1595" y="621"/>
                      </a:lnTo>
                      <a:lnTo>
                        <a:pt x="1615" y="603"/>
                      </a:lnTo>
                      <a:lnTo>
                        <a:pt x="1633" y="582"/>
                      </a:lnTo>
                      <a:lnTo>
                        <a:pt x="1652" y="559"/>
                      </a:lnTo>
                      <a:lnTo>
                        <a:pt x="1659" y="547"/>
                      </a:lnTo>
                      <a:lnTo>
                        <a:pt x="1666" y="533"/>
                      </a:lnTo>
                      <a:lnTo>
                        <a:pt x="1674" y="520"/>
                      </a:lnTo>
                      <a:lnTo>
                        <a:pt x="1680" y="505"/>
                      </a:lnTo>
                      <a:lnTo>
                        <a:pt x="1685" y="490"/>
                      </a:lnTo>
                      <a:lnTo>
                        <a:pt x="1690" y="474"/>
                      </a:lnTo>
                      <a:lnTo>
                        <a:pt x="1693" y="458"/>
                      </a:lnTo>
                      <a:lnTo>
                        <a:pt x="1696" y="441"/>
                      </a:lnTo>
                      <a:lnTo>
                        <a:pt x="1697" y="424"/>
                      </a:lnTo>
                      <a:lnTo>
                        <a:pt x="1696" y="406"/>
                      </a:lnTo>
                      <a:lnTo>
                        <a:pt x="1695" y="387"/>
                      </a:lnTo>
                      <a:lnTo>
                        <a:pt x="1692" y="368"/>
                      </a:lnTo>
                      <a:lnTo>
                        <a:pt x="1688" y="348"/>
                      </a:lnTo>
                      <a:lnTo>
                        <a:pt x="1682" y="327"/>
                      </a:lnTo>
                      <a:lnTo>
                        <a:pt x="1682" y="327"/>
                      </a:lnTo>
                      <a:lnTo>
                        <a:pt x="1668" y="287"/>
                      </a:lnTo>
                      <a:lnTo>
                        <a:pt x="1653" y="251"/>
                      </a:lnTo>
                      <a:lnTo>
                        <a:pt x="1637" y="220"/>
                      </a:lnTo>
                      <a:lnTo>
                        <a:pt x="1621" y="192"/>
                      </a:lnTo>
                      <a:lnTo>
                        <a:pt x="1605" y="168"/>
                      </a:lnTo>
                      <a:lnTo>
                        <a:pt x="1589" y="147"/>
                      </a:lnTo>
                      <a:lnTo>
                        <a:pt x="1572" y="128"/>
                      </a:lnTo>
                      <a:lnTo>
                        <a:pt x="1556" y="114"/>
                      </a:lnTo>
                      <a:lnTo>
                        <a:pt x="1541" y="102"/>
                      </a:lnTo>
                      <a:lnTo>
                        <a:pt x="1527" y="90"/>
                      </a:lnTo>
                      <a:lnTo>
                        <a:pt x="1513" y="83"/>
                      </a:lnTo>
                      <a:lnTo>
                        <a:pt x="1501" y="77"/>
                      </a:lnTo>
                      <a:lnTo>
                        <a:pt x="1490" y="73"/>
                      </a:lnTo>
                      <a:lnTo>
                        <a:pt x="1480" y="71"/>
                      </a:lnTo>
                      <a:lnTo>
                        <a:pt x="1473" y="70"/>
                      </a:lnTo>
                      <a:lnTo>
                        <a:pt x="1468" y="68"/>
                      </a:lnTo>
                      <a:lnTo>
                        <a:pt x="1468" y="68"/>
                      </a:lnTo>
                      <a:lnTo>
                        <a:pt x="1459" y="70"/>
                      </a:lnTo>
                      <a:lnTo>
                        <a:pt x="1452" y="71"/>
                      </a:lnTo>
                      <a:lnTo>
                        <a:pt x="1445" y="73"/>
                      </a:lnTo>
                      <a:lnTo>
                        <a:pt x="1442" y="76"/>
                      </a:lnTo>
                      <a:lnTo>
                        <a:pt x="1440" y="78"/>
                      </a:lnTo>
                      <a:lnTo>
                        <a:pt x="1436" y="87"/>
                      </a:lnTo>
                      <a:lnTo>
                        <a:pt x="1433" y="99"/>
                      </a:lnTo>
                      <a:lnTo>
                        <a:pt x="1433" y="116"/>
                      </a:lnTo>
                      <a:lnTo>
                        <a:pt x="1435" y="138"/>
                      </a:lnTo>
                      <a:lnTo>
                        <a:pt x="1435" y="138"/>
                      </a:lnTo>
                      <a:lnTo>
                        <a:pt x="1440" y="174"/>
                      </a:lnTo>
                      <a:lnTo>
                        <a:pt x="1446" y="224"/>
                      </a:lnTo>
                      <a:lnTo>
                        <a:pt x="1453" y="282"/>
                      </a:lnTo>
                      <a:lnTo>
                        <a:pt x="1459" y="342"/>
                      </a:lnTo>
                      <a:lnTo>
                        <a:pt x="1462" y="371"/>
                      </a:lnTo>
                      <a:lnTo>
                        <a:pt x="1462" y="397"/>
                      </a:lnTo>
                      <a:lnTo>
                        <a:pt x="1462" y="422"/>
                      </a:lnTo>
                      <a:lnTo>
                        <a:pt x="1459" y="441"/>
                      </a:lnTo>
                      <a:lnTo>
                        <a:pt x="1458" y="450"/>
                      </a:lnTo>
                      <a:lnTo>
                        <a:pt x="1456" y="457"/>
                      </a:lnTo>
                      <a:lnTo>
                        <a:pt x="1453" y="463"/>
                      </a:lnTo>
                      <a:lnTo>
                        <a:pt x="1449" y="467"/>
                      </a:lnTo>
                      <a:lnTo>
                        <a:pt x="1446" y="471"/>
                      </a:lnTo>
                      <a:lnTo>
                        <a:pt x="1441" y="472"/>
                      </a:lnTo>
                      <a:lnTo>
                        <a:pt x="1436" y="472"/>
                      </a:lnTo>
                      <a:lnTo>
                        <a:pt x="1430" y="469"/>
                      </a:lnTo>
                      <a:lnTo>
                        <a:pt x="1430" y="469"/>
                      </a:lnTo>
                      <a:lnTo>
                        <a:pt x="1425" y="466"/>
                      </a:lnTo>
                      <a:lnTo>
                        <a:pt x="1419" y="461"/>
                      </a:lnTo>
                      <a:lnTo>
                        <a:pt x="1414" y="456"/>
                      </a:lnTo>
                      <a:lnTo>
                        <a:pt x="1409" y="448"/>
                      </a:lnTo>
                      <a:lnTo>
                        <a:pt x="1400" y="434"/>
                      </a:lnTo>
                      <a:lnTo>
                        <a:pt x="1392" y="415"/>
                      </a:lnTo>
                      <a:lnTo>
                        <a:pt x="1386" y="395"/>
                      </a:lnTo>
                      <a:lnTo>
                        <a:pt x="1381" y="371"/>
                      </a:lnTo>
                      <a:lnTo>
                        <a:pt x="1376" y="348"/>
                      </a:lnTo>
                      <a:lnTo>
                        <a:pt x="1372" y="323"/>
                      </a:lnTo>
                      <a:lnTo>
                        <a:pt x="1367" y="277"/>
                      </a:lnTo>
                      <a:lnTo>
                        <a:pt x="1364" y="233"/>
                      </a:lnTo>
                      <a:lnTo>
                        <a:pt x="1361" y="180"/>
                      </a:lnTo>
                      <a:lnTo>
                        <a:pt x="1361" y="180"/>
                      </a:lnTo>
                      <a:lnTo>
                        <a:pt x="1359" y="148"/>
                      </a:lnTo>
                      <a:lnTo>
                        <a:pt x="1356" y="128"/>
                      </a:lnTo>
                      <a:lnTo>
                        <a:pt x="1354" y="108"/>
                      </a:lnTo>
                      <a:lnTo>
                        <a:pt x="1350" y="88"/>
                      </a:lnTo>
                      <a:lnTo>
                        <a:pt x="1348" y="79"/>
                      </a:lnTo>
                      <a:lnTo>
                        <a:pt x="1344" y="72"/>
                      </a:lnTo>
                      <a:lnTo>
                        <a:pt x="1340" y="65"/>
                      </a:lnTo>
                      <a:lnTo>
                        <a:pt x="1337" y="60"/>
                      </a:lnTo>
                      <a:lnTo>
                        <a:pt x="1332" y="56"/>
                      </a:lnTo>
                      <a:lnTo>
                        <a:pt x="1326" y="54"/>
                      </a:lnTo>
                      <a:lnTo>
                        <a:pt x="1326" y="54"/>
                      </a:lnTo>
                      <a:lnTo>
                        <a:pt x="1281" y="43"/>
                      </a:lnTo>
                      <a:lnTo>
                        <a:pt x="1214" y="27"/>
                      </a:lnTo>
                      <a:lnTo>
                        <a:pt x="1178" y="18"/>
                      </a:lnTo>
                      <a:lnTo>
                        <a:pt x="1147" y="12"/>
                      </a:lnTo>
                      <a:lnTo>
                        <a:pt x="1120" y="7"/>
                      </a:lnTo>
                      <a:lnTo>
                        <a:pt x="1110" y="7"/>
                      </a:lnTo>
                      <a:lnTo>
                        <a:pt x="1102" y="7"/>
                      </a:lnTo>
                      <a:lnTo>
                        <a:pt x="1102" y="7"/>
                      </a:lnTo>
                      <a:lnTo>
                        <a:pt x="1093" y="10"/>
                      </a:lnTo>
                      <a:lnTo>
                        <a:pt x="1083" y="12"/>
                      </a:lnTo>
                      <a:lnTo>
                        <a:pt x="1075" y="16"/>
                      </a:lnTo>
                      <a:lnTo>
                        <a:pt x="1069" y="22"/>
                      </a:lnTo>
                      <a:lnTo>
                        <a:pt x="1064" y="30"/>
                      </a:lnTo>
                      <a:lnTo>
                        <a:pt x="1062" y="41"/>
                      </a:lnTo>
                      <a:lnTo>
                        <a:pt x="1062" y="56"/>
                      </a:lnTo>
                      <a:lnTo>
                        <a:pt x="1062" y="73"/>
                      </a:lnTo>
                      <a:lnTo>
                        <a:pt x="1062" y="73"/>
                      </a:lnTo>
                      <a:lnTo>
                        <a:pt x="1073" y="158"/>
                      </a:lnTo>
                      <a:lnTo>
                        <a:pt x="1080" y="223"/>
                      </a:lnTo>
                      <a:lnTo>
                        <a:pt x="1085" y="293"/>
                      </a:lnTo>
                      <a:lnTo>
                        <a:pt x="1088" y="327"/>
                      </a:lnTo>
                      <a:lnTo>
                        <a:pt x="1088" y="359"/>
                      </a:lnTo>
                      <a:lnTo>
                        <a:pt x="1086" y="390"/>
                      </a:lnTo>
                      <a:lnTo>
                        <a:pt x="1084" y="417"/>
                      </a:lnTo>
                      <a:lnTo>
                        <a:pt x="1083" y="428"/>
                      </a:lnTo>
                      <a:lnTo>
                        <a:pt x="1080" y="439"/>
                      </a:lnTo>
                      <a:lnTo>
                        <a:pt x="1077" y="447"/>
                      </a:lnTo>
                      <a:lnTo>
                        <a:pt x="1073" y="456"/>
                      </a:lnTo>
                      <a:lnTo>
                        <a:pt x="1069" y="462"/>
                      </a:lnTo>
                      <a:lnTo>
                        <a:pt x="1064" y="466"/>
                      </a:lnTo>
                      <a:lnTo>
                        <a:pt x="1058" y="469"/>
                      </a:lnTo>
                      <a:lnTo>
                        <a:pt x="1052" y="469"/>
                      </a:lnTo>
                      <a:lnTo>
                        <a:pt x="1052" y="469"/>
                      </a:lnTo>
                      <a:lnTo>
                        <a:pt x="1046" y="469"/>
                      </a:lnTo>
                      <a:lnTo>
                        <a:pt x="1040" y="467"/>
                      </a:lnTo>
                      <a:lnTo>
                        <a:pt x="1034" y="464"/>
                      </a:lnTo>
                      <a:lnTo>
                        <a:pt x="1029" y="461"/>
                      </a:lnTo>
                      <a:lnTo>
                        <a:pt x="1024" y="457"/>
                      </a:lnTo>
                      <a:lnTo>
                        <a:pt x="1019" y="451"/>
                      </a:lnTo>
                      <a:lnTo>
                        <a:pt x="1010" y="439"/>
                      </a:lnTo>
                      <a:lnTo>
                        <a:pt x="1003" y="423"/>
                      </a:lnTo>
                      <a:lnTo>
                        <a:pt x="997" y="404"/>
                      </a:lnTo>
                      <a:lnTo>
                        <a:pt x="992" y="385"/>
                      </a:lnTo>
                      <a:lnTo>
                        <a:pt x="987" y="364"/>
                      </a:lnTo>
                      <a:lnTo>
                        <a:pt x="984" y="342"/>
                      </a:lnTo>
                      <a:lnTo>
                        <a:pt x="981" y="319"/>
                      </a:lnTo>
                      <a:lnTo>
                        <a:pt x="976" y="274"/>
                      </a:lnTo>
                      <a:lnTo>
                        <a:pt x="974" y="231"/>
                      </a:lnTo>
                      <a:lnTo>
                        <a:pt x="972" y="196"/>
                      </a:lnTo>
                      <a:lnTo>
                        <a:pt x="972" y="196"/>
                      </a:lnTo>
                      <a:lnTo>
                        <a:pt x="971" y="163"/>
                      </a:lnTo>
                      <a:lnTo>
                        <a:pt x="969" y="131"/>
                      </a:lnTo>
                      <a:lnTo>
                        <a:pt x="965" y="99"/>
                      </a:lnTo>
                      <a:lnTo>
                        <a:pt x="960" y="70"/>
                      </a:lnTo>
                      <a:lnTo>
                        <a:pt x="958" y="56"/>
                      </a:lnTo>
                      <a:lnTo>
                        <a:pt x="954" y="44"/>
                      </a:lnTo>
                      <a:lnTo>
                        <a:pt x="950" y="33"/>
                      </a:lnTo>
                      <a:lnTo>
                        <a:pt x="945" y="24"/>
                      </a:lnTo>
                      <a:lnTo>
                        <a:pt x="941" y="17"/>
                      </a:lnTo>
                      <a:lnTo>
                        <a:pt x="934" y="11"/>
                      </a:lnTo>
                      <a:lnTo>
                        <a:pt x="927" y="7"/>
                      </a:lnTo>
                      <a:lnTo>
                        <a:pt x="920" y="5"/>
                      </a:lnTo>
                      <a:lnTo>
                        <a:pt x="920" y="5"/>
                      </a:lnTo>
                      <a:lnTo>
                        <a:pt x="862" y="2"/>
                      </a:lnTo>
                      <a:lnTo>
                        <a:pt x="819" y="0"/>
                      </a:lnTo>
                      <a:lnTo>
                        <a:pt x="773" y="0"/>
                      </a:lnTo>
                      <a:lnTo>
                        <a:pt x="727" y="0"/>
                      </a:lnTo>
                      <a:lnTo>
                        <a:pt x="684" y="1"/>
                      </a:lnTo>
                      <a:lnTo>
                        <a:pt x="666" y="2"/>
                      </a:lnTo>
                      <a:lnTo>
                        <a:pt x="650" y="5"/>
                      </a:lnTo>
                      <a:lnTo>
                        <a:pt x="638" y="7"/>
                      </a:lnTo>
                      <a:lnTo>
                        <a:pt x="628" y="11"/>
                      </a:lnTo>
                      <a:lnTo>
                        <a:pt x="628" y="11"/>
                      </a:lnTo>
                      <a:lnTo>
                        <a:pt x="614" y="18"/>
                      </a:lnTo>
                      <a:lnTo>
                        <a:pt x="606" y="24"/>
                      </a:lnTo>
                      <a:lnTo>
                        <a:pt x="601" y="29"/>
                      </a:lnTo>
                      <a:lnTo>
                        <a:pt x="599" y="37"/>
                      </a:lnTo>
                      <a:lnTo>
                        <a:pt x="599" y="44"/>
                      </a:lnTo>
                      <a:lnTo>
                        <a:pt x="600" y="55"/>
                      </a:lnTo>
                      <a:lnTo>
                        <a:pt x="601" y="67"/>
                      </a:lnTo>
                      <a:lnTo>
                        <a:pt x="603" y="84"/>
                      </a:lnTo>
                      <a:lnTo>
                        <a:pt x="603" y="84"/>
                      </a:lnTo>
                      <a:lnTo>
                        <a:pt x="612" y="168"/>
                      </a:lnTo>
                      <a:lnTo>
                        <a:pt x="617" y="231"/>
                      </a:lnTo>
                      <a:lnTo>
                        <a:pt x="621" y="301"/>
                      </a:lnTo>
                      <a:lnTo>
                        <a:pt x="622" y="334"/>
                      </a:lnTo>
                      <a:lnTo>
                        <a:pt x="622" y="368"/>
                      </a:lnTo>
                      <a:lnTo>
                        <a:pt x="621" y="397"/>
                      </a:lnTo>
                      <a:lnTo>
                        <a:pt x="618" y="423"/>
                      </a:lnTo>
                      <a:lnTo>
                        <a:pt x="614" y="445"/>
                      </a:lnTo>
                      <a:lnTo>
                        <a:pt x="612" y="453"/>
                      </a:lnTo>
                      <a:lnTo>
                        <a:pt x="610" y="461"/>
                      </a:lnTo>
                      <a:lnTo>
                        <a:pt x="606" y="467"/>
                      </a:lnTo>
                      <a:lnTo>
                        <a:pt x="602" y="471"/>
                      </a:lnTo>
                      <a:lnTo>
                        <a:pt x="599" y="473"/>
                      </a:lnTo>
                      <a:lnTo>
                        <a:pt x="594" y="473"/>
                      </a:lnTo>
                      <a:lnTo>
                        <a:pt x="594" y="473"/>
                      </a:lnTo>
                      <a:lnTo>
                        <a:pt x="587" y="471"/>
                      </a:lnTo>
                      <a:lnTo>
                        <a:pt x="583" y="467"/>
                      </a:lnTo>
                      <a:lnTo>
                        <a:pt x="579" y="462"/>
                      </a:lnTo>
                      <a:lnTo>
                        <a:pt x="574" y="456"/>
                      </a:lnTo>
                      <a:lnTo>
                        <a:pt x="569" y="447"/>
                      </a:lnTo>
                      <a:lnTo>
                        <a:pt x="565" y="439"/>
                      </a:lnTo>
                      <a:lnTo>
                        <a:pt x="558" y="417"/>
                      </a:lnTo>
                      <a:lnTo>
                        <a:pt x="551" y="391"/>
                      </a:lnTo>
                      <a:lnTo>
                        <a:pt x="545" y="363"/>
                      </a:lnTo>
                      <a:lnTo>
                        <a:pt x="540" y="332"/>
                      </a:lnTo>
                      <a:lnTo>
                        <a:pt x="535" y="300"/>
                      </a:lnTo>
                      <a:lnTo>
                        <a:pt x="527" y="235"/>
                      </a:lnTo>
                      <a:lnTo>
                        <a:pt x="521" y="176"/>
                      </a:lnTo>
                      <a:lnTo>
                        <a:pt x="515" y="103"/>
                      </a:lnTo>
                      <a:lnTo>
                        <a:pt x="515" y="103"/>
                      </a:lnTo>
                      <a:lnTo>
                        <a:pt x="513" y="88"/>
                      </a:lnTo>
                      <a:lnTo>
                        <a:pt x="509" y="75"/>
                      </a:lnTo>
                      <a:lnTo>
                        <a:pt x="504" y="62"/>
                      </a:lnTo>
                      <a:lnTo>
                        <a:pt x="497" y="54"/>
                      </a:lnTo>
                      <a:lnTo>
                        <a:pt x="487" y="46"/>
                      </a:lnTo>
                      <a:lnTo>
                        <a:pt x="482" y="43"/>
                      </a:lnTo>
                      <a:lnTo>
                        <a:pt x="477" y="41"/>
                      </a:lnTo>
                      <a:lnTo>
                        <a:pt x="471" y="39"/>
                      </a:lnTo>
                      <a:lnTo>
                        <a:pt x="465" y="39"/>
                      </a:lnTo>
                      <a:lnTo>
                        <a:pt x="451" y="39"/>
                      </a:lnTo>
                      <a:lnTo>
                        <a:pt x="451" y="39"/>
                      </a:lnTo>
                      <a:lnTo>
                        <a:pt x="394" y="46"/>
                      </a:lnTo>
                      <a:lnTo>
                        <a:pt x="350" y="52"/>
                      </a:lnTo>
                      <a:lnTo>
                        <a:pt x="302" y="62"/>
                      </a:lnTo>
                      <a:lnTo>
                        <a:pt x="277" y="68"/>
                      </a:lnTo>
                      <a:lnTo>
                        <a:pt x="255" y="75"/>
                      </a:lnTo>
                      <a:lnTo>
                        <a:pt x="233" y="82"/>
                      </a:lnTo>
                      <a:lnTo>
                        <a:pt x="214" y="90"/>
                      </a:lnTo>
                      <a:lnTo>
                        <a:pt x="198" y="100"/>
                      </a:lnTo>
                      <a:lnTo>
                        <a:pt x="190" y="105"/>
                      </a:lnTo>
                      <a:lnTo>
                        <a:pt x="183" y="111"/>
                      </a:lnTo>
                      <a:lnTo>
                        <a:pt x="178" y="117"/>
                      </a:lnTo>
                      <a:lnTo>
                        <a:pt x="173" y="124"/>
                      </a:lnTo>
                      <a:lnTo>
                        <a:pt x="171" y="130"/>
                      </a:lnTo>
                      <a:lnTo>
                        <a:pt x="168" y="136"/>
                      </a:lnTo>
                      <a:lnTo>
                        <a:pt x="168" y="136"/>
                      </a:lnTo>
                      <a:lnTo>
                        <a:pt x="166" y="152"/>
                      </a:lnTo>
                      <a:lnTo>
                        <a:pt x="165" y="169"/>
                      </a:lnTo>
                      <a:lnTo>
                        <a:pt x="165" y="189"/>
                      </a:lnTo>
                      <a:lnTo>
                        <a:pt x="165" y="209"/>
                      </a:lnTo>
                      <a:lnTo>
                        <a:pt x="167" y="255"/>
                      </a:lnTo>
                      <a:lnTo>
                        <a:pt x="169" y="300"/>
                      </a:lnTo>
                      <a:lnTo>
                        <a:pt x="172" y="342"/>
                      </a:lnTo>
                      <a:lnTo>
                        <a:pt x="172" y="360"/>
                      </a:lnTo>
                      <a:lnTo>
                        <a:pt x="171" y="376"/>
                      </a:lnTo>
                      <a:lnTo>
                        <a:pt x="169" y="390"/>
                      </a:lnTo>
                      <a:lnTo>
                        <a:pt x="166" y="401"/>
                      </a:lnTo>
                      <a:lnTo>
                        <a:pt x="163" y="404"/>
                      </a:lnTo>
                      <a:lnTo>
                        <a:pt x="161" y="407"/>
                      </a:lnTo>
                      <a:lnTo>
                        <a:pt x="158" y="409"/>
                      </a:lnTo>
                      <a:lnTo>
                        <a:pt x="155" y="409"/>
                      </a:lnTo>
                      <a:lnTo>
                        <a:pt x="155" y="409"/>
                      </a:lnTo>
                      <a:lnTo>
                        <a:pt x="147" y="409"/>
                      </a:lnTo>
                      <a:lnTo>
                        <a:pt x="140" y="407"/>
                      </a:lnTo>
                      <a:lnTo>
                        <a:pt x="134" y="403"/>
                      </a:lnTo>
                      <a:lnTo>
                        <a:pt x="129" y="398"/>
                      </a:lnTo>
                      <a:lnTo>
                        <a:pt x="123" y="392"/>
                      </a:lnTo>
                      <a:lnTo>
                        <a:pt x="118" y="385"/>
                      </a:lnTo>
                      <a:lnTo>
                        <a:pt x="114" y="377"/>
                      </a:lnTo>
                      <a:lnTo>
                        <a:pt x="111" y="369"/>
                      </a:lnTo>
                      <a:lnTo>
                        <a:pt x="103" y="348"/>
                      </a:lnTo>
                      <a:lnTo>
                        <a:pt x="97" y="326"/>
                      </a:lnTo>
                      <a:lnTo>
                        <a:pt x="93" y="304"/>
                      </a:lnTo>
                      <a:lnTo>
                        <a:pt x="88" y="281"/>
                      </a:lnTo>
                      <a:lnTo>
                        <a:pt x="82" y="238"/>
                      </a:lnTo>
                      <a:lnTo>
                        <a:pt x="80" y="220"/>
                      </a:lnTo>
                      <a:lnTo>
                        <a:pt x="76" y="206"/>
                      </a:lnTo>
                      <a:lnTo>
                        <a:pt x="73" y="197"/>
                      </a:lnTo>
                      <a:lnTo>
                        <a:pt x="71" y="193"/>
                      </a:lnTo>
                      <a:lnTo>
                        <a:pt x="69" y="192"/>
                      </a:lnTo>
                      <a:lnTo>
                        <a:pt x="66" y="193"/>
                      </a:lnTo>
                      <a:lnTo>
                        <a:pt x="64" y="195"/>
                      </a:lnTo>
                      <a:lnTo>
                        <a:pt x="60" y="200"/>
                      </a:lnTo>
                      <a:lnTo>
                        <a:pt x="58" y="204"/>
                      </a:lnTo>
                      <a:lnTo>
                        <a:pt x="58" y="204"/>
                      </a:lnTo>
                      <a:close/>
                    </a:path>
                  </a:pathLst>
                </a:cu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87" name="Freeform 10">
                  <a:extLst>
                    <a:ext uri="{FF2B5EF4-FFF2-40B4-BE49-F238E27FC236}">
                      <a16:creationId xmlns:a16="http://schemas.microsoft.com/office/drawing/2014/main" id="{622FAB7E-FCE3-41B1-B7A6-64302F5C57A2}"/>
                    </a:ext>
                  </a:extLst>
                </p:cNvPr>
                <p:cNvSpPr>
                  <a:spLocks/>
                </p:cNvSpPr>
                <p:nvPr/>
              </p:nvSpPr>
              <p:spPr bwMode="auto">
                <a:xfrm>
                  <a:off x="6716446" y="5862271"/>
                  <a:ext cx="332058" cy="219315"/>
                </a:xfrm>
                <a:custGeom>
                  <a:avLst/>
                  <a:gdLst>
                    <a:gd name="T0" fmla="*/ 1923 w 1930"/>
                    <a:gd name="T1" fmla="*/ 484 h 1083"/>
                    <a:gd name="T2" fmla="*/ 1898 w 1930"/>
                    <a:gd name="T3" fmla="*/ 403 h 1083"/>
                    <a:gd name="T4" fmla="*/ 1852 w 1930"/>
                    <a:gd name="T5" fmla="*/ 327 h 1083"/>
                    <a:gd name="T6" fmla="*/ 1787 w 1930"/>
                    <a:gd name="T7" fmla="*/ 257 h 1083"/>
                    <a:gd name="T8" fmla="*/ 1706 w 1930"/>
                    <a:gd name="T9" fmla="*/ 193 h 1083"/>
                    <a:gd name="T10" fmla="*/ 1610 w 1930"/>
                    <a:gd name="T11" fmla="*/ 137 h 1083"/>
                    <a:gd name="T12" fmla="*/ 1500 w 1930"/>
                    <a:gd name="T13" fmla="*/ 89 h 1083"/>
                    <a:gd name="T14" fmla="*/ 1379 w 1930"/>
                    <a:gd name="T15" fmla="*/ 51 h 1083"/>
                    <a:gd name="T16" fmla="*/ 1248 w 1930"/>
                    <a:gd name="T17" fmla="*/ 23 h 1083"/>
                    <a:gd name="T18" fmla="*/ 1109 w 1930"/>
                    <a:gd name="T19" fmla="*/ 5 h 1083"/>
                    <a:gd name="T20" fmla="*/ 963 w 1930"/>
                    <a:gd name="T21" fmla="*/ 0 h 1083"/>
                    <a:gd name="T22" fmla="*/ 864 w 1930"/>
                    <a:gd name="T23" fmla="*/ 2 h 1083"/>
                    <a:gd name="T24" fmla="*/ 721 w 1930"/>
                    <a:gd name="T25" fmla="*/ 17 h 1083"/>
                    <a:gd name="T26" fmla="*/ 586 w 1930"/>
                    <a:gd name="T27" fmla="*/ 44 h 1083"/>
                    <a:gd name="T28" fmla="*/ 461 w 1930"/>
                    <a:gd name="T29" fmla="*/ 81 h 1083"/>
                    <a:gd name="T30" fmla="*/ 348 w 1930"/>
                    <a:gd name="T31" fmla="*/ 126 h 1083"/>
                    <a:gd name="T32" fmla="*/ 247 w 1930"/>
                    <a:gd name="T33" fmla="*/ 180 h 1083"/>
                    <a:gd name="T34" fmla="*/ 162 w 1930"/>
                    <a:gd name="T35" fmla="*/ 242 h 1083"/>
                    <a:gd name="T36" fmla="*/ 93 w 1930"/>
                    <a:gd name="T37" fmla="*/ 310 h 1083"/>
                    <a:gd name="T38" fmla="*/ 41 w 1930"/>
                    <a:gd name="T39" fmla="*/ 383 h 1083"/>
                    <a:gd name="T40" fmla="*/ 10 w 1930"/>
                    <a:gd name="T41" fmla="*/ 462 h 1083"/>
                    <a:gd name="T42" fmla="*/ 0 w 1930"/>
                    <a:gd name="T43" fmla="*/ 544 h 1083"/>
                    <a:gd name="T44" fmla="*/ 5 w 1930"/>
                    <a:gd name="T45" fmla="*/ 599 h 1083"/>
                    <a:gd name="T46" fmla="*/ 30 w 1930"/>
                    <a:gd name="T47" fmla="*/ 680 h 1083"/>
                    <a:gd name="T48" fmla="*/ 77 w 1930"/>
                    <a:gd name="T49" fmla="*/ 756 h 1083"/>
                    <a:gd name="T50" fmla="*/ 141 w 1930"/>
                    <a:gd name="T51" fmla="*/ 826 h 1083"/>
                    <a:gd name="T52" fmla="*/ 222 w 1930"/>
                    <a:gd name="T53" fmla="*/ 890 h 1083"/>
                    <a:gd name="T54" fmla="*/ 319 w 1930"/>
                    <a:gd name="T55" fmla="*/ 946 h 1083"/>
                    <a:gd name="T56" fmla="*/ 428 w 1930"/>
                    <a:gd name="T57" fmla="*/ 994 h 1083"/>
                    <a:gd name="T58" fmla="*/ 549 w 1930"/>
                    <a:gd name="T59" fmla="*/ 1032 h 1083"/>
                    <a:gd name="T60" fmla="*/ 680 w 1930"/>
                    <a:gd name="T61" fmla="*/ 1060 h 1083"/>
                    <a:gd name="T62" fmla="*/ 820 w 1930"/>
                    <a:gd name="T63" fmla="*/ 1078 h 1083"/>
                    <a:gd name="T64" fmla="*/ 965 w 1930"/>
                    <a:gd name="T65" fmla="*/ 1083 h 1083"/>
                    <a:gd name="T66" fmla="*/ 1064 w 1930"/>
                    <a:gd name="T67" fmla="*/ 1081 h 1083"/>
                    <a:gd name="T68" fmla="*/ 1207 w 1930"/>
                    <a:gd name="T69" fmla="*/ 1066 h 1083"/>
                    <a:gd name="T70" fmla="*/ 1342 w 1930"/>
                    <a:gd name="T71" fmla="*/ 1039 h 1083"/>
                    <a:gd name="T72" fmla="*/ 1467 w 1930"/>
                    <a:gd name="T73" fmla="*/ 1004 h 1083"/>
                    <a:gd name="T74" fmla="*/ 1581 w 1930"/>
                    <a:gd name="T75" fmla="*/ 957 h 1083"/>
                    <a:gd name="T76" fmla="*/ 1681 w 1930"/>
                    <a:gd name="T77" fmla="*/ 903 h 1083"/>
                    <a:gd name="T78" fmla="*/ 1767 w 1930"/>
                    <a:gd name="T79" fmla="*/ 842 h 1083"/>
                    <a:gd name="T80" fmla="*/ 1835 w 1930"/>
                    <a:gd name="T81" fmla="*/ 773 h 1083"/>
                    <a:gd name="T82" fmla="*/ 1887 w 1930"/>
                    <a:gd name="T83" fmla="*/ 700 h 1083"/>
                    <a:gd name="T84" fmla="*/ 1919 w 1930"/>
                    <a:gd name="T85" fmla="*/ 621 h 1083"/>
                    <a:gd name="T86" fmla="*/ 1930 w 1930"/>
                    <a:gd name="T87" fmla="*/ 539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083">
                      <a:moveTo>
                        <a:pt x="1928" y="511"/>
                      </a:moveTo>
                      <a:lnTo>
                        <a:pt x="1928" y="511"/>
                      </a:lnTo>
                      <a:lnTo>
                        <a:pt x="1923" y="484"/>
                      </a:lnTo>
                      <a:lnTo>
                        <a:pt x="1917" y="456"/>
                      </a:lnTo>
                      <a:lnTo>
                        <a:pt x="1909" y="429"/>
                      </a:lnTo>
                      <a:lnTo>
                        <a:pt x="1898" y="403"/>
                      </a:lnTo>
                      <a:lnTo>
                        <a:pt x="1885" y="377"/>
                      </a:lnTo>
                      <a:lnTo>
                        <a:pt x="1870" y="351"/>
                      </a:lnTo>
                      <a:lnTo>
                        <a:pt x="1852" y="327"/>
                      </a:lnTo>
                      <a:lnTo>
                        <a:pt x="1833" y="304"/>
                      </a:lnTo>
                      <a:lnTo>
                        <a:pt x="1811" y="279"/>
                      </a:lnTo>
                      <a:lnTo>
                        <a:pt x="1787" y="257"/>
                      </a:lnTo>
                      <a:lnTo>
                        <a:pt x="1762" y="235"/>
                      </a:lnTo>
                      <a:lnTo>
                        <a:pt x="1735" y="214"/>
                      </a:lnTo>
                      <a:lnTo>
                        <a:pt x="1706" y="193"/>
                      </a:lnTo>
                      <a:lnTo>
                        <a:pt x="1676" y="174"/>
                      </a:lnTo>
                      <a:lnTo>
                        <a:pt x="1644" y="155"/>
                      </a:lnTo>
                      <a:lnTo>
                        <a:pt x="1610" y="137"/>
                      </a:lnTo>
                      <a:lnTo>
                        <a:pt x="1575" y="121"/>
                      </a:lnTo>
                      <a:lnTo>
                        <a:pt x="1538" y="105"/>
                      </a:lnTo>
                      <a:lnTo>
                        <a:pt x="1500" y="89"/>
                      </a:lnTo>
                      <a:lnTo>
                        <a:pt x="1461" y="76"/>
                      </a:lnTo>
                      <a:lnTo>
                        <a:pt x="1421" y="63"/>
                      </a:lnTo>
                      <a:lnTo>
                        <a:pt x="1379" y="51"/>
                      </a:lnTo>
                      <a:lnTo>
                        <a:pt x="1336" y="40"/>
                      </a:lnTo>
                      <a:lnTo>
                        <a:pt x="1293" y="31"/>
                      </a:lnTo>
                      <a:lnTo>
                        <a:pt x="1248" y="23"/>
                      </a:lnTo>
                      <a:lnTo>
                        <a:pt x="1203" y="16"/>
                      </a:lnTo>
                      <a:lnTo>
                        <a:pt x="1156" y="9"/>
                      </a:lnTo>
                      <a:lnTo>
                        <a:pt x="1109" y="5"/>
                      </a:lnTo>
                      <a:lnTo>
                        <a:pt x="1062" y="2"/>
                      </a:lnTo>
                      <a:lnTo>
                        <a:pt x="1013" y="0"/>
                      </a:lnTo>
                      <a:lnTo>
                        <a:pt x="963" y="0"/>
                      </a:lnTo>
                      <a:lnTo>
                        <a:pt x="914" y="0"/>
                      </a:lnTo>
                      <a:lnTo>
                        <a:pt x="914" y="0"/>
                      </a:lnTo>
                      <a:lnTo>
                        <a:pt x="864" y="2"/>
                      </a:lnTo>
                      <a:lnTo>
                        <a:pt x="816" y="6"/>
                      </a:lnTo>
                      <a:lnTo>
                        <a:pt x="767" y="11"/>
                      </a:lnTo>
                      <a:lnTo>
                        <a:pt x="721" y="17"/>
                      </a:lnTo>
                      <a:lnTo>
                        <a:pt x="675" y="25"/>
                      </a:lnTo>
                      <a:lnTo>
                        <a:pt x="630" y="34"/>
                      </a:lnTo>
                      <a:lnTo>
                        <a:pt x="586" y="44"/>
                      </a:lnTo>
                      <a:lnTo>
                        <a:pt x="543" y="55"/>
                      </a:lnTo>
                      <a:lnTo>
                        <a:pt x="501" y="67"/>
                      </a:lnTo>
                      <a:lnTo>
                        <a:pt x="461" y="81"/>
                      </a:lnTo>
                      <a:lnTo>
                        <a:pt x="422" y="94"/>
                      </a:lnTo>
                      <a:lnTo>
                        <a:pt x="384" y="110"/>
                      </a:lnTo>
                      <a:lnTo>
                        <a:pt x="348" y="126"/>
                      </a:lnTo>
                      <a:lnTo>
                        <a:pt x="312" y="143"/>
                      </a:lnTo>
                      <a:lnTo>
                        <a:pt x="279" y="161"/>
                      </a:lnTo>
                      <a:lnTo>
                        <a:pt x="247" y="180"/>
                      </a:lnTo>
                      <a:lnTo>
                        <a:pt x="217" y="199"/>
                      </a:lnTo>
                      <a:lnTo>
                        <a:pt x="189" y="220"/>
                      </a:lnTo>
                      <a:lnTo>
                        <a:pt x="162" y="242"/>
                      </a:lnTo>
                      <a:lnTo>
                        <a:pt x="137" y="264"/>
                      </a:lnTo>
                      <a:lnTo>
                        <a:pt x="114" y="286"/>
                      </a:lnTo>
                      <a:lnTo>
                        <a:pt x="93" y="310"/>
                      </a:lnTo>
                      <a:lnTo>
                        <a:pt x="73" y="334"/>
                      </a:lnTo>
                      <a:lnTo>
                        <a:pt x="57" y="359"/>
                      </a:lnTo>
                      <a:lnTo>
                        <a:pt x="41" y="383"/>
                      </a:lnTo>
                      <a:lnTo>
                        <a:pt x="29" y="409"/>
                      </a:lnTo>
                      <a:lnTo>
                        <a:pt x="18" y="435"/>
                      </a:lnTo>
                      <a:lnTo>
                        <a:pt x="10" y="462"/>
                      </a:lnTo>
                      <a:lnTo>
                        <a:pt x="5" y="489"/>
                      </a:lnTo>
                      <a:lnTo>
                        <a:pt x="1" y="516"/>
                      </a:lnTo>
                      <a:lnTo>
                        <a:pt x="0" y="544"/>
                      </a:lnTo>
                      <a:lnTo>
                        <a:pt x="1" y="572"/>
                      </a:lnTo>
                      <a:lnTo>
                        <a:pt x="1" y="572"/>
                      </a:lnTo>
                      <a:lnTo>
                        <a:pt x="5" y="599"/>
                      </a:lnTo>
                      <a:lnTo>
                        <a:pt x="11" y="627"/>
                      </a:lnTo>
                      <a:lnTo>
                        <a:pt x="19" y="654"/>
                      </a:lnTo>
                      <a:lnTo>
                        <a:pt x="30" y="680"/>
                      </a:lnTo>
                      <a:lnTo>
                        <a:pt x="44" y="706"/>
                      </a:lnTo>
                      <a:lnTo>
                        <a:pt x="59" y="732"/>
                      </a:lnTo>
                      <a:lnTo>
                        <a:pt x="77" y="756"/>
                      </a:lnTo>
                      <a:lnTo>
                        <a:pt x="97" y="781"/>
                      </a:lnTo>
                      <a:lnTo>
                        <a:pt x="117" y="804"/>
                      </a:lnTo>
                      <a:lnTo>
                        <a:pt x="141" y="826"/>
                      </a:lnTo>
                      <a:lnTo>
                        <a:pt x="167" y="848"/>
                      </a:lnTo>
                      <a:lnTo>
                        <a:pt x="194" y="869"/>
                      </a:lnTo>
                      <a:lnTo>
                        <a:pt x="222" y="890"/>
                      </a:lnTo>
                      <a:lnTo>
                        <a:pt x="252" y="909"/>
                      </a:lnTo>
                      <a:lnTo>
                        <a:pt x="285" y="928"/>
                      </a:lnTo>
                      <a:lnTo>
                        <a:pt x="319" y="946"/>
                      </a:lnTo>
                      <a:lnTo>
                        <a:pt x="354" y="963"/>
                      </a:lnTo>
                      <a:lnTo>
                        <a:pt x="390" y="979"/>
                      </a:lnTo>
                      <a:lnTo>
                        <a:pt x="428" y="994"/>
                      </a:lnTo>
                      <a:lnTo>
                        <a:pt x="467" y="1007"/>
                      </a:lnTo>
                      <a:lnTo>
                        <a:pt x="507" y="1021"/>
                      </a:lnTo>
                      <a:lnTo>
                        <a:pt x="549" y="1032"/>
                      </a:lnTo>
                      <a:lnTo>
                        <a:pt x="592" y="1043"/>
                      </a:lnTo>
                      <a:lnTo>
                        <a:pt x="636" y="1053"/>
                      </a:lnTo>
                      <a:lnTo>
                        <a:pt x="680" y="1060"/>
                      </a:lnTo>
                      <a:lnTo>
                        <a:pt x="726" y="1067"/>
                      </a:lnTo>
                      <a:lnTo>
                        <a:pt x="772" y="1074"/>
                      </a:lnTo>
                      <a:lnTo>
                        <a:pt x="820" y="1078"/>
                      </a:lnTo>
                      <a:lnTo>
                        <a:pt x="868" y="1081"/>
                      </a:lnTo>
                      <a:lnTo>
                        <a:pt x="916" y="1083"/>
                      </a:lnTo>
                      <a:lnTo>
                        <a:pt x="965" y="1083"/>
                      </a:lnTo>
                      <a:lnTo>
                        <a:pt x="1015" y="1083"/>
                      </a:lnTo>
                      <a:lnTo>
                        <a:pt x="1015" y="1083"/>
                      </a:lnTo>
                      <a:lnTo>
                        <a:pt x="1064" y="1081"/>
                      </a:lnTo>
                      <a:lnTo>
                        <a:pt x="1113" y="1077"/>
                      </a:lnTo>
                      <a:lnTo>
                        <a:pt x="1161" y="1072"/>
                      </a:lnTo>
                      <a:lnTo>
                        <a:pt x="1207" y="1066"/>
                      </a:lnTo>
                      <a:lnTo>
                        <a:pt x="1254" y="1059"/>
                      </a:lnTo>
                      <a:lnTo>
                        <a:pt x="1298" y="1049"/>
                      </a:lnTo>
                      <a:lnTo>
                        <a:pt x="1342" y="1039"/>
                      </a:lnTo>
                      <a:lnTo>
                        <a:pt x="1385" y="1028"/>
                      </a:lnTo>
                      <a:lnTo>
                        <a:pt x="1427" y="1016"/>
                      </a:lnTo>
                      <a:lnTo>
                        <a:pt x="1467" y="1004"/>
                      </a:lnTo>
                      <a:lnTo>
                        <a:pt x="1507" y="989"/>
                      </a:lnTo>
                      <a:lnTo>
                        <a:pt x="1545" y="973"/>
                      </a:lnTo>
                      <a:lnTo>
                        <a:pt x="1581" y="957"/>
                      </a:lnTo>
                      <a:lnTo>
                        <a:pt x="1616" y="940"/>
                      </a:lnTo>
                      <a:lnTo>
                        <a:pt x="1649" y="922"/>
                      </a:lnTo>
                      <a:lnTo>
                        <a:pt x="1681" y="903"/>
                      </a:lnTo>
                      <a:lnTo>
                        <a:pt x="1711" y="884"/>
                      </a:lnTo>
                      <a:lnTo>
                        <a:pt x="1740" y="863"/>
                      </a:lnTo>
                      <a:lnTo>
                        <a:pt x="1767" y="842"/>
                      </a:lnTo>
                      <a:lnTo>
                        <a:pt x="1791" y="820"/>
                      </a:lnTo>
                      <a:lnTo>
                        <a:pt x="1814" y="797"/>
                      </a:lnTo>
                      <a:lnTo>
                        <a:pt x="1835" y="773"/>
                      </a:lnTo>
                      <a:lnTo>
                        <a:pt x="1855" y="749"/>
                      </a:lnTo>
                      <a:lnTo>
                        <a:pt x="1872" y="724"/>
                      </a:lnTo>
                      <a:lnTo>
                        <a:pt x="1887" y="700"/>
                      </a:lnTo>
                      <a:lnTo>
                        <a:pt x="1899" y="674"/>
                      </a:lnTo>
                      <a:lnTo>
                        <a:pt x="1910" y="648"/>
                      </a:lnTo>
                      <a:lnTo>
                        <a:pt x="1919" y="621"/>
                      </a:lnTo>
                      <a:lnTo>
                        <a:pt x="1925" y="594"/>
                      </a:lnTo>
                      <a:lnTo>
                        <a:pt x="1928" y="567"/>
                      </a:lnTo>
                      <a:lnTo>
                        <a:pt x="1930" y="539"/>
                      </a:lnTo>
                      <a:lnTo>
                        <a:pt x="1928" y="511"/>
                      </a:lnTo>
                      <a:lnTo>
                        <a:pt x="1928" y="511"/>
                      </a:lnTo>
                      <a:close/>
                    </a:path>
                  </a:pathLst>
                </a:custGeom>
                <a:solidFill>
                  <a:schemeClr val="accent1"/>
                </a:solidFill>
                <a:ln w="7938">
                  <a:noFill/>
                  <a:prstDash val="solid"/>
                  <a:round/>
                  <a:headEnd/>
                  <a:tailEnd/>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88" name="Freeform 11">
                  <a:extLst>
                    <a:ext uri="{FF2B5EF4-FFF2-40B4-BE49-F238E27FC236}">
                      <a16:creationId xmlns:a16="http://schemas.microsoft.com/office/drawing/2014/main" id="{C405FC66-EE52-4BE6-9E42-7CEC8793B63C}"/>
                    </a:ext>
                  </a:extLst>
                </p:cNvPr>
                <p:cNvSpPr>
                  <a:spLocks/>
                </p:cNvSpPr>
                <p:nvPr/>
              </p:nvSpPr>
              <p:spPr bwMode="auto">
                <a:xfrm>
                  <a:off x="6739501" y="5886550"/>
                  <a:ext cx="291798" cy="176828"/>
                </a:xfrm>
                <a:custGeom>
                  <a:avLst/>
                  <a:gdLst>
                    <a:gd name="T0" fmla="*/ 1 w 1697"/>
                    <a:gd name="T1" fmla="*/ 375 h 874"/>
                    <a:gd name="T2" fmla="*/ 38 w 1697"/>
                    <a:gd name="T3" fmla="*/ 545 h 874"/>
                    <a:gd name="T4" fmla="*/ 152 w 1697"/>
                    <a:gd name="T5" fmla="*/ 684 h 874"/>
                    <a:gd name="T6" fmla="*/ 304 w 1697"/>
                    <a:gd name="T7" fmla="*/ 729 h 874"/>
                    <a:gd name="T8" fmla="*/ 341 w 1697"/>
                    <a:gd name="T9" fmla="*/ 630 h 874"/>
                    <a:gd name="T10" fmla="*/ 305 w 1697"/>
                    <a:gd name="T11" fmla="*/ 285 h 874"/>
                    <a:gd name="T12" fmla="*/ 342 w 1697"/>
                    <a:gd name="T13" fmla="*/ 208 h 874"/>
                    <a:gd name="T14" fmla="*/ 389 w 1697"/>
                    <a:gd name="T15" fmla="*/ 262 h 874"/>
                    <a:gd name="T16" fmla="*/ 439 w 1697"/>
                    <a:gd name="T17" fmla="*/ 625 h 874"/>
                    <a:gd name="T18" fmla="*/ 498 w 1697"/>
                    <a:gd name="T19" fmla="*/ 808 h 874"/>
                    <a:gd name="T20" fmla="*/ 602 w 1697"/>
                    <a:gd name="T21" fmla="*/ 870 h 874"/>
                    <a:gd name="T22" fmla="*/ 801 w 1697"/>
                    <a:gd name="T23" fmla="*/ 860 h 874"/>
                    <a:gd name="T24" fmla="*/ 782 w 1697"/>
                    <a:gd name="T25" fmla="*/ 379 h 874"/>
                    <a:gd name="T26" fmla="*/ 770 w 1697"/>
                    <a:gd name="T27" fmla="*/ 207 h 874"/>
                    <a:gd name="T28" fmla="*/ 806 w 1697"/>
                    <a:gd name="T29" fmla="*/ 184 h 874"/>
                    <a:gd name="T30" fmla="*/ 862 w 1697"/>
                    <a:gd name="T31" fmla="*/ 321 h 874"/>
                    <a:gd name="T32" fmla="*/ 894 w 1697"/>
                    <a:gd name="T33" fmla="*/ 692 h 874"/>
                    <a:gd name="T34" fmla="*/ 948 w 1697"/>
                    <a:gd name="T35" fmla="*/ 841 h 874"/>
                    <a:gd name="T36" fmla="*/ 1042 w 1697"/>
                    <a:gd name="T37" fmla="*/ 862 h 874"/>
                    <a:gd name="T38" fmla="*/ 1292 w 1697"/>
                    <a:gd name="T39" fmla="*/ 786 h 874"/>
                    <a:gd name="T40" fmla="*/ 1237 w 1697"/>
                    <a:gd name="T41" fmla="*/ 627 h 874"/>
                    <a:gd name="T42" fmla="*/ 1201 w 1697"/>
                    <a:gd name="T43" fmla="*/ 342 h 874"/>
                    <a:gd name="T44" fmla="*/ 1219 w 1697"/>
                    <a:gd name="T45" fmla="*/ 195 h 874"/>
                    <a:gd name="T46" fmla="*/ 1274 w 1697"/>
                    <a:gd name="T47" fmla="*/ 238 h 874"/>
                    <a:gd name="T48" fmla="*/ 1311 w 1697"/>
                    <a:gd name="T49" fmla="*/ 392 h 874"/>
                    <a:gd name="T50" fmla="*/ 1339 w 1697"/>
                    <a:gd name="T51" fmla="*/ 662 h 874"/>
                    <a:gd name="T52" fmla="*/ 1392 w 1697"/>
                    <a:gd name="T53" fmla="*/ 715 h 874"/>
                    <a:gd name="T54" fmla="*/ 1523 w 1697"/>
                    <a:gd name="T55" fmla="*/ 673 h 874"/>
                    <a:gd name="T56" fmla="*/ 1666 w 1697"/>
                    <a:gd name="T57" fmla="*/ 533 h 874"/>
                    <a:gd name="T58" fmla="*/ 1695 w 1697"/>
                    <a:gd name="T59" fmla="*/ 387 h 874"/>
                    <a:gd name="T60" fmla="*/ 1605 w 1697"/>
                    <a:gd name="T61" fmla="*/ 168 h 874"/>
                    <a:gd name="T62" fmla="*/ 1480 w 1697"/>
                    <a:gd name="T63" fmla="*/ 71 h 874"/>
                    <a:gd name="T64" fmla="*/ 1436 w 1697"/>
                    <a:gd name="T65" fmla="*/ 87 h 874"/>
                    <a:gd name="T66" fmla="*/ 1462 w 1697"/>
                    <a:gd name="T67" fmla="*/ 371 h 874"/>
                    <a:gd name="T68" fmla="*/ 1441 w 1697"/>
                    <a:gd name="T69" fmla="*/ 472 h 874"/>
                    <a:gd name="T70" fmla="*/ 1392 w 1697"/>
                    <a:gd name="T71" fmla="*/ 415 h 874"/>
                    <a:gd name="T72" fmla="*/ 1359 w 1697"/>
                    <a:gd name="T73" fmla="*/ 148 h 874"/>
                    <a:gd name="T74" fmla="*/ 1326 w 1697"/>
                    <a:gd name="T75" fmla="*/ 54 h 874"/>
                    <a:gd name="T76" fmla="*/ 1102 w 1697"/>
                    <a:gd name="T77" fmla="*/ 7 h 874"/>
                    <a:gd name="T78" fmla="*/ 1062 w 1697"/>
                    <a:gd name="T79" fmla="*/ 73 h 874"/>
                    <a:gd name="T80" fmla="*/ 1080 w 1697"/>
                    <a:gd name="T81" fmla="*/ 439 h 874"/>
                    <a:gd name="T82" fmla="*/ 1040 w 1697"/>
                    <a:gd name="T83" fmla="*/ 467 h 874"/>
                    <a:gd name="T84" fmla="*/ 987 w 1697"/>
                    <a:gd name="T85" fmla="*/ 364 h 874"/>
                    <a:gd name="T86" fmla="*/ 965 w 1697"/>
                    <a:gd name="T87" fmla="*/ 99 h 874"/>
                    <a:gd name="T88" fmla="*/ 920 w 1697"/>
                    <a:gd name="T89" fmla="*/ 5 h 874"/>
                    <a:gd name="T90" fmla="*/ 638 w 1697"/>
                    <a:gd name="T91" fmla="*/ 7 h 874"/>
                    <a:gd name="T92" fmla="*/ 601 w 1697"/>
                    <a:gd name="T93" fmla="*/ 67 h 874"/>
                    <a:gd name="T94" fmla="*/ 618 w 1697"/>
                    <a:gd name="T95" fmla="*/ 423 h 874"/>
                    <a:gd name="T96" fmla="*/ 587 w 1697"/>
                    <a:gd name="T97" fmla="*/ 471 h 874"/>
                    <a:gd name="T98" fmla="*/ 540 w 1697"/>
                    <a:gd name="T99" fmla="*/ 332 h 874"/>
                    <a:gd name="T100" fmla="*/ 497 w 1697"/>
                    <a:gd name="T101" fmla="*/ 54 h 874"/>
                    <a:gd name="T102" fmla="*/ 350 w 1697"/>
                    <a:gd name="T103" fmla="*/ 52 h 874"/>
                    <a:gd name="T104" fmla="*/ 178 w 1697"/>
                    <a:gd name="T105" fmla="*/ 117 h 874"/>
                    <a:gd name="T106" fmla="*/ 167 w 1697"/>
                    <a:gd name="T107" fmla="*/ 255 h 874"/>
                    <a:gd name="T108" fmla="*/ 158 w 1697"/>
                    <a:gd name="T109" fmla="*/ 409 h 874"/>
                    <a:gd name="T110" fmla="*/ 114 w 1697"/>
                    <a:gd name="T111" fmla="*/ 377 h 874"/>
                    <a:gd name="T112" fmla="*/ 73 w 1697"/>
                    <a:gd name="T113" fmla="*/ 197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97" h="874">
                      <a:moveTo>
                        <a:pt x="58" y="204"/>
                      </a:moveTo>
                      <a:lnTo>
                        <a:pt x="58" y="204"/>
                      </a:lnTo>
                      <a:lnTo>
                        <a:pt x="42" y="236"/>
                      </a:lnTo>
                      <a:lnTo>
                        <a:pt x="30" y="265"/>
                      </a:lnTo>
                      <a:lnTo>
                        <a:pt x="19" y="298"/>
                      </a:lnTo>
                      <a:lnTo>
                        <a:pt x="12" y="316"/>
                      </a:lnTo>
                      <a:lnTo>
                        <a:pt x="8" y="334"/>
                      </a:lnTo>
                      <a:lnTo>
                        <a:pt x="4" y="354"/>
                      </a:lnTo>
                      <a:lnTo>
                        <a:pt x="1" y="375"/>
                      </a:lnTo>
                      <a:lnTo>
                        <a:pt x="0" y="396"/>
                      </a:lnTo>
                      <a:lnTo>
                        <a:pt x="0" y="415"/>
                      </a:lnTo>
                      <a:lnTo>
                        <a:pt x="3" y="436"/>
                      </a:lnTo>
                      <a:lnTo>
                        <a:pt x="6" y="457"/>
                      </a:lnTo>
                      <a:lnTo>
                        <a:pt x="6" y="457"/>
                      </a:lnTo>
                      <a:lnTo>
                        <a:pt x="12" y="477"/>
                      </a:lnTo>
                      <a:lnTo>
                        <a:pt x="20" y="499"/>
                      </a:lnTo>
                      <a:lnTo>
                        <a:pt x="28" y="522"/>
                      </a:lnTo>
                      <a:lnTo>
                        <a:pt x="38" y="545"/>
                      </a:lnTo>
                      <a:lnTo>
                        <a:pt x="49" y="569"/>
                      </a:lnTo>
                      <a:lnTo>
                        <a:pt x="63" y="592"/>
                      </a:lnTo>
                      <a:lnTo>
                        <a:pt x="79" y="614"/>
                      </a:lnTo>
                      <a:lnTo>
                        <a:pt x="97" y="636"/>
                      </a:lnTo>
                      <a:lnTo>
                        <a:pt x="107" y="646"/>
                      </a:lnTo>
                      <a:lnTo>
                        <a:pt x="117" y="657"/>
                      </a:lnTo>
                      <a:lnTo>
                        <a:pt x="128" y="665"/>
                      </a:lnTo>
                      <a:lnTo>
                        <a:pt x="140" y="675"/>
                      </a:lnTo>
                      <a:lnTo>
                        <a:pt x="152" y="684"/>
                      </a:lnTo>
                      <a:lnTo>
                        <a:pt x="166" y="691"/>
                      </a:lnTo>
                      <a:lnTo>
                        <a:pt x="180" y="699"/>
                      </a:lnTo>
                      <a:lnTo>
                        <a:pt x="195" y="706"/>
                      </a:lnTo>
                      <a:lnTo>
                        <a:pt x="211" y="712"/>
                      </a:lnTo>
                      <a:lnTo>
                        <a:pt x="228" y="717"/>
                      </a:lnTo>
                      <a:lnTo>
                        <a:pt x="245" y="722"/>
                      </a:lnTo>
                      <a:lnTo>
                        <a:pt x="264" y="726"/>
                      </a:lnTo>
                      <a:lnTo>
                        <a:pt x="283" y="728"/>
                      </a:lnTo>
                      <a:lnTo>
                        <a:pt x="304" y="729"/>
                      </a:lnTo>
                      <a:lnTo>
                        <a:pt x="325" y="730"/>
                      </a:lnTo>
                      <a:lnTo>
                        <a:pt x="348" y="730"/>
                      </a:lnTo>
                      <a:lnTo>
                        <a:pt x="348" y="730"/>
                      </a:lnTo>
                      <a:lnTo>
                        <a:pt x="348" y="729"/>
                      </a:lnTo>
                      <a:lnTo>
                        <a:pt x="350" y="728"/>
                      </a:lnTo>
                      <a:lnTo>
                        <a:pt x="351" y="722"/>
                      </a:lnTo>
                      <a:lnTo>
                        <a:pt x="350" y="700"/>
                      </a:lnTo>
                      <a:lnTo>
                        <a:pt x="346" y="668"/>
                      </a:lnTo>
                      <a:lnTo>
                        <a:pt x="341" y="630"/>
                      </a:lnTo>
                      <a:lnTo>
                        <a:pt x="328" y="550"/>
                      </a:lnTo>
                      <a:lnTo>
                        <a:pt x="318" y="493"/>
                      </a:lnTo>
                      <a:lnTo>
                        <a:pt x="318" y="493"/>
                      </a:lnTo>
                      <a:lnTo>
                        <a:pt x="314" y="467"/>
                      </a:lnTo>
                      <a:lnTo>
                        <a:pt x="309" y="428"/>
                      </a:lnTo>
                      <a:lnTo>
                        <a:pt x="305" y="381"/>
                      </a:lnTo>
                      <a:lnTo>
                        <a:pt x="304" y="332"/>
                      </a:lnTo>
                      <a:lnTo>
                        <a:pt x="304" y="309"/>
                      </a:lnTo>
                      <a:lnTo>
                        <a:pt x="305" y="285"/>
                      </a:lnTo>
                      <a:lnTo>
                        <a:pt x="308" y="265"/>
                      </a:lnTo>
                      <a:lnTo>
                        <a:pt x="312" y="246"/>
                      </a:lnTo>
                      <a:lnTo>
                        <a:pt x="317" y="230"/>
                      </a:lnTo>
                      <a:lnTo>
                        <a:pt x="319" y="224"/>
                      </a:lnTo>
                      <a:lnTo>
                        <a:pt x="323" y="218"/>
                      </a:lnTo>
                      <a:lnTo>
                        <a:pt x="328" y="214"/>
                      </a:lnTo>
                      <a:lnTo>
                        <a:pt x="331" y="211"/>
                      </a:lnTo>
                      <a:lnTo>
                        <a:pt x="337" y="208"/>
                      </a:lnTo>
                      <a:lnTo>
                        <a:pt x="342" y="208"/>
                      </a:lnTo>
                      <a:lnTo>
                        <a:pt x="342" y="208"/>
                      </a:lnTo>
                      <a:lnTo>
                        <a:pt x="348" y="208"/>
                      </a:lnTo>
                      <a:lnTo>
                        <a:pt x="353" y="209"/>
                      </a:lnTo>
                      <a:lnTo>
                        <a:pt x="358" y="213"/>
                      </a:lnTo>
                      <a:lnTo>
                        <a:pt x="363" y="217"/>
                      </a:lnTo>
                      <a:lnTo>
                        <a:pt x="368" y="222"/>
                      </a:lnTo>
                      <a:lnTo>
                        <a:pt x="373" y="228"/>
                      </a:lnTo>
                      <a:lnTo>
                        <a:pt x="382" y="244"/>
                      </a:lnTo>
                      <a:lnTo>
                        <a:pt x="389" y="262"/>
                      </a:lnTo>
                      <a:lnTo>
                        <a:pt x="395" y="283"/>
                      </a:lnTo>
                      <a:lnTo>
                        <a:pt x="401" y="306"/>
                      </a:lnTo>
                      <a:lnTo>
                        <a:pt x="406" y="332"/>
                      </a:lnTo>
                      <a:lnTo>
                        <a:pt x="415" y="385"/>
                      </a:lnTo>
                      <a:lnTo>
                        <a:pt x="422" y="439"/>
                      </a:lnTo>
                      <a:lnTo>
                        <a:pt x="431" y="532"/>
                      </a:lnTo>
                      <a:lnTo>
                        <a:pt x="431" y="532"/>
                      </a:lnTo>
                      <a:lnTo>
                        <a:pt x="434" y="575"/>
                      </a:lnTo>
                      <a:lnTo>
                        <a:pt x="439" y="625"/>
                      </a:lnTo>
                      <a:lnTo>
                        <a:pt x="443" y="652"/>
                      </a:lnTo>
                      <a:lnTo>
                        <a:pt x="448" y="680"/>
                      </a:lnTo>
                      <a:lnTo>
                        <a:pt x="454" y="708"/>
                      </a:lnTo>
                      <a:lnTo>
                        <a:pt x="462" y="735"/>
                      </a:lnTo>
                      <a:lnTo>
                        <a:pt x="472" y="761"/>
                      </a:lnTo>
                      <a:lnTo>
                        <a:pt x="477" y="773"/>
                      </a:lnTo>
                      <a:lnTo>
                        <a:pt x="485" y="786"/>
                      </a:lnTo>
                      <a:lnTo>
                        <a:pt x="491" y="798"/>
                      </a:lnTo>
                      <a:lnTo>
                        <a:pt x="498" y="808"/>
                      </a:lnTo>
                      <a:lnTo>
                        <a:pt x="507" y="819"/>
                      </a:lnTo>
                      <a:lnTo>
                        <a:pt x="516" y="829"/>
                      </a:lnTo>
                      <a:lnTo>
                        <a:pt x="526" y="837"/>
                      </a:lnTo>
                      <a:lnTo>
                        <a:pt x="536" y="844"/>
                      </a:lnTo>
                      <a:lnTo>
                        <a:pt x="548" y="852"/>
                      </a:lnTo>
                      <a:lnTo>
                        <a:pt x="561" y="858"/>
                      </a:lnTo>
                      <a:lnTo>
                        <a:pt x="573" y="863"/>
                      </a:lnTo>
                      <a:lnTo>
                        <a:pt x="587" y="867"/>
                      </a:lnTo>
                      <a:lnTo>
                        <a:pt x="602" y="870"/>
                      </a:lnTo>
                      <a:lnTo>
                        <a:pt x="618" y="871"/>
                      </a:lnTo>
                      <a:lnTo>
                        <a:pt x="618" y="871"/>
                      </a:lnTo>
                      <a:lnTo>
                        <a:pt x="678" y="874"/>
                      </a:lnTo>
                      <a:lnTo>
                        <a:pt x="726" y="873"/>
                      </a:lnTo>
                      <a:lnTo>
                        <a:pt x="746" y="873"/>
                      </a:lnTo>
                      <a:lnTo>
                        <a:pt x="763" y="870"/>
                      </a:lnTo>
                      <a:lnTo>
                        <a:pt x="778" y="868"/>
                      </a:lnTo>
                      <a:lnTo>
                        <a:pt x="791" y="864"/>
                      </a:lnTo>
                      <a:lnTo>
                        <a:pt x="801" y="860"/>
                      </a:lnTo>
                      <a:lnTo>
                        <a:pt x="809" y="857"/>
                      </a:lnTo>
                      <a:lnTo>
                        <a:pt x="817" y="852"/>
                      </a:lnTo>
                      <a:lnTo>
                        <a:pt x="822" y="846"/>
                      </a:lnTo>
                      <a:lnTo>
                        <a:pt x="825" y="840"/>
                      </a:lnTo>
                      <a:lnTo>
                        <a:pt x="827" y="833"/>
                      </a:lnTo>
                      <a:lnTo>
                        <a:pt x="828" y="826"/>
                      </a:lnTo>
                      <a:lnTo>
                        <a:pt x="828" y="819"/>
                      </a:lnTo>
                      <a:lnTo>
                        <a:pt x="828" y="819"/>
                      </a:lnTo>
                      <a:lnTo>
                        <a:pt x="782" y="379"/>
                      </a:lnTo>
                      <a:lnTo>
                        <a:pt x="782" y="379"/>
                      </a:lnTo>
                      <a:lnTo>
                        <a:pt x="780" y="358"/>
                      </a:lnTo>
                      <a:lnTo>
                        <a:pt x="775" y="330"/>
                      </a:lnTo>
                      <a:lnTo>
                        <a:pt x="770" y="298"/>
                      </a:lnTo>
                      <a:lnTo>
                        <a:pt x="768" y="265"/>
                      </a:lnTo>
                      <a:lnTo>
                        <a:pt x="766" y="249"/>
                      </a:lnTo>
                      <a:lnTo>
                        <a:pt x="766" y="234"/>
                      </a:lnTo>
                      <a:lnTo>
                        <a:pt x="768" y="219"/>
                      </a:lnTo>
                      <a:lnTo>
                        <a:pt x="770" y="207"/>
                      </a:lnTo>
                      <a:lnTo>
                        <a:pt x="774" y="197"/>
                      </a:lnTo>
                      <a:lnTo>
                        <a:pt x="780" y="189"/>
                      </a:lnTo>
                      <a:lnTo>
                        <a:pt x="782" y="186"/>
                      </a:lnTo>
                      <a:lnTo>
                        <a:pt x="786" y="184"/>
                      </a:lnTo>
                      <a:lnTo>
                        <a:pt x="791" y="182"/>
                      </a:lnTo>
                      <a:lnTo>
                        <a:pt x="796" y="182"/>
                      </a:lnTo>
                      <a:lnTo>
                        <a:pt x="796" y="182"/>
                      </a:lnTo>
                      <a:lnTo>
                        <a:pt x="801" y="182"/>
                      </a:lnTo>
                      <a:lnTo>
                        <a:pt x="806" y="184"/>
                      </a:lnTo>
                      <a:lnTo>
                        <a:pt x="811" y="186"/>
                      </a:lnTo>
                      <a:lnTo>
                        <a:pt x="814" y="190"/>
                      </a:lnTo>
                      <a:lnTo>
                        <a:pt x="823" y="200"/>
                      </a:lnTo>
                      <a:lnTo>
                        <a:pt x="831" y="213"/>
                      </a:lnTo>
                      <a:lnTo>
                        <a:pt x="839" y="230"/>
                      </a:lnTo>
                      <a:lnTo>
                        <a:pt x="845" y="250"/>
                      </a:lnTo>
                      <a:lnTo>
                        <a:pt x="852" y="272"/>
                      </a:lnTo>
                      <a:lnTo>
                        <a:pt x="857" y="295"/>
                      </a:lnTo>
                      <a:lnTo>
                        <a:pt x="862" y="321"/>
                      </a:lnTo>
                      <a:lnTo>
                        <a:pt x="867" y="348"/>
                      </a:lnTo>
                      <a:lnTo>
                        <a:pt x="874" y="403"/>
                      </a:lnTo>
                      <a:lnTo>
                        <a:pt x="881" y="460"/>
                      </a:lnTo>
                      <a:lnTo>
                        <a:pt x="885" y="513"/>
                      </a:lnTo>
                      <a:lnTo>
                        <a:pt x="885" y="513"/>
                      </a:lnTo>
                      <a:lnTo>
                        <a:pt x="888" y="570"/>
                      </a:lnTo>
                      <a:lnTo>
                        <a:pt x="889" y="631"/>
                      </a:lnTo>
                      <a:lnTo>
                        <a:pt x="892" y="662"/>
                      </a:lnTo>
                      <a:lnTo>
                        <a:pt x="894" y="692"/>
                      </a:lnTo>
                      <a:lnTo>
                        <a:pt x="898" y="723"/>
                      </a:lnTo>
                      <a:lnTo>
                        <a:pt x="904" y="751"/>
                      </a:lnTo>
                      <a:lnTo>
                        <a:pt x="911" y="778"/>
                      </a:lnTo>
                      <a:lnTo>
                        <a:pt x="916" y="791"/>
                      </a:lnTo>
                      <a:lnTo>
                        <a:pt x="921" y="803"/>
                      </a:lnTo>
                      <a:lnTo>
                        <a:pt x="926" y="813"/>
                      </a:lnTo>
                      <a:lnTo>
                        <a:pt x="933" y="824"/>
                      </a:lnTo>
                      <a:lnTo>
                        <a:pt x="939" y="832"/>
                      </a:lnTo>
                      <a:lnTo>
                        <a:pt x="948" y="841"/>
                      </a:lnTo>
                      <a:lnTo>
                        <a:pt x="957" y="848"/>
                      </a:lnTo>
                      <a:lnTo>
                        <a:pt x="966" y="854"/>
                      </a:lnTo>
                      <a:lnTo>
                        <a:pt x="976" y="858"/>
                      </a:lnTo>
                      <a:lnTo>
                        <a:pt x="987" y="862"/>
                      </a:lnTo>
                      <a:lnTo>
                        <a:pt x="999" y="864"/>
                      </a:lnTo>
                      <a:lnTo>
                        <a:pt x="1013" y="865"/>
                      </a:lnTo>
                      <a:lnTo>
                        <a:pt x="1026" y="864"/>
                      </a:lnTo>
                      <a:lnTo>
                        <a:pt x="1042" y="862"/>
                      </a:lnTo>
                      <a:lnTo>
                        <a:pt x="1042" y="862"/>
                      </a:lnTo>
                      <a:lnTo>
                        <a:pt x="1102" y="849"/>
                      </a:lnTo>
                      <a:lnTo>
                        <a:pt x="1155" y="838"/>
                      </a:lnTo>
                      <a:lnTo>
                        <a:pt x="1201" y="826"/>
                      </a:lnTo>
                      <a:lnTo>
                        <a:pt x="1239" y="814"/>
                      </a:lnTo>
                      <a:lnTo>
                        <a:pt x="1253" y="808"/>
                      </a:lnTo>
                      <a:lnTo>
                        <a:pt x="1267" y="802"/>
                      </a:lnTo>
                      <a:lnTo>
                        <a:pt x="1278" y="797"/>
                      </a:lnTo>
                      <a:lnTo>
                        <a:pt x="1286" y="791"/>
                      </a:lnTo>
                      <a:lnTo>
                        <a:pt x="1292" y="786"/>
                      </a:lnTo>
                      <a:lnTo>
                        <a:pt x="1296" y="779"/>
                      </a:lnTo>
                      <a:lnTo>
                        <a:pt x="1296" y="775"/>
                      </a:lnTo>
                      <a:lnTo>
                        <a:pt x="1295" y="770"/>
                      </a:lnTo>
                      <a:lnTo>
                        <a:pt x="1295" y="770"/>
                      </a:lnTo>
                      <a:lnTo>
                        <a:pt x="1285" y="755"/>
                      </a:lnTo>
                      <a:lnTo>
                        <a:pt x="1273" y="729"/>
                      </a:lnTo>
                      <a:lnTo>
                        <a:pt x="1259" y="695"/>
                      </a:lnTo>
                      <a:lnTo>
                        <a:pt x="1245" y="652"/>
                      </a:lnTo>
                      <a:lnTo>
                        <a:pt x="1237" y="627"/>
                      </a:lnTo>
                      <a:lnTo>
                        <a:pt x="1230" y="602"/>
                      </a:lnTo>
                      <a:lnTo>
                        <a:pt x="1223" y="572"/>
                      </a:lnTo>
                      <a:lnTo>
                        <a:pt x="1216" y="543"/>
                      </a:lnTo>
                      <a:lnTo>
                        <a:pt x="1212" y="511"/>
                      </a:lnTo>
                      <a:lnTo>
                        <a:pt x="1208" y="478"/>
                      </a:lnTo>
                      <a:lnTo>
                        <a:pt x="1204" y="444"/>
                      </a:lnTo>
                      <a:lnTo>
                        <a:pt x="1202" y="408"/>
                      </a:lnTo>
                      <a:lnTo>
                        <a:pt x="1202" y="408"/>
                      </a:lnTo>
                      <a:lnTo>
                        <a:pt x="1201" y="342"/>
                      </a:lnTo>
                      <a:lnTo>
                        <a:pt x="1199" y="292"/>
                      </a:lnTo>
                      <a:lnTo>
                        <a:pt x="1201" y="255"/>
                      </a:lnTo>
                      <a:lnTo>
                        <a:pt x="1202" y="228"/>
                      </a:lnTo>
                      <a:lnTo>
                        <a:pt x="1203" y="218"/>
                      </a:lnTo>
                      <a:lnTo>
                        <a:pt x="1205" y="211"/>
                      </a:lnTo>
                      <a:lnTo>
                        <a:pt x="1208" y="204"/>
                      </a:lnTo>
                      <a:lnTo>
                        <a:pt x="1212" y="200"/>
                      </a:lnTo>
                      <a:lnTo>
                        <a:pt x="1215" y="196"/>
                      </a:lnTo>
                      <a:lnTo>
                        <a:pt x="1219" y="195"/>
                      </a:lnTo>
                      <a:lnTo>
                        <a:pt x="1229" y="191"/>
                      </a:lnTo>
                      <a:lnTo>
                        <a:pt x="1229" y="191"/>
                      </a:lnTo>
                      <a:lnTo>
                        <a:pt x="1235" y="192"/>
                      </a:lnTo>
                      <a:lnTo>
                        <a:pt x="1241" y="195"/>
                      </a:lnTo>
                      <a:lnTo>
                        <a:pt x="1248" y="200"/>
                      </a:lnTo>
                      <a:lnTo>
                        <a:pt x="1254" y="206"/>
                      </a:lnTo>
                      <a:lnTo>
                        <a:pt x="1262" y="216"/>
                      </a:lnTo>
                      <a:lnTo>
                        <a:pt x="1268" y="225"/>
                      </a:lnTo>
                      <a:lnTo>
                        <a:pt x="1274" y="238"/>
                      </a:lnTo>
                      <a:lnTo>
                        <a:pt x="1280" y="251"/>
                      </a:lnTo>
                      <a:lnTo>
                        <a:pt x="1286" y="266"/>
                      </a:lnTo>
                      <a:lnTo>
                        <a:pt x="1292" y="282"/>
                      </a:lnTo>
                      <a:lnTo>
                        <a:pt x="1297" y="299"/>
                      </a:lnTo>
                      <a:lnTo>
                        <a:pt x="1301" y="316"/>
                      </a:lnTo>
                      <a:lnTo>
                        <a:pt x="1305" y="334"/>
                      </a:lnTo>
                      <a:lnTo>
                        <a:pt x="1307" y="354"/>
                      </a:lnTo>
                      <a:lnTo>
                        <a:pt x="1310" y="372"/>
                      </a:lnTo>
                      <a:lnTo>
                        <a:pt x="1311" y="392"/>
                      </a:lnTo>
                      <a:lnTo>
                        <a:pt x="1311" y="392"/>
                      </a:lnTo>
                      <a:lnTo>
                        <a:pt x="1311" y="435"/>
                      </a:lnTo>
                      <a:lnTo>
                        <a:pt x="1313" y="483"/>
                      </a:lnTo>
                      <a:lnTo>
                        <a:pt x="1317" y="532"/>
                      </a:lnTo>
                      <a:lnTo>
                        <a:pt x="1322" y="580"/>
                      </a:lnTo>
                      <a:lnTo>
                        <a:pt x="1326" y="603"/>
                      </a:lnTo>
                      <a:lnTo>
                        <a:pt x="1329" y="625"/>
                      </a:lnTo>
                      <a:lnTo>
                        <a:pt x="1334" y="645"/>
                      </a:lnTo>
                      <a:lnTo>
                        <a:pt x="1339" y="662"/>
                      </a:lnTo>
                      <a:lnTo>
                        <a:pt x="1345" y="678"/>
                      </a:lnTo>
                      <a:lnTo>
                        <a:pt x="1351" y="690"/>
                      </a:lnTo>
                      <a:lnTo>
                        <a:pt x="1359" y="700"/>
                      </a:lnTo>
                      <a:lnTo>
                        <a:pt x="1362" y="703"/>
                      </a:lnTo>
                      <a:lnTo>
                        <a:pt x="1366" y="706"/>
                      </a:lnTo>
                      <a:lnTo>
                        <a:pt x="1366" y="706"/>
                      </a:lnTo>
                      <a:lnTo>
                        <a:pt x="1375" y="710"/>
                      </a:lnTo>
                      <a:lnTo>
                        <a:pt x="1383" y="712"/>
                      </a:lnTo>
                      <a:lnTo>
                        <a:pt x="1392" y="715"/>
                      </a:lnTo>
                      <a:lnTo>
                        <a:pt x="1400" y="716"/>
                      </a:lnTo>
                      <a:lnTo>
                        <a:pt x="1418" y="716"/>
                      </a:lnTo>
                      <a:lnTo>
                        <a:pt x="1436" y="713"/>
                      </a:lnTo>
                      <a:lnTo>
                        <a:pt x="1453" y="708"/>
                      </a:lnTo>
                      <a:lnTo>
                        <a:pt x="1469" y="702"/>
                      </a:lnTo>
                      <a:lnTo>
                        <a:pt x="1485" y="695"/>
                      </a:lnTo>
                      <a:lnTo>
                        <a:pt x="1501" y="686"/>
                      </a:lnTo>
                      <a:lnTo>
                        <a:pt x="1501" y="686"/>
                      </a:lnTo>
                      <a:lnTo>
                        <a:pt x="1523" y="673"/>
                      </a:lnTo>
                      <a:lnTo>
                        <a:pt x="1539" y="663"/>
                      </a:lnTo>
                      <a:lnTo>
                        <a:pt x="1556" y="652"/>
                      </a:lnTo>
                      <a:lnTo>
                        <a:pt x="1576" y="637"/>
                      </a:lnTo>
                      <a:lnTo>
                        <a:pt x="1595" y="621"/>
                      </a:lnTo>
                      <a:lnTo>
                        <a:pt x="1615" y="603"/>
                      </a:lnTo>
                      <a:lnTo>
                        <a:pt x="1633" y="582"/>
                      </a:lnTo>
                      <a:lnTo>
                        <a:pt x="1652" y="559"/>
                      </a:lnTo>
                      <a:lnTo>
                        <a:pt x="1659" y="547"/>
                      </a:lnTo>
                      <a:lnTo>
                        <a:pt x="1666" y="533"/>
                      </a:lnTo>
                      <a:lnTo>
                        <a:pt x="1674" y="520"/>
                      </a:lnTo>
                      <a:lnTo>
                        <a:pt x="1680" y="505"/>
                      </a:lnTo>
                      <a:lnTo>
                        <a:pt x="1685" y="490"/>
                      </a:lnTo>
                      <a:lnTo>
                        <a:pt x="1690" y="474"/>
                      </a:lnTo>
                      <a:lnTo>
                        <a:pt x="1693" y="458"/>
                      </a:lnTo>
                      <a:lnTo>
                        <a:pt x="1696" y="441"/>
                      </a:lnTo>
                      <a:lnTo>
                        <a:pt x="1697" y="424"/>
                      </a:lnTo>
                      <a:lnTo>
                        <a:pt x="1696" y="406"/>
                      </a:lnTo>
                      <a:lnTo>
                        <a:pt x="1695" y="387"/>
                      </a:lnTo>
                      <a:lnTo>
                        <a:pt x="1692" y="368"/>
                      </a:lnTo>
                      <a:lnTo>
                        <a:pt x="1688" y="348"/>
                      </a:lnTo>
                      <a:lnTo>
                        <a:pt x="1682" y="327"/>
                      </a:lnTo>
                      <a:lnTo>
                        <a:pt x="1682" y="327"/>
                      </a:lnTo>
                      <a:lnTo>
                        <a:pt x="1668" y="287"/>
                      </a:lnTo>
                      <a:lnTo>
                        <a:pt x="1653" y="251"/>
                      </a:lnTo>
                      <a:lnTo>
                        <a:pt x="1637" y="220"/>
                      </a:lnTo>
                      <a:lnTo>
                        <a:pt x="1621" y="192"/>
                      </a:lnTo>
                      <a:lnTo>
                        <a:pt x="1605" y="168"/>
                      </a:lnTo>
                      <a:lnTo>
                        <a:pt x="1589" y="147"/>
                      </a:lnTo>
                      <a:lnTo>
                        <a:pt x="1572" y="128"/>
                      </a:lnTo>
                      <a:lnTo>
                        <a:pt x="1556" y="114"/>
                      </a:lnTo>
                      <a:lnTo>
                        <a:pt x="1541" y="102"/>
                      </a:lnTo>
                      <a:lnTo>
                        <a:pt x="1527" y="90"/>
                      </a:lnTo>
                      <a:lnTo>
                        <a:pt x="1513" y="83"/>
                      </a:lnTo>
                      <a:lnTo>
                        <a:pt x="1501" y="77"/>
                      </a:lnTo>
                      <a:lnTo>
                        <a:pt x="1490" y="73"/>
                      </a:lnTo>
                      <a:lnTo>
                        <a:pt x="1480" y="71"/>
                      </a:lnTo>
                      <a:lnTo>
                        <a:pt x="1473" y="70"/>
                      </a:lnTo>
                      <a:lnTo>
                        <a:pt x="1468" y="68"/>
                      </a:lnTo>
                      <a:lnTo>
                        <a:pt x="1468" y="68"/>
                      </a:lnTo>
                      <a:lnTo>
                        <a:pt x="1459" y="70"/>
                      </a:lnTo>
                      <a:lnTo>
                        <a:pt x="1452" y="71"/>
                      </a:lnTo>
                      <a:lnTo>
                        <a:pt x="1445" y="73"/>
                      </a:lnTo>
                      <a:lnTo>
                        <a:pt x="1442" y="76"/>
                      </a:lnTo>
                      <a:lnTo>
                        <a:pt x="1440" y="78"/>
                      </a:lnTo>
                      <a:lnTo>
                        <a:pt x="1436" y="87"/>
                      </a:lnTo>
                      <a:lnTo>
                        <a:pt x="1433" y="99"/>
                      </a:lnTo>
                      <a:lnTo>
                        <a:pt x="1433" y="116"/>
                      </a:lnTo>
                      <a:lnTo>
                        <a:pt x="1435" y="138"/>
                      </a:lnTo>
                      <a:lnTo>
                        <a:pt x="1435" y="138"/>
                      </a:lnTo>
                      <a:lnTo>
                        <a:pt x="1440" y="174"/>
                      </a:lnTo>
                      <a:lnTo>
                        <a:pt x="1446" y="224"/>
                      </a:lnTo>
                      <a:lnTo>
                        <a:pt x="1453" y="282"/>
                      </a:lnTo>
                      <a:lnTo>
                        <a:pt x="1459" y="342"/>
                      </a:lnTo>
                      <a:lnTo>
                        <a:pt x="1462" y="371"/>
                      </a:lnTo>
                      <a:lnTo>
                        <a:pt x="1462" y="397"/>
                      </a:lnTo>
                      <a:lnTo>
                        <a:pt x="1462" y="422"/>
                      </a:lnTo>
                      <a:lnTo>
                        <a:pt x="1459" y="441"/>
                      </a:lnTo>
                      <a:lnTo>
                        <a:pt x="1458" y="450"/>
                      </a:lnTo>
                      <a:lnTo>
                        <a:pt x="1456" y="457"/>
                      </a:lnTo>
                      <a:lnTo>
                        <a:pt x="1453" y="463"/>
                      </a:lnTo>
                      <a:lnTo>
                        <a:pt x="1449" y="467"/>
                      </a:lnTo>
                      <a:lnTo>
                        <a:pt x="1446" y="471"/>
                      </a:lnTo>
                      <a:lnTo>
                        <a:pt x="1441" y="472"/>
                      </a:lnTo>
                      <a:lnTo>
                        <a:pt x="1436" y="472"/>
                      </a:lnTo>
                      <a:lnTo>
                        <a:pt x="1430" y="469"/>
                      </a:lnTo>
                      <a:lnTo>
                        <a:pt x="1430" y="469"/>
                      </a:lnTo>
                      <a:lnTo>
                        <a:pt x="1425" y="466"/>
                      </a:lnTo>
                      <a:lnTo>
                        <a:pt x="1419" y="461"/>
                      </a:lnTo>
                      <a:lnTo>
                        <a:pt x="1414" y="456"/>
                      </a:lnTo>
                      <a:lnTo>
                        <a:pt x="1409" y="448"/>
                      </a:lnTo>
                      <a:lnTo>
                        <a:pt x="1400" y="434"/>
                      </a:lnTo>
                      <a:lnTo>
                        <a:pt x="1392" y="415"/>
                      </a:lnTo>
                      <a:lnTo>
                        <a:pt x="1386" y="395"/>
                      </a:lnTo>
                      <a:lnTo>
                        <a:pt x="1381" y="371"/>
                      </a:lnTo>
                      <a:lnTo>
                        <a:pt x="1376" y="348"/>
                      </a:lnTo>
                      <a:lnTo>
                        <a:pt x="1372" y="323"/>
                      </a:lnTo>
                      <a:lnTo>
                        <a:pt x="1367" y="277"/>
                      </a:lnTo>
                      <a:lnTo>
                        <a:pt x="1364" y="233"/>
                      </a:lnTo>
                      <a:lnTo>
                        <a:pt x="1361" y="180"/>
                      </a:lnTo>
                      <a:lnTo>
                        <a:pt x="1361" y="180"/>
                      </a:lnTo>
                      <a:lnTo>
                        <a:pt x="1359" y="148"/>
                      </a:lnTo>
                      <a:lnTo>
                        <a:pt x="1356" y="128"/>
                      </a:lnTo>
                      <a:lnTo>
                        <a:pt x="1354" y="108"/>
                      </a:lnTo>
                      <a:lnTo>
                        <a:pt x="1350" y="88"/>
                      </a:lnTo>
                      <a:lnTo>
                        <a:pt x="1348" y="79"/>
                      </a:lnTo>
                      <a:lnTo>
                        <a:pt x="1344" y="72"/>
                      </a:lnTo>
                      <a:lnTo>
                        <a:pt x="1340" y="65"/>
                      </a:lnTo>
                      <a:lnTo>
                        <a:pt x="1337" y="60"/>
                      </a:lnTo>
                      <a:lnTo>
                        <a:pt x="1332" y="56"/>
                      </a:lnTo>
                      <a:lnTo>
                        <a:pt x="1326" y="54"/>
                      </a:lnTo>
                      <a:lnTo>
                        <a:pt x="1326" y="54"/>
                      </a:lnTo>
                      <a:lnTo>
                        <a:pt x="1281" y="43"/>
                      </a:lnTo>
                      <a:lnTo>
                        <a:pt x="1214" y="27"/>
                      </a:lnTo>
                      <a:lnTo>
                        <a:pt x="1178" y="18"/>
                      </a:lnTo>
                      <a:lnTo>
                        <a:pt x="1147" y="12"/>
                      </a:lnTo>
                      <a:lnTo>
                        <a:pt x="1120" y="7"/>
                      </a:lnTo>
                      <a:lnTo>
                        <a:pt x="1110" y="7"/>
                      </a:lnTo>
                      <a:lnTo>
                        <a:pt x="1102" y="7"/>
                      </a:lnTo>
                      <a:lnTo>
                        <a:pt x="1102" y="7"/>
                      </a:lnTo>
                      <a:lnTo>
                        <a:pt x="1093" y="10"/>
                      </a:lnTo>
                      <a:lnTo>
                        <a:pt x="1083" y="12"/>
                      </a:lnTo>
                      <a:lnTo>
                        <a:pt x="1075" y="16"/>
                      </a:lnTo>
                      <a:lnTo>
                        <a:pt x="1069" y="22"/>
                      </a:lnTo>
                      <a:lnTo>
                        <a:pt x="1064" y="30"/>
                      </a:lnTo>
                      <a:lnTo>
                        <a:pt x="1062" y="41"/>
                      </a:lnTo>
                      <a:lnTo>
                        <a:pt x="1062" y="56"/>
                      </a:lnTo>
                      <a:lnTo>
                        <a:pt x="1062" y="73"/>
                      </a:lnTo>
                      <a:lnTo>
                        <a:pt x="1062" y="73"/>
                      </a:lnTo>
                      <a:lnTo>
                        <a:pt x="1073" y="158"/>
                      </a:lnTo>
                      <a:lnTo>
                        <a:pt x="1080" y="223"/>
                      </a:lnTo>
                      <a:lnTo>
                        <a:pt x="1085" y="293"/>
                      </a:lnTo>
                      <a:lnTo>
                        <a:pt x="1088" y="327"/>
                      </a:lnTo>
                      <a:lnTo>
                        <a:pt x="1088" y="359"/>
                      </a:lnTo>
                      <a:lnTo>
                        <a:pt x="1086" y="390"/>
                      </a:lnTo>
                      <a:lnTo>
                        <a:pt x="1084" y="417"/>
                      </a:lnTo>
                      <a:lnTo>
                        <a:pt x="1083" y="428"/>
                      </a:lnTo>
                      <a:lnTo>
                        <a:pt x="1080" y="439"/>
                      </a:lnTo>
                      <a:lnTo>
                        <a:pt x="1077" y="447"/>
                      </a:lnTo>
                      <a:lnTo>
                        <a:pt x="1073" y="456"/>
                      </a:lnTo>
                      <a:lnTo>
                        <a:pt x="1069" y="462"/>
                      </a:lnTo>
                      <a:lnTo>
                        <a:pt x="1064" y="466"/>
                      </a:lnTo>
                      <a:lnTo>
                        <a:pt x="1058" y="469"/>
                      </a:lnTo>
                      <a:lnTo>
                        <a:pt x="1052" y="469"/>
                      </a:lnTo>
                      <a:lnTo>
                        <a:pt x="1052" y="469"/>
                      </a:lnTo>
                      <a:lnTo>
                        <a:pt x="1046" y="469"/>
                      </a:lnTo>
                      <a:lnTo>
                        <a:pt x="1040" y="467"/>
                      </a:lnTo>
                      <a:lnTo>
                        <a:pt x="1034" y="464"/>
                      </a:lnTo>
                      <a:lnTo>
                        <a:pt x="1029" y="461"/>
                      </a:lnTo>
                      <a:lnTo>
                        <a:pt x="1024" y="457"/>
                      </a:lnTo>
                      <a:lnTo>
                        <a:pt x="1019" y="451"/>
                      </a:lnTo>
                      <a:lnTo>
                        <a:pt x="1010" y="439"/>
                      </a:lnTo>
                      <a:lnTo>
                        <a:pt x="1003" y="423"/>
                      </a:lnTo>
                      <a:lnTo>
                        <a:pt x="997" y="404"/>
                      </a:lnTo>
                      <a:lnTo>
                        <a:pt x="992" y="385"/>
                      </a:lnTo>
                      <a:lnTo>
                        <a:pt x="987" y="364"/>
                      </a:lnTo>
                      <a:lnTo>
                        <a:pt x="984" y="342"/>
                      </a:lnTo>
                      <a:lnTo>
                        <a:pt x="981" y="319"/>
                      </a:lnTo>
                      <a:lnTo>
                        <a:pt x="976" y="274"/>
                      </a:lnTo>
                      <a:lnTo>
                        <a:pt x="974" y="231"/>
                      </a:lnTo>
                      <a:lnTo>
                        <a:pt x="972" y="196"/>
                      </a:lnTo>
                      <a:lnTo>
                        <a:pt x="972" y="196"/>
                      </a:lnTo>
                      <a:lnTo>
                        <a:pt x="971" y="163"/>
                      </a:lnTo>
                      <a:lnTo>
                        <a:pt x="969" y="131"/>
                      </a:lnTo>
                      <a:lnTo>
                        <a:pt x="965" y="99"/>
                      </a:lnTo>
                      <a:lnTo>
                        <a:pt x="960" y="70"/>
                      </a:lnTo>
                      <a:lnTo>
                        <a:pt x="958" y="56"/>
                      </a:lnTo>
                      <a:lnTo>
                        <a:pt x="954" y="44"/>
                      </a:lnTo>
                      <a:lnTo>
                        <a:pt x="950" y="33"/>
                      </a:lnTo>
                      <a:lnTo>
                        <a:pt x="945" y="24"/>
                      </a:lnTo>
                      <a:lnTo>
                        <a:pt x="941" y="17"/>
                      </a:lnTo>
                      <a:lnTo>
                        <a:pt x="934" y="11"/>
                      </a:lnTo>
                      <a:lnTo>
                        <a:pt x="927" y="7"/>
                      </a:lnTo>
                      <a:lnTo>
                        <a:pt x="920" y="5"/>
                      </a:lnTo>
                      <a:lnTo>
                        <a:pt x="920" y="5"/>
                      </a:lnTo>
                      <a:lnTo>
                        <a:pt x="862" y="2"/>
                      </a:lnTo>
                      <a:lnTo>
                        <a:pt x="819" y="0"/>
                      </a:lnTo>
                      <a:lnTo>
                        <a:pt x="773" y="0"/>
                      </a:lnTo>
                      <a:lnTo>
                        <a:pt x="727" y="0"/>
                      </a:lnTo>
                      <a:lnTo>
                        <a:pt x="684" y="1"/>
                      </a:lnTo>
                      <a:lnTo>
                        <a:pt x="666" y="2"/>
                      </a:lnTo>
                      <a:lnTo>
                        <a:pt x="650" y="5"/>
                      </a:lnTo>
                      <a:lnTo>
                        <a:pt x="638" y="7"/>
                      </a:lnTo>
                      <a:lnTo>
                        <a:pt x="628" y="11"/>
                      </a:lnTo>
                      <a:lnTo>
                        <a:pt x="628" y="11"/>
                      </a:lnTo>
                      <a:lnTo>
                        <a:pt x="614" y="18"/>
                      </a:lnTo>
                      <a:lnTo>
                        <a:pt x="606" y="24"/>
                      </a:lnTo>
                      <a:lnTo>
                        <a:pt x="601" y="29"/>
                      </a:lnTo>
                      <a:lnTo>
                        <a:pt x="599" y="37"/>
                      </a:lnTo>
                      <a:lnTo>
                        <a:pt x="599" y="44"/>
                      </a:lnTo>
                      <a:lnTo>
                        <a:pt x="600" y="55"/>
                      </a:lnTo>
                      <a:lnTo>
                        <a:pt x="601" y="67"/>
                      </a:lnTo>
                      <a:lnTo>
                        <a:pt x="603" y="84"/>
                      </a:lnTo>
                      <a:lnTo>
                        <a:pt x="603" y="84"/>
                      </a:lnTo>
                      <a:lnTo>
                        <a:pt x="612" y="168"/>
                      </a:lnTo>
                      <a:lnTo>
                        <a:pt x="617" y="231"/>
                      </a:lnTo>
                      <a:lnTo>
                        <a:pt x="621" y="301"/>
                      </a:lnTo>
                      <a:lnTo>
                        <a:pt x="622" y="334"/>
                      </a:lnTo>
                      <a:lnTo>
                        <a:pt x="622" y="368"/>
                      </a:lnTo>
                      <a:lnTo>
                        <a:pt x="621" y="397"/>
                      </a:lnTo>
                      <a:lnTo>
                        <a:pt x="618" y="423"/>
                      </a:lnTo>
                      <a:lnTo>
                        <a:pt x="614" y="445"/>
                      </a:lnTo>
                      <a:lnTo>
                        <a:pt x="612" y="453"/>
                      </a:lnTo>
                      <a:lnTo>
                        <a:pt x="610" y="461"/>
                      </a:lnTo>
                      <a:lnTo>
                        <a:pt x="606" y="467"/>
                      </a:lnTo>
                      <a:lnTo>
                        <a:pt x="602" y="471"/>
                      </a:lnTo>
                      <a:lnTo>
                        <a:pt x="599" y="473"/>
                      </a:lnTo>
                      <a:lnTo>
                        <a:pt x="594" y="473"/>
                      </a:lnTo>
                      <a:lnTo>
                        <a:pt x="594" y="473"/>
                      </a:lnTo>
                      <a:lnTo>
                        <a:pt x="587" y="471"/>
                      </a:lnTo>
                      <a:lnTo>
                        <a:pt x="583" y="467"/>
                      </a:lnTo>
                      <a:lnTo>
                        <a:pt x="579" y="462"/>
                      </a:lnTo>
                      <a:lnTo>
                        <a:pt x="574" y="456"/>
                      </a:lnTo>
                      <a:lnTo>
                        <a:pt x="569" y="447"/>
                      </a:lnTo>
                      <a:lnTo>
                        <a:pt x="565" y="439"/>
                      </a:lnTo>
                      <a:lnTo>
                        <a:pt x="558" y="417"/>
                      </a:lnTo>
                      <a:lnTo>
                        <a:pt x="551" y="391"/>
                      </a:lnTo>
                      <a:lnTo>
                        <a:pt x="545" y="363"/>
                      </a:lnTo>
                      <a:lnTo>
                        <a:pt x="540" y="332"/>
                      </a:lnTo>
                      <a:lnTo>
                        <a:pt x="535" y="300"/>
                      </a:lnTo>
                      <a:lnTo>
                        <a:pt x="527" y="235"/>
                      </a:lnTo>
                      <a:lnTo>
                        <a:pt x="521" y="176"/>
                      </a:lnTo>
                      <a:lnTo>
                        <a:pt x="515" y="103"/>
                      </a:lnTo>
                      <a:lnTo>
                        <a:pt x="515" y="103"/>
                      </a:lnTo>
                      <a:lnTo>
                        <a:pt x="513" y="88"/>
                      </a:lnTo>
                      <a:lnTo>
                        <a:pt x="509" y="75"/>
                      </a:lnTo>
                      <a:lnTo>
                        <a:pt x="504" y="62"/>
                      </a:lnTo>
                      <a:lnTo>
                        <a:pt x="497" y="54"/>
                      </a:lnTo>
                      <a:lnTo>
                        <a:pt x="487" y="46"/>
                      </a:lnTo>
                      <a:lnTo>
                        <a:pt x="482" y="43"/>
                      </a:lnTo>
                      <a:lnTo>
                        <a:pt x="477" y="41"/>
                      </a:lnTo>
                      <a:lnTo>
                        <a:pt x="471" y="39"/>
                      </a:lnTo>
                      <a:lnTo>
                        <a:pt x="465" y="39"/>
                      </a:lnTo>
                      <a:lnTo>
                        <a:pt x="451" y="39"/>
                      </a:lnTo>
                      <a:lnTo>
                        <a:pt x="451" y="39"/>
                      </a:lnTo>
                      <a:lnTo>
                        <a:pt x="394" y="46"/>
                      </a:lnTo>
                      <a:lnTo>
                        <a:pt x="350" y="52"/>
                      </a:lnTo>
                      <a:lnTo>
                        <a:pt x="302" y="62"/>
                      </a:lnTo>
                      <a:lnTo>
                        <a:pt x="277" y="68"/>
                      </a:lnTo>
                      <a:lnTo>
                        <a:pt x="255" y="75"/>
                      </a:lnTo>
                      <a:lnTo>
                        <a:pt x="233" y="82"/>
                      </a:lnTo>
                      <a:lnTo>
                        <a:pt x="214" y="90"/>
                      </a:lnTo>
                      <a:lnTo>
                        <a:pt x="198" y="100"/>
                      </a:lnTo>
                      <a:lnTo>
                        <a:pt x="190" y="105"/>
                      </a:lnTo>
                      <a:lnTo>
                        <a:pt x="183" y="111"/>
                      </a:lnTo>
                      <a:lnTo>
                        <a:pt x="178" y="117"/>
                      </a:lnTo>
                      <a:lnTo>
                        <a:pt x="173" y="124"/>
                      </a:lnTo>
                      <a:lnTo>
                        <a:pt x="171" y="130"/>
                      </a:lnTo>
                      <a:lnTo>
                        <a:pt x="168" y="136"/>
                      </a:lnTo>
                      <a:lnTo>
                        <a:pt x="168" y="136"/>
                      </a:lnTo>
                      <a:lnTo>
                        <a:pt x="166" y="152"/>
                      </a:lnTo>
                      <a:lnTo>
                        <a:pt x="165" y="169"/>
                      </a:lnTo>
                      <a:lnTo>
                        <a:pt x="165" y="189"/>
                      </a:lnTo>
                      <a:lnTo>
                        <a:pt x="165" y="209"/>
                      </a:lnTo>
                      <a:lnTo>
                        <a:pt x="167" y="255"/>
                      </a:lnTo>
                      <a:lnTo>
                        <a:pt x="169" y="300"/>
                      </a:lnTo>
                      <a:lnTo>
                        <a:pt x="172" y="342"/>
                      </a:lnTo>
                      <a:lnTo>
                        <a:pt x="172" y="360"/>
                      </a:lnTo>
                      <a:lnTo>
                        <a:pt x="171" y="376"/>
                      </a:lnTo>
                      <a:lnTo>
                        <a:pt x="169" y="390"/>
                      </a:lnTo>
                      <a:lnTo>
                        <a:pt x="166" y="401"/>
                      </a:lnTo>
                      <a:lnTo>
                        <a:pt x="163" y="404"/>
                      </a:lnTo>
                      <a:lnTo>
                        <a:pt x="161" y="407"/>
                      </a:lnTo>
                      <a:lnTo>
                        <a:pt x="158" y="409"/>
                      </a:lnTo>
                      <a:lnTo>
                        <a:pt x="155" y="409"/>
                      </a:lnTo>
                      <a:lnTo>
                        <a:pt x="155" y="409"/>
                      </a:lnTo>
                      <a:lnTo>
                        <a:pt x="147" y="409"/>
                      </a:lnTo>
                      <a:lnTo>
                        <a:pt x="140" y="407"/>
                      </a:lnTo>
                      <a:lnTo>
                        <a:pt x="134" y="403"/>
                      </a:lnTo>
                      <a:lnTo>
                        <a:pt x="129" y="398"/>
                      </a:lnTo>
                      <a:lnTo>
                        <a:pt x="123" y="392"/>
                      </a:lnTo>
                      <a:lnTo>
                        <a:pt x="118" y="385"/>
                      </a:lnTo>
                      <a:lnTo>
                        <a:pt x="114" y="377"/>
                      </a:lnTo>
                      <a:lnTo>
                        <a:pt x="111" y="369"/>
                      </a:lnTo>
                      <a:lnTo>
                        <a:pt x="103" y="348"/>
                      </a:lnTo>
                      <a:lnTo>
                        <a:pt x="97" y="326"/>
                      </a:lnTo>
                      <a:lnTo>
                        <a:pt x="93" y="304"/>
                      </a:lnTo>
                      <a:lnTo>
                        <a:pt x="88" y="281"/>
                      </a:lnTo>
                      <a:lnTo>
                        <a:pt x="82" y="238"/>
                      </a:lnTo>
                      <a:lnTo>
                        <a:pt x="80" y="220"/>
                      </a:lnTo>
                      <a:lnTo>
                        <a:pt x="76" y="206"/>
                      </a:lnTo>
                      <a:lnTo>
                        <a:pt x="73" y="197"/>
                      </a:lnTo>
                      <a:lnTo>
                        <a:pt x="71" y="193"/>
                      </a:lnTo>
                      <a:lnTo>
                        <a:pt x="69" y="192"/>
                      </a:lnTo>
                      <a:lnTo>
                        <a:pt x="66" y="193"/>
                      </a:lnTo>
                      <a:lnTo>
                        <a:pt x="64" y="195"/>
                      </a:lnTo>
                      <a:lnTo>
                        <a:pt x="60" y="200"/>
                      </a:lnTo>
                      <a:lnTo>
                        <a:pt x="58" y="204"/>
                      </a:lnTo>
                      <a:lnTo>
                        <a:pt x="58" y="204"/>
                      </a:lnTo>
                      <a:close/>
                    </a:path>
                  </a:pathLst>
                </a:cu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89" name="Star: 5 Points 688">
                  <a:extLst>
                    <a:ext uri="{FF2B5EF4-FFF2-40B4-BE49-F238E27FC236}">
                      <a16:creationId xmlns:a16="http://schemas.microsoft.com/office/drawing/2014/main" id="{FB7401FB-43AF-4D60-981B-55DEE2E992CD}"/>
                    </a:ext>
                  </a:extLst>
                </p:cNvPr>
                <p:cNvSpPr/>
                <p:nvPr/>
              </p:nvSpPr>
              <p:spPr>
                <a:xfrm>
                  <a:off x="6487117" y="5665398"/>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0" name="Star: 5 Points 689">
                  <a:extLst>
                    <a:ext uri="{FF2B5EF4-FFF2-40B4-BE49-F238E27FC236}">
                      <a16:creationId xmlns:a16="http://schemas.microsoft.com/office/drawing/2014/main" id="{69937564-B2D7-4CD2-B5E4-3E6F689F9350}"/>
                    </a:ext>
                  </a:extLst>
                </p:cNvPr>
                <p:cNvSpPr/>
                <p:nvPr/>
              </p:nvSpPr>
              <p:spPr>
                <a:xfrm>
                  <a:off x="6589242" y="5596081"/>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1" name="Star: 5 Points 690">
                  <a:extLst>
                    <a:ext uri="{FF2B5EF4-FFF2-40B4-BE49-F238E27FC236}">
                      <a16:creationId xmlns:a16="http://schemas.microsoft.com/office/drawing/2014/main" id="{AF6B27DE-89D1-47D5-9DBA-5BF297B1A4DF}"/>
                    </a:ext>
                  </a:extLst>
                </p:cNvPr>
                <p:cNvSpPr/>
                <p:nvPr/>
              </p:nvSpPr>
              <p:spPr>
                <a:xfrm>
                  <a:off x="6579886" y="5492239"/>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2" name="Star: 5 Points 691">
                  <a:extLst>
                    <a:ext uri="{FF2B5EF4-FFF2-40B4-BE49-F238E27FC236}">
                      <a16:creationId xmlns:a16="http://schemas.microsoft.com/office/drawing/2014/main" id="{02D8B178-F89A-425C-8244-EC820A093B72}"/>
                    </a:ext>
                  </a:extLst>
                </p:cNvPr>
                <p:cNvSpPr/>
                <p:nvPr/>
              </p:nvSpPr>
              <p:spPr>
                <a:xfrm>
                  <a:off x="6421588" y="5558555"/>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3" name="Star: 5 Points 692">
                  <a:extLst>
                    <a:ext uri="{FF2B5EF4-FFF2-40B4-BE49-F238E27FC236}">
                      <a16:creationId xmlns:a16="http://schemas.microsoft.com/office/drawing/2014/main" id="{22E27E67-15DC-4FBF-AE16-4268A8305A47}"/>
                    </a:ext>
                  </a:extLst>
                </p:cNvPr>
                <p:cNvSpPr/>
                <p:nvPr/>
              </p:nvSpPr>
              <p:spPr>
                <a:xfrm>
                  <a:off x="6576701" y="5690796"/>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4" name="Star: 5 Points 693">
                  <a:extLst>
                    <a:ext uri="{FF2B5EF4-FFF2-40B4-BE49-F238E27FC236}">
                      <a16:creationId xmlns:a16="http://schemas.microsoft.com/office/drawing/2014/main" id="{41593F64-AD5A-4F3D-91C6-F4AA06FECB5D}"/>
                    </a:ext>
                  </a:extLst>
                </p:cNvPr>
                <p:cNvSpPr/>
                <p:nvPr/>
              </p:nvSpPr>
              <p:spPr>
                <a:xfrm>
                  <a:off x="6661603" y="6067977"/>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5" name="Star: 5 Points 694">
                  <a:extLst>
                    <a:ext uri="{FF2B5EF4-FFF2-40B4-BE49-F238E27FC236}">
                      <a16:creationId xmlns:a16="http://schemas.microsoft.com/office/drawing/2014/main" id="{45C05871-1576-446E-B229-5C5097BE318C}"/>
                    </a:ext>
                  </a:extLst>
                </p:cNvPr>
                <p:cNvSpPr/>
                <p:nvPr/>
              </p:nvSpPr>
              <p:spPr>
                <a:xfrm>
                  <a:off x="6782839" y="6081268"/>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6" name="Star: 5 Points 695">
                  <a:extLst>
                    <a:ext uri="{FF2B5EF4-FFF2-40B4-BE49-F238E27FC236}">
                      <a16:creationId xmlns:a16="http://schemas.microsoft.com/office/drawing/2014/main" id="{52D16B50-A7B1-4B6D-A40E-13B64A8BEDD2}"/>
                    </a:ext>
                  </a:extLst>
                </p:cNvPr>
                <p:cNvSpPr/>
                <p:nvPr/>
              </p:nvSpPr>
              <p:spPr>
                <a:xfrm>
                  <a:off x="6596074" y="5961134"/>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7" name="Star: 5 Points 696">
                  <a:extLst>
                    <a:ext uri="{FF2B5EF4-FFF2-40B4-BE49-F238E27FC236}">
                      <a16:creationId xmlns:a16="http://schemas.microsoft.com/office/drawing/2014/main" id="{8AB463D1-F6AA-4601-8CB0-6C2DBFA7B457}"/>
                    </a:ext>
                  </a:extLst>
                </p:cNvPr>
                <p:cNvSpPr/>
                <p:nvPr/>
              </p:nvSpPr>
              <p:spPr>
                <a:xfrm>
                  <a:off x="6430562" y="6162692"/>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8" name="Star: 5 Points 697">
                  <a:extLst>
                    <a:ext uri="{FF2B5EF4-FFF2-40B4-BE49-F238E27FC236}">
                      <a16:creationId xmlns:a16="http://schemas.microsoft.com/office/drawing/2014/main" id="{16F8FF01-CB3B-41AB-9B77-502200688C68}"/>
                    </a:ext>
                  </a:extLst>
                </p:cNvPr>
                <p:cNvSpPr/>
                <p:nvPr/>
              </p:nvSpPr>
              <p:spPr>
                <a:xfrm>
                  <a:off x="6404086" y="6039485"/>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9" name="Star: 5 Points 698">
                  <a:extLst>
                    <a:ext uri="{FF2B5EF4-FFF2-40B4-BE49-F238E27FC236}">
                      <a16:creationId xmlns:a16="http://schemas.microsoft.com/office/drawing/2014/main" id="{2DD24BC3-AB58-41D5-90D0-10B35479CC08}"/>
                    </a:ext>
                  </a:extLst>
                </p:cNvPr>
                <p:cNvSpPr/>
                <p:nvPr/>
              </p:nvSpPr>
              <p:spPr>
                <a:xfrm>
                  <a:off x="6236432" y="6001959"/>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0" name="Isosceles Triangle 699">
                  <a:extLst>
                    <a:ext uri="{FF2B5EF4-FFF2-40B4-BE49-F238E27FC236}">
                      <a16:creationId xmlns:a16="http://schemas.microsoft.com/office/drawing/2014/main" id="{47DAF7B4-A498-4C02-9898-51908E586A7A}"/>
                    </a:ext>
                  </a:extLst>
                </p:cNvPr>
                <p:cNvSpPr/>
                <p:nvPr/>
              </p:nvSpPr>
              <p:spPr>
                <a:xfrm rot="9643569">
                  <a:off x="6443960" y="5837134"/>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1" name="Isosceles Triangle 700">
                  <a:extLst>
                    <a:ext uri="{FF2B5EF4-FFF2-40B4-BE49-F238E27FC236}">
                      <a16:creationId xmlns:a16="http://schemas.microsoft.com/office/drawing/2014/main" id="{8A3AE581-8488-4A35-A6EE-954FE18A6561}"/>
                    </a:ext>
                  </a:extLst>
                </p:cNvPr>
                <p:cNvSpPr/>
                <p:nvPr/>
              </p:nvSpPr>
              <p:spPr>
                <a:xfrm rot="6564162">
                  <a:off x="6504709" y="5866098"/>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2" name="Isosceles Triangle 701">
                  <a:extLst>
                    <a:ext uri="{FF2B5EF4-FFF2-40B4-BE49-F238E27FC236}">
                      <a16:creationId xmlns:a16="http://schemas.microsoft.com/office/drawing/2014/main" id="{A1A7FAC4-390A-4E85-AA21-B7C7B1A1EFD8}"/>
                    </a:ext>
                  </a:extLst>
                </p:cNvPr>
                <p:cNvSpPr/>
                <p:nvPr/>
              </p:nvSpPr>
              <p:spPr>
                <a:xfrm rot="9643569">
                  <a:off x="6778933" y="5637276"/>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3" name="Isosceles Triangle 702">
                  <a:extLst>
                    <a:ext uri="{FF2B5EF4-FFF2-40B4-BE49-F238E27FC236}">
                      <a16:creationId xmlns:a16="http://schemas.microsoft.com/office/drawing/2014/main" id="{A734A0C1-BD18-43C9-BB4A-8B5ED6D39A91}"/>
                    </a:ext>
                  </a:extLst>
                </p:cNvPr>
                <p:cNvSpPr/>
                <p:nvPr/>
              </p:nvSpPr>
              <p:spPr>
                <a:xfrm rot="6564162">
                  <a:off x="6839682" y="5666240"/>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4" name="Isosceles Triangle 703">
                  <a:extLst>
                    <a:ext uri="{FF2B5EF4-FFF2-40B4-BE49-F238E27FC236}">
                      <a16:creationId xmlns:a16="http://schemas.microsoft.com/office/drawing/2014/main" id="{FE9BF68A-2AC7-4876-A072-0B84E54FC138}"/>
                    </a:ext>
                  </a:extLst>
                </p:cNvPr>
                <p:cNvSpPr/>
                <p:nvPr/>
              </p:nvSpPr>
              <p:spPr>
                <a:xfrm rot="9643569">
                  <a:off x="6362635" y="5860737"/>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5" name="Isosceles Triangle 704">
                  <a:extLst>
                    <a:ext uri="{FF2B5EF4-FFF2-40B4-BE49-F238E27FC236}">
                      <a16:creationId xmlns:a16="http://schemas.microsoft.com/office/drawing/2014/main" id="{72F6928C-91B7-4697-AFB6-D548C040A7DD}"/>
                    </a:ext>
                  </a:extLst>
                </p:cNvPr>
                <p:cNvSpPr/>
                <p:nvPr/>
              </p:nvSpPr>
              <p:spPr>
                <a:xfrm rot="6564162">
                  <a:off x="6423384" y="5889701"/>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6" name="Isosceles Triangle 705">
                  <a:extLst>
                    <a:ext uri="{FF2B5EF4-FFF2-40B4-BE49-F238E27FC236}">
                      <a16:creationId xmlns:a16="http://schemas.microsoft.com/office/drawing/2014/main" id="{2FB6DC6F-6501-46EA-A891-E5EF8CE990BE}"/>
                    </a:ext>
                  </a:extLst>
                </p:cNvPr>
                <p:cNvSpPr/>
                <p:nvPr/>
              </p:nvSpPr>
              <p:spPr>
                <a:xfrm rot="9643569">
                  <a:off x="6629982" y="6284662"/>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7" name="Isosceles Triangle 706">
                  <a:extLst>
                    <a:ext uri="{FF2B5EF4-FFF2-40B4-BE49-F238E27FC236}">
                      <a16:creationId xmlns:a16="http://schemas.microsoft.com/office/drawing/2014/main" id="{46167E16-51D1-4489-AA00-B3620C2BEF2E}"/>
                    </a:ext>
                  </a:extLst>
                </p:cNvPr>
                <p:cNvSpPr/>
                <p:nvPr/>
              </p:nvSpPr>
              <p:spPr>
                <a:xfrm rot="6564162">
                  <a:off x="6690731" y="6313626"/>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8" name="Isosceles Triangle 707">
                  <a:extLst>
                    <a:ext uri="{FF2B5EF4-FFF2-40B4-BE49-F238E27FC236}">
                      <a16:creationId xmlns:a16="http://schemas.microsoft.com/office/drawing/2014/main" id="{EDBBDED7-5E1B-45AA-A70B-3C3D5AA13F6A}"/>
                    </a:ext>
                  </a:extLst>
                </p:cNvPr>
                <p:cNvSpPr/>
                <p:nvPr/>
              </p:nvSpPr>
              <p:spPr>
                <a:xfrm rot="9643569">
                  <a:off x="6560522" y="6293898"/>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9" name="Isosceles Triangle 708">
                  <a:extLst>
                    <a:ext uri="{FF2B5EF4-FFF2-40B4-BE49-F238E27FC236}">
                      <a16:creationId xmlns:a16="http://schemas.microsoft.com/office/drawing/2014/main" id="{BF3F896B-16A6-47CA-92C4-7DA330E1289C}"/>
                    </a:ext>
                  </a:extLst>
                </p:cNvPr>
                <p:cNvSpPr/>
                <p:nvPr/>
              </p:nvSpPr>
              <p:spPr>
                <a:xfrm rot="6564162">
                  <a:off x="6609406" y="6337229"/>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sp>
        <p:nvSpPr>
          <p:cNvPr id="9" name="Text Placeholder 8">
            <a:extLst>
              <a:ext uri="{FF2B5EF4-FFF2-40B4-BE49-F238E27FC236}">
                <a16:creationId xmlns:a16="http://schemas.microsoft.com/office/drawing/2014/main" id="{31EA52C1-3C1D-48B5-BF4F-6A429641FEE3}"/>
              </a:ext>
            </a:extLst>
          </p:cNvPr>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2" name="Title 1">
            <a:extLst>
              <a:ext uri="{FF2B5EF4-FFF2-40B4-BE49-F238E27FC236}">
                <a16:creationId xmlns:a16="http://schemas.microsoft.com/office/drawing/2014/main" id="{238B1215-E1BA-4EF0-8B02-EFA93AC16A98}"/>
              </a:ext>
            </a:extLst>
          </p:cNvPr>
          <p:cNvSpPr>
            <a:spLocks noGrp="1"/>
          </p:cNvSpPr>
          <p:nvPr>
            <p:ph type="title"/>
          </p:nvPr>
        </p:nvSpPr>
        <p:spPr/>
        <p:txBody>
          <a:bodyPr/>
          <a:lstStyle/>
          <a:p>
            <a:r>
              <a:rPr lang="en-US" dirty="0"/>
              <a:t>The progression of Parkinson’s disease</a:t>
            </a:r>
            <a:endParaRPr lang="en-GB" dirty="0"/>
          </a:p>
        </p:txBody>
      </p:sp>
      <p:sp>
        <p:nvSpPr>
          <p:cNvPr id="6" name="Pladsholder til tekst 5">
            <a:extLst>
              <a:ext uri="{FF2B5EF4-FFF2-40B4-BE49-F238E27FC236}">
                <a16:creationId xmlns:a16="http://schemas.microsoft.com/office/drawing/2014/main" id="{816C0DF4-C136-4805-BDAA-5EEC105597CA}"/>
              </a:ext>
            </a:extLst>
          </p:cNvPr>
          <p:cNvSpPr>
            <a:spLocks noGrp="1"/>
          </p:cNvSpPr>
          <p:nvPr>
            <p:ph type="body" sz="quarter" idx="18"/>
          </p:nvPr>
        </p:nvSpPr>
        <p:spPr/>
        <p:txBody>
          <a:bodyPr/>
          <a:lstStyle/>
          <a:p>
            <a:pPr marL="0" indent="0">
              <a:buNone/>
            </a:pPr>
            <a:r>
              <a:rPr lang="en-GB" dirty="0"/>
              <a:t>PD=Parkinson’s disease; ROS=reactive oxygen species</a:t>
            </a:r>
          </a:p>
          <a:p>
            <a:pPr marL="0" indent="0">
              <a:buNone/>
            </a:pPr>
            <a:endParaRPr lang="en-GB" dirty="0"/>
          </a:p>
          <a:p>
            <a:pPr marL="0" indent="0">
              <a:buNone/>
            </a:pPr>
            <a:r>
              <a:rPr lang="en-GB" dirty="0"/>
              <a:t>Adapted from: McCann et al. Mov </a:t>
            </a:r>
            <a:r>
              <a:rPr lang="en-GB" dirty="0" err="1"/>
              <a:t>Disord</a:t>
            </a:r>
            <a:r>
              <a:rPr lang="en-GB" dirty="0"/>
              <a:t> 2016;31(2):152–160; </a:t>
            </a:r>
            <a:r>
              <a:rPr lang="en-US" dirty="0"/>
              <a:t>Morris et al. Lancet 2024;403(10423):293–304</a:t>
            </a:r>
            <a:endParaRPr lang="en-GB" dirty="0"/>
          </a:p>
        </p:txBody>
      </p:sp>
      <p:sp>
        <p:nvSpPr>
          <p:cNvPr id="4" name="Slide Number Placeholder 3">
            <a:extLst>
              <a:ext uri="{FF2B5EF4-FFF2-40B4-BE49-F238E27FC236}">
                <a16:creationId xmlns:a16="http://schemas.microsoft.com/office/drawing/2014/main" id="{E7506D8E-42DD-41FD-85AC-A3C5242AB6A9}"/>
              </a:ext>
            </a:extLst>
          </p:cNvPr>
          <p:cNvSpPr>
            <a:spLocks noGrp="1"/>
          </p:cNvSpPr>
          <p:nvPr>
            <p:ph type="sldNum" sz="quarter" idx="4"/>
          </p:nvPr>
        </p:nvSpPr>
        <p:spPr/>
        <p:txBody>
          <a:bodyPr/>
          <a:lstStyle/>
          <a:p>
            <a:fld id="{6DBC486D-4FAB-B746-8B02-8D7C842291C6}" type="slidenum">
              <a:rPr lang="en-GB" smtClean="0"/>
              <a:t>3</a:t>
            </a:fld>
            <a:endParaRPr lang="en-GB"/>
          </a:p>
        </p:txBody>
      </p:sp>
      <p:grpSp>
        <p:nvGrpSpPr>
          <p:cNvPr id="40" name="Group 39">
            <a:extLst>
              <a:ext uri="{FF2B5EF4-FFF2-40B4-BE49-F238E27FC236}">
                <a16:creationId xmlns:a16="http://schemas.microsoft.com/office/drawing/2014/main" id="{28428439-DC88-FB21-884F-90BCAB2F2A74}"/>
              </a:ext>
            </a:extLst>
          </p:cNvPr>
          <p:cNvGrpSpPr/>
          <p:nvPr/>
        </p:nvGrpSpPr>
        <p:grpSpPr>
          <a:xfrm>
            <a:off x="896173" y="1350673"/>
            <a:ext cx="1756872" cy="4114952"/>
            <a:chOff x="896173" y="1350673"/>
            <a:chExt cx="1756872" cy="4114952"/>
          </a:xfrm>
        </p:grpSpPr>
        <p:grpSp>
          <p:nvGrpSpPr>
            <p:cNvPr id="34" name="Group 33">
              <a:extLst>
                <a:ext uri="{FF2B5EF4-FFF2-40B4-BE49-F238E27FC236}">
                  <a16:creationId xmlns:a16="http://schemas.microsoft.com/office/drawing/2014/main" id="{D2A3F9B2-D807-E5E4-7803-48ED73C35B6E}"/>
                </a:ext>
              </a:extLst>
            </p:cNvPr>
            <p:cNvGrpSpPr/>
            <p:nvPr/>
          </p:nvGrpSpPr>
          <p:grpSpPr>
            <a:xfrm>
              <a:off x="896173" y="3888071"/>
              <a:ext cx="1756872" cy="1577554"/>
              <a:chOff x="896173" y="3888071"/>
              <a:chExt cx="1756872" cy="1577554"/>
            </a:xfrm>
          </p:grpSpPr>
          <p:grpSp>
            <p:nvGrpSpPr>
              <p:cNvPr id="124" name="Group 123">
                <a:extLst>
                  <a:ext uri="{FF2B5EF4-FFF2-40B4-BE49-F238E27FC236}">
                    <a16:creationId xmlns:a16="http://schemas.microsoft.com/office/drawing/2014/main" id="{840042F9-3732-4A96-AC24-D2CE77CABE19}"/>
                  </a:ext>
                </a:extLst>
              </p:cNvPr>
              <p:cNvGrpSpPr/>
              <p:nvPr/>
            </p:nvGrpSpPr>
            <p:grpSpPr>
              <a:xfrm flipH="1">
                <a:off x="896173" y="3888071"/>
                <a:ext cx="1756872" cy="1577554"/>
                <a:chOff x="837299" y="3004664"/>
                <a:chExt cx="1232677" cy="1106861"/>
              </a:xfrm>
            </p:grpSpPr>
            <p:sp>
              <p:nvSpPr>
                <p:cNvPr id="125" name="Freeform 357">
                  <a:extLst>
                    <a:ext uri="{FF2B5EF4-FFF2-40B4-BE49-F238E27FC236}">
                      <a16:creationId xmlns:a16="http://schemas.microsoft.com/office/drawing/2014/main" id="{A6B0D8CB-BC15-44DF-B524-C031682BD66D}"/>
                    </a:ext>
                  </a:extLst>
                </p:cNvPr>
                <p:cNvSpPr>
                  <a:spLocks/>
                </p:cNvSpPr>
                <p:nvPr/>
              </p:nvSpPr>
              <p:spPr bwMode="auto">
                <a:xfrm>
                  <a:off x="1106449" y="3348667"/>
                  <a:ext cx="848063" cy="652172"/>
                </a:xfrm>
                <a:custGeom>
                  <a:avLst/>
                  <a:gdLst>
                    <a:gd name="T0" fmla="*/ 1111 w 1127"/>
                    <a:gd name="T1" fmla="*/ 542 h 868"/>
                    <a:gd name="T2" fmla="*/ 1103 w 1127"/>
                    <a:gd name="T3" fmla="*/ 571 h 868"/>
                    <a:gd name="T4" fmla="*/ 1098 w 1127"/>
                    <a:gd name="T5" fmla="*/ 613 h 868"/>
                    <a:gd name="T6" fmla="*/ 1081 w 1127"/>
                    <a:gd name="T7" fmla="*/ 656 h 868"/>
                    <a:gd name="T8" fmla="*/ 1060 w 1127"/>
                    <a:gd name="T9" fmla="*/ 694 h 868"/>
                    <a:gd name="T10" fmla="*/ 1054 w 1127"/>
                    <a:gd name="T11" fmla="*/ 721 h 868"/>
                    <a:gd name="T12" fmla="*/ 1021 w 1127"/>
                    <a:gd name="T13" fmla="*/ 751 h 868"/>
                    <a:gd name="T14" fmla="*/ 1013 w 1127"/>
                    <a:gd name="T15" fmla="*/ 765 h 868"/>
                    <a:gd name="T16" fmla="*/ 980 w 1127"/>
                    <a:gd name="T17" fmla="*/ 784 h 868"/>
                    <a:gd name="T18" fmla="*/ 934 w 1127"/>
                    <a:gd name="T19" fmla="*/ 805 h 868"/>
                    <a:gd name="T20" fmla="*/ 902 w 1127"/>
                    <a:gd name="T21" fmla="*/ 812 h 868"/>
                    <a:gd name="T22" fmla="*/ 864 w 1127"/>
                    <a:gd name="T23" fmla="*/ 820 h 868"/>
                    <a:gd name="T24" fmla="*/ 836 w 1127"/>
                    <a:gd name="T25" fmla="*/ 820 h 868"/>
                    <a:gd name="T26" fmla="*/ 799 w 1127"/>
                    <a:gd name="T27" fmla="*/ 821 h 868"/>
                    <a:gd name="T28" fmla="*/ 765 w 1127"/>
                    <a:gd name="T29" fmla="*/ 816 h 868"/>
                    <a:gd name="T30" fmla="*/ 723 w 1127"/>
                    <a:gd name="T31" fmla="*/ 814 h 868"/>
                    <a:gd name="T32" fmla="*/ 655 w 1127"/>
                    <a:gd name="T33" fmla="*/ 856 h 868"/>
                    <a:gd name="T34" fmla="*/ 620 w 1127"/>
                    <a:gd name="T35" fmla="*/ 849 h 868"/>
                    <a:gd name="T36" fmla="*/ 562 w 1127"/>
                    <a:gd name="T37" fmla="*/ 708 h 868"/>
                    <a:gd name="T38" fmla="*/ 426 w 1127"/>
                    <a:gd name="T39" fmla="*/ 507 h 868"/>
                    <a:gd name="T40" fmla="*/ 348 w 1127"/>
                    <a:gd name="T41" fmla="*/ 516 h 868"/>
                    <a:gd name="T42" fmla="*/ 317 w 1127"/>
                    <a:gd name="T43" fmla="*/ 527 h 868"/>
                    <a:gd name="T44" fmla="*/ 258 w 1127"/>
                    <a:gd name="T45" fmla="*/ 530 h 868"/>
                    <a:gd name="T46" fmla="*/ 211 w 1127"/>
                    <a:gd name="T47" fmla="*/ 528 h 868"/>
                    <a:gd name="T48" fmla="*/ 95 w 1127"/>
                    <a:gd name="T49" fmla="*/ 495 h 868"/>
                    <a:gd name="T50" fmla="*/ 76 w 1127"/>
                    <a:gd name="T51" fmla="*/ 468 h 868"/>
                    <a:gd name="T52" fmla="*/ 56 w 1127"/>
                    <a:gd name="T53" fmla="*/ 452 h 868"/>
                    <a:gd name="T54" fmla="*/ 5 w 1127"/>
                    <a:gd name="T55" fmla="*/ 390 h 868"/>
                    <a:gd name="T56" fmla="*/ 0 w 1127"/>
                    <a:gd name="T57" fmla="*/ 338 h 868"/>
                    <a:gd name="T58" fmla="*/ 178 w 1127"/>
                    <a:gd name="T59" fmla="*/ 34 h 868"/>
                    <a:gd name="T60" fmla="*/ 895 w 1127"/>
                    <a:gd name="T61" fmla="*/ 0 h 868"/>
                    <a:gd name="T62" fmla="*/ 1111 w 1127"/>
                    <a:gd name="T63" fmla="*/ 542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7" h="868">
                      <a:moveTo>
                        <a:pt x="1111" y="542"/>
                      </a:moveTo>
                      <a:cubicBezTo>
                        <a:pt x="1111" y="542"/>
                        <a:pt x="1118" y="562"/>
                        <a:pt x="1103" y="571"/>
                      </a:cubicBezTo>
                      <a:cubicBezTo>
                        <a:pt x="1101" y="572"/>
                        <a:pt x="1127" y="590"/>
                        <a:pt x="1098" y="613"/>
                      </a:cubicBezTo>
                      <a:cubicBezTo>
                        <a:pt x="1095" y="616"/>
                        <a:pt x="1120" y="637"/>
                        <a:pt x="1081" y="656"/>
                      </a:cubicBezTo>
                      <a:cubicBezTo>
                        <a:pt x="1081" y="656"/>
                        <a:pt x="1091" y="684"/>
                        <a:pt x="1060" y="694"/>
                      </a:cubicBezTo>
                      <a:cubicBezTo>
                        <a:pt x="1060" y="694"/>
                        <a:pt x="1072" y="712"/>
                        <a:pt x="1054" y="721"/>
                      </a:cubicBezTo>
                      <a:cubicBezTo>
                        <a:pt x="1048" y="723"/>
                        <a:pt x="1068" y="742"/>
                        <a:pt x="1021" y="751"/>
                      </a:cubicBezTo>
                      <a:cubicBezTo>
                        <a:pt x="1021" y="751"/>
                        <a:pt x="1013" y="757"/>
                        <a:pt x="1013" y="765"/>
                      </a:cubicBezTo>
                      <a:cubicBezTo>
                        <a:pt x="1013" y="773"/>
                        <a:pt x="1006" y="790"/>
                        <a:pt x="980" y="784"/>
                      </a:cubicBezTo>
                      <a:cubicBezTo>
                        <a:pt x="980" y="784"/>
                        <a:pt x="971" y="812"/>
                        <a:pt x="934" y="805"/>
                      </a:cubicBezTo>
                      <a:cubicBezTo>
                        <a:pt x="928" y="803"/>
                        <a:pt x="930" y="819"/>
                        <a:pt x="902" y="812"/>
                      </a:cubicBezTo>
                      <a:cubicBezTo>
                        <a:pt x="902" y="812"/>
                        <a:pt x="889" y="832"/>
                        <a:pt x="864" y="820"/>
                      </a:cubicBezTo>
                      <a:cubicBezTo>
                        <a:pt x="864" y="820"/>
                        <a:pt x="848" y="831"/>
                        <a:pt x="836" y="820"/>
                      </a:cubicBezTo>
                      <a:cubicBezTo>
                        <a:pt x="836" y="820"/>
                        <a:pt x="819" y="835"/>
                        <a:pt x="799" y="821"/>
                      </a:cubicBezTo>
                      <a:cubicBezTo>
                        <a:pt x="799" y="821"/>
                        <a:pt x="779" y="830"/>
                        <a:pt x="765" y="816"/>
                      </a:cubicBezTo>
                      <a:cubicBezTo>
                        <a:pt x="765" y="816"/>
                        <a:pt x="744" y="826"/>
                        <a:pt x="723" y="814"/>
                      </a:cubicBezTo>
                      <a:cubicBezTo>
                        <a:pt x="723" y="814"/>
                        <a:pt x="703" y="844"/>
                        <a:pt x="655" y="856"/>
                      </a:cubicBezTo>
                      <a:cubicBezTo>
                        <a:pt x="606" y="868"/>
                        <a:pt x="620" y="856"/>
                        <a:pt x="620" y="849"/>
                      </a:cubicBezTo>
                      <a:cubicBezTo>
                        <a:pt x="620" y="841"/>
                        <a:pt x="572" y="735"/>
                        <a:pt x="562" y="708"/>
                      </a:cubicBezTo>
                      <a:cubicBezTo>
                        <a:pt x="552" y="682"/>
                        <a:pt x="518" y="495"/>
                        <a:pt x="426" y="507"/>
                      </a:cubicBezTo>
                      <a:cubicBezTo>
                        <a:pt x="372" y="514"/>
                        <a:pt x="348" y="516"/>
                        <a:pt x="348" y="516"/>
                      </a:cubicBezTo>
                      <a:cubicBezTo>
                        <a:pt x="348" y="516"/>
                        <a:pt x="328" y="523"/>
                        <a:pt x="317" y="527"/>
                      </a:cubicBezTo>
                      <a:cubicBezTo>
                        <a:pt x="306" y="531"/>
                        <a:pt x="276" y="536"/>
                        <a:pt x="258" y="530"/>
                      </a:cubicBezTo>
                      <a:cubicBezTo>
                        <a:pt x="240" y="525"/>
                        <a:pt x="224" y="527"/>
                        <a:pt x="211" y="528"/>
                      </a:cubicBezTo>
                      <a:cubicBezTo>
                        <a:pt x="198" y="530"/>
                        <a:pt x="149" y="536"/>
                        <a:pt x="95" y="495"/>
                      </a:cubicBezTo>
                      <a:cubicBezTo>
                        <a:pt x="73" y="478"/>
                        <a:pt x="79" y="473"/>
                        <a:pt x="76" y="468"/>
                      </a:cubicBezTo>
                      <a:cubicBezTo>
                        <a:pt x="76" y="468"/>
                        <a:pt x="77" y="462"/>
                        <a:pt x="56" y="452"/>
                      </a:cubicBezTo>
                      <a:cubicBezTo>
                        <a:pt x="35" y="443"/>
                        <a:pt x="6" y="423"/>
                        <a:pt x="5" y="390"/>
                      </a:cubicBezTo>
                      <a:cubicBezTo>
                        <a:pt x="5" y="357"/>
                        <a:pt x="0" y="338"/>
                        <a:pt x="0" y="338"/>
                      </a:cubicBezTo>
                      <a:cubicBezTo>
                        <a:pt x="178" y="34"/>
                        <a:pt x="178" y="34"/>
                        <a:pt x="178" y="34"/>
                      </a:cubicBezTo>
                      <a:cubicBezTo>
                        <a:pt x="895" y="0"/>
                        <a:pt x="895" y="0"/>
                        <a:pt x="895" y="0"/>
                      </a:cubicBezTo>
                      <a:lnTo>
                        <a:pt x="1111" y="542"/>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26" name="Freeform 360">
                  <a:extLst>
                    <a:ext uri="{FF2B5EF4-FFF2-40B4-BE49-F238E27FC236}">
                      <a16:creationId xmlns:a16="http://schemas.microsoft.com/office/drawing/2014/main" id="{376BD1BE-2D20-4BAB-8C5E-6DFD54FE9985}"/>
                    </a:ext>
                  </a:extLst>
                </p:cNvPr>
                <p:cNvSpPr>
                  <a:spLocks/>
                </p:cNvSpPr>
                <p:nvPr/>
              </p:nvSpPr>
              <p:spPr bwMode="auto">
                <a:xfrm>
                  <a:off x="1838252" y="3750003"/>
                  <a:ext cx="101131" cy="19908"/>
                </a:xfrm>
                <a:custGeom>
                  <a:avLst/>
                  <a:gdLst>
                    <a:gd name="T0" fmla="*/ 134 w 134"/>
                    <a:gd name="T1" fmla="*/ 0 h 27"/>
                    <a:gd name="T2" fmla="*/ 0 w 134"/>
                    <a:gd name="T3" fmla="*/ 17 h 27"/>
                  </a:gdLst>
                  <a:ahLst/>
                  <a:cxnLst>
                    <a:cxn ang="0">
                      <a:pos x="T0" y="T1"/>
                    </a:cxn>
                    <a:cxn ang="0">
                      <a:pos x="T2" y="T3"/>
                    </a:cxn>
                  </a:cxnLst>
                  <a:rect l="0" t="0" r="r" b="b"/>
                  <a:pathLst>
                    <a:path w="134" h="27">
                      <a:moveTo>
                        <a:pt x="134" y="0"/>
                      </a:moveTo>
                      <a:cubicBezTo>
                        <a:pt x="134" y="0"/>
                        <a:pt x="125" y="27"/>
                        <a:pt x="0" y="17"/>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27" name="Freeform 361">
                  <a:extLst>
                    <a:ext uri="{FF2B5EF4-FFF2-40B4-BE49-F238E27FC236}">
                      <a16:creationId xmlns:a16="http://schemas.microsoft.com/office/drawing/2014/main" id="{EE81D04A-87D8-48B6-9637-724C45B5F7E5}"/>
                    </a:ext>
                  </a:extLst>
                </p:cNvPr>
                <p:cNvSpPr>
                  <a:spLocks/>
                </p:cNvSpPr>
                <p:nvPr/>
              </p:nvSpPr>
              <p:spPr bwMode="auto">
                <a:xfrm>
                  <a:off x="1836659" y="3768318"/>
                  <a:ext cx="99538" cy="23889"/>
                </a:xfrm>
                <a:custGeom>
                  <a:avLst/>
                  <a:gdLst>
                    <a:gd name="T0" fmla="*/ 132 w 132"/>
                    <a:gd name="T1" fmla="*/ 13 h 32"/>
                    <a:gd name="T2" fmla="*/ 0 w 132"/>
                    <a:gd name="T3" fmla="*/ 0 h 32"/>
                  </a:gdLst>
                  <a:ahLst/>
                  <a:cxnLst>
                    <a:cxn ang="0">
                      <a:pos x="T0" y="T1"/>
                    </a:cxn>
                    <a:cxn ang="0">
                      <a:pos x="T2" y="T3"/>
                    </a:cxn>
                  </a:cxnLst>
                  <a:rect l="0" t="0" r="r" b="b"/>
                  <a:pathLst>
                    <a:path w="132" h="32">
                      <a:moveTo>
                        <a:pt x="132" y="13"/>
                      </a:moveTo>
                      <a:cubicBezTo>
                        <a:pt x="132" y="13"/>
                        <a:pt x="70" y="32"/>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28" name="Freeform 362">
                  <a:extLst>
                    <a:ext uri="{FF2B5EF4-FFF2-40B4-BE49-F238E27FC236}">
                      <a16:creationId xmlns:a16="http://schemas.microsoft.com/office/drawing/2014/main" id="{9869823F-57F1-436E-9E2E-7955384330EC}"/>
                    </a:ext>
                  </a:extLst>
                </p:cNvPr>
                <p:cNvSpPr>
                  <a:spLocks/>
                </p:cNvSpPr>
                <p:nvPr/>
              </p:nvSpPr>
              <p:spPr bwMode="auto">
                <a:xfrm>
                  <a:off x="1831881" y="3785837"/>
                  <a:ext cx="100334" cy="41408"/>
                </a:xfrm>
                <a:custGeom>
                  <a:avLst/>
                  <a:gdLst>
                    <a:gd name="T0" fmla="*/ 134 w 134"/>
                    <a:gd name="T1" fmla="*/ 32 h 55"/>
                    <a:gd name="T2" fmla="*/ 0 w 134"/>
                    <a:gd name="T3" fmla="*/ 0 h 55"/>
                  </a:gdLst>
                  <a:ahLst/>
                  <a:cxnLst>
                    <a:cxn ang="0">
                      <a:pos x="T0" y="T1"/>
                    </a:cxn>
                    <a:cxn ang="0">
                      <a:pos x="T2" y="T3"/>
                    </a:cxn>
                  </a:cxnLst>
                  <a:rect l="0" t="0" r="r" b="b"/>
                  <a:pathLst>
                    <a:path w="134" h="55">
                      <a:moveTo>
                        <a:pt x="134" y="32"/>
                      </a:moveTo>
                      <a:cubicBezTo>
                        <a:pt x="134" y="32"/>
                        <a:pt x="71" y="55"/>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29" name="Freeform 363">
                  <a:extLst>
                    <a:ext uri="{FF2B5EF4-FFF2-40B4-BE49-F238E27FC236}">
                      <a16:creationId xmlns:a16="http://schemas.microsoft.com/office/drawing/2014/main" id="{FF80A1D1-3DCF-45BD-9007-245372431E7F}"/>
                    </a:ext>
                  </a:extLst>
                </p:cNvPr>
                <p:cNvSpPr>
                  <a:spLocks/>
                </p:cNvSpPr>
                <p:nvPr/>
              </p:nvSpPr>
              <p:spPr bwMode="auto">
                <a:xfrm>
                  <a:off x="1827103" y="3807337"/>
                  <a:ext cx="92371" cy="43000"/>
                </a:xfrm>
                <a:custGeom>
                  <a:avLst/>
                  <a:gdLst>
                    <a:gd name="T0" fmla="*/ 123 w 123"/>
                    <a:gd name="T1" fmla="*/ 46 h 57"/>
                    <a:gd name="T2" fmla="*/ 0 w 123"/>
                    <a:gd name="T3" fmla="*/ 0 h 57"/>
                  </a:gdLst>
                  <a:ahLst/>
                  <a:cxnLst>
                    <a:cxn ang="0">
                      <a:pos x="T0" y="T1"/>
                    </a:cxn>
                    <a:cxn ang="0">
                      <a:pos x="T2" y="T3"/>
                    </a:cxn>
                  </a:cxnLst>
                  <a:rect l="0" t="0" r="r" b="b"/>
                  <a:pathLst>
                    <a:path w="123" h="57">
                      <a:moveTo>
                        <a:pt x="123" y="46"/>
                      </a:moveTo>
                      <a:cubicBezTo>
                        <a:pt x="123" y="46"/>
                        <a:pt x="75"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0" name="Freeform 364">
                  <a:extLst>
                    <a:ext uri="{FF2B5EF4-FFF2-40B4-BE49-F238E27FC236}">
                      <a16:creationId xmlns:a16="http://schemas.microsoft.com/office/drawing/2014/main" id="{8440731A-26F4-42A7-AC99-13EC8256D003}"/>
                    </a:ext>
                  </a:extLst>
                </p:cNvPr>
                <p:cNvSpPr>
                  <a:spLocks/>
                </p:cNvSpPr>
                <p:nvPr/>
              </p:nvSpPr>
              <p:spPr bwMode="auto">
                <a:xfrm>
                  <a:off x="1806400" y="3828837"/>
                  <a:ext cx="80427" cy="25482"/>
                </a:xfrm>
                <a:custGeom>
                  <a:avLst/>
                  <a:gdLst>
                    <a:gd name="T0" fmla="*/ 0 w 106"/>
                    <a:gd name="T1" fmla="*/ 0 h 34"/>
                    <a:gd name="T2" fmla="*/ 106 w 106"/>
                    <a:gd name="T3" fmla="*/ 13 h 34"/>
                  </a:gdLst>
                  <a:ahLst/>
                  <a:cxnLst>
                    <a:cxn ang="0">
                      <a:pos x="T0" y="T1"/>
                    </a:cxn>
                    <a:cxn ang="0">
                      <a:pos x="T2" y="T3"/>
                    </a:cxn>
                  </a:cxnLst>
                  <a:rect l="0" t="0" r="r" b="b"/>
                  <a:pathLst>
                    <a:path w="106" h="34">
                      <a:moveTo>
                        <a:pt x="0" y="0"/>
                      </a:moveTo>
                      <a:cubicBezTo>
                        <a:pt x="66" y="34"/>
                        <a:pt x="106" y="13"/>
                        <a:pt x="106" y="13"/>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1" name="Freeform 365">
                  <a:extLst>
                    <a:ext uri="{FF2B5EF4-FFF2-40B4-BE49-F238E27FC236}">
                      <a16:creationId xmlns:a16="http://schemas.microsoft.com/office/drawing/2014/main" id="{6FBDB9C6-6D22-43BE-B3ED-C2C38CC4DD7F}"/>
                    </a:ext>
                  </a:extLst>
                </p:cNvPr>
                <p:cNvSpPr>
                  <a:spLocks/>
                </p:cNvSpPr>
                <p:nvPr/>
              </p:nvSpPr>
              <p:spPr bwMode="auto">
                <a:xfrm>
                  <a:off x="1798437" y="3842374"/>
                  <a:ext cx="105112" cy="43000"/>
                </a:xfrm>
                <a:custGeom>
                  <a:avLst/>
                  <a:gdLst>
                    <a:gd name="T0" fmla="*/ 140 w 140"/>
                    <a:gd name="T1" fmla="*/ 37 h 57"/>
                    <a:gd name="T2" fmla="*/ 0 w 140"/>
                    <a:gd name="T3" fmla="*/ 0 h 57"/>
                  </a:gdLst>
                  <a:ahLst/>
                  <a:cxnLst>
                    <a:cxn ang="0">
                      <a:pos x="T0" y="T1"/>
                    </a:cxn>
                    <a:cxn ang="0">
                      <a:pos x="T2" y="T3"/>
                    </a:cxn>
                  </a:cxnLst>
                  <a:rect l="0" t="0" r="r" b="b"/>
                  <a:pathLst>
                    <a:path w="140" h="57">
                      <a:moveTo>
                        <a:pt x="140" y="37"/>
                      </a:moveTo>
                      <a:cubicBezTo>
                        <a:pt x="140" y="37"/>
                        <a:pt x="109"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2" name="Freeform 366">
                  <a:extLst>
                    <a:ext uri="{FF2B5EF4-FFF2-40B4-BE49-F238E27FC236}">
                      <a16:creationId xmlns:a16="http://schemas.microsoft.com/office/drawing/2014/main" id="{16865FE4-8486-4F58-8E91-2DC67B18FA1A}"/>
                    </a:ext>
                  </a:extLst>
                </p:cNvPr>
                <p:cNvSpPr>
                  <a:spLocks/>
                </p:cNvSpPr>
                <p:nvPr/>
              </p:nvSpPr>
              <p:spPr bwMode="auto">
                <a:xfrm>
                  <a:off x="1814363" y="3864671"/>
                  <a:ext cx="86001" cy="33445"/>
                </a:xfrm>
                <a:custGeom>
                  <a:avLst/>
                  <a:gdLst>
                    <a:gd name="T0" fmla="*/ 114 w 114"/>
                    <a:gd name="T1" fmla="*/ 33 h 44"/>
                    <a:gd name="T2" fmla="*/ 0 w 114"/>
                    <a:gd name="T3" fmla="*/ 0 h 44"/>
                  </a:gdLst>
                  <a:ahLst/>
                  <a:cxnLst>
                    <a:cxn ang="0">
                      <a:pos x="T0" y="T1"/>
                    </a:cxn>
                    <a:cxn ang="0">
                      <a:pos x="T2" y="T3"/>
                    </a:cxn>
                  </a:cxnLst>
                  <a:rect l="0" t="0" r="r" b="b"/>
                  <a:pathLst>
                    <a:path w="114" h="44">
                      <a:moveTo>
                        <a:pt x="114" y="33"/>
                      </a:moveTo>
                      <a:cubicBezTo>
                        <a:pt x="114" y="33"/>
                        <a:pt x="65" y="44"/>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3" name="Freeform 367">
                  <a:extLst>
                    <a:ext uri="{FF2B5EF4-FFF2-40B4-BE49-F238E27FC236}">
                      <a16:creationId xmlns:a16="http://schemas.microsoft.com/office/drawing/2014/main" id="{DFB20F7B-D1A0-422A-9A22-CDA21F9585E9}"/>
                    </a:ext>
                  </a:extLst>
                </p:cNvPr>
                <p:cNvSpPr>
                  <a:spLocks/>
                </p:cNvSpPr>
                <p:nvPr/>
              </p:nvSpPr>
              <p:spPr bwMode="auto">
                <a:xfrm>
                  <a:off x="1800029" y="3867856"/>
                  <a:ext cx="74056" cy="45389"/>
                </a:xfrm>
                <a:custGeom>
                  <a:avLst/>
                  <a:gdLst>
                    <a:gd name="T0" fmla="*/ 99 w 99"/>
                    <a:gd name="T1" fmla="*/ 60 h 60"/>
                    <a:gd name="T2" fmla="*/ 0 w 99"/>
                    <a:gd name="T3" fmla="*/ 0 h 60"/>
                  </a:gdLst>
                  <a:ahLst/>
                  <a:cxnLst>
                    <a:cxn ang="0">
                      <a:pos x="T0" y="T1"/>
                    </a:cxn>
                    <a:cxn ang="0">
                      <a:pos x="T2" y="T3"/>
                    </a:cxn>
                  </a:cxnLst>
                  <a:rect l="0" t="0" r="r" b="b"/>
                  <a:pathLst>
                    <a:path w="99" h="60">
                      <a:moveTo>
                        <a:pt x="99" y="60"/>
                      </a:moveTo>
                      <a:cubicBezTo>
                        <a:pt x="99" y="60"/>
                        <a:pt x="34" y="42"/>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4" name="Freeform 368">
                  <a:extLst>
                    <a:ext uri="{FF2B5EF4-FFF2-40B4-BE49-F238E27FC236}">
                      <a16:creationId xmlns:a16="http://schemas.microsoft.com/office/drawing/2014/main" id="{3E1E7183-FAD1-4E6F-9DE4-965D4B51B8B6}"/>
                    </a:ext>
                  </a:extLst>
                </p:cNvPr>
                <p:cNvSpPr>
                  <a:spLocks/>
                </p:cNvSpPr>
                <p:nvPr/>
              </p:nvSpPr>
              <p:spPr bwMode="auto">
                <a:xfrm>
                  <a:off x="1792066" y="3873430"/>
                  <a:ext cx="76445" cy="50167"/>
                </a:xfrm>
                <a:custGeom>
                  <a:avLst/>
                  <a:gdLst>
                    <a:gd name="T0" fmla="*/ 101 w 101"/>
                    <a:gd name="T1" fmla="*/ 67 h 67"/>
                    <a:gd name="T2" fmla="*/ 0 w 101"/>
                    <a:gd name="T3" fmla="*/ 0 h 67"/>
                  </a:gdLst>
                  <a:ahLst/>
                  <a:cxnLst>
                    <a:cxn ang="0">
                      <a:pos x="T0" y="T1"/>
                    </a:cxn>
                    <a:cxn ang="0">
                      <a:pos x="T2" y="T3"/>
                    </a:cxn>
                  </a:cxnLst>
                  <a:rect l="0" t="0" r="r" b="b"/>
                  <a:pathLst>
                    <a:path w="101" h="67">
                      <a:moveTo>
                        <a:pt x="101" y="67"/>
                      </a:moveTo>
                      <a:cubicBezTo>
                        <a:pt x="101" y="67"/>
                        <a:pt x="26" y="36"/>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5" name="Freeform 369">
                  <a:extLst>
                    <a:ext uri="{FF2B5EF4-FFF2-40B4-BE49-F238E27FC236}">
                      <a16:creationId xmlns:a16="http://schemas.microsoft.com/office/drawing/2014/main" id="{A0ADFA65-E0EA-412D-858D-A8F1AC2411E9}"/>
                    </a:ext>
                  </a:extLst>
                </p:cNvPr>
                <p:cNvSpPr>
                  <a:spLocks/>
                </p:cNvSpPr>
                <p:nvPr/>
              </p:nvSpPr>
              <p:spPr bwMode="auto">
                <a:xfrm>
                  <a:off x="1778529" y="3881393"/>
                  <a:ext cx="65297" cy="56538"/>
                </a:xfrm>
                <a:custGeom>
                  <a:avLst/>
                  <a:gdLst>
                    <a:gd name="T0" fmla="*/ 87 w 87"/>
                    <a:gd name="T1" fmla="*/ 75 h 75"/>
                    <a:gd name="T2" fmla="*/ 0 w 87"/>
                    <a:gd name="T3" fmla="*/ 0 h 75"/>
                  </a:gdLst>
                  <a:ahLst/>
                  <a:cxnLst>
                    <a:cxn ang="0">
                      <a:pos x="T0" y="T1"/>
                    </a:cxn>
                    <a:cxn ang="0">
                      <a:pos x="T2" y="T3"/>
                    </a:cxn>
                  </a:cxnLst>
                  <a:rect l="0" t="0" r="r" b="b"/>
                  <a:pathLst>
                    <a:path w="87" h="75">
                      <a:moveTo>
                        <a:pt x="87" y="75"/>
                      </a:moveTo>
                      <a:cubicBezTo>
                        <a:pt x="87" y="75"/>
                        <a:pt x="43"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6" name="Freeform 370">
                  <a:extLst>
                    <a:ext uri="{FF2B5EF4-FFF2-40B4-BE49-F238E27FC236}">
                      <a16:creationId xmlns:a16="http://schemas.microsoft.com/office/drawing/2014/main" id="{5529F909-7B87-4102-9C8A-154DFCFE3B9B}"/>
                    </a:ext>
                  </a:extLst>
                </p:cNvPr>
                <p:cNvSpPr>
                  <a:spLocks/>
                </p:cNvSpPr>
                <p:nvPr/>
              </p:nvSpPr>
              <p:spPr bwMode="auto">
                <a:xfrm>
                  <a:off x="1753844" y="3893338"/>
                  <a:ext cx="53353" cy="61316"/>
                </a:xfrm>
                <a:custGeom>
                  <a:avLst/>
                  <a:gdLst>
                    <a:gd name="T0" fmla="*/ 71 w 71"/>
                    <a:gd name="T1" fmla="*/ 81 h 81"/>
                    <a:gd name="T2" fmla="*/ 0 w 71"/>
                    <a:gd name="T3" fmla="*/ 0 h 81"/>
                  </a:gdLst>
                  <a:ahLst/>
                  <a:cxnLst>
                    <a:cxn ang="0">
                      <a:pos x="T0" y="T1"/>
                    </a:cxn>
                    <a:cxn ang="0">
                      <a:pos x="T2" y="T3"/>
                    </a:cxn>
                  </a:cxnLst>
                  <a:rect l="0" t="0" r="r" b="b"/>
                  <a:pathLst>
                    <a:path w="71" h="81">
                      <a:moveTo>
                        <a:pt x="71" y="81"/>
                      </a:moveTo>
                      <a:cubicBezTo>
                        <a:pt x="71" y="81"/>
                        <a:pt x="20" y="40"/>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7" name="Freeform 371">
                  <a:extLst>
                    <a:ext uri="{FF2B5EF4-FFF2-40B4-BE49-F238E27FC236}">
                      <a16:creationId xmlns:a16="http://schemas.microsoft.com/office/drawing/2014/main" id="{5CAD1DDB-0320-4A9B-BF64-5D31DD35F438}"/>
                    </a:ext>
                  </a:extLst>
                </p:cNvPr>
                <p:cNvSpPr>
                  <a:spLocks/>
                </p:cNvSpPr>
                <p:nvPr/>
              </p:nvSpPr>
              <p:spPr bwMode="auto">
                <a:xfrm>
                  <a:off x="1750658" y="3904486"/>
                  <a:ext cx="33445" cy="54149"/>
                </a:xfrm>
                <a:custGeom>
                  <a:avLst/>
                  <a:gdLst>
                    <a:gd name="T0" fmla="*/ 45 w 45"/>
                    <a:gd name="T1" fmla="*/ 73 h 73"/>
                    <a:gd name="T2" fmla="*/ 0 w 45"/>
                    <a:gd name="T3" fmla="*/ 0 h 73"/>
                  </a:gdLst>
                  <a:ahLst/>
                  <a:cxnLst>
                    <a:cxn ang="0">
                      <a:pos x="T0" y="T1"/>
                    </a:cxn>
                    <a:cxn ang="0">
                      <a:pos x="T2" y="T3"/>
                    </a:cxn>
                  </a:cxnLst>
                  <a:rect l="0" t="0" r="r" b="b"/>
                  <a:pathLst>
                    <a:path w="45" h="73">
                      <a:moveTo>
                        <a:pt x="45" y="73"/>
                      </a:moveTo>
                      <a:cubicBezTo>
                        <a:pt x="45" y="73"/>
                        <a:pt x="13" y="33"/>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8" name="Freeform 372">
                  <a:extLst>
                    <a:ext uri="{FF2B5EF4-FFF2-40B4-BE49-F238E27FC236}">
                      <a16:creationId xmlns:a16="http://schemas.microsoft.com/office/drawing/2014/main" id="{256E6FF3-2C59-4EAB-ADDD-24C02E628158}"/>
                    </a:ext>
                  </a:extLst>
                </p:cNvPr>
                <p:cNvSpPr>
                  <a:spLocks/>
                </p:cNvSpPr>
                <p:nvPr/>
              </p:nvSpPr>
              <p:spPr bwMode="auto">
                <a:xfrm>
                  <a:off x="1756232" y="3916431"/>
                  <a:ext cx="2389" cy="48575"/>
                </a:xfrm>
                <a:custGeom>
                  <a:avLst/>
                  <a:gdLst>
                    <a:gd name="T0" fmla="*/ 0 w 3"/>
                    <a:gd name="T1" fmla="*/ 65 h 65"/>
                    <a:gd name="T2" fmla="*/ 0 w 3"/>
                    <a:gd name="T3" fmla="*/ 0 h 65"/>
                  </a:gdLst>
                  <a:ahLst/>
                  <a:cxnLst>
                    <a:cxn ang="0">
                      <a:pos x="T0" y="T1"/>
                    </a:cxn>
                    <a:cxn ang="0">
                      <a:pos x="T2" y="T3"/>
                    </a:cxn>
                  </a:cxnLst>
                  <a:rect l="0" t="0" r="r" b="b"/>
                  <a:pathLst>
                    <a:path w="3" h="65">
                      <a:moveTo>
                        <a:pt x="0" y="65"/>
                      </a:moveTo>
                      <a:cubicBezTo>
                        <a:pt x="0" y="65"/>
                        <a:pt x="3" y="14"/>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9" name="Freeform 373">
                  <a:extLst>
                    <a:ext uri="{FF2B5EF4-FFF2-40B4-BE49-F238E27FC236}">
                      <a16:creationId xmlns:a16="http://schemas.microsoft.com/office/drawing/2014/main" id="{F04ED920-8EFD-4200-809D-D64D3569914B}"/>
                    </a:ext>
                  </a:extLst>
                </p:cNvPr>
                <p:cNvSpPr>
                  <a:spLocks/>
                </p:cNvSpPr>
                <p:nvPr/>
              </p:nvSpPr>
              <p:spPr bwMode="auto">
                <a:xfrm>
                  <a:off x="1735528" y="3904486"/>
                  <a:ext cx="20704" cy="60519"/>
                </a:xfrm>
                <a:custGeom>
                  <a:avLst/>
                  <a:gdLst>
                    <a:gd name="T0" fmla="*/ 0 w 28"/>
                    <a:gd name="T1" fmla="*/ 80 h 80"/>
                    <a:gd name="T2" fmla="*/ 7 w 28"/>
                    <a:gd name="T3" fmla="*/ 0 h 80"/>
                  </a:gdLst>
                  <a:ahLst/>
                  <a:cxnLst>
                    <a:cxn ang="0">
                      <a:pos x="T0" y="T1"/>
                    </a:cxn>
                    <a:cxn ang="0">
                      <a:pos x="T2" y="T3"/>
                    </a:cxn>
                  </a:cxnLst>
                  <a:rect l="0" t="0" r="r" b="b"/>
                  <a:pathLst>
                    <a:path w="28" h="80">
                      <a:moveTo>
                        <a:pt x="0" y="80"/>
                      </a:moveTo>
                      <a:cubicBezTo>
                        <a:pt x="0" y="80"/>
                        <a:pt x="28" y="49"/>
                        <a:pt x="7"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0" name="Freeform 374">
                  <a:extLst>
                    <a:ext uri="{FF2B5EF4-FFF2-40B4-BE49-F238E27FC236}">
                      <a16:creationId xmlns:a16="http://schemas.microsoft.com/office/drawing/2014/main" id="{951200DF-158B-42DA-B794-EC6B3BA75082}"/>
                    </a:ext>
                  </a:extLst>
                </p:cNvPr>
                <p:cNvSpPr>
                  <a:spLocks/>
                </p:cNvSpPr>
                <p:nvPr/>
              </p:nvSpPr>
              <p:spPr bwMode="auto">
                <a:xfrm>
                  <a:off x="1707658" y="3912449"/>
                  <a:ext cx="32649" cy="53353"/>
                </a:xfrm>
                <a:custGeom>
                  <a:avLst/>
                  <a:gdLst>
                    <a:gd name="T0" fmla="*/ 18 w 44"/>
                    <a:gd name="T1" fmla="*/ 0 h 71"/>
                    <a:gd name="T2" fmla="*/ 0 w 44"/>
                    <a:gd name="T3" fmla="*/ 71 h 71"/>
                  </a:gdLst>
                  <a:ahLst/>
                  <a:cxnLst>
                    <a:cxn ang="0">
                      <a:pos x="T0" y="T1"/>
                    </a:cxn>
                    <a:cxn ang="0">
                      <a:pos x="T2" y="T3"/>
                    </a:cxn>
                  </a:cxnLst>
                  <a:rect l="0" t="0" r="r" b="b"/>
                  <a:pathLst>
                    <a:path w="44" h="71">
                      <a:moveTo>
                        <a:pt x="18" y="0"/>
                      </a:moveTo>
                      <a:cubicBezTo>
                        <a:pt x="18" y="0"/>
                        <a:pt x="44" y="55"/>
                        <a:pt x="0" y="71"/>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1" name="Freeform 375">
                  <a:extLst>
                    <a:ext uri="{FF2B5EF4-FFF2-40B4-BE49-F238E27FC236}">
                      <a16:creationId xmlns:a16="http://schemas.microsoft.com/office/drawing/2014/main" id="{1F9F375E-1E4E-4540-9CD2-64F8BF40AD42}"/>
                    </a:ext>
                  </a:extLst>
                </p:cNvPr>
                <p:cNvSpPr>
                  <a:spLocks/>
                </p:cNvSpPr>
                <p:nvPr/>
              </p:nvSpPr>
              <p:spPr bwMode="auto">
                <a:xfrm>
                  <a:off x="1682176" y="3914838"/>
                  <a:ext cx="25482" cy="46982"/>
                </a:xfrm>
                <a:custGeom>
                  <a:avLst/>
                  <a:gdLst>
                    <a:gd name="T0" fmla="*/ 23 w 34"/>
                    <a:gd name="T1" fmla="*/ 0 h 63"/>
                    <a:gd name="T2" fmla="*/ 0 w 34"/>
                    <a:gd name="T3" fmla="*/ 63 h 63"/>
                  </a:gdLst>
                  <a:ahLst/>
                  <a:cxnLst>
                    <a:cxn ang="0">
                      <a:pos x="T0" y="T1"/>
                    </a:cxn>
                    <a:cxn ang="0">
                      <a:pos x="T2" y="T3"/>
                    </a:cxn>
                  </a:cxnLst>
                  <a:rect l="0" t="0" r="r" b="b"/>
                  <a:pathLst>
                    <a:path w="34" h="63">
                      <a:moveTo>
                        <a:pt x="23" y="0"/>
                      </a:moveTo>
                      <a:cubicBezTo>
                        <a:pt x="23" y="0"/>
                        <a:pt x="34" y="47"/>
                        <a:pt x="0" y="63"/>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2" name="Freeform 376">
                  <a:extLst>
                    <a:ext uri="{FF2B5EF4-FFF2-40B4-BE49-F238E27FC236}">
                      <a16:creationId xmlns:a16="http://schemas.microsoft.com/office/drawing/2014/main" id="{5F9D0177-D84A-4162-91A8-5ECF6C99E292}"/>
                    </a:ext>
                  </a:extLst>
                </p:cNvPr>
                <p:cNvSpPr>
                  <a:spLocks/>
                </p:cNvSpPr>
                <p:nvPr/>
              </p:nvSpPr>
              <p:spPr bwMode="auto">
                <a:xfrm>
                  <a:off x="1650324" y="3901301"/>
                  <a:ext cx="26278" cy="58926"/>
                </a:xfrm>
                <a:custGeom>
                  <a:avLst/>
                  <a:gdLst>
                    <a:gd name="T0" fmla="*/ 0 w 35"/>
                    <a:gd name="T1" fmla="*/ 79 h 79"/>
                    <a:gd name="T2" fmla="*/ 24 w 35"/>
                    <a:gd name="T3" fmla="*/ 0 h 79"/>
                  </a:gdLst>
                  <a:ahLst/>
                  <a:cxnLst>
                    <a:cxn ang="0">
                      <a:pos x="T0" y="T1"/>
                    </a:cxn>
                    <a:cxn ang="0">
                      <a:pos x="T2" y="T3"/>
                    </a:cxn>
                  </a:cxnLst>
                  <a:rect l="0" t="0" r="r" b="b"/>
                  <a:pathLst>
                    <a:path w="35" h="79">
                      <a:moveTo>
                        <a:pt x="0" y="79"/>
                      </a:moveTo>
                      <a:cubicBezTo>
                        <a:pt x="0" y="79"/>
                        <a:pt x="35" y="65"/>
                        <a:pt x="24"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3" name="Freeform 377">
                  <a:extLst>
                    <a:ext uri="{FF2B5EF4-FFF2-40B4-BE49-F238E27FC236}">
                      <a16:creationId xmlns:a16="http://schemas.microsoft.com/office/drawing/2014/main" id="{79A2C5E8-D0C1-4C25-8EFA-2F4A571CB62D}"/>
                    </a:ext>
                  </a:extLst>
                </p:cNvPr>
                <p:cNvSpPr>
                  <a:spLocks/>
                </p:cNvSpPr>
                <p:nvPr/>
              </p:nvSpPr>
              <p:spPr bwMode="auto">
                <a:xfrm>
                  <a:off x="1596972" y="3938727"/>
                  <a:ext cx="70075" cy="38223"/>
                </a:xfrm>
                <a:custGeom>
                  <a:avLst/>
                  <a:gdLst>
                    <a:gd name="T0" fmla="*/ 0 w 93"/>
                    <a:gd name="T1" fmla="*/ 51 h 51"/>
                    <a:gd name="T2" fmla="*/ 93 w 93"/>
                    <a:gd name="T3" fmla="*/ 0 h 51"/>
                  </a:gdLst>
                  <a:ahLst/>
                  <a:cxnLst>
                    <a:cxn ang="0">
                      <a:pos x="T0" y="T1"/>
                    </a:cxn>
                    <a:cxn ang="0">
                      <a:pos x="T2" y="T3"/>
                    </a:cxn>
                  </a:cxnLst>
                  <a:rect l="0" t="0" r="r" b="b"/>
                  <a:pathLst>
                    <a:path w="93" h="51">
                      <a:moveTo>
                        <a:pt x="0" y="51"/>
                      </a:moveTo>
                      <a:cubicBezTo>
                        <a:pt x="0" y="51"/>
                        <a:pt x="67" y="35"/>
                        <a:pt x="93"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4" name="Freeform 378">
                  <a:extLst>
                    <a:ext uri="{FF2B5EF4-FFF2-40B4-BE49-F238E27FC236}">
                      <a16:creationId xmlns:a16="http://schemas.microsoft.com/office/drawing/2014/main" id="{267FB237-D340-41A6-AA62-3809117D6BAC}"/>
                    </a:ext>
                  </a:extLst>
                </p:cNvPr>
                <p:cNvSpPr>
                  <a:spLocks/>
                </p:cNvSpPr>
                <p:nvPr/>
              </p:nvSpPr>
              <p:spPr bwMode="auto">
                <a:xfrm>
                  <a:off x="1596176" y="3914838"/>
                  <a:ext cx="74852" cy="44593"/>
                </a:xfrm>
                <a:custGeom>
                  <a:avLst/>
                  <a:gdLst>
                    <a:gd name="T0" fmla="*/ 0 w 99"/>
                    <a:gd name="T1" fmla="*/ 56 h 60"/>
                    <a:gd name="T2" fmla="*/ 99 w 99"/>
                    <a:gd name="T3" fmla="*/ 0 h 60"/>
                  </a:gdLst>
                  <a:ahLst/>
                  <a:cxnLst>
                    <a:cxn ang="0">
                      <a:pos x="T0" y="T1"/>
                    </a:cxn>
                    <a:cxn ang="0">
                      <a:pos x="T2" y="T3"/>
                    </a:cxn>
                  </a:cxnLst>
                  <a:rect l="0" t="0" r="r" b="b"/>
                  <a:pathLst>
                    <a:path w="99" h="60">
                      <a:moveTo>
                        <a:pt x="0" y="56"/>
                      </a:moveTo>
                      <a:cubicBezTo>
                        <a:pt x="0" y="56"/>
                        <a:pt x="51" y="60"/>
                        <a:pt x="99"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5" name="Freeform 379">
                  <a:extLst>
                    <a:ext uri="{FF2B5EF4-FFF2-40B4-BE49-F238E27FC236}">
                      <a16:creationId xmlns:a16="http://schemas.microsoft.com/office/drawing/2014/main" id="{E01866DA-C840-4081-A5E6-79509AD71F1C}"/>
                    </a:ext>
                  </a:extLst>
                </p:cNvPr>
                <p:cNvSpPr>
                  <a:spLocks/>
                </p:cNvSpPr>
                <p:nvPr/>
              </p:nvSpPr>
              <p:spPr bwMode="auto">
                <a:xfrm>
                  <a:off x="1596176" y="3903690"/>
                  <a:ext cx="52556" cy="39019"/>
                </a:xfrm>
                <a:custGeom>
                  <a:avLst/>
                  <a:gdLst>
                    <a:gd name="T0" fmla="*/ 0 w 70"/>
                    <a:gd name="T1" fmla="*/ 44 h 52"/>
                    <a:gd name="T2" fmla="*/ 70 w 70"/>
                    <a:gd name="T3" fmla="*/ 0 h 52"/>
                  </a:gdLst>
                  <a:ahLst/>
                  <a:cxnLst>
                    <a:cxn ang="0">
                      <a:pos x="T0" y="T1"/>
                    </a:cxn>
                    <a:cxn ang="0">
                      <a:pos x="T2" y="T3"/>
                    </a:cxn>
                  </a:cxnLst>
                  <a:rect l="0" t="0" r="r" b="b"/>
                  <a:pathLst>
                    <a:path w="70" h="52">
                      <a:moveTo>
                        <a:pt x="0" y="44"/>
                      </a:moveTo>
                      <a:cubicBezTo>
                        <a:pt x="0" y="44"/>
                        <a:pt x="43" y="52"/>
                        <a:pt x="7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6" name="Freeform 380">
                  <a:extLst>
                    <a:ext uri="{FF2B5EF4-FFF2-40B4-BE49-F238E27FC236}">
                      <a16:creationId xmlns:a16="http://schemas.microsoft.com/office/drawing/2014/main" id="{E3260933-5836-439A-BD38-11644638600A}"/>
                    </a:ext>
                  </a:extLst>
                </p:cNvPr>
                <p:cNvSpPr>
                  <a:spLocks/>
                </p:cNvSpPr>
                <p:nvPr/>
              </p:nvSpPr>
              <p:spPr bwMode="auto">
                <a:xfrm>
                  <a:off x="1594583" y="3894930"/>
                  <a:ext cx="26278" cy="25482"/>
                </a:xfrm>
                <a:custGeom>
                  <a:avLst/>
                  <a:gdLst>
                    <a:gd name="T0" fmla="*/ 0 w 35"/>
                    <a:gd name="T1" fmla="*/ 34 h 34"/>
                    <a:gd name="T2" fmla="*/ 35 w 35"/>
                    <a:gd name="T3" fmla="*/ 0 h 34"/>
                  </a:gdLst>
                  <a:ahLst/>
                  <a:cxnLst>
                    <a:cxn ang="0">
                      <a:pos x="T0" y="T1"/>
                    </a:cxn>
                    <a:cxn ang="0">
                      <a:pos x="T2" y="T3"/>
                    </a:cxn>
                  </a:cxnLst>
                  <a:rect l="0" t="0" r="r" b="b"/>
                  <a:pathLst>
                    <a:path w="35" h="34">
                      <a:moveTo>
                        <a:pt x="0" y="34"/>
                      </a:moveTo>
                      <a:cubicBezTo>
                        <a:pt x="0" y="34"/>
                        <a:pt x="24" y="34"/>
                        <a:pt x="35"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7" name="Line 381">
                  <a:extLst>
                    <a:ext uri="{FF2B5EF4-FFF2-40B4-BE49-F238E27FC236}">
                      <a16:creationId xmlns:a16="http://schemas.microsoft.com/office/drawing/2014/main" id="{D3A9384D-A73B-4ADF-AA44-D2C41C884AE3}"/>
                    </a:ext>
                  </a:extLst>
                </p:cNvPr>
                <p:cNvSpPr>
                  <a:spLocks noChangeShapeType="1"/>
                </p:cNvSpPr>
                <p:nvPr/>
              </p:nvSpPr>
              <p:spPr bwMode="auto">
                <a:xfrm>
                  <a:off x="1800825" y="3842374"/>
                  <a:ext cx="0" cy="0"/>
                </a:xfrm>
                <a:prstGeom prst="line">
                  <a:avLst/>
                </a:prstGeom>
                <a:noFill/>
                <a:ln w="3175"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8" name="Freeform 382">
                  <a:extLst>
                    <a:ext uri="{FF2B5EF4-FFF2-40B4-BE49-F238E27FC236}">
                      <a16:creationId xmlns:a16="http://schemas.microsoft.com/office/drawing/2014/main" id="{F416E868-CBBA-482F-9E2C-0FB7A7AA1F3F}"/>
                    </a:ext>
                  </a:extLst>
                </p:cNvPr>
                <p:cNvSpPr>
                  <a:spLocks/>
                </p:cNvSpPr>
                <p:nvPr/>
              </p:nvSpPr>
              <p:spPr bwMode="auto">
                <a:xfrm>
                  <a:off x="1186080" y="3355834"/>
                  <a:ext cx="660931" cy="750117"/>
                </a:xfrm>
                <a:custGeom>
                  <a:avLst/>
                  <a:gdLst>
                    <a:gd name="T0" fmla="*/ 480 w 879"/>
                    <a:gd name="T1" fmla="*/ 525 h 997"/>
                    <a:gd name="T2" fmla="*/ 418 w 879"/>
                    <a:gd name="T3" fmla="*/ 315 h 997"/>
                    <a:gd name="T4" fmla="*/ 451 w 879"/>
                    <a:gd name="T5" fmla="*/ 218 h 997"/>
                    <a:gd name="T6" fmla="*/ 558 w 879"/>
                    <a:gd name="T7" fmla="*/ 210 h 997"/>
                    <a:gd name="T8" fmla="*/ 425 w 879"/>
                    <a:gd name="T9" fmla="*/ 5 h 997"/>
                    <a:gd name="T10" fmla="*/ 19 w 879"/>
                    <a:gd name="T11" fmla="*/ 35 h 997"/>
                    <a:gd name="T12" fmla="*/ 102 w 879"/>
                    <a:gd name="T13" fmla="*/ 209 h 997"/>
                    <a:gd name="T14" fmla="*/ 111 w 879"/>
                    <a:gd name="T15" fmla="*/ 326 h 997"/>
                    <a:gd name="T16" fmla="*/ 210 w 879"/>
                    <a:gd name="T17" fmla="*/ 305 h 997"/>
                    <a:gd name="T18" fmla="*/ 364 w 879"/>
                    <a:gd name="T19" fmla="*/ 379 h 997"/>
                    <a:gd name="T20" fmla="*/ 514 w 879"/>
                    <a:gd name="T21" fmla="*/ 997 h 997"/>
                    <a:gd name="T22" fmla="*/ 534 w 879"/>
                    <a:gd name="T23" fmla="*/ 803 h 997"/>
                    <a:gd name="T24" fmla="*/ 584 w 879"/>
                    <a:gd name="T25" fmla="*/ 729 h 997"/>
                    <a:gd name="T26" fmla="*/ 597 w 879"/>
                    <a:gd name="T27" fmla="*/ 739 h 997"/>
                    <a:gd name="T28" fmla="*/ 640 w 879"/>
                    <a:gd name="T29" fmla="*/ 739 h 997"/>
                    <a:gd name="T30" fmla="*/ 636 w 879"/>
                    <a:gd name="T31" fmla="*/ 700 h 997"/>
                    <a:gd name="T32" fmla="*/ 623 w 879"/>
                    <a:gd name="T33" fmla="*/ 640 h 997"/>
                    <a:gd name="T34" fmla="*/ 647 w 879"/>
                    <a:gd name="T35" fmla="*/ 702 h 997"/>
                    <a:gd name="T36" fmla="*/ 657 w 879"/>
                    <a:gd name="T37" fmla="*/ 756 h 997"/>
                    <a:gd name="T38" fmla="*/ 701 w 879"/>
                    <a:gd name="T39" fmla="*/ 767 h 997"/>
                    <a:gd name="T40" fmla="*/ 730 w 879"/>
                    <a:gd name="T41" fmla="*/ 754 h 997"/>
                    <a:gd name="T42" fmla="*/ 757 w 879"/>
                    <a:gd name="T43" fmla="*/ 734 h 997"/>
                    <a:gd name="T44" fmla="*/ 743 w 879"/>
                    <a:gd name="T45" fmla="*/ 695 h 997"/>
                    <a:gd name="T46" fmla="*/ 720 w 879"/>
                    <a:gd name="T47" fmla="*/ 667 h 997"/>
                    <a:gd name="T48" fmla="*/ 695 w 879"/>
                    <a:gd name="T49" fmla="*/ 616 h 997"/>
                    <a:gd name="T50" fmla="*/ 759 w 879"/>
                    <a:gd name="T51" fmla="*/ 678 h 997"/>
                    <a:gd name="T52" fmla="*/ 766 w 879"/>
                    <a:gd name="T53" fmla="*/ 716 h 997"/>
                    <a:gd name="T54" fmla="*/ 802 w 879"/>
                    <a:gd name="T55" fmla="*/ 702 h 997"/>
                    <a:gd name="T56" fmla="*/ 827 w 879"/>
                    <a:gd name="T57" fmla="*/ 668 h 997"/>
                    <a:gd name="T58" fmla="*/ 825 w 879"/>
                    <a:gd name="T59" fmla="*/ 636 h 997"/>
                    <a:gd name="T60" fmla="*/ 823 w 879"/>
                    <a:gd name="T61" fmla="*/ 627 h 997"/>
                    <a:gd name="T62" fmla="*/ 852 w 879"/>
                    <a:gd name="T63" fmla="*/ 609 h 997"/>
                    <a:gd name="T64" fmla="*/ 863 w 879"/>
                    <a:gd name="T65" fmla="*/ 577 h 997"/>
                    <a:gd name="T66" fmla="*/ 865 w 879"/>
                    <a:gd name="T67" fmla="*/ 546 h 997"/>
                    <a:gd name="T68" fmla="*/ 866 w 879"/>
                    <a:gd name="T69" fmla="*/ 521 h 997"/>
                    <a:gd name="T70" fmla="*/ 840 w 879"/>
                    <a:gd name="T71" fmla="*/ 494 h 997"/>
                    <a:gd name="T72" fmla="*/ 828 w 879"/>
                    <a:gd name="T73" fmla="*/ 462 h 997"/>
                    <a:gd name="T74" fmla="*/ 804 w 879"/>
                    <a:gd name="T75" fmla="*/ 441 h 997"/>
                    <a:gd name="T76" fmla="*/ 780 w 879"/>
                    <a:gd name="T77" fmla="*/ 423 h 997"/>
                    <a:gd name="T78" fmla="*/ 780 w 879"/>
                    <a:gd name="T79" fmla="*/ 398 h 997"/>
                    <a:gd name="T80" fmla="*/ 759 w 879"/>
                    <a:gd name="T81" fmla="*/ 368 h 997"/>
                    <a:gd name="T82" fmla="*/ 722 w 879"/>
                    <a:gd name="T83" fmla="*/ 346 h 997"/>
                    <a:gd name="T84" fmla="*/ 687 w 879"/>
                    <a:gd name="T85" fmla="*/ 333 h 997"/>
                    <a:gd name="T86" fmla="*/ 665 w 879"/>
                    <a:gd name="T87" fmla="*/ 323 h 997"/>
                    <a:gd name="T88" fmla="*/ 625 w 879"/>
                    <a:gd name="T89" fmla="*/ 317 h 997"/>
                    <a:gd name="T90" fmla="*/ 598 w 879"/>
                    <a:gd name="T91" fmla="*/ 354 h 997"/>
                    <a:gd name="T92" fmla="*/ 563 w 879"/>
                    <a:gd name="T93" fmla="*/ 360 h 997"/>
                    <a:gd name="T94" fmla="*/ 512 w 879"/>
                    <a:gd name="T95" fmla="*/ 387 h 997"/>
                    <a:gd name="T96" fmla="*/ 536 w 879"/>
                    <a:gd name="T97" fmla="*/ 432 h 997"/>
                    <a:gd name="T98" fmla="*/ 531 w 879"/>
                    <a:gd name="T99" fmla="*/ 447 h 997"/>
                    <a:gd name="T100" fmla="*/ 496 w 879"/>
                    <a:gd name="T101" fmla="*/ 449 h 997"/>
                    <a:gd name="T102" fmla="*/ 503 w 879"/>
                    <a:gd name="T103" fmla="*/ 486 h 997"/>
                    <a:gd name="T104" fmla="*/ 519 w 879"/>
                    <a:gd name="T105" fmla="*/ 497 h 997"/>
                    <a:gd name="T106" fmla="*/ 522 w 879"/>
                    <a:gd name="T107" fmla="*/ 541 h 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79" h="997">
                      <a:moveTo>
                        <a:pt x="521" y="552"/>
                      </a:moveTo>
                      <a:cubicBezTo>
                        <a:pt x="480" y="525"/>
                        <a:pt x="480" y="525"/>
                        <a:pt x="480" y="525"/>
                      </a:cubicBezTo>
                      <a:cubicBezTo>
                        <a:pt x="439" y="424"/>
                        <a:pt x="439" y="424"/>
                        <a:pt x="439" y="424"/>
                      </a:cubicBezTo>
                      <a:cubicBezTo>
                        <a:pt x="418" y="315"/>
                        <a:pt x="418" y="315"/>
                        <a:pt x="418" y="315"/>
                      </a:cubicBezTo>
                      <a:cubicBezTo>
                        <a:pt x="405" y="247"/>
                        <a:pt x="405" y="247"/>
                        <a:pt x="405" y="247"/>
                      </a:cubicBezTo>
                      <a:cubicBezTo>
                        <a:pt x="451" y="218"/>
                        <a:pt x="451" y="218"/>
                        <a:pt x="451" y="218"/>
                      </a:cubicBezTo>
                      <a:cubicBezTo>
                        <a:pt x="498" y="233"/>
                        <a:pt x="498" y="233"/>
                        <a:pt x="498" y="233"/>
                      </a:cubicBezTo>
                      <a:cubicBezTo>
                        <a:pt x="558" y="210"/>
                        <a:pt x="558" y="210"/>
                        <a:pt x="558" y="210"/>
                      </a:cubicBezTo>
                      <a:cubicBezTo>
                        <a:pt x="516" y="106"/>
                        <a:pt x="516" y="106"/>
                        <a:pt x="516" y="106"/>
                      </a:cubicBezTo>
                      <a:cubicBezTo>
                        <a:pt x="425" y="5"/>
                        <a:pt x="425" y="5"/>
                        <a:pt x="425" y="5"/>
                      </a:cubicBezTo>
                      <a:cubicBezTo>
                        <a:pt x="167" y="0"/>
                        <a:pt x="167" y="0"/>
                        <a:pt x="167" y="0"/>
                      </a:cubicBezTo>
                      <a:cubicBezTo>
                        <a:pt x="19" y="35"/>
                        <a:pt x="19" y="35"/>
                        <a:pt x="19" y="35"/>
                      </a:cubicBezTo>
                      <a:cubicBezTo>
                        <a:pt x="0" y="127"/>
                        <a:pt x="0" y="127"/>
                        <a:pt x="0" y="127"/>
                      </a:cubicBezTo>
                      <a:cubicBezTo>
                        <a:pt x="102" y="209"/>
                        <a:pt x="102" y="209"/>
                        <a:pt x="102" y="209"/>
                      </a:cubicBezTo>
                      <a:cubicBezTo>
                        <a:pt x="85" y="316"/>
                        <a:pt x="85" y="316"/>
                        <a:pt x="85" y="316"/>
                      </a:cubicBezTo>
                      <a:cubicBezTo>
                        <a:pt x="111" y="326"/>
                        <a:pt x="111" y="326"/>
                        <a:pt x="111" y="326"/>
                      </a:cubicBezTo>
                      <a:cubicBezTo>
                        <a:pt x="118" y="360"/>
                        <a:pt x="118" y="360"/>
                        <a:pt x="118" y="360"/>
                      </a:cubicBezTo>
                      <a:cubicBezTo>
                        <a:pt x="210" y="305"/>
                        <a:pt x="210" y="305"/>
                        <a:pt x="210" y="305"/>
                      </a:cubicBezTo>
                      <a:cubicBezTo>
                        <a:pt x="314" y="302"/>
                        <a:pt x="314" y="302"/>
                        <a:pt x="314" y="302"/>
                      </a:cubicBezTo>
                      <a:cubicBezTo>
                        <a:pt x="364" y="379"/>
                        <a:pt x="364" y="379"/>
                        <a:pt x="364" y="379"/>
                      </a:cubicBezTo>
                      <a:cubicBezTo>
                        <a:pt x="430" y="657"/>
                        <a:pt x="430" y="657"/>
                        <a:pt x="430" y="657"/>
                      </a:cubicBezTo>
                      <a:cubicBezTo>
                        <a:pt x="514" y="997"/>
                        <a:pt x="514" y="997"/>
                        <a:pt x="514" y="997"/>
                      </a:cubicBezTo>
                      <a:cubicBezTo>
                        <a:pt x="563" y="981"/>
                        <a:pt x="563" y="981"/>
                        <a:pt x="563" y="981"/>
                      </a:cubicBezTo>
                      <a:cubicBezTo>
                        <a:pt x="534" y="803"/>
                        <a:pt x="534" y="803"/>
                        <a:pt x="534" y="803"/>
                      </a:cubicBezTo>
                      <a:cubicBezTo>
                        <a:pt x="551" y="714"/>
                        <a:pt x="551" y="714"/>
                        <a:pt x="551" y="714"/>
                      </a:cubicBezTo>
                      <a:cubicBezTo>
                        <a:pt x="551" y="714"/>
                        <a:pt x="561" y="747"/>
                        <a:pt x="584" y="729"/>
                      </a:cubicBezTo>
                      <a:cubicBezTo>
                        <a:pt x="593" y="722"/>
                        <a:pt x="588" y="701"/>
                        <a:pt x="588" y="701"/>
                      </a:cubicBezTo>
                      <a:cubicBezTo>
                        <a:pt x="588" y="701"/>
                        <a:pt x="586" y="734"/>
                        <a:pt x="597" y="739"/>
                      </a:cubicBezTo>
                      <a:cubicBezTo>
                        <a:pt x="608" y="745"/>
                        <a:pt x="615" y="740"/>
                        <a:pt x="615" y="731"/>
                      </a:cubicBezTo>
                      <a:cubicBezTo>
                        <a:pt x="615" y="731"/>
                        <a:pt x="617" y="751"/>
                        <a:pt x="640" y="739"/>
                      </a:cubicBezTo>
                      <a:cubicBezTo>
                        <a:pt x="656" y="730"/>
                        <a:pt x="643" y="718"/>
                        <a:pt x="638" y="713"/>
                      </a:cubicBezTo>
                      <a:cubicBezTo>
                        <a:pt x="633" y="709"/>
                        <a:pt x="636" y="706"/>
                        <a:pt x="636" y="700"/>
                      </a:cubicBezTo>
                      <a:cubicBezTo>
                        <a:pt x="636" y="693"/>
                        <a:pt x="636" y="682"/>
                        <a:pt x="630" y="677"/>
                      </a:cubicBezTo>
                      <a:cubicBezTo>
                        <a:pt x="624" y="671"/>
                        <a:pt x="631" y="656"/>
                        <a:pt x="623" y="640"/>
                      </a:cubicBezTo>
                      <a:cubicBezTo>
                        <a:pt x="623" y="640"/>
                        <a:pt x="626" y="661"/>
                        <a:pt x="638" y="666"/>
                      </a:cubicBezTo>
                      <a:cubicBezTo>
                        <a:pt x="638" y="666"/>
                        <a:pt x="633" y="686"/>
                        <a:pt x="647" y="702"/>
                      </a:cubicBezTo>
                      <a:cubicBezTo>
                        <a:pt x="647" y="702"/>
                        <a:pt x="643" y="725"/>
                        <a:pt x="659" y="725"/>
                      </a:cubicBezTo>
                      <a:cubicBezTo>
                        <a:pt x="659" y="725"/>
                        <a:pt x="639" y="747"/>
                        <a:pt x="657" y="756"/>
                      </a:cubicBezTo>
                      <a:cubicBezTo>
                        <a:pt x="657" y="756"/>
                        <a:pt x="666" y="766"/>
                        <a:pt x="682" y="753"/>
                      </a:cubicBezTo>
                      <a:cubicBezTo>
                        <a:pt x="682" y="753"/>
                        <a:pt x="683" y="771"/>
                        <a:pt x="701" y="767"/>
                      </a:cubicBezTo>
                      <a:cubicBezTo>
                        <a:pt x="713" y="765"/>
                        <a:pt x="716" y="756"/>
                        <a:pt x="713" y="746"/>
                      </a:cubicBezTo>
                      <a:cubicBezTo>
                        <a:pt x="713" y="746"/>
                        <a:pt x="716" y="760"/>
                        <a:pt x="730" y="754"/>
                      </a:cubicBezTo>
                      <a:cubicBezTo>
                        <a:pt x="744" y="748"/>
                        <a:pt x="742" y="740"/>
                        <a:pt x="738" y="733"/>
                      </a:cubicBezTo>
                      <a:cubicBezTo>
                        <a:pt x="738" y="733"/>
                        <a:pt x="744" y="741"/>
                        <a:pt x="757" y="734"/>
                      </a:cubicBezTo>
                      <a:cubicBezTo>
                        <a:pt x="767" y="730"/>
                        <a:pt x="755" y="712"/>
                        <a:pt x="750" y="709"/>
                      </a:cubicBezTo>
                      <a:cubicBezTo>
                        <a:pt x="746" y="706"/>
                        <a:pt x="743" y="708"/>
                        <a:pt x="743" y="695"/>
                      </a:cubicBezTo>
                      <a:cubicBezTo>
                        <a:pt x="743" y="683"/>
                        <a:pt x="737" y="678"/>
                        <a:pt x="729" y="678"/>
                      </a:cubicBezTo>
                      <a:cubicBezTo>
                        <a:pt x="720" y="677"/>
                        <a:pt x="720" y="680"/>
                        <a:pt x="720" y="667"/>
                      </a:cubicBezTo>
                      <a:cubicBezTo>
                        <a:pt x="719" y="654"/>
                        <a:pt x="716" y="657"/>
                        <a:pt x="709" y="652"/>
                      </a:cubicBezTo>
                      <a:cubicBezTo>
                        <a:pt x="702" y="647"/>
                        <a:pt x="693" y="635"/>
                        <a:pt x="695" y="616"/>
                      </a:cubicBezTo>
                      <a:cubicBezTo>
                        <a:pt x="695" y="616"/>
                        <a:pt x="694" y="650"/>
                        <a:pt x="729" y="650"/>
                      </a:cubicBezTo>
                      <a:cubicBezTo>
                        <a:pt x="732" y="650"/>
                        <a:pt x="712" y="677"/>
                        <a:pt x="759" y="678"/>
                      </a:cubicBezTo>
                      <a:cubicBezTo>
                        <a:pt x="759" y="678"/>
                        <a:pt x="749" y="694"/>
                        <a:pt x="759" y="703"/>
                      </a:cubicBezTo>
                      <a:cubicBezTo>
                        <a:pt x="768" y="712"/>
                        <a:pt x="764" y="712"/>
                        <a:pt x="766" y="716"/>
                      </a:cubicBezTo>
                      <a:cubicBezTo>
                        <a:pt x="768" y="720"/>
                        <a:pt x="785" y="724"/>
                        <a:pt x="788" y="712"/>
                      </a:cubicBezTo>
                      <a:cubicBezTo>
                        <a:pt x="791" y="701"/>
                        <a:pt x="788" y="703"/>
                        <a:pt x="802" y="702"/>
                      </a:cubicBezTo>
                      <a:cubicBezTo>
                        <a:pt x="815" y="701"/>
                        <a:pt x="812" y="690"/>
                        <a:pt x="812" y="691"/>
                      </a:cubicBezTo>
                      <a:cubicBezTo>
                        <a:pt x="812" y="691"/>
                        <a:pt x="845" y="689"/>
                        <a:pt x="827" y="668"/>
                      </a:cubicBezTo>
                      <a:cubicBezTo>
                        <a:pt x="808" y="647"/>
                        <a:pt x="832" y="659"/>
                        <a:pt x="834" y="657"/>
                      </a:cubicBezTo>
                      <a:cubicBezTo>
                        <a:pt x="836" y="656"/>
                        <a:pt x="848" y="633"/>
                        <a:pt x="825" y="636"/>
                      </a:cubicBezTo>
                      <a:cubicBezTo>
                        <a:pt x="819" y="632"/>
                        <a:pt x="819" y="632"/>
                        <a:pt x="819" y="632"/>
                      </a:cubicBezTo>
                      <a:cubicBezTo>
                        <a:pt x="823" y="627"/>
                        <a:pt x="823" y="627"/>
                        <a:pt x="823" y="627"/>
                      </a:cubicBezTo>
                      <a:cubicBezTo>
                        <a:pt x="823" y="627"/>
                        <a:pt x="835" y="645"/>
                        <a:pt x="852" y="622"/>
                      </a:cubicBezTo>
                      <a:cubicBezTo>
                        <a:pt x="858" y="614"/>
                        <a:pt x="852" y="609"/>
                        <a:pt x="852" y="609"/>
                      </a:cubicBezTo>
                      <a:cubicBezTo>
                        <a:pt x="852" y="609"/>
                        <a:pt x="853" y="610"/>
                        <a:pt x="864" y="604"/>
                      </a:cubicBezTo>
                      <a:cubicBezTo>
                        <a:pt x="875" y="597"/>
                        <a:pt x="869" y="580"/>
                        <a:pt x="863" y="577"/>
                      </a:cubicBezTo>
                      <a:cubicBezTo>
                        <a:pt x="857" y="574"/>
                        <a:pt x="868" y="571"/>
                        <a:pt x="869" y="570"/>
                      </a:cubicBezTo>
                      <a:cubicBezTo>
                        <a:pt x="871" y="569"/>
                        <a:pt x="879" y="559"/>
                        <a:pt x="865" y="546"/>
                      </a:cubicBezTo>
                      <a:cubicBezTo>
                        <a:pt x="865" y="546"/>
                        <a:pt x="872" y="541"/>
                        <a:pt x="872" y="533"/>
                      </a:cubicBezTo>
                      <a:cubicBezTo>
                        <a:pt x="872" y="524"/>
                        <a:pt x="869" y="523"/>
                        <a:pt x="866" y="521"/>
                      </a:cubicBezTo>
                      <a:cubicBezTo>
                        <a:pt x="862" y="520"/>
                        <a:pt x="857" y="514"/>
                        <a:pt x="858" y="508"/>
                      </a:cubicBezTo>
                      <a:cubicBezTo>
                        <a:pt x="859" y="502"/>
                        <a:pt x="849" y="491"/>
                        <a:pt x="840" y="494"/>
                      </a:cubicBezTo>
                      <a:cubicBezTo>
                        <a:pt x="831" y="496"/>
                        <a:pt x="857" y="479"/>
                        <a:pt x="839" y="468"/>
                      </a:cubicBezTo>
                      <a:cubicBezTo>
                        <a:pt x="820" y="457"/>
                        <a:pt x="832" y="464"/>
                        <a:pt x="828" y="462"/>
                      </a:cubicBezTo>
                      <a:cubicBezTo>
                        <a:pt x="823" y="460"/>
                        <a:pt x="818" y="461"/>
                        <a:pt x="818" y="461"/>
                      </a:cubicBezTo>
                      <a:cubicBezTo>
                        <a:pt x="818" y="461"/>
                        <a:pt x="823" y="444"/>
                        <a:pt x="804" y="441"/>
                      </a:cubicBezTo>
                      <a:cubicBezTo>
                        <a:pt x="786" y="438"/>
                        <a:pt x="787" y="442"/>
                        <a:pt x="784" y="442"/>
                      </a:cubicBezTo>
                      <a:cubicBezTo>
                        <a:pt x="780" y="443"/>
                        <a:pt x="786" y="428"/>
                        <a:pt x="780" y="423"/>
                      </a:cubicBezTo>
                      <a:cubicBezTo>
                        <a:pt x="774" y="418"/>
                        <a:pt x="774" y="418"/>
                        <a:pt x="774" y="418"/>
                      </a:cubicBezTo>
                      <a:cubicBezTo>
                        <a:pt x="774" y="418"/>
                        <a:pt x="790" y="417"/>
                        <a:pt x="780" y="398"/>
                      </a:cubicBezTo>
                      <a:cubicBezTo>
                        <a:pt x="776" y="389"/>
                        <a:pt x="761" y="391"/>
                        <a:pt x="758" y="393"/>
                      </a:cubicBezTo>
                      <a:cubicBezTo>
                        <a:pt x="758" y="393"/>
                        <a:pt x="774" y="377"/>
                        <a:pt x="759" y="368"/>
                      </a:cubicBezTo>
                      <a:cubicBezTo>
                        <a:pt x="745" y="358"/>
                        <a:pt x="736" y="364"/>
                        <a:pt x="732" y="367"/>
                      </a:cubicBezTo>
                      <a:cubicBezTo>
                        <a:pt x="728" y="370"/>
                        <a:pt x="736" y="346"/>
                        <a:pt x="722" y="346"/>
                      </a:cubicBezTo>
                      <a:cubicBezTo>
                        <a:pt x="707" y="346"/>
                        <a:pt x="706" y="350"/>
                        <a:pt x="706" y="350"/>
                      </a:cubicBezTo>
                      <a:cubicBezTo>
                        <a:pt x="705" y="351"/>
                        <a:pt x="706" y="330"/>
                        <a:pt x="687" y="333"/>
                      </a:cubicBezTo>
                      <a:cubicBezTo>
                        <a:pt x="668" y="336"/>
                        <a:pt x="681" y="336"/>
                        <a:pt x="681" y="336"/>
                      </a:cubicBezTo>
                      <a:cubicBezTo>
                        <a:pt x="681" y="336"/>
                        <a:pt x="677" y="323"/>
                        <a:pt x="665" y="323"/>
                      </a:cubicBezTo>
                      <a:cubicBezTo>
                        <a:pt x="652" y="324"/>
                        <a:pt x="648" y="329"/>
                        <a:pt x="648" y="333"/>
                      </a:cubicBezTo>
                      <a:cubicBezTo>
                        <a:pt x="648" y="336"/>
                        <a:pt x="639" y="315"/>
                        <a:pt x="625" y="317"/>
                      </a:cubicBezTo>
                      <a:cubicBezTo>
                        <a:pt x="611" y="319"/>
                        <a:pt x="596" y="324"/>
                        <a:pt x="595" y="340"/>
                      </a:cubicBezTo>
                      <a:cubicBezTo>
                        <a:pt x="593" y="356"/>
                        <a:pt x="596" y="352"/>
                        <a:pt x="598" y="354"/>
                      </a:cubicBezTo>
                      <a:cubicBezTo>
                        <a:pt x="600" y="356"/>
                        <a:pt x="586" y="350"/>
                        <a:pt x="581" y="358"/>
                      </a:cubicBezTo>
                      <a:cubicBezTo>
                        <a:pt x="576" y="367"/>
                        <a:pt x="569" y="362"/>
                        <a:pt x="563" y="360"/>
                      </a:cubicBezTo>
                      <a:cubicBezTo>
                        <a:pt x="558" y="358"/>
                        <a:pt x="540" y="357"/>
                        <a:pt x="537" y="382"/>
                      </a:cubicBezTo>
                      <a:cubicBezTo>
                        <a:pt x="537" y="382"/>
                        <a:pt x="518" y="364"/>
                        <a:pt x="512" y="387"/>
                      </a:cubicBezTo>
                      <a:cubicBezTo>
                        <a:pt x="505" y="411"/>
                        <a:pt x="521" y="420"/>
                        <a:pt x="533" y="424"/>
                      </a:cubicBezTo>
                      <a:cubicBezTo>
                        <a:pt x="538" y="426"/>
                        <a:pt x="535" y="429"/>
                        <a:pt x="536" y="432"/>
                      </a:cubicBezTo>
                      <a:cubicBezTo>
                        <a:pt x="536" y="435"/>
                        <a:pt x="546" y="439"/>
                        <a:pt x="545" y="450"/>
                      </a:cubicBezTo>
                      <a:cubicBezTo>
                        <a:pt x="544" y="462"/>
                        <a:pt x="534" y="451"/>
                        <a:pt x="531" y="447"/>
                      </a:cubicBezTo>
                      <a:cubicBezTo>
                        <a:pt x="529" y="444"/>
                        <a:pt x="519" y="424"/>
                        <a:pt x="506" y="426"/>
                      </a:cubicBezTo>
                      <a:cubicBezTo>
                        <a:pt x="492" y="427"/>
                        <a:pt x="491" y="438"/>
                        <a:pt x="496" y="449"/>
                      </a:cubicBezTo>
                      <a:cubicBezTo>
                        <a:pt x="499" y="456"/>
                        <a:pt x="481" y="435"/>
                        <a:pt x="483" y="465"/>
                      </a:cubicBezTo>
                      <a:cubicBezTo>
                        <a:pt x="483" y="465"/>
                        <a:pt x="484" y="499"/>
                        <a:pt x="503" y="486"/>
                      </a:cubicBezTo>
                      <a:cubicBezTo>
                        <a:pt x="522" y="474"/>
                        <a:pt x="512" y="483"/>
                        <a:pt x="512" y="483"/>
                      </a:cubicBezTo>
                      <a:cubicBezTo>
                        <a:pt x="512" y="483"/>
                        <a:pt x="511" y="491"/>
                        <a:pt x="519" y="497"/>
                      </a:cubicBezTo>
                      <a:cubicBezTo>
                        <a:pt x="528" y="503"/>
                        <a:pt x="486" y="489"/>
                        <a:pt x="507" y="519"/>
                      </a:cubicBezTo>
                      <a:cubicBezTo>
                        <a:pt x="528" y="548"/>
                        <a:pt x="522" y="541"/>
                        <a:pt x="522" y="541"/>
                      </a:cubicBezTo>
                      <a:cubicBezTo>
                        <a:pt x="522" y="541"/>
                        <a:pt x="538" y="557"/>
                        <a:pt x="521" y="552"/>
                      </a:cubicBezTo>
                      <a:close/>
                    </a:path>
                  </a:pathLst>
                </a:custGeom>
                <a:solidFill>
                  <a:schemeClr val="bg1">
                    <a:lumMod val="8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49" name="Freeform 383">
                  <a:extLst>
                    <a:ext uri="{FF2B5EF4-FFF2-40B4-BE49-F238E27FC236}">
                      <a16:creationId xmlns:a16="http://schemas.microsoft.com/office/drawing/2014/main" id="{5A36E637-6702-4E2D-9FAA-1598680A8EC6}"/>
                    </a:ext>
                  </a:extLst>
                </p:cNvPr>
                <p:cNvSpPr>
                  <a:spLocks/>
                </p:cNvSpPr>
                <p:nvPr/>
              </p:nvSpPr>
              <p:spPr bwMode="auto">
                <a:xfrm>
                  <a:off x="1721991" y="3646484"/>
                  <a:ext cx="34241" cy="64501"/>
                </a:xfrm>
                <a:custGeom>
                  <a:avLst/>
                  <a:gdLst>
                    <a:gd name="T0" fmla="*/ 26 w 46"/>
                    <a:gd name="T1" fmla="*/ 0 h 86"/>
                    <a:gd name="T2" fmla="*/ 13 w 46"/>
                    <a:gd name="T3" fmla="*/ 18 h 86"/>
                    <a:gd name="T4" fmla="*/ 22 w 46"/>
                    <a:gd name="T5" fmla="*/ 32 h 86"/>
                    <a:gd name="T6" fmla="*/ 8 w 46"/>
                    <a:gd name="T7" fmla="*/ 56 h 86"/>
                    <a:gd name="T8" fmla="*/ 8 w 46"/>
                    <a:gd name="T9" fmla="*/ 74 h 86"/>
                    <a:gd name="T10" fmla="*/ 2 w 46"/>
                    <a:gd name="T11" fmla="*/ 86 h 86"/>
                    <a:gd name="T12" fmla="*/ 22 w 46"/>
                    <a:gd name="T13" fmla="*/ 71 h 86"/>
                    <a:gd name="T14" fmla="*/ 23 w 46"/>
                    <a:gd name="T15" fmla="*/ 54 h 86"/>
                    <a:gd name="T16" fmla="*/ 37 w 46"/>
                    <a:gd name="T17" fmla="*/ 50 h 86"/>
                    <a:gd name="T18" fmla="*/ 33 w 46"/>
                    <a:gd name="T19" fmla="*/ 38 h 86"/>
                    <a:gd name="T20" fmla="*/ 42 w 46"/>
                    <a:gd name="T21" fmla="*/ 29 h 86"/>
                    <a:gd name="T22" fmla="*/ 26 w 46"/>
                    <a:gd name="T23"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6" h="86">
                      <a:moveTo>
                        <a:pt x="26" y="0"/>
                      </a:moveTo>
                      <a:cubicBezTo>
                        <a:pt x="26" y="0"/>
                        <a:pt x="26" y="10"/>
                        <a:pt x="13" y="18"/>
                      </a:cubicBezTo>
                      <a:cubicBezTo>
                        <a:pt x="0" y="25"/>
                        <a:pt x="22" y="20"/>
                        <a:pt x="22" y="32"/>
                      </a:cubicBezTo>
                      <a:cubicBezTo>
                        <a:pt x="22" y="45"/>
                        <a:pt x="12" y="54"/>
                        <a:pt x="8" y="56"/>
                      </a:cubicBezTo>
                      <a:cubicBezTo>
                        <a:pt x="4" y="58"/>
                        <a:pt x="10" y="65"/>
                        <a:pt x="8" y="74"/>
                      </a:cubicBezTo>
                      <a:cubicBezTo>
                        <a:pt x="6" y="83"/>
                        <a:pt x="2" y="86"/>
                        <a:pt x="2" y="86"/>
                      </a:cubicBezTo>
                      <a:cubicBezTo>
                        <a:pt x="2" y="86"/>
                        <a:pt x="13" y="72"/>
                        <a:pt x="22" y="71"/>
                      </a:cubicBezTo>
                      <a:cubicBezTo>
                        <a:pt x="32" y="70"/>
                        <a:pt x="14" y="69"/>
                        <a:pt x="23" y="54"/>
                      </a:cubicBezTo>
                      <a:cubicBezTo>
                        <a:pt x="29" y="46"/>
                        <a:pt x="33" y="49"/>
                        <a:pt x="37" y="50"/>
                      </a:cubicBezTo>
                      <a:cubicBezTo>
                        <a:pt x="41" y="50"/>
                        <a:pt x="29" y="44"/>
                        <a:pt x="33" y="38"/>
                      </a:cubicBezTo>
                      <a:cubicBezTo>
                        <a:pt x="36" y="32"/>
                        <a:pt x="38" y="30"/>
                        <a:pt x="42" y="29"/>
                      </a:cubicBezTo>
                      <a:cubicBezTo>
                        <a:pt x="46" y="28"/>
                        <a:pt x="22" y="27"/>
                        <a:pt x="26" y="0"/>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0" name="Freeform 384">
                  <a:extLst>
                    <a:ext uri="{FF2B5EF4-FFF2-40B4-BE49-F238E27FC236}">
                      <a16:creationId xmlns:a16="http://schemas.microsoft.com/office/drawing/2014/main" id="{CA80797A-74A3-4FC5-BD7D-FAC2113A0310}"/>
                    </a:ext>
                  </a:extLst>
                </p:cNvPr>
                <p:cNvSpPr>
                  <a:spLocks/>
                </p:cNvSpPr>
                <p:nvPr/>
              </p:nvSpPr>
              <p:spPr bwMode="auto">
                <a:xfrm>
                  <a:off x="1587416" y="3628169"/>
                  <a:ext cx="240483" cy="276317"/>
                </a:xfrm>
                <a:custGeom>
                  <a:avLst/>
                  <a:gdLst>
                    <a:gd name="T0" fmla="*/ 104 w 320"/>
                    <a:gd name="T1" fmla="*/ 35 h 367"/>
                    <a:gd name="T2" fmla="*/ 99 w 320"/>
                    <a:gd name="T3" fmla="*/ 58 h 367"/>
                    <a:gd name="T4" fmla="*/ 117 w 320"/>
                    <a:gd name="T5" fmla="*/ 99 h 367"/>
                    <a:gd name="T6" fmla="*/ 115 w 320"/>
                    <a:gd name="T7" fmla="*/ 143 h 367"/>
                    <a:gd name="T8" fmla="*/ 62 w 320"/>
                    <a:gd name="T9" fmla="*/ 127 h 367"/>
                    <a:gd name="T10" fmla="*/ 18 w 320"/>
                    <a:gd name="T11" fmla="*/ 136 h 367"/>
                    <a:gd name="T12" fmla="*/ 19 w 320"/>
                    <a:gd name="T13" fmla="*/ 154 h 367"/>
                    <a:gd name="T14" fmla="*/ 9 w 320"/>
                    <a:gd name="T15" fmla="*/ 181 h 367"/>
                    <a:gd name="T16" fmla="*/ 4 w 320"/>
                    <a:gd name="T17" fmla="*/ 195 h 367"/>
                    <a:gd name="T18" fmla="*/ 22 w 320"/>
                    <a:gd name="T19" fmla="*/ 200 h 367"/>
                    <a:gd name="T20" fmla="*/ 33 w 320"/>
                    <a:gd name="T21" fmla="*/ 222 h 367"/>
                    <a:gd name="T22" fmla="*/ 23 w 320"/>
                    <a:gd name="T23" fmla="*/ 248 h 367"/>
                    <a:gd name="T24" fmla="*/ 52 w 320"/>
                    <a:gd name="T25" fmla="*/ 248 h 367"/>
                    <a:gd name="T26" fmla="*/ 51 w 320"/>
                    <a:gd name="T27" fmla="*/ 285 h 367"/>
                    <a:gd name="T28" fmla="*/ 31 w 320"/>
                    <a:gd name="T29" fmla="*/ 313 h 367"/>
                    <a:gd name="T30" fmla="*/ 69 w 320"/>
                    <a:gd name="T31" fmla="*/ 312 h 367"/>
                    <a:gd name="T32" fmla="*/ 67 w 320"/>
                    <a:gd name="T33" fmla="*/ 287 h 367"/>
                    <a:gd name="T34" fmla="*/ 74 w 320"/>
                    <a:gd name="T35" fmla="*/ 261 h 367"/>
                    <a:gd name="T36" fmla="*/ 103 w 320"/>
                    <a:gd name="T37" fmla="*/ 243 h 367"/>
                    <a:gd name="T38" fmla="*/ 109 w 320"/>
                    <a:gd name="T39" fmla="*/ 268 h 367"/>
                    <a:gd name="T40" fmla="*/ 127 w 320"/>
                    <a:gd name="T41" fmla="*/ 294 h 367"/>
                    <a:gd name="T42" fmla="*/ 136 w 320"/>
                    <a:gd name="T43" fmla="*/ 328 h 367"/>
                    <a:gd name="T44" fmla="*/ 145 w 320"/>
                    <a:gd name="T45" fmla="*/ 353 h 367"/>
                    <a:gd name="T46" fmla="*/ 166 w 320"/>
                    <a:gd name="T47" fmla="*/ 340 h 367"/>
                    <a:gd name="T48" fmla="*/ 190 w 320"/>
                    <a:gd name="T49" fmla="*/ 335 h 367"/>
                    <a:gd name="T50" fmla="*/ 163 w 320"/>
                    <a:gd name="T51" fmla="*/ 311 h 367"/>
                    <a:gd name="T52" fmla="*/ 148 w 320"/>
                    <a:gd name="T53" fmla="*/ 285 h 367"/>
                    <a:gd name="T54" fmla="*/ 139 w 320"/>
                    <a:gd name="T55" fmla="*/ 259 h 367"/>
                    <a:gd name="T56" fmla="*/ 149 w 320"/>
                    <a:gd name="T57" fmla="*/ 229 h 367"/>
                    <a:gd name="T58" fmla="*/ 175 w 320"/>
                    <a:gd name="T59" fmla="*/ 248 h 367"/>
                    <a:gd name="T60" fmla="*/ 204 w 320"/>
                    <a:gd name="T61" fmla="*/ 268 h 367"/>
                    <a:gd name="T62" fmla="*/ 219 w 320"/>
                    <a:gd name="T63" fmla="*/ 295 h 367"/>
                    <a:gd name="T64" fmla="*/ 274 w 320"/>
                    <a:gd name="T65" fmla="*/ 297 h 367"/>
                    <a:gd name="T66" fmla="*/ 234 w 320"/>
                    <a:gd name="T67" fmla="*/ 284 h 367"/>
                    <a:gd name="T68" fmla="*/ 217 w 320"/>
                    <a:gd name="T69" fmla="*/ 249 h 367"/>
                    <a:gd name="T70" fmla="*/ 214 w 320"/>
                    <a:gd name="T71" fmla="*/ 204 h 367"/>
                    <a:gd name="T72" fmla="*/ 237 w 320"/>
                    <a:gd name="T73" fmla="*/ 214 h 367"/>
                    <a:gd name="T74" fmla="*/ 270 w 320"/>
                    <a:gd name="T75" fmla="*/ 226 h 367"/>
                    <a:gd name="T76" fmla="*/ 311 w 320"/>
                    <a:gd name="T77" fmla="*/ 213 h 367"/>
                    <a:gd name="T78" fmla="*/ 252 w 320"/>
                    <a:gd name="T79" fmla="*/ 212 h 367"/>
                    <a:gd name="T80" fmla="*/ 230 w 320"/>
                    <a:gd name="T81" fmla="*/ 170 h 367"/>
                    <a:gd name="T82" fmla="*/ 154 w 320"/>
                    <a:gd name="T83" fmla="*/ 206 h 367"/>
                    <a:gd name="T84" fmla="*/ 181 w 320"/>
                    <a:gd name="T85" fmla="*/ 146 h 367"/>
                    <a:gd name="T86" fmla="*/ 140 w 320"/>
                    <a:gd name="T87" fmla="*/ 110 h 367"/>
                    <a:gd name="T88" fmla="*/ 142 w 320"/>
                    <a:gd name="T89" fmla="*/ 4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67">
                      <a:moveTo>
                        <a:pt x="136" y="0"/>
                      </a:moveTo>
                      <a:cubicBezTo>
                        <a:pt x="136" y="0"/>
                        <a:pt x="125" y="46"/>
                        <a:pt x="104" y="35"/>
                      </a:cubicBezTo>
                      <a:cubicBezTo>
                        <a:pt x="89" y="28"/>
                        <a:pt x="96" y="42"/>
                        <a:pt x="96" y="42"/>
                      </a:cubicBezTo>
                      <a:cubicBezTo>
                        <a:pt x="96" y="42"/>
                        <a:pt x="104" y="48"/>
                        <a:pt x="99" y="58"/>
                      </a:cubicBezTo>
                      <a:cubicBezTo>
                        <a:pt x="95" y="66"/>
                        <a:pt x="113" y="53"/>
                        <a:pt x="119" y="85"/>
                      </a:cubicBezTo>
                      <a:cubicBezTo>
                        <a:pt x="121" y="93"/>
                        <a:pt x="119" y="94"/>
                        <a:pt x="117" y="99"/>
                      </a:cubicBezTo>
                      <a:cubicBezTo>
                        <a:pt x="115" y="103"/>
                        <a:pt x="115" y="104"/>
                        <a:pt x="120" y="113"/>
                      </a:cubicBezTo>
                      <a:cubicBezTo>
                        <a:pt x="120" y="113"/>
                        <a:pt x="128" y="130"/>
                        <a:pt x="115" y="143"/>
                      </a:cubicBezTo>
                      <a:cubicBezTo>
                        <a:pt x="102" y="157"/>
                        <a:pt x="90" y="150"/>
                        <a:pt x="83" y="144"/>
                      </a:cubicBezTo>
                      <a:cubicBezTo>
                        <a:pt x="76" y="137"/>
                        <a:pt x="65" y="130"/>
                        <a:pt x="62" y="127"/>
                      </a:cubicBezTo>
                      <a:cubicBezTo>
                        <a:pt x="59" y="125"/>
                        <a:pt x="52" y="119"/>
                        <a:pt x="47" y="131"/>
                      </a:cubicBezTo>
                      <a:cubicBezTo>
                        <a:pt x="42" y="143"/>
                        <a:pt x="27" y="143"/>
                        <a:pt x="18" y="136"/>
                      </a:cubicBezTo>
                      <a:cubicBezTo>
                        <a:pt x="8" y="130"/>
                        <a:pt x="7" y="128"/>
                        <a:pt x="7" y="128"/>
                      </a:cubicBezTo>
                      <a:cubicBezTo>
                        <a:pt x="7" y="128"/>
                        <a:pt x="25" y="145"/>
                        <a:pt x="19" y="154"/>
                      </a:cubicBezTo>
                      <a:cubicBezTo>
                        <a:pt x="14" y="163"/>
                        <a:pt x="9" y="163"/>
                        <a:pt x="9" y="163"/>
                      </a:cubicBezTo>
                      <a:cubicBezTo>
                        <a:pt x="9" y="163"/>
                        <a:pt x="18" y="174"/>
                        <a:pt x="9" y="181"/>
                      </a:cubicBezTo>
                      <a:cubicBezTo>
                        <a:pt x="0" y="188"/>
                        <a:pt x="5" y="181"/>
                        <a:pt x="4" y="186"/>
                      </a:cubicBezTo>
                      <a:cubicBezTo>
                        <a:pt x="3" y="190"/>
                        <a:pt x="4" y="195"/>
                        <a:pt x="4" y="195"/>
                      </a:cubicBezTo>
                      <a:cubicBezTo>
                        <a:pt x="4" y="195"/>
                        <a:pt x="3" y="196"/>
                        <a:pt x="10" y="197"/>
                      </a:cubicBezTo>
                      <a:cubicBezTo>
                        <a:pt x="17" y="198"/>
                        <a:pt x="17" y="198"/>
                        <a:pt x="22" y="200"/>
                      </a:cubicBezTo>
                      <a:cubicBezTo>
                        <a:pt x="27" y="202"/>
                        <a:pt x="33" y="202"/>
                        <a:pt x="33" y="202"/>
                      </a:cubicBezTo>
                      <a:cubicBezTo>
                        <a:pt x="33" y="202"/>
                        <a:pt x="46" y="207"/>
                        <a:pt x="33" y="222"/>
                      </a:cubicBezTo>
                      <a:cubicBezTo>
                        <a:pt x="26" y="230"/>
                        <a:pt x="25" y="222"/>
                        <a:pt x="12" y="235"/>
                      </a:cubicBezTo>
                      <a:cubicBezTo>
                        <a:pt x="3" y="243"/>
                        <a:pt x="12" y="256"/>
                        <a:pt x="23" y="248"/>
                      </a:cubicBezTo>
                      <a:cubicBezTo>
                        <a:pt x="23" y="248"/>
                        <a:pt x="31" y="236"/>
                        <a:pt x="42" y="236"/>
                      </a:cubicBezTo>
                      <a:cubicBezTo>
                        <a:pt x="52" y="235"/>
                        <a:pt x="54" y="241"/>
                        <a:pt x="52" y="248"/>
                      </a:cubicBezTo>
                      <a:cubicBezTo>
                        <a:pt x="51" y="255"/>
                        <a:pt x="45" y="255"/>
                        <a:pt x="52" y="261"/>
                      </a:cubicBezTo>
                      <a:cubicBezTo>
                        <a:pt x="58" y="267"/>
                        <a:pt x="57" y="277"/>
                        <a:pt x="51" y="285"/>
                      </a:cubicBezTo>
                      <a:cubicBezTo>
                        <a:pt x="44" y="292"/>
                        <a:pt x="46" y="288"/>
                        <a:pt x="46" y="291"/>
                      </a:cubicBezTo>
                      <a:cubicBezTo>
                        <a:pt x="46" y="294"/>
                        <a:pt x="54" y="307"/>
                        <a:pt x="31" y="313"/>
                      </a:cubicBezTo>
                      <a:cubicBezTo>
                        <a:pt x="31" y="313"/>
                        <a:pt x="45" y="318"/>
                        <a:pt x="45" y="323"/>
                      </a:cubicBezTo>
                      <a:cubicBezTo>
                        <a:pt x="45" y="323"/>
                        <a:pt x="51" y="301"/>
                        <a:pt x="69" y="312"/>
                      </a:cubicBezTo>
                      <a:cubicBezTo>
                        <a:pt x="69" y="312"/>
                        <a:pt x="69" y="303"/>
                        <a:pt x="66" y="300"/>
                      </a:cubicBezTo>
                      <a:cubicBezTo>
                        <a:pt x="62" y="297"/>
                        <a:pt x="66" y="290"/>
                        <a:pt x="67" y="287"/>
                      </a:cubicBezTo>
                      <a:cubicBezTo>
                        <a:pt x="68" y="284"/>
                        <a:pt x="65" y="278"/>
                        <a:pt x="65" y="275"/>
                      </a:cubicBezTo>
                      <a:cubicBezTo>
                        <a:pt x="65" y="272"/>
                        <a:pt x="64" y="267"/>
                        <a:pt x="74" y="261"/>
                      </a:cubicBezTo>
                      <a:cubicBezTo>
                        <a:pt x="74" y="261"/>
                        <a:pt x="55" y="252"/>
                        <a:pt x="72" y="236"/>
                      </a:cubicBezTo>
                      <a:cubicBezTo>
                        <a:pt x="89" y="220"/>
                        <a:pt x="102" y="238"/>
                        <a:pt x="103" y="243"/>
                      </a:cubicBezTo>
                      <a:cubicBezTo>
                        <a:pt x="103" y="249"/>
                        <a:pt x="105" y="249"/>
                        <a:pt x="103" y="254"/>
                      </a:cubicBezTo>
                      <a:cubicBezTo>
                        <a:pt x="101" y="260"/>
                        <a:pt x="102" y="265"/>
                        <a:pt x="109" y="268"/>
                      </a:cubicBezTo>
                      <a:cubicBezTo>
                        <a:pt x="116" y="270"/>
                        <a:pt x="118" y="273"/>
                        <a:pt x="117" y="285"/>
                      </a:cubicBezTo>
                      <a:cubicBezTo>
                        <a:pt x="117" y="291"/>
                        <a:pt x="118" y="287"/>
                        <a:pt x="127" y="294"/>
                      </a:cubicBezTo>
                      <a:cubicBezTo>
                        <a:pt x="127" y="294"/>
                        <a:pt x="146" y="306"/>
                        <a:pt x="133" y="321"/>
                      </a:cubicBezTo>
                      <a:cubicBezTo>
                        <a:pt x="131" y="323"/>
                        <a:pt x="132" y="326"/>
                        <a:pt x="136" y="328"/>
                      </a:cubicBezTo>
                      <a:cubicBezTo>
                        <a:pt x="136" y="328"/>
                        <a:pt x="152" y="333"/>
                        <a:pt x="148" y="346"/>
                      </a:cubicBezTo>
                      <a:cubicBezTo>
                        <a:pt x="144" y="360"/>
                        <a:pt x="145" y="353"/>
                        <a:pt x="145" y="353"/>
                      </a:cubicBezTo>
                      <a:cubicBezTo>
                        <a:pt x="158" y="359"/>
                        <a:pt x="158" y="359"/>
                        <a:pt x="158" y="359"/>
                      </a:cubicBezTo>
                      <a:cubicBezTo>
                        <a:pt x="158" y="359"/>
                        <a:pt x="155" y="342"/>
                        <a:pt x="166" y="340"/>
                      </a:cubicBezTo>
                      <a:cubicBezTo>
                        <a:pt x="166" y="340"/>
                        <a:pt x="189" y="340"/>
                        <a:pt x="190" y="354"/>
                      </a:cubicBezTo>
                      <a:cubicBezTo>
                        <a:pt x="191" y="367"/>
                        <a:pt x="190" y="335"/>
                        <a:pt x="190" y="335"/>
                      </a:cubicBezTo>
                      <a:cubicBezTo>
                        <a:pt x="190" y="335"/>
                        <a:pt x="171" y="338"/>
                        <a:pt x="171" y="317"/>
                      </a:cubicBezTo>
                      <a:cubicBezTo>
                        <a:pt x="171" y="316"/>
                        <a:pt x="168" y="314"/>
                        <a:pt x="163" y="311"/>
                      </a:cubicBezTo>
                      <a:cubicBezTo>
                        <a:pt x="159" y="309"/>
                        <a:pt x="152" y="300"/>
                        <a:pt x="155" y="290"/>
                      </a:cubicBezTo>
                      <a:cubicBezTo>
                        <a:pt x="155" y="290"/>
                        <a:pt x="156" y="288"/>
                        <a:pt x="148" y="285"/>
                      </a:cubicBezTo>
                      <a:cubicBezTo>
                        <a:pt x="141" y="282"/>
                        <a:pt x="131" y="276"/>
                        <a:pt x="133" y="269"/>
                      </a:cubicBezTo>
                      <a:cubicBezTo>
                        <a:pt x="135" y="261"/>
                        <a:pt x="137" y="260"/>
                        <a:pt x="139" y="259"/>
                      </a:cubicBezTo>
                      <a:cubicBezTo>
                        <a:pt x="141" y="258"/>
                        <a:pt x="140" y="253"/>
                        <a:pt x="135" y="250"/>
                      </a:cubicBezTo>
                      <a:cubicBezTo>
                        <a:pt x="131" y="246"/>
                        <a:pt x="128" y="229"/>
                        <a:pt x="149" y="229"/>
                      </a:cubicBezTo>
                      <a:cubicBezTo>
                        <a:pt x="169" y="228"/>
                        <a:pt x="175" y="237"/>
                        <a:pt x="175" y="245"/>
                      </a:cubicBezTo>
                      <a:cubicBezTo>
                        <a:pt x="175" y="253"/>
                        <a:pt x="175" y="248"/>
                        <a:pt x="175" y="248"/>
                      </a:cubicBezTo>
                      <a:cubicBezTo>
                        <a:pt x="175" y="248"/>
                        <a:pt x="196" y="240"/>
                        <a:pt x="193" y="263"/>
                      </a:cubicBezTo>
                      <a:cubicBezTo>
                        <a:pt x="204" y="268"/>
                        <a:pt x="204" y="268"/>
                        <a:pt x="204" y="268"/>
                      </a:cubicBezTo>
                      <a:cubicBezTo>
                        <a:pt x="204" y="268"/>
                        <a:pt x="211" y="275"/>
                        <a:pt x="208" y="290"/>
                      </a:cubicBezTo>
                      <a:cubicBezTo>
                        <a:pt x="207" y="296"/>
                        <a:pt x="209" y="292"/>
                        <a:pt x="219" y="295"/>
                      </a:cubicBezTo>
                      <a:cubicBezTo>
                        <a:pt x="229" y="297"/>
                        <a:pt x="246" y="290"/>
                        <a:pt x="249" y="321"/>
                      </a:cubicBezTo>
                      <a:cubicBezTo>
                        <a:pt x="250" y="332"/>
                        <a:pt x="244" y="302"/>
                        <a:pt x="274" y="297"/>
                      </a:cubicBezTo>
                      <a:cubicBezTo>
                        <a:pt x="281" y="295"/>
                        <a:pt x="245" y="303"/>
                        <a:pt x="252" y="283"/>
                      </a:cubicBezTo>
                      <a:cubicBezTo>
                        <a:pt x="253" y="282"/>
                        <a:pt x="243" y="293"/>
                        <a:pt x="234" y="284"/>
                      </a:cubicBezTo>
                      <a:cubicBezTo>
                        <a:pt x="225" y="274"/>
                        <a:pt x="218" y="267"/>
                        <a:pt x="218" y="267"/>
                      </a:cubicBezTo>
                      <a:cubicBezTo>
                        <a:pt x="218" y="267"/>
                        <a:pt x="214" y="261"/>
                        <a:pt x="217" y="249"/>
                      </a:cubicBezTo>
                      <a:cubicBezTo>
                        <a:pt x="220" y="238"/>
                        <a:pt x="197" y="261"/>
                        <a:pt x="189" y="231"/>
                      </a:cubicBezTo>
                      <a:cubicBezTo>
                        <a:pt x="182" y="205"/>
                        <a:pt x="214" y="205"/>
                        <a:pt x="214" y="204"/>
                      </a:cubicBezTo>
                      <a:cubicBezTo>
                        <a:pt x="214" y="204"/>
                        <a:pt x="219" y="206"/>
                        <a:pt x="223" y="210"/>
                      </a:cubicBezTo>
                      <a:cubicBezTo>
                        <a:pt x="227" y="214"/>
                        <a:pt x="229" y="215"/>
                        <a:pt x="237" y="214"/>
                      </a:cubicBezTo>
                      <a:cubicBezTo>
                        <a:pt x="245" y="214"/>
                        <a:pt x="242" y="214"/>
                        <a:pt x="249" y="219"/>
                      </a:cubicBezTo>
                      <a:cubicBezTo>
                        <a:pt x="256" y="225"/>
                        <a:pt x="257" y="235"/>
                        <a:pt x="270" y="226"/>
                      </a:cubicBezTo>
                      <a:cubicBezTo>
                        <a:pt x="282" y="216"/>
                        <a:pt x="293" y="227"/>
                        <a:pt x="303" y="235"/>
                      </a:cubicBezTo>
                      <a:cubicBezTo>
                        <a:pt x="306" y="238"/>
                        <a:pt x="295" y="226"/>
                        <a:pt x="311" y="213"/>
                      </a:cubicBezTo>
                      <a:cubicBezTo>
                        <a:pt x="320" y="206"/>
                        <a:pt x="295" y="223"/>
                        <a:pt x="286" y="206"/>
                      </a:cubicBezTo>
                      <a:cubicBezTo>
                        <a:pt x="286" y="206"/>
                        <a:pt x="263" y="220"/>
                        <a:pt x="252" y="212"/>
                      </a:cubicBezTo>
                      <a:cubicBezTo>
                        <a:pt x="241" y="203"/>
                        <a:pt x="245" y="190"/>
                        <a:pt x="248" y="187"/>
                      </a:cubicBezTo>
                      <a:cubicBezTo>
                        <a:pt x="249" y="186"/>
                        <a:pt x="229" y="193"/>
                        <a:pt x="230" y="170"/>
                      </a:cubicBezTo>
                      <a:cubicBezTo>
                        <a:pt x="230" y="165"/>
                        <a:pt x="234" y="189"/>
                        <a:pt x="196" y="187"/>
                      </a:cubicBezTo>
                      <a:cubicBezTo>
                        <a:pt x="196" y="187"/>
                        <a:pt x="181" y="215"/>
                        <a:pt x="154" y="206"/>
                      </a:cubicBezTo>
                      <a:cubicBezTo>
                        <a:pt x="127" y="196"/>
                        <a:pt x="139" y="169"/>
                        <a:pt x="157" y="160"/>
                      </a:cubicBezTo>
                      <a:cubicBezTo>
                        <a:pt x="176" y="150"/>
                        <a:pt x="181" y="146"/>
                        <a:pt x="181" y="146"/>
                      </a:cubicBezTo>
                      <a:cubicBezTo>
                        <a:pt x="181" y="146"/>
                        <a:pt x="160" y="147"/>
                        <a:pt x="176" y="119"/>
                      </a:cubicBezTo>
                      <a:cubicBezTo>
                        <a:pt x="176" y="119"/>
                        <a:pt x="143" y="131"/>
                        <a:pt x="140" y="110"/>
                      </a:cubicBezTo>
                      <a:cubicBezTo>
                        <a:pt x="136" y="79"/>
                        <a:pt x="142" y="80"/>
                        <a:pt x="144" y="75"/>
                      </a:cubicBezTo>
                      <a:cubicBezTo>
                        <a:pt x="144" y="75"/>
                        <a:pt x="119" y="70"/>
                        <a:pt x="142" y="40"/>
                      </a:cubicBezTo>
                      <a:cubicBezTo>
                        <a:pt x="142" y="40"/>
                        <a:pt x="120" y="48"/>
                        <a:pt x="136" y="0"/>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1" name="Freeform 385">
                  <a:extLst>
                    <a:ext uri="{FF2B5EF4-FFF2-40B4-BE49-F238E27FC236}">
                      <a16:creationId xmlns:a16="http://schemas.microsoft.com/office/drawing/2014/main" id="{7011DFFF-47A5-4290-9095-E6BE6F980A0D}"/>
                    </a:ext>
                  </a:extLst>
                </p:cNvPr>
                <p:cNvSpPr>
                  <a:spLocks/>
                </p:cNvSpPr>
                <p:nvPr/>
              </p:nvSpPr>
              <p:spPr bwMode="auto">
                <a:xfrm>
                  <a:off x="1694121" y="3617817"/>
                  <a:ext cx="35834" cy="89982"/>
                </a:xfrm>
                <a:custGeom>
                  <a:avLst/>
                  <a:gdLst>
                    <a:gd name="T0" fmla="*/ 31 w 48"/>
                    <a:gd name="T1" fmla="*/ 0 h 120"/>
                    <a:gd name="T2" fmla="*/ 38 w 48"/>
                    <a:gd name="T3" fmla="*/ 31 h 120"/>
                    <a:gd name="T4" fmla="*/ 30 w 48"/>
                    <a:gd name="T5" fmla="*/ 51 h 120"/>
                    <a:gd name="T6" fmla="*/ 37 w 48"/>
                    <a:gd name="T7" fmla="*/ 69 h 120"/>
                    <a:gd name="T8" fmla="*/ 25 w 48"/>
                    <a:gd name="T9" fmla="*/ 100 h 120"/>
                    <a:gd name="T10" fmla="*/ 17 w 48"/>
                    <a:gd name="T11" fmla="*/ 61 h 120"/>
                    <a:gd name="T12" fmla="*/ 10 w 48"/>
                    <a:gd name="T13" fmla="*/ 31 h 120"/>
                    <a:gd name="T14" fmla="*/ 31 w 48"/>
                    <a:gd name="T15" fmla="*/ 0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20">
                      <a:moveTo>
                        <a:pt x="31" y="0"/>
                      </a:moveTo>
                      <a:cubicBezTo>
                        <a:pt x="31" y="0"/>
                        <a:pt x="27" y="21"/>
                        <a:pt x="38" y="31"/>
                      </a:cubicBezTo>
                      <a:cubicBezTo>
                        <a:pt x="48" y="41"/>
                        <a:pt x="28" y="30"/>
                        <a:pt x="30" y="51"/>
                      </a:cubicBezTo>
                      <a:cubicBezTo>
                        <a:pt x="32" y="72"/>
                        <a:pt x="34" y="66"/>
                        <a:pt x="37" y="69"/>
                      </a:cubicBezTo>
                      <a:cubicBezTo>
                        <a:pt x="39" y="73"/>
                        <a:pt x="26" y="81"/>
                        <a:pt x="25" y="100"/>
                      </a:cubicBezTo>
                      <a:cubicBezTo>
                        <a:pt x="23" y="120"/>
                        <a:pt x="26" y="73"/>
                        <a:pt x="17" y="61"/>
                      </a:cubicBezTo>
                      <a:cubicBezTo>
                        <a:pt x="8" y="48"/>
                        <a:pt x="37" y="55"/>
                        <a:pt x="10" y="31"/>
                      </a:cubicBezTo>
                      <a:cubicBezTo>
                        <a:pt x="0" y="22"/>
                        <a:pt x="21" y="38"/>
                        <a:pt x="31" y="0"/>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2" name="Freeform 386">
                  <a:extLst>
                    <a:ext uri="{FF2B5EF4-FFF2-40B4-BE49-F238E27FC236}">
                      <a16:creationId xmlns:a16="http://schemas.microsoft.com/office/drawing/2014/main" id="{ED865F3D-8854-488F-AE22-C13B35F7AD42}"/>
                    </a:ext>
                  </a:extLst>
                </p:cNvPr>
                <p:cNvSpPr>
                  <a:spLocks/>
                </p:cNvSpPr>
                <p:nvPr/>
              </p:nvSpPr>
              <p:spPr bwMode="auto">
                <a:xfrm>
                  <a:off x="1714825" y="3685503"/>
                  <a:ext cx="76445" cy="78834"/>
                </a:xfrm>
                <a:custGeom>
                  <a:avLst/>
                  <a:gdLst>
                    <a:gd name="T0" fmla="*/ 80 w 101"/>
                    <a:gd name="T1" fmla="*/ 3 h 105"/>
                    <a:gd name="T2" fmla="*/ 53 w 101"/>
                    <a:gd name="T3" fmla="*/ 20 h 105"/>
                    <a:gd name="T4" fmla="*/ 44 w 101"/>
                    <a:gd name="T5" fmla="*/ 51 h 105"/>
                    <a:gd name="T6" fmla="*/ 37 w 101"/>
                    <a:gd name="T7" fmla="*/ 78 h 105"/>
                    <a:gd name="T8" fmla="*/ 10 w 101"/>
                    <a:gd name="T9" fmla="*/ 98 h 105"/>
                    <a:gd name="T10" fmla="*/ 18 w 101"/>
                    <a:gd name="T11" fmla="*/ 101 h 105"/>
                    <a:gd name="T12" fmla="*/ 47 w 101"/>
                    <a:gd name="T13" fmla="*/ 83 h 105"/>
                    <a:gd name="T14" fmla="*/ 50 w 101"/>
                    <a:gd name="T15" fmla="*/ 73 h 105"/>
                    <a:gd name="T16" fmla="*/ 67 w 101"/>
                    <a:gd name="T17" fmla="*/ 52 h 105"/>
                    <a:gd name="T18" fmla="*/ 67 w 101"/>
                    <a:gd name="T19" fmla="*/ 42 h 105"/>
                    <a:gd name="T20" fmla="*/ 76 w 101"/>
                    <a:gd name="T21" fmla="*/ 19 h 105"/>
                    <a:gd name="T22" fmla="*/ 95 w 101"/>
                    <a:gd name="T23" fmla="*/ 2 h 105"/>
                    <a:gd name="T24" fmla="*/ 80 w 101"/>
                    <a:gd name="T25" fmla="*/ 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1" h="105">
                      <a:moveTo>
                        <a:pt x="80" y="3"/>
                      </a:moveTo>
                      <a:cubicBezTo>
                        <a:pt x="80" y="3"/>
                        <a:pt x="74" y="23"/>
                        <a:pt x="53" y="20"/>
                      </a:cubicBezTo>
                      <a:cubicBezTo>
                        <a:pt x="48" y="19"/>
                        <a:pt x="71" y="35"/>
                        <a:pt x="44" y="51"/>
                      </a:cubicBezTo>
                      <a:cubicBezTo>
                        <a:pt x="44" y="51"/>
                        <a:pt x="43" y="71"/>
                        <a:pt x="37" y="78"/>
                      </a:cubicBezTo>
                      <a:cubicBezTo>
                        <a:pt x="31" y="85"/>
                        <a:pt x="21" y="95"/>
                        <a:pt x="10" y="98"/>
                      </a:cubicBezTo>
                      <a:cubicBezTo>
                        <a:pt x="0" y="101"/>
                        <a:pt x="11" y="105"/>
                        <a:pt x="18" y="101"/>
                      </a:cubicBezTo>
                      <a:cubicBezTo>
                        <a:pt x="25" y="97"/>
                        <a:pt x="34" y="85"/>
                        <a:pt x="47" y="83"/>
                      </a:cubicBezTo>
                      <a:cubicBezTo>
                        <a:pt x="60" y="82"/>
                        <a:pt x="51" y="76"/>
                        <a:pt x="50" y="73"/>
                      </a:cubicBezTo>
                      <a:cubicBezTo>
                        <a:pt x="50" y="70"/>
                        <a:pt x="48" y="55"/>
                        <a:pt x="67" y="52"/>
                      </a:cubicBezTo>
                      <a:cubicBezTo>
                        <a:pt x="73" y="51"/>
                        <a:pt x="68" y="44"/>
                        <a:pt x="67" y="42"/>
                      </a:cubicBezTo>
                      <a:cubicBezTo>
                        <a:pt x="66" y="40"/>
                        <a:pt x="63" y="30"/>
                        <a:pt x="76" y="19"/>
                      </a:cubicBezTo>
                      <a:cubicBezTo>
                        <a:pt x="90" y="8"/>
                        <a:pt x="89" y="4"/>
                        <a:pt x="95" y="2"/>
                      </a:cubicBezTo>
                      <a:cubicBezTo>
                        <a:pt x="101" y="0"/>
                        <a:pt x="88" y="4"/>
                        <a:pt x="80" y="3"/>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3" name="Freeform 387">
                  <a:extLst>
                    <a:ext uri="{FF2B5EF4-FFF2-40B4-BE49-F238E27FC236}">
                      <a16:creationId xmlns:a16="http://schemas.microsoft.com/office/drawing/2014/main" id="{A34B1A1B-299B-46BF-B48E-AB7AC5871FDC}"/>
                    </a:ext>
                  </a:extLst>
                </p:cNvPr>
                <p:cNvSpPr>
                  <a:spLocks/>
                </p:cNvSpPr>
                <p:nvPr/>
              </p:nvSpPr>
              <p:spPr bwMode="auto">
                <a:xfrm>
                  <a:off x="1615287" y="3622595"/>
                  <a:ext cx="54149" cy="97945"/>
                </a:xfrm>
                <a:custGeom>
                  <a:avLst/>
                  <a:gdLst>
                    <a:gd name="T0" fmla="*/ 16 w 72"/>
                    <a:gd name="T1" fmla="*/ 0 h 130"/>
                    <a:gd name="T2" fmla="*/ 30 w 72"/>
                    <a:gd name="T3" fmla="*/ 29 h 130"/>
                    <a:gd name="T4" fmla="*/ 29 w 72"/>
                    <a:gd name="T5" fmla="*/ 37 h 130"/>
                    <a:gd name="T6" fmla="*/ 47 w 72"/>
                    <a:gd name="T7" fmla="*/ 70 h 130"/>
                    <a:gd name="T8" fmla="*/ 49 w 72"/>
                    <a:gd name="T9" fmla="*/ 81 h 130"/>
                    <a:gd name="T10" fmla="*/ 66 w 72"/>
                    <a:gd name="T11" fmla="*/ 94 h 130"/>
                    <a:gd name="T12" fmla="*/ 65 w 72"/>
                    <a:gd name="T13" fmla="*/ 101 h 130"/>
                    <a:gd name="T14" fmla="*/ 71 w 72"/>
                    <a:gd name="T15" fmla="*/ 128 h 130"/>
                    <a:gd name="T16" fmla="*/ 47 w 72"/>
                    <a:gd name="T17" fmla="*/ 113 h 130"/>
                    <a:gd name="T18" fmla="*/ 47 w 72"/>
                    <a:gd name="T19" fmla="*/ 105 h 130"/>
                    <a:gd name="T20" fmla="*/ 45 w 72"/>
                    <a:gd name="T21" fmla="*/ 92 h 130"/>
                    <a:gd name="T22" fmla="*/ 33 w 72"/>
                    <a:gd name="T23" fmla="*/ 81 h 130"/>
                    <a:gd name="T24" fmla="*/ 28 w 72"/>
                    <a:gd name="T25" fmla="*/ 68 h 130"/>
                    <a:gd name="T26" fmla="*/ 17 w 72"/>
                    <a:gd name="T27" fmla="*/ 41 h 130"/>
                    <a:gd name="T28" fmla="*/ 9 w 72"/>
                    <a:gd name="T29" fmla="*/ 40 h 130"/>
                    <a:gd name="T30" fmla="*/ 8 w 72"/>
                    <a:gd name="T31" fmla="*/ 33 h 130"/>
                    <a:gd name="T32" fmla="*/ 5 w 72"/>
                    <a:gd name="T33" fmla="*/ 12 h 130"/>
                    <a:gd name="T34" fmla="*/ 0 w 72"/>
                    <a:gd name="T35" fmla="*/ 6 h 130"/>
                    <a:gd name="T36" fmla="*/ 16 w 72"/>
                    <a:gd name="T37"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2" h="130">
                      <a:moveTo>
                        <a:pt x="16" y="0"/>
                      </a:moveTo>
                      <a:cubicBezTo>
                        <a:pt x="16" y="0"/>
                        <a:pt x="14" y="11"/>
                        <a:pt x="30" y="29"/>
                      </a:cubicBezTo>
                      <a:cubicBezTo>
                        <a:pt x="33" y="33"/>
                        <a:pt x="30" y="31"/>
                        <a:pt x="29" y="37"/>
                      </a:cubicBezTo>
                      <a:cubicBezTo>
                        <a:pt x="27" y="42"/>
                        <a:pt x="31" y="56"/>
                        <a:pt x="47" y="70"/>
                      </a:cubicBezTo>
                      <a:cubicBezTo>
                        <a:pt x="54" y="76"/>
                        <a:pt x="49" y="79"/>
                        <a:pt x="49" y="81"/>
                      </a:cubicBezTo>
                      <a:cubicBezTo>
                        <a:pt x="49" y="84"/>
                        <a:pt x="49" y="95"/>
                        <a:pt x="66" y="94"/>
                      </a:cubicBezTo>
                      <a:cubicBezTo>
                        <a:pt x="71" y="93"/>
                        <a:pt x="68" y="98"/>
                        <a:pt x="65" y="101"/>
                      </a:cubicBezTo>
                      <a:cubicBezTo>
                        <a:pt x="63" y="103"/>
                        <a:pt x="60" y="114"/>
                        <a:pt x="71" y="128"/>
                      </a:cubicBezTo>
                      <a:cubicBezTo>
                        <a:pt x="72" y="130"/>
                        <a:pt x="62" y="113"/>
                        <a:pt x="47" y="113"/>
                      </a:cubicBezTo>
                      <a:cubicBezTo>
                        <a:pt x="47" y="113"/>
                        <a:pt x="47" y="107"/>
                        <a:pt x="47" y="105"/>
                      </a:cubicBezTo>
                      <a:cubicBezTo>
                        <a:pt x="48" y="103"/>
                        <a:pt x="47" y="97"/>
                        <a:pt x="45" y="92"/>
                      </a:cubicBezTo>
                      <a:cubicBezTo>
                        <a:pt x="42" y="87"/>
                        <a:pt x="36" y="83"/>
                        <a:pt x="33" y="81"/>
                      </a:cubicBezTo>
                      <a:cubicBezTo>
                        <a:pt x="31" y="79"/>
                        <a:pt x="28" y="76"/>
                        <a:pt x="28" y="68"/>
                      </a:cubicBezTo>
                      <a:cubicBezTo>
                        <a:pt x="29" y="59"/>
                        <a:pt x="29" y="46"/>
                        <a:pt x="17" y="41"/>
                      </a:cubicBezTo>
                      <a:cubicBezTo>
                        <a:pt x="11" y="38"/>
                        <a:pt x="11" y="40"/>
                        <a:pt x="9" y="40"/>
                      </a:cubicBezTo>
                      <a:cubicBezTo>
                        <a:pt x="7" y="40"/>
                        <a:pt x="5" y="40"/>
                        <a:pt x="8" y="33"/>
                      </a:cubicBezTo>
                      <a:cubicBezTo>
                        <a:pt x="11" y="25"/>
                        <a:pt x="8" y="17"/>
                        <a:pt x="5" y="12"/>
                      </a:cubicBezTo>
                      <a:cubicBezTo>
                        <a:pt x="2" y="6"/>
                        <a:pt x="0" y="6"/>
                        <a:pt x="0" y="6"/>
                      </a:cubicBezTo>
                      <a:lnTo>
                        <a:pt x="16" y="0"/>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4" name="Freeform 388">
                  <a:extLst>
                    <a:ext uri="{FF2B5EF4-FFF2-40B4-BE49-F238E27FC236}">
                      <a16:creationId xmlns:a16="http://schemas.microsoft.com/office/drawing/2014/main" id="{671343C6-991B-4273-B493-B92708BE5C91}"/>
                    </a:ext>
                  </a:extLst>
                </p:cNvPr>
                <p:cNvSpPr>
                  <a:spLocks/>
                </p:cNvSpPr>
                <p:nvPr/>
              </p:nvSpPr>
              <p:spPr bwMode="auto">
                <a:xfrm>
                  <a:off x="1772955" y="3725318"/>
                  <a:ext cx="53353" cy="30259"/>
                </a:xfrm>
                <a:custGeom>
                  <a:avLst/>
                  <a:gdLst>
                    <a:gd name="T0" fmla="*/ 55 w 71"/>
                    <a:gd name="T1" fmla="*/ 4 h 40"/>
                    <a:gd name="T2" fmla="*/ 17 w 71"/>
                    <a:gd name="T3" fmla="*/ 14 h 40"/>
                    <a:gd name="T4" fmla="*/ 0 w 71"/>
                    <a:gd name="T5" fmla="*/ 40 h 40"/>
                    <a:gd name="T6" fmla="*/ 21 w 71"/>
                    <a:gd name="T7" fmla="*/ 27 h 40"/>
                    <a:gd name="T8" fmla="*/ 38 w 71"/>
                    <a:gd name="T9" fmla="*/ 26 h 40"/>
                    <a:gd name="T10" fmla="*/ 43 w 71"/>
                    <a:gd name="T11" fmla="*/ 19 h 40"/>
                    <a:gd name="T12" fmla="*/ 64 w 71"/>
                    <a:gd name="T13" fmla="*/ 5 h 40"/>
                    <a:gd name="T14" fmla="*/ 55 w 71"/>
                    <a:gd name="T15" fmla="*/ 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40">
                      <a:moveTo>
                        <a:pt x="55" y="4"/>
                      </a:moveTo>
                      <a:cubicBezTo>
                        <a:pt x="55" y="4"/>
                        <a:pt x="42" y="14"/>
                        <a:pt x="17" y="14"/>
                      </a:cubicBezTo>
                      <a:cubicBezTo>
                        <a:pt x="16" y="14"/>
                        <a:pt x="16" y="30"/>
                        <a:pt x="0" y="40"/>
                      </a:cubicBezTo>
                      <a:cubicBezTo>
                        <a:pt x="0" y="40"/>
                        <a:pt x="14" y="35"/>
                        <a:pt x="21" y="27"/>
                      </a:cubicBezTo>
                      <a:cubicBezTo>
                        <a:pt x="28" y="19"/>
                        <a:pt x="30" y="23"/>
                        <a:pt x="38" y="26"/>
                      </a:cubicBezTo>
                      <a:cubicBezTo>
                        <a:pt x="45" y="30"/>
                        <a:pt x="42" y="25"/>
                        <a:pt x="43" y="19"/>
                      </a:cubicBezTo>
                      <a:cubicBezTo>
                        <a:pt x="45" y="14"/>
                        <a:pt x="56" y="5"/>
                        <a:pt x="64" y="5"/>
                      </a:cubicBezTo>
                      <a:cubicBezTo>
                        <a:pt x="71" y="4"/>
                        <a:pt x="65" y="0"/>
                        <a:pt x="55" y="4"/>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5" name="Freeform 389">
                  <a:extLst>
                    <a:ext uri="{FF2B5EF4-FFF2-40B4-BE49-F238E27FC236}">
                      <a16:creationId xmlns:a16="http://schemas.microsoft.com/office/drawing/2014/main" id="{876273DB-3519-4FCC-96B3-2485B4290ED4}"/>
                    </a:ext>
                  </a:extLst>
                </p:cNvPr>
                <p:cNvSpPr>
                  <a:spLocks/>
                </p:cNvSpPr>
                <p:nvPr/>
              </p:nvSpPr>
              <p:spPr bwMode="auto">
                <a:xfrm>
                  <a:off x="1783307" y="3759559"/>
                  <a:ext cx="58926" cy="19908"/>
                </a:xfrm>
                <a:custGeom>
                  <a:avLst/>
                  <a:gdLst>
                    <a:gd name="T0" fmla="*/ 68 w 78"/>
                    <a:gd name="T1" fmla="*/ 5 h 26"/>
                    <a:gd name="T2" fmla="*/ 44 w 78"/>
                    <a:gd name="T3" fmla="*/ 2 h 26"/>
                    <a:gd name="T4" fmla="*/ 40 w 78"/>
                    <a:gd name="T5" fmla="*/ 5 h 26"/>
                    <a:gd name="T6" fmla="*/ 24 w 78"/>
                    <a:gd name="T7" fmla="*/ 4 h 26"/>
                    <a:gd name="T8" fmla="*/ 18 w 78"/>
                    <a:gd name="T9" fmla="*/ 9 h 26"/>
                    <a:gd name="T10" fmla="*/ 3 w 78"/>
                    <a:gd name="T11" fmla="*/ 19 h 26"/>
                    <a:gd name="T12" fmla="*/ 7 w 78"/>
                    <a:gd name="T13" fmla="*/ 24 h 26"/>
                    <a:gd name="T14" fmla="*/ 26 w 78"/>
                    <a:gd name="T15" fmla="*/ 16 h 26"/>
                    <a:gd name="T16" fmla="*/ 44 w 78"/>
                    <a:gd name="T17" fmla="*/ 17 h 26"/>
                    <a:gd name="T18" fmla="*/ 53 w 78"/>
                    <a:gd name="T19" fmla="*/ 15 h 26"/>
                    <a:gd name="T20" fmla="*/ 69 w 78"/>
                    <a:gd name="T21" fmla="*/ 13 h 26"/>
                    <a:gd name="T22" fmla="*/ 76 w 78"/>
                    <a:gd name="T23" fmla="*/ 15 h 26"/>
                    <a:gd name="T24" fmla="*/ 74 w 78"/>
                    <a:gd name="T25" fmla="*/ 5 h 26"/>
                    <a:gd name="T26" fmla="*/ 68 w 78"/>
                    <a:gd name="T27" fmla="*/ 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 h="26">
                      <a:moveTo>
                        <a:pt x="68" y="5"/>
                      </a:moveTo>
                      <a:cubicBezTo>
                        <a:pt x="68" y="5"/>
                        <a:pt x="53" y="7"/>
                        <a:pt x="44" y="2"/>
                      </a:cubicBezTo>
                      <a:cubicBezTo>
                        <a:pt x="41" y="1"/>
                        <a:pt x="42" y="3"/>
                        <a:pt x="40" y="5"/>
                      </a:cubicBezTo>
                      <a:cubicBezTo>
                        <a:pt x="40" y="5"/>
                        <a:pt x="28" y="7"/>
                        <a:pt x="24" y="4"/>
                      </a:cubicBezTo>
                      <a:cubicBezTo>
                        <a:pt x="19" y="0"/>
                        <a:pt x="18" y="2"/>
                        <a:pt x="18" y="9"/>
                      </a:cubicBezTo>
                      <a:cubicBezTo>
                        <a:pt x="17" y="16"/>
                        <a:pt x="7" y="19"/>
                        <a:pt x="3" y="19"/>
                      </a:cubicBezTo>
                      <a:cubicBezTo>
                        <a:pt x="0" y="20"/>
                        <a:pt x="0" y="26"/>
                        <a:pt x="7" y="24"/>
                      </a:cubicBezTo>
                      <a:cubicBezTo>
                        <a:pt x="14" y="22"/>
                        <a:pt x="13" y="20"/>
                        <a:pt x="26" y="16"/>
                      </a:cubicBezTo>
                      <a:cubicBezTo>
                        <a:pt x="39" y="12"/>
                        <a:pt x="41" y="16"/>
                        <a:pt x="44" y="17"/>
                      </a:cubicBezTo>
                      <a:cubicBezTo>
                        <a:pt x="48" y="19"/>
                        <a:pt x="50" y="18"/>
                        <a:pt x="53" y="15"/>
                      </a:cubicBezTo>
                      <a:cubicBezTo>
                        <a:pt x="56" y="12"/>
                        <a:pt x="61" y="8"/>
                        <a:pt x="69" y="13"/>
                      </a:cubicBezTo>
                      <a:cubicBezTo>
                        <a:pt x="78" y="18"/>
                        <a:pt x="76" y="15"/>
                        <a:pt x="76" y="15"/>
                      </a:cubicBezTo>
                      <a:cubicBezTo>
                        <a:pt x="74" y="5"/>
                        <a:pt x="74" y="5"/>
                        <a:pt x="74" y="5"/>
                      </a:cubicBezTo>
                      <a:lnTo>
                        <a:pt x="68" y="5"/>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6" name="Freeform 390">
                  <a:extLst>
                    <a:ext uri="{FF2B5EF4-FFF2-40B4-BE49-F238E27FC236}">
                      <a16:creationId xmlns:a16="http://schemas.microsoft.com/office/drawing/2014/main" id="{29470274-D4E2-4EA3-8200-A77641D844AD}"/>
                    </a:ext>
                  </a:extLst>
                </p:cNvPr>
                <p:cNvSpPr>
                  <a:spLocks/>
                </p:cNvSpPr>
                <p:nvPr/>
              </p:nvSpPr>
              <p:spPr bwMode="auto">
                <a:xfrm>
                  <a:off x="837299" y="3004664"/>
                  <a:ext cx="1231880" cy="769228"/>
                </a:xfrm>
                <a:custGeom>
                  <a:avLst/>
                  <a:gdLst>
                    <a:gd name="T0" fmla="*/ 1134 w 1638"/>
                    <a:gd name="T1" fmla="*/ 638 h 1023"/>
                    <a:gd name="T2" fmla="*/ 1149 w 1638"/>
                    <a:gd name="T3" fmla="*/ 745 h 1023"/>
                    <a:gd name="T4" fmla="*/ 1305 w 1638"/>
                    <a:gd name="T5" fmla="*/ 906 h 1023"/>
                    <a:gd name="T6" fmla="*/ 1393 w 1638"/>
                    <a:gd name="T7" fmla="*/ 957 h 1023"/>
                    <a:gd name="T8" fmla="*/ 1527 w 1638"/>
                    <a:gd name="T9" fmla="*/ 981 h 1023"/>
                    <a:gd name="T10" fmla="*/ 1600 w 1638"/>
                    <a:gd name="T11" fmla="*/ 837 h 1023"/>
                    <a:gd name="T12" fmla="*/ 1631 w 1638"/>
                    <a:gd name="T13" fmla="*/ 732 h 1023"/>
                    <a:gd name="T14" fmla="*/ 1632 w 1638"/>
                    <a:gd name="T15" fmla="*/ 658 h 1023"/>
                    <a:gd name="T16" fmla="*/ 1617 w 1638"/>
                    <a:gd name="T17" fmla="*/ 585 h 1023"/>
                    <a:gd name="T18" fmla="*/ 1583 w 1638"/>
                    <a:gd name="T19" fmla="*/ 496 h 1023"/>
                    <a:gd name="T20" fmla="*/ 1556 w 1638"/>
                    <a:gd name="T21" fmla="*/ 445 h 1023"/>
                    <a:gd name="T22" fmla="*/ 1499 w 1638"/>
                    <a:gd name="T23" fmla="*/ 357 h 1023"/>
                    <a:gd name="T24" fmla="*/ 1460 w 1638"/>
                    <a:gd name="T25" fmla="*/ 326 h 1023"/>
                    <a:gd name="T26" fmla="*/ 1339 w 1638"/>
                    <a:gd name="T27" fmla="*/ 227 h 1023"/>
                    <a:gd name="T28" fmla="*/ 1248 w 1638"/>
                    <a:gd name="T29" fmla="*/ 156 h 1023"/>
                    <a:gd name="T30" fmla="*/ 1144 w 1638"/>
                    <a:gd name="T31" fmla="*/ 98 h 1023"/>
                    <a:gd name="T32" fmla="*/ 1083 w 1638"/>
                    <a:gd name="T33" fmla="*/ 68 h 1023"/>
                    <a:gd name="T34" fmla="*/ 987 w 1638"/>
                    <a:gd name="T35" fmla="*/ 50 h 1023"/>
                    <a:gd name="T36" fmla="*/ 886 w 1638"/>
                    <a:gd name="T37" fmla="*/ 13 h 1023"/>
                    <a:gd name="T38" fmla="*/ 767 w 1638"/>
                    <a:gd name="T39" fmla="*/ 2 h 1023"/>
                    <a:gd name="T40" fmla="*/ 674 w 1638"/>
                    <a:gd name="T41" fmla="*/ 5 h 1023"/>
                    <a:gd name="T42" fmla="*/ 512 w 1638"/>
                    <a:gd name="T43" fmla="*/ 18 h 1023"/>
                    <a:gd name="T44" fmla="*/ 372 w 1638"/>
                    <a:gd name="T45" fmla="*/ 56 h 1023"/>
                    <a:gd name="T46" fmla="*/ 289 w 1638"/>
                    <a:gd name="T47" fmla="*/ 100 h 1023"/>
                    <a:gd name="T48" fmla="*/ 200 w 1638"/>
                    <a:gd name="T49" fmla="*/ 166 h 1023"/>
                    <a:gd name="T50" fmla="*/ 102 w 1638"/>
                    <a:gd name="T51" fmla="*/ 260 h 1023"/>
                    <a:gd name="T52" fmla="*/ 36 w 1638"/>
                    <a:gd name="T53" fmla="*/ 355 h 1023"/>
                    <a:gd name="T54" fmla="*/ 8 w 1638"/>
                    <a:gd name="T55" fmla="*/ 400 h 1023"/>
                    <a:gd name="T56" fmla="*/ 5 w 1638"/>
                    <a:gd name="T57" fmla="*/ 565 h 1023"/>
                    <a:gd name="T58" fmla="*/ 39 w 1638"/>
                    <a:gd name="T59" fmla="*/ 700 h 1023"/>
                    <a:gd name="T60" fmla="*/ 130 w 1638"/>
                    <a:gd name="T61" fmla="*/ 779 h 1023"/>
                    <a:gd name="T62" fmla="*/ 345 w 1638"/>
                    <a:gd name="T63" fmla="*/ 829 h 1023"/>
                    <a:gd name="T64" fmla="*/ 553 w 1638"/>
                    <a:gd name="T65" fmla="*/ 666 h 1023"/>
                    <a:gd name="T66" fmla="*/ 364 w 1638"/>
                    <a:gd name="T67" fmla="*/ 499 h 1023"/>
                    <a:gd name="T68" fmla="*/ 1026 w 1638"/>
                    <a:gd name="T69" fmla="*/ 487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8" h="1023">
                      <a:moveTo>
                        <a:pt x="1026" y="487"/>
                      </a:moveTo>
                      <a:cubicBezTo>
                        <a:pt x="1026" y="487"/>
                        <a:pt x="1134" y="568"/>
                        <a:pt x="1134" y="638"/>
                      </a:cubicBezTo>
                      <a:cubicBezTo>
                        <a:pt x="1134" y="707"/>
                        <a:pt x="1094" y="726"/>
                        <a:pt x="1079" y="731"/>
                      </a:cubicBezTo>
                      <a:cubicBezTo>
                        <a:pt x="1074" y="732"/>
                        <a:pt x="1105" y="753"/>
                        <a:pt x="1149" y="745"/>
                      </a:cubicBezTo>
                      <a:cubicBezTo>
                        <a:pt x="1149" y="745"/>
                        <a:pt x="1154" y="821"/>
                        <a:pt x="1255" y="817"/>
                      </a:cubicBezTo>
                      <a:cubicBezTo>
                        <a:pt x="1255" y="817"/>
                        <a:pt x="1281" y="893"/>
                        <a:pt x="1305" y="906"/>
                      </a:cubicBezTo>
                      <a:cubicBezTo>
                        <a:pt x="1328" y="918"/>
                        <a:pt x="1311" y="902"/>
                        <a:pt x="1330" y="925"/>
                      </a:cubicBezTo>
                      <a:cubicBezTo>
                        <a:pt x="1349" y="947"/>
                        <a:pt x="1352" y="961"/>
                        <a:pt x="1393" y="957"/>
                      </a:cubicBezTo>
                      <a:cubicBezTo>
                        <a:pt x="1410" y="955"/>
                        <a:pt x="1376" y="963"/>
                        <a:pt x="1426" y="979"/>
                      </a:cubicBezTo>
                      <a:cubicBezTo>
                        <a:pt x="1426" y="979"/>
                        <a:pt x="1480" y="1023"/>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463" y="819"/>
                        <a:pt x="511" y="809"/>
                        <a:pt x="541" y="764"/>
                      </a:cubicBezTo>
                      <a:cubicBezTo>
                        <a:pt x="572" y="719"/>
                        <a:pt x="560" y="682"/>
                        <a:pt x="553" y="666"/>
                      </a:cubicBezTo>
                      <a:cubicBezTo>
                        <a:pt x="546" y="650"/>
                        <a:pt x="522" y="636"/>
                        <a:pt x="468" y="620"/>
                      </a:cubicBezTo>
                      <a:cubicBezTo>
                        <a:pt x="413" y="604"/>
                        <a:pt x="343" y="575"/>
                        <a:pt x="364" y="499"/>
                      </a:cubicBezTo>
                      <a:cubicBezTo>
                        <a:pt x="384" y="424"/>
                        <a:pt x="514" y="379"/>
                        <a:pt x="651" y="384"/>
                      </a:cubicBezTo>
                      <a:cubicBezTo>
                        <a:pt x="787" y="389"/>
                        <a:pt x="937" y="416"/>
                        <a:pt x="1026" y="487"/>
                      </a:cubicBezTo>
                      <a:close/>
                    </a:path>
                  </a:pathLst>
                </a:custGeom>
                <a:solidFill>
                  <a:schemeClr val="bg1"/>
                </a:solidFill>
                <a:ln w="3175">
                  <a:solidFill>
                    <a:schemeClr val="tx1"/>
                  </a:solidFill>
                </a:ln>
              </p:spPr>
              <p:txBody>
                <a:bodyPr vert="horz" wrap="square" lIns="91440" tIns="45720" rIns="91440" bIns="45720" numCol="1" anchor="t" anchorCtr="0" compatLnSpc="1">
                  <a:prstTxWarp prst="textNoShape">
                    <a:avLst/>
                  </a:prstTxWarp>
                </a:bodyPr>
                <a:lstStyle/>
                <a:p>
                  <a:endParaRPr lang="en-GB" sz="1600"/>
                </a:p>
              </p:txBody>
            </p:sp>
            <p:sp>
              <p:nvSpPr>
                <p:cNvPr id="157" name="Freeform 391">
                  <a:extLst>
                    <a:ext uri="{FF2B5EF4-FFF2-40B4-BE49-F238E27FC236}">
                      <a16:creationId xmlns:a16="http://schemas.microsoft.com/office/drawing/2014/main" id="{FE24C928-107D-4865-9E3C-F9974F1BA4D0}"/>
                    </a:ext>
                  </a:extLst>
                </p:cNvPr>
                <p:cNvSpPr>
                  <a:spLocks/>
                </p:cNvSpPr>
                <p:nvPr/>
              </p:nvSpPr>
              <p:spPr bwMode="auto">
                <a:xfrm>
                  <a:off x="1104857" y="3004664"/>
                  <a:ext cx="672876" cy="218983"/>
                </a:xfrm>
                <a:custGeom>
                  <a:avLst/>
                  <a:gdLst>
                    <a:gd name="T0" fmla="*/ 892 w 894"/>
                    <a:gd name="T1" fmla="*/ 156 h 291"/>
                    <a:gd name="T2" fmla="*/ 831 w 894"/>
                    <a:gd name="T3" fmla="*/ 109 h 291"/>
                    <a:gd name="T4" fmla="*/ 788 w 894"/>
                    <a:gd name="T5" fmla="*/ 98 h 291"/>
                    <a:gd name="T6" fmla="*/ 776 w 894"/>
                    <a:gd name="T7" fmla="*/ 79 h 291"/>
                    <a:gd name="T8" fmla="*/ 727 w 894"/>
                    <a:gd name="T9" fmla="*/ 68 h 291"/>
                    <a:gd name="T10" fmla="*/ 669 w 894"/>
                    <a:gd name="T11" fmla="*/ 39 h 291"/>
                    <a:gd name="T12" fmla="*/ 631 w 894"/>
                    <a:gd name="T13" fmla="*/ 50 h 291"/>
                    <a:gd name="T14" fmla="*/ 597 w 894"/>
                    <a:gd name="T15" fmla="*/ 31 h 291"/>
                    <a:gd name="T16" fmla="*/ 530 w 894"/>
                    <a:gd name="T17" fmla="*/ 13 h 291"/>
                    <a:gd name="T18" fmla="*/ 474 w 894"/>
                    <a:gd name="T19" fmla="*/ 31 h 291"/>
                    <a:gd name="T20" fmla="*/ 411 w 894"/>
                    <a:gd name="T21" fmla="*/ 2 h 291"/>
                    <a:gd name="T22" fmla="*/ 356 w 894"/>
                    <a:gd name="T23" fmla="*/ 5 h 291"/>
                    <a:gd name="T24" fmla="*/ 318 w 894"/>
                    <a:gd name="T25" fmla="*/ 5 h 291"/>
                    <a:gd name="T26" fmla="*/ 231 w 894"/>
                    <a:gd name="T27" fmla="*/ 18 h 291"/>
                    <a:gd name="T28" fmla="*/ 156 w 894"/>
                    <a:gd name="T29" fmla="*/ 18 h 291"/>
                    <a:gd name="T30" fmla="*/ 119 w 894"/>
                    <a:gd name="T31" fmla="*/ 39 h 291"/>
                    <a:gd name="T32" fmla="*/ 16 w 894"/>
                    <a:gd name="T33" fmla="*/ 56 h 291"/>
                    <a:gd name="T34" fmla="*/ 3 w 894"/>
                    <a:gd name="T35" fmla="*/ 84 h 291"/>
                    <a:gd name="T36" fmla="*/ 172 w 894"/>
                    <a:gd name="T37" fmla="*/ 147 h 291"/>
                    <a:gd name="T38" fmla="*/ 344 w 894"/>
                    <a:gd name="T39" fmla="*/ 192 h 291"/>
                    <a:gd name="T40" fmla="*/ 468 w 894"/>
                    <a:gd name="T41" fmla="*/ 280 h 291"/>
                    <a:gd name="T42" fmla="*/ 626 w 894"/>
                    <a:gd name="T43" fmla="*/ 283 h 291"/>
                    <a:gd name="T44" fmla="*/ 703 w 894"/>
                    <a:gd name="T45" fmla="*/ 270 h 291"/>
                    <a:gd name="T46" fmla="*/ 713 w 894"/>
                    <a:gd name="T47" fmla="*/ 241 h 291"/>
                    <a:gd name="T48" fmla="*/ 811 w 894"/>
                    <a:gd name="T49" fmla="*/ 252 h 291"/>
                    <a:gd name="T50" fmla="*/ 883 w 894"/>
                    <a:gd name="T51" fmla="*/ 180 h 291"/>
                    <a:gd name="T52" fmla="*/ 892 w 894"/>
                    <a:gd name="T53" fmla="*/ 15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94" h="291">
                      <a:moveTo>
                        <a:pt x="892" y="156"/>
                      </a:moveTo>
                      <a:cubicBezTo>
                        <a:pt x="879" y="149"/>
                        <a:pt x="848" y="122"/>
                        <a:pt x="831" y="109"/>
                      </a:cubicBezTo>
                      <a:cubicBezTo>
                        <a:pt x="814" y="96"/>
                        <a:pt x="795" y="96"/>
                        <a:pt x="788" y="98"/>
                      </a:cubicBezTo>
                      <a:cubicBezTo>
                        <a:pt x="781" y="100"/>
                        <a:pt x="781" y="82"/>
                        <a:pt x="776" y="79"/>
                      </a:cubicBezTo>
                      <a:cubicBezTo>
                        <a:pt x="771" y="76"/>
                        <a:pt x="735" y="71"/>
                        <a:pt x="727" y="68"/>
                      </a:cubicBezTo>
                      <a:cubicBezTo>
                        <a:pt x="718" y="64"/>
                        <a:pt x="706" y="42"/>
                        <a:pt x="669" y="39"/>
                      </a:cubicBezTo>
                      <a:cubicBezTo>
                        <a:pt x="631" y="35"/>
                        <a:pt x="633" y="48"/>
                        <a:pt x="631" y="50"/>
                      </a:cubicBezTo>
                      <a:cubicBezTo>
                        <a:pt x="629" y="52"/>
                        <a:pt x="621" y="37"/>
                        <a:pt x="597" y="31"/>
                      </a:cubicBezTo>
                      <a:cubicBezTo>
                        <a:pt x="573" y="24"/>
                        <a:pt x="540" y="18"/>
                        <a:pt x="530" y="13"/>
                      </a:cubicBezTo>
                      <a:cubicBezTo>
                        <a:pt x="520" y="8"/>
                        <a:pt x="481" y="26"/>
                        <a:pt x="474" y="31"/>
                      </a:cubicBezTo>
                      <a:cubicBezTo>
                        <a:pt x="467" y="35"/>
                        <a:pt x="443" y="3"/>
                        <a:pt x="411" y="2"/>
                      </a:cubicBezTo>
                      <a:cubicBezTo>
                        <a:pt x="378" y="0"/>
                        <a:pt x="363" y="3"/>
                        <a:pt x="356" y="5"/>
                      </a:cubicBezTo>
                      <a:cubicBezTo>
                        <a:pt x="349" y="7"/>
                        <a:pt x="329" y="10"/>
                        <a:pt x="318" y="5"/>
                      </a:cubicBezTo>
                      <a:cubicBezTo>
                        <a:pt x="308" y="0"/>
                        <a:pt x="236" y="13"/>
                        <a:pt x="231" y="18"/>
                      </a:cubicBezTo>
                      <a:cubicBezTo>
                        <a:pt x="226" y="23"/>
                        <a:pt x="194" y="5"/>
                        <a:pt x="156" y="18"/>
                      </a:cubicBezTo>
                      <a:cubicBezTo>
                        <a:pt x="119" y="31"/>
                        <a:pt x="127" y="32"/>
                        <a:pt x="119" y="39"/>
                      </a:cubicBezTo>
                      <a:cubicBezTo>
                        <a:pt x="110" y="45"/>
                        <a:pt x="59" y="42"/>
                        <a:pt x="16" y="56"/>
                      </a:cubicBezTo>
                      <a:cubicBezTo>
                        <a:pt x="16" y="56"/>
                        <a:pt x="0" y="74"/>
                        <a:pt x="3" y="84"/>
                      </a:cubicBezTo>
                      <a:cubicBezTo>
                        <a:pt x="6" y="95"/>
                        <a:pt x="12" y="151"/>
                        <a:pt x="172" y="147"/>
                      </a:cubicBezTo>
                      <a:cubicBezTo>
                        <a:pt x="332" y="143"/>
                        <a:pt x="331" y="176"/>
                        <a:pt x="344" y="192"/>
                      </a:cubicBezTo>
                      <a:cubicBezTo>
                        <a:pt x="358" y="208"/>
                        <a:pt x="352" y="283"/>
                        <a:pt x="468" y="280"/>
                      </a:cubicBezTo>
                      <a:cubicBezTo>
                        <a:pt x="584" y="278"/>
                        <a:pt x="595" y="291"/>
                        <a:pt x="626" y="283"/>
                      </a:cubicBezTo>
                      <a:cubicBezTo>
                        <a:pt x="656" y="275"/>
                        <a:pt x="690" y="287"/>
                        <a:pt x="703" y="270"/>
                      </a:cubicBezTo>
                      <a:cubicBezTo>
                        <a:pt x="716" y="252"/>
                        <a:pt x="713" y="241"/>
                        <a:pt x="713" y="241"/>
                      </a:cubicBezTo>
                      <a:cubicBezTo>
                        <a:pt x="713" y="241"/>
                        <a:pt x="764" y="256"/>
                        <a:pt x="811" y="252"/>
                      </a:cubicBezTo>
                      <a:cubicBezTo>
                        <a:pt x="858" y="248"/>
                        <a:pt x="894" y="196"/>
                        <a:pt x="883" y="180"/>
                      </a:cubicBezTo>
                      <a:cubicBezTo>
                        <a:pt x="872" y="164"/>
                        <a:pt x="892" y="156"/>
                        <a:pt x="892" y="156"/>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158" name="Freeform 392">
                  <a:extLst>
                    <a:ext uri="{FF2B5EF4-FFF2-40B4-BE49-F238E27FC236}">
                      <a16:creationId xmlns:a16="http://schemas.microsoft.com/office/drawing/2014/main" id="{8B6C751D-EF90-4EE8-ACA1-B463865B35BF}"/>
                    </a:ext>
                  </a:extLst>
                </p:cNvPr>
                <p:cNvSpPr>
                  <a:spLocks/>
                </p:cNvSpPr>
                <p:nvPr/>
              </p:nvSpPr>
              <p:spPr bwMode="auto">
                <a:xfrm>
                  <a:off x="1701288" y="3472890"/>
                  <a:ext cx="368688" cy="284280"/>
                </a:xfrm>
                <a:custGeom>
                  <a:avLst/>
                  <a:gdLst>
                    <a:gd name="T0" fmla="*/ 483 w 490"/>
                    <a:gd name="T1" fmla="*/ 69 h 378"/>
                    <a:gd name="T2" fmla="*/ 483 w 490"/>
                    <a:gd name="T3" fmla="*/ 35 h 378"/>
                    <a:gd name="T4" fmla="*/ 481 w 490"/>
                    <a:gd name="T5" fmla="*/ 0 h 378"/>
                    <a:gd name="T6" fmla="*/ 481 w 490"/>
                    <a:gd name="T7" fmla="*/ 23 h 378"/>
                    <a:gd name="T8" fmla="*/ 363 w 490"/>
                    <a:gd name="T9" fmla="*/ 65 h 378"/>
                    <a:gd name="T10" fmla="*/ 174 w 490"/>
                    <a:gd name="T11" fmla="*/ 97 h 378"/>
                    <a:gd name="T12" fmla="*/ 0 w 490"/>
                    <a:gd name="T13" fmla="*/ 122 h 378"/>
                    <a:gd name="T14" fmla="*/ 47 w 490"/>
                    <a:gd name="T15" fmla="*/ 184 h 378"/>
                    <a:gd name="T16" fmla="*/ 319 w 490"/>
                    <a:gd name="T17" fmla="*/ 237 h 378"/>
                    <a:gd name="T18" fmla="*/ 279 w 490"/>
                    <a:gd name="T19" fmla="*/ 328 h 378"/>
                    <a:gd name="T20" fmla="*/ 322 w 490"/>
                    <a:gd name="T21" fmla="*/ 375 h 378"/>
                    <a:gd name="T22" fmla="*/ 333 w 490"/>
                    <a:gd name="T23" fmla="*/ 376 h 378"/>
                    <a:gd name="T24" fmla="*/ 322 w 490"/>
                    <a:gd name="T25" fmla="*/ 375 h 378"/>
                    <a:gd name="T26" fmla="*/ 319 w 490"/>
                    <a:gd name="T27" fmla="*/ 375 h 378"/>
                    <a:gd name="T28" fmla="*/ 378 w 490"/>
                    <a:gd name="T29" fmla="*/ 358 h 378"/>
                    <a:gd name="T30" fmla="*/ 412 w 490"/>
                    <a:gd name="T31" fmla="*/ 257 h 378"/>
                    <a:gd name="T32" fmla="*/ 451 w 490"/>
                    <a:gd name="T33" fmla="*/ 214 h 378"/>
                    <a:gd name="T34" fmla="*/ 453 w 490"/>
                    <a:gd name="T35" fmla="*/ 157 h 378"/>
                    <a:gd name="T36" fmla="*/ 482 w 490"/>
                    <a:gd name="T37" fmla="*/ 109 h 378"/>
                    <a:gd name="T38" fmla="*/ 483 w 490"/>
                    <a:gd name="T39" fmla="*/ 69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0" h="378">
                      <a:moveTo>
                        <a:pt x="483" y="69"/>
                      </a:moveTo>
                      <a:cubicBezTo>
                        <a:pt x="478" y="50"/>
                        <a:pt x="478" y="53"/>
                        <a:pt x="483" y="35"/>
                      </a:cubicBezTo>
                      <a:cubicBezTo>
                        <a:pt x="483" y="35"/>
                        <a:pt x="490" y="19"/>
                        <a:pt x="481" y="0"/>
                      </a:cubicBezTo>
                      <a:cubicBezTo>
                        <a:pt x="481" y="0"/>
                        <a:pt x="486" y="16"/>
                        <a:pt x="481" y="23"/>
                      </a:cubicBezTo>
                      <a:cubicBezTo>
                        <a:pt x="481" y="23"/>
                        <a:pt x="462" y="79"/>
                        <a:pt x="363" y="65"/>
                      </a:cubicBezTo>
                      <a:cubicBezTo>
                        <a:pt x="265" y="52"/>
                        <a:pt x="325" y="59"/>
                        <a:pt x="174" y="97"/>
                      </a:cubicBezTo>
                      <a:cubicBezTo>
                        <a:pt x="23" y="136"/>
                        <a:pt x="0" y="122"/>
                        <a:pt x="0" y="122"/>
                      </a:cubicBezTo>
                      <a:cubicBezTo>
                        <a:pt x="0" y="122"/>
                        <a:pt x="3" y="165"/>
                        <a:pt x="47" y="184"/>
                      </a:cubicBezTo>
                      <a:cubicBezTo>
                        <a:pt x="47" y="184"/>
                        <a:pt x="330" y="67"/>
                        <a:pt x="319" y="237"/>
                      </a:cubicBezTo>
                      <a:cubicBezTo>
                        <a:pt x="315" y="292"/>
                        <a:pt x="275" y="271"/>
                        <a:pt x="279" y="328"/>
                      </a:cubicBezTo>
                      <a:cubicBezTo>
                        <a:pt x="282" y="364"/>
                        <a:pt x="307" y="373"/>
                        <a:pt x="322" y="375"/>
                      </a:cubicBezTo>
                      <a:cubicBezTo>
                        <a:pt x="333" y="376"/>
                        <a:pt x="333" y="376"/>
                        <a:pt x="333" y="376"/>
                      </a:cubicBezTo>
                      <a:cubicBezTo>
                        <a:pt x="333" y="376"/>
                        <a:pt x="328" y="376"/>
                        <a:pt x="322" y="375"/>
                      </a:cubicBezTo>
                      <a:cubicBezTo>
                        <a:pt x="319" y="375"/>
                        <a:pt x="319" y="375"/>
                        <a:pt x="319" y="375"/>
                      </a:cubicBezTo>
                      <a:cubicBezTo>
                        <a:pt x="337" y="378"/>
                        <a:pt x="358" y="376"/>
                        <a:pt x="378" y="358"/>
                      </a:cubicBezTo>
                      <a:cubicBezTo>
                        <a:pt x="424" y="316"/>
                        <a:pt x="422" y="287"/>
                        <a:pt x="412" y="257"/>
                      </a:cubicBezTo>
                      <a:cubicBezTo>
                        <a:pt x="412" y="257"/>
                        <a:pt x="432" y="249"/>
                        <a:pt x="451" y="214"/>
                      </a:cubicBezTo>
                      <a:cubicBezTo>
                        <a:pt x="451" y="214"/>
                        <a:pt x="466" y="195"/>
                        <a:pt x="453" y="157"/>
                      </a:cubicBezTo>
                      <a:cubicBezTo>
                        <a:pt x="451" y="153"/>
                        <a:pt x="477" y="149"/>
                        <a:pt x="482" y="109"/>
                      </a:cubicBezTo>
                      <a:cubicBezTo>
                        <a:pt x="487" y="69"/>
                        <a:pt x="489" y="88"/>
                        <a:pt x="483" y="69"/>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159" name="Freeform 393">
                  <a:extLst>
                    <a:ext uri="{FF2B5EF4-FFF2-40B4-BE49-F238E27FC236}">
                      <a16:creationId xmlns:a16="http://schemas.microsoft.com/office/drawing/2014/main" id="{8CCC3564-36CA-4ECF-A882-A9122CCE00D0}"/>
                    </a:ext>
                  </a:extLst>
                </p:cNvPr>
                <p:cNvSpPr>
                  <a:spLocks/>
                </p:cNvSpPr>
                <p:nvPr/>
              </p:nvSpPr>
              <p:spPr bwMode="auto">
                <a:xfrm>
                  <a:off x="1573083" y="3349463"/>
                  <a:ext cx="219780" cy="230132"/>
                </a:xfrm>
                <a:custGeom>
                  <a:avLst/>
                  <a:gdLst>
                    <a:gd name="T0" fmla="*/ 29 w 293"/>
                    <a:gd name="T1" fmla="*/ 66 h 306"/>
                    <a:gd name="T2" fmla="*/ 236 w 293"/>
                    <a:gd name="T3" fmla="*/ 126 h 306"/>
                    <a:gd name="T4" fmla="*/ 73 w 293"/>
                    <a:gd name="T5" fmla="*/ 260 h 306"/>
                    <a:gd name="T6" fmla="*/ 29 w 293"/>
                    <a:gd name="T7" fmla="*/ 66 h 306"/>
                  </a:gdLst>
                  <a:ahLst/>
                  <a:cxnLst>
                    <a:cxn ang="0">
                      <a:pos x="T0" y="T1"/>
                    </a:cxn>
                    <a:cxn ang="0">
                      <a:pos x="T2" y="T3"/>
                    </a:cxn>
                    <a:cxn ang="0">
                      <a:pos x="T4" y="T5"/>
                    </a:cxn>
                    <a:cxn ang="0">
                      <a:pos x="T6" y="T7"/>
                    </a:cxn>
                  </a:cxnLst>
                  <a:rect l="0" t="0" r="r" b="b"/>
                  <a:pathLst>
                    <a:path w="293" h="306">
                      <a:moveTo>
                        <a:pt x="29" y="66"/>
                      </a:moveTo>
                      <a:cubicBezTo>
                        <a:pt x="29" y="66"/>
                        <a:pt x="178" y="0"/>
                        <a:pt x="236" y="126"/>
                      </a:cubicBezTo>
                      <a:cubicBezTo>
                        <a:pt x="293" y="253"/>
                        <a:pt x="146" y="306"/>
                        <a:pt x="73" y="260"/>
                      </a:cubicBezTo>
                      <a:cubicBezTo>
                        <a:pt x="0" y="213"/>
                        <a:pt x="29" y="66"/>
                        <a:pt x="29" y="66"/>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160" name="Freeform 394">
                  <a:extLst>
                    <a:ext uri="{FF2B5EF4-FFF2-40B4-BE49-F238E27FC236}">
                      <a16:creationId xmlns:a16="http://schemas.microsoft.com/office/drawing/2014/main" id="{1BBD723F-A32B-4DE5-8412-2125FD0E4F06}"/>
                    </a:ext>
                  </a:extLst>
                </p:cNvPr>
                <p:cNvSpPr>
                  <a:spLocks/>
                </p:cNvSpPr>
                <p:nvPr/>
              </p:nvSpPr>
              <p:spPr bwMode="auto">
                <a:xfrm>
                  <a:off x="837299" y="3004664"/>
                  <a:ext cx="1231880" cy="769228"/>
                </a:xfrm>
                <a:custGeom>
                  <a:avLst/>
                  <a:gdLst>
                    <a:gd name="T0" fmla="*/ 1134 w 1638"/>
                    <a:gd name="T1" fmla="*/ 638 h 1023"/>
                    <a:gd name="T2" fmla="*/ 1149 w 1638"/>
                    <a:gd name="T3" fmla="*/ 745 h 1023"/>
                    <a:gd name="T4" fmla="*/ 1255 w 1638"/>
                    <a:gd name="T5" fmla="*/ 817 h 1023"/>
                    <a:gd name="T6" fmla="*/ 1330 w 1638"/>
                    <a:gd name="T7" fmla="*/ 925 h 1023"/>
                    <a:gd name="T8" fmla="*/ 1426 w 1638"/>
                    <a:gd name="T9" fmla="*/ 979 h 1023"/>
                    <a:gd name="T10" fmla="*/ 1561 w 1638"/>
                    <a:gd name="T11" fmla="*/ 880 h 1023"/>
                    <a:gd name="T12" fmla="*/ 1602 w 1638"/>
                    <a:gd name="T13" fmla="*/ 780 h 1023"/>
                    <a:gd name="T14" fmla="*/ 1632 w 1638"/>
                    <a:gd name="T15" fmla="*/ 692 h 1023"/>
                    <a:gd name="T16" fmla="*/ 1624 w 1638"/>
                    <a:gd name="T17" fmla="*/ 609 h 1023"/>
                    <a:gd name="T18" fmla="*/ 1597 w 1638"/>
                    <a:gd name="T19" fmla="*/ 527 h 1023"/>
                    <a:gd name="T20" fmla="*/ 1556 w 1638"/>
                    <a:gd name="T21" fmla="*/ 469 h 1023"/>
                    <a:gd name="T22" fmla="*/ 1527 w 1638"/>
                    <a:gd name="T23" fmla="*/ 400 h 1023"/>
                    <a:gd name="T24" fmla="*/ 1469 w 1638"/>
                    <a:gd name="T25" fmla="*/ 349 h 1023"/>
                    <a:gd name="T26" fmla="*/ 1417 w 1638"/>
                    <a:gd name="T27" fmla="*/ 279 h 1023"/>
                    <a:gd name="T28" fmla="*/ 1310 w 1638"/>
                    <a:gd name="T29" fmla="*/ 185 h 1023"/>
                    <a:gd name="T30" fmla="*/ 1187 w 1638"/>
                    <a:gd name="T31" fmla="*/ 109 h 1023"/>
                    <a:gd name="T32" fmla="*/ 1132 w 1638"/>
                    <a:gd name="T33" fmla="*/ 79 h 1023"/>
                    <a:gd name="T34" fmla="*/ 1025 w 1638"/>
                    <a:gd name="T35" fmla="*/ 39 h 1023"/>
                    <a:gd name="T36" fmla="*/ 953 w 1638"/>
                    <a:gd name="T37" fmla="*/ 31 h 1023"/>
                    <a:gd name="T38" fmla="*/ 830 w 1638"/>
                    <a:gd name="T39" fmla="*/ 31 h 1023"/>
                    <a:gd name="T40" fmla="*/ 712 w 1638"/>
                    <a:gd name="T41" fmla="*/ 5 h 1023"/>
                    <a:gd name="T42" fmla="*/ 587 w 1638"/>
                    <a:gd name="T43" fmla="*/ 18 h 1023"/>
                    <a:gd name="T44" fmla="*/ 475 w 1638"/>
                    <a:gd name="T45" fmla="*/ 39 h 1023"/>
                    <a:gd name="T46" fmla="*/ 321 w 1638"/>
                    <a:gd name="T47" fmla="*/ 82 h 1023"/>
                    <a:gd name="T48" fmla="*/ 225 w 1638"/>
                    <a:gd name="T49" fmla="*/ 132 h 1023"/>
                    <a:gd name="T50" fmla="*/ 164 w 1638"/>
                    <a:gd name="T51" fmla="*/ 180 h 1023"/>
                    <a:gd name="T52" fmla="*/ 67 w 1638"/>
                    <a:gd name="T53" fmla="*/ 300 h 1023"/>
                    <a:gd name="T54" fmla="*/ 34 w 1638"/>
                    <a:gd name="T55" fmla="*/ 377 h 1023"/>
                    <a:gd name="T56" fmla="*/ 5 w 1638"/>
                    <a:gd name="T57" fmla="*/ 472 h 1023"/>
                    <a:gd name="T58" fmla="*/ 19 w 1638"/>
                    <a:gd name="T59" fmla="*/ 617 h 1023"/>
                    <a:gd name="T60" fmla="*/ 89 w 1638"/>
                    <a:gd name="T61" fmla="*/ 729 h 1023"/>
                    <a:gd name="T62" fmla="*/ 198 w 1638"/>
                    <a:gd name="T63" fmla="*/ 808 h 1023"/>
                    <a:gd name="T64" fmla="*/ 541 w 1638"/>
                    <a:gd name="T65" fmla="*/ 764 h 1023"/>
                    <a:gd name="T66" fmla="*/ 468 w 1638"/>
                    <a:gd name="T67" fmla="*/ 620 h 1023"/>
                    <a:gd name="T68" fmla="*/ 651 w 1638"/>
                    <a:gd name="T69" fmla="*/ 384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8" h="1023">
                      <a:moveTo>
                        <a:pt x="1026" y="487"/>
                      </a:moveTo>
                      <a:cubicBezTo>
                        <a:pt x="1026" y="487"/>
                        <a:pt x="1134" y="568"/>
                        <a:pt x="1134" y="638"/>
                      </a:cubicBezTo>
                      <a:cubicBezTo>
                        <a:pt x="1134" y="707"/>
                        <a:pt x="1094" y="726"/>
                        <a:pt x="1079" y="731"/>
                      </a:cubicBezTo>
                      <a:cubicBezTo>
                        <a:pt x="1074" y="732"/>
                        <a:pt x="1105" y="753"/>
                        <a:pt x="1149" y="745"/>
                      </a:cubicBezTo>
                      <a:cubicBezTo>
                        <a:pt x="1149" y="745"/>
                        <a:pt x="1152" y="788"/>
                        <a:pt x="1196" y="807"/>
                      </a:cubicBezTo>
                      <a:cubicBezTo>
                        <a:pt x="1211" y="814"/>
                        <a:pt x="1230" y="818"/>
                        <a:pt x="1255" y="817"/>
                      </a:cubicBezTo>
                      <a:cubicBezTo>
                        <a:pt x="1255" y="817"/>
                        <a:pt x="1281" y="893"/>
                        <a:pt x="1305" y="906"/>
                      </a:cubicBezTo>
                      <a:cubicBezTo>
                        <a:pt x="1328" y="918"/>
                        <a:pt x="1311" y="902"/>
                        <a:pt x="1330" y="925"/>
                      </a:cubicBezTo>
                      <a:cubicBezTo>
                        <a:pt x="1349" y="947"/>
                        <a:pt x="1352" y="961"/>
                        <a:pt x="1393" y="957"/>
                      </a:cubicBezTo>
                      <a:cubicBezTo>
                        <a:pt x="1410" y="955"/>
                        <a:pt x="1376" y="963"/>
                        <a:pt x="1426" y="979"/>
                      </a:cubicBezTo>
                      <a:cubicBezTo>
                        <a:pt x="1426" y="979"/>
                        <a:pt x="1480" y="1023"/>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463" y="819"/>
                        <a:pt x="511" y="809"/>
                        <a:pt x="541" y="764"/>
                      </a:cubicBezTo>
                      <a:cubicBezTo>
                        <a:pt x="572" y="719"/>
                        <a:pt x="560" y="682"/>
                        <a:pt x="553" y="666"/>
                      </a:cubicBezTo>
                      <a:cubicBezTo>
                        <a:pt x="546" y="650"/>
                        <a:pt x="522" y="636"/>
                        <a:pt x="468" y="620"/>
                      </a:cubicBezTo>
                      <a:cubicBezTo>
                        <a:pt x="413" y="604"/>
                        <a:pt x="343" y="575"/>
                        <a:pt x="364" y="499"/>
                      </a:cubicBezTo>
                      <a:cubicBezTo>
                        <a:pt x="384" y="424"/>
                        <a:pt x="514" y="379"/>
                        <a:pt x="651" y="384"/>
                      </a:cubicBezTo>
                      <a:cubicBezTo>
                        <a:pt x="787" y="389"/>
                        <a:pt x="937" y="416"/>
                        <a:pt x="1026" y="487"/>
                      </a:cubicBezTo>
                      <a:close/>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1" name="Freeform 395">
                  <a:extLst>
                    <a:ext uri="{FF2B5EF4-FFF2-40B4-BE49-F238E27FC236}">
                      <a16:creationId xmlns:a16="http://schemas.microsoft.com/office/drawing/2014/main" id="{3FAEDE04-B513-4D3F-AE26-1273E0E20E81}"/>
                    </a:ext>
                  </a:extLst>
                </p:cNvPr>
                <p:cNvSpPr>
                  <a:spLocks/>
                </p:cNvSpPr>
                <p:nvPr/>
              </p:nvSpPr>
              <p:spPr bwMode="auto">
                <a:xfrm>
                  <a:off x="1698102" y="3145610"/>
                  <a:ext cx="75649" cy="50963"/>
                </a:xfrm>
                <a:custGeom>
                  <a:avLst/>
                  <a:gdLst>
                    <a:gd name="T0" fmla="*/ 97 w 101"/>
                    <a:gd name="T1" fmla="*/ 0 h 68"/>
                    <a:gd name="T2" fmla="*/ 79 w 101"/>
                    <a:gd name="T3" fmla="*/ 35 h 68"/>
                    <a:gd name="T4" fmla="*/ 53 w 101"/>
                    <a:gd name="T5" fmla="*/ 59 h 68"/>
                    <a:gd name="T6" fmla="*/ 0 w 101"/>
                    <a:gd name="T7" fmla="*/ 65 h 68"/>
                  </a:gdLst>
                  <a:ahLst/>
                  <a:cxnLst>
                    <a:cxn ang="0">
                      <a:pos x="T0" y="T1"/>
                    </a:cxn>
                    <a:cxn ang="0">
                      <a:pos x="T2" y="T3"/>
                    </a:cxn>
                    <a:cxn ang="0">
                      <a:pos x="T4" y="T5"/>
                    </a:cxn>
                    <a:cxn ang="0">
                      <a:pos x="T6" y="T7"/>
                    </a:cxn>
                  </a:cxnLst>
                  <a:rect l="0" t="0" r="r" b="b"/>
                  <a:pathLst>
                    <a:path w="101" h="68">
                      <a:moveTo>
                        <a:pt x="97" y="0"/>
                      </a:moveTo>
                      <a:cubicBezTo>
                        <a:pt x="97" y="0"/>
                        <a:pt x="101" y="16"/>
                        <a:pt x="79" y="35"/>
                      </a:cubicBezTo>
                      <a:cubicBezTo>
                        <a:pt x="58" y="53"/>
                        <a:pt x="53" y="59"/>
                        <a:pt x="53" y="59"/>
                      </a:cubicBezTo>
                      <a:cubicBezTo>
                        <a:pt x="53" y="59"/>
                        <a:pt x="54" y="68"/>
                        <a:pt x="0" y="6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2" name="Freeform 396">
                  <a:extLst>
                    <a:ext uri="{FF2B5EF4-FFF2-40B4-BE49-F238E27FC236}">
                      <a16:creationId xmlns:a16="http://schemas.microsoft.com/office/drawing/2014/main" id="{E1C21EBB-AB61-4566-B918-292EDD7507FC}"/>
                    </a:ext>
                  </a:extLst>
                </p:cNvPr>
                <p:cNvSpPr>
                  <a:spLocks/>
                </p:cNvSpPr>
                <p:nvPr/>
              </p:nvSpPr>
              <p:spPr bwMode="auto">
                <a:xfrm>
                  <a:off x="1729158" y="3175869"/>
                  <a:ext cx="57334" cy="39815"/>
                </a:xfrm>
                <a:custGeom>
                  <a:avLst/>
                  <a:gdLst>
                    <a:gd name="T0" fmla="*/ 76 w 76"/>
                    <a:gd name="T1" fmla="*/ 2 h 53"/>
                    <a:gd name="T2" fmla="*/ 32 w 76"/>
                    <a:gd name="T3" fmla="*/ 1 h 53"/>
                    <a:gd name="T4" fmla="*/ 22 w 76"/>
                    <a:gd name="T5" fmla="*/ 7 h 53"/>
                    <a:gd name="T6" fmla="*/ 9 w 76"/>
                    <a:gd name="T7" fmla="*/ 53 h 53"/>
                  </a:gdLst>
                  <a:ahLst/>
                  <a:cxnLst>
                    <a:cxn ang="0">
                      <a:pos x="T0" y="T1"/>
                    </a:cxn>
                    <a:cxn ang="0">
                      <a:pos x="T2" y="T3"/>
                    </a:cxn>
                    <a:cxn ang="0">
                      <a:pos x="T4" y="T5"/>
                    </a:cxn>
                    <a:cxn ang="0">
                      <a:pos x="T6" y="T7"/>
                    </a:cxn>
                  </a:cxnLst>
                  <a:rect l="0" t="0" r="r" b="b"/>
                  <a:pathLst>
                    <a:path w="76" h="53">
                      <a:moveTo>
                        <a:pt x="76" y="2"/>
                      </a:moveTo>
                      <a:cubicBezTo>
                        <a:pt x="76" y="2"/>
                        <a:pt x="40" y="0"/>
                        <a:pt x="32" y="1"/>
                      </a:cubicBezTo>
                      <a:cubicBezTo>
                        <a:pt x="25" y="3"/>
                        <a:pt x="25" y="5"/>
                        <a:pt x="22" y="7"/>
                      </a:cubicBezTo>
                      <a:cubicBezTo>
                        <a:pt x="19" y="9"/>
                        <a:pt x="0" y="19"/>
                        <a:pt x="9" y="5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3" name="Freeform 397">
                  <a:extLst>
                    <a:ext uri="{FF2B5EF4-FFF2-40B4-BE49-F238E27FC236}">
                      <a16:creationId xmlns:a16="http://schemas.microsoft.com/office/drawing/2014/main" id="{FDBCA2C7-95F6-444B-9151-6E4A0ADFB259}"/>
                    </a:ext>
                  </a:extLst>
                </p:cNvPr>
                <p:cNvSpPr>
                  <a:spLocks/>
                </p:cNvSpPr>
                <p:nvPr/>
              </p:nvSpPr>
              <p:spPr bwMode="auto">
                <a:xfrm>
                  <a:off x="1992734" y="3538187"/>
                  <a:ext cx="52556" cy="60519"/>
                </a:xfrm>
                <a:custGeom>
                  <a:avLst/>
                  <a:gdLst>
                    <a:gd name="T0" fmla="*/ 70 w 70"/>
                    <a:gd name="T1" fmla="*/ 69 h 81"/>
                    <a:gd name="T2" fmla="*/ 35 w 70"/>
                    <a:gd name="T3" fmla="*/ 58 h 81"/>
                    <a:gd name="T4" fmla="*/ 24 w 70"/>
                    <a:gd name="T5" fmla="*/ 0 h 81"/>
                  </a:gdLst>
                  <a:ahLst/>
                  <a:cxnLst>
                    <a:cxn ang="0">
                      <a:pos x="T0" y="T1"/>
                    </a:cxn>
                    <a:cxn ang="0">
                      <a:pos x="T2" y="T3"/>
                    </a:cxn>
                    <a:cxn ang="0">
                      <a:pos x="T4" y="T5"/>
                    </a:cxn>
                  </a:cxnLst>
                  <a:rect l="0" t="0" r="r" b="b"/>
                  <a:pathLst>
                    <a:path w="70" h="81">
                      <a:moveTo>
                        <a:pt x="70" y="69"/>
                      </a:moveTo>
                      <a:cubicBezTo>
                        <a:pt x="70" y="69"/>
                        <a:pt x="57" y="81"/>
                        <a:pt x="35" y="58"/>
                      </a:cubicBezTo>
                      <a:cubicBezTo>
                        <a:pt x="14" y="36"/>
                        <a:pt x="0" y="20"/>
                        <a:pt x="24"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4" name="Freeform 398">
                  <a:extLst>
                    <a:ext uri="{FF2B5EF4-FFF2-40B4-BE49-F238E27FC236}">
                      <a16:creationId xmlns:a16="http://schemas.microsoft.com/office/drawing/2014/main" id="{9CD75FC2-D8B6-47D3-BB4C-C8DA723B8C14}"/>
                    </a:ext>
                  </a:extLst>
                </p:cNvPr>
                <p:cNvSpPr>
                  <a:spLocks/>
                </p:cNvSpPr>
                <p:nvPr/>
              </p:nvSpPr>
              <p:spPr bwMode="auto">
                <a:xfrm>
                  <a:off x="1972031" y="3546946"/>
                  <a:ext cx="33445" cy="17519"/>
                </a:xfrm>
                <a:custGeom>
                  <a:avLst/>
                  <a:gdLst>
                    <a:gd name="T0" fmla="*/ 0 w 44"/>
                    <a:gd name="T1" fmla="*/ 6 h 23"/>
                    <a:gd name="T2" fmla="*/ 44 w 44"/>
                    <a:gd name="T3" fmla="*/ 23 h 23"/>
                  </a:gdLst>
                  <a:ahLst/>
                  <a:cxnLst>
                    <a:cxn ang="0">
                      <a:pos x="T0" y="T1"/>
                    </a:cxn>
                    <a:cxn ang="0">
                      <a:pos x="T2" y="T3"/>
                    </a:cxn>
                  </a:cxnLst>
                  <a:rect l="0" t="0" r="r" b="b"/>
                  <a:pathLst>
                    <a:path w="44" h="23">
                      <a:moveTo>
                        <a:pt x="0" y="6"/>
                      </a:moveTo>
                      <a:cubicBezTo>
                        <a:pt x="0" y="6"/>
                        <a:pt x="27" y="0"/>
                        <a:pt x="44" y="2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5" name="Freeform 399">
                  <a:extLst>
                    <a:ext uri="{FF2B5EF4-FFF2-40B4-BE49-F238E27FC236}">
                      <a16:creationId xmlns:a16="http://schemas.microsoft.com/office/drawing/2014/main" id="{935EAE56-422C-481A-87B2-636A7E514B06}"/>
                    </a:ext>
                  </a:extLst>
                </p:cNvPr>
                <p:cNvSpPr>
                  <a:spLocks/>
                </p:cNvSpPr>
                <p:nvPr/>
              </p:nvSpPr>
              <p:spPr bwMode="auto">
                <a:xfrm>
                  <a:off x="1874085" y="3537391"/>
                  <a:ext cx="74056" cy="134575"/>
                </a:xfrm>
                <a:custGeom>
                  <a:avLst/>
                  <a:gdLst>
                    <a:gd name="T0" fmla="*/ 0 w 98"/>
                    <a:gd name="T1" fmla="*/ 0 h 179"/>
                    <a:gd name="T2" fmla="*/ 82 w 98"/>
                    <a:gd name="T3" fmla="*/ 98 h 179"/>
                    <a:gd name="T4" fmla="*/ 52 w 98"/>
                    <a:gd name="T5" fmla="*/ 179 h 179"/>
                  </a:gdLst>
                  <a:ahLst/>
                  <a:cxnLst>
                    <a:cxn ang="0">
                      <a:pos x="T0" y="T1"/>
                    </a:cxn>
                    <a:cxn ang="0">
                      <a:pos x="T2" y="T3"/>
                    </a:cxn>
                    <a:cxn ang="0">
                      <a:pos x="T4" y="T5"/>
                    </a:cxn>
                  </a:cxnLst>
                  <a:rect l="0" t="0" r="r" b="b"/>
                  <a:pathLst>
                    <a:path w="98" h="179">
                      <a:moveTo>
                        <a:pt x="0" y="0"/>
                      </a:moveTo>
                      <a:cubicBezTo>
                        <a:pt x="0" y="0"/>
                        <a:pt x="64" y="46"/>
                        <a:pt x="82" y="98"/>
                      </a:cubicBezTo>
                      <a:cubicBezTo>
                        <a:pt x="98" y="141"/>
                        <a:pt x="81" y="145"/>
                        <a:pt x="52" y="17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6" name="Freeform 400">
                  <a:extLst>
                    <a:ext uri="{FF2B5EF4-FFF2-40B4-BE49-F238E27FC236}">
                      <a16:creationId xmlns:a16="http://schemas.microsoft.com/office/drawing/2014/main" id="{F01532B4-4330-423C-A787-0D00C767102A}"/>
                    </a:ext>
                  </a:extLst>
                </p:cNvPr>
                <p:cNvSpPr>
                  <a:spLocks/>
                </p:cNvSpPr>
                <p:nvPr/>
              </p:nvSpPr>
              <p:spPr bwMode="auto">
                <a:xfrm>
                  <a:off x="1940178" y="3625780"/>
                  <a:ext cx="30260" cy="34241"/>
                </a:xfrm>
                <a:custGeom>
                  <a:avLst/>
                  <a:gdLst>
                    <a:gd name="T0" fmla="*/ 0 w 41"/>
                    <a:gd name="T1" fmla="*/ 0 h 45"/>
                    <a:gd name="T2" fmla="*/ 41 w 41"/>
                    <a:gd name="T3" fmla="*/ 45 h 45"/>
                  </a:gdLst>
                  <a:ahLst/>
                  <a:cxnLst>
                    <a:cxn ang="0">
                      <a:pos x="T0" y="T1"/>
                    </a:cxn>
                    <a:cxn ang="0">
                      <a:pos x="T2" y="T3"/>
                    </a:cxn>
                  </a:cxnLst>
                  <a:rect l="0" t="0" r="r" b="b"/>
                  <a:pathLst>
                    <a:path w="41" h="45">
                      <a:moveTo>
                        <a:pt x="0" y="0"/>
                      </a:moveTo>
                      <a:cubicBezTo>
                        <a:pt x="0" y="0"/>
                        <a:pt x="0" y="40"/>
                        <a:pt x="41" y="4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7" name="Line 401">
                  <a:extLst>
                    <a:ext uri="{FF2B5EF4-FFF2-40B4-BE49-F238E27FC236}">
                      <a16:creationId xmlns:a16="http://schemas.microsoft.com/office/drawing/2014/main" id="{AA40FE58-C382-48B9-A0BD-D9587D022689}"/>
                    </a:ext>
                  </a:extLst>
                </p:cNvPr>
                <p:cNvSpPr>
                  <a:spLocks noChangeShapeType="1"/>
                </p:cNvSpPr>
                <p:nvPr/>
              </p:nvSpPr>
              <p:spPr bwMode="auto">
                <a:xfrm flipH="1" flipV="1">
                  <a:off x="1989549" y="3664002"/>
                  <a:ext cx="24686" cy="2389"/>
                </a:xfrm>
                <a:prstGeom prst="line">
                  <a:avLst/>
                </a:prstGeom>
                <a:noFill/>
                <a:ln w="3175"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8" name="Freeform 402">
                  <a:extLst>
                    <a:ext uri="{FF2B5EF4-FFF2-40B4-BE49-F238E27FC236}">
                      <a16:creationId xmlns:a16="http://schemas.microsoft.com/office/drawing/2014/main" id="{151240C9-25E8-44DF-98E2-A0EC5177FAD9}"/>
                    </a:ext>
                  </a:extLst>
                </p:cNvPr>
                <p:cNvSpPr>
                  <a:spLocks/>
                </p:cNvSpPr>
                <p:nvPr/>
              </p:nvSpPr>
              <p:spPr bwMode="auto">
                <a:xfrm>
                  <a:off x="1891604" y="3699836"/>
                  <a:ext cx="62908" cy="24686"/>
                </a:xfrm>
                <a:custGeom>
                  <a:avLst/>
                  <a:gdLst>
                    <a:gd name="T0" fmla="*/ 83 w 83"/>
                    <a:gd name="T1" fmla="*/ 18 h 33"/>
                    <a:gd name="T2" fmla="*/ 0 w 83"/>
                    <a:gd name="T3" fmla="*/ 33 h 33"/>
                  </a:gdLst>
                  <a:ahLst/>
                  <a:cxnLst>
                    <a:cxn ang="0">
                      <a:pos x="T0" y="T1"/>
                    </a:cxn>
                    <a:cxn ang="0">
                      <a:pos x="T2" y="T3"/>
                    </a:cxn>
                  </a:cxnLst>
                  <a:rect l="0" t="0" r="r" b="b"/>
                  <a:pathLst>
                    <a:path w="83" h="33">
                      <a:moveTo>
                        <a:pt x="83" y="18"/>
                      </a:moveTo>
                      <a:cubicBezTo>
                        <a:pt x="83" y="18"/>
                        <a:pt x="53" y="0"/>
                        <a:pt x="0" y="3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9" name="Freeform 403">
                  <a:extLst>
                    <a:ext uri="{FF2B5EF4-FFF2-40B4-BE49-F238E27FC236}">
                      <a16:creationId xmlns:a16="http://schemas.microsoft.com/office/drawing/2014/main" id="{9B357C0A-07DA-430E-9ACF-AA80C2E50A5A}"/>
                    </a:ext>
                  </a:extLst>
                </p:cNvPr>
                <p:cNvSpPr>
                  <a:spLocks/>
                </p:cNvSpPr>
                <p:nvPr/>
              </p:nvSpPr>
              <p:spPr bwMode="auto">
                <a:xfrm>
                  <a:off x="1847011" y="3589947"/>
                  <a:ext cx="39815" cy="48575"/>
                </a:xfrm>
                <a:custGeom>
                  <a:avLst/>
                  <a:gdLst>
                    <a:gd name="T0" fmla="*/ 52 w 52"/>
                    <a:gd name="T1" fmla="*/ 41 h 65"/>
                    <a:gd name="T2" fmla="*/ 0 w 52"/>
                    <a:gd name="T3" fmla="*/ 65 h 65"/>
                    <a:gd name="T4" fmla="*/ 5 w 52"/>
                    <a:gd name="T5" fmla="*/ 0 h 65"/>
                  </a:gdLst>
                  <a:ahLst/>
                  <a:cxnLst>
                    <a:cxn ang="0">
                      <a:pos x="T0" y="T1"/>
                    </a:cxn>
                    <a:cxn ang="0">
                      <a:pos x="T2" y="T3"/>
                    </a:cxn>
                    <a:cxn ang="0">
                      <a:pos x="T4" y="T5"/>
                    </a:cxn>
                  </a:cxnLst>
                  <a:rect l="0" t="0" r="r" b="b"/>
                  <a:pathLst>
                    <a:path w="52" h="65">
                      <a:moveTo>
                        <a:pt x="52" y="41"/>
                      </a:moveTo>
                      <a:cubicBezTo>
                        <a:pt x="52" y="41"/>
                        <a:pt x="23" y="31"/>
                        <a:pt x="0" y="65"/>
                      </a:cubicBezTo>
                      <a:cubicBezTo>
                        <a:pt x="0" y="65"/>
                        <a:pt x="43" y="24"/>
                        <a:pt x="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0" name="Freeform 404">
                  <a:extLst>
                    <a:ext uri="{FF2B5EF4-FFF2-40B4-BE49-F238E27FC236}">
                      <a16:creationId xmlns:a16="http://schemas.microsoft.com/office/drawing/2014/main" id="{24368A2C-2894-46F3-AF0A-8F04D41EA879}"/>
                    </a:ext>
                  </a:extLst>
                </p:cNvPr>
                <p:cNvSpPr>
                  <a:spLocks/>
                </p:cNvSpPr>
                <p:nvPr/>
              </p:nvSpPr>
              <p:spPr bwMode="auto">
                <a:xfrm>
                  <a:off x="1780918" y="3584372"/>
                  <a:ext cx="46982" cy="35037"/>
                </a:xfrm>
                <a:custGeom>
                  <a:avLst/>
                  <a:gdLst>
                    <a:gd name="T0" fmla="*/ 62 w 62"/>
                    <a:gd name="T1" fmla="*/ 0 h 46"/>
                    <a:gd name="T2" fmla="*/ 0 w 62"/>
                    <a:gd name="T3" fmla="*/ 46 h 46"/>
                  </a:gdLst>
                  <a:ahLst/>
                  <a:cxnLst>
                    <a:cxn ang="0">
                      <a:pos x="T0" y="T1"/>
                    </a:cxn>
                    <a:cxn ang="0">
                      <a:pos x="T2" y="T3"/>
                    </a:cxn>
                  </a:cxnLst>
                  <a:rect l="0" t="0" r="r" b="b"/>
                  <a:pathLst>
                    <a:path w="62" h="46">
                      <a:moveTo>
                        <a:pt x="62" y="0"/>
                      </a:moveTo>
                      <a:cubicBezTo>
                        <a:pt x="62" y="0"/>
                        <a:pt x="10" y="31"/>
                        <a:pt x="0" y="4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1" name="Freeform 405">
                  <a:extLst>
                    <a:ext uri="{FF2B5EF4-FFF2-40B4-BE49-F238E27FC236}">
                      <a16:creationId xmlns:a16="http://schemas.microsoft.com/office/drawing/2014/main" id="{B614B3D0-09E5-4676-B3BF-AAB3A4456417}"/>
                    </a:ext>
                  </a:extLst>
                </p:cNvPr>
                <p:cNvSpPr>
                  <a:spLocks/>
                </p:cNvSpPr>
                <p:nvPr/>
              </p:nvSpPr>
              <p:spPr bwMode="auto">
                <a:xfrm>
                  <a:off x="1940178" y="3496779"/>
                  <a:ext cx="96353" cy="23093"/>
                </a:xfrm>
                <a:custGeom>
                  <a:avLst/>
                  <a:gdLst>
                    <a:gd name="T0" fmla="*/ 129 w 129"/>
                    <a:gd name="T1" fmla="*/ 26 h 31"/>
                    <a:gd name="T2" fmla="*/ 90 w 129"/>
                    <a:gd name="T3" fmla="*/ 16 h 31"/>
                    <a:gd name="T4" fmla="*/ 0 w 129"/>
                    <a:gd name="T5" fmla="*/ 2 h 31"/>
                  </a:gdLst>
                  <a:ahLst/>
                  <a:cxnLst>
                    <a:cxn ang="0">
                      <a:pos x="T0" y="T1"/>
                    </a:cxn>
                    <a:cxn ang="0">
                      <a:pos x="T2" y="T3"/>
                    </a:cxn>
                    <a:cxn ang="0">
                      <a:pos x="T4" y="T5"/>
                    </a:cxn>
                  </a:cxnLst>
                  <a:rect l="0" t="0" r="r" b="b"/>
                  <a:pathLst>
                    <a:path w="129" h="31">
                      <a:moveTo>
                        <a:pt x="129" y="26"/>
                      </a:moveTo>
                      <a:cubicBezTo>
                        <a:pt x="129" y="26"/>
                        <a:pt x="120" y="31"/>
                        <a:pt x="90" y="16"/>
                      </a:cubicBezTo>
                      <a:cubicBezTo>
                        <a:pt x="60" y="1"/>
                        <a:pt x="23" y="0"/>
                        <a:pt x="0" y="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2" name="Freeform 406">
                  <a:extLst>
                    <a:ext uri="{FF2B5EF4-FFF2-40B4-BE49-F238E27FC236}">
                      <a16:creationId xmlns:a16="http://schemas.microsoft.com/office/drawing/2014/main" id="{5A6EDE24-4F38-4408-ABD1-883958556389}"/>
                    </a:ext>
                  </a:extLst>
                </p:cNvPr>
                <p:cNvSpPr>
                  <a:spLocks/>
                </p:cNvSpPr>
                <p:nvPr/>
              </p:nvSpPr>
              <p:spPr bwMode="auto">
                <a:xfrm>
                  <a:off x="1704473" y="3371760"/>
                  <a:ext cx="260391" cy="193502"/>
                </a:xfrm>
                <a:custGeom>
                  <a:avLst/>
                  <a:gdLst>
                    <a:gd name="T0" fmla="*/ 346 w 346"/>
                    <a:gd name="T1" fmla="*/ 0 h 257"/>
                    <a:gd name="T2" fmla="*/ 309 w 346"/>
                    <a:gd name="T3" fmla="*/ 17 h 257"/>
                    <a:gd name="T4" fmla="*/ 228 w 346"/>
                    <a:gd name="T5" fmla="*/ 59 h 257"/>
                    <a:gd name="T6" fmla="*/ 153 w 346"/>
                    <a:gd name="T7" fmla="*/ 137 h 257"/>
                    <a:gd name="T8" fmla="*/ 84 w 346"/>
                    <a:gd name="T9" fmla="*/ 195 h 257"/>
                    <a:gd name="T10" fmla="*/ 0 w 346"/>
                    <a:gd name="T11" fmla="*/ 257 h 257"/>
                  </a:gdLst>
                  <a:ahLst/>
                  <a:cxnLst>
                    <a:cxn ang="0">
                      <a:pos x="T0" y="T1"/>
                    </a:cxn>
                    <a:cxn ang="0">
                      <a:pos x="T2" y="T3"/>
                    </a:cxn>
                    <a:cxn ang="0">
                      <a:pos x="T4" y="T5"/>
                    </a:cxn>
                    <a:cxn ang="0">
                      <a:pos x="T6" y="T7"/>
                    </a:cxn>
                    <a:cxn ang="0">
                      <a:pos x="T8" y="T9"/>
                    </a:cxn>
                    <a:cxn ang="0">
                      <a:pos x="T10" y="T11"/>
                    </a:cxn>
                  </a:cxnLst>
                  <a:rect l="0" t="0" r="r" b="b"/>
                  <a:pathLst>
                    <a:path w="346" h="257">
                      <a:moveTo>
                        <a:pt x="346" y="0"/>
                      </a:moveTo>
                      <a:cubicBezTo>
                        <a:pt x="346" y="0"/>
                        <a:pt x="338" y="14"/>
                        <a:pt x="309" y="17"/>
                      </a:cubicBezTo>
                      <a:cubicBezTo>
                        <a:pt x="280" y="21"/>
                        <a:pt x="248" y="37"/>
                        <a:pt x="228" y="59"/>
                      </a:cubicBezTo>
                      <a:cubicBezTo>
                        <a:pt x="208" y="82"/>
                        <a:pt x="179" y="126"/>
                        <a:pt x="153" y="137"/>
                      </a:cubicBezTo>
                      <a:cubicBezTo>
                        <a:pt x="126" y="148"/>
                        <a:pt x="104" y="172"/>
                        <a:pt x="84" y="195"/>
                      </a:cubicBezTo>
                      <a:cubicBezTo>
                        <a:pt x="63" y="218"/>
                        <a:pt x="29" y="252"/>
                        <a:pt x="0" y="25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3" name="Freeform 407">
                  <a:extLst>
                    <a:ext uri="{FF2B5EF4-FFF2-40B4-BE49-F238E27FC236}">
                      <a16:creationId xmlns:a16="http://schemas.microsoft.com/office/drawing/2014/main" id="{5C5AFEDB-744B-4F79-86BE-CEEEB634F78D}"/>
                    </a:ext>
                  </a:extLst>
                </p:cNvPr>
                <p:cNvSpPr>
                  <a:spLocks/>
                </p:cNvSpPr>
                <p:nvPr/>
              </p:nvSpPr>
              <p:spPr bwMode="auto">
                <a:xfrm>
                  <a:off x="1806400" y="3476075"/>
                  <a:ext cx="103519" cy="23093"/>
                </a:xfrm>
                <a:custGeom>
                  <a:avLst/>
                  <a:gdLst>
                    <a:gd name="T0" fmla="*/ 137 w 137"/>
                    <a:gd name="T1" fmla="*/ 25 h 31"/>
                    <a:gd name="T2" fmla="*/ 71 w 137"/>
                    <a:gd name="T3" fmla="*/ 16 h 31"/>
                    <a:gd name="T4" fmla="*/ 0 w 137"/>
                    <a:gd name="T5" fmla="*/ 8 h 31"/>
                  </a:gdLst>
                  <a:ahLst/>
                  <a:cxnLst>
                    <a:cxn ang="0">
                      <a:pos x="T0" y="T1"/>
                    </a:cxn>
                    <a:cxn ang="0">
                      <a:pos x="T2" y="T3"/>
                    </a:cxn>
                    <a:cxn ang="0">
                      <a:pos x="T4" y="T5"/>
                    </a:cxn>
                  </a:cxnLst>
                  <a:rect l="0" t="0" r="r" b="b"/>
                  <a:pathLst>
                    <a:path w="137" h="31">
                      <a:moveTo>
                        <a:pt x="137" y="25"/>
                      </a:moveTo>
                      <a:cubicBezTo>
                        <a:pt x="137" y="25"/>
                        <a:pt x="106" y="31"/>
                        <a:pt x="71" y="16"/>
                      </a:cubicBezTo>
                      <a:cubicBezTo>
                        <a:pt x="36" y="0"/>
                        <a:pt x="14" y="3"/>
                        <a:pt x="0" y="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4" name="Freeform 408">
                  <a:extLst>
                    <a:ext uri="{FF2B5EF4-FFF2-40B4-BE49-F238E27FC236}">
                      <a16:creationId xmlns:a16="http://schemas.microsoft.com/office/drawing/2014/main" id="{02CE218B-77AE-4EBD-8636-FF4428BC72AD}"/>
                    </a:ext>
                  </a:extLst>
                </p:cNvPr>
                <p:cNvSpPr>
                  <a:spLocks/>
                </p:cNvSpPr>
                <p:nvPr/>
              </p:nvSpPr>
              <p:spPr bwMode="auto">
                <a:xfrm>
                  <a:off x="1940178" y="3385297"/>
                  <a:ext cx="27074" cy="11148"/>
                </a:xfrm>
                <a:custGeom>
                  <a:avLst/>
                  <a:gdLst>
                    <a:gd name="T0" fmla="*/ 36 w 36"/>
                    <a:gd name="T1" fmla="*/ 15 h 15"/>
                    <a:gd name="T2" fmla="*/ 0 w 36"/>
                    <a:gd name="T3" fmla="*/ 0 h 15"/>
                  </a:gdLst>
                  <a:ahLst/>
                  <a:cxnLst>
                    <a:cxn ang="0">
                      <a:pos x="T0" y="T1"/>
                    </a:cxn>
                    <a:cxn ang="0">
                      <a:pos x="T2" y="T3"/>
                    </a:cxn>
                  </a:cxnLst>
                  <a:rect l="0" t="0" r="r" b="b"/>
                  <a:pathLst>
                    <a:path w="36" h="15">
                      <a:moveTo>
                        <a:pt x="36" y="15"/>
                      </a:moveTo>
                      <a:cubicBezTo>
                        <a:pt x="36" y="15"/>
                        <a:pt x="20" y="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5" name="Freeform 409">
                  <a:extLst>
                    <a:ext uri="{FF2B5EF4-FFF2-40B4-BE49-F238E27FC236}">
                      <a16:creationId xmlns:a16="http://schemas.microsoft.com/office/drawing/2014/main" id="{DF34BEAC-E66D-48B4-BCC5-35BD02ED3781}"/>
                    </a:ext>
                  </a:extLst>
                </p:cNvPr>
                <p:cNvSpPr>
                  <a:spLocks/>
                </p:cNvSpPr>
                <p:nvPr/>
              </p:nvSpPr>
              <p:spPr bwMode="auto">
                <a:xfrm>
                  <a:off x="1919475" y="3265851"/>
                  <a:ext cx="20704" cy="32649"/>
                </a:xfrm>
                <a:custGeom>
                  <a:avLst/>
                  <a:gdLst>
                    <a:gd name="T0" fmla="*/ 27 w 27"/>
                    <a:gd name="T1" fmla="*/ 0 h 44"/>
                    <a:gd name="T2" fmla="*/ 0 w 27"/>
                    <a:gd name="T3" fmla="*/ 44 h 44"/>
                  </a:gdLst>
                  <a:ahLst/>
                  <a:cxnLst>
                    <a:cxn ang="0">
                      <a:pos x="T0" y="T1"/>
                    </a:cxn>
                    <a:cxn ang="0">
                      <a:pos x="T2" y="T3"/>
                    </a:cxn>
                  </a:cxnLst>
                  <a:rect l="0" t="0" r="r" b="b"/>
                  <a:pathLst>
                    <a:path w="27" h="44">
                      <a:moveTo>
                        <a:pt x="27" y="0"/>
                      </a:moveTo>
                      <a:cubicBezTo>
                        <a:pt x="27" y="0"/>
                        <a:pt x="10" y="37"/>
                        <a:pt x="0" y="4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6" name="Freeform 410">
                  <a:extLst>
                    <a:ext uri="{FF2B5EF4-FFF2-40B4-BE49-F238E27FC236}">
                      <a16:creationId xmlns:a16="http://schemas.microsoft.com/office/drawing/2014/main" id="{DFC1D1F8-9E73-48AF-AFEC-10D93E2ED2AE}"/>
                    </a:ext>
                  </a:extLst>
                </p:cNvPr>
                <p:cNvSpPr>
                  <a:spLocks/>
                </p:cNvSpPr>
                <p:nvPr/>
              </p:nvSpPr>
              <p:spPr bwMode="auto">
                <a:xfrm>
                  <a:off x="1811973" y="3327963"/>
                  <a:ext cx="39815" cy="56538"/>
                </a:xfrm>
                <a:custGeom>
                  <a:avLst/>
                  <a:gdLst>
                    <a:gd name="T0" fmla="*/ 53 w 53"/>
                    <a:gd name="T1" fmla="*/ 16 h 75"/>
                    <a:gd name="T2" fmla="*/ 31 w 53"/>
                    <a:gd name="T3" fmla="*/ 75 h 75"/>
                    <a:gd name="T4" fmla="*/ 0 w 53"/>
                    <a:gd name="T5" fmla="*/ 0 h 75"/>
                  </a:gdLst>
                  <a:ahLst/>
                  <a:cxnLst>
                    <a:cxn ang="0">
                      <a:pos x="T0" y="T1"/>
                    </a:cxn>
                    <a:cxn ang="0">
                      <a:pos x="T2" y="T3"/>
                    </a:cxn>
                    <a:cxn ang="0">
                      <a:pos x="T4" y="T5"/>
                    </a:cxn>
                  </a:cxnLst>
                  <a:rect l="0" t="0" r="r" b="b"/>
                  <a:pathLst>
                    <a:path w="53" h="75">
                      <a:moveTo>
                        <a:pt x="53" y="16"/>
                      </a:moveTo>
                      <a:cubicBezTo>
                        <a:pt x="53" y="16"/>
                        <a:pt x="29" y="26"/>
                        <a:pt x="31" y="75"/>
                      </a:cubicBezTo>
                      <a:cubicBezTo>
                        <a:pt x="31" y="75"/>
                        <a:pt x="41" y="26"/>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7" name="Freeform 411">
                  <a:extLst>
                    <a:ext uri="{FF2B5EF4-FFF2-40B4-BE49-F238E27FC236}">
                      <a16:creationId xmlns:a16="http://schemas.microsoft.com/office/drawing/2014/main" id="{F2376CB9-E8D8-4D8E-AB65-65F6F54DE175}"/>
                    </a:ext>
                  </a:extLst>
                </p:cNvPr>
                <p:cNvSpPr>
                  <a:spLocks/>
                </p:cNvSpPr>
                <p:nvPr/>
              </p:nvSpPr>
              <p:spPr bwMode="auto">
                <a:xfrm>
                  <a:off x="1706861" y="3259481"/>
                  <a:ext cx="160057" cy="45389"/>
                </a:xfrm>
                <a:custGeom>
                  <a:avLst/>
                  <a:gdLst>
                    <a:gd name="T0" fmla="*/ 213 w 213"/>
                    <a:gd name="T1" fmla="*/ 0 h 60"/>
                    <a:gd name="T2" fmla="*/ 91 w 213"/>
                    <a:gd name="T3" fmla="*/ 4 h 60"/>
                    <a:gd name="T4" fmla="*/ 50 w 213"/>
                    <a:gd name="T5" fmla="*/ 33 h 60"/>
                    <a:gd name="T6" fmla="*/ 0 w 213"/>
                    <a:gd name="T7" fmla="*/ 32 h 60"/>
                  </a:gdLst>
                  <a:ahLst/>
                  <a:cxnLst>
                    <a:cxn ang="0">
                      <a:pos x="T0" y="T1"/>
                    </a:cxn>
                    <a:cxn ang="0">
                      <a:pos x="T2" y="T3"/>
                    </a:cxn>
                    <a:cxn ang="0">
                      <a:pos x="T4" y="T5"/>
                    </a:cxn>
                    <a:cxn ang="0">
                      <a:pos x="T6" y="T7"/>
                    </a:cxn>
                  </a:cxnLst>
                  <a:rect l="0" t="0" r="r" b="b"/>
                  <a:pathLst>
                    <a:path w="213" h="60">
                      <a:moveTo>
                        <a:pt x="213" y="0"/>
                      </a:moveTo>
                      <a:cubicBezTo>
                        <a:pt x="213" y="0"/>
                        <a:pt x="140" y="60"/>
                        <a:pt x="91" y="4"/>
                      </a:cubicBezTo>
                      <a:cubicBezTo>
                        <a:pt x="91" y="4"/>
                        <a:pt x="96" y="32"/>
                        <a:pt x="50" y="33"/>
                      </a:cubicBezTo>
                      <a:cubicBezTo>
                        <a:pt x="4" y="34"/>
                        <a:pt x="21" y="36"/>
                        <a:pt x="0" y="3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8" name="Freeform 412">
                  <a:extLst>
                    <a:ext uri="{FF2B5EF4-FFF2-40B4-BE49-F238E27FC236}">
                      <a16:creationId xmlns:a16="http://schemas.microsoft.com/office/drawing/2014/main" id="{CD10B3FF-3F38-4016-8611-7D622B4CE206}"/>
                    </a:ext>
                  </a:extLst>
                </p:cNvPr>
                <p:cNvSpPr>
                  <a:spLocks/>
                </p:cNvSpPr>
                <p:nvPr/>
              </p:nvSpPr>
              <p:spPr bwMode="auto">
                <a:xfrm>
                  <a:off x="1702880" y="3280981"/>
                  <a:ext cx="50963" cy="134575"/>
                </a:xfrm>
                <a:custGeom>
                  <a:avLst/>
                  <a:gdLst>
                    <a:gd name="T0" fmla="*/ 68 w 68"/>
                    <a:gd name="T1" fmla="*/ 179 h 179"/>
                    <a:gd name="T2" fmla="*/ 12 w 68"/>
                    <a:gd name="T3" fmla="*/ 108 h 179"/>
                    <a:gd name="T4" fmla="*/ 0 w 68"/>
                    <a:gd name="T5" fmla="*/ 0 h 179"/>
                  </a:gdLst>
                  <a:ahLst/>
                  <a:cxnLst>
                    <a:cxn ang="0">
                      <a:pos x="T0" y="T1"/>
                    </a:cxn>
                    <a:cxn ang="0">
                      <a:pos x="T2" y="T3"/>
                    </a:cxn>
                    <a:cxn ang="0">
                      <a:pos x="T4" y="T5"/>
                    </a:cxn>
                  </a:cxnLst>
                  <a:rect l="0" t="0" r="r" b="b"/>
                  <a:pathLst>
                    <a:path w="68" h="179">
                      <a:moveTo>
                        <a:pt x="68" y="179"/>
                      </a:moveTo>
                      <a:cubicBezTo>
                        <a:pt x="68" y="179"/>
                        <a:pt x="60" y="103"/>
                        <a:pt x="12" y="108"/>
                      </a:cubicBezTo>
                      <a:cubicBezTo>
                        <a:pt x="12" y="108"/>
                        <a:pt x="44" y="46"/>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9" name="Freeform 413">
                  <a:extLst>
                    <a:ext uri="{FF2B5EF4-FFF2-40B4-BE49-F238E27FC236}">
                      <a16:creationId xmlns:a16="http://schemas.microsoft.com/office/drawing/2014/main" id="{D7A1FE3D-87A9-4B5E-BB77-12CC0E58DBFC}"/>
                    </a:ext>
                  </a:extLst>
                </p:cNvPr>
                <p:cNvSpPr>
                  <a:spLocks/>
                </p:cNvSpPr>
                <p:nvPr/>
              </p:nvSpPr>
              <p:spPr bwMode="auto">
                <a:xfrm>
                  <a:off x="1636787" y="3079516"/>
                  <a:ext cx="66093" cy="201465"/>
                </a:xfrm>
                <a:custGeom>
                  <a:avLst/>
                  <a:gdLst>
                    <a:gd name="T0" fmla="*/ 88 w 88"/>
                    <a:gd name="T1" fmla="*/ 268 h 268"/>
                    <a:gd name="T2" fmla="*/ 35 w 88"/>
                    <a:gd name="T3" fmla="*/ 219 h 268"/>
                    <a:gd name="T4" fmla="*/ 6 w 88"/>
                    <a:gd name="T5" fmla="*/ 142 h 268"/>
                    <a:gd name="T6" fmla="*/ 31 w 88"/>
                    <a:gd name="T7" fmla="*/ 85 h 268"/>
                    <a:gd name="T8" fmla="*/ 47 w 88"/>
                    <a:gd name="T9" fmla="*/ 56 h 268"/>
                    <a:gd name="T10" fmla="*/ 65 w 88"/>
                    <a:gd name="T11" fmla="*/ 30 h 268"/>
                    <a:gd name="T12" fmla="*/ 81 w 88"/>
                    <a:gd name="T13" fmla="*/ 0 h 268"/>
                  </a:gdLst>
                  <a:ahLst/>
                  <a:cxnLst>
                    <a:cxn ang="0">
                      <a:pos x="T0" y="T1"/>
                    </a:cxn>
                    <a:cxn ang="0">
                      <a:pos x="T2" y="T3"/>
                    </a:cxn>
                    <a:cxn ang="0">
                      <a:pos x="T4" y="T5"/>
                    </a:cxn>
                    <a:cxn ang="0">
                      <a:pos x="T6" y="T7"/>
                    </a:cxn>
                    <a:cxn ang="0">
                      <a:pos x="T8" y="T9"/>
                    </a:cxn>
                    <a:cxn ang="0">
                      <a:pos x="T10" y="T11"/>
                    </a:cxn>
                    <a:cxn ang="0">
                      <a:pos x="T12" y="T13"/>
                    </a:cxn>
                  </a:cxnLst>
                  <a:rect l="0" t="0" r="r" b="b"/>
                  <a:pathLst>
                    <a:path w="88" h="268">
                      <a:moveTo>
                        <a:pt x="88" y="268"/>
                      </a:moveTo>
                      <a:cubicBezTo>
                        <a:pt x="88" y="268"/>
                        <a:pt x="54" y="230"/>
                        <a:pt x="35" y="219"/>
                      </a:cubicBezTo>
                      <a:cubicBezTo>
                        <a:pt x="17" y="209"/>
                        <a:pt x="0" y="185"/>
                        <a:pt x="6" y="142"/>
                      </a:cubicBezTo>
                      <a:cubicBezTo>
                        <a:pt x="13" y="98"/>
                        <a:pt x="21" y="94"/>
                        <a:pt x="31" y="85"/>
                      </a:cubicBezTo>
                      <a:cubicBezTo>
                        <a:pt x="41" y="75"/>
                        <a:pt x="44" y="69"/>
                        <a:pt x="47" y="56"/>
                      </a:cubicBezTo>
                      <a:cubicBezTo>
                        <a:pt x="51" y="42"/>
                        <a:pt x="58" y="43"/>
                        <a:pt x="65" y="30"/>
                      </a:cubicBezTo>
                      <a:cubicBezTo>
                        <a:pt x="73" y="17"/>
                        <a:pt x="79" y="23"/>
                        <a:pt x="81"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0" name="Freeform 414">
                  <a:extLst>
                    <a:ext uri="{FF2B5EF4-FFF2-40B4-BE49-F238E27FC236}">
                      <a16:creationId xmlns:a16="http://schemas.microsoft.com/office/drawing/2014/main" id="{59B4EF24-7BD5-42B6-87D2-179A6FBB5C5E}"/>
                    </a:ext>
                  </a:extLst>
                </p:cNvPr>
                <p:cNvSpPr>
                  <a:spLocks/>
                </p:cNvSpPr>
                <p:nvPr/>
              </p:nvSpPr>
              <p:spPr bwMode="auto">
                <a:xfrm>
                  <a:off x="1825511" y="3174277"/>
                  <a:ext cx="21500" cy="36630"/>
                </a:xfrm>
                <a:custGeom>
                  <a:avLst/>
                  <a:gdLst>
                    <a:gd name="T0" fmla="*/ 29 w 29"/>
                    <a:gd name="T1" fmla="*/ 0 h 48"/>
                    <a:gd name="T2" fmla="*/ 0 w 29"/>
                    <a:gd name="T3" fmla="*/ 48 h 48"/>
                  </a:gdLst>
                  <a:ahLst/>
                  <a:cxnLst>
                    <a:cxn ang="0">
                      <a:pos x="T0" y="T1"/>
                    </a:cxn>
                    <a:cxn ang="0">
                      <a:pos x="T2" y="T3"/>
                    </a:cxn>
                  </a:cxnLst>
                  <a:rect l="0" t="0" r="r" b="b"/>
                  <a:pathLst>
                    <a:path w="29" h="48">
                      <a:moveTo>
                        <a:pt x="29" y="0"/>
                      </a:moveTo>
                      <a:cubicBezTo>
                        <a:pt x="29" y="0"/>
                        <a:pt x="19" y="33"/>
                        <a:pt x="0" y="4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1" name="Freeform 415">
                  <a:extLst>
                    <a:ext uri="{FF2B5EF4-FFF2-40B4-BE49-F238E27FC236}">
                      <a16:creationId xmlns:a16="http://schemas.microsoft.com/office/drawing/2014/main" id="{A3CC2E7C-8536-44D5-8432-270362735D4E}"/>
                    </a:ext>
                  </a:extLst>
                </p:cNvPr>
                <p:cNvSpPr>
                  <a:spLocks/>
                </p:cNvSpPr>
                <p:nvPr/>
              </p:nvSpPr>
              <p:spPr bwMode="auto">
                <a:xfrm>
                  <a:off x="1673417" y="3433075"/>
                  <a:ext cx="21500" cy="19111"/>
                </a:xfrm>
                <a:custGeom>
                  <a:avLst/>
                  <a:gdLst>
                    <a:gd name="T0" fmla="*/ 0 w 28"/>
                    <a:gd name="T1" fmla="*/ 0 h 25"/>
                    <a:gd name="T2" fmla="*/ 28 w 28"/>
                    <a:gd name="T3" fmla="*/ 5 h 25"/>
                    <a:gd name="T4" fmla="*/ 14 w 28"/>
                    <a:gd name="T5" fmla="*/ 25 h 25"/>
                  </a:gdLst>
                  <a:ahLst/>
                  <a:cxnLst>
                    <a:cxn ang="0">
                      <a:pos x="T0" y="T1"/>
                    </a:cxn>
                    <a:cxn ang="0">
                      <a:pos x="T2" y="T3"/>
                    </a:cxn>
                    <a:cxn ang="0">
                      <a:pos x="T4" y="T5"/>
                    </a:cxn>
                  </a:cxnLst>
                  <a:rect l="0" t="0" r="r" b="b"/>
                  <a:pathLst>
                    <a:path w="28" h="25">
                      <a:moveTo>
                        <a:pt x="0" y="0"/>
                      </a:moveTo>
                      <a:cubicBezTo>
                        <a:pt x="13" y="10"/>
                        <a:pt x="28" y="5"/>
                        <a:pt x="28" y="5"/>
                      </a:cubicBezTo>
                      <a:cubicBezTo>
                        <a:pt x="28" y="5"/>
                        <a:pt x="16" y="11"/>
                        <a:pt x="14" y="2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2" name="Freeform 416">
                  <a:extLst>
                    <a:ext uri="{FF2B5EF4-FFF2-40B4-BE49-F238E27FC236}">
                      <a16:creationId xmlns:a16="http://schemas.microsoft.com/office/drawing/2014/main" id="{2E094F83-B1DF-4DBA-B728-6C06CDBED93D}"/>
                    </a:ext>
                  </a:extLst>
                </p:cNvPr>
                <p:cNvSpPr>
                  <a:spLocks/>
                </p:cNvSpPr>
                <p:nvPr/>
              </p:nvSpPr>
              <p:spPr bwMode="auto">
                <a:xfrm>
                  <a:off x="1577064" y="3282574"/>
                  <a:ext cx="68482" cy="78834"/>
                </a:xfrm>
                <a:custGeom>
                  <a:avLst/>
                  <a:gdLst>
                    <a:gd name="T0" fmla="*/ 60 w 91"/>
                    <a:gd name="T1" fmla="*/ 0 h 104"/>
                    <a:gd name="T2" fmla="*/ 61 w 91"/>
                    <a:gd name="T3" fmla="*/ 62 h 104"/>
                    <a:gd name="T4" fmla="*/ 0 w 91"/>
                    <a:gd name="T5" fmla="*/ 86 h 104"/>
                  </a:gdLst>
                  <a:ahLst/>
                  <a:cxnLst>
                    <a:cxn ang="0">
                      <a:pos x="T0" y="T1"/>
                    </a:cxn>
                    <a:cxn ang="0">
                      <a:pos x="T2" y="T3"/>
                    </a:cxn>
                    <a:cxn ang="0">
                      <a:pos x="T4" y="T5"/>
                    </a:cxn>
                  </a:cxnLst>
                  <a:rect l="0" t="0" r="r" b="b"/>
                  <a:pathLst>
                    <a:path w="91" h="104">
                      <a:moveTo>
                        <a:pt x="60" y="0"/>
                      </a:moveTo>
                      <a:cubicBezTo>
                        <a:pt x="60" y="0"/>
                        <a:pt x="91" y="29"/>
                        <a:pt x="61" y="62"/>
                      </a:cubicBezTo>
                      <a:cubicBezTo>
                        <a:pt x="30" y="95"/>
                        <a:pt x="27" y="104"/>
                        <a:pt x="0" y="8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3" name="Freeform 417">
                  <a:extLst>
                    <a:ext uri="{FF2B5EF4-FFF2-40B4-BE49-F238E27FC236}">
                      <a16:creationId xmlns:a16="http://schemas.microsoft.com/office/drawing/2014/main" id="{6C95FE63-74D9-4E88-B234-EA2FAFE70109}"/>
                    </a:ext>
                  </a:extLst>
                </p:cNvPr>
                <p:cNvSpPr>
                  <a:spLocks/>
                </p:cNvSpPr>
                <p:nvPr/>
              </p:nvSpPr>
              <p:spPr bwMode="auto">
                <a:xfrm>
                  <a:off x="1600953" y="3296111"/>
                  <a:ext cx="65297" cy="74056"/>
                </a:xfrm>
                <a:custGeom>
                  <a:avLst/>
                  <a:gdLst>
                    <a:gd name="T0" fmla="*/ 87 w 87"/>
                    <a:gd name="T1" fmla="*/ 17 h 99"/>
                    <a:gd name="T2" fmla="*/ 31 w 87"/>
                    <a:gd name="T3" fmla="*/ 40 h 99"/>
                    <a:gd name="T4" fmla="*/ 15 w 87"/>
                    <a:gd name="T5" fmla="*/ 99 h 99"/>
                  </a:gdLst>
                  <a:ahLst/>
                  <a:cxnLst>
                    <a:cxn ang="0">
                      <a:pos x="T0" y="T1"/>
                    </a:cxn>
                    <a:cxn ang="0">
                      <a:pos x="T2" y="T3"/>
                    </a:cxn>
                    <a:cxn ang="0">
                      <a:pos x="T4" y="T5"/>
                    </a:cxn>
                  </a:cxnLst>
                  <a:rect l="0" t="0" r="r" b="b"/>
                  <a:pathLst>
                    <a:path w="87" h="99">
                      <a:moveTo>
                        <a:pt x="87" y="17"/>
                      </a:moveTo>
                      <a:cubicBezTo>
                        <a:pt x="87" y="17"/>
                        <a:pt x="63" y="0"/>
                        <a:pt x="31" y="40"/>
                      </a:cubicBezTo>
                      <a:cubicBezTo>
                        <a:pt x="0" y="79"/>
                        <a:pt x="0" y="84"/>
                        <a:pt x="15" y="9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4" name="Freeform 418">
                  <a:extLst>
                    <a:ext uri="{FF2B5EF4-FFF2-40B4-BE49-F238E27FC236}">
                      <a16:creationId xmlns:a16="http://schemas.microsoft.com/office/drawing/2014/main" id="{80F8556B-EA38-46B7-8C35-7316892F7644}"/>
                    </a:ext>
                  </a:extLst>
                </p:cNvPr>
                <p:cNvSpPr>
                  <a:spLocks/>
                </p:cNvSpPr>
                <p:nvPr/>
              </p:nvSpPr>
              <p:spPr bwMode="auto">
                <a:xfrm>
                  <a:off x="1479915" y="3194981"/>
                  <a:ext cx="167224" cy="33445"/>
                </a:xfrm>
                <a:custGeom>
                  <a:avLst/>
                  <a:gdLst>
                    <a:gd name="T0" fmla="*/ 223 w 223"/>
                    <a:gd name="T1" fmla="*/ 44 h 45"/>
                    <a:gd name="T2" fmla="*/ 165 w 223"/>
                    <a:gd name="T3" fmla="*/ 27 h 45"/>
                    <a:gd name="T4" fmla="*/ 0 w 223"/>
                    <a:gd name="T5" fmla="*/ 0 h 45"/>
                  </a:gdLst>
                  <a:ahLst/>
                  <a:cxnLst>
                    <a:cxn ang="0">
                      <a:pos x="T0" y="T1"/>
                    </a:cxn>
                    <a:cxn ang="0">
                      <a:pos x="T2" y="T3"/>
                    </a:cxn>
                    <a:cxn ang="0">
                      <a:pos x="T4" y="T5"/>
                    </a:cxn>
                  </a:cxnLst>
                  <a:rect l="0" t="0" r="r" b="b"/>
                  <a:pathLst>
                    <a:path w="223" h="45">
                      <a:moveTo>
                        <a:pt x="223" y="44"/>
                      </a:moveTo>
                      <a:cubicBezTo>
                        <a:pt x="223" y="44"/>
                        <a:pt x="215" y="23"/>
                        <a:pt x="165" y="27"/>
                      </a:cubicBezTo>
                      <a:cubicBezTo>
                        <a:pt x="115" y="31"/>
                        <a:pt x="75" y="45"/>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5" name="Freeform 419">
                  <a:extLst>
                    <a:ext uri="{FF2B5EF4-FFF2-40B4-BE49-F238E27FC236}">
                      <a16:creationId xmlns:a16="http://schemas.microsoft.com/office/drawing/2014/main" id="{1438B36A-0D4F-4434-9604-F497307922C4}"/>
                    </a:ext>
                  </a:extLst>
                </p:cNvPr>
                <p:cNvSpPr>
                  <a:spLocks/>
                </p:cNvSpPr>
                <p:nvPr/>
              </p:nvSpPr>
              <p:spPr bwMode="auto">
                <a:xfrm>
                  <a:off x="1487879" y="3133665"/>
                  <a:ext cx="46982" cy="83612"/>
                </a:xfrm>
                <a:custGeom>
                  <a:avLst/>
                  <a:gdLst>
                    <a:gd name="T0" fmla="*/ 35 w 62"/>
                    <a:gd name="T1" fmla="*/ 0 h 112"/>
                    <a:gd name="T2" fmla="*/ 39 w 62"/>
                    <a:gd name="T3" fmla="*/ 71 h 112"/>
                    <a:gd name="T4" fmla="*/ 0 w 62"/>
                    <a:gd name="T5" fmla="*/ 87 h 112"/>
                  </a:gdLst>
                  <a:ahLst/>
                  <a:cxnLst>
                    <a:cxn ang="0">
                      <a:pos x="T0" y="T1"/>
                    </a:cxn>
                    <a:cxn ang="0">
                      <a:pos x="T2" y="T3"/>
                    </a:cxn>
                    <a:cxn ang="0">
                      <a:pos x="T4" y="T5"/>
                    </a:cxn>
                  </a:cxnLst>
                  <a:rect l="0" t="0" r="r" b="b"/>
                  <a:pathLst>
                    <a:path w="62" h="112">
                      <a:moveTo>
                        <a:pt x="35" y="0"/>
                      </a:moveTo>
                      <a:cubicBezTo>
                        <a:pt x="35" y="0"/>
                        <a:pt x="62" y="17"/>
                        <a:pt x="39" y="71"/>
                      </a:cubicBezTo>
                      <a:cubicBezTo>
                        <a:pt x="21" y="112"/>
                        <a:pt x="9" y="90"/>
                        <a:pt x="0" y="8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6" name="Freeform 420">
                  <a:extLst>
                    <a:ext uri="{FF2B5EF4-FFF2-40B4-BE49-F238E27FC236}">
                      <a16:creationId xmlns:a16="http://schemas.microsoft.com/office/drawing/2014/main" id="{85D2BF46-175C-46FC-A5D6-2AC415966B4D}"/>
                    </a:ext>
                  </a:extLst>
                </p:cNvPr>
                <p:cNvSpPr>
                  <a:spLocks/>
                </p:cNvSpPr>
                <p:nvPr/>
              </p:nvSpPr>
              <p:spPr bwMode="auto">
                <a:xfrm>
                  <a:off x="1513360" y="3147202"/>
                  <a:ext cx="39019" cy="66093"/>
                </a:xfrm>
                <a:custGeom>
                  <a:avLst/>
                  <a:gdLst>
                    <a:gd name="T0" fmla="*/ 52 w 52"/>
                    <a:gd name="T1" fmla="*/ 0 h 87"/>
                    <a:gd name="T2" fmla="*/ 10 w 52"/>
                    <a:gd name="T3" fmla="*/ 36 h 87"/>
                    <a:gd name="T4" fmla="*/ 12 w 52"/>
                    <a:gd name="T5" fmla="*/ 87 h 87"/>
                  </a:gdLst>
                  <a:ahLst/>
                  <a:cxnLst>
                    <a:cxn ang="0">
                      <a:pos x="T0" y="T1"/>
                    </a:cxn>
                    <a:cxn ang="0">
                      <a:pos x="T2" y="T3"/>
                    </a:cxn>
                    <a:cxn ang="0">
                      <a:pos x="T4" y="T5"/>
                    </a:cxn>
                  </a:cxnLst>
                  <a:rect l="0" t="0" r="r" b="b"/>
                  <a:pathLst>
                    <a:path w="52" h="87">
                      <a:moveTo>
                        <a:pt x="52" y="0"/>
                      </a:moveTo>
                      <a:cubicBezTo>
                        <a:pt x="52" y="0"/>
                        <a:pt x="20" y="4"/>
                        <a:pt x="10" y="36"/>
                      </a:cubicBezTo>
                      <a:cubicBezTo>
                        <a:pt x="0" y="68"/>
                        <a:pt x="1" y="81"/>
                        <a:pt x="12" y="8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7" name="Freeform 421">
                  <a:extLst>
                    <a:ext uri="{FF2B5EF4-FFF2-40B4-BE49-F238E27FC236}">
                      <a16:creationId xmlns:a16="http://schemas.microsoft.com/office/drawing/2014/main" id="{C7E11EE4-2F50-4F0D-9C42-57B12E31E714}"/>
                    </a:ext>
                  </a:extLst>
                </p:cNvPr>
                <p:cNvSpPr>
                  <a:spLocks/>
                </p:cNvSpPr>
                <p:nvPr/>
              </p:nvSpPr>
              <p:spPr bwMode="auto">
                <a:xfrm>
                  <a:off x="1620861" y="3194981"/>
                  <a:ext cx="19111" cy="23093"/>
                </a:xfrm>
                <a:custGeom>
                  <a:avLst/>
                  <a:gdLst>
                    <a:gd name="T0" fmla="*/ 0 w 25"/>
                    <a:gd name="T1" fmla="*/ 26 h 31"/>
                    <a:gd name="T2" fmla="*/ 25 w 25"/>
                    <a:gd name="T3" fmla="*/ 0 h 31"/>
                  </a:gdLst>
                  <a:ahLst/>
                  <a:cxnLst>
                    <a:cxn ang="0">
                      <a:pos x="T0" y="T1"/>
                    </a:cxn>
                    <a:cxn ang="0">
                      <a:pos x="T2" y="T3"/>
                    </a:cxn>
                  </a:cxnLst>
                  <a:rect l="0" t="0" r="r" b="b"/>
                  <a:pathLst>
                    <a:path w="25" h="31">
                      <a:moveTo>
                        <a:pt x="0" y="26"/>
                      </a:moveTo>
                      <a:cubicBezTo>
                        <a:pt x="0" y="26"/>
                        <a:pt x="14" y="31"/>
                        <a:pt x="2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8" name="Freeform 422">
                  <a:extLst>
                    <a:ext uri="{FF2B5EF4-FFF2-40B4-BE49-F238E27FC236}">
                      <a16:creationId xmlns:a16="http://schemas.microsoft.com/office/drawing/2014/main" id="{81D505E9-F6EE-4826-B736-9FE90CD59EFD}"/>
                    </a:ext>
                  </a:extLst>
                </p:cNvPr>
                <p:cNvSpPr>
                  <a:spLocks/>
                </p:cNvSpPr>
                <p:nvPr/>
              </p:nvSpPr>
              <p:spPr bwMode="auto">
                <a:xfrm>
                  <a:off x="1460804" y="3027757"/>
                  <a:ext cx="31056" cy="141742"/>
                </a:xfrm>
                <a:custGeom>
                  <a:avLst/>
                  <a:gdLst>
                    <a:gd name="T0" fmla="*/ 2 w 41"/>
                    <a:gd name="T1" fmla="*/ 0 h 188"/>
                    <a:gd name="T2" fmla="*/ 0 w 41"/>
                    <a:gd name="T3" fmla="*/ 78 h 188"/>
                    <a:gd name="T4" fmla="*/ 7 w 41"/>
                    <a:gd name="T5" fmla="*/ 188 h 188"/>
                  </a:gdLst>
                  <a:ahLst/>
                  <a:cxnLst>
                    <a:cxn ang="0">
                      <a:pos x="T0" y="T1"/>
                    </a:cxn>
                    <a:cxn ang="0">
                      <a:pos x="T2" y="T3"/>
                    </a:cxn>
                    <a:cxn ang="0">
                      <a:pos x="T4" y="T5"/>
                    </a:cxn>
                  </a:cxnLst>
                  <a:rect l="0" t="0" r="r" b="b"/>
                  <a:pathLst>
                    <a:path w="41" h="188">
                      <a:moveTo>
                        <a:pt x="2" y="0"/>
                      </a:moveTo>
                      <a:cubicBezTo>
                        <a:pt x="2" y="0"/>
                        <a:pt x="41" y="54"/>
                        <a:pt x="0" y="78"/>
                      </a:cubicBezTo>
                      <a:cubicBezTo>
                        <a:pt x="0" y="78"/>
                        <a:pt x="41" y="106"/>
                        <a:pt x="7" y="18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9" name="Freeform 423">
                  <a:extLst>
                    <a:ext uri="{FF2B5EF4-FFF2-40B4-BE49-F238E27FC236}">
                      <a16:creationId xmlns:a16="http://schemas.microsoft.com/office/drawing/2014/main" id="{A52DE3B6-82E2-47EB-9605-8D87700B7C51}"/>
                    </a:ext>
                  </a:extLst>
                </p:cNvPr>
                <p:cNvSpPr>
                  <a:spLocks/>
                </p:cNvSpPr>
                <p:nvPr/>
              </p:nvSpPr>
              <p:spPr bwMode="auto">
                <a:xfrm>
                  <a:off x="1568305" y="3042090"/>
                  <a:ext cx="15926" cy="55741"/>
                </a:xfrm>
                <a:custGeom>
                  <a:avLst/>
                  <a:gdLst>
                    <a:gd name="T0" fmla="*/ 15 w 21"/>
                    <a:gd name="T1" fmla="*/ 0 h 74"/>
                    <a:gd name="T2" fmla="*/ 15 w 21"/>
                    <a:gd name="T3" fmla="*/ 30 h 74"/>
                    <a:gd name="T4" fmla="*/ 10 w 21"/>
                    <a:gd name="T5" fmla="*/ 74 h 74"/>
                  </a:gdLst>
                  <a:ahLst/>
                  <a:cxnLst>
                    <a:cxn ang="0">
                      <a:pos x="T0" y="T1"/>
                    </a:cxn>
                    <a:cxn ang="0">
                      <a:pos x="T2" y="T3"/>
                    </a:cxn>
                    <a:cxn ang="0">
                      <a:pos x="T4" y="T5"/>
                    </a:cxn>
                  </a:cxnLst>
                  <a:rect l="0" t="0" r="r" b="b"/>
                  <a:pathLst>
                    <a:path w="21" h="74">
                      <a:moveTo>
                        <a:pt x="15" y="0"/>
                      </a:moveTo>
                      <a:cubicBezTo>
                        <a:pt x="15" y="0"/>
                        <a:pt x="21" y="18"/>
                        <a:pt x="15" y="30"/>
                      </a:cubicBezTo>
                      <a:cubicBezTo>
                        <a:pt x="9" y="42"/>
                        <a:pt x="0" y="46"/>
                        <a:pt x="10" y="7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0" name="Freeform 424">
                  <a:extLst>
                    <a:ext uri="{FF2B5EF4-FFF2-40B4-BE49-F238E27FC236}">
                      <a16:creationId xmlns:a16="http://schemas.microsoft.com/office/drawing/2014/main" id="{8A16863B-E425-4D7F-B900-7A4EC260B656}"/>
                    </a:ext>
                  </a:extLst>
                </p:cNvPr>
                <p:cNvSpPr>
                  <a:spLocks/>
                </p:cNvSpPr>
                <p:nvPr/>
              </p:nvSpPr>
              <p:spPr bwMode="auto">
                <a:xfrm>
                  <a:off x="1360470" y="3011831"/>
                  <a:ext cx="12741" cy="12741"/>
                </a:xfrm>
                <a:custGeom>
                  <a:avLst/>
                  <a:gdLst>
                    <a:gd name="T0" fmla="*/ 0 w 18"/>
                    <a:gd name="T1" fmla="*/ 0 h 17"/>
                    <a:gd name="T2" fmla="*/ 18 w 18"/>
                    <a:gd name="T3" fmla="*/ 17 h 17"/>
                  </a:gdLst>
                  <a:ahLst/>
                  <a:cxnLst>
                    <a:cxn ang="0">
                      <a:pos x="T0" y="T1"/>
                    </a:cxn>
                    <a:cxn ang="0">
                      <a:pos x="T2" y="T3"/>
                    </a:cxn>
                  </a:cxnLst>
                  <a:rect l="0" t="0" r="r" b="b"/>
                  <a:pathLst>
                    <a:path w="18" h="17">
                      <a:moveTo>
                        <a:pt x="0" y="0"/>
                      </a:moveTo>
                      <a:cubicBezTo>
                        <a:pt x="0" y="0"/>
                        <a:pt x="9" y="4"/>
                        <a:pt x="18" y="1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1" name="Freeform 425">
                  <a:extLst>
                    <a:ext uri="{FF2B5EF4-FFF2-40B4-BE49-F238E27FC236}">
                      <a16:creationId xmlns:a16="http://schemas.microsoft.com/office/drawing/2014/main" id="{6150AA7C-DF22-408A-8B2A-3DC642B10581}"/>
                    </a:ext>
                  </a:extLst>
                </p:cNvPr>
                <p:cNvSpPr>
                  <a:spLocks/>
                </p:cNvSpPr>
                <p:nvPr/>
              </p:nvSpPr>
              <p:spPr bwMode="auto">
                <a:xfrm>
                  <a:off x="1279247" y="3018201"/>
                  <a:ext cx="27871" cy="125020"/>
                </a:xfrm>
                <a:custGeom>
                  <a:avLst/>
                  <a:gdLst>
                    <a:gd name="T0" fmla="*/ 0 w 38"/>
                    <a:gd name="T1" fmla="*/ 0 h 166"/>
                    <a:gd name="T2" fmla="*/ 13 w 38"/>
                    <a:gd name="T3" fmla="*/ 43 h 166"/>
                    <a:gd name="T4" fmla="*/ 31 w 38"/>
                    <a:gd name="T5" fmla="*/ 93 h 166"/>
                    <a:gd name="T6" fmla="*/ 29 w 38"/>
                    <a:gd name="T7" fmla="*/ 131 h 166"/>
                    <a:gd name="T8" fmla="*/ 12 w 38"/>
                    <a:gd name="T9" fmla="*/ 166 h 166"/>
                  </a:gdLst>
                  <a:ahLst/>
                  <a:cxnLst>
                    <a:cxn ang="0">
                      <a:pos x="T0" y="T1"/>
                    </a:cxn>
                    <a:cxn ang="0">
                      <a:pos x="T2" y="T3"/>
                    </a:cxn>
                    <a:cxn ang="0">
                      <a:pos x="T4" y="T5"/>
                    </a:cxn>
                    <a:cxn ang="0">
                      <a:pos x="T6" y="T7"/>
                    </a:cxn>
                    <a:cxn ang="0">
                      <a:pos x="T8" y="T9"/>
                    </a:cxn>
                  </a:cxnLst>
                  <a:rect l="0" t="0" r="r" b="b"/>
                  <a:pathLst>
                    <a:path w="38" h="166">
                      <a:moveTo>
                        <a:pt x="0" y="0"/>
                      </a:moveTo>
                      <a:cubicBezTo>
                        <a:pt x="0" y="0"/>
                        <a:pt x="16" y="14"/>
                        <a:pt x="13" y="43"/>
                      </a:cubicBezTo>
                      <a:cubicBezTo>
                        <a:pt x="11" y="72"/>
                        <a:pt x="25" y="71"/>
                        <a:pt x="31" y="93"/>
                      </a:cubicBezTo>
                      <a:cubicBezTo>
                        <a:pt x="38" y="114"/>
                        <a:pt x="34" y="123"/>
                        <a:pt x="29" y="131"/>
                      </a:cubicBezTo>
                      <a:cubicBezTo>
                        <a:pt x="23" y="139"/>
                        <a:pt x="16" y="152"/>
                        <a:pt x="12" y="16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2" name="Freeform 426">
                  <a:extLst>
                    <a:ext uri="{FF2B5EF4-FFF2-40B4-BE49-F238E27FC236}">
                      <a16:creationId xmlns:a16="http://schemas.microsoft.com/office/drawing/2014/main" id="{AC01CC99-3974-4BFC-BF25-FD28F42B1FFB}"/>
                    </a:ext>
                  </a:extLst>
                </p:cNvPr>
                <p:cNvSpPr>
                  <a:spLocks/>
                </p:cNvSpPr>
                <p:nvPr/>
              </p:nvSpPr>
              <p:spPr bwMode="auto">
                <a:xfrm>
                  <a:off x="1289599" y="3053239"/>
                  <a:ext cx="105112" cy="136964"/>
                </a:xfrm>
                <a:custGeom>
                  <a:avLst/>
                  <a:gdLst>
                    <a:gd name="T0" fmla="*/ 122 w 140"/>
                    <a:gd name="T1" fmla="*/ 0 h 182"/>
                    <a:gd name="T2" fmla="*/ 121 w 140"/>
                    <a:gd name="T3" fmla="*/ 60 h 182"/>
                    <a:gd name="T4" fmla="*/ 136 w 140"/>
                    <a:gd name="T5" fmla="*/ 119 h 182"/>
                    <a:gd name="T6" fmla="*/ 59 w 140"/>
                    <a:gd name="T7" fmla="*/ 177 h 182"/>
                    <a:gd name="T8" fmla="*/ 0 w 140"/>
                    <a:gd name="T9" fmla="*/ 156 h 182"/>
                  </a:gdLst>
                  <a:ahLst/>
                  <a:cxnLst>
                    <a:cxn ang="0">
                      <a:pos x="T0" y="T1"/>
                    </a:cxn>
                    <a:cxn ang="0">
                      <a:pos x="T2" y="T3"/>
                    </a:cxn>
                    <a:cxn ang="0">
                      <a:pos x="T4" y="T5"/>
                    </a:cxn>
                    <a:cxn ang="0">
                      <a:pos x="T6" y="T7"/>
                    </a:cxn>
                    <a:cxn ang="0">
                      <a:pos x="T8" y="T9"/>
                    </a:cxn>
                  </a:cxnLst>
                  <a:rect l="0" t="0" r="r" b="b"/>
                  <a:pathLst>
                    <a:path w="140" h="182">
                      <a:moveTo>
                        <a:pt x="122" y="0"/>
                      </a:moveTo>
                      <a:cubicBezTo>
                        <a:pt x="122" y="0"/>
                        <a:pt x="117" y="44"/>
                        <a:pt x="121" y="60"/>
                      </a:cubicBezTo>
                      <a:cubicBezTo>
                        <a:pt x="125" y="76"/>
                        <a:pt x="140" y="99"/>
                        <a:pt x="136" y="119"/>
                      </a:cubicBezTo>
                      <a:cubicBezTo>
                        <a:pt x="132" y="139"/>
                        <a:pt x="134" y="168"/>
                        <a:pt x="59" y="177"/>
                      </a:cubicBezTo>
                      <a:cubicBezTo>
                        <a:pt x="16" y="182"/>
                        <a:pt x="16" y="177"/>
                        <a:pt x="0" y="15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3" name="Freeform 427">
                  <a:extLst>
                    <a:ext uri="{FF2B5EF4-FFF2-40B4-BE49-F238E27FC236}">
                      <a16:creationId xmlns:a16="http://schemas.microsoft.com/office/drawing/2014/main" id="{C448475E-8AF2-4170-BBD1-9F27541E5DE3}"/>
                    </a:ext>
                  </a:extLst>
                </p:cNvPr>
                <p:cNvSpPr>
                  <a:spLocks/>
                </p:cNvSpPr>
                <p:nvPr/>
              </p:nvSpPr>
              <p:spPr bwMode="auto">
                <a:xfrm>
                  <a:off x="1381970" y="3151980"/>
                  <a:ext cx="59723" cy="31056"/>
                </a:xfrm>
                <a:custGeom>
                  <a:avLst/>
                  <a:gdLst>
                    <a:gd name="T0" fmla="*/ 12 w 80"/>
                    <a:gd name="T1" fmla="*/ 0 h 41"/>
                    <a:gd name="T2" fmla="*/ 80 w 80"/>
                    <a:gd name="T3" fmla="*/ 41 h 41"/>
                  </a:gdLst>
                  <a:ahLst/>
                  <a:cxnLst>
                    <a:cxn ang="0">
                      <a:pos x="T0" y="T1"/>
                    </a:cxn>
                    <a:cxn ang="0">
                      <a:pos x="T2" y="T3"/>
                    </a:cxn>
                  </a:cxnLst>
                  <a:rect l="0" t="0" r="r" b="b"/>
                  <a:pathLst>
                    <a:path w="80" h="41">
                      <a:moveTo>
                        <a:pt x="12" y="0"/>
                      </a:moveTo>
                      <a:cubicBezTo>
                        <a:pt x="12" y="0"/>
                        <a:pt x="0" y="36"/>
                        <a:pt x="80" y="4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4" name="Freeform 428">
                  <a:extLst>
                    <a:ext uri="{FF2B5EF4-FFF2-40B4-BE49-F238E27FC236}">
                      <a16:creationId xmlns:a16="http://schemas.microsoft.com/office/drawing/2014/main" id="{402F23BD-7121-49EC-8955-A9E7FA54B1BD}"/>
                    </a:ext>
                  </a:extLst>
                </p:cNvPr>
                <p:cNvSpPr>
                  <a:spLocks/>
                </p:cNvSpPr>
                <p:nvPr/>
              </p:nvSpPr>
              <p:spPr bwMode="auto">
                <a:xfrm>
                  <a:off x="1409044" y="3175073"/>
                  <a:ext cx="8760" cy="21500"/>
                </a:xfrm>
                <a:custGeom>
                  <a:avLst/>
                  <a:gdLst>
                    <a:gd name="T0" fmla="*/ 0 w 12"/>
                    <a:gd name="T1" fmla="*/ 0 h 28"/>
                    <a:gd name="T2" fmla="*/ 9 w 12"/>
                    <a:gd name="T3" fmla="*/ 28 h 28"/>
                  </a:gdLst>
                  <a:ahLst/>
                  <a:cxnLst>
                    <a:cxn ang="0">
                      <a:pos x="T0" y="T1"/>
                    </a:cxn>
                    <a:cxn ang="0">
                      <a:pos x="T2" y="T3"/>
                    </a:cxn>
                  </a:cxnLst>
                  <a:rect l="0" t="0" r="r" b="b"/>
                  <a:pathLst>
                    <a:path w="12" h="28">
                      <a:moveTo>
                        <a:pt x="0" y="0"/>
                      </a:moveTo>
                      <a:cubicBezTo>
                        <a:pt x="0" y="0"/>
                        <a:pt x="12" y="10"/>
                        <a:pt x="9" y="2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5" name="Freeform 429">
                  <a:extLst>
                    <a:ext uri="{FF2B5EF4-FFF2-40B4-BE49-F238E27FC236}">
                      <a16:creationId xmlns:a16="http://schemas.microsoft.com/office/drawing/2014/main" id="{D6F23F3E-68D5-43C1-8BDD-6BB3BB358D9F}"/>
                    </a:ext>
                  </a:extLst>
                </p:cNvPr>
                <p:cNvSpPr>
                  <a:spLocks/>
                </p:cNvSpPr>
                <p:nvPr/>
              </p:nvSpPr>
              <p:spPr bwMode="auto">
                <a:xfrm>
                  <a:off x="1184487" y="3085091"/>
                  <a:ext cx="116260" cy="128205"/>
                </a:xfrm>
                <a:custGeom>
                  <a:avLst/>
                  <a:gdLst>
                    <a:gd name="T0" fmla="*/ 155 w 155"/>
                    <a:gd name="T1" fmla="*/ 132 h 170"/>
                    <a:gd name="T2" fmla="*/ 51 w 155"/>
                    <a:gd name="T3" fmla="*/ 117 h 170"/>
                    <a:gd name="T4" fmla="*/ 33 w 155"/>
                    <a:gd name="T5" fmla="*/ 71 h 170"/>
                    <a:gd name="T6" fmla="*/ 28 w 155"/>
                    <a:gd name="T7" fmla="*/ 46 h 170"/>
                    <a:gd name="T8" fmla="*/ 0 w 155"/>
                    <a:gd name="T9" fmla="*/ 0 h 170"/>
                  </a:gdLst>
                  <a:ahLst/>
                  <a:cxnLst>
                    <a:cxn ang="0">
                      <a:pos x="T0" y="T1"/>
                    </a:cxn>
                    <a:cxn ang="0">
                      <a:pos x="T2" y="T3"/>
                    </a:cxn>
                    <a:cxn ang="0">
                      <a:pos x="T4" y="T5"/>
                    </a:cxn>
                    <a:cxn ang="0">
                      <a:pos x="T6" y="T7"/>
                    </a:cxn>
                    <a:cxn ang="0">
                      <a:pos x="T8" y="T9"/>
                    </a:cxn>
                  </a:cxnLst>
                  <a:rect l="0" t="0" r="r" b="b"/>
                  <a:pathLst>
                    <a:path w="155" h="170">
                      <a:moveTo>
                        <a:pt x="155" y="132"/>
                      </a:moveTo>
                      <a:cubicBezTo>
                        <a:pt x="155" y="132"/>
                        <a:pt x="78" y="170"/>
                        <a:pt x="51" y="117"/>
                      </a:cubicBezTo>
                      <a:cubicBezTo>
                        <a:pt x="24" y="64"/>
                        <a:pt x="37" y="81"/>
                        <a:pt x="33" y="71"/>
                      </a:cubicBezTo>
                      <a:cubicBezTo>
                        <a:pt x="29" y="61"/>
                        <a:pt x="25" y="67"/>
                        <a:pt x="28" y="46"/>
                      </a:cubicBezTo>
                      <a:cubicBezTo>
                        <a:pt x="30" y="24"/>
                        <a:pt x="47" y="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6" name="Freeform 430">
                  <a:extLst>
                    <a:ext uri="{FF2B5EF4-FFF2-40B4-BE49-F238E27FC236}">
                      <a16:creationId xmlns:a16="http://schemas.microsoft.com/office/drawing/2014/main" id="{C5912717-D1D4-4785-9757-4F8E0A0F712F}"/>
                    </a:ext>
                  </a:extLst>
                </p:cNvPr>
                <p:cNvSpPr>
                  <a:spLocks/>
                </p:cNvSpPr>
                <p:nvPr/>
              </p:nvSpPr>
              <p:spPr bwMode="auto">
                <a:xfrm>
                  <a:off x="1208376" y="3075535"/>
                  <a:ext cx="18315" cy="18315"/>
                </a:xfrm>
                <a:custGeom>
                  <a:avLst/>
                  <a:gdLst>
                    <a:gd name="T0" fmla="*/ 0 w 25"/>
                    <a:gd name="T1" fmla="*/ 25 h 25"/>
                    <a:gd name="T2" fmla="*/ 25 w 25"/>
                    <a:gd name="T3" fmla="*/ 0 h 25"/>
                  </a:gdLst>
                  <a:ahLst/>
                  <a:cxnLst>
                    <a:cxn ang="0">
                      <a:pos x="T0" y="T1"/>
                    </a:cxn>
                    <a:cxn ang="0">
                      <a:pos x="T2" y="T3"/>
                    </a:cxn>
                  </a:cxnLst>
                  <a:rect l="0" t="0" r="r" b="b"/>
                  <a:pathLst>
                    <a:path w="25" h="25">
                      <a:moveTo>
                        <a:pt x="0" y="25"/>
                      </a:moveTo>
                      <a:cubicBezTo>
                        <a:pt x="0" y="25"/>
                        <a:pt x="1" y="14"/>
                        <a:pt x="2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7" name="Freeform 431">
                  <a:extLst>
                    <a:ext uri="{FF2B5EF4-FFF2-40B4-BE49-F238E27FC236}">
                      <a16:creationId xmlns:a16="http://schemas.microsoft.com/office/drawing/2014/main" id="{74C38D86-A1F1-412F-A987-AC4F2AFBAC34}"/>
                    </a:ext>
                  </a:extLst>
                </p:cNvPr>
                <p:cNvSpPr>
                  <a:spLocks/>
                </p:cNvSpPr>
                <p:nvPr/>
              </p:nvSpPr>
              <p:spPr bwMode="auto">
                <a:xfrm>
                  <a:off x="1197228" y="3033331"/>
                  <a:ext cx="15130" cy="13537"/>
                </a:xfrm>
                <a:custGeom>
                  <a:avLst/>
                  <a:gdLst>
                    <a:gd name="T0" fmla="*/ 0 w 21"/>
                    <a:gd name="T1" fmla="*/ 0 h 18"/>
                    <a:gd name="T2" fmla="*/ 21 w 21"/>
                    <a:gd name="T3" fmla="*/ 18 h 18"/>
                  </a:gdLst>
                  <a:ahLst/>
                  <a:cxnLst>
                    <a:cxn ang="0">
                      <a:pos x="T0" y="T1"/>
                    </a:cxn>
                    <a:cxn ang="0">
                      <a:pos x="T2" y="T3"/>
                    </a:cxn>
                  </a:cxnLst>
                  <a:rect l="0" t="0" r="r" b="b"/>
                  <a:pathLst>
                    <a:path w="21" h="18">
                      <a:moveTo>
                        <a:pt x="0" y="0"/>
                      </a:moveTo>
                      <a:cubicBezTo>
                        <a:pt x="0" y="0"/>
                        <a:pt x="15" y="4"/>
                        <a:pt x="21" y="1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8" name="Freeform 432">
                  <a:extLst>
                    <a:ext uri="{FF2B5EF4-FFF2-40B4-BE49-F238E27FC236}">
                      <a16:creationId xmlns:a16="http://schemas.microsoft.com/office/drawing/2014/main" id="{6F200765-5BF9-4205-A7DD-209AF7823EE1}"/>
                    </a:ext>
                  </a:extLst>
                </p:cNvPr>
                <p:cNvSpPr>
                  <a:spLocks/>
                </p:cNvSpPr>
                <p:nvPr/>
              </p:nvSpPr>
              <p:spPr bwMode="auto">
                <a:xfrm>
                  <a:off x="1414619" y="3280981"/>
                  <a:ext cx="39019" cy="25482"/>
                </a:xfrm>
                <a:custGeom>
                  <a:avLst/>
                  <a:gdLst>
                    <a:gd name="T0" fmla="*/ 0 w 51"/>
                    <a:gd name="T1" fmla="*/ 24 h 34"/>
                    <a:gd name="T2" fmla="*/ 35 w 51"/>
                    <a:gd name="T3" fmla="*/ 0 h 34"/>
                    <a:gd name="T4" fmla="*/ 51 w 51"/>
                    <a:gd name="T5" fmla="*/ 34 h 34"/>
                  </a:gdLst>
                  <a:ahLst/>
                  <a:cxnLst>
                    <a:cxn ang="0">
                      <a:pos x="T0" y="T1"/>
                    </a:cxn>
                    <a:cxn ang="0">
                      <a:pos x="T2" y="T3"/>
                    </a:cxn>
                    <a:cxn ang="0">
                      <a:pos x="T4" y="T5"/>
                    </a:cxn>
                  </a:cxnLst>
                  <a:rect l="0" t="0" r="r" b="b"/>
                  <a:pathLst>
                    <a:path w="51" h="34">
                      <a:moveTo>
                        <a:pt x="0" y="24"/>
                      </a:moveTo>
                      <a:cubicBezTo>
                        <a:pt x="40" y="20"/>
                        <a:pt x="35" y="0"/>
                        <a:pt x="35" y="0"/>
                      </a:cubicBezTo>
                      <a:cubicBezTo>
                        <a:pt x="35" y="0"/>
                        <a:pt x="28" y="30"/>
                        <a:pt x="51" y="3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9" name="Freeform 433">
                  <a:extLst>
                    <a:ext uri="{FF2B5EF4-FFF2-40B4-BE49-F238E27FC236}">
                      <a16:creationId xmlns:a16="http://schemas.microsoft.com/office/drawing/2014/main" id="{7342DAD7-A56A-4F77-B41D-363C66C58F80}"/>
                    </a:ext>
                  </a:extLst>
                </p:cNvPr>
                <p:cNvSpPr>
                  <a:spLocks/>
                </p:cNvSpPr>
                <p:nvPr/>
              </p:nvSpPr>
              <p:spPr bwMode="auto">
                <a:xfrm>
                  <a:off x="1299155" y="3265851"/>
                  <a:ext cx="45390" cy="27871"/>
                </a:xfrm>
                <a:custGeom>
                  <a:avLst/>
                  <a:gdLst>
                    <a:gd name="T0" fmla="*/ 0 w 60"/>
                    <a:gd name="T1" fmla="*/ 36 h 37"/>
                    <a:gd name="T2" fmla="*/ 27 w 60"/>
                    <a:gd name="T3" fmla="*/ 0 h 37"/>
                    <a:gd name="T4" fmla="*/ 60 w 60"/>
                    <a:gd name="T5" fmla="*/ 37 h 37"/>
                  </a:gdLst>
                  <a:ahLst/>
                  <a:cxnLst>
                    <a:cxn ang="0">
                      <a:pos x="T0" y="T1"/>
                    </a:cxn>
                    <a:cxn ang="0">
                      <a:pos x="T2" y="T3"/>
                    </a:cxn>
                    <a:cxn ang="0">
                      <a:pos x="T4" y="T5"/>
                    </a:cxn>
                  </a:cxnLst>
                  <a:rect l="0" t="0" r="r" b="b"/>
                  <a:pathLst>
                    <a:path w="60" h="37">
                      <a:moveTo>
                        <a:pt x="0" y="36"/>
                      </a:moveTo>
                      <a:cubicBezTo>
                        <a:pt x="35" y="34"/>
                        <a:pt x="27" y="0"/>
                        <a:pt x="27" y="0"/>
                      </a:cubicBezTo>
                      <a:cubicBezTo>
                        <a:pt x="27" y="0"/>
                        <a:pt x="26" y="31"/>
                        <a:pt x="60" y="3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0" name="Freeform 434">
                  <a:extLst>
                    <a:ext uri="{FF2B5EF4-FFF2-40B4-BE49-F238E27FC236}">
                      <a16:creationId xmlns:a16="http://schemas.microsoft.com/office/drawing/2014/main" id="{A4AFCF5A-01DD-43B4-8294-EAC8AA37064C}"/>
                    </a:ext>
                  </a:extLst>
                </p:cNvPr>
                <p:cNvSpPr>
                  <a:spLocks/>
                </p:cNvSpPr>
                <p:nvPr/>
              </p:nvSpPr>
              <p:spPr bwMode="auto">
                <a:xfrm>
                  <a:off x="1112024" y="3106591"/>
                  <a:ext cx="17519" cy="53353"/>
                </a:xfrm>
                <a:custGeom>
                  <a:avLst/>
                  <a:gdLst>
                    <a:gd name="T0" fmla="*/ 23 w 23"/>
                    <a:gd name="T1" fmla="*/ 71 h 71"/>
                    <a:gd name="T2" fmla="*/ 0 w 23"/>
                    <a:gd name="T3" fmla="*/ 0 h 71"/>
                  </a:gdLst>
                  <a:ahLst/>
                  <a:cxnLst>
                    <a:cxn ang="0">
                      <a:pos x="T0" y="T1"/>
                    </a:cxn>
                    <a:cxn ang="0">
                      <a:pos x="T2" y="T3"/>
                    </a:cxn>
                  </a:cxnLst>
                  <a:rect l="0" t="0" r="r" b="b"/>
                  <a:pathLst>
                    <a:path w="23" h="71">
                      <a:moveTo>
                        <a:pt x="23" y="71"/>
                      </a:moveTo>
                      <a:cubicBezTo>
                        <a:pt x="21" y="45"/>
                        <a:pt x="19" y="2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1" name="Freeform 435">
                  <a:extLst>
                    <a:ext uri="{FF2B5EF4-FFF2-40B4-BE49-F238E27FC236}">
                      <a16:creationId xmlns:a16="http://schemas.microsoft.com/office/drawing/2014/main" id="{3BC181F9-B7DC-423B-A68F-1C853CBE105B}"/>
                    </a:ext>
                  </a:extLst>
                </p:cNvPr>
                <p:cNvSpPr>
                  <a:spLocks/>
                </p:cNvSpPr>
                <p:nvPr/>
              </p:nvSpPr>
              <p:spPr bwMode="auto">
                <a:xfrm>
                  <a:off x="1171746" y="3173480"/>
                  <a:ext cx="52556" cy="46982"/>
                </a:xfrm>
                <a:custGeom>
                  <a:avLst/>
                  <a:gdLst>
                    <a:gd name="T0" fmla="*/ 67 w 69"/>
                    <a:gd name="T1" fmla="*/ 0 h 63"/>
                    <a:gd name="T2" fmla="*/ 0 w 69"/>
                    <a:gd name="T3" fmla="*/ 45 h 63"/>
                  </a:gdLst>
                  <a:ahLst/>
                  <a:cxnLst>
                    <a:cxn ang="0">
                      <a:pos x="T0" y="T1"/>
                    </a:cxn>
                    <a:cxn ang="0">
                      <a:pos x="T2" y="T3"/>
                    </a:cxn>
                  </a:cxnLst>
                  <a:rect l="0" t="0" r="r" b="b"/>
                  <a:pathLst>
                    <a:path w="69" h="63">
                      <a:moveTo>
                        <a:pt x="67" y="0"/>
                      </a:moveTo>
                      <a:cubicBezTo>
                        <a:pt x="67" y="0"/>
                        <a:pt x="69" y="63"/>
                        <a:pt x="0" y="4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2" name="Freeform 436">
                  <a:extLst>
                    <a:ext uri="{FF2B5EF4-FFF2-40B4-BE49-F238E27FC236}">
                      <a16:creationId xmlns:a16="http://schemas.microsoft.com/office/drawing/2014/main" id="{213DD049-3056-476E-9240-83D4FAB0DE26}"/>
                    </a:ext>
                  </a:extLst>
                </p:cNvPr>
                <p:cNvSpPr>
                  <a:spLocks/>
                </p:cNvSpPr>
                <p:nvPr/>
              </p:nvSpPr>
              <p:spPr bwMode="auto">
                <a:xfrm>
                  <a:off x="1065838" y="3073943"/>
                  <a:ext cx="10352" cy="35037"/>
                </a:xfrm>
                <a:custGeom>
                  <a:avLst/>
                  <a:gdLst>
                    <a:gd name="T0" fmla="*/ 13 w 13"/>
                    <a:gd name="T1" fmla="*/ 0 h 47"/>
                    <a:gd name="T2" fmla="*/ 0 w 13"/>
                    <a:gd name="T3" fmla="*/ 47 h 47"/>
                  </a:gdLst>
                  <a:ahLst/>
                  <a:cxnLst>
                    <a:cxn ang="0">
                      <a:pos x="T0" y="T1"/>
                    </a:cxn>
                    <a:cxn ang="0">
                      <a:pos x="T2" y="T3"/>
                    </a:cxn>
                  </a:cxnLst>
                  <a:rect l="0" t="0" r="r" b="b"/>
                  <a:pathLst>
                    <a:path w="13" h="47">
                      <a:moveTo>
                        <a:pt x="13" y="0"/>
                      </a:moveTo>
                      <a:cubicBezTo>
                        <a:pt x="13" y="0"/>
                        <a:pt x="0" y="34"/>
                        <a:pt x="0" y="4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3" name="Freeform 437">
                  <a:extLst>
                    <a:ext uri="{FF2B5EF4-FFF2-40B4-BE49-F238E27FC236}">
                      <a16:creationId xmlns:a16="http://schemas.microsoft.com/office/drawing/2014/main" id="{B954643F-84B2-4E1D-BB64-88F49B0978B5}"/>
                    </a:ext>
                  </a:extLst>
                </p:cNvPr>
                <p:cNvSpPr>
                  <a:spLocks/>
                </p:cNvSpPr>
                <p:nvPr/>
              </p:nvSpPr>
              <p:spPr bwMode="auto">
                <a:xfrm>
                  <a:off x="1037171" y="3134462"/>
                  <a:ext cx="137761" cy="93964"/>
                </a:xfrm>
                <a:custGeom>
                  <a:avLst/>
                  <a:gdLst>
                    <a:gd name="T0" fmla="*/ 183 w 183"/>
                    <a:gd name="T1" fmla="*/ 98 h 125"/>
                    <a:gd name="T2" fmla="*/ 142 w 183"/>
                    <a:gd name="T3" fmla="*/ 119 h 125"/>
                    <a:gd name="T4" fmla="*/ 92 w 183"/>
                    <a:gd name="T5" fmla="*/ 93 h 125"/>
                    <a:gd name="T6" fmla="*/ 59 w 183"/>
                    <a:gd name="T7" fmla="*/ 59 h 125"/>
                    <a:gd name="T8" fmla="*/ 49 w 183"/>
                    <a:gd name="T9" fmla="*/ 0 h 125"/>
                    <a:gd name="T10" fmla="*/ 0 w 183"/>
                    <a:gd name="T11" fmla="*/ 30 h 125"/>
                  </a:gdLst>
                  <a:ahLst/>
                  <a:cxnLst>
                    <a:cxn ang="0">
                      <a:pos x="T0" y="T1"/>
                    </a:cxn>
                    <a:cxn ang="0">
                      <a:pos x="T2" y="T3"/>
                    </a:cxn>
                    <a:cxn ang="0">
                      <a:pos x="T4" y="T5"/>
                    </a:cxn>
                    <a:cxn ang="0">
                      <a:pos x="T6" y="T7"/>
                    </a:cxn>
                    <a:cxn ang="0">
                      <a:pos x="T8" y="T9"/>
                    </a:cxn>
                    <a:cxn ang="0">
                      <a:pos x="T10" y="T11"/>
                    </a:cxn>
                  </a:cxnLst>
                  <a:rect l="0" t="0" r="r" b="b"/>
                  <a:pathLst>
                    <a:path w="183" h="125">
                      <a:moveTo>
                        <a:pt x="183" y="98"/>
                      </a:moveTo>
                      <a:cubicBezTo>
                        <a:pt x="180" y="106"/>
                        <a:pt x="174" y="113"/>
                        <a:pt x="142" y="119"/>
                      </a:cubicBezTo>
                      <a:cubicBezTo>
                        <a:pt x="110" y="125"/>
                        <a:pt x="102" y="110"/>
                        <a:pt x="92" y="93"/>
                      </a:cubicBezTo>
                      <a:cubicBezTo>
                        <a:pt x="82" y="76"/>
                        <a:pt x="75" y="80"/>
                        <a:pt x="59" y="59"/>
                      </a:cubicBezTo>
                      <a:cubicBezTo>
                        <a:pt x="42" y="39"/>
                        <a:pt x="49" y="0"/>
                        <a:pt x="49" y="0"/>
                      </a:cubicBezTo>
                      <a:cubicBezTo>
                        <a:pt x="49" y="0"/>
                        <a:pt x="50" y="22"/>
                        <a:pt x="0" y="3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4" name="Freeform 438">
                  <a:extLst>
                    <a:ext uri="{FF2B5EF4-FFF2-40B4-BE49-F238E27FC236}">
                      <a16:creationId xmlns:a16="http://schemas.microsoft.com/office/drawing/2014/main" id="{ECDBB211-9E8E-4E64-8AC0-CA2A9AB3D1A5}"/>
                    </a:ext>
                  </a:extLst>
                </p:cNvPr>
                <p:cNvSpPr>
                  <a:spLocks/>
                </p:cNvSpPr>
                <p:nvPr/>
              </p:nvSpPr>
              <p:spPr bwMode="auto">
                <a:xfrm>
                  <a:off x="1122375" y="3224443"/>
                  <a:ext cx="21500" cy="17519"/>
                </a:xfrm>
                <a:custGeom>
                  <a:avLst/>
                  <a:gdLst>
                    <a:gd name="T0" fmla="*/ 29 w 29"/>
                    <a:gd name="T1" fmla="*/ 0 h 24"/>
                    <a:gd name="T2" fmla="*/ 0 w 29"/>
                    <a:gd name="T3" fmla="*/ 24 h 24"/>
                  </a:gdLst>
                  <a:ahLst/>
                  <a:cxnLst>
                    <a:cxn ang="0">
                      <a:pos x="T0" y="T1"/>
                    </a:cxn>
                    <a:cxn ang="0">
                      <a:pos x="T2" y="T3"/>
                    </a:cxn>
                  </a:cxnLst>
                  <a:rect l="0" t="0" r="r" b="b"/>
                  <a:pathLst>
                    <a:path w="29" h="24">
                      <a:moveTo>
                        <a:pt x="29" y="0"/>
                      </a:moveTo>
                      <a:cubicBezTo>
                        <a:pt x="29" y="0"/>
                        <a:pt x="7" y="15"/>
                        <a:pt x="0" y="2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5" name="Freeform 439">
                  <a:extLst>
                    <a:ext uri="{FF2B5EF4-FFF2-40B4-BE49-F238E27FC236}">
                      <a16:creationId xmlns:a16="http://schemas.microsoft.com/office/drawing/2014/main" id="{D10EF8BA-302D-4737-B0F0-3C435154B401}"/>
                    </a:ext>
                  </a:extLst>
                </p:cNvPr>
                <p:cNvSpPr>
                  <a:spLocks/>
                </p:cNvSpPr>
                <p:nvPr/>
              </p:nvSpPr>
              <p:spPr bwMode="auto">
                <a:xfrm>
                  <a:off x="988597" y="3131276"/>
                  <a:ext cx="7167" cy="22296"/>
                </a:xfrm>
                <a:custGeom>
                  <a:avLst/>
                  <a:gdLst>
                    <a:gd name="T0" fmla="*/ 0 w 10"/>
                    <a:gd name="T1" fmla="*/ 0 h 30"/>
                    <a:gd name="T2" fmla="*/ 10 w 10"/>
                    <a:gd name="T3" fmla="*/ 30 h 30"/>
                  </a:gdLst>
                  <a:ahLst/>
                  <a:cxnLst>
                    <a:cxn ang="0">
                      <a:pos x="T0" y="T1"/>
                    </a:cxn>
                    <a:cxn ang="0">
                      <a:pos x="T2" y="T3"/>
                    </a:cxn>
                  </a:cxnLst>
                  <a:rect l="0" t="0" r="r" b="b"/>
                  <a:pathLst>
                    <a:path w="10" h="30">
                      <a:moveTo>
                        <a:pt x="0" y="0"/>
                      </a:moveTo>
                      <a:cubicBezTo>
                        <a:pt x="0" y="0"/>
                        <a:pt x="5" y="14"/>
                        <a:pt x="10" y="3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6" name="Freeform 440">
                  <a:extLst>
                    <a:ext uri="{FF2B5EF4-FFF2-40B4-BE49-F238E27FC236}">
                      <a16:creationId xmlns:a16="http://schemas.microsoft.com/office/drawing/2014/main" id="{BBEDD4DF-F9EF-4389-83BF-5E70D142D9F6}"/>
                    </a:ext>
                  </a:extLst>
                </p:cNvPr>
                <p:cNvSpPr>
                  <a:spLocks/>
                </p:cNvSpPr>
                <p:nvPr/>
              </p:nvSpPr>
              <p:spPr bwMode="auto">
                <a:xfrm>
                  <a:off x="1055486" y="3254703"/>
                  <a:ext cx="50167" cy="39019"/>
                </a:xfrm>
                <a:custGeom>
                  <a:avLst/>
                  <a:gdLst>
                    <a:gd name="T0" fmla="*/ 67 w 67"/>
                    <a:gd name="T1" fmla="*/ 0 h 52"/>
                    <a:gd name="T2" fmla="*/ 0 w 67"/>
                    <a:gd name="T3" fmla="*/ 18 h 52"/>
                  </a:gdLst>
                  <a:ahLst/>
                  <a:cxnLst>
                    <a:cxn ang="0">
                      <a:pos x="T0" y="T1"/>
                    </a:cxn>
                    <a:cxn ang="0">
                      <a:pos x="T2" y="T3"/>
                    </a:cxn>
                  </a:cxnLst>
                  <a:rect l="0" t="0" r="r" b="b"/>
                  <a:pathLst>
                    <a:path w="67" h="52">
                      <a:moveTo>
                        <a:pt x="67" y="0"/>
                      </a:moveTo>
                      <a:cubicBezTo>
                        <a:pt x="67" y="0"/>
                        <a:pt x="45" y="52"/>
                        <a:pt x="0" y="1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7" name="Freeform 441">
                  <a:extLst>
                    <a:ext uri="{FF2B5EF4-FFF2-40B4-BE49-F238E27FC236}">
                      <a16:creationId xmlns:a16="http://schemas.microsoft.com/office/drawing/2014/main" id="{2BAAC474-16B1-426F-83D4-49E9043C753B}"/>
                    </a:ext>
                  </a:extLst>
                </p:cNvPr>
                <p:cNvSpPr>
                  <a:spLocks/>
                </p:cNvSpPr>
                <p:nvPr/>
              </p:nvSpPr>
              <p:spPr bwMode="auto">
                <a:xfrm>
                  <a:off x="968689" y="3179055"/>
                  <a:ext cx="70075" cy="76445"/>
                </a:xfrm>
                <a:custGeom>
                  <a:avLst/>
                  <a:gdLst>
                    <a:gd name="T0" fmla="*/ 93 w 93"/>
                    <a:gd name="T1" fmla="*/ 101 h 101"/>
                    <a:gd name="T2" fmla="*/ 68 w 93"/>
                    <a:gd name="T3" fmla="*/ 0 h 101"/>
                    <a:gd name="T4" fmla="*/ 0 w 93"/>
                    <a:gd name="T5" fmla="*/ 33 h 101"/>
                  </a:gdLst>
                  <a:ahLst/>
                  <a:cxnLst>
                    <a:cxn ang="0">
                      <a:pos x="T0" y="T1"/>
                    </a:cxn>
                    <a:cxn ang="0">
                      <a:pos x="T2" y="T3"/>
                    </a:cxn>
                    <a:cxn ang="0">
                      <a:pos x="T4" y="T5"/>
                    </a:cxn>
                  </a:cxnLst>
                  <a:rect l="0" t="0" r="r" b="b"/>
                  <a:pathLst>
                    <a:path w="93" h="101">
                      <a:moveTo>
                        <a:pt x="93" y="101"/>
                      </a:moveTo>
                      <a:cubicBezTo>
                        <a:pt x="38" y="41"/>
                        <a:pt x="68" y="0"/>
                        <a:pt x="68" y="0"/>
                      </a:cubicBezTo>
                      <a:cubicBezTo>
                        <a:pt x="68" y="0"/>
                        <a:pt x="61" y="29"/>
                        <a:pt x="0" y="3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8" name="Freeform 442">
                  <a:extLst>
                    <a:ext uri="{FF2B5EF4-FFF2-40B4-BE49-F238E27FC236}">
                      <a16:creationId xmlns:a16="http://schemas.microsoft.com/office/drawing/2014/main" id="{8A3E6E86-CDCF-4DCE-85EC-C904ADCADA5D}"/>
                    </a:ext>
                  </a:extLst>
                </p:cNvPr>
                <p:cNvSpPr>
                  <a:spLocks/>
                </p:cNvSpPr>
                <p:nvPr/>
              </p:nvSpPr>
              <p:spPr bwMode="auto">
                <a:xfrm>
                  <a:off x="985411" y="3196573"/>
                  <a:ext cx="28667" cy="18315"/>
                </a:xfrm>
                <a:custGeom>
                  <a:avLst/>
                  <a:gdLst>
                    <a:gd name="T0" fmla="*/ 38 w 38"/>
                    <a:gd name="T1" fmla="*/ 25 h 25"/>
                    <a:gd name="T2" fmla="*/ 0 w 38"/>
                    <a:gd name="T3" fmla="*/ 6 h 25"/>
                  </a:gdLst>
                  <a:ahLst/>
                  <a:cxnLst>
                    <a:cxn ang="0">
                      <a:pos x="T0" y="T1"/>
                    </a:cxn>
                    <a:cxn ang="0">
                      <a:pos x="T2" y="T3"/>
                    </a:cxn>
                  </a:cxnLst>
                  <a:rect l="0" t="0" r="r" b="b"/>
                  <a:pathLst>
                    <a:path w="38" h="25">
                      <a:moveTo>
                        <a:pt x="38" y="25"/>
                      </a:moveTo>
                      <a:cubicBezTo>
                        <a:pt x="38" y="25"/>
                        <a:pt x="25" y="0"/>
                        <a:pt x="0" y="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9" name="Freeform 443">
                  <a:extLst>
                    <a:ext uri="{FF2B5EF4-FFF2-40B4-BE49-F238E27FC236}">
                      <a16:creationId xmlns:a16="http://schemas.microsoft.com/office/drawing/2014/main" id="{3C05D844-E3AE-4079-AB42-51ACEF1B7DD2}"/>
                    </a:ext>
                  </a:extLst>
                </p:cNvPr>
                <p:cNvSpPr>
                  <a:spLocks/>
                </p:cNvSpPr>
                <p:nvPr/>
              </p:nvSpPr>
              <p:spPr bwMode="auto">
                <a:xfrm>
                  <a:off x="955152" y="3276999"/>
                  <a:ext cx="123427" cy="73260"/>
                </a:xfrm>
                <a:custGeom>
                  <a:avLst/>
                  <a:gdLst>
                    <a:gd name="T0" fmla="*/ 165 w 165"/>
                    <a:gd name="T1" fmla="*/ 0 h 97"/>
                    <a:gd name="T2" fmla="*/ 92 w 165"/>
                    <a:gd name="T3" fmla="*/ 92 h 97"/>
                    <a:gd name="T4" fmla="*/ 0 w 165"/>
                    <a:gd name="T5" fmla="*/ 89 h 97"/>
                  </a:gdLst>
                  <a:ahLst/>
                  <a:cxnLst>
                    <a:cxn ang="0">
                      <a:pos x="T0" y="T1"/>
                    </a:cxn>
                    <a:cxn ang="0">
                      <a:pos x="T2" y="T3"/>
                    </a:cxn>
                    <a:cxn ang="0">
                      <a:pos x="T4" y="T5"/>
                    </a:cxn>
                  </a:cxnLst>
                  <a:rect l="0" t="0" r="r" b="b"/>
                  <a:pathLst>
                    <a:path w="165" h="97">
                      <a:moveTo>
                        <a:pt x="165" y="0"/>
                      </a:moveTo>
                      <a:cubicBezTo>
                        <a:pt x="165" y="0"/>
                        <a:pt x="144" y="87"/>
                        <a:pt x="92" y="92"/>
                      </a:cubicBezTo>
                      <a:cubicBezTo>
                        <a:pt x="39" y="97"/>
                        <a:pt x="80" y="69"/>
                        <a:pt x="0" y="8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0" name="Freeform 444">
                  <a:extLst>
                    <a:ext uri="{FF2B5EF4-FFF2-40B4-BE49-F238E27FC236}">
                      <a16:creationId xmlns:a16="http://schemas.microsoft.com/office/drawing/2014/main" id="{34F27084-2EF1-402B-9A07-C8E46620099F}"/>
                    </a:ext>
                  </a:extLst>
                </p:cNvPr>
                <p:cNvSpPr>
                  <a:spLocks/>
                </p:cNvSpPr>
                <p:nvPr/>
              </p:nvSpPr>
              <p:spPr bwMode="auto">
                <a:xfrm>
                  <a:off x="945596" y="3274611"/>
                  <a:ext cx="43000" cy="48575"/>
                </a:xfrm>
                <a:custGeom>
                  <a:avLst/>
                  <a:gdLst>
                    <a:gd name="T0" fmla="*/ 57 w 57"/>
                    <a:gd name="T1" fmla="*/ 0 h 65"/>
                    <a:gd name="T2" fmla="*/ 17 w 57"/>
                    <a:gd name="T3" fmla="*/ 31 h 65"/>
                    <a:gd name="T4" fmla="*/ 0 w 57"/>
                    <a:gd name="T5" fmla="*/ 65 h 65"/>
                  </a:gdLst>
                  <a:ahLst/>
                  <a:cxnLst>
                    <a:cxn ang="0">
                      <a:pos x="T0" y="T1"/>
                    </a:cxn>
                    <a:cxn ang="0">
                      <a:pos x="T2" y="T3"/>
                    </a:cxn>
                    <a:cxn ang="0">
                      <a:pos x="T4" y="T5"/>
                    </a:cxn>
                  </a:cxnLst>
                  <a:rect l="0" t="0" r="r" b="b"/>
                  <a:pathLst>
                    <a:path w="57" h="65">
                      <a:moveTo>
                        <a:pt x="57" y="0"/>
                      </a:moveTo>
                      <a:cubicBezTo>
                        <a:pt x="57" y="0"/>
                        <a:pt x="28" y="7"/>
                        <a:pt x="17" y="31"/>
                      </a:cubicBezTo>
                      <a:cubicBezTo>
                        <a:pt x="5" y="55"/>
                        <a:pt x="10" y="57"/>
                        <a:pt x="0" y="6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1" name="Freeform 445">
                  <a:extLst>
                    <a:ext uri="{FF2B5EF4-FFF2-40B4-BE49-F238E27FC236}">
                      <a16:creationId xmlns:a16="http://schemas.microsoft.com/office/drawing/2014/main" id="{DA616D2D-749F-48AC-855E-21BD02424995}"/>
                    </a:ext>
                  </a:extLst>
                </p:cNvPr>
                <p:cNvSpPr>
                  <a:spLocks/>
                </p:cNvSpPr>
                <p:nvPr/>
              </p:nvSpPr>
              <p:spPr bwMode="auto">
                <a:xfrm>
                  <a:off x="865966" y="3288148"/>
                  <a:ext cx="72464" cy="95556"/>
                </a:xfrm>
                <a:custGeom>
                  <a:avLst/>
                  <a:gdLst>
                    <a:gd name="T0" fmla="*/ 0 w 96"/>
                    <a:gd name="T1" fmla="*/ 0 h 127"/>
                    <a:gd name="T2" fmla="*/ 96 w 96"/>
                    <a:gd name="T3" fmla="*/ 74 h 127"/>
                  </a:gdLst>
                  <a:ahLst/>
                  <a:cxnLst>
                    <a:cxn ang="0">
                      <a:pos x="T0" y="T1"/>
                    </a:cxn>
                    <a:cxn ang="0">
                      <a:pos x="T2" y="T3"/>
                    </a:cxn>
                  </a:cxnLst>
                  <a:rect l="0" t="0" r="r" b="b"/>
                  <a:pathLst>
                    <a:path w="96" h="127">
                      <a:moveTo>
                        <a:pt x="0" y="0"/>
                      </a:moveTo>
                      <a:cubicBezTo>
                        <a:pt x="0" y="0"/>
                        <a:pt x="37" y="127"/>
                        <a:pt x="96" y="7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2" name="Freeform 446">
                  <a:extLst>
                    <a:ext uri="{FF2B5EF4-FFF2-40B4-BE49-F238E27FC236}">
                      <a16:creationId xmlns:a16="http://schemas.microsoft.com/office/drawing/2014/main" id="{2E202764-62CC-43EA-91E3-C89B295CDF3B}"/>
                    </a:ext>
                  </a:extLst>
                </p:cNvPr>
                <p:cNvSpPr>
                  <a:spLocks/>
                </p:cNvSpPr>
                <p:nvPr/>
              </p:nvSpPr>
              <p:spPr bwMode="auto">
                <a:xfrm>
                  <a:off x="914541" y="3355037"/>
                  <a:ext cx="14333" cy="33445"/>
                </a:xfrm>
                <a:custGeom>
                  <a:avLst/>
                  <a:gdLst>
                    <a:gd name="T0" fmla="*/ 0 w 19"/>
                    <a:gd name="T1" fmla="*/ 0 h 44"/>
                    <a:gd name="T2" fmla="*/ 16 w 19"/>
                    <a:gd name="T3" fmla="*/ 44 h 44"/>
                  </a:gdLst>
                  <a:ahLst/>
                  <a:cxnLst>
                    <a:cxn ang="0">
                      <a:pos x="T0" y="T1"/>
                    </a:cxn>
                    <a:cxn ang="0">
                      <a:pos x="T2" y="T3"/>
                    </a:cxn>
                  </a:cxnLst>
                  <a:rect l="0" t="0" r="r" b="b"/>
                  <a:pathLst>
                    <a:path w="19" h="44">
                      <a:moveTo>
                        <a:pt x="0" y="0"/>
                      </a:moveTo>
                      <a:cubicBezTo>
                        <a:pt x="0" y="0"/>
                        <a:pt x="19" y="20"/>
                        <a:pt x="16" y="4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3" name="Freeform 447">
                  <a:extLst>
                    <a:ext uri="{FF2B5EF4-FFF2-40B4-BE49-F238E27FC236}">
                      <a16:creationId xmlns:a16="http://schemas.microsoft.com/office/drawing/2014/main" id="{9F61F2EC-9CF8-4F43-BA8E-9B359CEF8FFA}"/>
                    </a:ext>
                  </a:extLst>
                </p:cNvPr>
                <p:cNvSpPr>
                  <a:spLocks/>
                </p:cNvSpPr>
                <p:nvPr/>
              </p:nvSpPr>
              <p:spPr bwMode="auto">
                <a:xfrm>
                  <a:off x="1032393" y="3343093"/>
                  <a:ext cx="101927" cy="138557"/>
                </a:xfrm>
                <a:custGeom>
                  <a:avLst/>
                  <a:gdLst>
                    <a:gd name="T0" fmla="*/ 3 w 136"/>
                    <a:gd name="T1" fmla="*/ 0 h 184"/>
                    <a:gd name="T2" fmla="*/ 12 w 136"/>
                    <a:gd name="T3" fmla="*/ 40 h 184"/>
                    <a:gd name="T4" fmla="*/ 13 w 136"/>
                    <a:gd name="T5" fmla="*/ 123 h 184"/>
                    <a:gd name="T6" fmla="*/ 70 w 136"/>
                    <a:gd name="T7" fmla="*/ 165 h 184"/>
                    <a:gd name="T8" fmla="*/ 100 w 136"/>
                    <a:gd name="T9" fmla="*/ 179 h 184"/>
                    <a:gd name="T10" fmla="*/ 136 w 136"/>
                    <a:gd name="T11" fmla="*/ 181 h 184"/>
                  </a:gdLst>
                  <a:ahLst/>
                  <a:cxnLst>
                    <a:cxn ang="0">
                      <a:pos x="T0" y="T1"/>
                    </a:cxn>
                    <a:cxn ang="0">
                      <a:pos x="T2" y="T3"/>
                    </a:cxn>
                    <a:cxn ang="0">
                      <a:pos x="T4" y="T5"/>
                    </a:cxn>
                    <a:cxn ang="0">
                      <a:pos x="T6" y="T7"/>
                    </a:cxn>
                    <a:cxn ang="0">
                      <a:pos x="T8" y="T9"/>
                    </a:cxn>
                    <a:cxn ang="0">
                      <a:pos x="T10" y="T11"/>
                    </a:cxn>
                  </a:cxnLst>
                  <a:rect l="0" t="0" r="r" b="b"/>
                  <a:pathLst>
                    <a:path w="136" h="184">
                      <a:moveTo>
                        <a:pt x="3" y="0"/>
                      </a:moveTo>
                      <a:cubicBezTo>
                        <a:pt x="3" y="0"/>
                        <a:pt x="24" y="4"/>
                        <a:pt x="12" y="40"/>
                      </a:cubicBezTo>
                      <a:cubicBezTo>
                        <a:pt x="0" y="76"/>
                        <a:pt x="4" y="111"/>
                        <a:pt x="13" y="123"/>
                      </a:cubicBezTo>
                      <a:cubicBezTo>
                        <a:pt x="22" y="135"/>
                        <a:pt x="21" y="154"/>
                        <a:pt x="70" y="165"/>
                      </a:cubicBezTo>
                      <a:cubicBezTo>
                        <a:pt x="90" y="170"/>
                        <a:pt x="90" y="175"/>
                        <a:pt x="100" y="179"/>
                      </a:cubicBezTo>
                      <a:cubicBezTo>
                        <a:pt x="111" y="184"/>
                        <a:pt x="99" y="184"/>
                        <a:pt x="136" y="18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4" name="Freeform 448">
                  <a:extLst>
                    <a:ext uri="{FF2B5EF4-FFF2-40B4-BE49-F238E27FC236}">
                      <a16:creationId xmlns:a16="http://schemas.microsoft.com/office/drawing/2014/main" id="{F634238B-4EAC-47F1-9AE0-1CDDF02D5263}"/>
                    </a:ext>
                  </a:extLst>
                </p:cNvPr>
                <p:cNvSpPr>
                  <a:spLocks/>
                </p:cNvSpPr>
                <p:nvPr/>
              </p:nvSpPr>
              <p:spPr bwMode="auto">
                <a:xfrm>
                  <a:off x="962319" y="3413167"/>
                  <a:ext cx="74056" cy="25482"/>
                </a:xfrm>
                <a:custGeom>
                  <a:avLst/>
                  <a:gdLst>
                    <a:gd name="T0" fmla="*/ 99 w 99"/>
                    <a:gd name="T1" fmla="*/ 0 h 34"/>
                    <a:gd name="T2" fmla="*/ 44 w 99"/>
                    <a:gd name="T3" fmla="*/ 25 h 34"/>
                    <a:gd name="T4" fmla="*/ 0 w 99"/>
                    <a:gd name="T5" fmla="*/ 20 h 34"/>
                  </a:gdLst>
                  <a:ahLst/>
                  <a:cxnLst>
                    <a:cxn ang="0">
                      <a:pos x="T0" y="T1"/>
                    </a:cxn>
                    <a:cxn ang="0">
                      <a:pos x="T2" y="T3"/>
                    </a:cxn>
                    <a:cxn ang="0">
                      <a:pos x="T4" y="T5"/>
                    </a:cxn>
                  </a:cxnLst>
                  <a:rect l="0" t="0" r="r" b="b"/>
                  <a:pathLst>
                    <a:path w="99" h="34">
                      <a:moveTo>
                        <a:pt x="99" y="0"/>
                      </a:moveTo>
                      <a:cubicBezTo>
                        <a:pt x="99" y="0"/>
                        <a:pt x="81" y="34"/>
                        <a:pt x="44" y="25"/>
                      </a:cubicBezTo>
                      <a:cubicBezTo>
                        <a:pt x="6" y="17"/>
                        <a:pt x="8" y="19"/>
                        <a:pt x="0" y="2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5" name="Freeform 449">
                  <a:extLst>
                    <a:ext uri="{FF2B5EF4-FFF2-40B4-BE49-F238E27FC236}">
                      <a16:creationId xmlns:a16="http://schemas.microsoft.com/office/drawing/2014/main" id="{B54F6D4F-45C4-49D3-AFD1-095623A30C46}"/>
                    </a:ext>
                  </a:extLst>
                </p:cNvPr>
                <p:cNvSpPr>
                  <a:spLocks/>
                </p:cNvSpPr>
                <p:nvPr/>
              </p:nvSpPr>
              <p:spPr bwMode="auto">
                <a:xfrm>
                  <a:off x="930467" y="3245147"/>
                  <a:ext cx="41408" cy="39815"/>
                </a:xfrm>
                <a:custGeom>
                  <a:avLst/>
                  <a:gdLst>
                    <a:gd name="T0" fmla="*/ 14 w 55"/>
                    <a:gd name="T1" fmla="*/ 0 h 53"/>
                    <a:gd name="T2" fmla="*/ 55 w 55"/>
                    <a:gd name="T3" fmla="*/ 46 h 53"/>
                  </a:gdLst>
                  <a:ahLst/>
                  <a:cxnLst>
                    <a:cxn ang="0">
                      <a:pos x="T0" y="T1"/>
                    </a:cxn>
                    <a:cxn ang="0">
                      <a:pos x="T2" y="T3"/>
                    </a:cxn>
                  </a:cxnLst>
                  <a:rect l="0" t="0" r="r" b="b"/>
                  <a:pathLst>
                    <a:path w="55" h="53">
                      <a:moveTo>
                        <a:pt x="14" y="0"/>
                      </a:moveTo>
                      <a:cubicBezTo>
                        <a:pt x="14" y="0"/>
                        <a:pt x="0" y="53"/>
                        <a:pt x="55" y="4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6" name="Freeform 450">
                  <a:extLst>
                    <a:ext uri="{FF2B5EF4-FFF2-40B4-BE49-F238E27FC236}">
                      <a16:creationId xmlns:a16="http://schemas.microsoft.com/office/drawing/2014/main" id="{A77C821A-CF74-4992-BB0F-2FB2D3728600}"/>
                    </a:ext>
                  </a:extLst>
                </p:cNvPr>
                <p:cNvSpPr>
                  <a:spLocks/>
                </p:cNvSpPr>
                <p:nvPr/>
              </p:nvSpPr>
              <p:spPr bwMode="auto">
                <a:xfrm>
                  <a:off x="866762" y="3390871"/>
                  <a:ext cx="246058" cy="121038"/>
                </a:xfrm>
                <a:custGeom>
                  <a:avLst/>
                  <a:gdLst>
                    <a:gd name="T0" fmla="*/ 13 w 327"/>
                    <a:gd name="T1" fmla="*/ 0 h 160"/>
                    <a:gd name="T2" fmla="*/ 50 w 327"/>
                    <a:gd name="T3" fmla="*/ 69 h 160"/>
                    <a:gd name="T4" fmla="*/ 80 w 327"/>
                    <a:gd name="T5" fmla="*/ 100 h 160"/>
                    <a:gd name="T6" fmla="*/ 160 w 327"/>
                    <a:gd name="T7" fmla="*/ 141 h 160"/>
                    <a:gd name="T8" fmla="*/ 231 w 327"/>
                    <a:gd name="T9" fmla="*/ 155 h 160"/>
                    <a:gd name="T10" fmla="*/ 327 w 327"/>
                    <a:gd name="T11" fmla="*/ 152 h 160"/>
                  </a:gdLst>
                  <a:ahLst/>
                  <a:cxnLst>
                    <a:cxn ang="0">
                      <a:pos x="T0" y="T1"/>
                    </a:cxn>
                    <a:cxn ang="0">
                      <a:pos x="T2" y="T3"/>
                    </a:cxn>
                    <a:cxn ang="0">
                      <a:pos x="T4" y="T5"/>
                    </a:cxn>
                    <a:cxn ang="0">
                      <a:pos x="T6" y="T7"/>
                    </a:cxn>
                    <a:cxn ang="0">
                      <a:pos x="T8" y="T9"/>
                    </a:cxn>
                    <a:cxn ang="0">
                      <a:pos x="T10" y="T11"/>
                    </a:cxn>
                  </a:cxnLst>
                  <a:rect l="0" t="0" r="r" b="b"/>
                  <a:pathLst>
                    <a:path w="327" h="160">
                      <a:moveTo>
                        <a:pt x="13" y="0"/>
                      </a:moveTo>
                      <a:cubicBezTo>
                        <a:pt x="13" y="0"/>
                        <a:pt x="0" y="36"/>
                        <a:pt x="50" y="69"/>
                      </a:cubicBezTo>
                      <a:cubicBezTo>
                        <a:pt x="83" y="90"/>
                        <a:pt x="78" y="96"/>
                        <a:pt x="80" y="100"/>
                      </a:cubicBezTo>
                      <a:cubicBezTo>
                        <a:pt x="81" y="103"/>
                        <a:pt x="91" y="130"/>
                        <a:pt x="160" y="141"/>
                      </a:cubicBezTo>
                      <a:cubicBezTo>
                        <a:pt x="229" y="152"/>
                        <a:pt x="209" y="150"/>
                        <a:pt x="231" y="155"/>
                      </a:cubicBezTo>
                      <a:cubicBezTo>
                        <a:pt x="252" y="160"/>
                        <a:pt x="276" y="159"/>
                        <a:pt x="327" y="15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7" name="Freeform 451">
                  <a:extLst>
                    <a:ext uri="{FF2B5EF4-FFF2-40B4-BE49-F238E27FC236}">
                      <a16:creationId xmlns:a16="http://schemas.microsoft.com/office/drawing/2014/main" id="{4B346454-B64F-483F-993F-5E202DCCFFA9}"/>
                    </a:ext>
                  </a:extLst>
                </p:cNvPr>
                <p:cNvSpPr>
                  <a:spLocks/>
                </p:cNvSpPr>
                <p:nvPr/>
              </p:nvSpPr>
              <p:spPr bwMode="auto">
                <a:xfrm>
                  <a:off x="1194839" y="3499168"/>
                  <a:ext cx="43797" cy="43000"/>
                </a:xfrm>
                <a:custGeom>
                  <a:avLst/>
                  <a:gdLst>
                    <a:gd name="T0" fmla="*/ 0 w 59"/>
                    <a:gd name="T1" fmla="*/ 0 h 58"/>
                    <a:gd name="T2" fmla="*/ 18 w 59"/>
                    <a:gd name="T3" fmla="*/ 58 h 58"/>
                  </a:gdLst>
                  <a:ahLst/>
                  <a:cxnLst>
                    <a:cxn ang="0">
                      <a:pos x="T0" y="T1"/>
                    </a:cxn>
                    <a:cxn ang="0">
                      <a:pos x="T2" y="T3"/>
                    </a:cxn>
                  </a:cxnLst>
                  <a:rect l="0" t="0" r="r" b="b"/>
                  <a:pathLst>
                    <a:path w="59" h="58">
                      <a:moveTo>
                        <a:pt x="0" y="0"/>
                      </a:moveTo>
                      <a:cubicBezTo>
                        <a:pt x="0" y="0"/>
                        <a:pt x="59" y="12"/>
                        <a:pt x="18" y="5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8" name="Freeform 453">
                  <a:extLst>
                    <a:ext uri="{FF2B5EF4-FFF2-40B4-BE49-F238E27FC236}">
                      <a16:creationId xmlns:a16="http://schemas.microsoft.com/office/drawing/2014/main" id="{C78CF75A-B7D8-4C0C-9EC7-721336DC4645}"/>
                    </a:ext>
                  </a:extLst>
                </p:cNvPr>
                <p:cNvSpPr>
                  <a:spLocks/>
                </p:cNvSpPr>
                <p:nvPr/>
              </p:nvSpPr>
              <p:spPr bwMode="auto">
                <a:xfrm>
                  <a:off x="907374" y="3537391"/>
                  <a:ext cx="44593" cy="17519"/>
                </a:xfrm>
                <a:custGeom>
                  <a:avLst/>
                  <a:gdLst>
                    <a:gd name="T0" fmla="*/ 59 w 59"/>
                    <a:gd name="T1" fmla="*/ 0 h 24"/>
                    <a:gd name="T2" fmla="*/ 38 w 59"/>
                    <a:gd name="T3" fmla="*/ 12 h 24"/>
                    <a:gd name="T4" fmla="*/ 0 w 59"/>
                    <a:gd name="T5" fmla="*/ 21 h 24"/>
                  </a:gdLst>
                  <a:ahLst/>
                  <a:cxnLst>
                    <a:cxn ang="0">
                      <a:pos x="T0" y="T1"/>
                    </a:cxn>
                    <a:cxn ang="0">
                      <a:pos x="T2" y="T3"/>
                    </a:cxn>
                    <a:cxn ang="0">
                      <a:pos x="T4" y="T5"/>
                    </a:cxn>
                  </a:cxnLst>
                  <a:rect l="0" t="0" r="r" b="b"/>
                  <a:pathLst>
                    <a:path w="59" h="24">
                      <a:moveTo>
                        <a:pt x="59" y="0"/>
                      </a:moveTo>
                      <a:cubicBezTo>
                        <a:pt x="59" y="0"/>
                        <a:pt x="42" y="7"/>
                        <a:pt x="38" y="12"/>
                      </a:cubicBezTo>
                      <a:cubicBezTo>
                        <a:pt x="35" y="17"/>
                        <a:pt x="40" y="24"/>
                        <a:pt x="0" y="2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9" name="Freeform 454">
                  <a:extLst>
                    <a:ext uri="{FF2B5EF4-FFF2-40B4-BE49-F238E27FC236}">
                      <a16:creationId xmlns:a16="http://schemas.microsoft.com/office/drawing/2014/main" id="{27473621-FC55-4CE7-9CDF-EAF4882C2F0D}"/>
                    </a:ext>
                  </a:extLst>
                </p:cNvPr>
                <p:cNvSpPr>
                  <a:spLocks/>
                </p:cNvSpPr>
                <p:nvPr/>
              </p:nvSpPr>
              <p:spPr bwMode="auto">
                <a:xfrm>
                  <a:off x="980633" y="3553317"/>
                  <a:ext cx="190317" cy="30259"/>
                </a:xfrm>
                <a:custGeom>
                  <a:avLst/>
                  <a:gdLst>
                    <a:gd name="T0" fmla="*/ 254 w 254"/>
                    <a:gd name="T1" fmla="*/ 16 h 41"/>
                    <a:gd name="T2" fmla="*/ 191 w 254"/>
                    <a:gd name="T3" fmla="*/ 32 h 41"/>
                    <a:gd name="T4" fmla="*/ 125 w 254"/>
                    <a:gd name="T5" fmla="*/ 22 h 41"/>
                    <a:gd name="T6" fmla="*/ 77 w 254"/>
                    <a:gd name="T7" fmla="*/ 27 h 41"/>
                    <a:gd name="T8" fmla="*/ 0 w 254"/>
                    <a:gd name="T9" fmla="*/ 0 h 41"/>
                    <a:gd name="T10" fmla="*/ 5 w 254"/>
                    <a:gd name="T11" fmla="*/ 26 h 41"/>
                  </a:gdLst>
                  <a:ahLst/>
                  <a:cxnLst>
                    <a:cxn ang="0">
                      <a:pos x="T0" y="T1"/>
                    </a:cxn>
                    <a:cxn ang="0">
                      <a:pos x="T2" y="T3"/>
                    </a:cxn>
                    <a:cxn ang="0">
                      <a:pos x="T4" y="T5"/>
                    </a:cxn>
                    <a:cxn ang="0">
                      <a:pos x="T6" y="T7"/>
                    </a:cxn>
                    <a:cxn ang="0">
                      <a:pos x="T8" y="T9"/>
                    </a:cxn>
                    <a:cxn ang="0">
                      <a:pos x="T10" y="T11"/>
                    </a:cxn>
                  </a:cxnLst>
                  <a:rect l="0" t="0" r="r" b="b"/>
                  <a:pathLst>
                    <a:path w="254" h="41">
                      <a:moveTo>
                        <a:pt x="254" y="16"/>
                      </a:moveTo>
                      <a:cubicBezTo>
                        <a:pt x="254" y="16"/>
                        <a:pt x="239" y="37"/>
                        <a:pt x="191" y="32"/>
                      </a:cubicBezTo>
                      <a:cubicBezTo>
                        <a:pt x="144" y="27"/>
                        <a:pt x="141" y="26"/>
                        <a:pt x="125" y="22"/>
                      </a:cubicBezTo>
                      <a:cubicBezTo>
                        <a:pt x="108" y="18"/>
                        <a:pt x="95" y="25"/>
                        <a:pt x="77" y="27"/>
                      </a:cubicBezTo>
                      <a:cubicBezTo>
                        <a:pt x="59" y="29"/>
                        <a:pt x="27" y="41"/>
                        <a:pt x="0" y="0"/>
                      </a:cubicBezTo>
                      <a:cubicBezTo>
                        <a:pt x="0" y="0"/>
                        <a:pt x="8" y="17"/>
                        <a:pt x="5" y="2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0" name="Freeform 455">
                  <a:extLst>
                    <a:ext uri="{FF2B5EF4-FFF2-40B4-BE49-F238E27FC236}">
                      <a16:creationId xmlns:a16="http://schemas.microsoft.com/office/drawing/2014/main" id="{B65D5905-AAAC-42CA-9147-B6D7465DC2D4}"/>
                    </a:ext>
                  </a:extLst>
                </p:cNvPr>
                <p:cNvSpPr>
                  <a:spLocks/>
                </p:cNvSpPr>
                <p:nvPr/>
              </p:nvSpPr>
              <p:spPr bwMode="auto">
                <a:xfrm>
                  <a:off x="1151839" y="3546946"/>
                  <a:ext cx="33445" cy="39019"/>
                </a:xfrm>
                <a:custGeom>
                  <a:avLst/>
                  <a:gdLst>
                    <a:gd name="T0" fmla="*/ 45 w 45"/>
                    <a:gd name="T1" fmla="*/ 0 h 52"/>
                    <a:gd name="T2" fmla="*/ 39 w 45"/>
                    <a:gd name="T3" fmla="*/ 52 h 52"/>
                  </a:gdLst>
                  <a:ahLst/>
                  <a:cxnLst>
                    <a:cxn ang="0">
                      <a:pos x="T0" y="T1"/>
                    </a:cxn>
                    <a:cxn ang="0">
                      <a:pos x="T2" y="T3"/>
                    </a:cxn>
                  </a:cxnLst>
                  <a:rect l="0" t="0" r="r" b="b"/>
                  <a:pathLst>
                    <a:path w="45" h="52">
                      <a:moveTo>
                        <a:pt x="45" y="0"/>
                      </a:moveTo>
                      <a:cubicBezTo>
                        <a:pt x="45" y="0"/>
                        <a:pt x="0" y="29"/>
                        <a:pt x="39" y="5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1" name="Freeform 456">
                  <a:extLst>
                    <a:ext uri="{FF2B5EF4-FFF2-40B4-BE49-F238E27FC236}">
                      <a16:creationId xmlns:a16="http://schemas.microsoft.com/office/drawing/2014/main" id="{A0FBEBE3-8FD7-4203-A0CE-282F0409E3A1}"/>
                    </a:ext>
                  </a:extLst>
                </p:cNvPr>
                <p:cNvSpPr>
                  <a:spLocks/>
                </p:cNvSpPr>
                <p:nvPr/>
              </p:nvSpPr>
              <p:spPr bwMode="auto">
                <a:xfrm>
                  <a:off x="1192450" y="3245944"/>
                  <a:ext cx="67686" cy="33445"/>
                </a:xfrm>
                <a:custGeom>
                  <a:avLst/>
                  <a:gdLst>
                    <a:gd name="T0" fmla="*/ 90 w 90"/>
                    <a:gd name="T1" fmla="*/ 0 h 44"/>
                    <a:gd name="T2" fmla="*/ 0 w 90"/>
                    <a:gd name="T3" fmla="*/ 13 h 44"/>
                  </a:gdLst>
                  <a:ahLst/>
                  <a:cxnLst>
                    <a:cxn ang="0">
                      <a:pos x="T0" y="T1"/>
                    </a:cxn>
                    <a:cxn ang="0">
                      <a:pos x="T2" y="T3"/>
                    </a:cxn>
                  </a:cxnLst>
                  <a:rect l="0" t="0" r="r" b="b"/>
                  <a:pathLst>
                    <a:path w="90" h="44">
                      <a:moveTo>
                        <a:pt x="90" y="0"/>
                      </a:moveTo>
                      <a:cubicBezTo>
                        <a:pt x="90" y="0"/>
                        <a:pt x="62" y="44"/>
                        <a:pt x="0" y="1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2" name="Freeform 457">
                  <a:extLst>
                    <a:ext uri="{FF2B5EF4-FFF2-40B4-BE49-F238E27FC236}">
                      <a16:creationId xmlns:a16="http://schemas.microsoft.com/office/drawing/2014/main" id="{99223794-4858-40D4-B0ED-985C5614C946}"/>
                    </a:ext>
                  </a:extLst>
                </p:cNvPr>
                <p:cNvSpPr>
                  <a:spLocks/>
                </p:cNvSpPr>
                <p:nvPr/>
              </p:nvSpPr>
              <p:spPr bwMode="auto">
                <a:xfrm>
                  <a:off x="1086542" y="3265851"/>
                  <a:ext cx="132186" cy="57334"/>
                </a:xfrm>
                <a:custGeom>
                  <a:avLst/>
                  <a:gdLst>
                    <a:gd name="T0" fmla="*/ 176 w 176"/>
                    <a:gd name="T1" fmla="*/ 0 h 77"/>
                    <a:gd name="T2" fmla="*/ 91 w 176"/>
                    <a:gd name="T3" fmla="*/ 27 h 77"/>
                    <a:gd name="T4" fmla="*/ 0 w 176"/>
                    <a:gd name="T5" fmla="*/ 75 h 77"/>
                  </a:gdLst>
                  <a:ahLst/>
                  <a:cxnLst>
                    <a:cxn ang="0">
                      <a:pos x="T0" y="T1"/>
                    </a:cxn>
                    <a:cxn ang="0">
                      <a:pos x="T2" y="T3"/>
                    </a:cxn>
                    <a:cxn ang="0">
                      <a:pos x="T4" y="T5"/>
                    </a:cxn>
                  </a:cxnLst>
                  <a:rect l="0" t="0" r="r" b="b"/>
                  <a:pathLst>
                    <a:path w="176" h="77">
                      <a:moveTo>
                        <a:pt x="176" y="0"/>
                      </a:moveTo>
                      <a:cubicBezTo>
                        <a:pt x="176" y="0"/>
                        <a:pt x="109" y="10"/>
                        <a:pt x="91" y="27"/>
                      </a:cubicBezTo>
                      <a:cubicBezTo>
                        <a:pt x="73" y="44"/>
                        <a:pt x="41" y="77"/>
                        <a:pt x="0" y="7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3" name="Freeform 458">
                  <a:extLst>
                    <a:ext uri="{FF2B5EF4-FFF2-40B4-BE49-F238E27FC236}">
                      <a16:creationId xmlns:a16="http://schemas.microsoft.com/office/drawing/2014/main" id="{873B347D-9D84-4881-962C-145CF88D7CAA}"/>
                    </a:ext>
                  </a:extLst>
                </p:cNvPr>
                <p:cNvSpPr>
                  <a:spLocks/>
                </p:cNvSpPr>
                <p:nvPr/>
              </p:nvSpPr>
              <p:spPr bwMode="auto">
                <a:xfrm>
                  <a:off x="1085745" y="3321592"/>
                  <a:ext cx="17519" cy="55741"/>
                </a:xfrm>
                <a:custGeom>
                  <a:avLst/>
                  <a:gdLst>
                    <a:gd name="T0" fmla="*/ 23 w 23"/>
                    <a:gd name="T1" fmla="*/ 0 h 75"/>
                    <a:gd name="T2" fmla="*/ 5 w 23"/>
                    <a:gd name="T3" fmla="*/ 75 h 75"/>
                  </a:gdLst>
                  <a:ahLst/>
                  <a:cxnLst>
                    <a:cxn ang="0">
                      <a:pos x="T0" y="T1"/>
                    </a:cxn>
                    <a:cxn ang="0">
                      <a:pos x="T2" y="T3"/>
                    </a:cxn>
                  </a:cxnLst>
                  <a:rect l="0" t="0" r="r" b="b"/>
                  <a:pathLst>
                    <a:path w="23" h="75">
                      <a:moveTo>
                        <a:pt x="23" y="0"/>
                      </a:moveTo>
                      <a:cubicBezTo>
                        <a:pt x="23" y="0"/>
                        <a:pt x="0" y="36"/>
                        <a:pt x="5" y="7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4" name="Freeform 460">
                  <a:extLst>
                    <a:ext uri="{FF2B5EF4-FFF2-40B4-BE49-F238E27FC236}">
                      <a16:creationId xmlns:a16="http://schemas.microsoft.com/office/drawing/2014/main" id="{4076D34D-5202-4EB7-BDF3-48976904643E}"/>
                    </a:ext>
                  </a:extLst>
                </p:cNvPr>
                <p:cNvSpPr>
                  <a:spLocks/>
                </p:cNvSpPr>
                <p:nvPr/>
              </p:nvSpPr>
              <p:spPr bwMode="auto">
                <a:xfrm>
                  <a:off x="955152" y="3281777"/>
                  <a:ext cx="6370" cy="12741"/>
                </a:xfrm>
                <a:custGeom>
                  <a:avLst/>
                  <a:gdLst>
                    <a:gd name="T0" fmla="*/ 0 w 8"/>
                    <a:gd name="T1" fmla="*/ 0 h 17"/>
                    <a:gd name="T2" fmla="*/ 5 w 8"/>
                    <a:gd name="T3" fmla="*/ 17 h 17"/>
                  </a:gdLst>
                  <a:ahLst/>
                  <a:cxnLst>
                    <a:cxn ang="0">
                      <a:pos x="T0" y="T1"/>
                    </a:cxn>
                    <a:cxn ang="0">
                      <a:pos x="T2" y="T3"/>
                    </a:cxn>
                  </a:cxnLst>
                  <a:rect l="0" t="0" r="r" b="b"/>
                  <a:pathLst>
                    <a:path w="8" h="17">
                      <a:moveTo>
                        <a:pt x="0" y="0"/>
                      </a:moveTo>
                      <a:cubicBezTo>
                        <a:pt x="0" y="0"/>
                        <a:pt x="8" y="1"/>
                        <a:pt x="5" y="1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5" name="Freeform: Shape 224">
                  <a:extLst>
                    <a:ext uri="{FF2B5EF4-FFF2-40B4-BE49-F238E27FC236}">
                      <a16:creationId xmlns:a16="http://schemas.microsoft.com/office/drawing/2014/main" id="{1605A713-B61C-41D5-A559-4B00456BC0E6}"/>
                    </a:ext>
                  </a:extLst>
                </p:cNvPr>
                <p:cNvSpPr/>
                <p:nvPr/>
              </p:nvSpPr>
              <p:spPr>
                <a:xfrm>
                  <a:off x="1247584" y="3389257"/>
                  <a:ext cx="342566" cy="313019"/>
                </a:xfrm>
                <a:custGeom>
                  <a:avLst/>
                  <a:gdLst>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27467 w 695085"/>
                    <a:gd name="connsiteY9" fmla="*/ 290555 h 454927"/>
                    <a:gd name="connsiteX10" fmla="*/ 494129 w 695085"/>
                    <a:gd name="connsiteY10" fmla="*/ 335798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17942 w 695085"/>
                    <a:gd name="connsiteY9" fmla="*/ 273886 h 454927"/>
                    <a:gd name="connsiteX10" fmla="*/ 494129 w 695085"/>
                    <a:gd name="connsiteY10" fmla="*/ 335798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17942 w 695085"/>
                    <a:gd name="connsiteY9" fmla="*/ 273886 h 454927"/>
                    <a:gd name="connsiteX10" fmla="*/ 491748 w 695085"/>
                    <a:gd name="connsiteY10" fmla="*/ 338179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4"/>
                    <a:gd name="connsiteY0" fmla="*/ 235786 h 454927"/>
                    <a:gd name="connsiteX1" fmla="*/ 127417 w 695084"/>
                    <a:gd name="connsiteY1" fmla="*/ 114342 h 454927"/>
                    <a:gd name="connsiteX2" fmla="*/ 236954 w 695084"/>
                    <a:gd name="connsiteY2" fmla="*/ 28617 h 454927"/>
                    <a:gd name="connsiteX3" fmla="*/ 401261 w 695084"/>
                    <a:gd name="connsiteY3" fmla="*/ 42 h 454927"/>
                    <a:gd name="connsiteX4" fmla="*/ 572711 w 695084"/>
                    <a:gd name="connsiteY4" fmla="*/ 33380 h 454927"/>
                    <a:gd name="connsiteX5" fmla="*/ 627479 w 695084"/>
                    <a:gd name="connsiteY5" fmla="*/ 119105 h 454927"/>
                    <a:gd name="connsiteX6" fmla="*/ 677486 w 695084"/>
                    <a:gd name="connsiteY6" fmla="*/ 214355 h 454927"/>
                    <a:gd name="connsiteX7" fmla="*/ 689392 w 695084"/>
                    <a:gd name="connsiteY7" fmla="*/ 269123 h 454927"/>
                    <a:gd name="connsiteX8" fmla="*/ 591761 w 695084"/>
                    <a:gd name="connsiteY8" fmla="*/ 273885 h 454927"/>
                    <a:gd name="connsiteX9" fmla="*/ 517942 w 695084"/>
                    <a:gd name="connsiteY9" fmla="*/ 273886 h 454927"/>
                    <a:gd name="connsiteX10" fmla="*/ 491748 w 695084"/>
                    <a:gd name="connsiteY10" fmla="*/ 338179 h 454927"/>
                    <a:gd name="connsiteX11" fmla="*/ 508417 w 695084"/>
                    <a:gd name="connsiteY11" fmla="*/ 388186 h 454927"/>
                    <a:gd name="connsiteX12" fmla="*/ 384592 w 695084"/>
                    <a:gd name="connsiteY12" fmla="*/ 404855 h 454927"/>
                    <a:gd name="connsiteX13" fmla="*/ 194092 w 695084"/>
                    <a:gd name="connsiteY13" fmla="*/ 416761 h 454927"/>
                    <a:gd name="connsiteX14" fmla="*/ 67886 w 695084"/>
                    <a:gd name="connsiteY14" fmla="*/ 454861 h 454927"/>
                    <a:gd name="connsiteX15" fmla="*/ 1211 w 695084"/>
                    <a:gd name="connsiteY15" fmla="*/ 423905 h 454927"/>
                    <a:gd name="connsiteX16" fmla="*/ 25023 w 695084"/>
                    <a:gd name="connsiteY16" fmla="*/ 352467 h 454927"/>
                    <a:gd name="connsiteX17" fmla="*/ 27404 w 695084"/>
                    <a:gd name="connsiteY17" fmla="*/ 242930 h 454927"/>
                    <a:gd name="connsiteX18" fmla="*/ 86936 w 695084"/>
                    <a:gd name="connsiteY18" fmla="*/ 235786 h 454927"/>
                    <a:gd name="connsiteX0" fmla="*/ 86936 w 682178"/>
                    <a:gd name="connsiteY0" fmla="*/ 235786 h 454927"/>
                    <a:gd name="connsiteX1" fmla="*/ 127417 w 682178"/>
                    <a:gd name="connsiteY1" fmla="*/ 114342 h 454927"/>
                    <a:gd name="connsiteX2" fmla="*/ 236954 w 682178"/>
                    <a:gd name="connsiteY2" fmla="*/ 28617 h 454927"/>
                    <a:gd name="connsiteX3" fmla="*/ 401261 w 682178"/>
                    <a:gd name="connsiteY3" fmla="*/ 42 h 454927"/>
                    <a:gd name="connsiteX4" fmla="*/ 572711 w 682178"/>
                    <a:gd name="connsiteY4" fmla="*/ 33380 h 454927"/>
                    <a:gd name="connsiteX5" fmla="*/ 627479 w 682178"/>
                    <a:gd name="connsiteY5" fmla="*/ 119105 h 454927"/>
                    <a:gd name="connsiteX6" fmla="*/ 677486 w 682178"/>
                    <a:gd name="connsiteY6" fmla="*/ 214355 h 454927"/>
                    <a:gd name="connsiteX7" fmla="*/ 670342 w 682178"/>
                    <a:gd name="connsiteY7" fmla="*/ 285792 h 454927"/>
                    <a:gd name="connsiteX8" fmla="*/ 591761 w 682178"/>
                    <a:gd name="connsiteY8" fmla="*/ 273885 h 454927"/>
                    <a:gd name="connsiteX9" fmla="*/ 517942 w 682178"/>
                    <a:gd name="connsiteY9" fmla="*/ 273886 h 454927"/>
                    <a:gd name="connsiteX10" fmla="*/ 491748 w 682178"/>
                    <a:gd name="connsiteY10" fmla="*/ 338179 h 454927"/>
                    <a:gd name="connsiteX11" fmla="*/ 508417 w 682178"/>
                    <a:gd name="connsiteY11" fmla="*/ 388186 h 454927"/>
                    <a:gd name="connsiteX12" fmla="*/ 384592 w 682178"/>
                    <a:gd name="connsiteY12" fmla="*/ 404855 h 454927"/>
                    <a:gd name="connsiteX13" fmla="*/ 194092 w 682178"/>
                    <a:gd name="connsiteY13" fmla="*/ 416761 h 454927"/>
                    <a:gd name="connsiteX14" fmla="*/ 67886 w 682178"/>
                    <a:gd name="connsiteY14" fmla="*/ 454861 h 454927"/>
                    <a:gd name="connsiteX15" fmla="*/ 1211 w 682178"/>
                    <a:gd name="connsiteY15" fmla="*/ 423905 h 454927"/>
                    <a:gd name="connsiteX16" fmla="*/ 25023 w 682178"/>
                    <a:gd name="connsiteY16" fmla="*/ 352467 h 454927"/>
                    <a:gd name="connsiteX17" fmla="*/ 27404 w 682178"/>
                    <a:gd name="connsiteY17" fmla="*/ 242930 h 454927"/>
                    <a:gd name="connsiteX18" fmla="*/ 86936 w 682178"/>
                    <a:gd name="connsiteY18" fmla="*/ 235786 h 454927"/>
                    <a:gd name="connsiteX0" fmla="*/ 86936 w 682935"/>
                    <a:gd name="connsiteY0" fmla="*/ 235786 h 454927"/>
                    <a:gd name="connsiteX1" fmla="*/ 127417 w 682935"/>
                    <a:gd name="connsiteY1" fmla="*/ 114342 h 454927"/>
                    <a:gd name="connsiteX2" fmla="*/ 236954 w 682935"/>
                    <a:gd name="connsiteY2" fmla="*/ 28617 h 454927"/>
                    <a:gd name="connsiteX3" fmla="*/ 401261 w 682935"/>
                    <a:gd name="connsiteY3" fmla="*/ 42 h 454927"/>
                    <a:gd name="connsiteX4" fmla="*/ 572711 w 682935"/>
                    <a:gd name="connsiteY4" fmla="*/ 33380 h 454927"/>
                    <a:gd name="connsiteX5" fmla="*/ 627479 w 682935"/>
                    <a:gd name="connsiteY5" fmla="*/ 119105 h 454927"/>
                    <a:gd name="connsiteX6" fmla="*/ 677486 w 682935"/>
                    <a:gd name="connsiteY6" fmla="*/ 214355 h 454927"/>
                    <a:gd name="connsiteX7" fmla="*/ 670342 w 682935"/>
                    <a:gd name="connsiteY7" fmla="*/ 285792 h 454927"/>
                    <a:gd name="connsiteX8" fmla="*/ 577473 w 682935"/>
                    <a:gd name="connsiteY8" fmla="*/ 264360 h 454927"/>
                    <a:gd name="connsiteX9" fmla="*/ 517942 w 682935"/>
                    <a:gd name="connsiteY9" fmla="*/ 273886 h 454927"/>
                    <a:gd name="connsiteX10" fmla="*/ 491748 w 682935"/>
                    <a:gd name="connsiteY10" fmla="*/ 338179 h 454927"/>
                    <a:gd name="connsiteX11" fmla="*/ 508417 w 682935"/>
                    <a:gd name="connsiteY11" fmla="*/ 388186 h 454927"/>
                    <a:gd name="connsiteX12" fmla="*/ 384592 w 682935"/>
                    <a:gd name="connsiteY12" fmla="*/ 404855 h 454927"/>
                    <a:gd name="connsiteX13" fmla="*/ 194092 w 682935"/>
                    <a:gd name="connsiteY13" fmla="*/ 416761 h 454927"/>
                    <a:gd name="connsiteX14" fmla="*/ 67886 w 682935"/>
                    <a:gd name="connsiteY14" fmla="*/ 454861 h 454927"/>
                    <a:gd name="connsiteX15" fmla="*/ 1211 w 682935"/>
                    <a:gd name="connsiteY15" fmla="*/ 423905 h 454927"/>
                    <a:gd name="connsiteX16" fmla="*/ 25023 w 682935"/>
                    <a:gd name="connsiteY16" fmla="*/ 352467 h 454927"/>
                    <a:gd name="connsiteX17" fmla="*/ 27404 w 682935"/>
                    <a:gd name="connsiteY17" fmla="*/ 242930 h 454927"/>
                    <a:gd name="connsiteX18" fmla="*/ 86936 w 682935"/>
                    <a:gd name="connsiteY18" fmla="*/ 235786 h 454927"/>
                    <a:gd name="connsiteX0" fmla="*/ 86936 w 682935"/>
                    <a:gd name="connsiteY0" fmla="*/ 235786 h 454927"/>
                    <a:gd name="connsiteX1" fmla="*/ 127417 w 682935"/>
                    <a:gd name="connsiteY1" fmla="*/ 114342 h 454927"/>
                    <a:gd name="connsiteX2" fmla="*/ 236954 w 682935"/>
                    <a:gd name="connsiteY2" fmla="*/ 28617 h 454927"/>
                    <a:gd name="connsiteX3" fmla="*/ 401261 w 682935"/>
                    <a:gd name="connsiteY3" fmla="*/ 42 h 454927"/>
                    <a:gd name="connsiteX4" fmla="*/ 572711 w 682935"/>
                    <a:gd name="connsiteY4" fmla="*/ 33380 h 454927"/>
                    <a:gd name="connsiteX5" fmla="*/ 627479 w 682935"/>
                    <a:gd name="connsiteY5" fmla="*/ 119105 h 454927"/>
                    <a:gd name="connsiteX6" fmla="*/ 677486 w 682935"/>
                    <a:gd name="connsiteY6" fmla="*/ 214355 h 454927"/>
                    <a:gd name="connsiteX7" fmla="*/ 670342 w 682935"/>
                    <a:gd name="connsiteY7" fmla="*/ 285792 h 454927"/>
                    <a:gd name="connsiteX8" fmla="*/ 577473 w 682935"/>
                    <a:gd name="connsiteY8" fmla="*/ 264360 h 454927"/>
                    <a:gd name="connsiteX9" fmla="*/ 517942 w 682935"/>
                    <a:gd name="connsiteY9" fmla="*/ 273886 h 454927"/>
                    <a:gd name="connsiteX10" fmla="*/ 484605 w 682935"/>
                    <a:gd name="connsiteY10" fmla="*/ 333416 h 454927"/>
                    <a:gd name="connsiteX11" fmla="*/ 508417 w 682935"/>
                    <a:gd name="connsiteY11" fmla="*/ 388186 h 454927"/>
                    <a:gd name="connsiteX12" fmla="*/ 384592 w 682935"/>
                    <a:gd name="connsiteY12" fmla="*/ 404855 h 454927"/>
                    <a:gd name="connsiteX13" fmla="*/ 194092 w 682935"/>
                    <a:gd name="connsiteY13" fmla="*/ 416761 h 454927"/>
                    <a:gd name="connsiteX14" fmla="*/ 67886 w 682935"/>
                    <a:gd name="connsiteY14" fmla="*/ 454861 h 454927"/>
                    <a:gd name="connsiteX15" fmla="*/ 1211 w 682935"/>
                    <a:gd name="connsiteY15" fmla="*/ 423905 h 454927"/>
                    <a:gd name="connsiteX16" fmla="*/ 25023 w 682935"/>
                    <a:gd name="connsiteY16" fmla="*/ 352467 h 454927"/>
                    <a:gd name="connsiteX17" fmla="*/ 27404 w 682935"/>
                    <a:gd name="connsiteY17" fmla="*/ 242930 h 454927"/>
                    <a:gd name="connsiteX18" fmla="*/ 86936 w 682935"/>
                    <a:gd name="connsiteY18" fmla="*/ 235786 h 454927"/>
                    <a:gd name="connsiteX0" fmla="*/ 86936 w 682935"/>
                    <a:gd name="connsiteY0" fmla="*/ 235786 h 514451"/>
                    <a:gd name="connsiteX1" fmla="*/ 127417 w 682935"/>
                    <a:gd name="connsiteY1" fmla="*/ 114342 h 514451"/>
                    <a:gd name="connsiteX2" fmla="*/ 236954 w 682935"/>
                    <a:gd name="connsiteY2" fmla="*/ 28617 h 514451"/>
                    <a:gd name="connsiteX3" fmla="*/ 401261 w 682935"/>
                    <a:gd name="connsiteY3" fmla="*/ 42 h 514451"/>
                    <a:gd name="connsiteX4" fmla="*/ 572711 w 682935"/>
                    <a:gd name="connsiteY4" fmla="*/ 33380 h 514451"/>
                    <a:gd name="connsiteX5" fmla="*/ 627479 w 682935"/>
                    <a:gd name="connsiteY5" fmla="*/ 119105 h 514451"/>
                    <a:gd name="connsiteX6" fmla="*/ 677486 w 682935"/>
                    <a:gd name="connsiteY6" fmla="*/ 214355 h 514451"/>
                    <a:gd name="connsiteX7" fmla="*/ 670342 w 682935"/>
                    <a:gd name="connsiteY7" fmla="*/ 285792 h 514451"/>
                    <a:gd name="connsiteX8" fmla="*/ 577473 w 682935"/>
                    <a:gd name="connsiteY8" fmla="*/ 264360 h 514451"/>
                    <a:gd name="connsiteX9" fmla="*/ 517942 w 682935"/>
                    <a:gd name="connsiteY9" fmla="*/ 273886 h 514451"/>
                    <a:gd name="connsiteX10" fmla="*/ 484605 w 682935"/>
                    <a:gd name="connsiteY10" fmla="*/ 333416 h 514451"/>
                    <a:gd name="connsiteX11" fmla="*/ 508417 w 682935"/>
                    <a:gd name="connsiteY11" fmla="*/ 388186 h 514451"/>
                    <a:gd name="connsiteX12" fmla="*/ 529848 w 682935"/>
                    <a:gd name="connsiteY12" fmla="*/ 514392 h 514451"/>
                    <a:gd name="connsiteX13" fmla="*/ 384592 w 682935"/>
                    <a:gd name="connsiteY13" fmla="*/ 404855 h 514451"/>
                    <a:gd name="connsiteX14" fmla="*/ 194092 w 682935"/>
                    <a:gd name="connsiteY14" fmla="*/ 416761 h 514451"/>
                    <a:gd name="connsiteX15" fmla="*/ 67886 w 682935"/>
                    <a:gd name="connsiteY15" fmla="*/ 454861 h 514451"/>
                    <a:gd name="connsiteX16" fmla="*/ 1211 w 682935"/>
                    <a:gd name="connsiteY16" fmla="*/ 423905 h 514451"/>
                    <a:gd name="connsiteX17" fmla="*/ 25023 w 682935"/>
                    <a:gd name="connsiteY17" fmla="*/ 352467 h 514451"/>
                    <a:gd name="connsiteX18" fmla="*/ 27404 w 682935"/>
                    <a:gd name="connsiteY18" fmla="*/ 242930 h 514451"/>
                    <a:gd name="connsiteX19" fmla="*/ 86936 w 682935"/>
                    <a:gd name="connsiteY19" fmla="*/ 235786 h 514451"/>
                    <a:gd name="connsiteX0" fmla="*/ 86936 w 682935"/>
                    <a:gd name="connsiteY0" fmla="*/ 235786 h 540376"/>
                    <a:gd name="connsiteX1" fmla="*/ 127417 w 682935"/>
                    <a:gd name="connsiteY1" fmla="*/ 114342 h 540376"/>
                    <a:gd name="connsiteX2" fmla="*/ 236954 w 682935"/>
                    <a:gd name="connsiteY2" fmla="*/ 28617 h 540376"/>
                    <a:gd name="connsiteX3" fmla="*/ 401261 w 682935"/>
                    <a:gd name="connsiteY3" fmla="*/ 42 h 540376"/>
                    <a:gd name="connsiteX4" fmla="*/ 572711 w 682935"/>
                    <a:gd name="connsiteY4" fmla="*/ 33380 h 540376"/>
                    <a:gd name="connsiteX5" fmla="*/ 627479 w 682935"/>
                    <a:gd name="connsiteY5" fmla="*/ 119105 h 540376"/>
                    <a:gd name="connsiteX6" fmla="*/ 677486 w 682935"/>
                    <a:gd name="connsiteY6" fmla="*/ 214355 h 540376"/>
                    <a:gd name="connsiteX7" fmla="*/ 670342 w 682935"/>
                    <a:gd name="connsiteY7" fmla="*/ 285792 h 540376"/>
                    <a:gd name="connsiteX8" fmla="*/ 577473 w 682935"/>
                    <a:gd name="connsiteY8" fmla="*/ 264360 h 540376"/>
                    <a:gd name="connsiteX9" fmla="*/ 517942 w 682935"/>
                    <a:gd name="connsiteY9" fmla="*/ 273886 h 540376"/>
                    <a:gd name="connsiteX10" fmla="*/ 484605 w 682935"/>
                    <a:gd name="connsiteY10" fmla="*/ 333416 h 540376"/>
                    <a:gd name="connsiteX11" fmla="*/ 508417 w 682935"/>
                    <a:gd name="connsiteY11" fmla="*/ 388186 h 540376"/>
                    <a:gd name="connsiteX12" fmla="*/ 529848 w 682935"/>
                    <a:gd name="connsiteY12" fmla="*/ 514392 h 540376"/>
                    <a:gd name="connsiteX13" fmla="*/ 470317 w 682935"/>
                    <a:gd name="connsiteY13" fmla="*/ 533442 h 540376"/>
                    <a:gd name="connsiteX14" fmla="*/ 384592 w 682935"/>
                    <a:gd name="connsiteY14" fmla="*/ 404855 h 540376"/>
                    <a:gd name="connsiteX15" fmla="*/ 194092 w 682935"/>
                    <a:gd name="connsiteY15" fmla="*/ 416761 h 540376"/>
                    <a:gd name="connsiteX16" fmla="*/ 67886 w 682935"/>
                    <a:gd name="connsiteY16" fmla="*/ 454861 h 540376"/>
                    <a:gd name="connsiteX17" fmla="*/ 1211 w 682935"/>
                    <a:gd name="connsiteY17" fmla="*/ 423905 h 540376"/>
                    <a:gd name="connsiteX18" fmla="*/ 25023 w 682935"/>
                    <a:gd name="connsiteY18" fmla="*/ 352467 h 540376"/>
                    <a:gd name="connsiteX19" fmla="*/ 27404 w 682935"/>
                    <a:gd name="connsiteY19" fmla="*/ 242930 h 540376"/>
                    <a:gd name="connsiteX20" fmla="*/ 86936 w 682935"/>
                    <a:gd name="connsiteY20" fmla="*/ 235786 h 540376"/>
                    <a:gd name="connsiteX0" fmla="*/ 86936 w 682935"/>
                    <a:gd name="connsiteY0" fmla="*/ 235786 h 624031"/>
                    <a:gd name="connsiteX1" fmla="*/ 127417 w 682935"/>
                    <a:gd name="connsiteY1" fmla="*/ 114342 h 624031"/>
                    <a:gd name="connsiteX2" fmla="*/ 236954 w 682935"/>
                    <a:gd name="connsiteY2" fmla="*/ 28617 h 624031"/>
                    <a:gd name="connsiteX3" fmla="*/ 401261 w 682935"/>
                    <a:gd name="connsiteY3" fmla="*/ 42 h 624031"/>
                    <a:gd name="connsiteX4" fmla="*/ 572711 w 682935"/>
                    <a:gd name="connsiteY4" fmla="*/ 33380 h 624031"/>
                    <a:gd name="connsiteX5" fmla="*/ 627479 w 682935"/>
                    <a:gd name="connsiteY5" fmla="*/ 119105 h 624031"/>
                    <a:gd name="connsiteX6" fmla="*/ 677486 w 682935"/>
                    <a:gd name="connsiteY6" fmla="*/ 214355 h 624031"/>
                    <a:gd name="connsiteX7" fmla="*/ 670342 w 682935"/>
                    <a:gd name="connsiteY7" fmla="*/ 285792 h 624031"/>
                    <a:gd name="connsiteX8" fmla="*/ 577473 w 682935"/>
                    <a:gd name="connsiteY8" fmla="*/ 264360 h 624031"/>
                    <a:gd name="connsiteX9" fmla="*/ 517942 w 682935"/>
                    <a:gd name="connsiteY9" fmla="*/ 273886 h 624031"/>
                    <a:gd name="connsiteX10" fmla="*/ 484605 w 682935"/>
                    <a:gd name="connsiteY10" fmla="*/ 333416 h 624031"/>
                    <a:gd name="connsiteX11" fmla="*/ 508417 w 682935"/>
                    <a:gd name="connsiteY11" fmla="*/ 388186 h 624031"/>
                    <a:gd name="connsiteX12" fmla="*/ 529848 w 682935"/>
                    <a:gd name="connsiteY12" fmla="*/ 514392 h 624031"/>
                    <a:gd name="connsiteX13" fmla="*/ 494129 w 682935"/>
                    <a:gd name="connsiteY13" fmla="*/ 623929 h 624031"/>
                    <a:gd name="connsiteX14" fmla="*/ 470317 w 682935"/>
                    <a:gd name="connsiteY14" fmla="*/ 533442 h 624031"/>
                    <a:gd name="connsiteX15" fmla="*/ 384592 w 682935"/>
                    <a:gd name="connsiteY15" fmla="*/ 404855 h 624031"/>
                    <a:gd name="connsiteX16" fmla="*/ 194092 w 682935"/>
                    <a:gd name="connsiteY16" fmla="*/ 416761 h 624031"/>
                    <a:gd name="connsiteX17" fmla="*/ 67886 w 682935"/>
                    <a:gd name="connsiteY17" fmla="*/ 454861 h 624031"/>
                    <a:gd name="connsiteX18" fmla="*/ 1211 w 682935"/>
                    <a:gd name="connsiteY18" fmla="*/ 423905 h 624031"/>
                    <a:gd name="connsiteX19" fmla="*/ 25023 w 682935"/>
                    <a:gd name="connsiteY19" fmla="*/ 352467 h 624031"/>
                    <a:gd name="connsiteX20" fmla="*/ 27404 w 682935"/>
                    <a:gd name="connsiteY20" fmla="*/ 242930 h 624031"/>
                    <a:gd name="connsiteX21" fmla="*/ 86936 w 682935"/>
                    <a:gd name="connsiteY21" fmla="*/ 235786 h 624031"/>
                    <a:gd name="connsiteX0" fmla="*/ 86936 w 682935"/>
                    <a:gd name="connsiteY0" fmla="*/ 235786 h 624031"/>
                    <a:gd name="connsiteX1" fmla="*/ 127417 w 682935"/>
                    <a:gd name="connsiteY1" fmla="*/ 114342 h 624031"/>
                    <a:gd name="connsiteX2" fmla="*/ 236954 w 682935"/>
                    <a:gd name="connsiteY2" fmla="*/ 28617 h 624031"/>
                    <a:gd name="connsiteX3" fmla="*/ 401261 w 682935"/>
                    <a:gd name="connsiteY3" fmla="*/ 42 h 624031"/>
                    <a:gd name="connsiteX4" fmla="*/ 572711 w 682935"/>
                    <a:gd name="connsiteY4" fmla="*/ 33380 h 624031"/>
                    <a:gd name="connsiteX5" fmla="*/ 627479 w 682935"/>
                    <a:gd name="connsiteY5" fmla="*/ 119105 h 624031"/>
                    <a:gd name="connsiteX6" fmla="*/ 677486 w 682935"/>
                    <a:gd name="connsiteY6" fmla="*/ 214355 h 624031"/>
                    <a:gd name="connsiteX7" fmla="*/ 670342 w 682935"/>
                    <a:gd name="connsiteY7" fmla="*/ 285792 h 624031"/>
                    <a:gd name="connsiteX8" fmla="*/ 577473 w 682935"/>
                    <a:gd name="connsiteY8" fmla="*/ 264360 h 624031"/>
                    <a:gd name="connsiteX9" fmla="*/ 517942 w 682935"/>
                    <a:gd name="connsiteY9" fmla="*/ 273886 h 624031"/>
                    <a:gd name="connsiteX10" fmla="*/ 484605 w 682935"/>
                    <a:gd name="connsiteY10" fmla="*/ 333416 h 624031"/>
                    <a:gd name="connsiteX11" fmla="*/ 508417 w 682935"/>
                    <a:gd name="connsiteY11" fmla="*/ 388186 h 624031"/>
                    <a:gd name="connsiteX12" fmla="*/ 536992 w 682935"/>
                    <a:gd name="connsiteY12" fmla="*/ 585829 h 624031"/>
                    <a:gd name="connsiteX13" fmla="*/ 494129 w 682935"/>
                    <a:gd name="connsiteY13" fmla="*/ 623929 h 624031"/>
                    <a:gd name="connsiteX14" fmla="*/ 470317 w 682935"/>
                    <a:gd name="connsiteY14" fmla="*/ 533442 h 624031"/>
                    <a:gd name="connsiteX15" fmla="*/ 384592 w 682935"/>
                    <a:gd name="connsiteY15" fmla="*/ 404855 h 624031"/>
                    <a:gd name="connsiteX16" fmla="*/ 194092 w 682935"/>
                    <a:gd name="connsiteY16" fmla="*/ 416761 h 624031"/>
                    <a:gd name="connsiteX17" fmla="*/ 67886 w 682935"/>
                    <a:gd name="connsiteY17" fmla="*/ 454861 h 624031"/>
                    <a:gd name="connsiteX18" fmla="*/ 1211 w 682935"/>
                    <a:gd name="connsiteY18" fmla="*/ 423905 h 624031"/>
                    <a:gd name="connsiteX19" fmla="*/ 25023 w 682935"/>
                    <a:gd name="connsiteY19" fmla="*/ 352467 h 624031"/>
                    <a:gd name="connsiteX20" fmla="*/ 27404 w 682935"/>
                    <a:gd name="connsiteY20" fmla="*/ 242930 h 624031"/>
                    <a:gd name="connsiteX21" fmla="*/ 86936 w 682935"/>
                    <a:gd name="connsiteY21" fmla="*/ 235786 h 62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82935" h="624031">
                      <a:moveTo>
                        <a:pt x="86936" y="235786"/>
                      </a:moveTo>
                      <a:cubicBezTo>
                        <a:pt x="103605" y="214355"/>
                        <a:pt x="102414" y="148870"/>
                        <a:pt x="127417" y="114342"/>
                      </a:cubicBezTo>
                      <a:cubicBezTo>
                        <a:pt x="152420" y="79814"/>
                        <a:pt x="191313" y="47667"/>
                        <a:pt x="236954" y="28617"/>
                      </a:cubicBezTo>
                      <a:cubicBezTo>
                        <a:pt x="282595" y="9567"/>
                        <a:pt x="345302" y="-752"/>
                        <a:pt x="401261" y="42"/>
                      </a:cubicBezTo>
                      <a:cubicBezTo>
                        <a:pt x="457221" y="836"/>
                        <a:pt x="535008" y="13536"/>
                        <a:pt x="572711" y="33380"/>
                      </a:cubicBezTo>
                      <a:cubicBezTo>
                        <a:pt x="610414" y="53224"/>
                        <a:pt x="610017" y="88943"/>
                        <a:pt x="627479" y="119105"/>
                      </a:cubicBezTo>
                      <a:cubicBezTo>
                        <a:pt x="644941" y="149267"/>
                        <a:pt x="670342" y="186574"/>
                        <a:pt x="677486" y="214355"/>
                      </a:cubicBezTo>
                      <a:cubicBezTo>
                        <a:pt x="684630" y="242136"/>
                        <a:pt x="687011" y="277458"/>
                        <a:pt x="670342" y="285792"/>
                      </a:cubicBezTo>
                      <a:cubicBezTo>
                        <a:pt x="653673" y="294126"/>
                        <a:pt x="602873" y="266344"/>
                        <a:pt x="577473" y="264360"/>
                      </a:cubicBezTo>
                      <a:cubicBezTo>
                        <a:pt x="552073" y="262376"/>
                        <a:pt x="533420" y="262377"/>
                        <a:pt x="517942" y="273886"/>
                      </a:cubicBezTo>
                      <a:cubicBezTo>
                        <a:pt x="502464" y="285395"/>
                        <a:pt x="486192" y="314366"/>
                        <a:pt x="484605" y="333416"/>
                      </a:cubicBezTo>
                      <a:cubicBezTo>
                        <a:pt x="483018" y="352466"/>
                        <a:pt x="499686" y="346117"/>
                        <a:pt x="508417" y="388186"/>
                      </a:cubicBezTo>
                      <a:cubicBezTo>
                        <a:pt x="517148" y="430255"/>
                        <a:pt x="538976" y="560826"/>
                        <a:pt x="536992" y="585829"/>
                      </a:cubicBezTo>
                      <a:cubicBezTo>
                        <a:pt x="535008" y="610832"/>
                        <a:pt x="504051" y="620754"/>
                        <a:pt x="494129" y="623929"/>
                      </a:cubicBezTo>
                      <a:cubicBezTo>
                        <a:pt x="484207" y="627104"/>
                        <a:pt x="488970" y="555667"/>
                        <a:pt x="470317" y="533442"/>
                      </a:cubicBezTo>
                      <a:cubicBezTo>
                        <a:pt x="451664" y="511217"/>
                        <a:pt x="430630" y="424302"/>
                        <a:pt x="384592" y="404855"/>
                      </a:cubicBezTo>
                      <a:cubicBezTo>
                        <a:pt x="338555" y="385408"/>
                        <a:pt x="246876" y="408427"/>
                        <a:pt x="194092" y="416761"/>
                      </a:cubicBezTo>
                      <a:cubicBezTo>
                        <a:pt x="141308" y="425095"/>
                        <a:pt x="100033" y="453670"/>
                        <a:pt x="67886" y="454861"/>
                      </a:cubicBezTo>
                      <a:cubicBezTo>
                        <a:pt x="35739" y="456052"/>
                        <a:pt x="8355" y="440971"/>
                        <a:pt x="1211" y="423905"/>
                      </a:cubicBezTo>
                      <a:cubicBezTo>
                        <a:pt x="-5933" y="406839"/>
                        <a:pt x="20657" y="382630"/>
                        <a:pt x="25023" y="352467"/>
                      </a:cubicBezTo>
                      <a:cubicBezTo>
                        <a:pt x="29388" y="322305"/>
                        <a:pt x="20260" y="265155"/>
                        <a:pt x="27404" y="242930"/>
                      </a:cubicBezTo>
                      <a:cubicBezTo>
                        <a:pt x="34548" y="220705"/>
                        <a:pt x="70267" y="257217"/>
                        <a:pt x="86936" y="235786"/>
                      </a:cubicBezTo>
                      <a:close/>
                    </a:path>
                  </a:pathLst>
                </a:cu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226" name="Freeform 461">
                  <a:extLst>
                    <a:ext uri="{FF2B5EF4-FFF2-40B4-BE49-F238E27FC236}">
                      <a16:creationId xmlns:a16="http://schemas.microsoft.com/office/drawing/2014/main" id="{038815E2-40B0-4184-9AA9-6FA149AA0FE4}"/>
                    </a:ext>
                  </a:extLst>
                </p:cNvPr>
                <p:cNvSpPr>
                  <a:spLocks/>
                </p:cNvSpPr>
                <p:nvPr/>
              </p:nvSpPr>
              <p:spPr bwMode="auto">
                <a:xfrm>
                  <a:off x="1553175" y="3497576"/>
                  <a:ext cx="103519" cy="86001"/>
                </a:xfrm>
                <a:custGeom>
                  <a:avLst/>
                  <a:gdLst>
                    <a:gd name="T0" fmla="*/ 106 w 137"/>
                    <a:gd name="T1" fmla="*/ 45 h 115"/>
                    <a:gd name="T2" fmla="*/ 123 w 137"/>
                    <a:gd name="T3" fmla="*/ 99 h 115"/>
                    <a:gd name="T4" fmla="*/ 75 w 137"/>
                    <a:gd name="T5" fmla="*/ 109 h 115"/>
                    <a:gd name="T6" fmla="*/ 48 w 137"/>
                    <a:gd name="T7" fmla="*/ 64 h 115"/>
                    <a:gd name="T8" fmla="*/ 14 w 137"/>
                    <a:gd name="T9" fmla="*/ 61 h 115"/>
                    <a:gd name="T10" fmla="*/ 24 w 137"/>
                    <a:gd name="T11" fmla="*/ 3 h 115"/>
                    <a:gd name="T12" fmla="*/ 106 w 137"/>
                    <a:gd name="T13" fmla="*/ 45 h 115"/>
                  </a:gdLst>
                  <a:ahLst/>
                  <a:cxnLst>
                    <a:cxn ang="0">
                      <a:pos x="T0" y="T1"/>
                    </a:cxn>
                    <a:cxn ang="0">
                      <a:pos x="T2" y="T3"/>
                    </a:cxn>
                    <a:cxn ang="0">
                      <a:pos x="T4" y="T5"/>
                    </a:cxn>
                    <a:cxn ang="0">
                      <a:pos x="T6" y="T7"/>
                    </a:cxn>
                    <a:cxn ang="0">
                      <a:pos x="T8" y="T9"/>
                    </a:cxn>
                    <a:cxn ang="0">
                      <a:pos x="T10" y="T11"/>
                    </a:cxn>
                    <a:cxn ang="0">
                      <a:pos x="T12" y="T13"/>
                    </a:cxn>
                  </a:cxnLst>
                  <a:rect l="0" t="0" r="r" b="b"/>
                  <a:pathLst>
                    <a:path w="137" h="115">
                      <a:moveTo>
                        <a:pt x="106" y="45"/>
                      </a:moveTo>
                      <a:cubicBezTo>
                        <a:pt x="106" y="45"/>
                        <a:pt x="137" y="90"/>
                        <a:pt x="123" y="99"/>
                      </a:cubicBezTo>
                      <a:cubicBezTo>
                        <a:pt x="110" y="109"/>
                        <a:pt x="86" y="115"/>
                        <a:pt x="75" y="109"/>
                      </a:cubicBezTo>
                      <a:cubicBezTo>
                        <a:pt x="65" y="103"/>
                        <a:pt x="64" y="63"/>
                        <a:pt x="48" y="64"/>
                      </a:cubicBezTo>
                      <a:cubicBezTo>
                        <a:pt x="32" y="65"/>
                        <a:pt x="17" y="77"/>
                        <a:pt x="14" y="61"/>
                      </a:cubicBezTo>
                      <a:cubicBezTo>
                        <a:pt x="10" y="45"/>
                        <a:pt x="0" y="3"/>
                        <a:pt x="24" y="3"/>
                      </a:cubicBezTo>
                      <a:cubicBezTo>
                        <a:pt x="48" y="3"/>
                        <a:pt x="86" y="0"/>
                        <a:pt x="106" y="45"/>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27" name="Freeform 462">
                  <a:extLst>
                    <a:ext uri="{FF2B5EF4-FFF2-40B4-BE49-F238E27FC236}">
                      <a16:creationId xmlns:a16="http://schemas.microsoft.com/office/drawing/2014/main" id="{3B69EDE9-5145-430D-BDA6-14F7608E0C20}"/>
                    </a:ext>
                  </a:extLst>
                </p:cNvPr>
                <p:cNvSpPr>
                  <a:spLocks/>
                </p:cNvSpPr>
                <p:nvPr/>
              </p:nvSpPr>
              <p:spPr bwMode="auto">
                <a:xfrm>
                  <a:off x="1095301" y="3289740"/>
                  <a:ext cx="594042" cy="821784"/>
                </a:xfrm>
                <a:custGeom>
                  <a:avLst/>
                  <a:gdLst>
                    <a:gd name="T0" fmla="*/ 124 w 790"/>
                    <a:gd name="T1" fmla="*/ 240 h 1093"/>
                    <a:gd name="T2" fmla="*/ 210 w 790"/>
                    <a:gd name="T3" fmla="*/ 287 h 1093"/>
                    <a:gd name="T4" fmla="*/ 198 w 790"/>
                    <a:gd name="T5" fmla="*/ 385 h 1093"/>
                    <a:gd name="T6" fmla="*/ 177 w 790"/>
                    <a:gd name="T7" fmla="*/ 435 h 1093"/>
                    <a:gd name="T8" fmla="*/ 208 w 790"/>
                    <a:gd name="T9" fmla="*/ 443 h 1093"/>
                    <a:gd name="T10" fmla="*/ 225 w 790"/>
                    <a:gd name="T11" fmla="*/ 422 h 1093"/>
                    <a:gd name="T12" fmla="*/ 208 w 790"/>
                    <a:gd name="T13" fmla="*/ 494 h 1093"/>
                    <a:gd name="T14" fmla="*/ 199 w 790"/>
                    <a:gd name="T15" fmla="*/ 530 h 1093"/>
                    <a:gd name="T16" fmla="*/ 228 w 790"/>
                    <a:gd name="T17" fmla="*/ 535 h 1093"/>
                    <a:gd name="T18" fmla="*/ 244 w 790"/>
                    <a:gd name="T19" fmla="*/ 480 h 1093"/>
                    <a:gd name="T20" fmla="*/ 285 w 790"/>
                    <a:gd name="T21" fmla="*/ 435 h 1093"/>
                    <a:gd name="T22" fmla="*/ 324 w 790"/>
                    <a:gd name="T23" fmla="*/ 409 h 1093"/>
                    <a:gd name="T24" fmla="*/ 391 w 790"/>
                    <a:gd name="T25" fmla="*/ 399 h 1093"/>
                    <a:gd name="T26" fmla="*/ 415 w 790"/>
                    <a:gd name="T27" fmla="*/ 489 h 1093"/>
                    <a:gd name="T28" fmla="*/ 350 w 790"/>
                    <a:gd name="T29" fmla="*/ 571 h 1093"/>
                    <a:gd name="T30" fmla="*/ 377 w 790"/>
                    <a:gd name="T31" fmla="*/ 724 h 1093"/>
                    <a:gd name="T32" fmla="*/ 467 w 790"/>
                    <a:gd name="T33" fmla="*/ 765 h 1093"/>
                    <a:gd name="T34" fmla="*/ 519 w 790"/>
                    <a:gd name="T35" fmla="*/ 876 h 1093"/>
                    <a:gd name="T36" fmla="*/ 570 w 790"/>
                    <a:gd name="T37" fmla="*/ 950 h 1093"/>
                    <a:gd name="T38" fmla="*/ 604 w 790"/>
                    <a:gd name="T39" fmla="*/ 1093 h 1093"/>
                    <a:gd name="T40" fmla="*/ 649 w 790"/>
                    <a:gd name="T41" fmla="*/ 1082 h 1093"/>
                    <a:gd name="T42" fmla="*/ 623 w 790"/>
                    <a:gd name="T43" fmla="*/ 944 h 1093"/>
                    <a:gd name="T44" fmla="*/ 585 w 790"/>
                    <a:gd name="T45" fmla="*/ 738 h 1093"/>
                    <a:gd name="T46" fmla="*/ 514 w 790"/>
                    <a:gd name="T47" fmla="*/ 460 h 1093"/>
                    <a:gd name="T48" fmla="*/ 461 w 790"/>
                    <a:gd name="T49" fmla="*/ 382 h 1093"/>
                    <a:gd name="T50" fmla="*/ 358 w 790"/>
                    <a:gd name="T51" fmla="*/ 374 h 1093"/>
                    <a:gd name="T52" fmla="*/ 247 w 790"/>
                    <a:gd name="T53" fmla="*/ 420 h 1093"/>
                    <a:gd name="T54" fmla="*/ 220 w 790"/>
                    <a:gd name="T55" fmla="*/ 401 h 1093"/>
                    <a:gd name="T56" fmla="*/ 239 w 790"/>
                    <a:gd name="T57" fmla="*/ 300 h 1093"/>
                    <a:gd name="T58" fmla="*/ 165 w 790"/>
                    <a:gd name="T59" fmla="*/ 191 h 1093"/>
                    <a:gd name="T60" fmla="*/ 286 w 790"/>
                    <a:gd name="T61" fmla="*/ 107 h 1093"/>
                    <a:gd name="T62" fmla="*/ 464 w 790"/>
                    <a:gd name="T63" fmla="*/ 112 h 1093"/>
                    <a:gd name="T64" fmla="*/ 367 w 790"/>
                    <a:gd name="T65" fmla="*/ 132 h 1093"/>
                    <a:gd name="T66" fmla="*/ 271 w 790"/>
                    <a:gd name="T67" fmla="*/ 221 h 1093"/>
                    <a:gd name="T68" fmla="*/ 274 w 790"/>
                    <a:gd name="T69" fmla="*/ 268 h 1093"/>
                    <a:gd name="T70" fmla="*/ 295 w 790"/>
                    <a:gd name="T71" fmla="*/ 240 h 1093"/>
                    <a:gd name="T72" fmla="*/ 317 w 790"/>
                    <a:gd name="T73" fmla="*/ 197 h 1093"/>
                    <a:gd name="T74" fmla="*/ 457 w 790"/>
                    <a:gd name="T75" fmla="*/ 147 h 1093"/>
                    <a:gd name="T76" fmla="*/ 588 w 790"/>
                    <a:gd name="T77" fmla="*/ 188 h 1093"/>
                    <a:gd name="T78" fmla="*/ 647 w 790"/>
                    <a:gd name="T79" fmla="*/ 297 h 1093"/>
                    <a:gd name="T80" fmla="*/ 736 w 790"/>
                    <a:gd name="T81" fmla="*/ 351 h 1093"/>
                    <a:gd name="T82" fmla="*/ 790 w 790"/>
                    <a:gd name="T83" fmla="*/ 258 h 1093"/>
                    <a:gd name="T84" fmla="*/ 683 w 790"/>
                    <a:gd name="T85" fmla="*/ 107 h 1093"/>
                    <a:gd name="T86" fmla="*/ 307 w 790"/>
                    <a:gd name="T87" fmla="*/ 4 h 1093"/>
                    <a:gd name="T88" fmla="*/ 20 w 790"/>
                    <a:gd name="T89" fmla="*/ 120 h 1093"/>
                    <a:gd name="T90" fmla="*/ 124 w 790"/>
                    <a:gd name="T91" fmla="*/ 24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90" h="1093">
                      <a:moveTo>
                        <a:pt x="124" y="240"/>
                      </a:moveTo>
                      <a:cubicBezTo>
                        <a:pt x="179" y="257"/>
                        <a:pt x="203" y="271"/>
                        <a:pt x="210" y="287"/>
                      </a:cubicBezTo>
                      <a:cubicBezTo>
                        <a:pt x="216" y="303"/>
                        <a:pt x="228" y="340"/>
                        <a:pt x="198" y="385"/>
                      </a:cubicBezTo>
                      <a:cubicBezTo>
                        <a:pt x="198" y="385"/>
                        <a:pt x="177" y="427"/>
                        <a:pt x="177" y="435"/>
                      </a:cubicBezTo>
                      <a:cubicBezTo>
                        <a:pt x="177" y="483"/>
                        <a:pt x="204" y="449"/>
                        <a:pt x="208" y="443"/>
                      </a:cubicBezTo>
                      <a:cubicBezTo>
                        <a:pt x="211" y="436"/>
                        <a:pt x="223" y="407"/>
                        <a:pt x="225" y="422"/>
                      </a:cubicBezTo>
                      <a:cubicBezTo>
                        <a:pt x="229" y="454"/>
                        <a:pt x="225" y="468"/>
                        <a:pt x="208" y="494"/>
                      </a:cubicBezTo>
                      <a:cubicBezTo>
                        <a:pt x="191" y="520"/>
                        <a:pt x="199" y="530"/>
                        <a:pt x="199" y="530"/>
                      </a:cubicBezTo>
                      <a:cubicBezTo>
                        <a:pt x="204" y="529"/>
                        <a:pt x="204" y="531"/>
                        <a:pt x="228" y="535"/>
                      </a:cubicBezTo>
                      <a:cubicBezTo>
                        <a:pt x="263" y="540"/>
                        <a:pt x="249" y="501"/>
                        <a:pt x="244" y="480"/>
                      </a:cubicBezTo>
                      <a:cubicBezTo>
                        <a:pt x="239" y="459"/>
                        <a:pt x="256" y="448"/>
                        <a:pt x="285" y="435"/>
                      </a:cubicBezTo>
                      <a:cubicBezTo>
                        <a:pt x="314" y="422"/>
                        <a:pt x="324" y="409"/>
                        <a:pt x="324" y="409"/>
                      </a:cubicBezTo>
                      <a:cubicBezTo>
                        <a:pt x="375" y="446"/>
                        <a:pt x="391" y="399"/>
                        <a:pt x="391" y="399"/>
                      </a:cubicBezTo>
                      <a:cubicBezTo>
                        <a:pt x="417" y="432"/>
                        <a:pt x="415" y="489"/>
                        <a:pt x="415" y="489"/>
                      </a:cubicBezTo>
                      <a:cubicBezTo>
                        <a:pt x="411" y="489"/>
                        <a:pt x="358" y="504"/>
                        <a:pt x="350" y="571"/>
                      </a:cubicBezTo>
                      <a:cubicBezTo>
                        <a:pt x="338" y="666"/>
                        <a:pt x="377" y="724"/>
                        <a:pt x="377" y="724"/>
                      </a:cubicBezTo>
                      <a:cubicBezTo>
                        <a:pt x="403" y="780"/>
                        <a:pt x="467" y="765"/>
                        <a:pt x="467" y="765"/>
                      </a:cubicBezTo>
                      <a:cubicBezTo>
                        <a:pt x="456" y="851"/>
                        <a:pt x="503" y="860"/>
                        <a:pt x="519" y="876"/>
                      </a:cubicBezTo>
                      <a:cubicBezTo>
                        <a:pt x="534" y="892"/>
                        <a:pt x="555" y="915"/>
                        <a:pt x="570" y="950"/>
                      </a:cubicBezTo>
                      <a:cubicBezTo>
                        <a:pt x="585" y="985"/>
                        <a:pt x="604" y="1093"/>
                        <a:pt x="604" y="1093"/>
                      </a:cubicBezTo>
                      <a:cubicBezTo>
                        <a:pt x="604" y="1093"/>
                        <a:pt x="649" y="1083"/>
                        <a:pt x="649" y="1082"/>
                      </a:cubicBezTo>
                      <a:cubicBezTo>
                        <a:pt x="649" y="1080"/>
                        <a:pt x="630" y="992"/>
                        <a:pt x="623" y="944"/>
                      </a:cubicBezTo>
                      <a:cubicBezTo>
                        <a:pt x="616" y="896"/>
                        <a:pt x="608" y="823"/>
                        <a:pt x="585" y="738"/>
                      </a:cubicBezTo>
                      <a:cubicBezTo>
                        <a:pt x="563" y="653"/>
                        <a:pt x="529" y="518"/>
                        <a:pt x="514" y="460"/>
                      </a:cubicBezTo>
                      <a:cubicBezTo>
                        <a:pt x="498" y="403"/>
                        <a:pt x="478" y="391"/>
                        <a:pt x="461" y="382"/>
                      </a:cubicBezTo>
                      <a:cubicBezTo>
                        <a:pt x="444" y="372"/>
                        <a:pt x="421" y="366"/>
                        <a:pt x="358" y="374"/>
                      </a:cubicBezTo>
                      <a:cubicBezTo>
                        <a:pt x="295" y="382"/>
                        <a:pt x="247" y="436"/>
                        <a:pt x="247" y="420"/>
                      </a:cubicBezTo>
                      <a:cubicBezTo>
                        <a:pt x="247" y="404"/>
                        <a:pt x="220" y="401"/>
                        <a:pt x="220" y="401"/>
                      </a:cubicBezTo>
                      <a:cubicBezTo>
                        <a:pt x="223" y="393"/>
                        <a:pt x="249" y="366"/>
                        <a:pt x="239" y="300"/>
                      </a:cubicBezTo>
                      <a:cubicBezTo>
                        <a:pt x="226" y="220"/>
                        <a:pt x="172" y="261"/>
                        <a:pt x="165" y="191"/>
                      </a:cubicBezTo>
                      <a:cubicBezTo>
                        <a:pt x="158" y="120"/>
                        <a:pt x="235" y="115"/>
                        <a:pt x="286" y="107"/>
                      </a:cubicBezTo>
                      <a:cubicBezTo>
                        <a:pt x="323" y="101"/>
                        <a:pt x="402" y="102"/>
                        <a:pt x="464" y="112"/>
                      </a:cubicBezTo>
                      <a:cubicBezTo>
                        <a:pt x="437" y="110"/>
                        <a:pt x="405" y="113"/>
                        <a:pt x="367" y="132"/>
                      </a:cubicBezTo>
                      <a:cubicBezTo>
                        <a:pt x="295" y="166"/>
                        <a:pt x="279" y="205"/>
                        <a:pt x="271" y="221"/>
                      </a:cubicBezTo>
                      <a:cubicBezTo>
                        <a:pt x="263" y="236"/>
                        <a:pt x="254" y="264"/>
                        <a:pt x="274" y="268"/>
                      </a:cubicBezTo>
                      <a:cubicBezTo>
                        <a:pt x="293" y="271"/>
                        <a:pt x="294" y="247"/>
                        <a:pt x="295" y="240"/>
                      </a:cubicBezTo>
                      <a:cubicBezTo>
                        <a:pt x="297" y="233"/>
                        <a:pt x="289" y="223"/>
                        <a:pt x="317" y="197"/>
                      </a:cubicBezTo>
                      <a:cubicBezTo>
                        <a:pt x="345" y="170"/>
                        <a:pt x="380" y="157"/>
                        <a:pt x="457" y="147"/>
                      </a:cubicBezTo>
                      <a:cubicBezTo>
                        <a:pt x="525" y="139"/>
                        <a:pt x="577" y="179"/>
                        <a:pt x="588" y="188"/>
                      </a:cubicBezTo>
                      <a:cubicBezTo>
                        <a:pt x="610" y="220"/>
                        <a:pt x="628" y="260"/>
                        <a:pt x="647" y="297"/>
                      </a:cubicBezTo>
                      <a:cubicBezTo>
                        <a:pt x="681" y="364"/>
                        <a:pt x="736" y="351"/>
                        <a:pt x="736" y="351"/>
                      </a:cubicBezTo>
                      <a:cubicBezTo>
                        <a:pt x="750" y="347"/>
                        <a:pt x="790" y="327"/>
                        <a:pt x="790" y="258"/>
                      </a:cubicBezTo>
                      <a:cubicBezTo>
                        <a:pt x="790" y="189"/>
                        <a:pt x="683" y="107"/>
                        <a:pt x="683" y="107"/>
                      </a:cubicBezTo>
                      <a:cubicBezTo>
                        <a:pt x="594" y="37"/>
                        <a:pt x="444" y="9"/>
                        <a:pt x="307" y="4"/>
                      </a:cubicBezTo>
                      <a:cubicBezTo>
                        <a:pt x="170" y="0"/>
                        <a:pt x="41" y="45"/>
                        <a:pt x="20" y="120"/>
                      </a:cubicBezTo>
                      <a:cubicBezTo>
                        <a:pt x="0" y="196"/>
                        <a:pt x="70" y="224"/>
                        <a:pt x="124" y="240"/>
                      </a:cubicBezTo>
                      <a:close/>
                    </a:path>
                  </a:pathLst>
                </a:custGeom>
                <a:gradFill flip="none" rotWithShape="1">
                  <a:gsLst>
                    <a:gs pos="0">
                      <a:srgbClr val="E3A8A4"/>
                    </a:gs>
                    <a:gs pos="67000">
                      <a:srgbClr val="E3A8A4"/>
                    </a:gs>
                    <a:gs pos="27000">
                      <a:srgbClr val="E3A8A4"/>
                    </a:gs>
                    <a:gs pos="67000">
                      <a:schemeClr val="bg1"/>
                    </a:gs>
                  </a:gsLst>
                  <a:lin ang="16200000" scaled="1"/>
                  <a:tileRect/>
                </a:gra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28" name="Freeform 463">
                  <a:extLst>
                    <a:ext uri="{FF2B5EF4-FFF2-40B4-BE49-F238E27FC236}">
                      <a16:creationId xmlns:a16="http://schemas.microsoft.com/office/drawing/2014/main" id="{D79EAF04-632B-42F8-B52F-FA8A24935693}"/>
                    </a:ext>
                  </a:extLst>
                </p:cNvPr>
                <p:cNvSpPr>
                  <a:spLocks/>
                </p:cNvSpPr>
                <p:nvPr/>
              </p:nvSpPr>
              <p:spPr bwMode="auto">
                <a:xfrm>
                  <a:off x="1475934" y="3508724"/>
                  <a:ext cx="105909" cy="280298"/>
                </a:xfrm>
                <a:custGeom>
                  <a:avLst/>
                  <a:gdLst>
                    <a:gd name="T0" fmla="*/ 141 w 141"/>
                    <a:gd name="T1" fmla="*/ 350 h 373"/>
                    <a:gd name="T2" fmla="*/ 80 w 141"/>
                    <a:gd name="T3" fmla="*/ 313 h 373"/>
                    <a:gd name="T4" fmla="*/ 41 w 141"/>
                    <a:gd name="T5" fmla="*/ 207 h 373"/>
                    <a:gd name="T6" fmla="*/ 18 w 141"/>
                    <a:gd name="T7" fmla="*/ 102 h 373"/>
                    <a:gd name="T8" fmla="*/ 31 w 141"/>
                    <a:gd name="T9" fmla="*/ 18 h 373"/>
                    <a:gd name="T10" fmla="*/ 80 w 141"/>
                    <a:gd name="T11" fmla="*/ 10 h 373"/>
                    <a:gd name="T12" fmla="*/ 96 w 141"/>
                    <a:gd name="T13" fmla="*/ 13 h 373"/>
                    <a:gd name="T14" fmla="*/ 120 w 141"/>
                    <a:gd name="T15" fmla="*/ 14 h 373"/>
                    <a:gd name="T16" fmla="*/ 135 w 141"/>
                    <a:gd name="T17" fmla="*/ 50 h 373"/>
                    <a:gd name="T18" fmla="*/ 94 w 141"/>
                    <a:gd name="T19" fmla="*/ 50 h 373"/>
                    <a:gd name="T20" fmla="*/ 84 w 141"/>
                    <a:gd name="T21" fmla="*/ 34 h 373"/>
                    <a:gd name="T22" fmla="*/ 64 w 141"/>
                    <a:gd name="T23" fmla="*/ 31 h 373"/>
                    <a:gd name="T24" fmla="*/ 42 w 141"/>
                    <a:gd name="T25" fmla="*/ 43 h 373"/>
                    <a:gd name="T26" fmla="*/ 33 w 141"/>
                    <a:gd name="T27" fmla="*/ 71 h 373"/>
                    <a:gd name="T28" fmla="*/ 49 w 141"/>
                    <a:gd name="T29" fmla="*/ 94 h 373"/>
                    <a:gd name="T30" fmla="*/ 50 w 141"/>
                    <a:gd name="T31" fmla="*/ 127 h 373"/>
                    <a:gd name="T32" fmla="*/ 73 w 141"/>
                    <a:gd name="T33" fmla="*/ 171 h 373"/>
                    <a:gd name="T34" fmla="*/ 66 w 141"/>
                    <a:gd name="T35" fmla="*/ 223 h 373"/>
                    <a:gd name="T36" fmla="*/ 87 w 141"/>
                    <a:gd name="T37" fmla="*/ 304 h 373"/>
                    <a:gd name="T38" fmla="*/ 141 w 141"/>
                    <a:gd name="T39" fmla="*/ 35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1" h="373">
                      <a:moveTo>
                        <a:pt x="141" y="350"/>
                      </a:moveTo>
                      <a:cubicBezTo>
                        <a:pt x="141" y="350"/>
                        <a:pt x="109" y="373"/>
                        <a:pt x="80" y="313"/>
                      </a:cubicBezTo>
                      <a:cubicBezTo>
                        <a:pt x="51" y="253"/>
                        <a:pt x="46" y="236"/>
                        <a:pt x="41" y="207"/>
                      </a:cubicBezTo>
                      <a:cubicBezTo>
                        <a:pt x="36" y="177"/>
                        <a:pt x="29" y="133"/>
                        <a:pt x="18" y="102"/>
                      </a:cubicBezTo>
                      <a:cubicBezTo>
                        <a:pt x="7" y="71"/>
                        <a:pt x="0" y="46"/>
                        <a:pt x="31" y="18"/>
                      </a:cubicBezTo>
                      <a:cubicBezTo>
                        <a:pt x="50" y="0"/>
                        <a:pt x="77" y="8"/>
                        <a:pt x="80" y="10"/>
                      </a:cubicBezTo>
                      <a:cubicBezTo>
                        <a:pt x="80" y="10"/>
                        <a:pt x="86" y="18"/>
                        <a:pt x="96" y="13"/>
                      </a:cubicBezTo>
                      <a:cubicBezTo>
                        <a:pt x="107" y="8"/>
                        <a:pt x="114" y="9"/>
                        <a:pt x="120" y="14"/>
                      </a:cubicBezTo>
                      <a:cubicBezTo>
                        <a:pt x="120" y="14"/>
                        <a:pt x="141" y="33"/>
                        <a:pt x="135" y="50"/>
                      </a:cubicBezTo>
                      <a:cubicBezTo>
                        <a:pt x="130" y="68"/>
                        <a:pt x="105" y="66"/>
                        <a:pt x="94" y="50"/>
                      </a:cubicBezTo>
                      <a:cubicBezTo>
                        <a:pt x="86" y="38"/>
                        <a:pt x="84" y="34"/>
                        <a:pt x="84" y="34"/>
                      </a:cubicBezTo>
                      <a:cubicBezTo>
                        <a:pt x="84" y="34"/>
                        <a:pt x="70" y="15"/>
                        <a:pt x="64" y="31"/>
                      </a:cubicBezTo>
                      <a:cubicBezTo>
                        <a:pt x="57" y="46"/>
                        <a:pt x="50" y="42"/>
                        <a:pt x="42" y="43"/>
                      </a:cubicBezTo>
                      <a:cubicBezTo>
                        <a:pt x="34" y="43"/>
                        <a:pt x="16" y="53"/>
                        <a:pt x="33" y="71"/>
                      </a:cubicBezTo>
                      <a:cubicBezTo>
                        <a:pt x="39" y="77"/>
                        <a:pt x="50" y="70"/>
                        <a:pt x="49" y="94"/>
                      </a:cubicBezTo>
                      <a:cubicBezTo>
                        <a:pt x="48" y="119"/>
                        <a:pt x="48" y="118"/>
                        <a:pt x="50" y="127"/>
                      </a:cubicBezTo>
                      <a:cubicBezTo>
                        <a:pt x="53" y="136"/>
                        <a:pt x="73" y="148"/>
                        <a:pt x="73" y="171"/>
                      </a:cubicBezTo>
                      <a:cubicBezTo>
                        <a:pt x="72" y="194"/>
                        <a:pt x="66" y="202"/>
                        <a:pt x="66" y="223"/>
                      </a:cubicBezTo>
                      <a:cubicBezTo>
                        <a:pt x="65" y="245"/>
                        <a:pt x="73" y="279"/>
                        <a:pt x="87" y="304"/>
                      </a:cubicBezTo>
                      <a:cubicBezTo>
                        <a:pt x="100" y="329"/>
                        <a:pt x="118" y="348"/>
                        <a:pt x="141" y="350"/>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29" name="Freeform 464">
                  <a:extLst>
                    <a:ext uri="{FF2B5EF4-FFF2-40B4-BE49-F238E27FC236}">
                      <a16:creationId xmlns:a16="http://schemas.microsoft.com/office/drawing/2014/main" id="{3D842162-975F-40D7-A71C-9824B565C8E3}"/>
                    </a:ext>
                  </a:extLst>
                </p:cNvPr>
                <p:cNvSpPr>
                  <a:spLocks/>
                </p:cNvSpPr>
                <p:nvPr/>
              </p:nvSpPr>
              <p:spPr bwMode="auto">
                <a:xfrm>
                  <a:off x="1557953" y="3773892"/>
                  <a:ext cx="51760" cy="140946"/>
                </a:xfrm>
                <a:custGeom>
                  <a:avLst/>
                  <a:gdLst>
                    <a:gd name="T0" fmla="*/ 49 w 69"/>
                    <a:gd name="T1" fmla="*/ 15 h 187"/>
                    <a:gd name="T2" fmla="*/ 22 w 69"/>
                    <a:gd name="T3" fmla="*/ 92 h 187"/>
                    <a:gd name="T4" fmla="*/ 42 w 69"/>
                    <a:gd name="T5" fmla="*/ 155 h 187"/>
                    <a:gd name="T6" fmla="*/ 35 w 69"/>
                    <a:gd name="T7" fmla="*/ 164 h 187"/>
                    <a:gd name="T8" fmla="*/ 6 w 69"/>
                    <a:gd name="T9" fmla="*/ 100 h 187"/>
                    <a:gd name="T10" fmla="*/ 17 w 69"/>
                    <a:gd name="T11" fmla="*/ 24 h 187"/>
                    <a:gd name="T12" fmla="*/ 39 w 69"/>
                    <a:gd name="T13" fmla="*/ 5 h 187"/>
                    <a:gd name="T14" fmla="*/ 49 w 69"/>
                    <a:gd name="T15" fmla="*/ 15 h 1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87">
                      <a:moveTo>
                        <a:pt x="49" y="15"/>
                      </a:moveTo>
                      <a:cubicBezTo>
                        <a:pt x="28" y="30"/>
                        <a:pt x="18" y="66"/>
                        <a:pt x="22" y="92"/>
                      </a:cubicBezTo>
                      <a:cubicBezTo>
                        <a:pt x="26" y="118"/>
                        <a:pt x="35" y="144"/>
                        <a:pt x="42" y="155"/>
                      </a:cubicBezTo>
                      <a:cubicBezTo>
                        <a:pt x="50" y="166"/>
                        <a:pt x="53" y="187"/>
                        <a:pt x="35" y="164"/>
                      </a:cubicBezTo>
                      <a:cubicBezTo>
                        <a:pt x="17" y="141"/>
                        <a:pt x="8" y="133"/>
                        <a:pt x="6" y="100"/>
                      </a:cubicBezTo>
                      <a:cubicBezTo>
                        <a:pt x="4" y="67"/>
                        <a:pt x="0" y="38"/>
                        <a:pt x="17" y="24"/>
                      </a:cubicBezTo>
                      <a:cubicBezTo>
                        <a:pt x="34" y="9"/>
                        <a:pt x="23" y="16"/>
                        <a:pt x="39" y="5"/>
                      </a:cubicBezTo>
                      <a:cubicBezTo>
                        <a:pt x="39" y="5"/>
                        <a:pt x="69" y="0"/>
                        <a:pt x="49" y="15"/>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30" name="Freeform 465">
                  <a:extLst>
                    <a:ext uri="{FF2B5EF4-FFF2-40B4-BE49-F238E27FC236}">
                      <a16:creationId xmlns:a16="http://schemas.microsoft.com/office/drawing/2014/main" id="{0D5E09A1-3E68-45C7-8FFB-5D287620D2C7}"/>
                    </a:ext>
                  </a:extLst>
                </p:cNvPr>
                <p:cNvSpPr>
                  <a:spLocks/>
                </p:cNvSpPr>
                <p:nvPr/>
              </p:nvSpPr>
              <p:spPr bwMode="auto">
                <a:xfrm>
                  <a:off x="1569897" y="3887764"/>
                  <a:ext cx="46982" cy="223761"/>
                </a:xfrm>
                <a:custGeom>
                  <a:avLst/>
                  <a:gdLst>
                    <a:gd name="T0" fmla="*/ 1 w 63"/>
                    <a:gd name="T1" fmla="*/ 32 h 298"/>
                    <a:gd name="T2" fmla="*/ 15 w 63"/>
                    <a:gd name="T3" fmla="*/ 23 h 298"/>
                    <a:gd name="T4" fmla="*/ 28 w 63"/>
                    <a:gd name="T5" fmla="*/ 38 h 298"/>
                    <a:gd name="T6" fmla="*/ 35 w 63"/>
                    <a:gd name="T7" fmla="*/ 88 h 298"/>
                    <a:gd name="T8" fmla="*/ 47 w 63"/>
                    <a:gd name="T9" fmla="*/ 198 h 298"/>
                    <a:gd name="T10" fmla="*/ 63 w 63"/>
                    <a:gd name="T11" fmla="*/ 273 h 298"/>
                    <a:gd name="T12" fmla="*/ 35 w 63"/>
                    <a:gd name="T13" fmla="*/ 282 h 298"/>
                    <a:gd name="T14" fmla="*/ 13 w 63"/>
                    <a:gd name="T15" fmla="*/ 150 h 298"/>
                    <a:gd name="T16" fmla="*/ 1 w 63"/>
                    <a:gd name="T17" fmla="*/ 32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298">
                      <a:moveTo>
                        <a:pt x="1" y="32"/>
                      </a:moveTo>
                      <a:cubicBezTo>
                        <a:pt x="0" y="0"/>
                        <a:pt x="15" y="23"/>
                        <a:pt x="15" y="23"/>
                      </a:cubicBezTo>
                      <a:cubicBezTo>
                        <a:pt x="18" y="30"/>
                        <a:pt x="17" y="26"/>
                        <a:pt x="28" y="38"/>
                      </a:cubicBezTo>
                      <a:cubicBezTo>
                        <a:pt x="39" y="49"/>
                        <a:pt x="34" y="62"/>
                        <a:pt x="35" y="88"/>
                      </a:cubicBezTo>
                      <a:cubicBezTo>
                        <a:pt x="36" y="113"/>
                        <a:pt x="41" y="161"/>
                        <a:pt x="47" y="198"/>
                      </a:cubicBezTo>
                      <a:cubicBezTo>
                        <a:pt x="53" y="235"/>
                        <a:pt x="63" y="273"/>
                        <a:pt x="63" y="273"/>
                      </a:cubicBezTo>
                      <a:cubicBezTo>
                        <a:pt x="63" y="273"/>
                        <a:pt x="38" y="298"/>
                        <a:pt x="35" y="282"/>
                      </a:cubicBezTo>
                      <a:cubicBezTo>
                        <a:pt x="32" y="265"/>
                        <a:pt x="18" y="186"/>
                        <a:pt x="13" y="150"/>
                      </a:cubicBezTo>
                      <a:cubicBezTo>
                        <a:pt x="9" y="115"/>
                        <a:pt x="2" y="63"/>
                        <a:pt x="1" y="32"/>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31" name="Freeform 466">
                  <a:extLst>
                    <a:ext uri="{FF2B5EF4-FFF2-40B4-BE49-F238E27FC236}">
                      <a16:creationId xmlns:a16="http://schemas.microsoft.com/office/drawing/2014/main" id="{37CF5D7E-91B4-485B-99F4-136BD8B10FEE}"/>
                    </a:ext>
                  </a:extLst>
                </p:cNvPr>
                <p:cNvSpPr>
                  <a:spLocks/>
                </p:cNvSpPr>
                <p:nvPr/>
              </p:nvSpPr>
              <p:spPr bwMode="auto">
                <a:xfrm>
                  <a:off x="1357285" y="3458556"/>
                  <a:ext cx="68482" cy="35037"/>
                </a:xfrm>
                <a:custGeom>
                  <a:avLst/>
                  <a:gdLst>
                    <a:gd name="T0" fmla="*/ 42 w 91"/>
                    <a:gd name="T1" fmla="*/ 4 h 47"/>
                    <a:gd name="T2" fmla="*/ 86 w 91"/>
                    <a:gd name="T3" fmla="*/ 23 h 47"/>
                    <a:gd name="T4" fmla="*/ 45 w 91"/>
                    <a:gd name="T5" fmla="*/ 46 h 47"/>
                    <a:gd name="T6" fmla="*/ 20 w 91"/>
                    <a:gd name="T7" fmla="*/ 9 h 47"/>
                    <a:gd name="T8" fmla="*/ 42 w 91"/>
                    <a:gd name="T9" fmla="*/ 4 h 47"/>
                  </a:gdLst>
                  <a:ahLst/>
                  <a:cxnLst>
                    <a:cxn ang="0">
                      <a:pos x="T0" y="T1"/>
                    </a:cxn>
                    <a:cxn ang="0">
                      <a:pos x="T2" y="T3"/>
                    </a:cxn>
                    <a:cxn ang="0">
                      <a:pos x="T4" y="T5"/>
                    </a:cxn>
                    <a:cxn ang="0">
                      <a:pos x="T6" y="T7"/>
                    </a:cxn>
                    <a:cxn ang="0">
                      <a:pos x="T8" y="T9"/>
                    </a:cxn>
                  </a:cxnLst>
                  <a:rect l="0" t="0" r="r" b="b"/>
                  <a:pathLst>
                    <a:path w="91" h="47">
                      <a:moveTo>
                        <a:pt x="42" y="4"/>
                      </a:moveTo>
                      <a:cubicBezTo>
                        <a:pt x="42" y="4"/>
                        <a:pt x="91" y="0"/>
                        <a:pt x="86" y="23"/>
                      </a:cubicBezTo>
                      <a:cubicBezTo>
                        <a:pt x="81" y="46"/>
                        <a:pt x="68" y="45"/>
                        <a:pt x="45" y="46"/>
                      </a:cubicBezTo>
                      <a:cubicBezTo>
                        <a:pt x="22" y="47"/>
                        <a:pt x="0" y="33"/>
                        <a:pt x="20" y="9"/>
                      </a:cubicBezTo>
                      <a:cubicBezTo>
                        <a:pt x="26" y="3"/>
                        <a:pt x="37" y="3"/>
                        <a:pt x="42" y="4"/>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32" name="Freeform 467">
                  <a:extLst>
                    <a:ext uri="{FF2B5EF4-FFF2-40B4-BE49-F238E27FC236}">
                      <a16:creationId xmlns:a16="http://schemas.microsoft.com/office/drawing/2014/main" id="{A0DFD8A1-2E9B-4CCC-BEDA-9AD113A915E1}"/>
                    </a:ext>
                  </a:extLst>
                </p:cNvPr>
                <p:cNvSpPr>
                  <a:spLocks/>
                </p:cNvSpPr>
                <p:nvPr/>
              </p:nvSpPr>
              <p:spPr bwMode="auto">
                <a:xfrm>
                  <a:off x="1264117" y="3475279"/>
                  <a:ext cx="25482" cy="50963"/>
                </a:xfrm>
                <a:custGeom>
                  <a:avLst/>
                  <a:gdLst>
                    <a:gd name="T0" fmla="*/ 1 w 34"/>
                    <a:gd name="T1" fmla="*/ 11 h 67"/>
                    <a:gd name="T2" fmla="*/ 18 w 34"/>
                    <a:gd name="T3" fmla="*/ 57 h 67"/>
                    <a:gd name="T4" fmla="*/ 32 w 34"/>
                    <a:gd name="T5" fmla="*/ 51 h 67"/>
                    <a:gd name="T6" fmla="*/ 16 w 34"/>
                    <a:gd name="T7" fmla="*/ 3 h 67"/>
                    <a:gd name="T8" fmla="*/ 1 w 34"/>
                    <a:gd name="T9" fmla="*/ 11 h 67"/>
                  </a:gdLst>
                  <a:ahLst/>
                  <a:cxnLst>
                    <a:cxn ang="0">
                      <a:pos x="T0" y="T1"/>
                    </a:cxn>
                    <a:cxn ang="0">
                      <a:pos x="T2" y="T3"/>
                    </a:cxn>
                    <a:cxn ang="0">
                      <a:pos x="T4" y="T5"/>
                    </a:cxn>
                    <a:cxn ang="0">
                      <a:pos x="T6" y="T7"/>
                    </a:cxn>
                    <a:cxn ang="0">
                      <a:pos x="T8" y="T9"/>
                    </a:cxn>
                  </a:cxnLst>
                  <a:rect l="0" t="0" r="r" b="b"/>
                  <a:pathLst>
                    <a:path w="34" h="67">
                      <a:moveTo>
                        <a:pt x="1" y="11"/>
                      </a:moveTo>
                      <a:cubicBezTo>
                        <a:pt x="1" y="11"/>
                        <a:pt x="18" y="51"/>
                        <a:pt x="18" y="57"/>
                      </a:cubicBezTo>
                      <a:cubicBezTo>
                        <a:pt x="18" y="63"/>
                        <a:pt x="29" y="67"/>
                        <a:pt x="32" y="51"/>
                      </a:cubicBezTo>
                      <a:cubicBezTo>
                        <a:pt x="34" y="35"/>
                        <a:pt x="33" y="5"/>
                        <a:pt x="16" y="3"/>
                      </a:cubicBezTo>
                      <a:cubicBezTo>
                        <a:pt x="0" y="0"/>
                        <a:pt x="1" y="11"/>
                        <a:pt x="1" y="11"/>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33" name="Freeform 468">
                  <a:extLst>
                    <a:ext uri="{FF2B5EF4-FFF2-40B4-BE49-F238E27FC236}">
                      <a16:creationId xmlns:a16="http://schemas.microsoft.com/office/drawing/2014/main" id="{D4EDA305-FB1E-435A-8051-7ACAA9309A56}"/>
                    </a:ext>
                  </a:extLst>
                </p:cNvPr>
                <p:cNvSpPr>
                  <a:spLocks/>
                </p:cNvSpPr>
                <p:nvPr/>
              </p:nvSpPr>
              <p:spPr bwMode="auto">
                <a:xfrm>
                  <a:off x="837299" y="3004664"/>
                  <a:ext cx="1231880" cy="1106860"/>
                </a:xfrm>
                <a:custGeom>
                  <a:avLst/>
                  <a:gdLst>
                    <a:gd name="T0" fmla="*/ 1624 w 1638"/>
                    <a:gd name="T1" fmla="*/ 609 h 1472"/>
                    <a:gd name="T2" fmla="*/ 1597 w 1638"/>
                    <a:gd name="T3" fmla="*/ 527 h 1472"/>
                    <a:gd name="T4" fmla="*/ 1556 w 1638"/>
                    <a:gd name="T5" fmla="*/ 469 h 1472"/>
                    <a:gd name="T6" fmla="*/ 1527 w 1638"/>
                    <a:gd name="T7" fmla="*/ 400 h 1472"/>
                    <a:gd name="T8" fmla="*/ 1469 w 1638"/>
                    <a:gd name="T9" fmla="*/ 349 h 1472"/>
                    <a:gd name="T10" fmla="*/ 1417 w 1638"/>
                    <a:gd name="T11" fmla="*/ 279 h 1472"/>
                    <a:gd name="T12" fmla="*/ 1310 w 1638"/>
                    <a:gd name="T13" fmla="*/ 185 h 1472"/>
                    <a:gd name="T14" fmla="*/ 1187 w 1638"/>
                    <a:gd name="T15" fmla="*/ 109 h 1472"/>
                    <a:gd name="T16" fmla="*/ 1132 w 1638"/>
                    <a:gd name="T17" fmla="*/ 79 h 1472"/>
                    <a:gd name="T18" fmla="*/ 1025 w 1638"/>
                    <a:gd name="T19" fmla="*/ 39 h 1472"/>
                    <a:gd name="T20" fmla="*/ 953 w 1638"/>
                    <a:gd name="T21" fmla="*/ 31 h 1472"/>
                    <a:gd name="T22" fmla="*/ 830 w 1638"/>
                    <a:gd name="T23" fmla="*/ 31 h 1472"/>
                    <a:gd name="T24" fmla="*/ 712 w 1638"/>
                    <a:gd name="T25" fmla="*/ 5 h 1472"/>
                    <a:gd name="T26" fmla="*/ 587 w 1638"/>
                    <a:gd name="T27" fmla="*/ 18 h 1472"/>
                    <a:gd name="T28" fmla="*/ 475 w 1638"/>
                    <a:gd name="T29" fmla="*/ 39 h 1472"/>
                    <a:gd name="T30" fmla="*/ 321 w 1638"/>
                    <a:gd name="T31" fmla="*/ 82 h 1472"/>
                    <a:gd name="T32" fmla="*/ 225 w 1638"/>
                    <a:gd name="T33" fmla="*/ 132 h 1472"/>
                    <a:gd name="T34" fmla="*/ 164 w 1638"/>
                    <a:gd name="T35" fmla="*/ 180 h 1472"/>
                    <a:gd name="T36" fmla="*/ 67 w 1638"/>
                    <a:gd name="T37" fmla="*/ 300 h 1472"/>
                    <a:gd name="T38" fmla="*/ 34 w 1638"/>
                    <a:gd name="T39" fmla="*/ 377 h 1472"/>
                    <a:gd name="T40" fmla="*/ 5 w 1638"/>
                    <a:gd name="T41" fmla="*/ 472 h 1472"/>
                    <a:gd name="T42" fmla="*/ 19 w 1638"/>
                    <a:gd name="T43" fmla="*/ 617 h 1472"/>
                    <a:gd name="T44" fmla="*/ 89 w 1638"/>
                    <a:gd name="T45" fmla="*/ 729 h 1472"/>
                    <a:gd name="T46" fmla="*/ 198 w 1638"/>
                    <a:gd name="T47" fmla="*/ 808 h 1472"/>
                    <a:gd name="T48" fmla="*/ 362 w 1638"/>
                    <a:gd name="T49" fmla="*/ 827 h 1472"/>
                    <a:gd name="T50" fmla="*/ 414 w 1638"/>
                    <a:gd name="T51" fmla="*/ 909 h 1472"/>
                    <a:gd name="T52" fmla="*/ 453 w 1638"/>
                    <a:gd name="T53" fmla="*/ 952 h 1472"/>
                    <a:gd name="T54" fmla="*/ 616 w 1638"/>
                    <a:gd name="T55" fmla="*/ 987 h 1472"/>
                    <a:gd name="T56" fmla="*/ 691 w 1638"/>
                    <a:gd name="T57" fmla="*/ 978 h 1472"/>
                    <a:gd name="T58" fmla="*/ 810 w 1638"/>
                    <a:gd name="T59" fmla="*/ 1144 h 1472"/>
                    <a:gd name="T60" fmla="*/ 913 w 1638"/>
                    <a:gd name="T61" fmla="*/ 1329 h 1472"/>
                    <a:gd name="T62" fmla="*/ 992 w 1638"/>
                    <a:gd name="T63" fmla="*/ 1461 h 1472"/>
                    <a:gd name="T64" fmla="*/ 1009 w 1638"/>
                    <a:gd name="T65" fmla="*/ 1454 h 1472"/>
                    <a:gd name="T66" fmla="*/ 1037 w 1638"/>
                    <a:gd name="T67" fmla="*/ 1447 h 1472"/>
                    <a:gd name="T68" fmla="*/ 1013 w 1638"/>
                    <a:gd name="T69" fmla="*/ 1313 h 1472"/>
                    <a:gd name="T70" fmla="*/ 1123 w 1638"/>
                    <a:gd name="T71" fmla="*/ 1273 h 1472"/>
                    <a:gd name="T72" fmla="*/ 1194 w 1638"/>
                    <a:gd name="T73" fmla="*/ 1277 h 1472"/>
                    <a:gd name="T74" fmla="*/ 1260 w 1638"/>
                    <a:gd name="T75" fmla="*/ 1269 h 1472"/>
                    <a:gd name="T76" fmla="*/ 1338 w 1638"/>
                    <a:gd name="T77" fmla="*/ 1241 h 1472"/>
                    <a:gd name="T78" fmla="*/ 1379 w 1638"/>
                    <a:gd name="T79" fmla="*/ 1208 h 1472"/>
                    <a:gd name="T80" fmla="*/ 1418 w 1638"/>
                    <a:gd name="T81" fmla="*/ 1151 h 1472"/>
                    <a:gd name="T82" fmla="*/ 1456 w 1638"/>
                    <a:gd name="T83" fmla="*/ 1070 h 1472"/>
                    <a:gd name="T84" fmla="*/ 1469 w 1638"/>
                    <a:gd name="T85" fmla="*/ 999 h 1472"/>
                    <a:gd name="T86" fmla="*/ 1527 w 1638"/>
                    <a:gd name="T87" fmla="*/ 981 h 1472"/>
                    <a:gd name="T88" fmla="*/ 1600 w 1638"/>
                    <a:gd name="T89" fmla="*/ 837 h 1472"/>
                    <a:gd name="T90" fmla="*/ 1631 w 1638"/>
                    <a:gd name="T91" fmla="*/ 732 h 1472"/>
                    <a:gd name="T92" fmla="*/ 1632 w 1638"/>
                    <a:gd name="T93" fmla="*/ 658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38" h="1472">
                      <a:moveTo>
                        <a:pt x="1632" y="658"/>
                      </a:move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351" y="828"/>
                        <a:pt x="357" y="828"/>
                        <a:pt x="362" y="827"/>
                      </a:cubicBezTo>
                      <a:cubicBezTo>
                        <a:pt x="363" y="833"/>
                        <a:pt x="363" y="840"/>
                        <a:pt x="363" y="847"/>
                      </a:cubicBezTo>
                      <a:cubicBezTo>
                        <a:pt x="364" y="880"/>
                        <a:pt x="393" y="900"/>
                        <a:pt x="414" y="909"/>
                      </a:cubicBezTo>
                      <a:cubicBezTo>
                        <a:pt x="435" y="919"/>
                        <a:pt x="434" y="925"/>
                        <a:pt x="434" y="925"/>
                      </a:cubicBezTo>
                      <a:cubicBezTo>
                        <a:pt x="437" y="930"/>
                        <a:pt x="431" y="935"/>
                        <a:pt x="453" y="952"/>
                      </a:cubicBezTo>
                      <a:cubicBezTo>
                        <a:pt x="507" y="993"/>
                        <a:pt x="556" y="987"/>
                        <a:pt x="569" y="985"/>
                      </a:cubicBezTo>
                      <a:cubicBezTo>
                        <a:pt x="582" y="984"/>
                        <a:pt x="598" y="982"/>
                        <a:pt x="616" y="987"/>
                      </a:cubicBezTo>
                      <a:cubicBezTo>
                        <a:pt x="634" y="993"/>
                        <a:pt x="664" y="988"/>
                        <a:pt x="675" y="984"/>
                      </a:cubicBezTo>
                      <a:cubicBezTo>
                        <a:pt x="679" y="982"/>
                        <a:pt x="685" y="980"/>
                        <a:pt x="691" y="978"/>
                      </a:cubicBezTo>
                      <a:cubicBezTo>
                        <a:pt x="688" y="1056"/>
                        <a:pt x="720" y="1103"/>
                        <a:pt x="720" y="1103"/>
                      </a:cubicBezTo>
                      <a:cubicBezTo>
                        <a:pt x="746" y="1159"/>
                        <a:pt x="810" y="1144"/>
                        <a:pt x="810" y="1144"/>
                      </a:cubicBezTo>
                      <a:cubicBezTo>
                        <a:pt x="799" y="1230"/>
                        <a:pt x="846" y="1239"/>
                        <a:pt x="862" y="1255"/>
                      </a:cubicBezTo>
                      <a:cubicBezTo>
                        <a:pt x="877" y="1271"/>
                        <a:pt x="898" y="1294"/>
                        <a:pt x="913" y="1329"/>
                      </a:cubicBezTo>
                      <a:cubicBezTo>
                        <a:pt x="928" y="1364"/>
                        <a:pt x="947" y="1472"/>
                        <a:pt x="947" y="1472"/>
                      </a:cubicBezTo>
                      <a:cubicBezTo>
                        <a:pt x="947" y="1472"/>
                        <a:pt x="992" y="1462"/>
                        <a:pt x="992" y="1461"/>
                      </a:cubicBezTo>
                      <a:cubicBezTo>
                        <a:pt x="992" y="1461"/>
                        <a:pt x="991" y="1460"/>
                        <a:pt x="991" y="1460"/>
                      </a:cubicBezTo>
                      <a:cubicBezTo>
                        <a:pt x="1009" y="1454"/>
                        <a:pt x="1009" y="1454"/>
                        <a:pt x="1009" y="1454"/>
                      </a:cubicBezTo>
                      <a:cubicBezTo>
                        <a:pt x="1009" y="1455"/>
                        <a:pt x="1009" y="1455"/>
                        <a:pt x="1009" y="1456"/>
                      </a:cubicBezTo>
                      <a:cubicBezTo>
                        <a:pt x="1012" y="1472"/>
                        <a:pt x="1037" y="1447"/>
                        <a:pt x="1037" y="1447"/>
                      </a:cubicBezTo>
                      <a:cubicBezTo>
                        <a:pt x="1037" y="1447"/>
                        <a:pt x="1027" y="1409"/>
                        <a:pt x="1021" y="1372"/>
                      </a:cubicBezTo>
                      <a:cubicBezTo>
                        <a:pt x="1018" y="1354"/>
                        <a:pt x="1015" y="1333"/>
                        <a:pt x="1013" y="1313"/>
                      </a:cubicBezTo>
                      <a:cubicBezTo>
                        <a:pt x="1061" y="1301"/>
                        <a:pt x="1081" y="1271"/>
                        <a:pt x="1081" y="1271"/>
                      </a:cubicBezTo>
                      <a:cubicBezTo>
                        <a:pt x="1102" y="1283"/>
                        <a:pt x="1123" y="1273"/>
                        <a:pt x="1123" y="1273"/>
                      </a:cubicBezTo>
                      <a:cubicBezTo>
                        <a:pt x="1137" y="1287"/>
                        <a:pt x="1157" y="1278"/>
                        <a:pt x="1157" y="1278"/>
                      </a:cubicBezTo>
                      <a:cubicBezTo>
                        <a:pt x="1177" y="1292"/>
                        <a:pt x="1194" y="1277"/>
                        <a:pt x="1194" y="1277"/>
                      </a:cubicBezTo>
                      <a:cubicBezTo>
                        <a:pt x="1206" y="1288"/>
                        <a:pt x="1222" y="1277"/>
                        <a:pt x="1222" y="1277"/>
                      </a:cubicBezTo>
                      <a:cubicBezTo>
                        <a:pt x="1247" y="1289"/>
                        <a:pt x="1260" y="1269"/>
                        <a:pt x="1260" y="1269"/>
                      </a:cubicBezTo>
                      <a:cubicBezTo>
                        <a:pt x="1288" y="1276"/>
                        <a:pt x="1286" y="1260"/>
                        <a:pt x="1292" y="1262"/>
                      </a:cubicBezTo>
                      <a:cubicBezTo>
                        <a:pt x="1329" y="1269"/>
                        <a:pt x="1338" y="1241"/>
                        <a:pt x="1338" y="1241"/>
                      </a:cubicBezTo>
                      <a:cubicBezTo>
                        <a:pt x="1364" y="1247"/>
                        <a:pt x="1371" y="1230"/>
                        <a:pt x="1371" y="1222"/>
                      </a:cubicBezTo>
                      <a:cubicBezTo>
                        <a:pt x="1371" y="1214"/>
                        <a:pt x="1379" y="1208"/>
                        <a:pt x="1379" y="1208"/>
                      </a:cubicBezTo>
                      <a:cubicBezTo>
                        <a:pt x="1426" y="1199"/>
                        <a:pt x="1406" y="1180"/>
                        <a:pt x="1412" y="1178"/>
                      </a:cubicBezTo>
                      <a:cubicBezTo>
                        <a:pt x="1430" y="1169"/>
                        <a:pt x="1418" y="1151"/>
                        <a:pt x="1418" y="1151"/>
                      </a:cubicBezTo>
                      <a:cubicBezTo>
                        <a:pt x="1449" y="1141"/>
                        <a:pt x="1439" y="1113"/>
                        <a:pt x="1439" y="1113"/>
                      </a:cubicBezTo>
                      <a:cubicBezTo>
                        <a:pt x="1478" y="1094"/>
                        <a:pt x="1453" y="1073"/>
                        <a:pt x="1456" y="1070"/>
                      </a:cubicBezTo>
                      <a:cubicBezTo>
                        <a:pt x="1485" y="1047"/>
                        <a:pt x="1459" y="1029"/>
                        <a:pt x="1461" y="1028"/>
                      </a:cubicBezTo>
                      <a:cubicBezTo>
                        <a:pt x="1476" y="1019"/>
                        <a:pt x="1469" y="999"/>
                        <a:pt x="1469" y="999"/>
                      </a:cubicBezTo>
                      <a:cubicBezTo>
                        <a:pt x="1468" y="998"/>
                        <a:pt x="1468" y="998"/>
                        <a:pt x="1468" y="998"/>
                      </a:cubicBezTo>
                      <a:cubicBezTo>
                        <a:pt x="1486" y="1001"/>
                        <a:pt x="1507" y="999"/>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lose/>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grpSp>
          <p:sp>
            <p:nvSpPr>
              <p:cNvPr id="611" name="Rectangle 610">
                <a:extLst>
                  <a:ext uri="{FF2B5EF4-FFF2-40B4-BE49-F238E27FC236}">
                    <a16:creationId xmlns:a16="http://schemas.microsoft.com/office/drawing/2014/main" id="{847A949A-E4B2-4536-AFFD-CFAEB2D7336A}"/>
                  </a:ext>
                </a:extLst>
              </p:cNvPr>
              <p:cNvSpPr/>
              <p:nvPr/>
            </p:nvSpPr>
            <p:spPr>
              <a:xfrm>
                <a:off x="1727292" y="4772163"/>
                <a:ext cx="222977" cy="19389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a:extLst>
                <a:ext uri="{FF2B5EF4-FFF2-40B4-BE49-F238E27FC236}">
                  <a16:creationId xmlns:a16="http://schemas.microsoft.com/office/drawing/2014/main" id="{7790C29B-E2E7-56B1-D0EA-D79839E90EBC}"/>
                </a:ext>
              </a:extLst>
            </p:cNvPr>
            <p:cNvGrpSpPr/>
            <p:nvPr/>
          </p:nvGrpSpPr>
          <p:grpSpPr>
            <a:xfrm>
              <a:off x="1006642" y="1350673"/>
              <a:ext cx="1535935" cy="1346931"/>
              <a:chOff x="910085" y="1242024"/>
              <a:chExt cx="1535935" cy="1346931"/>
            </a:xfrm>
          </p:grpSpPr>
          <p:sp>
            <p:nvSpPr>
              <p:cNvPr id="5" name="Rectangle 4">
                <a:extLst>
                  <a:ext uri="{FF2B5EF4-FFF2-40B4-BE49-F238E27FC236}">
                    <a16:creationId xmlns:a16="http://schemas.microsoft.com/office/drawing/2014/main" id="{E369CEB4-6B76-47C7-950B-7D1E1A7EBB9B}"/>
                  </a:ext>
                </a:extLst>
              </p:cNvPr>
              <p:cNvSpPr/>
              <p:nvPr/>
            </p:nvSpPr>
            <p:spPr>
              <a:xfrm>
                <a:off x="910085" y="1242024"/>
                <a:ext cx="1535935" cy="1346931"/>
              </a:xfrm>
              <a:prstGeom prst="rect">
                <a:avLst/>
              </a:prstGeom>
              <a:solidFill>
                <a:schemeClr val="bg1"/>
              </a:solidFill>
              <a:ln w="19050">
                <a:solidFill>
                  <a:schemeClr val="tx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 name="Group 2">
                <a:extLst>
                  <a:ext uri="{FF2B5EF4-FFF2-40B4-BE49-F238E27FC236}">
                    <a16:creationId xmlns:a16="http://schemas.microsoft.com/office/drawing/2014/main" id="{212CFAB8-AD9B-4F8A-A46E-AD6A69D9B194}"/>
                  </a:ext>
                </a:extLst>
              </p:cNvPr>
              <p:cNvGrpSpPr/>
              <p:nvPr/>
            </p:nvGrpSpPr>
            <p:grpSpPr>
              <a:xfrm rot="19661427">
                <a:off x="946975" y="1307490"/>
                <a:ext cx="1437652" cy="1076233"/>
                <a:chOff x="-1184890" y="3187709"/>
                <a:chExt cx="1437652" cy="1076233"/>
              </a:xfrm>
            </p:grpSpPr>
            <p:sp>
              <p:nvSpPr>
                <p:cNvPr id="597" name="Oval 596">
                  <a:extLst>
                    <a:ext uri="{FF2B5EF4-FFF2-40B4-BE49-F238E27FC236}">
                      <a16:creationId xmlns:a16="http://schemas.microsoft.com/office/drawing/2014/main" id="{4FF662B3-6605-42E3-B661-7DC2DE15D26C}"/>
                    </a:ext>
                  </a:extLst>
                </p:cNvPr>
                <p:cNvSpPr/>
                <p:nvPr/>
              </p:nvSpPr>
              <p:spPr>
                <a:xfrm rot="300574">
                  <a:off x="-1184890" y="3187709"/>
                  <a:ext cx="1437652" cy="1076233"/>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8" name="Oval 597">
                  <a:extLst>
                    <a:ext uri="{FF2B5EF4-FFF2-40B4-BE49-F238E27FC236}">
                      <a16:creationId xmlns:a16="http://schemas.microsoft.com/office/drawing/2014/main" id="{744F34C4-E183-4C4F-A8ED-E0A93EC526B4}"/>
                    </a:ext>
                  </a:extLst>
                </p:cNvPr>
                <p:cNvSpPr/>
                <p:nvPr/>
              </p:nvSpPr>
              <p:spPr>
                <a:xfrm>
                  <a:off x="-1026537" y="3393673"/>
                  <a:ext cx="453096" cy="4762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9" name="Freeform 10">
                  <a:extLst>
                    <a:ext uri="{FF2B5EF4-FFF2-40B4-BE49-F238E27FC236}">
                      <a16:creationId xmlns:a16="http://schemas.microsoft.com/office/drawing/2014/main" id="{1813933B-278C-454D-8824-6998E6ED9A37}"/>
                    </a:ext>
                  </a:extLst>
                </p:cNvPr>
                <p:cNvSpPr>
                  <a:spLocks/>
                </p:cNvSpPr>
                <p:nvPr/>
              </p:nvSpPr>
              <p:spPr bwMode="auto">
                <a:xfrm>
                  <a:off x="-561496" y="3336818"/>
                  <a:ext cx="332058" cy="219315"/>
                </a:xfrm>
                <a:custGeom>
                  <a:avLst/>
                  <a:gdLst>
                    <a:gd name="T0" fmla="*/ 1923 w 1930"/>
                    <a:gd name="T1" fmla="*/ 484 h 1083"/>
                    <a:gd name="T2" fmla="*/ 1898 w 1930"/>
                    <a:gd name="T3" fmla="*/ 403 h 1083"/>
                    <a:gd name="T4" fmla="*/ 1852 w 1930"/>
                    <a:gd name="T5" fmla="*/ 327 h 1083"/>
                    <a:gd name="T6" fmla="*/ 1787 w 1930"/>
                    <a:gd name="T7" fmla="*/ 257 h 1083"/>
                    <a:gd name="T8" fmla="*/ 1706 w 1930"/>
                    <a:gd name="T9" fmla="*/ 193 h 1083"/>
                    <a:gd name="T10" fmla="*/ 1610 w 1930"/>
                    <a:gd name="T11" fmla="*/ 137 h 1083"/>
                    <a:gd name="T12" fmla="*/ 1500 w 1930"/>
                    <a:gd name="T13" fmla="*/ 89 h 1083"/>
                    <a:gd name="T14" fmla="*/ 1379 w 1930"/>
                    <a:gd name="T15" fmla="*/ 51 h 1083"/>
                    <a:gd name="T16" fmla="*/ 1248 w 1930"/>
                    <a:gd name="T17" fmla="*/ 23 h 1083"/>
                    <a:gd name="T18" fmla="*/ 1109 w 1930"/>
                    <a:gd name="T19" fmla="*/ 5 h 1083"/>
                    <a:gd name="T20" fmla="*/ 963 w 1930"/>
                    <a:gd name="T21" fmla="*/ 0 h 1083"/>
                    <a:gd name="T22" fmla="*/ 864 w 1930"/>
                    <a:gd name="T23" fmla="*/ 2 h 1083"/>
                    <a:gd name="T24" fmla="*/ 721 w 1930"/>
                    <a:gd name="T25" fmla="*/ 17 h 1083"/>
                    <a:gd name="T26" fmla="*/ 586 w 1930"/>
                    <a:gd name="T27" fmla="*/ 44 h 1083"/>
                    <a:gd name="T28" fmla="*/ 461 w 1930"/>
                    <a:gd name="T29" fmla="*/ 81 h 1083"/>
                    <a:gd name="T30" fmla="*/ 348 w 1930"/>
                    <a:gd name="T31" fmla="*/ 126 h 1083"/>
                    <a:gd name="T32" fmla="*/ 247 w 1930"/>
                    <a:gd name="T33" fmla="*/ 180 h 1083"/>
                    <a:gd name="T34" fmla="*/ 162 w 1930"/>
                    <a:gd name="T35" fmla="*/ 242 h 1083"/>
                    <a:gd name="T36" fmla="*/ 93 w 1930"/>
                    <a:gd name="T37" fmla="*/ 310 h 1083"/>
                    <a:gd name="T38" fmla="*/ 41 w 1930"/>
                    <a:gd name="T39" fmla="*/ 383 h 1083"/>
                    <a:gd name="T40" fmla="*/ 10 w 1930"/>
                    <a:gd name="T41" fmla="*/ 462 h 1083"/>
                    <a:gd name="T42" fmla="*/ 0 w 1930"/>
                    <a:gd name="T43" fmla="*/ 544 h 1083"/>
                    <a:gd name="T44" fmla="*/ 5 w 1930"/>
                    <a:gd name="T45" fmla="*/ 599 h 1083"/>
                    <a:gd name="T46" fmla="*/ 30 w 1930"/>
                    <a:gd name="T47" fmla="*/ 680 h 1083"/>
                    <a:gd name="T48" fmla="*/ 77 w 1930"/>
                    <a:gd name="T49" fmla="*/ 756 h 1083"/>
                    <a:gd name="T50" fmla="*/ 141 w 1930"/>
                    <a:gd name="T51" fmla="*/ 826 h 1083"/>
                    <a:gd name="T52" fmla="*/ 222 w 1930"/>
                    <a:gd name="T53" fmla="*/ 890 h 1083"/>
                    <a:gd name="T54" fmla="*/ 319 w 1930"/>
                    <a:gd name="T55" fmla="*/ 946 h 1083"/>
                    <a:gd name="T56" fmla="*/ 428 w 1930"/>
                    <a:gd name="T57" fmla="*/ 994 h 1083"/>
                    <a:gd name="T58" fmla="*/ 549 w 1930"/>
                    <a:gd name="T59" fmla="*/ 1032 h 1083"/>
                    <a:gd name="T60" fmla="*/ 680 w 1930"/>
                    <a:gd name="T61" fmla="*/ 1060 h 1083"/>
                    <a:gd name="T62" fmla="*/ 820 w 1930"/>
                    <a:gd name="T63" fmla="*/ 1078 h 1083"/>
                    <a:gd name="T64" fmla="*/ 965 w 1930"/>
                    <a:gd name="T65" fmla="*/ 1083 h 1083"/>
                    <a:gd name="T66" fmla="*/ 1064 w 1930"/>
                    <a:gd name="T67" fmla="*/ 1081 h 1083"/>
                    <a:gd name="T68" fmla="*/ 1207 w 1930"/>
                    <a:gd name="T69" fmla="*/ 1066 h 1083"/>
                    <a:gd name="T70" fmla="*/ 1342 w 1930"/>
                    <a:gd name="T71" fmla="*/ 1039 h 1083"/>
                    <a:gd name="T72" fmla="*/ 1467 w 1930"/>
                    <a:gd name="T73" fmla="*/ 1004 h 1083"/>
                    <a:gd name="T74" fmla="*/ 1581 w 1930"/>
                    <a:gd name="T75" fmla="*/ 957 h 1083"/>
                    <a:gd name="T76" fmla="*/ 1681 w 1930"/>
                    <a:gd name="T77" fmla="*/ 903 h 1083"/>
                    <a:gd name="T78" fmla="*/ 1767 w 1930"/>
                    <a:gd name="T79" fmla="*/ 842 h 1083"/>
                    <a:gd name="T80" fmla="*/ 1835 w 1930"/>
                    <a:gd name="T81" fmla="*/ 773 h 1083"/>
                    <a:gd name="T82" fmla="*/ 1887 w 1930"/>
                    <a:gd name="T83" fmla="*/ 700 h 1083"/>
                    <a:gd name="T84" fmla="*/ 1919 w 1930"/>
                    <a:gd name="T85" fmla="*/ 621 h 1083"/>
                    <a:gd name="T86" fmla="*/ 1930 w 1930"/>
                    <a:gd name="T87" fmla="*/ 539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083">
                      <a:moveTo>
                        <a:pt x="1928" y="511"/>
                      </a:moveTo>
                      <a:lnTo>
                        <a:pt x="1928" y="511"/>
                      </a:lnTo>
                      <a:lnTo>
                        <a:pt x="1923" y="484"/>
                      </a:lnTo>
                      <a:lnTo>
                        <a:pt x="1917" y="456"/>
                      </a:lnTo>
                      <a:lnTo>
                        <a:pt x="1909" y="429"/>
                      </a:lnTo>
                      <a:lnTo>
                        <a:pt x="1898" y="403"/>
                      </a:lnTo>
                      <a:lnTo>
                        <a:pt x="1885" y="377"/>
                      </a:lnTo>
                      <a:lnTo>
                        <a:pt x="1870" y="351"/>
                      </a:lnTo>
                      <a:lnTo>
                        <a:pt x="1852" y="327"/>
                      </a:lnTo>
                      <a:lnTo>
                        <a:pt x="1833" y="304"/>
                      </a:lnTo>
                      <a:lnTo>
                        <a:pt x="1811" y="279"/>
                      </a:lnTo>
                      <a:lnTo>
                        <a:pt x="1787" y="257"/>
                      </a:lnTo>
                      <a:lnTo>
                        <a:pt x="1762" y="235"/>
                      </a:lnTo>
                      <a:lnTo>
                        <a:pt x="1735" y="214"/>
                      </a:lnTo>
                      <a:lnTo>
                        <a:pt x="1706" y="193"/>
                      </a:lnTo>
                      <a:lnTo>
                        <a:pt x="1676" y="174"/>
                      </a:lnTo>
                      <a:lnTo>
                        <a:pt x="1644" y="155"/>
                      </a:lnTo>
                      <a:lnTo>
                        <a:pt x="1610" y="137"/>
                      </a:lnTo>
                      <a:lnTo>
                        <a:pt x="1575" y="121"/>
                      </a:lnTo>
                      <a:lnTo>
                        <a:pt x="1538" y="105"/>
                      </a:lnTo>
                      <a:lnTo>
                        <a:pt x="1500" y="89"/>
                      </a:lnTo>
                      <a:lnTo>
                        <a:pt x="1461" y="76"/>
                      </a:lnTo>
                      <a:lnTo>
                        <a:pt x="1421" y="63"/>
                      </a:lnTo>
                      <a:lnTo>
                        <a:pt x="1379" y="51"/>
                      </a:lnTo>
                      <a:lnTo>
                        <a:pt x="1336" y="40"/>
                      </a:lnTo>
                      <a:lnTo>
                        <a:pt x="1293" y="31"/>
                      </a:lnTo>
                      <a:lnTo>
                        <a:pt x="1248" y="23"/>
                      </a:lnTo>
                      <a:lnTo>
                        <a:pt x="1203" y="16"/>
                      </a:lnTo>
                      <a:lnTo>
                        <a:pt x="1156" y="9"/>
                      </a:lnTo>
                      <a:lnTo>
                        <a:pt x="1109" y="5"/>
                      </a:lnTo>
                      <a:lnTo>
                        <a:pt x="1062" y="2"/>
                      </a:lnTo>
                      <a:lnTo>
                        <a:pt x="1013" y="0"/>
                      </a:lnTo>
                      <a:lnTo>
                        <a:pt x="963" y="0"/>
                      </a:lnTo>
                      <a:lnTo>
                        <a:pt x="914" y="0"/>
                      </a:lnTo>
                      <a:lnTo>
                        <a:pt x="914" y="0"/>
                      </a:lnTo>
                      <a:lnTo>
                        <a:pt x="864" y="2"/>
                      </a:lnTo>
                      <a:lnTo>
                        <a:pt x="816" y="6"/>
                      </a:lnTo>
                      <a:lnTo>
                        <a:pt x="767" y="11"/>
                      </a:lnTo>
                      <a:lnTo>
                        <a:pt x="721" y="17"/>
                      </a:lnTo>
                      <a:lnTo>
                        <a:pt x="675" y="25"/>
                      </a:lnTo>
                      <a:lnTo>
                        <a:pt x="630" y="34"/>
                      </a:lnTo>
                      <a:lnTo>
                        <a:pt x="586" y="44"/>
                      </a:lnTo>
                      <a:lnTo>
                        <a:pt x="543" y="55"/>
                      </a:lnTo>
                      <a:lnTo>
                        <a:pt x="501" y="67"/>
                      </a:lnTo>
                      <a:lnTo>
                        <a:pt x="461" y="81"/>
                      </a:lnTo>
                      <a:lnTo>
                        <a:pt x="422" y="94"/>
                      </a:lnTo>
                      <a:lnTo>
                        <a:pt x="384" y="110"/>
                      </a:lnTo>
                      <a:lnTo>
                        <a:pt x="348" y="126"/>
                      </a:lnTo>
                      <a:lnTo>
                        <a:pt x="312" y="143"/>
                      </a:lnTo>
                      <a:lnTo>
                        <a:pt x="279" y="161"/>
                      </a:lnTo>
                      <a:lnTo>
                        <a:pt x="247" y="180"/>
                      </a:lnTo>
                      <a:lnTo>
                        <a:pt x="217" y="199"/>
                      </a:lnTo>
                      <a:lnTo>
                        <a:pt x="189" y="220"/>
                      </a:lnTo>
                      <a:lnTo>
                        <a:pt x="162" y="242"/>
                      </a:lnTo>
                      <a:lnTo>
                        <a:pt x="137" y="264"/>
                      </a:lnTo>
                      <a:lnTo>
                        <a:pt x="114" y="286"/>
                      </a:lnTo>
                      <a:lnTo>
                        <a:pt x="93" y="310"/>
                      </a:lnTo>
                      <a:lnTo>
                        <a:pt x="73" y="334"/>
                      </a:lnTo>
                      <a:lnTo>
                        <a:pt x="57" y="359"/>
                      </a:lnTo>
                      <a:lnTo>
                        <a:pt x="41" y="383"/>
                      </a:lnTo>
                      <a:lnTo>
                        <a:pt x="29" y="409"/>
                      </a:lnTo>
                      <a:lnTo>
                        <a:pt x="18" y="435"/>
                      </a:lnTo>
                      <a:lnTo>
                        <a:pt x="10" y="462"/>
                      </a:lnTo>
                      <a:lnTo>
                        <a:pt x="5" y="489"/>
                      </a:lnTo>
                      <a:lnTo>
                        <a:pt x="1" y="516"/>
                      </a:lnTo>
                      <a:lnTo>
                        <a:pt x="0" y="544"/>
                      </a:lnTo>
                      <a:lnTo>
                        <a:pt x="1" y="572"/>
                      </a:lnTo>
                      <a:lnTo>
                        <a:pt x="1" y="572"/>
                      </a:lnTo>
                      <a:lnTo>
                        <a:pt x="5" y="599"/>
                      </a:lnTo>
                      <a:lnTo>
                        <a:pt x="11" y="627"/>
                      </a:lnTo>
                      <a:lnTo>
                        <a:pt x="19" y="654"/>
                      </a:lnTo>
                      <a:lnTo>
                        <a:pt x="30" y="680"/>
                      </a:lnTo>
                      <a:lnTo>
                        <a:pt x="44" y="706"/>
                      </a:lnTo>
                      <a:lnTo>
                        <a:pt x="59" y="732"/>
                      </a:lnTo>
                      <a:lnTo>
                        <a:pt x="77" y="756"/>
                      </a:lnTo>
                      <a:lnTo>
                        <a:pt x="97" y="781"/>
                      </a:lnTo>
                      <a:lnTo>
                        <a:pt x="117" y="804"/>
                      </a:lnTo>
                      <a:lnTo>
                        <a:pt x="141" y="826"/>
                      </a:lnTo>
                      <a:lnTo>
                        <a:pt x="167" y="848"/>
                      </a:lnTo>
                      <a:lnTo>
                        <a:pt x="194" y="869"/>
                      </a:lnTo>
                      <a:lnTo>
                        <a:pt x="222" y="890"/>
                      </a:lnTo>
                      <a:lnTo>
                        <a:pt x="252" y="909"/>
                      </a:lnTo>
                      <a:lnTo>
                        <a:pt x="285" y="928"/>
                      </a:lnTo>
                      <a:lnTo>
                        <a:pt x="319" y="946"/>
                      </a:lnTo>
                      <a:lnTo>
                        <a:pt x="354" y="963"/>
                      </a:lnTo>
                      <a:lnTo>
                        <a:pt x="390" y="979"/>
                      </a:lnTo>
                      <a:lnTo>
                        <a:pt x="428" y="994"/>
                      </a:lnTo>
                      <a:lnTo>
                        <a:pt x="467" y="1007"/>
                      </a:lnTo>
                      <a:lnTo>
                        <a:pt x="507" y="1021"/>
                      </a:lnTo>
                      <a:lnTo>
                        <a:pt x="549" y="1032"/>
                      </a:lnTo>
                      <a:lnTo>
                        <a:pt x="592" y="1043"/>
                      </a:lnTo>
                      <a:lnTo>
                        <a:pt x="636" y="1053"/>
                      </a:lnTo>
                      <a:lnTo>
                        <a:pt x="680" y="1060"/>
                      </a:lnTo>
                      <a:lnTo>
                        <a:pt x="726" y="1067"/>
                      </a:lnTo>
                      <a:lnTo>
                        <a:pt x="772" y="1074"/>
                      </a:lnTo>
                      <a:lnTo>
                        <a:pt x="820" y="1078"/>
                      </a:lnTo>
                      <a:lnTo>
                        <a:pt x="868" y="1081"/>
                      </a:lnTo>
                      <a:lnTo>
                        <a:pt x="916" y="1083"/>
                      </a:lnTo>
                      <a:lnTo>
                        <a:pt x="965" y="1083"/>
                      </a:lnTo>
                      <a:lnTo>
                        <a:pt x="1015" y="1083"/>
                      </a:lnTo>
                      <a:lnTo>
                        <a:pt x="1015" y="1083"/>
                      </a:lnTo>
                      <a:lnTo>
                        <a:pt x="1064" y="1081"/>
                      </a:lnTo>
                      <a:lnTo>
                        <a:pt x="1113" y="1077"/>
                      </a:lnTo>
                      <a:lnTo>
                        <a:pt x="1161" y="1072"/>
                      </a:lnTo>
                      <a:lnTo>
                        <a:pt x="1207" y="1066"/>
                      </a:lnTo>
                      <a:lnTo>
                        <a:pt x="1254" y="1059"/>
                      </a:lnTo>
                      <a:lnTo>
                        <a:pt x="1298" y="1049"/>
                      </a:lnTo>
                      <a:lnTo>
                        <a:pt x="1342" y="1039"/>
                      </a:lnTo>
                      <a:lnTo>
                        <a:pt x="1385" y="1028"/>
                      </a:lnTo>
                      <a:lnTo>
                        <a:pt x="1427" y="1016"/>
                      </a:lnTo>
                      <a:lnTo>
                        <a:pt x="1467" y="1004"/>
                      </a:lnTo>
                      <a:lnTo>
                        <a:pt x="1507" y="989"/>
                      </a:lnTo>
                      <a:lnTo>
                        <a:pt x="1545" y="973"/>
                      </a:lnTo>
                      <a:lnTo>
                        <a:pt x="1581" y="957"/>
                      </a:lnTo>
                      <a:lnTo>
                        <a:pt x="1616" y="940"/>
                      </a:lnTo>
                      <a:lnTo>
                        <a:pt x="1649" y="922"/>
                      </a:lnTo>
                      <a:lnTo>
                        <a:pt x="1681" y="903"/>
                      </a:lnTo>
                      <a:lnTo>
                        <a:pt x="1711" y="884"/>
                      </a:lnTo>
                      <a:lnTo>
                        <a:pt x="1740" y="863"/>
                      </a:lnTo>
                      <a:lnTo>
                        <a:pt x="1767" y="842"/>
                      </a:lnTo>
                      <a:lnTo>
                        <a:pt x="1791" y="820"/>
                      </a:lnTo>
                      <a:lnTo>
                        <a:pt x="1814" y="797"/>
                      </a:lnTo>
                      <a:lnTo>
                        <a:pt x="1835" y="773"/>
                      </a:lnTo>
                      <a:lnTo>
                        <a:pt x="1855" y="749"/>
                      </a:lnTo>
                      <a:lnTo>
                        <a:pt x="1872" y="724"/>
                      </a:lnTo>
                      <a:lnTo>
                        <a:pt x="1887" y="700"/>
                      </a:lnTo>
                      <a:lnTo>
                        <a:pt x="1899" y="674"/>
                      </a:lnTo>
                      <a:lnTo>
                        <a:pt x="1910" y="648"/>
                      </a:lnTo>
                      <a:lnTo>
                        <a:pt x="1919" y="621"/>
                      </a:lnTo>
                      <a:lnTo>
                        <a:pt x="1925" y="594"/>
                      </a:lnTo>
                      <a:lnTo>
                        <a:pt x="1928" y="567"/>
                      </a:lnTo>
                      <a:lnTo>
                        <a:pt x="1930" y="539"/>
                      </a:lnTo>
                      <a:lnTo>
                        <a:pt x="1928" y="511"/>
                      </a:lnTo>
                      <a:lnTo>
                        <a:pt x="1928" y="511"/>
                      </a:lnTo>
                      <a:close/>
                    </a:path>
                  </a:pathLst>
                </a:custGeom>
                <a:solidFill>
                  <a:schemeClr val="accent2"/>
                </a:solidFill>
                <a:ln w="7938">
                  <a:noFill/>
                  <a:prstDash val="solid"/>
                  <a:round/>
                  <a:headEnd/>
                  <a:tailEnd/>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00" name="Freeform 11">
                  <a:extLst>
                    <a:ext uri="{FF2B5EF4-FFF2-40B4-BE49-F238E27FC236}">
                      <a16:creationId xmlns:a16="http://schemas.microsoft.com/office/drawing/2014/main" id="{E1AE6330-3611-4477-AB0E-08D4785F1F00}"/>
                    </a:ext>
                  </a:extLst>
                </p:cNvPr>
                <p:cNvSpPr>
                  <a:spLocks/>
                </p:cNvSpPr>
                <p:nvPr/>
              </p:nvSpPr>
              <p:spPr bwMode="auto">
                <a:xfrm>
                  <a:off x="-538441" y="3361097"/>
                  <a:ext cx="291798" cy="176828"/>
                </a:xfrm>
                <a:custGeom>
                  <a:avLst/>
                  <a:gdLst>
                    <a:gd name="T0" fmla="*/ 1 w 1697"/>
                    <a:gd name="T1" fmla="*/ 375 h 874"/>
                    <a:gd name="T2" fmla="*/ 38 w 1697"/>
                    <a:gd name="T3" fmla="*/ 545 h 874"/>
                    <a:gd name="T4" fmla="*/ 152 w 1697"/>
                    <a:gd name="T5" fmla="*/ 684 h 874"/>
                    <a:gd name="T6" fmla="*/ 304 w 1697"/>
                    <a:gd name="T7" fmla="*/ 729 h 874"/>
                    <a:gd name="T8" fmla="*/ 341 w 1697"/>
                    <a:gd name="T9" fmla="*/ 630 h 874"/>
                    <a:gd name="T10" fmla="*/ 305 w 1697"/>
                    <a:gd name="T11" fmla="*/ 285 h 874"/>
                    <a:gd name="T12" fmla="*/ 342 w 1697"/>
                    <a:gd name="T13" fmla="*/ 208 h 874"/>
                    <a:gd name="T14" fmla="*/ 389 w 1697"/>
                    <a:gd name="T15" fmla="*/ 262 h 874"/>
                    <a:gd name="T16" fmla="*/ 439 w 1697"/>
                    <a:gd name="T17" fmla="*/ 625 h 874"/>
                    <a:gd name="T18" fmla="*/ 498 w 1697"/>
                    <a:gd name="T19" fmla="*/ 808 h 874"/>
                    <a:gd name="T20" fmla="*/ 602 w 1697"/>
                    <a:gd name="T21" fmla="*/ 870 h 874"/>
                    <a:gd name="T22" fmla="*/ 801 w 1697"/>
                    <a:gd name="T23" fmla="*/ 860 h 874"/>
                    <a:gd name="T24" fmla="*/ 782 w 1697"/>
                    <a:gd name="T25" fmla="*/ 379 h 874"/>
                    <a:gd name="T26" fmla="*/ 770 w 1697"/>
                    <a:gd name="T27" fmla="*/ 207 h 874"/>
                    <a:gd name="T28" fmla="*/ 806 w 1697"/>
                    <a:gd name="T29" fmla="*/ 184 h 874"/>
                    <a:gd name="T30" fmla="*/ 862 w 1697"/>
                    <a:gd name="T31" fmla="*/ 321 h 874"/>
                    <a:gd name="T32" fmla="*/ 894 w 1697"/>
                    <a:gd name="T33" fmla="*/ 692 h 874"/>
                    <a:gd name="T34" fmla="*/ 948 w 1697"/>
                    <a:gd name="T35" fmla="*/ 841 h 874"/>
                    <a:gd name="T36" fmla="*/ 1042 w 1697"/>
                    <a:gd name="T37" fmla="*/ 862 h 874"/>
                    <a:gd name="T38" fmla="*/ 1292 w 1697"/>
                    <a:gd name="T39" fmla="*/ 786 h 874"/>
                    <a:gd name="T40" fmla="*/ 1237 w 1697"/>
                    <a:gd name="T41" fmla="*/ 627 h 874"/>
                    <a:gd name="T42" fmla="*/ 1201 w 1697"/>
                    <a:gd name="T43" fmla="*/ 342 h 874"/>
                    <a:gd name="T44" fmla="*/ 1219 w 1697"/>
                    <a:gd name="T45" fmla="*/ 195 h 874"/>
                    <a:gd name="T46" fmla="*/ 1274 w 1697"/>
                    <a:gd name="T47" fmla="*/ 238 h 874"/>
                    <a:gd name="T48" fmla="*/ 1311 w 1697"/>
                    <a:gd name="T49" fmla="*/ 392 h 874"/>
                    <a:gd name="T50" fmla="*/ 1339 w 1697"/>
                    <a:gd name="T51" fmla="*/ 662 h 874"/>
                    <a:gd name="T52" fmla="*/ 1392 w 1697"/>
                    <a:gd name="T53" fmla="*/ 715 h 874"/>
                    <a:gd name="T54" fmla="*/ 1523 w 1697"/>
                    <a:gd name="T55" fmla="*/ 673 h 874"/>
                    <a:gd name="T56" fmla="*/ 1666 w 1697"/>
                    <a:gd name="T57" fmla="*/ 533 h 874"/>
                    <a:gd name="T58" fmla="*/ 1695 w 1697"/>
                    <a:gd name="T59" fmla="*/ 387 h 874"/>
                    <a:gd name="T60" fmla="*/ 1605 w 1697"/>
                    <a:gd name="T61" fmla="*/ 168 h 874"/>
                    <a:gd name="T62" fmla="*/ 1480 w 1697"/>
                    <a:gd name="T63" fmla="*/ 71 h 874"/>
                    <a:gd name="T64" fmla="*/ 1436 w 1697"/>
                    <a:gd name="T65" fmla="*/ 87 h 874"/>
                    <a:gd name="T66" fmla="*/ 1462 w 1697"/>
                    <a:gd name="T67" fmla="*/ 371 h 874"/>
                    <a:gd name="T68" fmla="*/ 1441 w 1697"/>
                    <a:gd name="T69" fmla="*/ 472 h 874"/>
                    <a:gd name="T70" fmla="*/ 1392 w 1697"/>
                    <a:gd name="T71" fmla="*/ 415 h 874"/>
                    <a:gd name="T72" fmla="*/ 1359 w 1697"/>
                    <a:gd name="T73" fmla="*/ 148 h 874"/>
                    <a:gd name="T74" fmla="*/ 1326 w 1697"/>
                    <a:gd name="T75" fmla="*/ 54 h 874"/>
                    <a:gd name="T76" fmla="*/ 1102 w 1697"/>
                    <a:gd name="T77" fmla="*/ 7 h 874"/>
                    <a:gd name="T78" fmla="*/ 1062 w 1697"/>
                    <a:gd name="T79" fmla="*/ 73 h 874"/>
                    <a:gd name="T80" fmla="*/ 1080 w 1697"/>
                    <a:gd name="T81" fmla="*/ 439 h 874"/>
                    <a:gd name="T82" fmla="*/ 1040 w 1697"/>
                    <a:gd name="T83" fmla="*/ 467 h 874"/>
                    <a:gd name="T84" fmla="*/ 987 w 1697"/>
                    <a:gd name="T85" fmla="*/ 364 h 874"/>
                    <a:gd name="T86" fmla="*/ 965 w 1697"/>
                    <a:gd name="T87" fmla="*/ 99 h 874"/>
                    <a:gd name="T88" fmla="*/ 920 w 1697"/>
                    <a:gd name="T89" fmla="*/ 5 h 874"/>
                    <a:gd name="T90" fmla="*/ 638 w 1697"/>
                    <a:gd name="T91" fmla="*/ 7 h 874"/>
                    <a:gd name="T92" fmla="*/ 601 w 1697"/>
                    <a:gd name="T93" fmla="*/ 67 h 874"/>
                    <a:gd name="T94" fmla="*/ 618 w 1697"/>
                    <a:gd name="T95" fmla="*/ 423 h 874"/>
                    <a:gd name="T96" fmla="*/ 587 w 1697"/>
                    <a:gd name="T97" fmla="*/ 471 h 874"/>
                    <a:gd name="T98" fmla="*/ 540 w 1697"/>
                    <a:gd name="T99" fmla="*/ 332 h 874"/>
                    <a:gd name="T100" fmla="*/ 497 w 1697"/>
                    <a:gd name="T101" fmla="*/ 54 h 874"/>
                    <a:gd name="T102" fmla="*/ 350 w 1697"/>
                    <a:gd name="T103" fmla="*/ 52 h 874"/>
                    <a:gd name="T104" fmla="*/ 178 w 1697"/>
                    <a:gd name="T105" fmla="*/ 117 h 874"/>
                    <a:gd name="T106" fmla="*/ 167 w 1697"/>
                    <a:gd name="T107" fmla="*/ 255 h 874"/>
                    <a:gd name="T108" fmla="*/ 158 w 1697"/>
                    <a:gd name="T109" fmla="*/ 409 h 874"/>
                    <a:gd name="T110" fmla="*/ 114 w 1697"/>
                    <a:gd name="T111" fmla="*/ 377 h 874"/>
                    <a:gd name="T112" fmla="*/ 73 w 1697"/>
                    <a:gd name="T113" fmla="*/ 197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97" h="874">
                      <a:moveTo>
                        <a:pt x="58" y="204"/>
                      </a:moveTo>
                      <a:lnTo>
                        <a:pt x="58" y="204"/>
                      </a:lnTo>
                      <a:lnTo>
                        <a:pt x="42" y="236"/>
                      </a:lnTo>
                      <a:lnTo>
                        <a:pt x="30" y="265"/>
                      </a:lnTo>
                      <a:lnTo>
                        <a:pt x="19" y="298"/>
                      </a:lnTo>
                      <a:lnTo>
                        <a:pt x="12" y="316"/>
                      </a:lnTo>
                      <a:lnTo>
                        <a:pt x="8" y="334"/>
                      </a:lnTo>
                      <a:lnTo>
                        <a:pt x="4" y="354"/>
                      </a:lnTo>
                      <a:lnTo>
                        <a:pt x="1" y="375"/>
                      </a:lnTo>
                      <a:lnTo>
                        <a:pt x="0" y="396"/>
                      </a:lnTo>
                      <a:lnTo>
                        <a:pt x="0" y="415"/>
                      </a:lnTo>
                      <a:lnTo>
                        <a:pt x="3" y="436"/>
                      </a:lnTo>
                      <a:lnTo>
                        <a:pt x="6" y="457"/>
                      </a:lnTo>
                      <a:lnTo>
                        <a:pt x="6" y="457"/>
                      </a:lnTo>
                      <a:lnTo>
                        <a:pt x="12" y="477"/>
                      </a:lnTo>
                      <a:lnTo>
                        <a:pt x="20" y="499"/>
                      </a:lnTo>
                      <a:lnTo>
                        <a:pt x="28" y="522"/>
                      </a:lnTo>
                      <a:lnTo>
                        <a:pt x="38" y="545"/>
                      </a:lnTo>
                      <a:lnTo>
                        <a:pt x="49" y="569"/>
                      </a:lnTo>
                      <a:lnTo>
                        <a:pt x="63" y="592"/>
                      </a:lnTo>
                      <a:lnTo>
                        <a:pt x="79" y="614"/>
                      </a:lnTo>
                      <a:lnTo>
                        <a:pt x="97" y="636"/>
                      </a:lnTo>
                      <a:lnTo>
                        <a:pt x="107" y="646"/>
                      </a:lnTo>
                      <a:lnTo>
                        <a:pt x="117" y="657"/>
                      </a:lnTo>
                      <a:lnTo>
                        <a:pt x="128" y="665"/>
                      </a:lnTo>
                      <a:lnTo>
                        <a:pt x="140" y="675"/>
                      </a:lnTo>
                      <a:lnTo>
                        <a:pt x="152" y="684"/>
                      </a:lnTo>
                      <a:lnTo>
                        <a:pt x="166" y="691"/>
                      </a:lnTo>
                      <a:lnTo>
                        <a:pt x="180" y="699"/>
                      </a:lnTo>
                      <a:lnTo>
                        <a:pt x="195" y="706"/>
                      </a:lnTo>
                      <a:lnTo>
                        <a:pt x="211" y="712"/>
                      </a:lnTo>
                      <a:lnTo>
                        <a:pt x="228" y="717"/>
                      </a:lnTo>
                      <a:lnTo>
                        <a:pt x="245" y="722"/>
                      </a:lnTo>
                      <a:lnTo>
                        <a:pt x="264" y="726"/>
                      </a:lnTo>
                      <a:lnTo>
                        <a:pt x="283" y="728"/>
                      </a:lnTo>
                      <a:lnTo>
                        <a:pt x="304" y="729"/>
                      </a:lnTo>
                      <a:lnTo>
                        <a:pt x="325" y="730"/>
                      </a:lnTo>
                      <a:lnTo>
                        <a:pt x="348" y="730"/>
                      </a:lnTo>
                      <a:lnTo>
                        <a:pt x="348" y="730"/>
                      </a:lnTo>
                      <a:lnTo>
                        <a:pt x="348" y="729"/>
                      </a:lnTo>
                      <a:lnTo>
                        <a:pt x="350" y="728"/>
                      </a:lnTo>
                      <a:lnTo>
                        <a:pt x="351" y="722"/>
                      </a:lnTo>
                      <a:lnTo>
                        <a:pt x="350" y="700"/>
                      </a:lnTo>
                      <a:lnTo>
                        <a:pt x="346" y="668"/>
                      </a:lnTo>
                      <a:lnTo>
                        <a:pt x="341" y="630"/>
                      </a:lnTo>
                      <a:lnTo>
                        <a:pt x="328" y="550"/>
                      </a:lnTo>
                      <a:lnTo>
                        <a:pt x="318" y="493"/>
                      </a:lnTo>
                      <a:lnTo>
                        <a:pt x="318" y="493"/>
                      </a:lnTo>
                      <a:lnTo>
                        <a:pt x="314" y="467"/>
                      </a:lnTo>
                      <a:lnTo>
                        <a:pt x="309" y="428"/>
                      </a:lnTo>
                      <a:lnTo>
                        <a:pt x="305" y="381"/>
                      </a:lnTo>
                      <a:lnTo>
                        <a:pt x="304" y="332"/>
                      </a:lnTo>
                      <a:lnTo>
                        <a:pt x="304" y="309"/>
                      </a:lnTo>
                      <a:lnTo>
                        <a:pt x="305" y="285"/>
                      </a:lnTo>
                      <a:lnTo>
                        <a:pt x="308" y="265"/>
                      </a:lnTo>
                      <a:lnTo>
                        <a:pt x="312" y="246"/>
                      </a:lnTo>
                      <a:lnTo>
                        <a:pt x="317" y="230"/>
                      </a:lnTo>
                      <a:lnTo>
                        <a:pt x="319" y="224"/>
                      </a:lnTo>
                      <a:lnTo>
                        <a:pt x="323" y="218"/>
                      </a:lnTo>
                      <a:lnTo>
                        <a:pt x="328" y="214"/>
                      </a:lnTo>
                      <a:lnTo>
                        <a:pt x="331" y="211"/>
                      </a:lnTo>
                      <a:lnTo>
                        <a:pt x="337" y="208"/>
                      </a:lnTo>
                      <a:lnTo>
                        <a:pt x="342" y="208"/>
                      </a:lnTo>
                      <a:lnTo>
                        <a:pt x="342" y="208"/>
                      </a:lnTo>
                      <a:lnTo>
                        <a:pt x="348" y="208"/>
                      </a:lnTo>
                      <a:lnTo>
                        <a:pt x="353" y="209"/>
                      </a:lnTo>
                      <a:lnTo>
                        <a:pt x="358" y="213"/>
                      </a:lnTo>
                      <a:lnTo>
                        <a:pt x="363" y="217"/>
                      </a:lnTo>
                      <a:lnTo>
                        <a:pt x="368" y="222"/>
                      </a:lnTo>
                      <a:lnTo>
                        <a:pt x="373" y="228"/>
                      </a:lnTo>
                      <a:lnTo>
                        <a:pt x="382" y="244"/>
                      </a:lnTo>
                      <a:lnTo>
                        <a:pt x="389" y="262"/>
                      </a:lnTo>
                      <a:lnTo>
                        <a:pt x="395" y="283"/>
                      </a:lnTo>
                      <a:lnTo>
                        <a:pt x="401" y="306"/>
                      </a:lnTo>
                      <a:lnTo>
                        <a:pt x="406" y="332"/>
                      </a:lnTo>
                      <a:lnTo>
                        <a:pt x="415" y="385"/>
                      </a:lnTo>
                      <a:lnTo>
                        <a:pt x="422" y="439"/>
                      </a:lnTo>
                      <a:lnTo>
                        <a:pt x="431" y="532"/>
                      </a:lnTo>
                      <a:lnTo>
                        <a:pt x="431" y="532"/>
                      </a:lnTo>
                      <a:lnTo>
                        <a:pt x="434" y="575"/>
                      </a:lnTo>
                      <a:lnTo>
                        <a:pt x="439" y="625"/>
                      </a:lnTo>
                      <a:lnTo>
                        <a:pt x="443" y="652"/>
                      </a:lnTo>
                      <a:lnTo>
                        <a:pt x="448" y="680"/>
                      </a:lnTo>
                      <a:lnTo>
                        <a:pt x="454" y="708"/>
                      </a:lnTo>
                      <a:lnTo>
                        <a:pt x="462" y="735"/>
                      </a:lnTo>
                      <a:lnTo>
                        <a:pt x="472" y="761"/>
                      </a:lnTo>
                      <a:lnTo>
                        <a:pt x="477" y="773"/>
                      </a:lnTo>
                      <a:lnTo>
                        <a:pt x="485" y="786"/>
                      </a:lnTo>
                      <a:lnTo>
                        <a:pt x="491" y="798"/>
                      </a:lnTo>
                      <a:lnTo>
                        <a:pt x="498" y="808"/>
                      </a:lnTo>
                      <a:lnTo>
                        <a:pt x="507" y="819"/>
                      </a:lnTo>
                      <a:lnTo>
                        <a:pt x="516" y="829"/>
                      </a:lnTo>
                      <a:lnTo>
                        <a:pt x="526" y="837"/>
                      </a:lnTo>
                      <a:lnTo>
                        <a:pt x="536" y="844"/>
                      </a:lnTo>
                      <a:lnTo>
                        <a:pt x="548" y="852"/>
                      </a:lnTo>
                      <a:lnTo>
                        <a:pt x="561" y="858"/>
                      </a:lnTo>
                      <a:lnTo>
                        <a:pt x="573" y="863"/>
                      </a:lnTo>
                      <a:lnTo>
                        <a:pt x="587" y="867"/>
                      </a:lnTo>
                      <a:lnTo>
                        <a:pt x="602" y="870"/>
                      </a:lnTo>
                      <a:lnTo>
                        <a:pt x="618" y="871"/>
                      </a:lnTo>
                      <a:lnTo>
                        <a:pt x="618" y="871"/>
                      </a:lnTo>
                      <a:lnTo>
                        <a:pt x="678" y="874"/>
                      </a:lnTo>
                      <a:lnTo>
                        <a:pt x="726" y="873"/>
                      </a:lnTo>
                      <a:lnTo>
                        <a:pt x="746" y="873"/>
                      </a:lnTo>
                      <a:lnTo>
                        <a:pt x="763" y="870"/>
                      </a:lnTo>
                      <a:lnTo>
                        <a:pt x="778" y="868"/>
                      </a:lnTo>
                      <a:lnTo>
                        <a:pt x="791" y="864"/>
                      </a:lnTo>
                      <a:lnTo>
                        <a:pt x="801" y="860"/>
                      </a:lnTo>
                      <a:lnTo>
                        <a:pt x="809" y="857"/>
                      </a:lnTo>
                      <a:lnTo>
                        <a:pt x="817" y="852"/>
                      </a:lnTo>
                      <a:lnTo>
                        <a:pt x="822" y="846"/>
                      </a:lnTo>
                      <a:lnTo>
                        <a:pt x="825" y="840"/>
                      </a:lnTo>
                      <a:lnTo>
                        <a:pt x="827" y="833"/>
                      </a:lnTo>
                      <a:lnTo>
                        <a:pt x="828" y="826"/>
                      </a:lnTo>
                      <a:lnTo>
                        <a:pt x="828" y="819"/>
                      </a:lnTo>
                      <a:lnTo>
                        <a:pt x="828" y="819"/>
                      </a:lnTo>
                      <a:lnTo>
                        <a:pt x="782" y="379"/>
                      </a:lnTo>
                      <a:lnTo>
                        <a:pt x="782" y="379"/>
                      </a:lnTo>
                      <a:lnTo>
                        <a:pt x="780" y="358"/>
                      </a:lnTo>
                      <a:lnTo>
                        <a:pt x="775" y="330"/>
                      </a:lnTo>
                      <a:lnTo>
                        <a:pt x="770" y="298"/>
                      </a:lnTo>
                      <a:lnTo>
                        <a:pt x="768" y="265"/>
                      </a:lnTo>
                      <a:lnTo>
                        <a:pt x="766" y="249"/>
                      </a:lnTo>
                      <a:lnTo>
                        <a:pt x="766" y="234"/>
                      </a:lnTo>
                      <a:lnTo>
                        <a:pt x="768" y="219"/>
                      </a:lnTo>
                      <a:lnTo>
                        <a:pt x="770" y="207"/>
                      </a:lnTo>
                      <a:lnTo>
                        <a:pt x="774" y="197"/>
                      </a:lnTo>
                      <a:lnTo>
                        <a:pt x="780" y="189"/>
                      </a:lnTo>
                      <a:lnTo>
                        <a:pt x="782" y="186"/>
                      </a:lnTo>
                      <a:lnTo>
                        <a:pt x="786" y="184"/>
                      </a:lnTo>
                      <a:lnTo>
                        <a:pt x="791" y="182"/>
                      </a:lnTo>
                      <a:lnTo>
                        <a:pt x="796" y="182"/>
                      </a:lnTo>
                      <a:lnTo>
                        <a:pt x="796" y="182"/>
                      </a:lnTo>
                      <a:lnTo>
                        <a:pt x="801" y="182"/>
                      </a:lnTo>
                      <a:lnTo>
                        <a:pt x="806" y="184"/>
                      </a:lnTo>
                      <a:lnTo>
                        <a:pt x="811" y="186"/>
                      </a:lnTo>
                      <a:lnTo>
                        <a:pt x="814" y="190"/>
                      </a:lnTo>
                      <a:lnTo>
                        <a:pt x="823" y="200"/>
                      </a:lnTo>
                      <a:lnTo>
                        <a:pt x="831" y="213"/>
                      </a:lnTo>
                      <a:lnTo>
                        <a:pt x="839" y="230"/>
                      </a:lnTo>
                      <a:lnTo>
                        <a:pt x="845" y="250"/>
                      </a:lnTo>
                      <a:lnTo>
                        <a:pt x="852" y="272"/>
                      </a:lnTo>
                      <a:lnTo>
                        <a:pt x="857" y="295"/>
                      </a:lnTo>
                      <a:lnTo>
                        <a:pt x="862" y="321"/>
                      </a:lnTo>
                      <a:lnTo>
                        <a:pt x="867" y="348"/>
                      </a:lnTo>
                      <a:lnTo>
                        <a:pt x="874" y="403"/>
                      </a:lnTo>
                      <a:lnTo>
                        <a:pt x="881" y="460"/>
                      </a:lnTo>
                      <a:lnTo>
                        <a:pt x="885" y="513"/>
                      </a:lnTo>
                      <a:lnTo>
                        <a:pt x="885" y="513"/>
                      </a:lnTo>
                      <a:lnTo>
                        <a:pt x="888" y="570"/>
                      </a:lnTo>
                      <a:lnTo>
                        <a:pt x="889" y="631"/>
                      </a:lnTo>
                      <a:lnTo>
                        <a:pt x="892" y="662"/>
                      </a:lnTo>
                      <a:lnTo>
                        <a:pt x="894" y="692"/>
                      </a:lnTo>
                      <a:lnTo>
                        <a:pt x="898" y="723"/>
                      </a:lnTo>
                      <a:lnTo>
                        <a:pt x="904" y="751"/>
                      </a:lnTo>
                      <a:lnTo>
                        <a:pt x="911" y="778"/>
                      </a:lnTo>
                      <a:lnTo>
                        <a:pt x="916" y="791"/>
                      </a:lnTo>
                      <a:lnTo>
                        <a:pt x="921" y="803"/>
                      </a:lnTo>
                      <a:lnTo>
                        <a:pt x="926" y="813"/>
                      </a:lnTo>
                      <a:lnTo>
                        <a:pt x="933" y="824"/>
                      </a:lnTo>
                      <a:lnTo>
                        <a:pt x="939" y="832"/>
                      </a:lnTo>
                      <a:lnTo>
                        <a:pt x="948" y="841"/>
                      </a:lnTo>
                      <a:lnTo>
                        <a:pt x="957" y="848"/>
                      </a:lnTo>
                      <a:lnTo>
                        <a:pt x="966" y="854"/>
                      </a:lnTo>
                      <a:lnTo>
                        <a:pt x="976" y="858"/>
                      </a:lnTo>
                      <a:lnTo>
                        <a:pt x="987" y="862"/>
                      </a:lnTo>
                      <a:lnTo>
                        <a:pt x="999" y="864"/>
                      </a:lnTo>
                      <a:lnTo>
                        <a:pt x="1013" y="865"/>
                      </a:lnTo>
                      <a:lnTo>
                        <a:pt x="1026" y="864"/>
                      </a:lnTo>
                      <a:lnTo>
                        <a:pt x="1042" y="862"/>
                      </a:lnTo>
                      <a:lnTo>
                        <a:pt x="1042" y="862"/>
                      </a:lnTo>
                      <a:lnTo>
                        <a:pt x="1102" y="849"/>
                      </a:lnTo>
                      <a:lnTo>
                        <a:pt x="1155" y="838"/>
                      </a:lnTo>
                      <a:lnTo>
                        <a:pt x="1201" y="826"/>
                      </a:lnTo>
                      <a:lnTo>
                        <a:pt x="1239" y="814"/>
                      </a:lnTo>
                      <a:lnTo>
                        <a:pt x="1253" y="808"/>
                      </a:lnTo>
                      <a:lnTo>
                        <a:pt x="1267" y="802"/>
                      </a:lnTo>
                      <a:lnTo>
                        <a:pt x="1278" y="797"/>
                      </a:lnTo>
                      <a:lnTo>
                        <a:pt x="1286" y="791"/>
                      </a:lnTo>
                      <a:lnTo>
                        <a:pt x="1292" y="786"/>
                      </a:lnTo>
                      <a:lnTo>
                        <a:pt x="1296" y="779"/>
                      </a:lnTo>
                      <a:lnTo>
                        <a:pt x="1296" y="775"/>
                      </a:lnTo>
                      <a:lnTo>
                        <a:pt x="1295" y="770"/>
                      </a:lnTo>
                      <a:lnTo>
                        <a:pt x="1295" y="770"/>
                      </a:lnTo>
                      <a:lnTo>
                        <a:pt x="1285" y="755"/>
                      </a:lnTo>
                      <a:lnTo>
                        <a:pt x="1273" y="729"/>
                      </a:lnTo>
                      <a:lnTo>
                        <a:pt x="1259" y="695"/>
                      </a:lnTo>
                      <a:lnTo>
                        <a:pt x="1245" y="652"/>
                      </a:lnTo>
                      <a:lnTo>
                        <a:pt x="1237" y="627"/>
                      </a:lnTo>
                      <a:lnTo>
                        <a:pt x="1230" y="602"/>
                      </a:lnTo>
                      <a:lnTo>
                        <a:pt x="1223" y="572"/>
                      </a:lnTo>
                      <a:lnTo>
                        <a:pt x="1216" y="543"/>
                      </a:lnTo>
                      <a:lnTo>
                        <a:pt x="1212" y="511"/>
                      </a:lnTo>
                      <a:lnTo>
                        <a:pt x="1208" y="478"/>
                      </a:lnTo>
                      <a:lnTo>
                        <a:pt x="1204" y="444"/>
                      </a:lnTo>
                      <a:lnTo>
                        <a:pt x="1202" y="408"/>
                      </a:lnTo>
                      <a:lnTo>
                        <a:pt x="1202" y="408"/>
                      </a:lnTo>
                      <a:lnTo>
                        <a:pt x="1201" y="342"/>
                      </a:lnTo>
                      <a:lnTo>
                        <a:pt x="1199" y="292"/>
                      </a:lnTo>
                      <a:lnTo>
                        <a:pt x="1201" y="255"/>
                      </a:lnTo>
                      <a:lnTo>
                        <a:pt x="1202" y="228"/>
                      </a:lnTo>
                      <a:lnTo>
                        <a:pt x="1203" y="218"/>
                      </a:lnTo>
                      <a:lnTo>
                        <a:pt x="1205" y="211"/>
                      </a:lnTo>
                      <a:lnTo>
                        <a:pt x="1208" y="204"/>
                      </a:lnTo>
                      <a:lnTo>
                        <a:pt x="1212" y="200"/>
                      </a:lnTo>
                      <a:lnTo>
                        <a:pt x="1215" y="196"/>
                      </a:lnTo>
                      <a:lnTo>
                        <a:pt x="1219" y="195"/>
                      </a:lnTo>
                      <a:lnTo>
                        <a:pt x="1229" y="191"/>
                      </a:lnTo>
                      <a:lnTo>
                        <a:pt x="1229" y="191"/>
                      </a:lnTo>
                      <a:lnTo>
                        <a:pt x="1235" y="192"/>
                      </a:lnTo>
                      <a:lnTo>
                        <a:pt x="1241" y="195"/>
                      </a:lnTo>
                      <a:lnTo>
                        <a:pt x="1248" y="200"/>
                      </a:lnTo>
                      <a:lnTo>
                        <a:pt x="1254" y="206"/>
                      </a:lnTo>
                      <a:lnTo>
                        <a:pt x="1262" y="216"/>
                      </a:lnTo>
                      <a:lnTo>
                        <a:pt x="1268" y="225"/>
                      </a:lnTo>
                      <a:lnTo>
                        <a:pt x="1274" y="238"/>
                      </a:lnTo>
                      <a:lnTo>
                        <a:pt x="1280" y="251"/>
                      </a:lnTo>
                      <a:lnTo>
                        <a:pt x="1286" y="266"/>
                      </a:lnTo>
                      <a:lnTo>
                        <a:pt x="1292" y="282"/>
                      </a:lnTo>
                      <a:lnTo>
                        <a:pt x="1297" y="299"/>
                      </a:lnTo>
                      <a:lnTo>
                        <a:pt x="1301" y="316"/>
                      </a:lnTo>
                      <a:lnTo>
                        <a:pt x="1305" y="334"/>
                      </a:lnTo>
                      <a:lnTo>
                        <a:pt x="1307" y="354"/>
                      </a:lnTo>
                      <a:lnTo>
                        <a:pt x="1310" y="372"/>
                      </a:lnTo>
                      <a:lnTo>
                        <a:pt x="1311" y="392"/>
                      </a:lnTo>
                      <a:lnTo>
                        <a:pt x="1311" y="392"/>
                      </a:lnTo>
                      <a:lnTo>
                        <a:pt x="1311" y="435"/>
                      </a:lnTo>
                      <a:lnTo>
                        <a:pt x="1313" y="483"/>
                      </a:lnTo>
                      <a:lnTo>
                        <a:pt x="1317" y="532"/>
                      </a:lnTo>
                      <a:lnTo>
                        <a:pt x="1322" y="580"/>
                      </a:lnTo>
                      <a:lnTo>
                        <a:pt x="1326" y="603"/>
                      </a:lnTo>
                      <a:lnTo>
                        <a:pt x="1329" y="625"/>
                      </a:lnTo>
                      <a:lnTo>
                        <a:pt x="1334" y="645"/>
                      </a:lnTo>
                      <a:lnTo>
                        <a:pt x="1339" y="662"/>
                      </a:lnTo>
                      <a:lnTo>
                        <a:pt x="1345" y="678"/>
                      </a:lnTo>
                      <a:lnTo>
                        <a:pt x="1351" y="690"/>
                      </a:lnTo>
                      <a:lnTo>
                        <a:pt x="1359" y="700"/>
                      </a:lnTo>
                      <a:lnTo>
                        <a:pt x="1362" y="703"/>
                      </a:lnTo>
                      <a:lnTo>
                        <a:pt x="1366" y="706"/>
                      </a:lnTo>
                      <a:lnTo>
                        <a:pt x="1366" y="706"/>
                      </a:lnTo>
                      <a:lnTo>
                        <a:pt x="1375" y="710"/>
                      </a:lnTo>
                      <a:lnTo>
                        <a:pt x="1383" y="712"/>
                      </a:lnTo>
                      <a:lnTo>
                        <a:pt x="1392" y="715"/>
                      </a:lnTo>
                      <a:lnTo>
                        <a:pt x="1400" y="716"/>
                      </a:lnTo>
                      <a:lnTo>
                        <a:pt x="1418" y="716"/>
                      </a:lnTo>
                      <a:lnTo>
                        <a:pt x="1436" y="713"/>
                      </a:lnTo>
                      <a:lnTo>
                        <a:pt x="1453" y="708"/>
                      </a:lnTo>
                      <a:lnTo>
                        <a:pt x="1469" y="702"/>
                      </a:lnTo>
                      <a:lnTo>
                        <a:pt x="1485" y="695"/>
                      </a:lnTo>
                      <a:lnTo>
                        <a:pt x="1501" y="686"/>
                      </a:lnTo>
                      <a:lnTo>
                        <a:pt x="1501" y="686"/>
                      </a:lnTo>
                      <a:lnTo>
                        <a:pt x="1523" y="673"/>
                      </a:lnTo>
                      <a:lnTo>
                        <a:pt x="1539" y="663"/>
                      </a:lnTo>
                      <a:lnTo>
                        <a:pt x="1556" y="652"/>
                      </a:lnTo>
                      <a:lnTo>
                        <a:pt x="1576" y="637"/>
                      </a:lnTo>
                      <a:lnTo>
                        <a:pt x="1595" y="621"/>
                      </a:lnTo>
                      <a:lnTo>
                        <a:pt x="1615" y="603"/>
                      </a:lnTo>
                      <a:lnTo>
                        <a:pt x="1633" y="582"/>
                      </a:lnTo>
                      <a:lnTo>
                        <a:pt x="1652" y="559"/>
                      </a:lnTo>
                      <a:lnTo>
                        <a:pt x="1659" y="547"/>
                      </a:lnTo>
                      <a:lnTo>
                        <a:pt x="1666" y="533"/>
                      </a:lnTo>
                      <a:lnTo>
                        <a:pt x="1674" y="520"/>
                      </a:lnTo>
                      <a:lnTo>
                        <a:pt x="1680" y="505"/>
                      </a:lnTo>
                      <a:lnTo>
                        <a:pt x="1685" y="490"/>
                      </a:lnTo>
                      <a:lnTo>
                        <a:pt x="1690" y="474"/>
                      </a:lnTo>
                      <a:lnTo>
                        <a:pt x="1693" y="458"/>
                      </a:lnTo>
                      <a:lnTo>
                        <a:pt x="1696" y="441"/>
                      </a:lnTo>
                      <a:lnTo>
                        <a:pt x="1697" y="424"/>
                      </a:lnTo>
                      <a:lnTo>
                        <a:pt x="1696" y="406"/>
                      </a:lnTo>
                      <a:lnTo>
                        <a:pt x="1695" y="387"/>
                      </a:lnTo>
                      <a:lnTo>
                        <a:pt x="1692" y="368"/>
                      </a:lnTo>
                      <a:lnTo>
                        <a:pt x="1688" y="348"/>
                      </a:lnTo>
                      <a:lnTo>
                        <a:pt x="1682" y="327"/>
                      </a:lnTo>
                      <a:lnTo>
                        <a:pt x="1682" y="327"/>
                      </a:lnTo>
                      <a:lnTo>
                        <a:pt x="1668" y="287"/>
                      </a:lnTo>
                      <a:lnTo>
                        <a:pt x="1653" y="251"/>
                      </a:lnTo>
                      <a:lnTo>
                        <a:pt x="1637" y="220"/>
                      </a:lnTo>
                      <a:lnTo>
                        <a:pt x="1621" y="192"/>
                      </a:lnTo>
                      <a:lnTo>
                        <a:pt x="1605" y="168"/>
                      </a:lnTo>
                      <a:lnTo>
                        <a:pt x="1589" y="147"/>
                      </a:lnTo>
                      <a:lnTo>
                        <a:pt x="1572" y="128"/>
                      </a:lnTo>
                      <a:lnTo>
                        <a:pt x="1556" y="114"/>
                      </a:lnTo>
                      <a:lnTo>
                        <a:pt x="1541" y="102"/>
                      </a:lnTo>
                      <a:lnTo>
                        <a:pt x="1527" y="90"/>
                      </a:lnTo>
                      <a:lnTo>
                        <a:pt x="1513" y="83"/>
                      </a:lnTo>
                      <a:lnTo>
                        <a:pt x="1501" y="77"/>
                      </a:lnTo>
                      <a:lnTo>
                        <a:pt x="1490" y="73"/>
                      </a:lnTo>
                      <a:lnTo>
                        <a:pt x="1480" y="71"/>
                      </a:lnTo>
                      <a:lnTo>
                        <a:pt x="1473" y="70"/>
                      </a:lnTo>
                      <a:lnTo>
                        <a:pt x="1468" y="68"/>
                      </a:lnTo>
                      <a:lnTo>
                        <a:pt x="1468" y="68"/>
                      </a:lnTo>
                      <a:lnTo>
                        <a:pt x="1459" y="70"/>
                      </a:lnTo>
                      <a:lnTo>
                        <a:pt x="1452" y="71"/>
                      </a:lnTo>
                      <a:lnTo>
                        <a:pt x="1445" y="73"/>
                      </a:lnTo>
                      <a:lnTo>
                        <a:pt x="1442" y="76"/>
                      </a:lnTo>
                      <a:lnTo>
                        <a:pt x="1440" y="78"/>
                      </a:lnTo>
                      <a:lnTo>
                        <a:pt x="1436" y="87"/>
                      </a:lnTo>
                      <a:lnTo>
                        <a:pt x="1433" y="99"/>
                      </a:lnTo>
                      <a:lnTo>
                        <a:pt x="1433" y="116"/>
                      </a:lnTo>
                      <a:lnTo>
                        <a:pt x="1435" y="138"/>
                      </a:lnTo>
                      <a:lnTo>
                        <a:pt x="1435" y="138"/>
                      </a:lnTo>
                      <a:lnTo>
                        <a:pt x="1440" y="174"/>
                      </a:lnTo>
                      <a:lnTo>
                        <a:pt x="1446" y="224"/>
                      </a:lnTo>
                      <a:lnTo>
                        <a:pt x="1453" y="282"/>
                      </a:lnTo>
                      <a:lnTo>
                        <a:pt x="1459" y="342"/>
                      </a:lnTo>
                      <a:lnTo>
                        <a:pt x="1462" y="371"/>
                      </a:lnTo>
                      <a:lnTo>
                        <a:pt x="1462" y="397"/>
                      </a:lnTo>
                      <a:lnTo>
                        <a:pt x="1462" y="422"/>
                      </a:lnTo>
                      <a:lnTo>
                        <a:pt x="1459" y="441"/>
                      </a:lnTo>
                      <a:lnTo>
                        <a:pt x="1458" y="450"/>
                      </a:lnTo>
                      <a:lnTo>
                        <a:pt x="1456" y="457"/>
                      </a:lnTo>
                      <a:lnTo>
                        <a:pt x="1453" y="463"/>
                      </a:lnTo>
                      <a:lnTo>
                        <a:pt x="1449" y="467"/>
                      </a:lnTo>
                      <a:lnTo>
                        <a:pt x="1446" y="471"/>
                      </a:lnTo>
                      <a:lnTo>
                        <a:pt x="1441" y="472"/>
                      </a:lnTo>
                      <a:lnTo>
                        <a:pt x="1436" y="472"/>
                      </a:lnTo>
                      <a:lnTo>
                        <a:pt x="1430" y="469"/>
                      </a:lnTo>
                      <a:lnTo>
                        <a:pt x="1430" y="469"/>
                      </a:lnTo>
                      <a:lnTo>
                        <a:pt x="1425" y="466"/>
                      </a:lnTo>
                      <a:lnTo>
                        <a:pt x="1419" y="461"/>
                      </a:lnTo>
                      <a:lnTo>
                        <a:pt x="1414" y="456"/>
                      </a:lnTo>
                      <a:lnTo>
                        <a:pt x="1409" y="448"/>
                      </a:lnTo>
                      <a:lnTo>
                        <a:pt x="1400" y="434"/>
                      </a:lnTo>
                      <a:lnTo>
                        <a:pt x="1392" y="415"/>
                      </a:lnTo>
                      <a:lnTo>
                        <a:pt x="1386" y="395"/>
                      </a:lnTo>
                      <a:lnTo>
                        <a:pt x="1381" y="371"/>
                      </a:lnTo>
                      <a:lnTo>
                        <a:pt x="1376" y="348"/>
                      </a:lnTo>
                      <a:lnTo>
                        <a:pt x="1372" y="323"/>
                      </a:lnTo>
                      <a:lnTo>
                        <a:pt x="1367" y="277"/>
                      </a:lnTo>
                      <a:lnTo>
                        <a:pt x="1364" y="233"/>
                      </a:lnTo>
                      <a:lnTo>
                        <a:pt x="1361" y="180"/>
                      </a:lnTo>
                      <a:lnTo>
                        <a:pt x="1361" y="180"/>
                      </a:lnTo>
                      <a:lnTo>
                        <a:pt x="1359" y="148"/>
                      </a:lnTo>
                      <a:lnTo>
                        <a:pt x="1356" y="128"/>
                      </a:lnTo>
                      <a:lnTo>
                        <a:pt x="1354" y="108"/>
                      </a:lnTo>
                      <a:lnTo>
                        <a:pt x="1350" y="88"/>
                      </a:lnTo>
                      <a:lnTo>
                        <a:pt x="1348" y="79"/>
                      </a:lnTo>
                      <a:lnTo>
                        <a:pt x="1344" y="72"/>
                      </a:lnTo>
                      <a:lnTo>
                        <a:pt x="1340" y="65"/>
                      </a:lnTo>
                      <a:lnTo>
                        <a:pt x="1337" y="60"/>
                      </a:lnTo>
                      <a:lnTo>
                        <a:pt x="1332" y="56"/>
                      </a:lnTo>
                      <a:lnTo>
                        <a:pt x="1326" y="54"/>
                      </a:lnTo>
                      <a:lnTo>
                        <a:pt x="1326" y="54"/>
                      </a:lnTo>
                      <a:lnTo>
                        <a:pt x="1281" y="43"/>
                      </a:lnTo>
                      <a:lnTo>
                        <a:pt x="1214" y="27"/>
                      </a:lnTo>
                      <a:lnTo>
                        <a:pt x="1178" y="18"/>
                      </a:lnTo>
                      <a:lnTo>
                        <a:pt x="1147" y="12"/>
                      </a:lnTo>
                      <a:lnTo>
                        <a:pt x="1120" y="7"/>
                      </a:lnTo>
                      <a:lnTo>
                        <a:pt x="1110" y="7"/>
                      </a:lnTo>
                      <a:lnTo>
                        <a:pt x="1102" y="7"/>
                      </a:lnTo>
                      <a:lnTo>
                        <a:pt x="1102" y="7"/>
                      </a:lnTo>
                      <a:lnTo>
                        <a:pt x="1093" y="10"/>
                      </a:lnTo>
                      <a:lnTo>
                        <a:pt x="1083" y="12"/>
                      </a:lnTo>
                      <a:lnTo>
                        <a:pt x="1075" y="16"/>
                      </a:lnTo>
                      <a:lnTo>
                        <a:pt x="1069" y="22"/>
                      </a:lnTo>
                      <a:lnTo>
                        <a:pt x="1064" y="30"/>
                      </a:lnTo>
                      <a:lnTo>
                        <a:pt x="1062" y="41"/>
                      </a:lnTo>
                      <a:lnTo>
                        <a:pt x="1062" y="56"/>
                      </a:lnTo>
                      <a:lnTo>
                        <a:pt x="1062" y="73"/>
                      </a:lnTo>
                      <a:lnTo>
                        <a:pt x="1062" y="73"/>
                      </a:lnTo>
                      <a:lnTo>
                        <a:pt x="1073" y="158"/>
                      </a:lnTo>
                      <a:lnTo>
                        <a:pt x="1080" y="223"/>
                      </a:lnTo>
                      <a:lnTo>
                        <a:pt x="1085" y="293"/>
                      </a:lnTo>
                      <a:lnTo>
                        <a:pt x="1088" y="327"/>
                      </a:lnTo>
                      <a:lnTo>
                        <a:pt x="1088" y="359"/>
                      </a:lnTo>
                      <a:lnTo>
                        <a:pt x="1086" y="390"/>
                      </a:lnTo>
                      <a:lnTo>
                        <a:pt x="1084" y="417"/>
                      </a:lnTo>
                      <a:lnTo>
                        <a:pt x="1083" y="428"/>
                      </a:lnTo>
                      <a:lnTo>
                        <a:pt x="1080" y="439"/>
                      </a:lnTo>
                      <a:lnTo>
                        <a:pt x="1077" y="447"/>
                      </a:lnTo>
                      <a:lnTo>
                        <a:pt x="1073" y="456"/>
                      </a:lnTo>
                      <a:lnTo>
                        <a:pt x="1069" y="462"/>
                      </a:lnTo>
                      <a:lnTo>
                        <a:pt x="1064" y="466"/>
                      </a:lnTo>
                      <a:lnTo>
                        <a:pt x="1058" y="469"/>
                      </a:lnTo>
                      <a:lnTo>
                        <a:pt x="1052" y="469"/>
                      </a:lnTo>
                      <a:lnTo>
                        <a:pt x="1052" y="469"/>
                      </a:lnTo>
                      <a:lnTo>
                        <a:pt x="1046" y="469"/>
                      </a:lnTo>
                      <a:lnTo>
                        <a:pt x="1040" y="467"/>
                      </a:lnTo>
                      <a:lnTo>
                        <a:pt x="1034" y="464"/>
                      </a:lnTo>
                      <a:lnTo>
                        <a:pt x="1029" y="461"/>
                      </a:lnTo>
                      <a:lnTo>
                        <a:pt x="1024" y="457"/>
                      </a:lnTo>
                      <a:lnTo>
                        <a:pt x="1019" y="451"/>
                      </a:lnTo>
                      <a:lnTo>
                        <a:pt x="1010" y="439"/>
                      </a:lnTo>
                      <a:lnTo>
                        <a:pt x="1003" y="423"/>
                      </a:lnTo>
                      <a:lnTo>
                        <a:pt x="997" y="404"/>
                      </a:lnTo>
                      <a:lnTo>
                        <a:pt x="992" y="385"/>
                      </a:lnTo>
                      <a:lnTo>
                        <a:pt x="987" y="364"/>
                      </a:lnTo>
                      <a:lnTo>
                        <a:pt x="984" y="342"/>
                      </a:lnTo>
                      <a:lnTo>
                        <a:pt x="981" y="319"/>
                      </a:lnTo>
                      <a:lnTo>
                        <a:pt x="976" y="274"/>
                      </a:lnTo>
                      <a:lnTo>
                        <a:pt x="974" y="231"/>
                      </a:lnTo>
                      <a:lnTo>
                        <a:pt x="972" y="196"/>
                      </a:lnTo>
                      <a:lnTo>
                        <a:pt x="972" y="196"/>
                      </a:lnTo>
                      <a:lnTo>
                        <a:pt x="971" y="163"/>
                      </a:lnTo>
                      <a:lnTo>
                        <a:pt x="969" y="131"/>
                      </a:lnTo>
                      <a:lnTo>
                        <a:pt x="965" y="99"/>
                      </a:lnTo>
                      <a:lnTo>
                        <a:pt x="960" y="70"/>
                      </a:lnTo>
                      <a:lnTo>
                        <a:pt x="958" y="56"/>
                      </a:lnTo>
                      <a:lnTo>
                        <a:pt x="954" y="44"/>
                      </a:lnTo>
                      <a:lnTo>
                        <a:pt x="950" y="33"/>
                      </a:lnTo>
                      <a:lnTo>
                        <a:pt x="945" y="24"/>
                      </a:lnTo>
                      <a:lnTo>
                        <a:pt x="941" y="17"/>
                      </a:lnTo>
                      <a:lnTo>
                        <a:pt x="934" y="11"/>
                      </a:lnTo>
                      <a:lnTo>
                        <a:pt x="927" y="7"/>
                      </a:lnTo>
                      <a:lnTo>
                        <a:pt x="920" y="5"/>
                      </a:lnTo>
                      <a:lnTo>
                        <a:pt x="920" y="5"/>
                      </a:lnTo>
                      <a:lnTo>
                        <a:pt x="862" y="2"/>
                      </a:lnTo>
                      <a:lnTo>
                        <a:pt x="819" y="0"/>
                      </a:lnTo>
                      <a:lnTo>
                        <a:pt x="773" y="0"/>
                      </a:lnTo>
                      <a:lnTo>
                        <a:pt x="727" y="0"/>
                      </a:lnTo>
                      <a:lnTo>
                        <a:pt x="684" y="1"/>
                      </a:lnTo>
                      <a:lnTo>
                        <a:pt x="666" y="2"/>
                      </a:lnTo>
                      <a:lnTo>
                        <a:pt x="650" y="5"/>
                      </a:lnTo>
                      <a:lnTo>
                        <a:pt x="638" y="7"/>
                      </a:lnTo>
                      <a:lnTo>
                        <a:pt x="628" y="11"/>
                      </a:lnTo>
                      <a:lnTo>
                        <a:pt x="628" y="11"/>
                      </a:lnTo>
                      <a:lnTo>
                        <a:pt x="614" y="18"/>
                      </a:lnTo>
                      <a:lnTo>
                        <a:pt x="606" y="24"/>
                      </a:lnTo>
                      <a:lnTo>
                        <a:pt x="601" y="29"/>
                      </a:lnTo>
                      <a:lnTo>
                        <a:pt x="599" y="37"/>
                      </a:lnTo>
                      <a:lnTo>
                        <a:pt x="599" y="44"/>
                      </a:lnTo>
                      <a:lnTo>
                        <a:pt x="600" y="55"/>
                      </a:lnTo>
                      <a:lnTo>
                        <a:pt x="601" y="67"/>
                      </a:lnTo>
                      <a:lnTo>
                        <a:pt x="603" y="84"/>
                      </a:lnTo>
                      <a:lnTo>
                        <a:pt x="603" y="84"/>
                      </a:lnTo>
                      <a:lnTo>
                        <a:pt x="612" y="168"/>
                      </a:lnTo>
                      <a:lnTo>
                        <a:pt x="617" y="231"/>
                      </a:lnTo>
                      <a:lnTo>
                        <a:pt x="621" y="301"/>
                      </a:lnTo>
                      <a:lnTo>
                        <a:pt x="622" y="334"/>
                      </a:lnTo>
                      <a:lnTo>
                        <a:pt x="622" y="368"/>
                      </a:lnTo>
                      <a:lnTo>
                        <a:pt x="621" y="397"/>
                      </a:lnTo>
                      <a:lnTo>
                        <a:pt x="618" y="423"/>
                      </a:lnTo>
                      <a:lnTo>
                        <a:pt x="614" y="445"/>
                      </a:lnTo>
                      <a:lnTo>
                        <a:pt x="612" y="453"/>
                      </a:lnTo>
                      <a:lnTo>
                        <a:pt x="610" y="461"/>
                      </a:lnTo>
                      <a:lnTo>
                        <a:pt x="606" y="467"/>
                      </a:lnTo>
                      <a:lnTo>
                        <a:pt x="602" y="471"/>
                      </a:lnTo>
                      <a:lnTo>
                        <a:pt x="599" y="473"/>
                      </a:lnTo>
                      <a:lnTo>
                        <a:pt x="594" y="473"/>
                      </a:lnTo>
                      <a:lnTo>
                        <a:pt x="594" y="473"/>
                      </a:lnTo>
                      <a:lnTo>
                        <a:pt x="587" y="471"/>
                      </a:lnTo>
                      <a:lnTo>
                        <a:pt x="583" y="467"/>
                      </a:lnTo>
                      <a:lnTo>
                        <a:pt x="579" y="462"/>
                      </a:lnTo>
                      <a:lnTo>
                        <a:pt x="574" y="456"/>
                      </a:lnTo>
                      <a:lnTo>
                        <a:pt x="569" y="447"/>
                      </a:lnTo>
                      <a:lnTo>
                        <a:pt x="565" y="439"/>
                      </a:lnTo>
                      <a:lnTo>
                        <a:pt x="558" y="417"/>
                      </a:lnTo>
                      <a:lnTo>
                        <a:pt x="551" y="391"/>
                      </a:lnTo>
                      <a:lnTo>
                        <a:pt x="545" y="363"/>
                      </a:lnTo>
                      <a:lnTo>
                        <a:pt x="540" y="332"/>
                      </a:lnTo>
                      <a:lnTo>
                        <a:pt x="535" y="300"/>
                      </a:lnTo>
                      <a:lnTo>
                        <a:pt x="527" y="235"/>
                      </a:lnTo>
                      <a:lnTo>
                        <a:pt x="521" y="176"/>
                      </a:lnTo>
                      <a:lnTo>
                        <a:pt x="515" y="103"/>
                      </a:lnTo>
                      <a:lnTo>
                        <a:pt x="515" y="103"/>
                      </a:lnTo>
                      <a:lnTo>
                        <a:pt x="513" y="88"/>
                      </a:lnTo>
                      <a:lnTo>
                        <a:pt x="509" y="75"/>
                      </a:lnTo>
                      <a:lnTo>
                        <a:pt x="504" y="62"/>
                      </a:lnTo>
                      <a:lnTo>
                        <a:pt x="497" y="54"/>
                      </a:lnTo>
                      <a:lnTo>
                        <a:pt x="487" y="46"/>
                      </a:lnTo>
                      <a:lnTo>
                        <a:pt x="482" y="43"/>
                      </a:lnTo>
                      <a:lnTo>
                        <a:pt x="477" y="41"/>
                      </a:lnTo>
                      <a:lnTo>
                        <a:pt x="471" y="39"/>
                      </a:lnTo>
                      <a:lnTo>
                        <a:pt x="465" y="39"/>
                      </a:lnTo>
                      <a:lnTo>
                        <a:pt x="451" y="39"/>
                      </a:lnTo>
                      <a:lnTo>
                        <a:pt x="451" y="39"/>
                      </a:lnTo>
                      <a:lnTo>
                        <a:pt x="394" y="46"/>
                      </a:lnTo>
                      <a:lnTo>
                        <a:pt x="350" y="52"/>
                      </a:lnTo>
                      <a:lnTo>
                        <a:pt x="302" y="62"/>
                      </a:lnTo>
                      <a:lnTo>
                        <a:pt x="277" y="68"/>
                      </a:lnTo>
                      <a:lnTo>
                        <a:pt x="255" y="75"/>
                      </a:lnTo>
                      <a:lnTo>
                        <a:pt x="233" y="82"/>
                      </a:lnTo>
                      <a:lnTo>
                        <a:pt x="214" y="90"/>
                      </a:lnTo>
                      <a:lnTo>
                        <a:pt x="198" y="100"/>
                      </a:lnTo>
                      <a:lnTo>
                        <a:pt x="190" y="105"/>
                      </a:lnTo>
                      <a:lnTo>
                        <a:pt x="183" y="111"/>
                      </a:lnTo>
                      <a:lnTo>
                        <a:pt x="178" y="117"/>
                      </a:lnTo>
                      <a:lnTo>
                        <a:pt x="173" y="124"/>
                      </a:lnTo>
                      <a:lnTo>
                        <a:pt x="171" y="130"/>
                      </a:lnTo>
                      <a:lnTo>
                        <a:pt x="168" y="136"/>
                      </a:lnTo>
                      <a:lnTo>
                        <a:pt x="168" y="136"/>
                      </a:lnTo>
                      <a:lnTo>
                        <a:pt x="166" y="152"/>
                      </a:lnTo>
                      <a:lnTo>
                        <a:pt x="165" y="169"/>
                      </a:lnTo>
                      <a:lnTo>
                        <a:pt x="165" y="189"/>
                      </a:lnTo>
                      <a:lnTo>
                        <a:pt x="165" y="209"/>
                      </a:lnTo>
                      <a:lnTo>
                        <a:pt x="167" y="255"/>
                      </a:lnTo>
                      <a:lnTo>
                        <a:pt x="169" y="300"/>
                      </a:lnTo>
                      <a:lnTo>
                        <a:pt x="172" y="342"/>
                      </a:lnTo>
                      <a:lnTo>
                        <a:pt x="172" y="360"/>
                      </a:lnTo>
                      <a:lnTo>
                        <a:pt x="171" y="376"/>
                      </a:lnTo>
                      <a:lnTo>
                        <a:pt x="169" y="390"/>
                      </a:lnTo>
                      <a:lnTo>
                        <a:pt x="166" y="401"/>
                      </a:lnTo>
                      <a:lnTo>
                        <a:pt x="163" y="404"/>
                      </a:lnTo>
                      <a:lnTo>
                        <a:pt x="161" y="407"/>
                      </a:lnTo>
                      <a:lnTo>
                        <a:pt x="158" y="409"/>
                      </a:lnTo>
                      <a:lnTo>
                        <a:pt x="155" y="409"/>
                      </a:lnTo>
                      <a:lnTo>
                        <a:pt x="155" y="409"/>
                      </a:lnTo>
                      <a:lnTo>
                        <a:pt x="147" y="409"/>
                      </a:lnTo>
                      <a:lnTo>
                        <a:pt x="140" y="407"/>
                      </a:lnTo>
                      <a:lnTo>
                        <a:pt x="134" y="403"/>
                      </a:lnTo>
                      <a:lnTo>
                        <a:pt x="129" y="398"/>
                      </a:lnTo>
                      <a:lnTo>
                        <a:pt x="123" y="392"/>
                      </a:lnTo>
                      <a:lnTo>
                        <a:pt x="118" y="385"/>
                      </a:lnTo>
                      <a:lnTo>
                        <a:pt x="114" y="377"/>
                      </a:lnTo>
                      <a:lnTo>
                        <a:pt x="111" y="369"/>
                      </a:lnTo>
                      <a:lnTo>
                        <a:pt x="103" y="348"/>
                      </a:lnTo>
                      <a:lnTo>
                        <a:pt x="97" y="326"/>
                      </a:lnTo>
                      <a:lnTo>
                        <a:pt x="93" y="304"/>
                      </a:lnTo>
                      <a:lnTo>
                        <a:pt x="88" y="281"/>
                      </a:lnTo>
                      <a:lnTo>
                        <a:pt x="82" y="238"/>
                      </a:lnTo>
                      <a:lnTo>
                        <a:pt x="80" y="220"/>
                      </a:lnTo>
                      <a:lnTo>
                        <a:pt x="76" y="206"/>
                      </a:lnTo>
                      <a:lnTo>
                        <a:pt x="73" y="197"/>
                      </a:lnTo>
                      <a:lnTo>
                        <a:pt x="71" y="193"/>
                      </a:lnTo>
                      <a:lnTo>
                        <a:pt x="69" y="192"/>
                      </a:lnTo>
                      <a:lnTo>
                        <a:pt x="66" y="193"/>
                      </a:lnTo>
                      <a:lnTo>
                        <a:pt x="64" y="195"/>
                      </a:lnTo>
                      <a:lnTo>
                        <a:pt x="60" y="200"/>
                      </a:lnTo>
                      <a:lnTo>
                        <a:pt x="58" y="204"/>
                      </a:lnTo>
                      <a:lnTo>
                        <a:pt x="58" y="204"/>
                      </a:lnTo>
                      <a:close/>
                    </a:path>
                  </a:pathLst>
                </a:cu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01" name="Freeform 10">
                  <a:extLst>
                    <a:ext uri="{FF2B5EF4-FFF2-40B4-BE49-F238E27FC236}">
                      <a16:creationId xmlns:a16="http://schemas.microsoft.com/office/drawing/2014/main" id="{D725F937-8F9A-484E-934E-1B7ACAAA9519}"/>
                    </a:ext>
                  </a:extLst>
                </p:cNvPr>
                <p:cNvSpPr>
                  <a:spLocks/>
                </p:cNvSpPr>
                <p:nvPr/>
              </p:nvSpPr>
              <p:spPr bwMode="auto">
                <a:xfrm>
                  <a:off x="-765350" y="3923778"/>
                  <a:ext cx="332058" cy="219315"/>
                </a:xfrm>
                <a:custGeom>
                  <a:avLst/>
                  <a:gdLst>
                    <a:gd name="T0" fmla="*/ 1923 w 1930"/>
                    <a:gd name="T1" fmla="*/ 484 h 1083"/>
                    <a:gd name="T2" fmla="*/ 1898 w 1930"/>
                    <a:gd name="T3" fmla="*/ 403 h 1083"/>
                    <a:gd name="T4" fmla="*/ 1852 w 1930"/>
                    <a:gd name="T5" fmla="*/ 327 h 1083"/>
                    <a:gd name="T6" fmla="*/ 1787 w 1930"/>
                    <a:gd name="T7" fmla="*/ 257 h 1083"/>
                    <a:gd name="T8" fmla="*/ 1706 w 1930"/>
                    <a:gd name="T9" fmla="*/ 193 h 1083"/>
                    <a:gd name="T10" fmla="*/ 1610 w 1930"/>
                    <a:gd name="T11" fmla="*/ 137 h 1083"/>
                    <a:gd name="T12" fmla="*/ 1500 w 1930"/>
                    <a:gd name="T13" fmla="*/ 89 h 1083"/>
                    <a:gd name="T14" fmla="*/ 1379 w 1930"/>
                    <a:gd name="T15" fmla="*/ 51 h 1083"/>
                    <a:gd name="T16" fmla="*/ 1248 w 1930"/>
                    <a:gd name="T17" fmla="*/ 23 h 1083"/>
                    <a:gd name="T18" fmla="*/ 1109 w 1930"/>
                    <a:gd name="T19" fmla="*/ 5 h 1083"/>
                    <a:gd name="T20" fmla="*/ 963 w 1930"/>
                    <a:gd name="T21" fmla="*/ 0 h 1083"/>
                    <a:gd name="T22" fmla="*/ 864 w 1930"/>
                    <a:gd name="T23" fmla="*/ 2 h 1083"/>
                    <a:gd name="T24" fmla="*/ 721 w 1930"/>
                    <a:gd name="T25" fmla="*/ 17 h 1083"/>
                    <a:gd name="T26" fmla="*/ 586 w 1930"/>
                    <a:gd name="T27" fmla="*/ 44 h 1083"/>
                    <a:gd name="T28" fmla="*/ 461 w 1930"/>
                    <a:gd name="T29" fmla="*/ 81 h 1083"/>
                    <a:gd name="T30" fmla="*/ 348 w 1930"/>
                    <a:gd name="T31" fmla="*/ 126 h 1083"/>
                    <a:gd name="T32" fmla="*/ 247 w 1930"/>
                    <a:gd name="T33" fmla="*/ 180 h 1083"/>
                    <a:gd name="T34" fmla="*/ 162 w 1930"/>
                    <a:gd name="T35" fmla="*/ 242 h 1083"/>
                    <a:gd name="T36" fmla="*/ 93 w 1930"/>
                    <a:gd name="T37" fmla="*/ 310 h 1083"/>
                    <a:gd name="T38" fmla="*/ 41 w 1930"/>
                    <a:gd name="T39" fmla="*/ 383 h 1083"/>
                    <a:gd name="T40" fmla="*/ 10 w 1930"/>
                    <a:gd name="T41" fmla="*/ 462 h 1083"/>
                    <a:gd name="T42" fmla="*/ 0 w 1930"/>
                    <a:gd name="T43" fmla="*/ 544 h 1083"/>
                    <a:gd name="T44" fmla="*/ 5 w 1930"/>
                    <a:gd name="T45" fmla="*/ 599 h 1083"/>
                    <a:gd name="T46" fmla="*/ 30 w 1930"/>
                    <a:gd name="T47" fmla="*/ 680 h 1083"/>
                    <a:gd name="T48" fmla="*/ 77 w 1930"/>
                    <a:gd name="T49" fmla="*/ 756 h 1083"/>
                    <a:gd name="T50" fmla="*/ 141 w 1930"/>
                    <a:gd name="T51" fmla="*/ 826 h 1083"/>
                    <a:gd name="T52" fmla="*/ 222 w 1930"/>
                    <a:gd name="T53" fmla="*/ 890 h 1083"/>
                    <a:gd name="T54" fmla="*/ 319 w 1930"/>
                    <a:gd name="T55" fmla="*/ 946 h 1083"/>
                    <a:gd name="T56" fmla="*/ 428 w 1930"/>
                    <a:gd name="T57" fmla="*/ 994 h 1083"/>
                    <a:gd name="T58" fmla="*/ 549 w 1930"/>
                    <a:gd name="T59" fmla="*/ 1032 h 1083"/>
                    <a:gd name="T60" fmla="*/ 680 w 1930"/>
                    <a:gd name="T61" fmla="*/ 1060 h 1083"/>
                    <a:gd name="T62" fmla="*/ 820 w 1930"/>
                    <a:gd name="T63" fmla="*/ 1078 h 1083"/>
                    <a:gd name="T64" fmla="*/ 965 w 1930"/>
                    <a:gd name="T65" fmla="*/ 1083 h 1083"/>
                    <a:gd name="T66" fmla="*/ 1064 w 1930"/>
                    <a:gd name="T67" fmla="*/ 1081 h 1083"/>
                    <a:gd name="T68" fmla="*/ 1207 w 1930"/>
                    <a:gd name="T69" fmla="*/ 1066 h 1083"/>
                    <a:gd name="T70" fmla="*/ 1342 w 1930"/>
                    <a:gd name="T71" fmla="*/ 1039 h 1083"/>
                    <a:gd name="T72" fmla="*/ 1467 w 1930"/>
                    <a:gd name="T73" fmla="*/ 1004 h 1083"/>
                    <a:gd name="T74" fmla="*/ 1581 w 1930"/>
                    <a:gd name="T75" fmla="*/ 957 h 1083"/>
                    <a:gd name="T76" fmla="*/ 1681 w 1930"/>
                    <a:gd name="T77" fmla="*/ 903 h 1083"/>
                    <a:gd name="T78" fmla="*/ 1767 w 1930"/>
                    <a:gd name="T79" fmla="*/ 842 h 1083"/>
                    <a:gd name="T80" fmla="*/ 1835 w 1930"/>
                    <a:gd name="T81" fmla="*/ 773 h 1083"/>
                    <a:gd name="T82" fmla="*/ 1887 w 1930"/>
                    <a:gd name="T83" fmla="*/ 700 h 1083"/>
                    <a:gd name="T84" fmla="*/ 1919 w 1930"/>
                    <a:gd name="T85" fmla="*/ 621 h 1083"/>
                    <a:gd name="T86" fmla="*/ 1930 w 1930"/>
                    <a:gd name="T87" fmla="*/ 539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083">
                      <a:moveTo>
                        <a:pt x="1928" y="511"/>
                      </a:moveTo>
                      <a:lnTo>
                        <a:pt x="1928" y="511"/>
                      </a:lnTo>
                      <a:lnTo>
                        <a:pt x="1923" y="484"/>
                      </a:lnTo>
                      <a:lnTo>
                        <a:pt x="1917" y="456"/>
                      </a:lnTo>
                      <a:lnTo>
                        <a:pt x="1909" y="429"/>
                      </a:lnTo>
                      <a:lnTo>
                        <a:pt x="1898" y="403"/>
                      </a:lnTo>
                      <a:lnTo>
                        <a:pt x="1885" y="377"/>
                      </a:lnTo>
                      <a:lnTo>
                        <a:pt x="1870" y="351"/>
                      </a:lnTo>
                      <a:lnTo>
                        <a:pt x="1852" y="327"/>
                      </a:lnTo>
                      <a:lnTo>
                        <a:pt x="1833" y="304"/>
                      </a:lnTo>
                      <a:lnTo>
                        <a:pt x="1811" y="279"/>
                      </a:lnTo>
                      <a:lnTo>
                        <a:pt x="1787" y="257"/>
                      </a:lnTo>
                      <a:lnTo>
                        <a:pt x="1762" y="235"/>
                      </a:lnTo>
                      <a:lnTo>
                        <a:pt x="1735" y="214"/>
                      </a:lnTo>
                      <a:lnTo>
                        <a:pt x="1706" y="193"/>
                      </a:lnTo>
                      <a:lnTo>
                        <a:pt x="1676" y="174"/>
                      </a:lnTo>
                      <a:lnTo>
                        <a:pt x="1644" y="155"/>
                      </a:lnTo>
                      <a:lnTo>
                        <a:pt x="1610" y="137"/>
                      </a:lnTo>
                      <a:lnTo>
                        <a:pt x="1575" y="121"/>
                      </a:lnTo>
                      <a:lnTo>
                        <a:pt x="1538" y="105"/>
                      </a:lnTo>
                      <a:lnTo>
                        <a:pt x="1500" y="89"/>
                      </a:lnTo>
                      <a:lnTo>
                        <a:pt x="1461" y="76"/>
                      </a:lnTo>
                      <a:lnTo>
                        <a:pt x="1421" y="63"/>
                      </a:lnTo>
                      <a:lnTo>
                        <a:pt x="1379" y="51"/>
                      </a:lnTo>
                      <a:lnTo>
                        <a:pt x="1336" y="40"/>
                      </a:lnTo>
                      <a:lnTo>
                        <a:pt x="1293" y="31"/>
                      </a:lnTo>
                      <a:lnTo>
                        <a:pt x="1248" y="23"/>
                      </a:lnTo>
                      <a:lnTo>
                        <a:pt x="1203" y="16"/>
                      </a:lnTo>
                      <a:lnTo>
                        <a:pt x="1156" y="9"/>
                      </a:lnTo>
                      <a:lnTo>
                        <a:pt x="1109" y="5"/>
                      </a:lnTo>
                      <a:lnTo>
                        <a:pt x="1062" y="2"/>
                      </a:lnTo>
                      <a:lnTo>
                        <a:pt x="1013" y="0"/>
                      </a:lnTo>
                      <a:lnTo>
                        <a:pt x="963" y="0"/>
                      </a:lnTo>
                      <a:lnTo>
                        <a:pt x="914" y="0"/>
                      </a:lnTo>
                      <a:lnTo>
                        <a:pt x="914" y="0"/>
                      </a:lnTo>
                      <a:lnTo>
                        <a:pt x="864" y="2"/>
                      </a:lnTo>
                      <a:lnTo>
                        <a:pt x="816" y="6"/>
                      </a:lnTo>
                      <a:lnTo>
                        <a:pt x="767" y="11"/>
                      </a:lnTo>
                      <a:lnTo>
                        <a:pt x="721" y="17"/>
                      </a:lnTo>
                      <a:lnTo>
                        <a:pt x="675" y="25"/>
                      </a:lnTo>
                      <a:lnTo>
                        <a:pt x="630" y="34"/>
                      </a:lnTo>
                      <a:lnTo>
                        <a:pt x="586" y="44"/>
                      </a:lnTo>
                      <a:lnTo>
                        <a:pt x="543" y="55"/>
                      </a:lnTo>
                      <a:lnTo>
                        <a:pt x="501" y="67"/>
                      </a:lnTo>
                      <a:lnTo>
                        <a:pt x="461" y="81"/>
                      </a:lnTo>
                      <a:lnTo>
                        <a:pt x="422" y="94"/>
                      </a:lnTo>
                      <a:lnTo>
                        <a:pt x="384" y="110"/>
                      </a:lnTo>
                      <a:lnTo>
                        <a:pt x="348" y="126"/>
                      </a:lnTo>
                      <a:lnTo>
                        <a:pt x="312" y="143"/>
                      </a:lnTo>
                      <a:lnTo>
                        <a:pt x="279" y="161"/>
                      </a:lnTo>
                      <a:lnTo>
                        <a:pt x="247" y="180"/>
                      </a:lnTo>
                      <a:lnTo>
                        <a:pt x="217" y="199"/>
                      </a:lnTo>
                      <a:lnTo>
                        <a:pt x="189" y="220"/>
                      </a:lnTo>
                      <a:lnTo>
                        <a:pt x="162" y="242"/>
                      </a:lnTo>
                      <a:lnTo>
                        <a:pt x="137" y="264"/>
                      </a:lnTo>
                      <a:lnTo>
                        <a:pt x="114" y="286"/>
                      </a:lnTo>
                      <a:lnTo>
                        <a:pt x="93" y="310"/>
                      </a:lnTo>
                      <a:lnTo>
                        <a:pt x="73" y="334"/>
                      </a:lnTo>
                      <a:lnTo>
                        <a:pt x="57" y="359"/>
                      </a:lnTo>
                      <a:lnTo>
                        <a:pt x="41" y="383"/>
                      </a:lnTo>
                      <a:lnTo>
                        <a:pt x="29" y="409"/>
                      </a:lnTo>
                      <a:lnTo>
                        <a:pt x="18" y="435"/>
                      </a:lnTo>
                      <a:lnTo>
                        <a:pt x="10" y="462"/>
                      </a:lnTo>
                      <a:lnTo>
                        <a:pt x="5" y="489"/>
                      </a:lnTo>
                      <a:lnTo>
                        <a:pt x="1" y="516"/>
                      </a:lnTo>
                      <a:lnTo>
                        <a:pt x="0" y="544"/>
                      </a:lnTo>
                      <a:lnTo>
                        <a:pt x="1" y="572"/>
                      </a:lnTo>
                      <a:lnTo>
                        <a:pt x="1" y="572"/>
                      </a:lnTo>
                      <a:lnTo>
                        <a:pt x="5" y="599"/>
                      </a:lnTo>
                      <a:lnTo>
                        <a:pt x="11" y="627"/>
                      </a:lnTo>
                      <a:lnTo>
                        <a:pt x="19" y="654"/>
                      </a:lnTo>
                      <a:lnTo>
                        <a:pt x="30" y="680"/>
                      </a:lnTo>
                      <a:lnTo>
                        <a:pt x="44" y="706"/>
                      </a:lnTo>
                      <a:lnTo>
                        <a:pt x="59" y="732"/>
                      </a:lnTo>
                      <a:lnTo>
                        <a:pt x="77" y="756"/>
                      </a:lnTo>
                      <a:lnTo>
                        <a:pt x="97" y="781"/>
                      </a:lnTo>
                      <a:lnTo>
                        <a:pt x="117" y="804"/>
                      </a:lnTo>
                      <a:lnTo>
                        <a:pt x="141" y="826"/>
                      </a:lnTo>
                      <a:lnTo>
                        <a:pt x="167" y="848"/>
                      </a:lnTo>
                      <a:lnTo>
                        <a:pt x="194" y="869"/>
                      </a:lnTo>
                      <a:lnTo>
                        <a:pt x="222" y="890"/>
                      </a:lnTo>
                      <a:lnTo>
                        <a:pt x="252" y="909"/>
                      </a:lnTo>
                      <a:lnTo>
                        <a:pt x="285" y="928"/>
                      </a:lnTo>
                      <a:lnTo>
                        <a:pt x="319" y="946"/>
                      </a:lnTo>
                      <a:lnTo>
                        <a:pt x="354" y="963"/>
                      </a:lnTo>
                      <a:lnTo>
                        <a:pt x="390" y="979"/>
                      </a:lnTo>
                      <a:lnTo>
                        <a:pt x="428" y="994"/>
                      </a:lnTo>
                      <a:lnTo>
                        <a:pt x="467" y="1007"/>
                      </a:lnTo>
                      <a:lnTo>
                        <a:pt x="507" y="1021"/>
                      </a:lnTo>
                      <a:lnTo>
                        <a:pt x="549" y="1032"/>
                      </a:lnTo>
                      <a:lnTo>
                        <a:pt x="592" y="1043"/>
                      </a:lnTo>
                      <a:lnTo>
                        <a:pt x="636" y="1053"/>
                      </a:lnTo>
                      <a:lnTo>
                        <a:pt x="680" y="1060"/>
                      </a:lnTo>
                      <a:lnTo>
                        <a:pt x="726" y="1067"/>
                      </a:lnTo>
                      <a:lnTo>
                        <a:pt x="772" y="1074"/>
                      </a:lnTo>
                      <a:lnTo>
                        <a:pt x="820" y="1078"/>
                      </a:lnTo>
                      <a:lnTo>
                        <a:pt x="868" y="1081"/>
                      </a:lnTo>
                      <a:lnTo>
                        <a:pt x="916" y="1083"/>
                      </a:lnTo>
                      <a:lnTo>
                        <a:pt x="965" y="1083"/>
                      </a:lnTo>
                      <a:lnTo>
                        <a:pt x="1015" y="1083"/>
                      </a:lnTo>
                      <a:lnTo>
                        <a:pt x="1015" y="1083"/>
                      </a:lnTo>
                      <a:lnTo>
                        <a:pt x="1064" y="1081"/>
                      </a:lnTo>
                      <a:lnTo>
                        <a:pt x="1113" y="1077"/>
                      </a:lnTo>
                      <a:lnTo>
                        <a:pt x="1161" y="1072"/>
                      </a:lnTo>
                      <a:lnTo>
                        <a:pt x="1207" y="1066"/>
                      </a:lnTo>
                      <a:lnTo>
                        <a:pt x="1254" y="1059"/>
                      </a:lnTo>
                      <a:lnTo>
                        <a:pt x="1298" y="1049"/>
                      </a:lnTo>
                      <a:lnTo>
                        <a:pt x="1342" y="1039"/>
                      </a:lnTo>
                      <a:lnTo>
                        <a:pt x="1385" y="1028"/>
                      </a:lnTo>
                      <a:lnTo>
                        <a:pt x="1427" y="1016"/>
                      </a:lnTo>
                      <a:lnTo>
                        <a:pt x="1467" y="1004"/>
                      </a:lnTo>
                      <a:lnTo>
                        <a:pt x="1507" y="989"/>
                      </a:lnTo>
                      <a:lnTo>
                        <a:pt x="1545" y="973"/>
                      </a:lnTo>
                      <a:lnTo>
                        <a:pt x="1581" y="957"/>
                      </a:lnTo>
                      <a:lnTo>
                        <a:pt x="1616" y="940"/>
                      </a:lnTo>
                      <a:lnTo>
                        <a:pt x="1649" y="922"/>
                      </a:lnTo>
                      <a:lnTo>
                        <a:pt x="1681" y="903"/>
                      </a:lnTo>
                      <a:lnTo>
                        <a:pt x="1711" y="884"/>
                      </a:lnTo>
                      <a:lnTo>
                        <a:pt x="1740" y="863"/>
                      </a:lnTo>
                      <a:lnTo>
                        <a:pt x="1767" y="842"/>
                      </a:lnTo>
                      <a:lnTo>
                        <a:pt x="1791" y="820"/>
                      </a:lnTo>
                      <a:lnTo>
                        <a:pt x="1814" y="797"/>
                      </a:lnTo>
                      <a:lnTo>
                        <a:pt x="1835" y="773"/>
                      </a:lnTo>
                      <a:lnTo>
                        <a:pt x="1855" y="749"/>
                      </a:lnTo>
                      <a:lnTo>
                        <a:pt x="1872" y="724"/>
                      </a:lnTo>
                      <a:lnTo>
                        <a:pt x="1887" y="700"/>
                      </a:lnTo>
                      <a:lnTo>
                        <a:pt x="1899" y="674"/>
                      </a:lnTo>
                      <a:lnTo>
                        <a:pt x="1910" y="648"/>
                      </a:lnTo>
                      <a:lnTo>
                        <a:pt x="1919" y="621"/>
                      </a:lnTo>
                      <a:lnTo>
                        <a:pt x="1925" y="594"/>
                      </a:lnTo>
                      <a:lnTo>
                        <a:pt x="1928" y="567"/>
                      </a:lnTo>
                      <a:lnTo>
                        <a:pt x="1930" y="539"/>
                      </a:lnTo>
                      <a:lnTo>
                        <a:pt x="1928" y="511"/>
                      </a:lnTo>
                      <a:lnTo>
                        <a:pt x="1928" y="511"/>
                      </a:lnTo>
                      <a:close/>
                    </a:path>
                  </a:pathLst>
                </a:custGeom>
                <a:solidFill>
                  <a:schemeClr val="accent2"/>
                </a:solidFill>
                <a:ln w="7938">
                  <a:noFill/>
                  <a:prstDash val="solid"/>
                  <a:round/>
                  <a:headEnd/>
                  <a:tailEnd/>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02" name="Freeform 11">
                  <a:extLst>
                    <a:ext uri="{FF2B5EF4-FFF2-40B4-BE49-F238E27FC236}">
                      <a16:creationId xmlns:a16="http://schemas.microsoft.com/office/drawing/2014/main" id="{F96DBE91-68CB-4AA1-92F7-8C3E6F75C2EF}"/>
                    </a:ext>
                  </a:extLst>
                </p:cNvPr>
                <p:cNvSpPr>
                  <a:spLocks/>
                </p:cNvSpPr>
                <p:nvPr/>
              </p:nvSpPr>
              <p:spPr bwMode="auto">
                <a:xfrm>
                  <a:off x="-742295" y="3948057"/>
                  <a:ext cx="291798" cy="176828"/>
                </a:xfrm>
                <a:custGeom>
                  <a:avLst/>
                  <a:gdLst>
                    <a:gd name="T0" fmla="*/ 1 w 1697"/>
                    <a:gd name="T1" fmla="*/ 375 h 874"/>
                    <a:gd name="T2" fmla="*/ 38 w 1697"/>
                    <a:gd name="T3" fmla="*/ 545 h 874"/>
                    <a:gd name="T4" fmla="*/ 152 w 1697"/>
                    <a:gd name="T5" fmla="*/ 684 h 874"/>
                    <a:gd name="T6" fmla="*/ 304 w 1697"/>
                    <a:gd name="T7" fmla="*/ 729 h 874"/>
                    <a:gd name="T8" fmla="*/ 341 w 1697"/>
                    <a:gd name="T9" fmla="*/ 630 h 874"/>
                    <a:gd name="T10" fmla="*/ 305 w 1697"/>
                    <a:gd name="T11" fmla="*/ 285 h 874"/>
                    <a:gd name="T12" fmla="*/ 342 w 1697"/>
                    <a:gd name="T13" fmla="*/ 208 h 874"/>
                    <a:gd name="T14" fmla="*/ 389 w 1697"/>
                    <a:gd name="T15" fmla="*/ 262 h 874"/>
                    <a:gd name="T16" fmla="*/ 439 w 1697"/>
                    <a:gd name="T17" fmla="*/ 625 h 874"/>
                    <a:gd name="T18" fmla="*/ 498 w 1697"/>
                    <a:gd name="T19" fmla="*/ 808 h 874"/>
                    <a:gd name="T20" fmla="*/ 602 w 1697"/>
                    <a:gd name="T21" fmla="*/ 870 h 874"/>
                    <a:gd name="T22" fmla="*/ 801 w 1697"/>
                    <a:gd name="T23" fmla="*/ 860 h 874"/>
                    <a:gd name="T24" fmla="*/ 782 w 1697"/>
                    <a:gd name="T25" fmla="*/ 379 h 874"/>
                    <a:gd name="T26" fmla="*/ 770 w 1697"/>
                    <a:gd name="T27" fmla="*/ 207 h 874"/>
                    <a:gd name="T28" fmla="*/ 806 w 1697"/>
                    <a:gd name="T29" fmla="*/ 184 h 874"/>
                    <a:gd name="T30" fmla="*/ 862 w 1697"/>
                    <a:gd name="T31" fmla="*/ 321 h 874"/>
                    <a:gd name="T32" fmla="*/ 894 w 1697"/>
                    <a:gd name="T33" fmla="*/ 692 h 874"/>
                    <a:gd name="T34" fmla="*/ 948 w 1697"/>
                    <a:gd name="T35" fmla="*/ 841 h 874"/>
                    <a:gd name="T36" fmla="*/ 1042 w 1697"/>
                    <a:gd name="T37" fmla="*/ 862 h 874"/>
                    <a:gd name="T38" fmla="*/ 1292 w 1697"/>
                    <a:gd name="T39" fmla="*/ 786 h 874"/>
                    <a:gd name="T40" fmla="*/ 1237 w 1697"/>
                    <a:gd name="T41" fmla="*/ 627 h 874"/>
                    <a:gd name="T42" fmla="*/ 1201 w 1697"/>
                    <a:gd name="T43" fmla="*/ 342 h 874"/>
                    <a:gd name="T44" fmla="*/ 1219 w 1697"/>
                    <a:gd name="T45" fmla="*/ 195 h 874"/>
                    <a:gd name="T46" fmla="*/ 1274 w 1697"/>
                    <a:gd name="T47" fmla="*/ 238 h 874"/>
                    <a:gd name="T48" fmla="*/ 1311 w 1697"/>
                    <a:gd name="T49" fmla="*/ 392 h 874"/>
                    <a:gd name="T50" fmla="*/ 1339 w 1697"/>
                    <a:gd name="T51" fmla="*/ 662 h 874"/>
                    <a:gd name="T52" fmla="*/ 1392 w 1697"/>
                    <a:gd name="T53" fmla="*/ 715 h 874"/>
                    <a:gd name="T54" fmla="*/ 1523 w 1697"/>
                    <a:gd name="T55" fmla="*/ 673 h 874"/>
                    <a:gd name="T56" fmla="*/ 1666 w 1697"/>
                    <a:gd name="T57" fmla="*/ 533 h 874"/>
                    <a:gd name="T58" fmla="*/ 1695 w 1697"/>
                    <a:gd name="T59" fmla="*/ 387 h 874"/>
                    <a:gd name="T60" fmla="*/ 1605 w 1697"/>
                    <a:gd name="T61" fmla="*/ 168 h 874"/>
                    <a:gd name="T62" fmla="*/ 1480 w 1697"/>
                    <a:gd name="T63" fmla="*/ 71 h 874"/>
                    <a:gd name="T64" fmla="*/ 1436 w 1697"/>
                    <a:gd name="T65" fmla="*/ 87 h 874"/>
                    <a:gd name="T66" fmla="*/ 1462 w 1697"/>
                    <a:gd name="T67" fmla="*/ 371 h 874"/>
                    <a:gd name="T68" fmla="*/ 1441 w 1697"/>
                    <a:gd name="T69" fmla="*/ 472 h 874"/>
                    <a:gd name="T70" fmla="*/ 1392 w 1697"/>
                    <a:gd name="T71" fmla="*/ 415 h 874"/>
                    <a:gd name="T72" fmla="*/ 1359 w 1697"/>
                    <a:gd name="T73" fmla="*/ 148 h 874"/>
                    <a:gd name="T74" fmla="*/ 1326 w 1697"/>
                    <a:gd name="T75" fmla="*/ 54 h 874"/>
                    <a:gd name="T76" fmla="*/ 1102 w 1697"/>
                    <a:gd name="T77" fmla="*/ 7 h 874"/>
                    <a:gd name="T78" fmla="*/ 1062 w 1697"/>
                    <a:gd name="T79" fmla="*/ 73 h 874"/>
                    <a:gd name="T80" fmla="*/ 1080 w 1697"/>
                    <a:gd name="T81" fmla="*/ 439 h 874"/>
                    <a:gd name="T82" fmla="*/ 1040 w 1697"/>
                    <a:gd name="T83" fmla="*/ 467 h 874"/>
                    <a:gd name="T84" fmla="*/ 987 w 1697"/>
                    <a:gd name="T85" fmla="*/ 364 h 874"/>
                    <a:gd name="T86" fmla="*/ 965 w 1697"/>
                    <a:gd name="T87" fmla="*/ 99 h 874"/>
                    <a:gd name="T88" fmla="*/ 920 w 1697"/>
                    <a:gd name="T89" fmla="*/ 5 h 874"/>
                    <a:gd name="T90" fmla="*/ 638 w 1697"/>
                    <a:gd name="T91" fmla="*/ 7 h 874"/>
                    <a:gd name="T92" fmla="*/ 601 w 1697"/>
                    <a:gd name="T93" fmla="*/ 67 h 874"/>
                    <a:gd name="T94" fmla="*/ 618 w 1697"/>
                    <a:gd name="T95" fmla="*/ 423 h 874"/>
                    <a:gd name="T96" fmla="*/ 587 w 1697"/>
                    <a:gd name="T97" fmla="*/ 471 h 874"/>
                    <a:gd name="T98" fmla="*/ 540 w 1697"/>
                    <a:gd name="T99" fmla="*/ 332 h 874"/>
                    <a:gd name="T100" fmla="*/ 497 w 1697"/>
                    <a:gd name="T101" fmla="*/ 54 h 874"/>
                    <a:gd name="T102" fmla="*/ 350 w 1697"/>
                    <a:gd name="T103" fmla="*/ 52 h 874"/>
                    <a:gd name="T104" fmla="*/ 178 w 1697"/>
                    <a:gd name="T105" fmla="*/ 117 h 874"/>
                    <a:gd name="T106" fmla="*/ 167 w 1697"/>
                    <a:gd name="T107" fmla="*/ 255 h 874"/>
                    <a:gd name="T108" fmla="*/ 158 w 1697"/>
                    <a:gd name="T109" fmla="*/ 409 h 874"/>
                    <a:gd name="T110" fmla="*/ 114 w 1697"/>
                    <a:gd name="T111" fmla="*/ 377 h 874"/>
                    <a:gd name="T112" fmla="*/ 73 w 1697"/>
                    <a:gd name="T113" fmla="*/ 197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97" h="874">
                      <a:moveTo>
                        <a:pt x="58" y="204"/>
                      </a:moveTo>
                      <a:lnTo>
                        <a:pt x="58" y="204"/>
                      </a:lnTo>
                      <a:lnTo>
                        <a:pt x="42" y="236"/>
                      </a:lnTo>
                      <a:lnTo>
                        <a:pt x="30" y="265"/>
                      </a:lnTo>
                      <a:lnTo>
                        <a:pt x="19" y="298"/>
                      </a:lnTo>
                      <a:lnTo>
                        <a:pt x="12" y="316"/>
                      </a:lnTo>
                      <a:lnTo>
                        <a:pt x="8" y="334"/>
                      </a:lnTo>
                      <a:lnTo>
                        <a:pt x="4" y="354"/>
                      </a:lnTo>
                      <a:lnTo>
                        <a:pt x="1" y="375"/>
                      </a:lnTo>
                      <a:lnTo>
                        <a:pt x="0" y="396"/>
                      </a:lnTo>
                      <a:lnTo>
                        <a:pt x="0" y="415"/>
                      </a:lnTo>
                      <a:lnTo>
                        <a:pt x="3" y="436"/>
                      </a:lnTo>
                      <a:lnTo>
                        <a:pt x="6" y="457"/>
                      </a:lnTo>
                      <a:lnTo>
                        <a:pt x="6" y="457"/>
                      </a:lnTo>
                      <a:lnTo>
                        <a:pt x="12" y="477"/>
                      </a:lnTo>
                      <a:lnTo>
                        <a:pt x="20" y="499"/>
                      </a:lnTo>
                      <a:lnTo>
                        <a:pt x="28" y="522"/>
                      </a:lnTo>
                      <a:lnTo>
                        <a:pt x="38" y="545"/>
                      </a:lnTo>
                      <a:lnTo>
                        <a:pt x="49" y="569"/>
                      </a:lnTo>
                      <a:lnTo>
                        <a:pt x="63" y="592"/>
                      </a:lnTo>
                      <a:lnTo>
                        <a:pt x="79" y="614"/>
                      </a:lnTo>
                      <a:lnTo>
                        <a:pt x="97" y="636"/>
                      </a:lnTo>
                      <a:lnTo>
                        <a:pt x="107" y="646"/>
                      </a:lnTo>
                      <a:lnTo>
                        <a:pt x="117" y="657"/>
                      </a:lnTo>
                      <a:lnTo>
                        <a:pt x="128" y="665"/>
                      </a:lnTo>
                      <a:lnTo>
                        <a:pt x="140" y="675"/>
                      </a:lnTo>
                      <a:lnTo>
                        <a:pt x="152" y="684"/>
                      </a:lnTo>
                      <a:lnTo>
                        <a:pt x="166" y="691"/>
                      </a:lnTo>
                      <a:lnTo>
                        <a:pt x="180" y="699"/>
                      </a:lnTo>
                      <a:lnTo>
                        <a:pt x="195" y="706"/>
                      </a:lnTo>
                      <a:lnTo>
                        <a:pt x="211" y="712"/>
                      </a:lnTo>
                      <a:lnTo>
                        <a:pt x="228" y="717"/>
                      </a:lnTo>
                      <a:lnTo>
                        <a:pt x="245" y="722"/>
                      </a:lnTo>
                      <a:lnTo>
                        <a:pt x="264" y="726"/>
                      </a:lnTo>
                      <a:lnTo>
                        <a:pt x="283" y="728"/>
                      </a:lnTo>
                      <a:lnTo>
                        <a:pt x="304" y="729"/>
                      </a:lnTo>
                      <a:lnTo>
                        <a:pt x="325" y="730"/>
                      </a:lnTo>
                      <a:lnTo>
                        <a:pt x="348" y="730"/>
                      </a:lnTo>
                      <a:lnTo>
                        <a:pt x="348" y="730"/>
                      </a:lnTo>
                      <a:lnTo>
                        <a:pt x="348" y="729"/>
                      </a:lnTo>
                      <a:lnTo>
                        <a:pt x="350" y="728"/>
                      </a:lnTo>
                      <a:lnTo>
                        <a:pt x="351" y="722"/>
                      </a:lnTo>
                      <a:lnTo>
                        <a:pt x="350" y="700"/>
                      </a:lnTo>
                      <a:lnTo>
                        <a:pt x="346" y="668"/>
                      </a:lnTo>
                      <a:lnTo>
                        <a:pt x="341" y="630"/>
                      </a:lnTo>
                      <a:lnTo>
                        <a:pt x="328" y="550"/>
                      </a:lnTo>
                      <a:lnTo>
                        <a:pt x="318" y="493"/>
                      </a:lnTo>
                      <a:lnTo>
                        <a:pt x="318" y="493"/>
                      </a:lnTo>
                      <a:lnTo>
                        <a:pt x="314" y="467"/>
                      </a:lnTo>
                      <a:lnTo>
                        <a:pt x="309" y="428"/>
                      </a:lnTo>
                      <a:lnTo>
                        <a:pt x="305" y="381"/>
                      </a:lnTo>
                      <a:lnTo>
                        <a:pt x="304" y="332"/>
                      </a:lnTo>
                      <a:lnTo>
                        <a:pt x="304" y="309"/>
                      </a:lnTo>
                      <a:lnTo>
                        <a:pt x="305" y="285"/>
                      </a:lnTo>
                      <a:lnTo>
                        <a:pt x="308" y="265"/>
                      </a:lnTo>
                      <a:lnTo>
                        <a:pt x="312" y="246"/>
                      </a:lnTo>
                      <a:lnTo>
                        <a:pt x="317" y="230"/>
                      </a:lnTo>
                      <a:lnTo>
                        <a:pt x="319" y="224"/>
                      </a:lnTo>
                      <a:lnTo>
                        <a:pt x="323" y="218"/>
                      </a:lnTo>
                      <a:lnTo>
                        <a:pt x="328" y="214"/>
                      </a:lnTo>
                      <a:lnTo>
                        <a:pt x="331" y="211"/>
                      </a:lnTo>
                      <a:lnTo>
                        <a:pt x="337" y="208"/>
                      </a:lnTo>
                      <a:lnTo>
                        <a:pt x="342" y="208"/>
                      </a:lnTo>
                      <a:lnTo>
                        <a:pt x="342" y="208"/>
                      </a:lnTo>
                      <a:lnTo>
                        <a:pt x="348" y="208"/>
                      </a:lnTo>
                      <a:lnTo>
                        <a:pt x="353" y="209"/>
                      </a:lnTo>
                      <a:lnTo>
                        <a:pt x="358" y="213"/>
                      </a:lnTo>
                      <a:lnTo>
                        <a:pt x="363" y="217"/>
                      </a:lnTo>
                      <a:lnTo>
                        <a:pt x="368" y="222"/>
                      </a:lnTo>
                      <a:lnTo>
                        <a:pt x="373" y="228"/>
                      </a:lnTo>
                      <a:lnTo>
                        <a:pt x="382" y="244"/>
                      </a:lnTo>
                      <a:lnTo>
                        <a:pt x="389" y="262"/>
                      </a:lnTo>
                      <a:lnTo>
                        <a:pt x="395" y="283"/>
                      </a:lnTo>
                      <a:lnTo>
                        <a:pt x="401" y="306"/>
                      </a:lnTo>
                      <a:lnTo>
                        <a:pt x="406" y="332"/>
                      </a:lnTo>
                      <a:lnTo>
                        <a:pt x="415" y="385"/>
                      </a:lnTo>
                      <a:lnTo>
                        <a:pt x="422" y="439"/>
                      </a:lnTo>
                      <a:lnTo>
                        <a:pt x="431" y="532"/>
                      </a:lnTo>
                      <a:lnTo>
                        <a:pt x="431" y="532"/>
                      </a:lnTo>
                      <a:lnTo>
                        <a:pt x="434" y="575"/>
                      </a:lnTo>
                      <a:lnTo>
                        <a:pt x="439" y="625"/>
                      </a:lnTo>
                      <a:lnTo>
                        <a:pt x="443" y="652"/>
                      </a:lnTo>
                      <a:lnTo>
                        <a:pt x="448" y="680"/>
                      </a:lnTo>
                      <a:lnTo>
                        <a:pt x="454" y="708"/>
                      </a:lnTo>
                      <a:lnTo>
                        <a:pt x="462" y="735"/>
                      </a:lnTo>
                      <a:lnTo>
                        <a:pt x="472" y="761"/>
                      </a:lnTo>
                      <a:lnTo>
                        <a:pt x="477" y="773"/>
                      </a:lnTo>
                      <a:lnTo>
                        <a:pt x="485" y="786"/>
                      </a:lnTo>
                      <a:lnTo>
                        <a:pt x="491" y="798"/>
                      </a:lnTo>
                      <a:lnTo>
                        <a:pt x="498" y="808"/>
                      </a:lnTo>
                      <a:lnTo>
                        <a:pt x="507" y="819"/>
                      </a:lnTo>
                      <a:lnTo>
                        <a:pt x="516" y="829"/>
                      </a:lnTo>
                      <a:lnTo>
                        <a:pt x="526" y="837"/>
                      </a:lnTo>
                      <a:lnTo>
                        <a:pt x="536" y="844"/>
                      </a:lnTo>
                      <a:lnTo>
                        <a:pt x="548" y="852"/>
                      </a:lnTo>
                      <a:lnTo>
                        <a:pt x="561" y="858"/>
                      </a:lnTo>
                      <a:lnTo>
                        <a:pt x="573" y="863"/>
                      </a:lnTo>
                      <a:lnTo>
                        <a:pt x="587" y="867"/>
                      </a:lnTo>
                      <a:lnTo>
                        <a:pt x="602" y="870"/>
                      </a:lnTo>
                      <a:lnTo>
                        <a:pt x="618" y="871"/>
                      </a:lnTo>
                      <a:lnTo>
                        <a:pt x="618" y="871"/>
                      </a:lnTo>
                      <a:lnTo>
                        <a:pt x="678" y="874"/>
                      </a:lnTo>
                      <a:lnTo>
                        <a:pt x="726" y="873"/>
                      </a:lnTo>
                      <a:lnTo>
                        <a:pt x="746" y="873"/>
                      </a:lnTo>
                      <a:lnTo>
                        <a:pt x="763" y="870"/>
                      </a:lnTo>
                      <a:lnTo>
                        <a:pt x="778" y="868"/>
                      </a:lnTo>
                      <a:lnTo>
                        <a:pt x="791" y="864"/>
                      </a:lnTo>
                      <a:lnTo>
                        <a:pt x="801" y="860"/>
                      </a:lnTo>
                      <a:lnTo>
                        <a:pt x="809" y="857"/>
                      </a:lnTo>
                      <a:lnTo>
                        <a:pt x="817" y="852"/>
                      </a:lnTo>
                      <a:lnTo>
                        <a:pt x="822" y="846"/>
                      </a:lnTo>
                      <a:lnTo>
                        <a:pt x="825" y="840"/>
                      </a:lnTo>
                      <a:lnTo>
                        <a:pt x="827" y="833"/>
                      </a:lnTo>
                      <a:lnTo>
                        <a:pt x="828" y="826"/>
                      </a:lnTo>
                      <a:lnTo>
                        <a:pt x="828" y="819"/>
                      </a:lnTo>
                      <a:lnTo>
                        <a:pt x="828" y="819"/>
                      </a:lnTo>
                      <a:lnTo>
                        <a:pt x="782" y="379"/>
                      </a:lnTo>
                      <a:lnTo>
                        <a:pt x="782" y="379"/>
                      </a:lnTo>
                      <a:lnTo>
                        <a:pt x="780" y="358"/>
                      </a:lnTo>
                      <a:lnTo>
                        <a:pt x="775" y="330"/>
                      </a:lnTo>
                      <a:lnTo>
                        <a:pt x="770" y="298"/>
                      </a:lnTo>
                      <a:lnTo>
                        <a:pt x="768" y="265"/>
                      </a:lnTo>
                      <a:lnTo>
                        <a:pt x="766" y="249"/>
                      </a:lnTo>
                      <a:lnTo>
                        <a:pt x="766" y="234"/>
                      </a:lnTo>
                      <a:lnTo>
                        <a:pt x="768" y="219"/>
                      </a:lnTo>
                      <a:lnTo>
                        <a:pt x="770" y="207"/>
                      </a:lnTo>
                      <a:lnTo>
                        <a:pt x="774" y="197"/>
                      </a:lnTo>
                      <a:lnTo>
                        <a:pt x="780" y="189"/>
                      </a:lnTo>
                      <a:lnTo>
                        <a:pt x="782" y="186"/>
                      </a:lnTo>
                      <a:lnTo>
                        <a:pt x="786" y="184"/>
                      </a:lnTo>
                      <a:lnTo>
                        <a:pt x="791" y="182"/>
                      </a:lnTo>
                      <a:lnTo>
                        <a:pt x="796" y="182"/>
                      </a:lnTo>
                      <a:lnTo>
                        <a:pt x="796" y="182"/>
                      </a:lnTo>
                      <a:lnTo>
                        <a:pt x="801" y="182"/>
                      </a:lnTo>
                      <a:lnTo>
                        <a:pt x="806" y="184"/>
                      </a:lnTo>
                      <a:lnTo>
                        <a:pt x="811" y="186"/>
                      </a:lnTo>
                      <a:lnTo>
                        <a:pt x="814" y="190"/>
                      </a:lnTo>
                      <a:lnTo>
                        <a:pt x="823" y="200"/>
                      </a:lnTo>
                      <a:lnTo>
                        <a:pt x="831" y="213"/>
                      </a:lnTo>
                      <a:lnTo>
                        <a:pt x="839" y="230"/>
                      </a:lnTo>
                      <a:lnTo>
                        <a:pt x="845" y="250"/>
                      </a:lnTo>
                      <a:lnTo>
                        <a:pt x="852" y="272"/>
                      </a:lnTo>
                      <a:lnTo>
                        <a:pt x="857" y="295"/>
                      </a:lnTo>
                      <a:lnTo>
                        <a:pt x="862" y="321"/>
                      </a:lnTo>
                      <a:lnTo>
                        <a:pt x="867" y="348"/>
                      </a:lnTo>
                      <a:lnTo>
                        <a:pt x="874" y="403"/>
                      </a:lnTo>
                      <a:lnTo>
                        <a:pt x="881" y="460"/>
                      </a:lnTo>
                      <a:lnTo>
                        <a:pt x="885" y="513"/>
                      </a:lnTo>
                      <a:lnTo>
                        <a:pt x="885" y="513"/>
                      </a:lnTo>
                      <a:lnTo>
                        <a:pt x="888" y="570"/>
                      </a:lnTo>
                      <a:lnTo>
                        <a:pt x="889" y="631"/>
                      </a:lnTo>
                      <a:lnTo>
                        <a:pt x="892" y="662"/>
                      </a:lnTo>
                      <a:lnTo>
                        <a:pt x="894" y="692"/>
                      </a:lnTo>
                      <a:lnTo>
                        <a:pt x="898" y="723"/>
                      </a:lnTo>
                      <a:lnTo>
                        <a:pt x="904" y="751"/>
                      </a:lnTo>
                      <a:lnTo>
                        <a:pt x="911" y="778"/>
                      </a:lnTo>
                      <a:lnTo>
                        <a:pt x="916" y="791"/>
                      </a:lnTo>
                      <a:lnTo>
                        <a:pt x="921" y="803"/>
                      </a:lnTo>
                      <a:lnTo>
                        <a:pt x="926" y="813"/>
                      </a:lnTo>
                      <a:lnTo>
                        <a:pt x="933" y="824"/>
                      </a:lnTo>
                      <a:lnTo>
                        <a:pt x="939" y="832"/>
                      </a:lnTo>
                      <a:lnTo>
                        <a:pt x="948" y="841"/>
                      </a:lnTo>
                      <a:lnTo>
                        <a:pt x="957" y="848"/>
                      </a:lnTo>
                      <a:lnTo>
                        <a:pt x="966" y="854"/>
                      </a:lnTo>
                      <a:lnTo>
                        <a:pt x="976" y="858"/>
                      </a:lnTo>
                      <a:lnTo>
                        <a:pt x="987" y="862"/>
                      </a:lnTo>
                      <a:lnTo>
                        <a:pt x="999" y="864"/>
                      </a:lnTo>
                      <a:lnTo>
                        <a:pt x="1013" y="865"/>
                      </a:lnTo>
                      <a:lnTo>
                        <a:pt x="1026" y="864"/>
                      </a:lnTo>
                      <a:lnTo>
                        <a:pt x="1042" y="862"/>
                      </a:lnTo>
                      <a:lnTo>
                        <a:pt x="1042" y="862"/>
                      </a:lnTo>
                      <a:lnTo>
                        <a:pt x="1102" y="849"/>
                      </a:lnTo>
                      <a:lnTo>
                        <a:pt x="1155" y="838"/>
                      </a:lnTo>
                      <a:lnTo>
                        <a:pt x="1201" y="826"/>
                      </a:lnTo>
                      <a:lnTo>
                        <a:pt x="1239" y="814"/>
                      </a:lnTo>
                      <a:lnTo>
                        <a:pt x="1253" y="808"/>
                      </a:lnTo>
                      <a:lnTo>
                        <a:pt x="1267" y="802"/>
                      </a:lnTo>
                      <a:lnTo>
                        <a:pt x="1278" y="797"/>
                      </a:lnTo>
                      <a:lnTo>
                        <a:pt x="1286" y="791"/>
                      </a:lnTo>
                      <a:lnTo>
                        <a:pt x="1292" y="786"/>
                      </a:lnTo>
                      <a:lnTo>
                        <a:pt x="1296" y="779"/>
                      </a:lnTo>
                      <a:lnTo>
                        <a:pt x="1296" y="775"/>
                      </a:lnTo>
                      <a:lnTo>
                        <a:pt x="1295" y="770"/>
                      </a:lnTo>
                      <a:lnTo>
                        <a:pt x="1295" y="770"/>
                      </a:lnTo>
                      <a:lnTo>
                        <a:pt x="1285" y="755"/>
                      </a:lnTo>
                      <a:lnTo>
                        <a:pt x="1273" y="729"/>
                      </a:lnTo>
                      <a:lnTo>
                        <a:pt x="1259" y="695"/>
                      </a:lnTo>
                      <a:lnTo>
                        <a:pt x="1245" y="652"/>
                      </a:lnTo>
                      <a:lnTo>
                        <a:pt x="1237" y="627"/>
                      </a:lnTo>
                      <a:lnTo>
                        <a:pt x="1230" y="602"/>
                      </a:lnTo>
                      <a:lnTo>
                        <a:pt x="1223" y="572"/>
                      </a:lnTo>
                      <a:lnTo>
                        <a:pt x="1216" y="543"/>
                      </a:lnTo>
                      <a:lnTo>
                        <a:pt x="1212" y="511"/>
                      </a:lnTo>
                      <a:lnTo>
                        <a:pt x="1208" y="478"/>
                      </a:lnTo>
                      <a:lnTo>
                        <a:pt x="1204" y="444"/>
                      </a:lnTo>
                      <a:lnTo>
                        <a:pt x="1202" y="408"/>
                      </a:lnTo>
                      <a:lnTo>
                        <a:pt x="1202" y="408"/>
                      </a:lnTo>
                      <a:lnTo>
                        <a:pt x="1201" y="342"/>
                      </a:lnTo>
                      <a:lnTo>
                        <a:pt x="1199" y="292"/>
                      </a:lnTo>
                      <a:lnTo>
                        <a:pt x="1201" y="255"/>
                      </a:lnTo>
                      <a:lnTo>
                        <a:pt x="1202" y="228"/>
                      </a:lnTo>
                      <a:lnTo>
                        <a:pt x="1203" y="218"/>
                      </a:lnTo>
                      <a:lnTo>
                        <a:pt x="1205" y="211"/>
                      </a:lnTo>
                      <a:lnTo>
                        <a:pt x="1208" y="204"/>
                      </a:lnTo>
                      <a:lnTo>
                        <a:pt x="1212" y="200"/>
                      </a:lnTo>
                      <a:lnTo>
                        <a:pt x="1215" y="196"/>
                      </a:lnTo>
                      <a:lnTo>
                        <a:pt x="1219" y="195"/>
                      </a:lnTo>
                      <a:lnTo>
                        <a:pt x="1229" y="191"/>
                      </a:lnTo>
                      <a:lnTo>
                        <a:pt x="1229" y="191"/>
                      </a:lnTo>
                      <a:lnTo>
                        <a:pt x="1235" y="192"/>
                      </a:lnTo>
                      <a:lnTo>
                        <a:pt x="1241" y="195"/>
                      </a:lnTo>
                      <a:lnTo>
                        <a:pt x="1248" y="200"/>
                      </a:lnTo>
                      <a:lnTo>
                        <a:pt x="1254" y="206"/>
                      </a:lnTo>
                      <a:lnTo>
                        <a:pt x="1262" y="216"/>
                      </a:lnTo>
                      <a:lnTo>
                        <a:pt x="1268" y="225"/>
                      </a:lnTo>
                      <a:lnTo>
                        <a:pt x="1274" y="238"/>
                      </a:lnTo>
                      <a:lnTo>
                        <a:pt x="1280" y="251"/>
                      </a:lnTo>
                      <a:lnTo>
                        <a:pt x="1286" y="266"/>
                      </a:lnTo>
                      <a:lnTo>
                        <a:pt x="1292" y="282"/>
                      </a:lnTo>
                      <a:lnTo>
                        <a:pt x="1297" y="299"/>
                      </a:lnTo>
                      <a:lnTo>
                        <a:pt x="1301" y="316"/>
                      </a:lnTo>
                      <a:lnTo>
                        <a:pt x="1305" y="334"/>
                      </a:lnTo>
                      <a:lnTo>
                        <a:pt x="1307" y="354"/>
                      </a:lnTo>
                      <a:lnTo>
                        <a:pt x="1310" y="372"/>
                      </a:lnTo>
                      <a:lnTo>
                        <a:pt x="1311" y="392"/>
                      </a:lnTo>
                      <a:lnTo>
                        <a:pt x="1311" y="392"/>
                      </a:lnTo>
                      <a:lnTo>
                        <a:pt x="1311" y="435"/>
                      </a:lnTo>
                      <a:lnTo>
                        <a:pt x="1313" y="483"/>
                      </a:lnTo>
                      <a:lnTo>
                        <a:pt x="1317" y="532"/>
                      </a:lnTo>
                      <a:lnTo>
                        <a:pt x="1322" y="580"/>
                      </a:lnTo>
                      <a:lnTo>
                        <a:pt x="1326" y="603"/>
                      </a:lnTo>
                      <a:lnTo>
                        <a:pt x="1329" y="625"/>
                      </a:lnTo>
                      <a:lnTo>
                        <a:pt x="1334" y="645"/>
                      </a:lnTo>
                      <a:lnTo>
                        <a:pt x="1339" y="662"/>
                      </a:lnTo>
                      <a:lnTo>
                        <a:pt x="1345" y="678"/>
                      </a:lnTo>
                      <a:lnTo>
                        <a:pt x="1351" y="690"/>
                      </a:lnTo>
                      <a:lnTo>
                        <a:pt x="1359" y="700"/>
                      </a:lnTo>
                      <a:lnTo>
                        <a:pt x="1362" y="703"/>
                      </a:lnTo>
                      <a:lnTo>
                        <a:pt x="1366" y="706"/>
                      </a:lnTo>
                      <a:lnTo>
                        <a:pt x="1366" y="706"/>
                      </a:lnTo>
                      <a:lnTo>
                        <a:pt x="1375" y="710"/>
                      </a:lnTo>
                      <a:lnTo>
                        <a:pt x="1383" y="712"/>
                      </a:lnTo>
                      <a:lnTo>
                        <a:pt x="1392" y="715"/>
                      </a:lnTo>
                      <a:lnTo>
                        <a:pt x="1400" y="716"/>
                      </a:lnTo>
                      <a:lnTo>
                        <a:pt x="1418" y="716"/>
                      </a:lnTo>
                      <a:lnTo>
                        <a:pt x="1436" y="713"/>
                      </a:lnTo>
                      <a:lnTo>
                        <a:pt x="1453" y="708"/>
                      </a:lnTo>
                      <a:lnTo>
                        <a:pt x="1469" y="702"/>
                      </a:lnTo>
                      <a:lnTo>
                        <a:pt x="1485" y="695"/>
                      </a:lnTo>
                      <a:lnTo>
                        <a:pt x="1501" y="686"/>
                      </a:lnTo>
                      <a:lnTo>
                        <a:pt x="1501" y="686"/>
                      </a:lnTo>
                      <a:lnTo>
                        <a:pt x="1523" y="673"/>
                      </a:lnTo>
                      <a:lnTo>
                        <a:pt x="1539" y="663"/>
                      </a:lnTo>
                      <a:lnTo>
                        <a:pt x="1556" y="652"/>
                      </a:lnTo>
                      <a:lnTo>
                        <a:pt x="1576" y="637"/>
                      </a:lnTo>
                      <a:lnTo>
                        <a:pt x="1595" y="621"/>
                      </a:lnTo>
                      <a:lnTo>
                        <a:pt x="1615" y="603"/>
                      </a:lnTo>
                      <a:lnTo>
                        <a:pt x="1633" y="582"/>
                      </a:lnTo>
                      <a:lnTo>
                        <a:pt x="1652" y="559"/>
                      </a:lnTo>
                      <a:lnTo>
                        <a:pt x="1659" y="547"/>
                      </a:lnTo>
                      <a:lnTo>
                        <a:pt x="1666" y="533"/>
                      </a:lnTo>
                      <a:lnTo>
                        <a:pt x="1674" y="520"/>
                      </a:lnTo>
                      <a:lnTo>
                        <a:pt x="1680" y="505"/>
                      </a:lnTo>
                      <a:lnTo>
                        <a:pt x="1685" y="490"/>
                      </a:lnTo>
                      <a:lnTo>
                        <a:pt x="1690" y="474"/>
                      </a:lnTo>
                      <a:lnTo>
                        <a:pt x="1693" y="458"/>
                      </a:lnTo>
                      <a:lnTo>
                        <a:pt x="1696" y="441"/>
                      </a:lnTo>
                      <a:lnTo>
                        <a:pt x="1697" y="424"/>
                      </a:lnTo>
                      <a:lnTo>
                        <a:pt x="1696" y="406"/>
                      </a:lnTo>
                      <a:lnTo>
                        <a:pt x="1695" y="387"/>
                      </a:lnTo>
                      <a:lnTo>
                        <a:pt x="1692" y="368"/>
                      </a:lnTo>
                      <a:lnTo>
                        <a:pt x="1688" y="348"/>
                      </a:lnTo>
                      <a:lnTo>
                        <a:pt x="1682" y="327"/>
                      </a:lnTo>
                      <a:lnTo>
                        <a:pt x="1682" y="327"/>
                      </a:lnTo>
                      <a:lnTo>
                        <a:pt x="1668" y="287"/>
                      </a:lnTo>
                      <a:lnTo>
                        <a:pt x="1653" y="251"/>
                      </a:lnTo>
                      <a:lnTo>
                        <a:pt x="1637" y="220"/>
                      </a:lnTo>
                      <a:lnTo>
                        <a:pt x="1621" y="192"/>
                      </a:lnTo>
                      <a:lnTo>
                        <a:pt x="1605" y="168"/>
                      </a:lnTo>
                      <a:lnTo>
                        <a:pt x="1589" y="147"/>
                      </a:lnTo>
                      <a:lnTo>
                        <a:pt x="1572" y="128"/>
                      </a:lnTo>
                      <a:lnTo>
                        <a:pt x="1556" y="114"/>
                      </a:lnTo>
                      <a:lnTo>
                        <a:pt x="1541" y="102"/>
                      </a:lnTo>
                      <a:lnTo>
                        <a:pt x="1527" y="90"/>
                      </a:lnTo>
                      <a:lnTo>
                        <a:pt x="1513" y="83"/>
                      </a:lnTo>
                      <a:lnTo>
                        <a:pt x="1501" y="77"/>
                      </a:lnTo>
                      <a:lnTo>
                        <a:pt x="1490" y="73"/>
                      </a:lnTo>
                      <a:lnTo>
                        <a:pt x="1480" y="71"/>
                      </a:lnTo>
                      <a:lnTo>
                        <a:pt x="1473" y="70"/>
                      </a:lnTo>
                      <a:lnTo>
                        <a:pt x="1468" y="68"/>
                      </a:lnTo>
                      <a:lnTo>
                        <a:pt x="1468" y="68"/>
                      </a:lnTo>
                      <a:lnTo>
                        <a:pt x="1459" y="70"/>
                      </a:lnTo>
                      <a:lnTo>
                        <a:pt x="1452" y="71"/>
                      </a:lnTo>
                      <a:lnTo>
                        <a:pt x="1445" y="73"/>
                      </a:lnTo>
                      <a:lnTo>
                        <a:pt x="1442" y="76"/>
                      </a:lnTo>
                      <a:lnTo>
                        <a:pt x="1440" y="78"/>
                      </a:lnTo>
                      <a:lnTo>
                        <a:pt x="1436" y="87"/>
                      </a:lnTo>
                      <a:lnTo>
                        <a:pt x="1433" y="99"/>
                      </a:lnTo>
                      <a:lnTo>
                        <a:pt x="1433" y="116"/>
                      </a:lnTo>
                      <a:lnTo>
                        <a:pt x="1435" y="138"/>
                      </a:lnTo>
                      <a:lnTo>
                        <a:pt x="1435" y="138"/>
                      </a:lnTo>
                      <a:lnTo>
                        <a:pt x="1440" y="174"/>
                      </a:lnTo>
                      <a:lnTo>
                        <a:pt x="1446" y="224"/>
                      </a:lnTo>
                      <a:lnTo>
                        <a:pt x="1453" y="282"/>
                      </a:lnTo>
                      <a:lnTo>
                        <a:pt x="1459" y="342"/>
                      </a:lnTo>
                      <a:lnTo>
                        <a:pt x="1462" y="371"/>
                      </a:lnTo>
                      <a:lnTo>
                        <a:pt x="1462" y="397"/>
                      </a:lnTo>
                      <a:lnTo>
                        <a:pt x="1462" y="422"/>
                      </a:lnTo>
                      <a:lnTo>
                        <a:pt x="1459" y="441"/>
                      </a:lnTo>
                      <a:lnTo>
                        <a:pt x="1458" y="450"/>
                      </a:lnTo>
                      <a:lnTo>
                        <a:pt x="1456" y="457"/>
                      </a:lnTo>
                      <a:lnTo>
                        <a:pt x="1453" y="463"/>
                      </a:lnTo>
                      <a:lnTo>
                        <a:pt x="1449" y="467"/>
                      </a:lnTo>
                      <a:lnTo>
                        <a:pt x="1446" y="471"/>
                      </a:lnTo>
                      <a:lnTo>
                        <a:pt x="1441" y="472"/>
                      </a:lnTo>
                      <a:lnTo>
                        <a:pt x="1436" y="472"/>
                      </a:lnTo>
                      <a:lnTo>
                        <a:pt x="1430" y="469"/>
                      </a:lnTo>
                      <a:lnTo>
                        <a:pt x="1430" y="469"/>
                      </a:lnTo>
                      <a:lnTo>
                        <a:pt x="1425" y="466"/>
                      </a:lnTo>
                      <a:lnTo>
                        <a:pt x="1419" y="461"/>
                      </a:lnTo>
                      <a:lnTo>
                        <a:pt x="1414" y="456"/>
                      </a:lnTo>
                      <a:lnTo>
                        <a:pt x="1409" y="448"/>
                      </a:lnTo>
                      <a:lnTo>
                        <a:pt x="1400" y="434"/>
                      </a:lnTo>
                      <a:lnTo>
                        <a:pt x="1392" y="415"/>
                      </a:lnTo>
                      <a:lnTo>
                        <a:pt x="1386" y="395"/>
                      </a:lnTo>
                      <a:lnTo>
                        <a:pt x="1381" y="371"/>
                      </a:lnTo>
                      <a:lnTo>
                        <a:pt x="1376" y="348"/>
                      </a:lnTo>
                      <a:lnTo>
                        <a:pt x="1372" y="323"/>
                      </a:lnTo>
                      <a:lnTo>
                        <a:pt x="1367" y="277"/>
                      </a:lnTo>
                      <a:lnTo>
                        <a:pt x="1364" y="233"/>
                      </a:lnTo>
                      <a:lnTo>
                        <a:pt x="1361" y="180"/>
                      </a:lnTo>
                      <a:lnTo>
                        <a:pt x="1361" y="180"/>
                      </a:lnTo>
                      <a:lnTo>
                        <a:pt x="1359" y="148"/>
                      </a:lnTo>
                      <a:lnTo>
                        <a:pt x="1356" y="128"/>
                      </a:lnTo>
                      <a:lnTo>
                        <a:pt x="1354" y="108"/>
                      </a:lnTo>
                      <a:lnTo>
                        <a:pt x="1350" y="88"/>
                      </a:lnTo>
                      <a:lnTo>
                        <a:pt x="1348" y="79"/>
                      </a:lnTo>
                      <a:lnTo>
                        <a:pt x="1344" y="72"/>
                      </a:lnTo>
                      <a:lnTo>
                        <a:pt x="1340" y="65"/>
                      </a:lnTo>
                      <a:lnTo>
                        <a:pt x="1337" y="60"/>
                      </a:lnTo>
                      <a:lnTo>
                        <a:pt x="1332" y="56"/>
                      </a:lnTo>
                      <a:lnTo>
                        <a:pt x="1326" y="54"/>
                      </a:lnTo>
                      <a:lnTo>
                        <a:pt x="1326" y="54"/>
                      </a:lnTo>
                      <a:lnTo>
                        <a:pt x="1281" y="43"/>
                      </a:lnTo>
                      <a:lnTo>
                        <a:pt x="1214" y="27"/>
                      </a:lnTo>
                      <a:lnTo>
                        <a:pt x="1178" y="18"/>
                      </a:lnTo>
                      <a:lnTo>
                        <a:pt x="1147" y="12"/>
                      </a:lnTo>
                      <a:lnTo>
                        <a:pt x="1120" y="7"/>
                      </a:lnTo>
                      <a:lnTo>
                        <a:pt x="1110" y="7"/>
                      </a:lnTo>
                      <a:lnTo>
                        <a:pt x="1102" y="7"/>
                      </a:lnTo>
                      <a:lnTo>
                        <a:pt x="1102" y="7"/>
                      </a:lnTo>
                      <a:lnTo>
                        <a:pt x="1093" y="10"/>
                      </a:lnTo>
                      <a:lnTo>
                        <a:pt x="1083" y="12"/>
                      </a:lnTo>
                      <a:lnTo>
                        <a:pt x="1075" y="16"/>
                      </a:lnTo>
                      <a:lnTo>
                        <a:pt x="1069" y="22"/>
                      </a:lnTo>
                      <a:lnTo>
                        <a:pt x="1064" y="30"/>
                      </a:lnTo>
                      <a:lnTo>
                        <a:pt x="1062" y="41"/>
                      </a:lnTo>
                      <a:lnTo>
                        <a:pt x="1062" y="56"/>
                      </a:lnTo>
                      <a:lnTo>
                        <a:pt x="1062" y="73"/>
                      </a:lnTo>
                      <a:lnTo>
                        <a:pt x="1062" y="73"/>
                      </a:lnTo>
                      <a:lnTo>
                        <a:pt x="1073" y="158"/>
                      </a:lnTo>
                      <a:lnTo>
                        <a:pt x="1080" y="223"/>
                      </a:lnTo>
                      <a:lnTo>
                        <a:pt x="1085" y="293"/>
                      </a:lnTo>
                      <a:lnTo>
                        <a:pt x="1088" y="327"/>
                      </a:lnTo>
                      <a:lnTo>
                        <a:pt x="1088" y="359"/>
                      </a:lnTo>
                      <a:lnTo>
                        <a:pt x="1086" y="390"/>
                      </a:lnTo>
                      <a:lnTo>
                        <a:pt x="1084" y="417"/>
                      </a:lnTo>
                      <a:lnTo>
                        <a:pt x="1083" y="428"/>
                      </a:lnTo>
                      <a:lnTo>
                        <a:pt x="1080" y="439"/>
                      </a:lnTo>
                      <a:lnTo>
                        <a:pt x="1077" y="447"/>
                      </a:lnTo>
                      <a:lnTo>
                        <a:pt x="1073" y="456"/>
                      </a:lnTo>
                      <a:lnTo>
                        <a:pt x="1069" y="462"/>
                      </a:lnTo>
                      <a:lnTo>
                        <a:pt x="1064" y="466"/>
                      </a:lnTo>
                      <a:lnTo>
                        <a:pt x="1058" y="469"/>
                      </a:lnTo>
                      <a:lnTo>
                        <a:pt x="1052" y="469"/>
                      </a:lnTo>
                      <a:lnTo>
                        <a:pt x="1052" y="469"/>
                      </a:lnTo>
                      <a:lnTo>
                        <a:pt x="1046" y="469"/>
                      </a:lnTo>
                      <a:lnTo>
                        <a:pt x="1040" y="467"/>
                      </a:lnTo>
                      <a:lnTo>
                        <a:pt x="1034" y="464"/>
                      </a:lnTo>
                      <a:lnTo>
                        <a:pt x="1029" y="461"/>
                      </a:lnTo>
                      <a:lnTo>
                        <a:pt x="1024" y="457"/>
                      </a:lnTo>
                      <a:lnTo>
                        <a:pt x="1019" y="451"/>
                      </a:lnTo>
                      <a:lnTo>
                        <a:pt x="1010" y="439"/>
                      </a:lnTo>
                      <a:lnTo>
                        <a:pt x="1003" y="423"/>
                      </a:lnTo>
                      <a:lnTo>
                        <a:pt x="997" y="404"/>
                      </a:lnTo>
                      <a:lnTo>
                        <a:pt x="992" y="385"/>
                      </a:lnTo>
                      <a:lnTo>
                        <a:pt x="987" y="364"/>
                      </a:lnTo>
                      <a:lnTo>
                        <a:pt x="984" y="342"/>
                      </a:lnTo>
                      <a:lnTo>
                        <a:pt x="981" y="319"/>
                      </a:lnTo>
                      <a:lnTo>
                        <a:pt x="976" y="274"/>
                      </a:lnTo>
                      <a:lnTo>
                        <a:pt x="974" y="231"/>
                      </a:lnTo>
                      <a:lnTo>
                        <a:pt x="972" y="196"/>
                      </a:lnTo>
                      <a:lnTo>
                        <a:pt x="972" y="196"/>
                      </a:lnTo>
                      <a:lnTo>
                        <a:pt x="971" y="163"/>
                      </a:lnTo>
                      <a:lnTo>
                        <a:pt x="969" y="131"/>
                      </a:lnTo>
                      <a:lnTo>
                        <a:pt x="965" y="99"/>
                      </a:lnTo>
                      <a:lnTo>
                        <a:pt x="960" y="70"/>
                      </a:lnTo>
                      <a:lnTo>
                        <a:pt x="958" y="56"/>
                      </a:lnTo>
                      <a:lnTo>
                        <a:pt x="954" y="44"/>
                      </a:lnTo>
                      <a:lnTo>
                        <a:pt x="950" y="33"/>
                      </a:lnTo>
                      <a:lnTo>
                        <a:pt x="945" y="24"/>
                      </a:lnTo>
                      <a:lnTo>
                        <a:pt x="941" y="17"/>
                      </a:lnTo>
                      <a:lnTo>
                        <a:pt x="934" y="11"/>
                      </a:lnTo>
                      <a:lnTo>
                        <a:pt x="927" y="7"/>
                      </a:lnTo>
                      <a:lnTo>
                        <a:pt x="920" y="5"/>
                      </a:lnTo>
                      <a:lnTo>
                        <a:pt x="920" y="5"/>
                      </a:lnTo>
                      <a:lnTo>
                        <a:pt x="862" y="2"/>
                      </a:lnTo>
                      <a:lnTo>
                        <a:pt x="819" y="0"/>
                      </a:lnTo>
                      <a:lnTo>
                        <a:pt x="773" y="0"/>
                      </a:lnTo>
                      <a:lnTo>
                        <a:pt x="727" y="0"/>
                      </a:lnTo>
                      <a:lnTo>
                        <a:pt x="684" y="1"/>
                      </a:lnTo>
                      <a:lnTo>
                        <a:pt x="666" y="2"/>
                      </a:lnTo>
                      <a:lnTo>
                        <a:pt x="650" y="5"/>
                      </a:lnTo>
                      <a:lnTo>
                        <a:pt x="638" y="7"/>
                      </a:lnTo>
                      <a:lnTo>
                        <a:pt x="628" y="11"/>
                      </a:lnTo>
                      <a:lnTo>
                        <a:pt x="628" y="11"/>
                      </a:lnTo>
                      <a:lnTo>
                        <a:pt x="614" y="18"/>
                      </a:lnTo>
                      <a:lnTo>
                        <a:pt x="606" y="24"/>
                      </a:lnTo>
                      <a:lnTo>
                        <a:pt x="601" y="29"/>
                      </a:lnTo>
                      <a:lnTo>
                        <a:pt x="599" y="37"/>
                      </a:lnTo>
                      <a:lnTo>
                        <a:pt x="599" y="44"/>
                      </a:lnTo>
                      <a:lnTo>
                        <a:pt x="600" y="55"/>
                      </a:lnTo>
                      <a:lnTo>
                        <a:pt x="601" y="67"/>
                      </a:lnTo>
                      <a:lnTo>
                        <a:pt x="603" y="84"/>
                      </a:lnTo>
                      <a:lnTo>
                        <a:pt x="603" y="84"/>
                      </a:lnTo>
                      <a:lnTo>
                        <a:pt x="612" y="168"/>
                      </a:lnTo>
                      <a:lnTo>
                        <a:pt x="617" y="231"/>
                      </a:lnTo>
                      <a:lnTo>
                        <a:pt x="621" y="301"/>
                      </a:lnTo>
                      <a:lnTo>
                        <a:pt x="622" y="334"/>
                      </a:lnTo>
                      <a:lnTo>
                        <a:pt x="622" y="368"/>
                      </a:lnTo>
                      <a:lnTo>
                        <a:pt x="621" y="397"/>
                      </a:lnTo>
                      <a:lnTo>
                        <a:pt x="618" y="423"/>
                      </a:lnTo>
                      <a:lnTo>
                        <a:pt x="614" y="445"/>
                      </a:lnTo>
                      <a:lnTo>
                        <a:pt x="612" y="453"/>
                      </a:lnTo>
                      <a:lnTo>
                        <a:pt x="610" y="461"/>
                      </a:lnTo>
                      <a:lnTo>
                        <a:pt x="606" y="467"/>
                      </a:lnTo>
                      <a:lnTo>
                        <a:pt x="602" y="471"/>
                      </a:lnTo>
                      <a:lnTo>
                        <a:pt x="599" y="473"/>
                      </a:lnTo>
                      <a:lnTo>
                        <a:pt x="594" y="473"/>
                      </a:lnTo>
                      <a:lnTo>
                        <a:pt x="594" y="473"/>
                      </a:lnTo>
                      <a:lnTo>
                        <a:pt x="587" y="471"/>
                      </a:lnTo>
                      <a:lnTo>
                        <a:pt x="583" y="467"/>
                      </a:lnTo>
                      <a:lnTo>
                        <a:pt x="579" y="462"/>
                      </a:lnTo>
                      <a:lnTo>
                        <a:pt x="574" y="456"/>
                      </a:lnTo>
                      <a:lnTo>
                        <a:pt x="569" y="447"/>
                      </a:lnTo>
                      <a:lnTo>
                        <a:pt x="565" y="439"/>
                      </a:lnTo>
                      <a:lnTo>
                        <a:pt x="558" y="417"/>
                      </a:lnTo>
                      <a:lnTo>
                        <a:pt x="551" y="391"/>
                      </a:lnTo>
                      <a:lnTo>
                        <a:pt x="545" y="363"/>
                      </a:lnTo>
                      <a:lnTo>
                        <a:pt x="540" y="332"/>
                      </a:lnTo>
                      <a:lnTo>
                        <a:pt x="535" y="300"/>
                      </a:lnTo>
                      <a:lnTo>
                        <a:pt x="527" y="235"/>
                      </a:lnTo>
                      <a:lnTo>
                        <a:pt x="521" y="176"/>
                      </a:lnTo>
                      <a:lnTo>
                        <a:pt x="515" y="103"/>
                      </a:lnTo>
                      <a:lnTo>
                        <a:pt x="515" y="103"/>
                      </a:lnTo>
                      <a:lnTo>
                        <a:pt x="513" y="88"/>
                      </a:lnTo>
                      <a:lnTo>
                        <a:pt x="509" y="75"/>
                      </a:lnTo>
                      <a:lnTo>
                        <a:pt x="504" y="62"/>
                      </a:lnTo>
                      <a:lnTo>
                        <a:pt x="497" y="54"/>
                      </a:lnTo>
                      <a:lnTo>
                        <a:pt x="487" y="46"/>
                      </a:lnTo>
                      <a:lnTo>
                        <a:pt x="482" y="43"/>
                      </a:lnTo>
                      <a:lnTo>
                        <a:pt x="477" y="41"/>
                      </a:lnTo>
                      <a:lnTo>
                        <a:pt x="471" y="39"/>
                      </a:lnTo>
                      <a:lnTo>
                        <a:pt x="465" y="39"/>
                      </a:lnTo>
                      <a:lnTo>
                        <a:pt x="451" y="39"/>
                      </a:lnTo>
                      <a:lnTo>
                        <a:pt x="451" y="39"/>
                      </a:lnTo>
                      <a:lnTo>
                        <a:pt x="394" y="46"/>
                      </a:lnTo>
                      <a:lnTo>
                        <a:pt x="350" y="52"/>
                      </a:lnTo>
                      <a:lnTo>
                        <a:pt x="302" y="62"/>
                      </a:lnTo>
                      <a:lnTo>
                        <a:pt x="277" y="68"/>
                      </a:lnTo>
                      <a:lnTo>
                        <a:pt x="255" y="75"/>
                      </a:lnTo>
                      <a:lnTo>
                        <a:pt x="233" y="82"/>
                      </a:lnTo>
                      <a:lnTo>
                        <a:pt x="214" y="90"/>
                      </a:lnTo>
                      <a:lnTo>
                        <a:pt x="198" y="100"/>
                      </a:lnTo>
                      <a:lnTo>
                        <a:pt x="190" y="105"/>
                      </a:lnTo>
                      <a:lnTo>
                        <a:pt x="183" y="111"/>
                      </a:lnTo>
                      <a:lnTo>
                        <a:pt x="178" y="117"/>
                      </a:lnTo>
                      <a:lnTo>
                        <a:pt x="173" y="124"/>
                      </a:lnTo>
                      <a:lnTo>
                        <a:pt x="171" y="130"/>
                      </a:lnTo>
                      <a:lnTo>
                        <a:pt x="168" y="136"/>
                      </a:lnTo>
                      <a:lnTo>
                        <a:pt x="168" y="136"/>
                      </a:lnTo>
                      <a:lnTo>
                        <a:pt x="166" y="152"/>
                      </a:lnTo>
                      <a:lnTo>
                        <a:pt x="165" y="169"/>
                      </a:lnTo>
                      <a:lnTo>
                        <a:pt x="165" y="189"/>
                      </a:lnTo>
                      <a:lnTo>
                        <a:pt x="165" y="209"/>
                      </a:lnTo>
                      <a:lnTo>
                        <a:pt x="167" y="255"/>
                      </a:lnTo>
                      <a:lnTo>
                        <a:pt x="169" y="300"/>
                      </a:lnTo>
                      <a:lnTo>
                        <a:pt x="172" y="342"/>
                      </a:lnTo>
                      <a:lnTo>
                        <a:pt x="172" y="360"/>
                      </a:lnTo>
                      <a:lnTo>
                        <a:pt x="171" y="376"/>
                      </a:lnTo>
                      <a:lnTo>
                        <a:pt x="169" y="390"/>
                      </a:lnTo>
                      <a:lnTo>
                        <a:pt x="166" y="401"/>
                      </a:lnTo>
                      <a:lnTo>
                        <a:pt x="163" y="404"/>
                      </a:lnTo>
                      <a:lnTo>
                        <a:pt x="161" y="407"/>
                      </a:lnTo>
                      <a:lnTo>
                        <a:pt x="158" y="409"/>
                      </a:lnTo>
                      <a:lnTo>
                        <a:pt x="155" y="409"/>
                      </a:lnTo>
                      <a:lnTo>
                        <a:pt x="155" y="409"/>
                      </a:lnTo>
                      <a:lnTo>
                        <a:pt x="147" y="409"/>
                      </a:lnTo>
                      <a:lnTo>
                        <a:pt x="140" y="407"/>
                      </a:lnTo>
                      <a:lnTo>
                        <a:pt x="134" y="403"/>
                      </a:lnTo>
                      <a:lnTo>
                        <a:pt x="129" y="398"/>
                      </a:lnTo>
                      <a:lnTo>
                        <a:pt x="123" y="392"/>
                      </a:lnTo>
                      <a:lnTo>
                        <a:pt x="118" y="385"/>
                      </a:lnTo>
                      <a:lnTo>
                        <a:pt x="114" y="377"/>
                      </a:lnTo>
                      <a:lnTo>
                        <a:pt x="111" y="369"/>
                      </a:lnTo>
                      <a:lnTo>
                        <a:pt x="103" y="348"/>
                      </a:lnTo>
                      <a:lnTo>
                        <a:pt x="97" y="326"/>
                      </a:lnTo>
                      <a:lnTo>
                        <a:pt x="93" y="304"/>
                      </a:lnTo>
                      <a:lnTo>
                        <a:pt x="88" y="281"/>
                      </a:lnTo>
                      <a:lnTo>
                        <a:pt x="82" y="238"/>
                      </a:lnTo>
                      <a:lnTo>
                        <a:pt x="80" y="220"/>
                      </a:lnTo>
                      <a:lnTo>
                        <a:pt x="76" y="206"/>
                      </a:lnTo>
                      <a:lnTo>
                        <a:pt x="73" y="197"/>
                      </a:lnTo>
                      <a:lnTo>
                        <a:pt x="71" y="193"/>
                      </a:lnTo>
                      <a:lnTo>
                        <a:pt x="69" y="192"/>
                      </a:lnTo>
                      <a:lnTo>
                        <a:pt x="66" y="193"/>
                      </a:lnTo>
                      <a:lnTo>
                        <a:pt x="64" y="195"/>
                      </a:lnTo>
                      <a:lnTo>
                        <a:pt x="60" y="200"/>
                      </a:lnTo>
                      <a:lnTo>
                        <a:pt x="58" y="204"/>
                      </a:lnTo>
                      <a:lnTo>
                        <a:pt x="58" y="204"/>
                      </a:lnTo>
                      <a:close/>
                    </a:path>
                  </a:pathLst>
                </a:cu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03" name="Freeform 10">
                  <a:extLst>
                    <a:ext uri="{FF2B5EF4-FFF2-40B4-BE49-F238E27FC236}">
                      <a16:creationId xmlns:a16="http://schemas.microsoft.com/office/drawing/2014/main" id="{32E6EE58-C304-4D4C-936B-D8254D71C8B2}"/>
                    </a:ext>
                  </a:extLst>
                </p:cNvPr>
                <p:cNvSpPr>
                  <a:spLocks/>
                </p:cNvSpPr>
                <p:nvPr/>
              </p:nvSpPr>
              <p:spPr bwMode="auto">
                <a:xfrm>
                  <a:off x="-155382" y="3704463"/>
                  <a:ext cx="332058" cy="219315"/>
                </a:xfrm>
                <a:custGeom>
                  <a:avLst/>
                  <a:gdLst>
                    <a:gd name="T0" fmla="*/ 1923 w 1930"/>
                    <a:gd name="T1" fmla="*/ 484 h 1083"/>
                    <a:gd name="T2" fmla="*/ 1898 w 1930"/>
                    <a:gd name="T3" fmla="*/ 403 h 1083"/>
                    <a:gd name="T4" fmla="*/ 1852 w 1930"/>
                    <a:gd name="T5" fmla="*/ 327 h 1083"/>
                    <a:gd name="T6" fmla="*/ 1787 w 1930"/>
                    <a:gd name="T7" fmla="*/ 257 h 1083"/>
                    <a:gd name="T8" fmla="*/ 1706 w 1930"/>
                    <a:gd name="T9" fmla="*/ 193 h 1083"/>
                    <a:gd name="T10" fmla="*/ 1610 w 1930"/>
                    <a:gd name="T11" fmla="*/ 137 h 1083"/>
                    <a:gd name="T12" fmla="*/ 1500 w 1930"/>
                    <a:gd name="T13" fmla="*/ 89 h 1083"/>
                    <a:gd name="T14" fmla="*/ 1379 w 1930"/>
                    <a:gd name="T15" fmla="*/ 51 h 1083"/>
                    <a:gd name="T16" fmla="*/ 1248 w 1930"/>
                    <a:gd name="T17" fmla="*/ 23 h 1083"/>
                    <a:gd name="T18" fmla="*/ 1109 w 1930"/>
                    <a:gd name="T19" fmla="*/ 5 h 1083"/>
                    <a:gd name="T20" fmla="*/ 963 w 1930"/>
                    <a:gd name="T21" fmla="*/ 0 h 1083"/>
                    <a:gd name="T22" fmla="*/ 864 w 1930"/>
                    <a:gd name="T23" fmla="*/ 2 h 1083"/>
                    <a:gd name="T24" fmla="*/ 721 w 1930"/>
                    <a:gd name="T25" fmla="*/ 17 h 1083"/>
                    <a:gd name="T26" fmla="*/ 586 w 1930"/>
                    <a:gd name="T27" fmla="*/ 44 h 1083"/>
                    <a:gd name="T28" fmla="*/ 461 w 1930"/>
                    <a:gd name="T29" fmla="*/ 81 h 1083"/>
                    <a:gd name="T30" fmla="*/ 348 w 1930"/>
                    <a:gd name="T31" fmla="*/ 126 h 1083"/>
                    <a:gd name="T32" fmla="*/ 247 w 1930"/>
                    <a:gd name="T33" fmla="*/ 180 h 1083"/>
                    <a:gd name="T34" fmla="*/ 162 w 1930"/>
                    <a:gd name="T35" fmla="*/ 242 h 1083"/>
                    <a:gd name="T36" fmla="*/ 93 w 1930"/>
                    <a:gd name="T37" fmla="*/ 310 h 1083"/>
                    <a:gd name="T38" fmla="*/ 41 w 1930"/>
                    <a:gd name="T39" fmla="*/ 383 h 1083"/>
                    <a:gd name="T40" fmla="*/ 10 w 1930"/>
                    <a:gd name="T41" fmla="*/ 462 h 1083"/>
                    <a:gd name="T42" fmla="*/ 0 w 1930"/>
                    <a:gd name="T43" fmla="*/ 544 h 1083"/>
                    <a:gd name="T44" fmla="*/ 5 w 1930"/>
                    <a:gd name="T45" fmla="*/ 599 h 1083"/>
                    <a:gd name="T46" fmla="*/ 30 w 1930"/>
                    <a:gd name="T47" fmla="*/ 680 h 1083"/>
                    <a:gd name="T48" fmla="*/ 77 w 1930"/>
                    <a:gd name="T49" fmla="*/ 756 h 1083"/>
                    <a:gd name="T50" fmla="*/ 141 w 1930"/>
                    <a:gd name="T51" fmla="*/ 826 h 1083"/>
                    <a:gd name="T52" fmla="*/ 222 w 1930"/>
                    <a:gd name="T53" fmla="*/ 890 h 1083"/>
                    <a:gd name="T54" fmla="*/ 319 w 1930"/>
                    <a:gd name="T55" fmla="*/ 946 h 1083"/>
                    <a:gd name="T56" fmla="*/ 428 w 1930"/>
                    <a:gd name="T57" fmla="*/ 994 h 1083"/>
                    <a:gd name="T58" fmla="*/ 549 w 1930"/>
                    <a:gd name="T59" fmla="*/ 1032 h 1083"/>
                    <a:gd name="T60" fmla="*/ 680 w 1930"/>
                    <a:gd name="T61" fmla="*/ 1060 h 1083"/>
                    <a:gd name="T62" fmla="*/ 820 w 1930"/>
                    <a:gd name="T63" fmla="*/ 1078 h 1083"/>
                    <a:gd name="T64" fmla="*/ 965 w 1930"/>
                    <a:gd name="T65" fmla="*/ 1083 h 1083"/>
                    <a:gd name="T66" fmla="*/ 1064 w 1930"/>
                    <a:gd name="T67" fmla="*/ 1081 h 1083"/>
                    <a:gd name="T68" fmla="*/ 1207 w 1930"/>
                    <a:gd name="T69" fmla="*/ 1066 h 1083"/>
                    <a:gd name="T70" fmla="*/ 1342 w 1930"/>
                    <a:gd name="T71" fmla="*/ 1039 h 1083"/>
                    <a:gd name="T72" fmla="*/ 1467 w 1930"/>
                    <a:gd name="T73" fmla="*/ 1004 h 1083"/>
                    <a:gd name="T74" fmla="*/ 1581 w 1930"/>
                    <a:gd name="T75" fmla="*/ 957 h 1083"/>
                    <a:gd name="T76" fmla="*/ 1681 w 1930"/>
                    <a:gd name="T77" fmla="*/ 903 h 1083"/>
                    <a:gd name="T78" fmla="*/ 1767 w 1930"/>
                    <a:gd name="T79" fmla="*/ 842 h 1083"/>
                    <a:gd name="T80" fmla="*/ 1835 w 1930"/>
                    <a:gd name="T81" fmla="*/ 773 h 1083"/>
                    <a:gd name="T82" fmla="*/ 1887 w 1930"/>
                    <a:gd name="T83" fmla="*/ 700 h 1083"/>
                    <a:gd name="T84" fmla="*/ 1919 w 1930"/>
                    <a:gd name="T85" fmla="*/ 621 h 1083"/>
                    <a:gd name="T86" fmla="*/ 1930 w 1930"/>
                    <a:gd name="T87" fmla="*/ 539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083">
                      <a:moveTo>
                        <a:pt x="1928" y="511"/>
                      </a:moveTo>
                      <a:lnTo>
                        <a:pt x="1928" y="511"/>
                      </a:lnTo>
                      <a:lnTo>
                        <a:pt x="1923" y="484"/>
                      </a:lnTo>
                      <a:lnTo>
                        <a:pt x="1917" y="456"/>
                      </a:lnTo>
                      <a:lnTo>
                        <a:pt x="1909" y="429"/>
                      </a:lnTo>
                      <a:lnTo>
                        <a:pt x="1898" y="403"/>
                      </a:lnTo>
                      <a:lnTo>
                        <a:pt x="1885" y="377"/>
                      </a:lnTo>
                      <a:lnTo>
                        <a:pt x="1870" y="351"/>
                      </a:lnTo>
                      <a:lnTo>
                        <a:pt x="1852" y="327"/>
                      </a:lnTo>
                      <a:lnTo>
                        <a:pt x="1833" y="304"/>
                      </a:lnTo>
                      <a:lnTo>
                        <a:pt x="1811" y="279"/>
                      </a:lnTo>
                      <a:lnTo>
                        <a:pt x="1787" y="257"/>
                      </a:lnTo>
                      <a:lnTo>
                        <a:pt x="1762" y="235"/>
                      </a:lnTo>
                      <a:lnTo>
                        <a:pt x="1735" y="214"/>
                      </a:lnTo>
                      <a:lnTo>
                        <a:pt x="1706" y="193"/>
                      </a:lnTo>
                      <a:lnTo>
                        <a:pt x="1676" y="174"/>
                      </a:lnTo>
                      <a:lnTo>
                        <a:pt x="1644" y="155"/>
                      </a:lnTo>
                      <a:lnTo>
                        <a:pt x="1610" y="137"/>
                      </a:lnTo>
                      <a:lnTo>
                        <a:pt x="1575" y="121"/>
                      </a:lnTo>
                      <a:lnTo>
                        <a:pt x="1538" y="105"/>
                      </a:lnTo>
                      <a:lnTo>
                        <a:pt x="1500" y="89"/>
                      </a:lnTo>
                      <a:lnTo>
                        <a:pt x="1461" y="76"/>
                      </a:lnTo>
                      <a:lnTo>
                        <a:pt x="1421" y="63"/>
                      </a:lnTo>
                      <a:lnTo>
                        <a:pt x="1379" y="51"/>
                      </a:lnTo>
                      <a:lnTo>
                        <a:pt x="1336" y="40"/>
                      </a:lnTo>
                      <a:lnTo>
                        <a:pt x="1293" y="31"/>
                      </a:lnTo>
                      <a:lnTo>
                        <a:pt x="1248" y="23"/>
                      </a:lnTo>
                      <a:lnTo>
                        <a:pt x="1203" y="16"/>
                      </a:lnTo>
                      <a:lnTo>
                        <a:pt x="1156" y="9"/>
                      </a:lnTo>
                      <a:lnTo>
                        <a:pt x="1109" y="5"/>
                      </a:lnTo>
                      <a:lnTo>
                        <a:pt x="1062" y="2"/>
                      </a:lnTo>
                      <a:lnTo>
                        <a:pt x="1013" y="0"/>
                      </a:lnTo>
                      <a:lnTo>
                        <a:pt x="963" y="0"/>
                      </a:lnTo>
                      <a:lnTo>
                        <a:pt x="914" y="0"/>
                      </a:lnTo>
                      <a:lnTo>
                        <a:pt x="914" y="0"/>
                      </a:lnTo>
                      <a:lnTo>
                        <a:pt x="864" y="2"/>
                      </a:lnTo>
                      <a:lnTo>
                        <a:pt x="816" y="6"/>
                      </a:lnTo>
                      <a:lnTo>
                        <a:pt x="767" y="11"/>
                      </a:lnTo>
                      <a:lnTo>
                        <a:pt x="721" y="17"/>
                      </a:lnTo>
                      <a:lnTo>
                        <a:pt x="675" y="25"/>
                      </a:lnTo>
                      <a:lnTo>
                        <a:pt x="630" y="34"/>
                      </a:lnTo>
                      <a:lnTo>
                        <a:pt x="586" y="44"/>
                      </a:lnTo>
                      <a:lnTo>
                        <a:pt x="543" y="55"/>
                      </a:lnTo>
                      <a:lnTo>
                        <a:pt x="501" y="67"/>
                      </a:lnTo>
                      <a:lnTo>
                        <a:pt x="461" y="81"/>
                      </a:lnTo>
                      <a:lnTo>
                        <a:pt x="422" y="94"/>
                      </a:lnTo>
                      <a:lnTo>
                        <a:pt x="384" y="110"/>
                      </a:lnTo>
                      <a:lnTo>
                        <a:pt x="348" y="126"/>
                      </a:lnTo>
                      <a:lnTo>
                        <a:pt x="312" y="143"/>
                      </a:lnTo>
                      <a:lnTo>
                        <a:pt x="279" y="161"/>
                      </a:lnTo>
                      <a:lnTo>
                        <a:pt x="247" y="180"/>
                      </a:lnTo>
                      <a:lnTo>
                        <a:pt x="217" y="199"/>
                      </a:lnTo>
                      <a:lnTo>
                        <a:pt x="189" y="220"/>
                      </a:lnTo>
                      <a:lnTo>
                        <a:pt x="162" y="242"/>
                      </a:lnTo>
                      <a:lnTo>
                        <a:pt x="137" y="264"/>
                      </a:lnTo>
                      <a:lnTo>
                        <a:pt x="114" y="286"/>
                      </a:lnTo>
                      <a:lnTo>
                        <a:pt x="93" y="310"/>
                      </a:lnTo>
                      <a:lnTo>
                        <a:pt x="73" y="334"/>
                      </a:lnTo>
                      <a:lnTo>
                        <a:pt x="57" y="359"/>
                      </a:lnTo>
                      <a:lnTo>
                        <a:pt x="41" y="383"/>
                      </a:lnTo>
                      <a:lnTo>
                        <a:pt x="29" y="409"/>
                      </a:lnTo>
                      <a:lnTo>
                        <a:pt x="18" y="435"/>
                      </a:lnTo>
                      <a:lnTo>
                        <a:pt x="10" y="462"/>
                      </a:lnTo>
                      <a:lnTo>
                        <a:pt x="5" y="489"/>
                      </a:lnTo>
                      <a:lnTo>
                        <a:pt x="1" y="516"/>
                      </a:lnTo>
                      <a:lnTo>
                        <a:pt x="0" y="544"/>
                      </a:lnTo>
                      <a:lnTo>
                        <a:pt x="1" y="572"/>
                      </a:lnTo>
                      <a:lnTo>
                        <a:pt x="1" y="572"/>
                      </a:lnTo>
                      <a:lnTo>
                        <a:pt x="5" y="599"/>
                      </a:lnTo>
                      <a:lnTo>
                        <a:pt x="11" y="627"/>
                      </a:lnTo>
                      <a:lnTo>
                        <a:pt x="19" y="654"/>
                      </a:lnTo>
                      <a:lnTo>
                        <a:pt x="30" y="680"/>
                      </a:lnTo>
                      <a:lnTo>
                        <a:pt x="44" y="706"/>
                      </a:lnTo>
                      <a:lnTo>
                        <a:pt x="59" y="732"/>
                      </a:lnTo>
                      <a:lnTo>
                        <a:pt x="77" y="756"/>
                      </a:lnTo>
                      <a:lnTo>
                        <a:pt x="97" y="781"/>
                      </a:lnTo>
                      <a:lnTo>
                        <a:pt x="117" y="804"/>
                      </a:lnTo>
                      <a:lnTo>
                        <a:pt x="141" y="826"/>
                      </a:lnTo>
                      <a:lnTo>
                        <a:pt x="167" y="848"/>
                      </a:lnTo>
                      <a:lnTo>
                        <a:pt x="194" y="869"/>
                      </a:lnTo>
                      <a:lnTo>
                        <a:pt x="222" y="890"/>
                      </a:lnTo>
                      <a:lnTo>
                        <a:pt x="252" y="909"/>
                      </a:lnTo>
                      <a:lnTo>
                        <a:pt x="285" y="928"/>
                      </a:lnTo>
                      <a:lnTo>
                        <a:pt x="319" y="946"/>
                      </a:lnTo>
                      <a:lnTo>
                        <a:pt x="354" y="963"/>
                      </a:lnTo>
                      <a:lnTo>
                        <a:pt x="390" y="979"/>
                      </a:lnTo>
                      <a:lnTo>
                        <a:pt x="428" y="994"/>
                      </a:lnTo>
                      <a:lnTo>
                        <a:pt x="467" y="1007"/>
                      </a:lnTo>
                      <a:lnTo>
                        <a:pt x="507" y="1021"/>
                      </a:lnTo>
                      <a:lnTo>
                        <a:pt x="549" y="1032"/>
                      </a:lnTo>
                      <a:lnTo>
                        <a:pt x="592" y="1043"/>
                      </a:lnTo>
                      <a:lnTo>
                        <a:pt x="636" y="1053"/>
                      </a:lnTo>
                      <a:lnTo>
                        <a:pt x="680" y="1060"/>
                      </a:lnTo>
                      <a:lnTo>
                        <a:pt x="726" y="1067"/>
                      </a:lnTo>
                      <a:lnTo>
                        <a:pt x="772" y="1074"/>
                      </a:lnTo>
                      <a:lnTo>
                        <a:pt x="820" y="1078"/>
                      </a:lnTo>
                      <a:lnTo>
                        <a:pt x="868" y="1081"/>
                      </a:lnTo>
                      <a:lnTo>
                        <a:pt x="916" y="1083"/>
                      </a:lnTo>
                      <a:lnTo>
                        <a:pt x="965" y="1083"/>
                      </a:lnTo>
                      <a:lnTo>
                        <a:pt x="1015" y="1083"/>
                      </a:lnTo>
                      <a:lnTo>
                        <a:pt x="1015" y="1083"/>
                      </a:lnTo>
                      <a:lnTo>
                        <a:pt x="1064" y="1081"/>
                      </a:lnTo>
                      <a:lnTo>
                        <a:pt x="1113" y="1077"/>
                      </a:lnTo>
                      <a:lnTo>
                        <a:pt x="1161" y="1072"/>
                      </a:lnTo>
                      <a:lnTo>
                        <a:pt x="1207" y="1066"/>
                      </a:lnTo>
                      <a:lnTo>
                        <a:pt x="1254" y="1059"/>
                      </a:lnTo>
                      <a:lnTo>
                        <a:pt x="1298" y="1049"/>
                      </a:lnTo>
                      <a:lnTo>
                        <a:pt x="1342" y="1039"/>
                      </a:lnTo>
                      <a:lnTo>
                        <a:pt x="1385" y="1028"/>
                      </a:lnTo>
                      <a:lnTo>
                        <a:pt x="1427" y="1016"/>
                      </a:lnTo>
                      <a:lnTo>
                        <a:pt x="1467" y="1004"/>
                      </a:lnTo>
                      <a:lnTo>
                        <a:pt x="1507" y="989"/>
                      </a:lnTo>
                      <a:lnTo>
                        <a:pt x="1545" y="973"/>
                      </a:lnTo>
                      <a:lnTo>
                        <a:pt x="1581" y="957"/>
                      </a:lnTo>
                      <a:lnTo>
                        <a:pt x="1616" y="940"/>
                      </a:lnTo>
                      <a:lnTo>
                        <a:pt x="1649" y="922"/>
                      </a:lnTo>
                      <a:lnTo>
                        <a:pt x="1681" y="903"/>
                      </a:lnTo>
                      <a:lnTo>
                        <a:pt x="1711" y="884"/>
                      </a:lnTo>
                      <a:lnTo>
                        <a:pt x="1740" y="863"/>
                      </a:lnTo>
                      <a:lnTo>
                        <a:pt x="1767" y="842"/>
                      </a:lnTo>
                      <a:lnTo>
                        <a:pt x="1791" y="820"/>
                      </a:lnTo>
                      <a:lnTo>
                        <a:pt x="1814" y="797"/>
                      </a:lnTo>
                      <a:lnTo>
                        <a:pt x="1835" y="773"/>
                      </a:lnTo>
                      <a:lnTo>
                        <a:pt x="1855" y="749"/>
                      </a:lnTo>
                      <a:lnTo>
                        <a:pt x="1872" y="724"/>
                      </a:lnTo>
                      <a:lnTo>
                        <a:pt x="1887" y="700"/>
                      </a:lnTo>
                      <a:lnTo>
                        <a:pt x="1899" y="674"/>
                      </a:lnTo>
                      <a:lnTo>
                        <a:pt x="1910" y="648"/>
                      </a:lnTo>
                      <a:lnTo>
                        <a:pt x="1919" y="621"/>
                      </a:lnTo>
                      <a:lnTo>
                        <a:pt x="1925" y="594"/>
                      </a:lnTo>
                      <a:lnTo>
                        <a:pt x="1928" y="567"/>
                      </a:lnTo>
                      <a:lnTo>
                        <a:pt x="1930" y="539"/>
                      </a:lnTo>
                      <a:lnTo>
                        <a:pt x="1928" y="511"/>
                      </a:lnTo>
                      <a:lnTo>
                        <a:pt x="1928" y="511"/>
                      </a:lnTo>
                      <a:close/>
                    </a:path>
                  </a:pathLst>
                </a:custGeom>
                <a:solidFill>
                  <a:schemeClr val="accent2"/>
                </a:solidFill>
                <a:ln w="7938">
                  <a:noFill/>
                  <a:prstDash val="solid"/>
                  <a:round/>
                  <a:headEnd/>
                  <a:tailEnd/>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04" name="Freeform 11">
                  <a:extLst>
                    <a:ext uri="{FF2B5EF4-FFF2-40B4-BE49-F238E27FC236}">
                      <a16:creationId xmlns:a16="http://schemas.microsoft.com/office/drawing/2014/main" id="{0E9D8D36-A3FB-4F57-9D94-53F384DABF6E}"/>
                    </a:ext>
                  </a:extLst>
                </p:cNvPr>
                <p:cNvSpPr>
                  <a:spLocks/>
                </p:cNvSpPr>
                <p:nvPr/>
              </p:nvSpPr>
              <p:spPr bwMode="auto">
                <a:xfrm>
                  <a:off x="-132327" y="3728742"/>
                  <a:ext cx="291798" cy="176828"/>
                </a:xfrm>
                <a:custGeom>
                  <a:avLst/>
                  <a:gdLst>
                    <a:gd name="T0" fmla="*/ 1 w 1697"/>
                    <a:gd name="T1" fmla="*/ 375 h 874"/>
                    <a:gd name="T2" fmla="*/ 38 w 1697"/>
                    <a:gd name="T3" fmla="*/ 545 h 874"/>
                    <a:gd name="T4" fmla="*/ 152 w 1697"/>
                    <a:gd name="T5" fmla="*/ 684 h 874"/>
                    <a:gd name="T6" fmla="*/ 304 w 1697"/>
                    <a:gd name="T7" fmla="*/ 729 h 874"/>
                    <a:gd name="T8" fmla="*/ 341 w 1697"/>
                    <a:gd name="T9" fmla="*/ 630 h 874"/>
                    <a:gd name="T10" fmla="*/ 305 w 1697"/>
                    <a:gd name="T11" fmla="*/ 285 h 874"/>
                    <a:gd name="T12" fmla="*/ 342 w 1697"/>
                    <a:gd name="T13" fmla="*/ 208 h 874"/>
                    <a:gd name="T14" fmla="*/ 389 w 1697"/>
                    <a:gd name="T15" fmla="*/ 262 h 874"/>
                    <a:gd name="T16" fmla="*/ 439 w 1697"/>
                    <a:gd name="T17" fmla="*/ 625 h 874"/>
                    <a:gd name="T18" fmla="*/ 498 w 1697"/>
                    <a:gd name="T19" fmla="*/ 808 h 874"/>
                    <a:gd name="T20" fmla="*/ 602 w 1697"/>
                    <a:gd name="T21" fmla="*/ 870 h 874"/>
                    <a:gd name="T22" fmla="*/ 801 w 1697"/>
                    <a:gd name="T23" fmla="*/ 860 h 874"/>
                    <a:gd name="T24" fmla="*/ 782 w 1697"/>
                    <a:gd name="T25" fmla="*/ 379 h 874"/>
                    <a:gd name="T26" fmla="*/ 770 w 1697"/>
                    <a:gd name="T27" fmla="*/ 207 h 874"/>
                    <a:gd name="T28" fmla="*/ 806 w 1697"/>
                    <a:gd name="T29" fmla="*/ 184 h 874"/>
                    <a:gd name="T30" fmla="*/ 862 w 1697"/>
                    <a:gd name="T31" fmla="*/ 321 h 874"/>
                    <a:gd name="T32" fmla="*/ 894 w 1697"/>
                    <a:gd name="T33" fmla="*/ 692 h 874"/>
                    <a:gd name="T34" fmla="*/ 948 w 1697"/>
                    <a:gd name="T35" fmla="*/ 841 h 874"/>
                    <a:gd name="T36" fmla="*/ 1042 w 1697"/>
                    <a:gd name="T37" fmla="*/ 862 h 874"/>
                    <a:gd name="T38" fmla="*/ 1292 w 1697"/>
                    <a:gd name="T39" fmla="*/ 786 h 874"/>
                    <a:gd name="T40" fmla="*/ 1237 w 1697"/>
                    <a:gd name="T41" fmla="*/ 627 h 874"/>
                    <a:gd name="T42" fmla="*/ 1201 w 1697"/>
                    <a:gd name="T43" fmla="*/ 342 h 874"/>
                    <a:gd name="T44" fmla="*/ 1219 w 1697"/>
                    <a:gd name="T45" fmla="*/ 195 h 874"/>
                    <a:gd name="T46" fmla="*/ 1274 w 1697"/>
                    <a:gd name="T47" fmla="*/ 238 h 874"/>
                    <a:gd name="T48" fmla="*/ 1311 w 1697"/>
                    <a:gd name="T49" fmla="*/ 392 h 874"/>
                    <a:gd name="T50" fmla="*/ 1339 w 1697"/>
                    <a:gd name="T51" fmla="*/ 662 h 874"/>
                    <a:gd name="T52" fmla="*/ 1392 w 1697"/>
                    <a:gd name="T53" fmla="*/ 715 h 874"/>
                    <a:gd name="T54" fmla="*/ 1523 w 1697"/>
                    <a:gd name="T55" fmla="*/ 673 h 874"/>
                    <a:gd name="T56" fmla="*/ 1666 w 1697"/>
                    <a:gd name="T57" fmla="*/ 533 h 874"/>
                    <a:gd name="T58" fmla="*/ 1695 w 1697"/>
                    <a:gd name="T59" fmla="*/ 387 h 874"/>
                    <a:gd name="T60" fmla="*/ 1605 w 1697"/>
                    <a:gd name="T61" fmla="*/ 168 h 874"/>
                    <a:gd name="T62" fmla="*/ 1480 w 1697"/>
                    <a:gd name="T63" fmla="*/ 71 h 874"/>
                    <a:gd name="T64" fmla="*/ 1436 w 1697"/>
                    <a:gd name="T65" fmla="*/ 87 h 874"/>
                    <a:gd name="T66" fmla="*/ 1462 w 1697"/>
                    <a:gd name="T67" fmla="*/ 371 h 874"/>
                    <a:gd name="T68" fmla="*/ 1441 w 1697"/>
                    <a:gd name="T69" fmla="*/ 472 h 874"/>
                    <a:gd name="T70" fmla="*/ 1392 w 1697"/>
                    <a:gd name="T71" fmla="*/ 415 h 874"/>
                    <a:gd name="T72" fmla="*/ 1359 w 1697"/>
                    <a:gd name="T73" fmla="*/ 148 h 874"/>
                    <a:gd name="T74" fmla="*/ 1326 w 1697"/>
                    <a:gd name="T75" fmla="*/ 54 h 874"/>
                    <a:gd name="T76" fmla="*/ 1102 w 1697"/>
                    <a:gd name="T77" fmla="*/ 7 h 874"/>
                    <a:gd name="T78" fmla="*/ 1062 w 1697"/>
                    <a:gd name="T79" fmla="*/ 73 h 874"/>
                    <a:gd name="T80" fmla="*/ 1080 w 1697"/>
                    <a:gd name="T81" fmla="*/ 439 h 874"/>
                    <a:gd name="T82" fmla="*/ 1040 w 1697"/>
                    <a:gd name="T83" fmla="*/ 467 h 874"/>
                    <a:gd name="T84" fmla="*/ 987 w 1697"/>
                    <a:gd name="T85" fmla="*/ 364 h 874"/>
                    <a:gd name="T86" fmla="*/ 965 w 1697"/>
                    <a:gd name="T87" fmla="*/ 99 h 874"/>
                    <a:gd name="T88" fmla="*/ 920 w 1697"/>
                    <a:gd name="T89" fmla="*/ 5 h 874"/>
                    <a:gd name="T90" fmla="*/ 638 w 1697"/>
                    <a:gd name="T91" fmla="*/ 7 h 874"/>
                    <a:gd name="T92" fmla="*/ 601 w 1697"/>
                    <a:gd name="T93" fmla="*/ 67 h 874"/>
                    <a:gd name="T94" fmla="*/ 618 w 1697"/>
                    <a:gd name="T95" fmla="*/ 423 h 874"/>
                    <a:gd name="T96" fmla="*/ 587 w 1697"/>
                    <a:gd name="T97" fmla="*/ 471 h 874"/>
                    <a:gd name="T98" fmla="*/ 540 w 1697"/>
                    <a:gd name="T99" fmla="*/ 332 h 874"/>
                    <a:gd name="T100" fmla="*/ 497 w 1697"/>
                    <a:gd name="T101" fmla="*/ 54 h 874"/>
                    <a:gd name="T102" fmla="*/ 350 w 1697"/>
                    <a:gd name="T103" fmla="*/ 52 h 874"/>
                    <a:gd name="T104" fmla="*/ 178 w 1697"/>
                    <a:gd name="T105" fmla="*/ 117 h 874"/>
                    <a:gd name="T106" fmla="*/ 167 w 1697"/>
                    <a:gd name="T107" fmla="*/ 255 h 874"/>
                    <a:gd name="T108" fmla="*/ 158 w 1697"/>
                    <a:gd name="T109" fmla="*/ 409 h 874"/>
                    <a:gd name="T110" fmla="*/ 114 w 1697"/>
                    <a:gd name="T111" fmla="*/ 377 h 874"/>
                    <a:gd name="T112" fmla="*/ 73 w 1697"/>
                    <a:gd name="T113" fmla="*/ 197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97" h="874">
                      <a:moveTo>
                        <a:pt x="58" y="204"/>
                      </a:moveTo>
                      <a:lnTo>
                        <a:pt x="58" y="204"/>
                      </a:lnTo>
                      <a:lnTo>
                        <a:pt x="42" y="236"/>
                      </a:lnTo>
                      <a:lnTo>
                        <a:pt x="30" y="265"/>
                      </a:lnTo>
                      <a:lnTo>
                        <a:pt x="19" y="298"/>
                      </a:lnTo>
                      <a:lnTo>
                        <a:pt x="12" y="316"/>
                      </a:lnTo>
                      <a:lnTo>
                        <a:pt x="8" y="334"/>
                      </a:lnTo>
                      <a:lnTo>
                        <a:pt x="4" y="354"/>
                      </a:lnTo>
                      <a:lnTo>
                        <a:pt x="1" y="375"/>
                      </a:lnTo>
                      <a:lnTo>
                        <a:pt x="0" y="396"/>
                      </a:lnTo>
                      <a:lnTo>
                        <a:pt x="0" y="415"/>
                      </a:lnTo>
                      <a:lnTo>
                        <a:pt x="3" y="436"/>
                      </a:lnTo>
                      <a:lnTo>
                        <a:pt x="6" y="457"/>
                      </a:lnTo>
                      <a:lnTo>
                        <a:pt x="6" y="457"/>
                      </a:lnTo>
                      <a:lnTo>
                        <a:pt x="12" y="477"/>
                      </a:lnTo>
                      <a:lnTo>
                        <a:pt x="20" y="499"/>
                      </a:lnTo>
                      <a:lnTo>
                        <a:pt x="28" y="522"/>
                      </a:lnTo>
                      <a:lnTo>
                        <a:pt x="38" y="545"/>
                      </a:lnTo>
                      <a:lnTo>
                        <a:pt x="49" y="569"/>
                      </a:lnTo>
                      <a:lnTo>
                        <a:pt x="63" y="592"/>
                      </a:lnTo>
                      <a:lnTo>
                        <a:pt x="79" y="614"/>
                      </a:lnTo>
                      <a:lnTo>
                        <a:pt x="97" y="636"/>
                      </a:lnTo>
                      <a:lnTo>
                        <a:pt x="107" y="646"/>
                      </a:lnTo>
                      <a:lnTo>
                        <a:pt x="117" y="657"/>
                      </a:lnTo>
                      <a:lnTo>
                        <a:pt x="128" y="665"/>
                      </a:lnTo>
                      <a:lnTo>
                        <a:pt x="140" y="675"/>
                      </a:lnTo>
                      <a:lnTo>
                        <a:pt x="152" y="684"/>
                      </a:lnTo>
                      <a:lnTo>
                        <a:pt x="166" y="691"/>
                      </a:lnTo>
                      <a:lnTo>
                        <a:pt x="180" y="699"/>
                      </a:lnTo>
                      <a:lnTo>
                        <a:pt x="195" y="706"/>
                      </a:lnTo>
                      <a:lnTo>
                        <a:pt x="211" y="712"/>
                      </a:lnTo>
                      <a:lnTo>
                        <a:pt x="228" y="717"/>
                      </a:lnTo>
                      <a:lnTo>
                        <a:pt x="245" y="722"/>
                      </a:lnTo>
                      <a:lnTo>
                        <a:pt x="264" y="726"/>
                      </a:lnTo>
                      <a:lnTo>
                        <a:pt x="283" y="728"/>
                      </a:lnTo>
                      <a:lnTo>
                        <a:pt x="304" y="729"/>
                      </a:lnTo>
                      <a:lnTo>
                        <a:pt x="325" y="730"/>
                      </a:lnTo>
                      <a:lnTo>
                        <a:pt x="348" y="730"/>
                      </a:lnTo>
                      <a:lnTo>
                        <a:pt x="348" y="730"/>
                      </a:lnTo>
                      <a:lnTo>
                        <a:pt x="348" y="729"/>
                      </a:lnTo>
                      <a:lnTo>
                        <a:pt x="350" y="728"/>
                      </a:lnTo>
                      <a:lnTo>
                        <a:pt x="351" y="722"/>
                      </a:lnTo>
                      <a:lnTo>
                        <a:pt x="350" y="700"/>
                      </a:lnTo>
                      <a:lnTo>
                        <a:pt x="346" y="668"/>
                      </a:lnTo>
                      <a:lnTo>
                        <a:pt x="341" y="630"/>
                      </a:lnTo>
                      <a:lnTo>
                        <a:pt x="328" y="550"/>
                      </a:lnTo>
                      <a:lnTo>
                        <a:pt x="318" y="493"/>
                      </a:lnTo>
                      <a:lnTo>
                        <a:pt x="318" y="493"/>
                      </a:lnTo>
                      <a:lnTo>
                        <a:pt x="314" y="467"/>
                      </a:lnTo>
                      <a:lnTo>
                        <a:pt x="309" y="428"/>
                      </a:lnTo>
                      <a:lnTo>
                        <a:pt x="305" y="381"/>
                      </a:lnTo>
                      <a:lnTo>
                        <a:pt x="304" y="332"/>
                      </a:lnTo>
                      <a:lnTo>
                        <a:pt x="304" y="309"/>
                      </a:lnTo>
                      <a:lnTo>
                        <a:pt x="305" y="285"/>
                      </a:lnTo>
                      <a:lnTo>
                        <a:pt x="308" y="265"/>
                      </a:lnTo>
                      <a:lnTo>
                        <a:pt x="312" y="246"/>
                      </a:lnTo>
                      <a:lnTo>
                        <a:pt x="317" y="230"/>
                      </a:lnTo>
                      <a:lnTo>
                        <a:pt x="319" y="224"/>
                      </a:lnTo>
                      <a:lnTo>
                        <a:pt x="323" y="218"/>
                      </a:lnTo>
                      <a:lnTo>
                        <a:pt x="328" y="214"/>
                      </a:lnTo>
                      <a:lnTo>
                        <a:pt x="331" y="211"/>
                      </a:lnTo>
                      <a:lnTo>
                        <a:pt x="337" y="208"/>
                      </a:lnTo>
                      <a:lnTo>
                        <a:pt x="342" y="208"/>
                      </a:lnTo>
                      <a:lnTo>
                        <a:pt x="342" y="208"/>
                      </a:lnTo>
                      <a:lnTo>
                        <a:pt x="348" y="208"/>
                      </a:lnTo>
                      <a:lnTo>
                        <a:pt x="353" y="209"/>
                      </a:lnTo>
                      <a:lnTo>
                        <a:pt x="358" y="213"/>
                      </a:lnTo>
                      <a:lnTo>
                        <a:pt x="363" y="217"/>
                      </a:lnTo>
                      <a:lnTo>
                        <a:pt x="368" y="222"/>
                      </a:lnTo>
                      <a:lnTo>
                        <a:pt x="373" y="228"/>
                      </a:lnTo>
                      <a:lnTo>
                        <a:pt x="382" y="244"/>
                      </a:lnTo>
                      <a:lnTo>
                        <a:pt x="389" y="262"/>
                      </a:lnTo>
                      <a:lnTo>
                        <a:pt x="395" y="283"/>
                      </a:lnTo>
                      <a:lnTo>
                        <a:pt x="401" y="306"/>
                      </a:lnTo>
                      <a:lnTo>
                        <a:pt x="406" y="332"/>
                      </a:lnTo>
                      <a:lnTo>
                        <a:pt x="415" y="385"/>
                      </a:lnTo>
                      <a:lnTo>
                        <a:pt x="422" y="439"/>
                      </a:lnTo>
                      <a:lnTo>
                        <a:pt x="431" y="532"/>
                      </a:lnTo>
                      <a:lnTo>
                        <a:pt x="431" y="532"/>
                      </a:lnTo>
                      <a:lnTo>
                        <a:pt x="434" y="575"/>
                      </a:lnTo>
                      <a:lnTo>
                        <a:pt x="439" y="625"/>
                      </a:lnTo>
                      <a:lnTo>
                        <a:pt x="443" y="652"/>
                      </a:lnTo>
                      <a:lnTo>
                        <a:pt x="448" y="680"/>
                      </a:lnTo>
                      <a:lnTo>
                        <a:pt x="454" y="708"/>
                      </a:lnTo>
                      <a:lnTo>
                        <a:pt x="462" y="735"/>
                      </a:lnTo>
                      <a:lnTo>
                        <a:pt x="472" y="761"/>
                      </a:lnTo>
                      <a:lnTo>
                        <a:pt x="477" y="773"/>
                      </a:lnTo>
                      <a:lnTo>
                        <a:pt x="485" y="786"/>
                      </a:lnTo>
                      <a:lnTo>
                        <a:pt x="491" y="798"/>
                      </a:lnTo>
                      <a:lnTo>
                        <a:pt x="498" y="808"/>
                      </a:lnTo>
                      <a:lnTo>
                        <a:pt x="507" y="819"/>
                      </a:lnTo>
                      <a:lnTo>
                        <a:pt x="516" y="829"/>
                      </a:lnTo>
                      <a:lnTo>
                        <a:pt x="526" y="837"/>
                      </a:lnTo>
                      <a:lnTo>
                        <a:pt x="536" y="844"/>
                      </a:lnTo>
                      <a:lnTo>
                        <a:pt x="548" y="852"/>
                      </a:lnTo>
                      <a:lnTo>
                        <a:pt x="561" y="858"/>
                      </a:lnTo>
                      <a:lnTo>
                        <a:pt x="573" y="863"/>
                      </a:lnTo>
                      <a:lnTo>
                        <a:pt x="587" y="867"/>
                      </a:lnTo>
                      <a:lnTo>
                        <a:pt x="602" y="870"/>
                      </a:lnTo>
                      <a:lnTo>
                        <a:pt x="618" y="871"/>
                      </a:lnTo>
                      <a:lnTo>
                        <a:pt x="618" y="871"/>
                      </a:lnTo>
                      <a:lnTo>
                        <a:pt x="678" y="874"/>
                      </a:lnTo>
                      <a:lnTo>
                        <a:pt x="726" y="873"/>
                      </a:lnTo>
                      <a:lnTo>
                        <a:pt x="746" y="873"/>
                      </a:lnTo>
                      <a:lnTo>
                        <a:pt x="763" y="870"/>
                      </a:lnTo>
                      <a:lnTo>
                        <a:pt x="778" y="868"/>
                      </a:lnTo>
                      <a:lnTo>
                        <a:pt x="791" y="864"/>
                      </a:lnTo>
                      <a:lnTo>
                        <a:pt x="801" y="860"/>
                      </a:lnTo>
                      <a:lnTo>
                        <a:pt x="809" y="857"/>
                      </a:lnTo>
                      <a:lnTo>
                        <a:pt x="817" y="852"/>
                      </a:lnTo>
                      <a:lnTo>
                        <a:pt x="822" y="846"/>
                      </a:lnTo>
                      <a:lnTo>
                        <a:pt x="825" y="840"/>
                      </a:lnTo>
                      <a:lnTo>
                        <a:pt x="827" y="833"/>
                      </a:lnTo>
                      <a:lnTo>
                        <a:pt x="828" y="826"/>
                      </a:lnTo>
                      <a:lnTo>
                        <a:pt x="828" y="819"/>
                      </a:lnTo>
                      <a:lnTo>
                        <a:pt x="828" y="819"/>
                      </a:lnTo>
                      <a:lnTo>
                        <a:pt x="782" y="379"/>
                      </a:lnTo>
                      <a:lnTo>
                        <a:pt x="782" y="379"/>
                      </a:lnTo>
                      <a:lnTo>
                        <a:pt x="780" y="358"/>
                      </a:lnTo>
                      <a:lnTo>
                        <a:pt x="775" y="330"/>
                      </a:lnTo>
                      <a:lnTo>
                        <a:pt x="770" y="298"/>
                      </a:lnTo>
                      <a:lnTo>
                        <a:pt x="768" y="265"/>
                      </a:lnTo>
                      <a:lnTo>
                        <a:pt x="766" y="249"/>
                      </a:lnTo>
                      <a:lnTo>
                        <a:pt x="766" y="234"/>
                      </a:lnTo>
                      <a:lnTo>
                        <a:pt x="768" y="219"/>
                      </a:lnTo>
                      <a:lnTo>
                        <a:pt x="770" y="207"/>
                      </a:lnTo>
                      <a:lnTo>
                        <a:pt x="774" y="197"/>
                      </a:lnTo>
                      <a:lnTo>
                        <a:pt x="780" y="189"/>
                      </a:lnTo>
                      <a:lnTo>
                        <a:pt x="782" y="186"/>
                      </a:lnTo>
                      <a:lnTo>
                        <a:pt x="786" y="184"/>
                      </a:lnTo>
                      <a:lnTo>
                        <a:pt x="791" y="182"/>
                      </a:lnTo>
                      <a:lnTo>
                        <a:pt x="796" y="182"/>
                      </a:lnTo>
                      <a:lnTo>
                        <a:pt x="796" y="182"/>
                      </a:lnTo>
                      <a:lnTo>
                        <a:pt x="801" y="182"/>
                      </a:lnTo>
                      <a:lnTo>
                        <a:pt x="806" y="184"/>
                      </a:lnTo>
                      <a:lnTo>
                        <a:pt x="811" y="186"/>
                      </a:lnTo>
                      <a:lnTo>
                        <a:pt x="814" y="190"/>
                      </a:lnTo>
                      <a:lnTo>
                        <a:pt x="823" y="200"/>
                      </a:lnTo>
                      <a:lnTo>
                        <a:pt x="831" y="213"/>
                      </a:lnTo>
                      <a:lnTo>
                        <a:pt x="839" y="230"/>
                      </a:lnTo>
                      <a:lnTo>
                        <a:pt x="845" y="250"/>
                      </a:lnTo>
                      <a:lnTo>
                        <a:pt x="852" y="272"/>
                      </a:lnTo>
                      <a:lnTo>
                        <a:pt x="857" y="295"/>
                      </a:lnTo>
                      <a:lnTo>
                        <a:pt x="862" y="321"/>
                      </a:lnTo>
                      <a:lnTo>
                        <a:pt x="867" y="348"/>
                      </a:lnTo>
                      <a:lnTo>
                        <a:pt x="874" y="403"/>
                      </a:lnTo>
                      <a:lnTo>
                        <a:pt x="881" y="460"/>
                      </a:lnTo>
                      <a:lnTo>
                        <a:pt x="885" y="513"/>
                      </a:lnTo>
                      <a:lnTo>
                        <a:pt x="885" y="513"/>
                      </a:lnTo>
                      <a:lnTo>
                        <a:pt x="888" y="570"/>
                      </a:lnTo>
                      <a:lnTo>
                        <a:pt x="889" y="631"/>
                      </a:lnTo>
                      <a:lnTo>
                        <a:pt x="892" y="662"/>
                      </a:lnTo>
                      <a:lnTo>
                        <a:pt x="894" y="692"/>
                      </a:lnTo>
                      <a:lnTo>
                        <a:pt x="898" y="723"/>
                      </a:lnTo>
                      <a:lnTo>
                        <a:pt x="904" y="751"/>
                      </a:lnTo>
                      <a:lnTo>
                        <a:pt x="911" y="778"/>
                      </a:lnTo>
                      <a:lnTo>
                        <a:pt x="916" y="791"/>
                      </a:lnTo>
                      <a:lnTo>
                        <a:pt x="921" y="803"/>
                      </a:lnTo>
                      <a:lnTo>
                        <a:pt x="926" y="813"/>
                      </a:lnTo>
                      <a:lnTo>
                        <a:pt x="933" y="824"/>
                      </a:lnTo>
                      <a:lnTo>
                        <a:pt x="939" y="832"/>
                      </a:lnTo>
                      <a:lnTo>
                        <a:pt x="948" y="841"/>
                      </a:lnTo>
                      <a:lnTo>
                        <a:pt x="957" y="848"/>
                      </a:lnTo>
                      <a:lnTo>
                        <a:pt x="966" y="854"/>
                      </a:lnTo>
                      <a:lnTo>
                        <a:pt x="976" y="858"/>
                      </a:lnTo>
                      <a:lnTo>
                        <a:pt x="987" y="862"/>
                      </a:lnTo>
                      <a:lnTo>
                        <a:pt x="999" y="864"/>
                      </a:lnTo>
                      <a:lnTo>
                        <a:pt x="1013" y="865"/>
                      </a:lnTo>
                      <a:lnTo>
                        <a:pt x="1026" y="864"/>
                      </a:lnTo>
                      <a:lnTo>
                        <a:pt x="1042" y="862"/>
                      </a:lnTo>
                      <a:lnTo>
                        <a:pt x="1042" y="862"/>
                      </a:lnTo>
                      <a:lnTo>
                        <a:pt x="1102" y="849"/>
                      </a:lnTo>
                      <a:lnTo>
                        <a:pt x="1155" y="838"/>
                      </a:lnTo>
                      <a:lnTo>
                        <a:pt x="1201" y="826"/>
                      </a:lnTo>
                      <a:lnTo>
                        <a:pt x="1239" y="814"/>
                      </a:lnTo>
                      <a:lnTo>
                        <a:pt x="1253" y="808"/>
                      </a:lnTo>
                      <a:lnTo>
                        <a:pt x="1267" y="802"/>
                      </a:lnTo>
                      <a:lnTo>
                        <a:pt x="1278" y="797"/>
                      </a:lnTo>
                      <a:lnTo>
                        <a:pt x="1286" y="791"/>
                      </a:lnTo>
                      <a:lnTo>
                        <a:pt x="1292" y="786"/>
                      </a:lnTo>
                      <a:lnTo>
                        <a:pt x="1296" y="779"/>
                      </a:lnTo>
                      <a:lnTo>
                        <a:pt x="1296" y="775"/>
                      </a:lnTo>
                      <a:lnTo>
                        <a:pt x="1295" y="770"/>
                      </a:lnTo>
                      <a:lnTo>
                        <a:pt x="1295" y="770"/>
                      </a:lnTo>
                      <a:lnTo>
                        <a:pt x="1285" y="755"/>
                      </a:lnTo>
                      <a:lnTo>
                        <a:pt x="1273" y="729"/>
                      </a:lnTo>
                      <a:lnTo>
                        <a:pt x="1259" y="695"/>
                      </a:lnTo>
                      <a:lnTo>
                        <a:pt x="1245" y="652"/>
                      </a:lnTo>
                      <a:lnTo>
                        <a:pt x="1237" y="627"/>
                      </a:lnTo>
                      <a:lnTo>
                        <a:pt x="1230" y="602"/>
                      </a:lnTo>
                      <a:lnTo>
                        <a:pt x="1223" y="572"/>
                      </a:lnTo>
                      <a:lnTo>
                        <a:pt x="1216" y="543"/>
                      </a:lnTo>
                      <a:lnTo>
                        <a:pt x="1212" y="511"/>
                      </a:lnTo>
                      <a:lnTo>
                        <a:pt x="1208" y="478"/>
                      </a:lnTo>
                      <a:lnTo>
                        <a:pt x="1204" y="444"/>
                      </a:lnTo>
                      <a:lnTo>
                        <a:pt x="1202" y="408"/>
                      </a:lnTo>
                      <a:lnTo>
                        <a:pt x="1202" y="408"/>
                      </a:lnTo>
                      <a:lnTo>
                        <a:pt x="1201" y="342"/>
                      </a:lnTo>
                      <a:lnTo>
                        <a:pt x="1199" y="292"/>
                      </a:lnTo>
                      <a:lnTo>
                        <a:pt x="1201" y="255"/>
                      </a:lnTo>
                      <a:lnTo>
                        <a:pt x="1202" y="228"/>
                      </a:lnTo>
                      <a:lnTo>
                        <a:pt x="1203" y="218"/>
                      </a:lnTo>
                      <a:lnTo>
                        <a:pt x="1205" y="211"/>
                      </a:lnTo>
                      <a:lnTo>
                        <a:pt x="1208" y="204"/>
                      </a:lnTo>
                      <a:lnTo>
                        <a:pt x="1212" y="200"/>
                      </a:lnTo>
                      <a:lnTo>
                        <a:pt x="1215" y="196"/>
                      </a:lnTo>
                      <a:lnTo>
                        <a:pt x="1219" y="195"/>
                      </a:lnTo>
                      <a:lnTo>
                        <a:pt x="1229" y="191"/>
                      </a:lnTo>
                      <a:lnTo>
                        <a:pt x="1229" y="191"/>
                      </a:lnTo>
                      <a:lnTo>
                        <a:pt x="1235" y="192"/>
                      </a:lnTo>
                      <a:lnTo>
                        <a:pt x="1241" y="195"/>
                      </a:lnTo>
                      <a:lnTo>
                        <a:pt x="1248" y="200"/>
                      </a:lnTo>
                      <a:lnTo>
                        <a:pt x="1254" y="206"/>
                      </a:lnTo>
                      <a:lnTo>
                        <a:pt x="1262" y="216"/>
                      </a:lnTo>
                      <a:lnTo>
                        <a:pt x="1268" y="225"/>
                      </a:lnTo>
                      <a:lnTo>
                        <a:pt x="1274" y="238"/>
                      </a:lnTo>
                      <a:lnTo>
                        <a:pt x="1280" y="251"/>
                      </a:lnTo>
                      <a:lnTo>
                        <a:pt x="1286" y="266"/>
                      </a:lnTo>
                      <a:lnTo>
                        <a:pt x="1292" y="282"/>
                      </a:lnTo>
                      <a:lnTo>
                        <a:pt x="1297" y="299"/>
                      </a:lnTo>
                      <a:lnTo>
                        <a:pt x="1301" y="316"/>
                      </a:lnTo>
                      <a:lnTo>
                        <a:pt x="1305" y="334"/>
                      </a:lnTo>
                      <a:lnTo>
                        <a:pt x="1307" y="354"/>
                      </a:lnTo>
                      <a:lnTo>
                        <a:pt x="1310" y="372"/>
                      </a:lnTo>
                      <a:lnTo>
                        <a:pt x="1311" y="392"/>
                      </a:lnTo>
                      <a:lnTo>
                        <a:pt x="1311" y="392"/>
                      </a:lnTo>
                      <a:lnTo>
                        <a:pt x="1311" y="435"/>
                      </a:lnTo>
                      <a:lnTo>
                        <a:pt x="1313" y="483"/>
                      </a:lnTo>
                      <a:lnTo>
                        <a:pt x="1317" y="532"/>
                      </a:lnTo>
                      <a:lnTo>
                        <a:pt x="1322" y="580"/>
                      </a:lnTo>
                      <a:lnTo>
                        <a:pt x="1326" y="603"/>
                      </a:lnTo>
                      <a:lnTo>
                        <a:pt x="1329" y="625"/>
                      </a:lnTo>
                      <a:lnTo>
                        <a:pt x="1334" y="645"/>
                      </a:lnTo>
                      <a:lnTo>
                        <a:pt x="1339" y="662"/>
                      </a:lnTo>
                      <a:lnTo>
                        <a:pt x="1345" y="678"/>
                      </a:lnTo>
                      <a:lnTo>
                        <a:pt x="1351" y="690"/>
                      </a:lnTo>
                      <a:lnTo>
                        <a:pt x="1359" y="700"/>
                      </a:lnTo>
                      <a:lnTo>
                        <a:pt x="1362" y="703"/>
                      </a:lnTo>
                      <a:lnTo>
                        <a:pt x="1366" y="706"/>
                      </a:lnTo>
                      <a:lnTo>
                        <a:pt x="1366" y="706"/>
                      </a:lnTo>
                      <a:lnTo>
                        <a:pt x="1375" y="710"/>
                      </a:lnTo>
                      <a:lnTo>
                        <a:pt x="1383" y="712"/>
                      </a:lnTo>
                      <a:lnTo>
                        <a:pt x="1392" y="715"/>
                      </a:lnTo>
                      <a:lnTo>
                        <a:pt x="1400" y="716"/>
                      </a:lnTo>
                      <a:lnTo>
                        <a:pt x="1418" y="716"/>
                      </a:lnTo>
                      <a:lnTo>
                        <a:pt x="1436" y="713"/>
                      </a:lnTo>
                      <a:lnTo>
                        <a:pt x="1453" y="708"/>
                      </a:lnTo>
                      <a:lnTo>
                        <a:pt x="1469" y="702"/>
                      </a:lnTo>
                      <a:lnTo>
                        <a:pt x="1485" y="695"/>
                      </a:lnTo>
                      <a:lnTo>
                        <a:pt x="1501" y="686"/>
                      </a:lnTo>
                      <a:lnTo>
                        <a:pt x="1501" y="686"/>
                      </a:lnTo>
                      <a:lnTo>
                        <a:pt x="1523" y="673"/>
                      </a:lnTo>
                      <a:lnTo>
                        <a:pt x="1539" y="663"/>
                      </a:lnTo>
                      <a:lnTo>
                        <a:pt x="1556" y="652"/>
                      </a:lnTo>
                      <a:lnTo>
                        <a:pt x="1576" y="637"/>
                      </a:lnTo>
                      <a:lnTo>
                        <a:pt x="1595" y="621"/>
                      </a:lnTo>
                      <a:lnTo>
                        <a:pt x="1615" y="603"/>
                      </a:lnTo>
                      <a:lnTo>
                        <a:pt x="1633" y="582"/>
                      </a:lnTo>
                      <a:lnTo>
                        <a:pt x="1652" y="559"/>
                      </a:lnTo>
                      <a:lnTo>
                        <a:pt x="1659" y="547"/>
                      </a:lnTo>
                      <a:lnTo>
                        <a:pt x="1666" y="533"/>
                      </a:lnTo>
                      <a:lnTo>
                        <a:pt x="1674" y="520"/>
                      </a:lnTo>
                      <a:lnTo>
                        <a:pt x="1680" y="505"/>
                      </a:lnTo>
                      <a:lnTo>
                        <a:pt x="1685" y="490"/>
                      </a:lnTo>
                      <a:lnTo>
                        <a:pt x="1690" y="474"/>
                      </a:lnTo>
                      <a:lnTo>
                        <a:pt x="1693" y="458"/>
                      </a:lnTo>
                      <a:lnTo>
                        <a:pt x="1696" y="441"/>
                      </a:lnTo>
                      <a:lnTo>
                        <a:pt x="1697" y="424"/>
                      </a:lnTo>
                      <a:lnTo>
                        <a:pt x="1696" y="406"/>
                      </a:lnTo>
                      <a:lnTo>
                        <a:pt x="1695" y="387"/>
                      </a:lnTo>
                      <a:lnTo>
                        <a:pt x="1692" y="368"/>
                      </a:lnTo>
                      <a:lnTo>
                        <a:pt x="1688" y="348"/>
                      </a:lnTo>
                      <a:lnTo>
                        <a:pt x="1682" y="327"/>
                      </a:lnTo>
                      <a:lnTo>
                        <a:pt x="1682" y="327"/>
                      </a:lnTo>
                      <a:lnTo>
                        <a:pt x="1668" y="287"/>
                      </a:lnTo>
                      <a:lnTo>
                        <a:pt x="1653" y="251"/>
                      </a:lnTo>
                      <a:lnTo>
                        <a:pt x="1637" y="220"/>
                      </a:lnTo>
                      <a:lnTo>
                        <a:pt x="1621" y="192"/>
                      </a:lnTo>
                      <a:lnTo>
                        <a:pt x="1605" y="168"/>
                      </a:lnTo>
                      <a:lnTo>
                        <a:pt x="1589" y="147"/>
                      </a:lnTo>
                      <a:lnTo>
                        <a:pt x="1572" y="128"/>
                      </a:lnTo>
                      <a:lnTo>
                        <a:pt x="1556" y="114"/>
                      </a:lnTo>
                      <a:lnTo>
                        <a:pt x="1541" y="102"/>
                      </a:lnTo>
                      <a:lnTo>
                        <a:pt x="1527" y="90"/>
                      </a:lnTo>
                      <a:lnTo>
                        <a:pt x="1513" y="83"/>
                      </a:lnTo>
                      <a:lnTo>
                        <a:pt x="1501" y="77"/>
                      </a:lnTo>
                      <a:lnTo>
                        <a:pt x="1490" y="73"/>
                      </a:lnTo>
                      <a:lnTo>
                        <a:pt x="1480" y="71"/>
                      </a:lnTo>
                      <a:lnTo>
                        <a:pt x="1473" y="70"/>
                      </a:lnTo>
                      <a:lnTo>
                        <a:pt x="1468" y="68"/>
                      </a:lnTo>
                      <a:lnTo>
                        <a:pt x="1468" y="68"/>
                      </a:lnTo>
                      <a:lnTo>
                        <a:pt x="1459" y="70"/>
                      </a:lnTo>
                      <a:lnTo>
                        <a:pt x="1452" y="71"/>
                      </a:lnTo>
                      <a:lnTo>
                        <a:pt x="1445" y="73"/>
                      </a:lnTo>
                      <a:lnTo>
                        <a:pt x="1442" y="76"/>
                      </a:lnTo>
                      <a:lnTo>
                        <a:pt x="1440" y="78"/>
                      </a:lnTo>
                      <a:lnTo>
                        <a:pt x="1436" y="87"/>
                      </a:lnTo>
                      <a:lnTo>
                        <a:pt x="1433" y="99"/>
                      </a:lnTo>
                      <a:lnTo>
                        <a:pt x="1433" y="116"/>
                      </a:lnTo>
                      <a:lnTo>
                        <a:pt x="1435" y="138"/>
                      </a:lnTo>
                      <a:lnTo>
                        <a:pt x="1435" y="138"/>
                      </a:lnTo>
                      <a:lnTo>
                        <a:pt x="1440" y="174"/>
                      </a:lnTo>
                      <a:lnTo>
                        <a:pt x="1446" y="224"/>
                      </a:lnTo>
                      <a:lnTo>
                        <a:pt x="1453" y="282"/>
                      </a:lnTo>
                      <a:lnTo>
                        <a:pt x="1459" y="342"/>
                      </a:lnTo>
                      <a:lnTo>
                        <a:pt x="1462" y="371"/>
                      </a:lnTo>
                      <a:lnTo>
                        <a:pt x="1462" y="397"/>
                      </a:lnTo>
                      <a:lnTo>
                        <a:pt x="1462" y="422"/>
                      </a:lnTo>
                      <a:lnTo>
                        <a:pt x="1459" y="441"/>
                      </a:lnTo>
                      <a:lnTo>
                        <a:pt x="1458" y="450"/>
                      </a:lnTo>
                      <a:lnTo>
                        <a:pt x="1456" y="457"/>
                      </a:lnTo>
                      <a:lnTo>
                        <a:pt x="1453" y="463"/>
                      </a:lnTo>
                      <a:lnTo>
                        <a:pt x="1449" y="467"/>
                      </a:lnTo>
                      <a:lnTo>
                        <a:pt x="1446" y="471"/>
                      </a:lnTo>
                      <a:lnTo>
                        <a:pt x="1441" y="472"/>
                      </a:lnTo>
                      <a:lnTo>
                        <a:pt x="1436" y="472"/>
                      </a:lnTo>
                      <a:lnTo>
                        <a:pt x="1430" y="469"/>
                      </a:lnTo>
                      <a:lnTo>
                        <a:pt x="1430" y="469"/>
                      </a:lnTo>
                      <a:lnTo>
                        <a:pt x="1425" y="466"/>
                      </a:lnTo>
                      <a:lnTo>
                        <a:pt x="1419" y="461"/>
                      </a:lnTo>
                      <a:lnTo>
                        <a:pt x="1414" y="456"/>
                      </a:lnTo>
                      <a:lnTo>
                        <a:pt x="1409" y="448"/>
                      </a:lnTo>
                      <a:lnTo>
                        <a:pt x="1400" y="434"/>
                      </a:lnTo>
                      <a:lnTo>
                        <a:pt x="1392" y="415"/>
                      </a:lnTo>
                      <a:lnTo>
                        <a:pt x="1386" y="395"/>
                      </a:lnTo>
                      <a:lnTo>
                        <a:pt x="1381" y="371"/>
                      </a:lnTo>
                      <a:lnTo>
                        <a:pt x="1376" y="348"/>
                      </a:lnTo>
                      <a:lnTo>
                        <a:pt x="1372" y="323"/>
                      </a:lnTo>
                      <a:lnTo>
                        <a:pt x="1367" y="277"/>
                      </a:lnTo>
                      <a:lnTo>
                        <a:pt x="1364" y="233"/>
                      </a:lnTo>
                      <a:lnTo>
                        <a:pt x="1361" y="180"/>
                      </a:lnTo>
                      <a:lnTo>
                        <a:pt x="1361" y="180"/>
                      </a:lnTo>
                      <a:lnTo>
                        <a:pt x="1359" y="148"/>
                      </a:lnTo>
                      <a:lnTo>
                        <a:pt x="1356" y="128"/>
                      </a:lnTo>
                      <a:lnTo>
                        <a:pt x="1354" y="108"/>
                      </a:lnTo>
                      <a:lnTo>
                        <a:pt x="1350" y="88"/>
                      </a:lnTo>
                      <a:lnTo>
                        <a:pt x="1348" y="79"/>
                      </a:lnTo>
                      <a:lnTo>
                        <a:pt x="1344" y="72"/>
                      </a:lnTo>
                      <a:lnTo>
                        <a:pt x="1340" y="65"/>
                      </a:lnTo>
                      <a:lnTo>
                        <a:pt x="1337" y="60"/>
                      </a:lnTo>
                      <a:lnTo>
                        <a:pt x="1332" y="56"/>
                      </a:lnTo>
                      <a:lnTo>
                        <a:pt x="1326" y="54"/>
                      </a:lnTo>
                      <a:lnTo>
                        <a:pt x="1326" y="54"/>
                      </a:lnTo>
                      <a:lnTo>
                        <a:pt x="1281" y="43"/>
                      </a:lnTo>
                      <a:lnTo>
                        <a:pt x="1214" y="27"/>
                      </a:lnTo>
                      <a:lnTo>
                        <a:pt x="1178" y="18"/>
                      </a:lnTo>
                      <a:lnTo>
                        <a:pt x="1147" y="12"/>
                      </a:lnTo>
                      <a:lnTo>
                        <a:pt x="1120" y="7"/>
                      </a:lnTo>
                      <a:lnTo>
                        <a:pt x="1110" y="7"/>
                      </a:lnTo>
                      <a:lnTo>
                        <a:pt x="1102" y="7"/>
                      </a:lnTo>
                      <a:lnTo>
                        <a:pt x="1102" y="7"/>
                      </a:lnTo>
                      <a:lnTo>
                        <a:pt x="1093" y="10"/>
                      </a:lnTo>
                      <a:lnTo>
                        <a:pt x="1083" y="12"/>
                      </a:lnTo>
                      <a:lnTo>
                        <a:pt x="1075" y="16"/>
                      </a:lnTo>
                      <a:lnTo>
                        <a:pt x="1069" y="22"/>
                      </a:lnTo>
                      <a:lnTo>
                        <a:pt x="1064" y="30"/>
                      </a:lnTo>
                      <a:lnTo>
                        <a:pt x="1062" y="41"/>
                      </a:lnTo>
                      <a:lnTo>
                        <a:pt x="1062" y="56"/>
                      </a:lnTo>
                      <a:lnTo>
                        <a:pt x="1062" y="73"/>
                      </a:lnTo>
                      <a:lnTo>
                        <a:pt x="1062" y="73"/>
                      </a:lnTo>
                      <a:lnTo>
                        <a:pt x="1073" y="158"/>
                      </a:lnTo>
                      <a:lnTo>
                        <a:pt x="1080" y="223"/>
                      </a:lnTo>
                      <a:lnTo>
                        <a:pt x="1085" y="293"/>
                      </a:lnTo>
                      <a:lnTo>
                        <a:pt x="1088" y="327"/>
                      </a:lnTo>
                      <a:lnTo>
                        <a:pt x="1088" y="359"/>
                      </a:lnTo>
                      <a:lnTo>
                        <a:pt x="1086" y="390"/>
                      </a:lnTo>
                      <a:lnTo>
                        <a:pt x="1084" y="417"/>
                      </a:lnTo>
                      <a:lnTo>
                        <a:pt x="1083" y="428"/>
                      </a:lnTo>
                      <a:lnTo>
                        <a:pt x="1080" y="439"/>
                      </a:lnTo>
                      <a:lnTo>
                        <a:pt x="1077" y="447"/>
                      </a:lnTo>
                      <a:lnTo>
                        <a:pt x="1073" y="456"/>
                      </a:lnTo>
                      <a:lnTo>
                        <a:pt x="1069" y="462"/>
                      </a:lnTo>
                      <a:lnTo>
                        <a:pt x="1064" y="466"/>
                      </a:lnTo>
                      <a:lnTo>
                        <a:pt x="1058" y="469"/>
                      </a:lnTo>
                      <a:lnTo>
                        <a:pt x="1052" y="469"/>
                      </a:lnTo>
                      <a:lnTo>
                        <a:pt x="1052" y="469"/>
                      </a:lnTo>
                      <a:lnTo>
                        <a:pt x="1046" y="469"/>
                      </a:lnTo>
                      <a:lnTo>
                        <a:pt x="1040" y="467"/>
                      </a:lnTo>
                      <a:lnTo>
                        <a:pt x="1034" y="464"/>
                      </a:lnTo>
                      <a:lnTo>
                        <a:pt x="1029" y="461"/>
                      </a:lnTo>
                      <a:lnTo>
                        <a:pt x="1024" y="457"/>
                      </a:lnTo>
                      <a:lnTo>
                        <a:pt x="1019" y="451"/>
                      </a:lnTo>
                      <a:lnTo>
                        <a:pt x="1010" y="439"/>
                      </a:lnTo>
                      <a:lnTo>
                        <a:pt x="1003" y="423"/>
                      </a:lnTo>
                      <a:lnTo>
                        <a:pt x="997" y="404"/>
                      </a:lnTo>
                      <a:lnTo>
                        <a:pt x="992" y="385"/>
                      </a:lnTo>
                      <a:lnTo>
                        <a:pt x="987" y="364"/>
                      </a:lnTo>
                      <a:lnTo>
                        <a:pt x="984" y="342"/>
                      </a:lnTo>
                      <a:lnTo>
                        <a:pt x="981" y="319"/>
                      </a:lnTo>
                      <a:lnTo>
                        <a:pt x="976" y="274"/>
                      </a:lnTo>
                      <a:lnTo>
                        <a:pt x="974" y="231"/>
                      </a:lnTo>
                      <a:lnTo>
                        <a:pt x="972" y="196"/>
                      </a:lnTo>
                      <a:lnTo>
                        <a:pt x="972" y="196"/>
                      </a:lnTo>
                      <a:lnTo>
                        <a:pt x="971" y="163"/>
                      </a:lnTo>
                      <a:lnTo>
                        <a:pt x="969" y="131"/>
                      </a:lnTo>
                      <a:lnTo>
                        <a:pt x="965" y="99"/>
                      </a:lnTo>
                      <a:lnTo>
                        <a:pt x="960" y="70"/>
                      </a:lnTo>
                      <a:lnTo>
                        <a:pt x="958" y="56"/>
                      </a:lnTo>
                      <a:lnTo>
                        <a:pt x="954" y="44"/>
                      </a:lnTo>
                      <a:lnTo>
                        <a:pt x="950" y="33"/>
                      </a:lnTo>
                      <a:lnTo>
                        <a:pt x="945" y="24"/>
                      </a:lnTo>
                      <a:lnTo>
                        <a:pt x="941" y="17"/>
                      </a:lnTo>
                      <a:lnTo>
                        <a:pt x="934" y="11"/>
                      </a:lnTo>
                      <a:lnTo>
                        <a:pt x="927" y="7"/>
                      </a:lnTo>
                      <a:lnTo>
                        <a:pt x="920" y="5"/>
                      </a:lnTo>
                      <a:lnTo>
                        <a:pt x="920" y="5"/>
                      </a:lnTo>
                      <a:lnTo>
                        <a:pt x="862" y="2"/>
                      </a:lnTo>
                      <a:lnTo>
                        <a:pt x="819" y="0"/>
                      </a:lnTo>
                      <a:lnTo>
                        <a:pt x="773" y="0"/>
                      </a:lnTo>
                      <a:lnTo>
                        <a:pt x="727" y="0"/>
                      </a:lnTo>
                      <a:lnTo>
                        <a:pt x="684" y="1"/>
                      </a:lnTo>
                      <a:lnTo>
                        <a:pt x="666" y="2"/>
                      </a:lnTo>
                      <a:lnTo>
                        <a:pt x="650" y="5"/>
                      </a:lnTo>
                      <a:lnTo>
                        <a:pt x="638" y="7"/>
                      </a:lnTo>
                      <a:lnTo>
                        <a:pt x="628" y="11"/>
                      </a:lnTo>
                      <a:lnTo>
                        <a:pt x="628" y="11"/>
                      </a:lnTo>
                      <a:lnTo>
                        <a:pt x="614" y="18"/>
                      </a:lnTo>
                      <a:lnTo>
                        <a:pt x="606" y="24"/>
                      </a:lnTo>
                      <a:lnTo>
                        <a:pt x="601" y="29"/>
                      </a:lnTo>
                      <a:lnTo>
                        <a:pt x="599" y="37"/>
                      </a:lnTo>
                      <a:lnTo>
                        <a:pt x="599" y="44"/>
                      </a:lnTo>
                      <a:lnTo>
                        <a:pt x="600" y="55"/>
                      </a:lnTo>
                      <a:lnTo>
                        <a:pt x="601" y="67"/>
                      </a:lnTo>
                      <a:lnTo>
                        <a:pt x="603" y="84"/>
                      </a:lnTo>
                      <a:lnTo>
                        <a:pt x="603" y="84"/>
                      </a:lnTo>
                      <a:lnTo>
                        <a:pt x="612" y="168"/>
                      </a:lnTo>
                      <a:lnTo>
                        <a:pt x="617" y="231"/>
                      </a:lnTo>
                      <a:lnTo>
                        <a:pt x="621" y="301"/>
                      </a:lnTo>
                      <a:lnTo>
                        <a:pt x="622" y="334"/>
                      </a:lnTo>
                      <a:lnTo>
                        <a:pt x="622" y="368"/>
                      </a:lnTo>
                      <a:lnTo>
                        <a:pt x="621" y="397"/>
                      </a:lnTo>
                      <a:lnTo>
                        <a:pt x="618" y="423"/>
                      </a:lnTo>
                      <a:lnTo>
                        <a:pt x="614" y="445"/>
                      </a:lnTo>
                      <a:lnTo>
                        <a:pt x="612" y="453"/>
                      </a:lnTo>
                      <a:lnTo>
                        <a:pt x="610" y="461"/>
                      </a:lnTo>
                      <a:lnTo>
                        <a:pt x="606" y="467"/>
                      </a:lnTo>
                      <a:lnTo>
                        <a:pt x="602" y="471"/>
                      </a:lnTo>
                      <a:lnTo>
                        <a:pt x="599" y="473"/>
                      </a:lnTo>
                      <a:lnTo>
                        <a:pt x="594" y="473"/>
                      </a:lnTo>
                      <a:lnTo>
                        <a:pt x="594" y="473"/>
                      </a:lnTo>
                      <a:lnTo>
                        <a:pt x="587" y="471"/>
                      </a:lnTo>
                      <a:lnTo>
                        <a:pt x="583" y="467"/>
                      </a:lnTo>
                      <a:lnTo>
                        <a:pt x="579" y="462"/>
                      </a:lnTo>
                      <a:lnTo>
                        <a:pt x="574" y="456"/>
                      </a:lnTo>
                      <a:lnTo>
                        <a:pt x="569" y="447"/>
                      </a:lnTo>
                      <a:lnTo>
                        <a:pt x="565" y="439"/>
                      </a:lnTo>
                      <a:lnTo>
                        <a:pt x="558" y="417"/>
                      </a:lnTo>
                      <a:lnTo>
                        <a:pt x="551" y="391"/>
                      </a:lnTo>
                      <a:lnTo>
                        <a:pt x="545" y="363"/>
                      </a:lnTo>
                      <a:lnTo>
                        <a:pt x="540" y="332"/>
                      </a:lnTo>
                      <a:lnTo>
                        <a:pt x="535" y="300"/>
                      </a:lnTo>
                      <a:lnTo>
                        <a:pt x="527" y="235"/>
                      </a:lnTo>
                      <a:lnTo>
                        <a:pt x="521" y="176"/>
                      </a:lnTo>
                      <a:lnTo>
                        <a:pt x="515" y="103"/>
                      </a:lnTo>
                      <a:lnTo>
                        <a:pt x="515" y="103"/>
                      </a:lnTo>
                      <a:lnTo>
                        <a:pt x="513" y="88"/>
                      </a:lnTo>
                      <a:lnTo>
                        <a:pt x="509" y="75"/>
                      </a:lnTo>
                      <a:lnTo>
                        <a:pt x="504" y="62"/>
                      </a:lnTo>
                      <a:lnTo>
                        <a:pt x="497" y="54"/>
                      </a:lnTo>
                      <a:lnTo>
                        <a:pt x="487" y="46"/>
                      </a:lnTo>
                      <a:lnTo>
                        <a:pt x="482" y="43"/>
                      </a:lnTo>
                      <a:lnTo>
                        <a:pt x="477" y="41"/>
                      </a:lnTo>
                      <a:lnTo>
                        <a:pt x="471" y="39"/>
                      </a:lnTo>
                      <a:lnTo>
                        <a:pt x="465" y="39"/>
                      </a:lnTo>
                      <a:lnTo>
                        <a:pt x="451" y="39"/>
                      </a:lnTo>
                      <a:lnTo>
                        <a:pt x="451" y="39"/>
                      </a:lnTo>
                      <a:lnTo>
                        <a:pt x="394" y="46"/>
                      </a:lnTo>
                      <a:lnTo>
                        <a:pt x="350" y="52"/>
                      </a:lnTo>
                      <a:lnTo>
                        <a:pt x="302" y="62"/>
                      </a:lnTo>
                      <a:lnTo>
                        <a:pt x="277" y="68"/>
                      </a:lnTo>
                      <a:lnTo>
                        <a:pt x="255" y="75"/>
                      </a:lnTo>
                      <a:lnTo>
                        <a:pt x="233" y="82"/>
                      </a:lnTo>
                      <a:lnTo>
                        <a:pt x="214" y="90"/>
                      </a:lnTo>
                      <a:lnTo>
                        <a:pt x="198" y="100"/>
                      </a:lnTo>
                      <a:lnTo>
                        <a:pt x="190" y="105"/>
                      </a:lnTo>
                      <a:lnTo>
                        <a:pt x="183" y="111"/>
                      </a:lnTo>
                      <a:lnTo>
                        <a:pt x="178" y="117"/>
                      </a:lnTo>
                      <a:lnTo>
                        <a:pt x="173" y="124"/>
                      </a:lnTo>
                      <a:lnTo>
                        <a:pt x="171" y="130"/>
                      </a:lnTo>
                      <a:lnTo>
                        <a:pt x="168" y="136"/>
                      </a:lnTo>
                      <a:lnTo>
                        <a:pt x="168" y="136"/>
                      </a:lnTo>
                      <a:lnTo>
                        <a:pt x="166" y="152"/>
                      </a:lnTo>
                      <a:lnTo>
                        <a:pt x="165" y="169"/>
                      </a:lnTo>
                      <a:lnTo>
                        <a:pt x="165" y="189"/>
                      </a:lnTo>
                      <a:lnTo>
                        <a:pt x="165" y="209"/>
                      </a:lnTo>
                      <a:lnTo>
                        <a:pt x="167" y="255"/>
                      </a:lnTo>
                      <a:lnTo>
                        <a:pt x="169" y="300"/>
                      </a:lnTo>
                      <a:lnTo>
                        <a:pt x="172" y="342"/>
                      </a:lnTo>
                      <a:lnTo>
                        <a:pt x="172" y="360"/>
                      </a:lnTo>
                      <a:lnTo>
                        <a:pt x="171" y="376"/>
                      </a:lnTo>
                      <a:lnTo>
                        <a:pt x="169" y="390"/>
                      </a:lnTo>
                      <a:lnTo>
                        <a:pt x="166" y="401"/>
                      </a:lnTo>
                      <a:lnTo>
                        <a:pt x="163" y="404"/>
                      </a:lnTo>
                      <a:lnTo>
                        <a:pt x="161" y="407"/>
                      </a:lnTo>
                      <a:lnTo>
                        <a:pt x="158" y="409"/>
                      </a:lnTo>
                      <a:lnTo>
                        <a:pt x="155" y="409"/>
                      </a:lnTo>
                      <a:lnTo>
                        <a:pt x="155" y="409"/>
                      </a:lnTo>
                      <a:lnTo>
                        <a:pt x="147" y="409"/>
                      </a:lnTo>
                      <a:lnTo>
                        <a:pt x="140" y="407"/>
                      </a:lnTo>
                      <a:lnTo>
                        <a:pt x="134" y="403"/>
                      </a:lnTo>
                      <a:lnTo>
                        <a:pt x="129" y="398"/>
                      </a:lnTo>
                      <a:lnTo>
                        <a:pt x="123" y="392"/>
                      </a:lnTo>
                      <a:lnTo>
                        <a:pt x="118" y="385"/>
                      </a:lnTo>
                      <a:lnTo>
                        <a:pt x="114" y="377"/>
                      </a:lnTo>
                      <a:lnTo>
                        <a:pt x="111" y="369"/>
                      </a:lnTo>
                      <a:lnTo>
                        <a:pt x="103" y="348"/>
                      </a:lnTo>
                      <a:lnTo>
                        <a:pt x="97" y="326"/>
                      </a:lnTo>
                      <a:lnTo>
                        <a:pt x="93" y="304"/>
                      </a:lnTo>
                      <a:lnTo>
                        <a:pt x="88" y="281"/>
                      </a:lnTo>
                      <a:lnTo>
                        <a:pt x="82" y="238"/>
                      </a:lnTo>
                      <a:lnTo>
                        <a:pt x="80" y="220"/>
                      </a:lnTo>
                      <a:lnTo>
                        <a:pt x="76" y="206"/>
                      </a:lnTo>
                      <a:lnTo>
                        <a:pt x="73" y="197"/>
                      </a:lnTo>
                      <a:lnTo>
                        <a:pt x="71" y="193"/>
                      </a:lnTo>
                      <a:lnTo>
                        <a:pt x="69" y="192"/>
                      </a:lnTo>
                      <a:lnTo>
                        <a:pt x="66" y="193"/>
                      </a:lnTo>
                      <a:lnTo>
                        <a:pt x="64" y="195"/>
                      </a:lnTo>
                      <a:lnTo>
                        <a:pt x="60" y="200"/>
                      </a:lnTo>
                      <a:lnTo>
                        <a:pt x="58" y="204"/>
                      </a:lnTo>
                      <a:lnTo>
                        <a:pt x="58" y="204"/>
                      </a:lnTo>
                      <a:close/>
                    </a:path>
                  </a:pathLst>
                </a:cu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05" name="Star: 5 Points 604">
                  <a:extLst>
                    <a:ext uri="{FF2B5EF4-FFF2-40B4-BE49-F238E27FC236}">
                      <a16:creationId xmlns:a16="http://schemas.microsoft.com/office/drawing/2014/main" id="{A76F3627-DD40-442A-8095-B7BFF38E2DB8}"/>
                    </a:ext>
                  </a:extLst>
                </p:cNvPr>
                <p:cNvSpPr/>
                <p:nvPr/>
              </p:nvSpPr>
              <p:spPr>
                <a:xfrm>
                  <a:off x="-479229" y="3576646"/>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sp>
        <p:nvSpPr>
          <p:cNvPr id="607" name="TextBox 606">
            <a:extLst>
              <a:ext uri="{FF2B5EF4-FFF2-40B4-BE49-F238E27FC236}">
                <a16:creationId xmlns:a16="http://schemas.microsoft.com/office/drawing/2014/main" id="{11712897-DECD-49BD-90DB-9306668AEEF7}"/>
              </a:ext>
            </a:extLst>
          </p:cNvPr>
          <p:cNvSpPr txBox="1"/>
          <p:nvPr/>
        </p:nvSpPr>
        <p:spPr>
          <a:xfrm rot="16200000">
            <a:off x="-171521" y="4461747"/>
            <a:ext cx="1278526" cy="523220"/>
          </a:xfrm>
          <a:prstGeom prst="rect">
            <a:avLst/>
          </a:prstGeom>
          <a:noFill/>
        </p:spPr>
        <p:txBody>
          <a:bodyPr wrap="square" rtlCol="0" anchor="ctr">
            <a:spAutoFit/>
          </a:bodyPr>
          <a:lstStyle/>
          <a:p>
            <a:pPr algn="ctr"/>
            <a:r>
              <a:rPr lang="en-GB" sz="1400" dirty="0">
                <a:latin typeface="Arial" panose="020B0604020202020204" pitchFamily="34" charset="0"/>
                <a:cs typeface="Arial" panose="020B0604020202020204" pitchFamily="34" charset="0"/>
              </a:rPr>
              <a:t>Brain region to region</a:t>
            </a:r>
          </a:p>
        </p:txBody>
      </p:sp>
      <p:sp>
        <p:nvSpPr>
          <p:cNvPr id="608" name="TextBox 607">
            <a:extLst>
              <a:ext uri="{FF2B5EF4-FFF2-40B4-BE49-F238E27FC236}">
                <a16:creationId xmlns:a16="http://schemas.microsoft.com/office/drawing/2014/main" id="{B44F39E0-1890-4325-B8EB-93E103F06A93}"/>
              </a:ext>
            </a:extLst>
          </p:cNvPr>
          <p:cNvSpPr txBox="1"/>
          <p:nvPr/>
        </p:nvSpPr>
        <p:spPr>
          <a:xfrm rot="16200000">
            <a:off x="108642" y="3173391"/>
            <a:ext cx="718200" cy="523220"/>
          </a:xfrm>
          <a:prstGeom prst="rect">
            <a:avLst/>
          </a:prstGeom>
          <a:noFill/>
        </p:spPr>
        <p:txBody>
          <a:bodyPr wrap="square" rtlCol="0" anchor="ctr">
            <a:spAutoFit/>
          </a:bodyPr>
          <a:lstStyle/>
          <a:p>
            <a:pPr algn="ctr"/>
            <a:r>
              <a:rPr lang="en-GB" sz="1400" dirty="0">
                <a:latin typeface="Arial" panose="020B0604020202020204" pitchFamily="34" charset="0"/>
                <a:cs typeface="Arial" panose="020B0604020202020204" pitchFamily="34" charset="0"/>
              </a:rPr>
              <a:t>Cell to cell</a:t>
            </a:r>
          </a:p>
        </p:txBody>
      </p:sp>
      <p:sp>
        <p:nvSpPr>
          <p:cNvPr id="609" name="TextBox 608">
            <a:extLst>
              <a:ext uri="{FF2B5EF4-FFF2-40B4-BE49-F238E27FC236}">
                <a16:creationId xmlns:a16="http://schemas.microsoft.com/office/drawing/2014/main" id="{A8B2DDFF-DBF5-4AAD-888A-AA4A68744405}"/>
              </a:ext>
            </a:extLst>
          </p:cNvPr>
          <p:cNvSpPr txBox="1"/>
          <p:nvPr/>
        </p:nvSpPr>
        <p:spPr>
          <a:xfrm rot="16200000">
            <a:off x="23039" y="1770261"/>
            <a:ext cx="889406" cy="523220"/>
          </a:xfrm>
          <a:prstGeom prst="rect">
            <a:avLst/>
          </a:prstGeom>
          <a:noFill/>
        </p:spPr>
        <p:txBody>
          <a:bodyPr wrap="square" rtlCol="0" anchor="ctr">
            <a:spAutoFit/>
          </a:bodyPr>
          <a:lstStyle/>
          <a:p>
            <a:pPr algn="ctr"/>
            <a:r>
              <a:rPr lang="en-GB" sz="1400" dirty="0">
                <a:latin typeface="Arial" panose="020B0604020202020204" pitchFamily="34" charset="0"/>
                <a:cs typeface="Arial" panose="020B0604020202020204" pitchFamily="34" charset="0"/>
              </a:rPr>
              <a:t>Within the cell</a:t>
            </a:r>
          </a:p>
        </p:txBody>
      </p:sp>
      <p:grpSp>
        <p:nvGrpSpPr>
          <p:cNvPr id="13" name="Group 12">
            <a:extLst>
              <a:ext uri="{FF2B5EF4-FFF2-40B4-BE49-F238E27FC236}">
                <a16:creationId xmlns:a16="http://schemas.microsoft.com/office/drawing/2014/main" id="{A9CE96E9-CA97-77FE-DD55-98F004346C5B}"/>
              </a:ext>
            </a:extLst>
          </p:cNvPr>
          <p:cNvGrpSpPr/>
          <p:nvPr/>
        </p:nvGrpSpPr>
        <p:grpSpPr>
          <a:xfrm>
            <a:off x="1763703" y="2823729"/>
            <a:ext cx="1561668" cy="1346400"/>
            <a:chOff x="2448735" y="2264902"/>
            <a:chExt cx="1561668" cy="1346400"/>
          </a:xfrm>
        </p:grpSpPr>
        <p:sp>
          <p:nvSpPr>
            <p:cNvPr id="612" name="Rectangle 611">
              <a:extLst>
                <a:ext uri="{FF2B5EF4-FFF2-40B4-BE49-F238E27FC236}">
                  <a16:creationId xmlns:a16="http://schemas.microsoft.com/office/drawing/2014/main" id="{D1B0C421-3580-4C92-8E30-AC643D93C9E2}"/>
                </a:ext>
              </a:extLst>
            </p:cNvPr>
            <p:cNvSpPr/>
            <p:nvPr/>
          </p:nvSpPr>
          <p:spPr>
            <a:xfrm>
              <a:off x="2448735" y="2264902"/>
              <a:ext cx="1537200" cy="1346400"/>
            </a:xfrm>
            <a:prstGeom prst="rect">
              <a:avLst/>
            </a:prstGeom>
            <a:solidFill>
              <a:schemeClr val="bg1"/>
            </a:solidFill>
            <a:ln w="19050">
              <a:solidFill>
                <a:schemeClr val="tx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0" name="Oval 589">
              <a:extLst>
                <a:ext uri="{FF2B5EF4-FFF2-40B4-BE49-F238E27FC236}">
                  <a16:creationId xmlns:a16="http://schemas.microsoft.com/office/drawing/2014/main" id="{124CCFFF-E45B-44CF-986D-925E8BC6683D}"/>
                </a:ext>
              </a:extLst>
            </p:cNvPr>
            <p:cNvSpPr/>
            <p:nvPr/>
          </p:nvSpPr>
          <p:spPr>
            <a:xfrm rot="1728551">
              <a:off x="2493850" y="2406917"/>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1" name="Oval 590">
              <a:extLst>
                <a:ext uri="{FF2B5EF4-FFF2-40B4-BE49-F238E27FC236}">
                  <a16:creationId xmlns:a16="http://schemas.microsoft.com/office/drawing/2014/main" id="{3B6B2216-9FC9-4EA0-9CEB-302F116746B5}"/>
                </a:ext>
              </a:extLst>
            </p:cNvPr>
            <p:cNvSpPr/>
            <p:nvPr/>
          </p:nvSpPr>
          <p:spPr>
            <a:xfrm>
              <a:off x="2825895" y="2777293"/>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2" name="Oval 591">
              <a:extLst>
                <a:ext uri="{FF2B5EF4-FFF2-40B4-BE49-F238E27FC236}">
                  <a16:creationId xmlns:a16="http://schemas.microsoft.com/office/drawing/2014/main" id="{FC1F5F36-37D0-4FF6-8BA9-E9659664F3FD}"/>
                </a:ext>
              </a:extLst>
            </p:cNvPr>
            <p:cNvSpPr/>
            <p:nvPr/>
          </p:nvSpPr>
          <p:spPr>
            <a:xfrm rot="8164085">
              <a:off x="2989533" y="2383741"/>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3" name="Oval 592">
              <a:extLst>
                <a:ext uri="{FF2B5EF4-FFF2-40B4-BE49-F238E27FC236}">
                  <a16:creationId xmlns:a16="http://schemas.microsoft.com/office/drawing/2014/main" id="{D3504434-20BC-4379-9266-BCEEFBEE4481}"/>
                </a:ext>
              </a:extLst>
            </p:cNvPr>
            <p:cNvSpPr/>
            <p:nvPr/>
          </p:nvSpPr>
          <p:spPr>
            <a:xfrm rot="5186198">
              <a:off x="3142047" y="3062238"/>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4" name="Oval 593">
              <a:extLst>
                <a:ext uri="{FF2B5EF4-FFF2-40B4-BE49-F238E27FC236}">
                  <a16:creationId xmlns:a16="http://schemas.microsoft.com/office/drawing/2014/main" id="{2447DA61-2F75-42D2-BA38-E48B805864A9}"/>
                </a:ext>
              </a:extLst>
            </p:cNvPr>
            <p:cNvSpPr/>
            <p:nvPr/>
          </p:nvSpPr>
          <p:spPr>
            <a:xfrm rot="6722785">
              <a:off x="3408290" y="2327002"/>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5" name="Oval 594">
              <a:extLst>
                <a:ext uri="{FF2B5EF4-FFF2-40B4-BE49-F238E27FC236}">
                  <a16:creationId xmlns:a16="http://schemas.microsoft.com/office/drawing/2014/main" id="{0223622E-A4F2-4635-9A15-2208E90EE0E6}"/>
                </a:ext>
              </a:extLst>
            </p:cNvPr>
            <p:cNvSpPr/>
            <p:nvPr/>
          </p:nvSpPr>
          <p:spPr>
            <a:xfrm rot="6722785">
              <a:off x="2522006" y="3020600"/>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6" name="Oval 595">
              <a:extLst>
                <a:ext uri="{FF2B5EF4-FFF2-40B4-BE49-F238E27FC236}">
                  <a16:creationId xmlns:a16="http://schemas.microsoft.com/office/drawing/2014/main" id="{74887BFB-E963-4163-A7F9-7A4DE8373F2C}"/>
                </a:ext>
              </a:extLst>
            </p:cNvPr>
            <p:cNvSpPr/>
            <p:nvPr/>
          </p:nvSpPr>
          <p:spPr>
            <a:xfrm rot="4525849">
              <a:off x="3553334" y="2795442"/>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0" name="Rectangle 609">
              <a:extLst>
                <a:ext uri="{FF2B5EF4-FFF2-40B4-BE49-F238E27FC236}">
                  <a16:creationId xmlns:a16="http://schemas.microsoft.com/office/drawing/2014/main" id="{91900EE4-F698-4986-BE17-E3B8440C5793}"/>
                </a:ext>
              </a:extLst>
            </p:cNvPr>
            <p:cNvSpPr/>
            <p:nvPr/>
          </p:nvSpPr>
          <p:spPr>
            <a:xfrm>
              <a:off x="3484623" y="2798190"/>
              <a:ext cx="525780" cy="457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7" name="Straight Connector 6">
            <a:extLst>
              <a:ext uri="{FF2B5EF4-FFF2-40B4-BE49-F238E27FC236}">
                <a16:creationId xmlns:a16="http://schemas.microsoft.com/office/drawing/2014/main" id="{F5690300-30F2-47A6-867C-BF7D6067CEB8}"/>
              </a:ext>
            </a:extLst>
          </p:cNvPr>
          <p:cNvCxnSpPr>
            <a:cxnSpLocks/>
          </p:cNvCxnSpPr>
          <p:nvPr/>
        </p:nvCxnSpPr>
        <p:spPr>
          <a:xfrm flipV="1">
            <a:off x="1934032" y="3981450"/>
            <a:ext cx="377368" cy="808894"/>
          </a:xfrm>
          <a:prstGeom prst="line">
            <a:avLst/>
          </a:prstGeom>
          <a:ln w="95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16" name="Straight Connector 615">
            <a:extLst>
              <a:ext uri="{FF2B5EF4-FFF2-40B4-BE49-F238E27FC236}">
                <a16:creationId xmlns:a16="http://schemas.microsoft.com/office/drawing/2014/main" id="{21F379F4-63B5-403F-B5A7-A96F68E222DB}"/>
              </a:ext>
            </a:extLst>
          </p:cNvPr>
          <p:cNvCxnSpPr>
            <a:cxnSpLocks/>
          </p:cNvCxnSpPr>
          <p:nvPr/>
        </p:nvCxnSpPr>
        <p:spPr>
          <a:xfrm flipH="1" flipV="1">
            <a:off x="2381250" y="2508250"/>
            <a:ext cx="418341" cy="851167"/>
          </a:xfrm>
          <a:prstGeom prst="line">
            <a:avLst/>
          </a:prstGeom>
          <a:ln w="95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794D25C3-0387-8031-1985-6DDA999E8B49}"/>
              </a:ext>
            </a:extLst>
          </p:cNvPr>
          <p:cNvGrpSpPr/>
          <p:nvPr/>
        </p:nvGrpSpPr>
        <p:grpSpPr>
          <a:xfrm>
            <a:off x="3581148" y="1350673"/>
            <a:ext cx="1756872" cy="4114952"/>
            <a:chOff x="3512245" y="1350673"/>
            <a:chExt cx="1756872" cy="4114952"/>
          </a:xfrm>
        </p:grpSpPr>
        <p:grpSp>
          <p:nvGrpSpPr>
            <p:cNvPr id="33" name="Group 32">
              <a:extLst>
                <a:ext uri="{FF2B5EF4-FFF2-40B4-BE49-F238E27FC236}">
                  <a16:creationId xmlns:a16="http://schemas.microsoft.com/office/drawing/2014/main" id="{E3AF78D0-29B0-7AFE-C637-23FA35722F40}"/>
                </a:ext>
              </a:extLst>
            </p:cNvPr>
            <p:cNvGrpSpPr/>
            <p:nvPr/>
          </p:nvGrpSpPr>
          <p:grpSpPr>
            <a:xfrm>
              <a:off x="3512245" y="3888071"/>
              <a:ext cx="1756872" cy="1577554"/>
              <a:chOff x="3512245" y="3888071"/>
              <a:chExt cx="1756872" cy="1577554"/>
            </a:xfrm>
          </p:grpSpPr>
          <p:grpSp>
            <p:nvGrpSpPr>
              <p:cNvPr id="357" name="Group 356">
                <a:extLst>
                  <a:ext uri="{FF2B5EF4-FFF2-40B4-BE49-F238E27FC236}">
                    <a16:creationId xmlns:a16="http://schemas.microsoft.com/office/drawing/2014/main" id="{AB18CE8D-D364-4ED0-BE71-4391C783207D}"/>
                  </a:ext>
                </a:extLst>
              </p:cNvPr>
              <p:cNvGrpSpPr/>
              <p:nvPr/>
            </p:nvGrpSpPr>
            <p:grpSpPr>
              <a:xfrm flipH="1">
                <a:off x="3512245" y="3888071"/>
                <a:ext cx="1756872" cy="1577554"/>
                <a:chOff x="2561342" y="3004223"/>
                <a:chExt cx="1232677" cy="1106861"/>
              </a:xfrm>
            </p:grpSpPr>
            <p:sp>
              <p:nvSpPr>
                <p:cNvPr id="358" name="Freeform 357">
                  <a:extLst>
                    <a:ext uri="{FF2B5EF4-FFF2-40B4-BE49-F238E27FC236}">
                      <a16:creationId xmlns:a16="http://schemas.microsoft.com/office/drawing/2014/main" id="{55DFE4F0-1AED-4CFA-9A9A-0F2E4101F949}"/>
                    </a:ext>
                  </a:extLst>
                </p:cNvPr>
                <p:cNvSpPr>
                  <a:spLocks/>
                </p:cNvSpPr>
                <p:nvPr/>
              </p:nvSpPr>
              <p:spPr bwMode="auto">
                <a:xfrm>
                  <a:off x="2830492" y="3348226"/>
                  <a:ext cx="848063" cy="652172"/>
                </a:xfrm>
                <a:custGeom>
                  <a:avLst/>
                  <a:gdLst>
                    <a:gd name="T0" fmla="*/ 1111 w 1127"/>
                    <a:gd name="T1" fmla="*/ 542 h 868"/>
                    <a:gd name="T2" fmla="*/ 1103 w 1127"/>
                    <a:gd name="T3" fmla="*/ 571 h 868"/>
                    <a:gd name="T4" fmla="*/ 1098 w 1127"/>
                    <a:gd name="T5" fmla="*/ 613 h 868"/>
                    <a:gd name="T6" fmla="*/ 1081 w 1127"/>
                    <a:gd name="T7" fmla="*/ 656 h 868"/>
                    <a:gd name="T8" fmla="*/ 1060 w 1127"/>
                    <a:gd name="T9" fmla="*/ 694 h 868"/>
                    <a:gd name="T10" fmla="*/ 1054 w 1127"/>
                    <a:gd name="T11" fmla="*/ 721 h 868"/>
                    <a:gd name="T12" fmla="*/ 1021 w 1127"/>
                    <a:gd name="T13" fmla="*/ 751 h 868"/>
                    <a:gd name="T14" fmla="*/ 1013 w 1127"/>
                    <a:gd name="T15" fmla="*/ 765 h 868"/>
                    <a:gd name="T16" fmla="*/ 980 w 1127"/>
                    <a:gd name="T17" fmla="*/ 784 h 868"/>
                    <a:gd name="T18" fmla="*/ 934 w 1127"/>
                    <a:gd name="T19" fmla="*/ 805 h 868"/>
                    <a:gd name="T20" fmla="*/ 902 w 1127"/>
                    <a:gd name="T21" fmla="*/ 812 h 868"/>
                    <a:gd name="T22" fmla="*/ 864 w 1127"/>
                    <a:gd name="T23" fmla="*/ 820 h 868"/>
                    <a:gd name="T24" fmla="*/ 836 w 1127"/>
                    <a:gd name="T25" fmla="*/ 820 h 868"/>
                    <a:gd name="T26" fmla="*/ 799 w 1127"/>
                    <a:gd name="T27" fmla="*/ 821 h 868"/>
                    <a:gd name="T28" fmla="*/ 765 w 1127"/>
                    <a:gd name="T29" fmla="*/ 816 h 868"/>
                    <a:gd name="T30" fmla="*/ 723 w 1127"/>
                    <a:gd name="T31" fmla="*/ 814 h 868"/>
                    <a:gd name="T32" fmla="*/ 655 w 1127"/>
                    <a:gd name="T33" fmla="*/ 856 h 868"/>
                    <a:gd name="T34" fmla="*/ 620 w 1127"/>
                    <a:gd name="T35" fmla="*/ 849 h 868"/>
                    <a:gd name="T36" fmla="*/ 562 w 1127"/>
                    <a:gd name="T37" fmla="*/ 708 h 868"/>
                    <a:gd name="T38" fmla="*/ 426 w 1127"/>
                    <a:gd name="T39" fmla="*/ 507 h 868"/>
                    <a:gd name="T40" fmla="*/ 348 w 1127"/>
                    <a:gd name="T41" fmla="*/ 516 h 868"/>
                    <a:gd name="T42" fmla="*/ 317 w 1127"/>
                    <a:gd name="T43" fmla="*/ 527 h 868"/>
                    <a:gd name="T44" fmla="*/ 258 w 1127"/>
                    <a:gd name="T45" fmla="*/ 530 h 868"/>
                    <a:gd name="T46" fmla="*/ 211 w 1127"/>
                    <a:gd name="T47" fmla="*/ 528 h 868"/>
                    <a:gd name="T48" fmla="*/ 95 w 1127"/>
                    <a:gd name="T49" fmla="*/ 495 h 868"/>
                    <a:gd name="T50" fmla="*/ 76 w 1127"/>
                    <a:gd name="T51" fmla="*/ 468 h 868"/>
                    <a:gd name="T52" fmla="*/ 56 w 1127"/>
                    <a:gd name="T53" fmla="*/ 452 h 868"/>
                    <a:gd name="T54" fmla="*/ 5 w 1127"/>
                    <a:gd name="T55" fmla="*/ 390 h 868"/>
                    <a:gd name="T56" fmla="*/ 0 w 1127"/>
                    <a:gd name="T57" fmla="*/ 338 h 868"/>
                    <a:gd name="T58" fmla="*/ 178 w 1127"/>
                    <a:gd name="T59" fmla="*/ 34 h 868"/>
                    <a:gd name="T60" fmla="*/ 895 w 1127"/>
                    <a:gd name="T61" fmla="*/ 0 h 868"/>
                    <a:gd name="T62" fmla="*/ 1111 w 1127"/>
                    <a:gd name="T63" fmla="*/ 542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7" h="868">
                      <a:moveTo>
                        <a:pt x="1111" y="542"/>
                      </a:moveTo>
                      <a:cubicBezTo>
                        <a:pt x="1111" y="542"/>
                        <a:pt x="1118" y="562"/>
                        <a:pt x="1103" y="571"/>
                      </a:cubicBezTo>
                      <a:cubicBezTo>
                        <a:pt x="1101" y="572"/>
                        <a:pt x="1127" y="590"/>
                        <a:pt x="1098" y="613"/>
                      </a:cubicBezTo>
                      <a:cubicBezTo>
                        <a:pt x="1095" y="616"/>
                        <a:pt x="1120" y="637"/>
                        <a:pt x="1081" y="656"/>
                      </a:cubicBezTo>
                      <a:cubicBezTo>
                        <a:pt x="1081" y="656"/>
                        <a:pt x="1091" y="684"/>
                        <a:pt x="1060" y="694"/>
                      </a:cubicBezTo>
                      <a:cubicBezTo>
                        <a:pt x="1060" y="694"/>
                        <a:pt x="1072" y="712"/>
                        <a:pt x="1054" y="721"/>
                      </a:cubicBezTo>
                      <a:cubicBezTo>
                        <a:pt x="1048" y="723"/>
                        <a:pt x="1068" y="742"/>
                        <a:pt x="1021" y="751"/>
                      </a:cubicBezTo>
                      <a:cubicBezTo>
                        <a:pt x="1021" y="751"/>
                        <a:pt x="1013" y="757"/>
                        <a:pt x="1013" y="765"/>
                      </a:cubicBezTo>
                      <a:cubicBezTo>
                        <a:pt x="1013" y="773"/>
                        <a:pt x="1006" y="790"/>
                        <a:pt x="980" y="784"/>
                      </a:cubicBezTo>
                      <a:cubicBezTo>
                        <a:pt x="980" y="784"/>
                        <a:pt x="971" y="812"/>
                        <a:pt x="934" y="805"/>
                      </a:cubicBezTo>
                      <a:cubicBezTo>
                        <a:pt x="928" y="803"/>
                        <a:pt x="930" y="819"/>
                        <a:pt x="902" y="812"/>
                      </a:cubicBezTo>
                      <a:cubicBezTo>
                        <a:pt x="902" y="812"/>
                        <a:pt x="889" y="832"/>
                        <a:pt x="864" y="820"/>
                      </a:cubicBezTo>
                      <a:cubicBezTo>
                        <a:pt x="864" y="820"/>
                        <a:pt x="848" y="831"/>
                        <a:pt x="836" y="820"/>
                      </a:cubicBezTo>
                      <a:cubicBezTo>
                        <a:pt x="836" y="820"/>
                        <a:pt x="819" y="835"/>
                        <a:pt x="799" y="821"/>
                      </a:cubicBezTo>
                      <a:cubicBezTo>
                        <a:pt x="799" y="821"/>
                        <a:pt x="779" y="830"/>
                        <a:pt x="765" y="816"/>
                      </a:cubicBezTo>
                      <a:cubicBezTo>
                        <a:pt x="765" y="816"/>
                        <a:pt x="744" y="826"/>
                        <a:pt x="723" y="814"/>
                      </a:cubicBezTo>
                      <a:cubicBezTo>
                        <a:pt x="723" y="814"/>
                        <a:pt x="703" y="844"/>
                        <a:pt x="655" y="856"/>
                      </a:cubicBezTo>
                      <a:cubicBezTo>
                        <a:pt x="606" y="868"/>
                        <a:pt x="620" y="856"/>
                        <a:pt x="620" y="849"/>
                      </a:cubicBezTo>
                      <a:cubicBezTo>
                        <a:pt x="620" y="841"/>
                        <a:pt x="572" y="735"/>
                        <a:pt x="562" y="708"/>
                      </a:cubicBezTo>
                      <a:cubicBezTo>
                        <a:pt x="552" y="682"/>
                        <a:pt x="518" y="495"/>
                        <a:pt x="426" y="507"/>
                      </a:cubicBezTo>
                      <a:cubicBezTo>
                        <a:pt x="372" y="514"/>
                        <a:pt x="348" y="516"/>
                        <a:pt x="348" y="516"/>
                      </a:cubicBezTo>
                      <a:cubicBezTo>
                        <a:pt x="348" y="516"/>
                        <a:pt x="328" y="523"/>
                        <a:pt x="317" y="527"/>
                      </a:cubicBezTo>
                      <a:cubicBezTo>
                        <a:pt x="306" y="531"/>
                        <a:pt x="276" y="536"/>
                        <a:pt x="258" y="530"/>
                      </a:cubicBezTo>
                      <a:cubicBezTo>
                        <a:pt x="240" y="525"/>
                        <a:pt x="224" y="527"/>
                        <a:pt x="211" y="528"/>
                      </a:cubicBezTo>
                      <a:cubicBezTo>
                        <a:pt x="198" y="530"/>
                        <a:pt x="149" y="536"/>
                        <a:pt x="95" y="495"/>
                      </a:cubicBezTo>
                      <a:cubicBezTo>
                        <a:pt x="73" y="478"/>
                        <a:pt x="79" y="473"/>
                        <a:pt x="76" y="468"/>
                      </a:cubicBezTo>
                      <a:cubicBezTo>
                        <a:pt x="76" y="468"/>
                        <a:pt x="77" y="462"/>
                        <a:pt x="56" y="452"/>
                      </a:cubicBezTo>
                      <a:cubicBezTo>
                        <a:pt x="35" y="443"/>
                        <a:pt x="6" y="423"/>
                        <a:pt x="5" y="390"/>
                      </a:cubicBezTo>
                      <a:cubicBezTo>
                        <a:pt x="5" y="357"/>
                        <a:pt x="0" y="338"/>
                        <a:pt x="0" y="338"/>
                      </a:cubicBezTo>
                      <a:cubicBezTo>
                        <a:pt x="178" y="34"/>
                        <a:pt x="178" y="34"/>
                        <a:pt x="178" y="34"/>
                      </a:cubicBezTo>
                      <a:cubicBezTo>
                        <a:pt x="895" y="0"/>
                        <a:pt x="895" y="0"/>
                        <a:pt x="895" y="0"/>
                      </a:cubicBezTo>
                      <a:lnTo>
                        <a:pt x="1111" y="542"/>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59" name="Freeform 360">
                  <a:extLst>
                    <a:ext uri="{FF2B5EF4-FFF2-40B4-BE49-F238E27FC236}">
                      <a16:creationId xmlns:a16="http://schemas.microsoft.com/office/drawing/2014/main" id="{A16721A5-1D9F-4BFC-9564-F2E5FF0ED5EC}"/>
                    </a:ext>
                  </a:extLst>
                </p:cNvPr>
                <p:cNvSpPr>
                  <a:spLocks/>
                </p:cNvSpPr>
                <p:nvPr/>
              </p:nvSpPr>
              <p:spPr bwMode="auto">
                <a:xfrm>
                  <a:off x="3562295" y="3749562"/>
                  <a:ext cx="101131" cy="19908"/>
                </a:xfrm>
                <a:custGeom>
                  <a:avLst/>
                  <a:gdLst>
                    <a:gd name="T0" fmla="*/ 134 w 134"/>
                    <a:gd name="T1" fmla="*/ 0 h 27"/>
                    <a:gd name="T2" fmla="*/ 0 w 134"/>
                    <a:gd name="T3" fmla="*/ 17 h 27"/>
                  </a:gdLst>
                  <a:ahLst/>
                  <a:cxnLst>
                    <a:cxn ang="0">
                      <a:pos x="T0" y="T1"/>
                    </a:cxn>
                    <a:cxn ang="0">
                      <a:pos x="T2" y="T3"/>
                    </a:cxn>
                  </a:cxnLst>
                  <a:rect l="0" t="0" r="r" b="b"/>
                  <a:pathLst>
                    <a:path w="134" h="27">
                      <a:moveTo>
                        <a:pt x="134" y="0"/>
                      </a:moveTo>
                      <a:cubicBezTo>
                        <a:pt x="134" y="0"/>
                        <a:pt x="125" y="27"/>
                        <a:pt x="0" y="17"/>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60" name="Freeform 361">
                  <a:extLst>
                    <a:ext uri="{FF2B5EF4-FFF2-40B4-BE49-F238E27FC236}">
                      <a16:creationId xmlns:a16="http://schemas.microsoft.com/office/drawing/2014/main" id="{63D36B64-CDFA-45E5-9246-DC231B3F76AB}"/>
                    </a:ext>
                  </a:extLst>
                </p:cNvPr>
                <p:cNvSpPr>
                  <a:spLocks/>
                </p:cNvSpPr>
                <p:nvPr/>
              </p:nvSpPr>
              <p:spPr bwMode="auto">
                <a:xfrm>
                  <a:off x="3560702" y="3767877"/>
                  <a:ext cx="99538" cy="23889"/>
                </a:xfrm>
                <a:custGeom>
                  <a:avLst/>
                  <a:gdLst>
                    <a:gd name="T0" fmla="*/ 132 w 132"/>
                    <a:gd name="T1" fmla="*/ 13 h 32"/>
                    <a:gd name="T2" fmla="*/ 0 w 132"/>
                    <a:gd name="T3" fmla="*/ 0 h 32"/>
                  </a:gdLst>
                  <a:ahLst/>
                  <a:cxnLst>
                    <a:cxn ang="0">
                      <a:pos x="T0" y="T1"/>
                    </a:cxn>
                    <a:cxn ang="0">
                      <a:pos x="T2" y="T3"/>
                    </a:cxn>
                  </a:cxnLst>
                  <a:rect l="0" t="0" r="r" b="b"/>
                  <a:pathLst>
                    <a:path w="132" h="32">
                      <a:moveTo>
                        <a:pt x="132" y="13"/>
                      </a:moveTo>
                      <a:cubicBezTo>
                        <a:pt x="132" y="13"/>
                        <a:pt x="70" y="32"/>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61" name="Freeform 362">
                  <a:extLst>
                    <a:ext uri="{FF2B5EF4-FFF2-40B4-BE49-F238E27FC236}">
                      <a16:creationId xmlns:a16="http://schemas.microsoft.com/office/drawing/2014/main" id="{4C509BA4-B2B9-4254-9B96-58F267473EB7}"/>
                    </a:ext>
                  </a:extLst>
                </p:cNvPr>
                <p:cNvSpPr>
                  <a:spLocks/>
                </p:cNvSpPr>
                <p:nvPr/>
              </p:nvSpPr>
              <p:spPr bwMode="auto">
                <a:xfrm>
                  <a:off x="3555924" y="3785396"/>
                  <a:ext cx="100334" cy="41408"/>
                </a:xfrm>
                <a:custGeom>
                  <a:avLst/>
                  <a:gdLst>
                    <a:gd name="T0" fmla="*/ 134 w 134"/>
                    <a:gd name="T1" fmla="*/ 32 h 55"/>
                    <a:gd name="T2" fmla="*/ 0 w 134"/>
                    <a:gd name="T3" fmla="*/ 0 h 55"/>
                  </a:gdLst>
                  <a:ahLst/>
                  <a:cxnLst>
                    <a:cxn ang="0">
                      <a:pos x="T0" y="T1"/>
                    </a:cxn>
                    <a:cxn ang="0">
                      <a:pos x="T2" y="T3"/>
                    </a:cxn>
                  </a:cxnLst>
                  <a:rect l="0" t="0" r="r" b="b"/>
                  <a:pathLst>
                    <a:path w="134" h="55">
                      <a:moveTo>
                        <a:pt x="134" y="32"/>
                      </a:moveTo>
                      <a:cubicBezTo>
                        <a:pt x="134" y="32"/>
                        <a:pt x="71" y="55"/>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62" name="Freeform 363">
                  <a:extLst>
                    <a:ext uri="{FF2B5EF4-FFF2-40B4-BE49-F238E27FC236}">
                      <a16:creationId xmlns:a16="http://schemas.microsoft.com/office/drawing/2014/main" id="{3B25A084-F62B-4AC1-B5CD-F47DC1DED903}"/>
                    </a:ext>
                  </a:extLst>
                </p:cNvPr>
                <p:cNvSpPr>
                  <a:spLocks/>
                </p:cNvSpPr>
                <p:nvPr/>
              </p:nvSpPr>
              <p:spPr bwMode="auto">
                <a:xfrm>
                  <a:off x="3551146" y="3806896"/>
                  <a:ext cx="92371" cy="43000"/>
                </a:xfrm>
                <a:custGeom>
                  <a:avLst/>
                  <a:gdLst>
                    <a:gd name="T0" fmla="*/ 123 w 123"/>
                    <a:gd name="T1" fmla="*/ 46 h 57"/>
                    <a:gd name="T2" fmla="*/ 0 w 123"/>
                    <a:gd name="T3" fmla="*/ 0 h 57"/>
                  </a:gdLst>
                  <a:ahLst/>
                  <a:cxnLst>
                    <a:cxn ang="0">
                      <a:pos x="T0" y="T1"/>
                    </a:cxn>
                    <a:cxn ang="0">
                      <a:pos x="T2" y="T3"/>
                    </a:cxn>
                  </a:cxnLst>
                  <a:rect l="0" t="0" r="r" b="b"/>
                  <a:pathLst>
                    <a:path w="123" h="57">
                      <a:moveTo>
                        <a:pt x="123" y="46"/>
                      </a:moveTo>
                      <a:cubicBezTo>
                        <a:pt x="123" y="46"/>
                        <a:pt x="75"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63" name="Freeform 364">
                  <a:extLst>
                    <a:ext uri="{FF2B5EF4-FFF2-40B4-BE49-F238E27FC236}">
                      <a16:creationId xmlns:a16="http://schemas.microsoft.com/office/drawing/2014/main" id="{8DEEAD56-D10F-487D-A2DE-4BF2474E0668}"/>
                    </a:ext>
                  </a:extLst>
                </p:cNvPr>
                <p:cNvSpPr>
                  <a:spLocks/>
                </p:cNvSpPr>
                <p:nvPr/>
              </p:nvSpPr>
              <p:spPr bwMode="auto">
                <a:xfrm>
                  <a:off x="3530443" y="3828396"/>
                  <a:ext cx="80427" cy="25482"/>
                </a:xfrm>
                <a:custGeom>
                  <a:avLst/>
                  <a:gdLst>
                    <a:gd name="T0" fmla="*/ 0 w 106"/>
                    <a:gd name="T1" fmla="*/ 0 h 34"/>
                    <a:gd name="T2" fmla="*/ 106 w 106"/>
                    <a:gd name="T3" fmla="*/ 13 h 34"/>
                  </a:gdLst>
                  <a:ahLst/>
                  <a:cxnLst>
                    <a:cxn ang="0">
                      <a:pos x="T0" y="T1"/>
                    </a:cxn>
                    <a:cxn ang="0">
                      <a:pos x="T2" y="T3"/>
                    </a:cxn>
                  </a:cxnLst>
                  <a:rect l="0" t="0" r="r" b="b"/>
                  <a:pathLst>
                    <a:path w="106" h="34">
                      <a:moveTo>
                        <a:pt x="0" y="0"/>
                      </a:moveTo>
                      <a:cubicBezTo>
                        <a:pt x="66" y="34"/>
                        <a:pt x="106" y="13"/>
                        <a:pt x="106" y="13"/>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64" name="Freeform 365">
                  <a:extLst>
                    <a:ext uri="{FF2B5EF4-FFF2-40B4-BE49-F238E27FC236}">
                      <a16:creationId xmlns:a16="http://schemas.microsoft.com/office/drawing/2014/main" id="{FB68F41C-A9C4-47E0-9444-841E57C1AC5A}"/>
                    </a:ext>
                  </a:extLst>
                </p:cNvPr>
                <p:cNvSpPr>
                  <a:spLocks/>
                </p:cNvSpPr>
                <p:nvPr/>
              </p:nvSpPr>
              <p:spPr bwMode="auto">
                <a:xfrm>
                  <a:off x="3522480" y="3841933"/>
                  <a:ext cx="105112" cy="43000"/>
                </a:xfrm>
                <a:custGeom>
                  <a:avLst/>
                  <a:gdLst>
                    <a:gd name="T0" fmla="*/ 140 w 140"/>
                    <a:gd name="T1" fmla="*/ 37 h 57"/>
                    <a:gd name="T2" fmla="*/ 0 w 140"/>
                    <a:gd name="T3" fmla="*/ 0 h 57"/>
                  </a:gdLst>
                  <a:ahLst/>
                  <a:cxnLst>
                    <a:cxn ang="0">
                      <a:pos x="T0" y="T1"/>
                    </a:cxn>
                    <a:cxn ang="0">
                      <a:pos x="T2" y="T3"/>
                    </a:cxn>
                  </a:cxnLst>
                  <a:rect l="0" t="0" r="r" b="b"/>
                  <a:pathLst>
                    <a:path w="140" h="57">
                      <a:moveTo>
                        <a:pt x="140" y="37"/>
                      </a:moveTo>
                      <a:cubicBezTo>
                        <a:pt x="140" y="37"/>
                        <a:pt x="109"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65" name="Freeform 366">
                  <a:extLst>
                    <a:ext uri="{FF2B5EF4-FFF2-40B4-BE49-F238E27FC236}">
                      <a16:creationId xmlns:a16="http://schemas.microsoft.com/office/drawing/2014/main" id="{5B025842-620F-4B84-BD9F-8BB0431C8B60}"/>
                    </a:ext>
                  </a:extLst>
                </p:cNvPr>
                <p:cNvSpPr>
                  <a:spLocks/>
                </p:cNvSpPr>
                <p:nvPr/>
              </p:nvSpPr>
              <p:spPr bwMode="auto">
                <a:xfrm>
                  <a:off x="3538406" y="3864230"/>
                  <a:ext cx="86001" cy="33445"/>
                </a:xfrm>
                <a:custGeom>
                  <a:avLst/>
                  <a:gdLst>
                    <a:gd name="T0" fmla="*/ 114 w 114"/>
                    <a:gd name="T1" fmla="*/ 33 h 44"/>
                    <a:gd name="T2" fmla="*/ 0 w 114"/>
                    <a:gd name="T3" fmla="*/ 0 h 44"/>
                  </a:gdLst>
                  <a:ahLst/>
                  <a:cxnLst>
                    <a:cxn ang="0">
                      <a:pos x="T0" y="T1"/>
                    </a:cxn>
                    <a:cxn ang="0">
                      <a:pos x="T2" y="T3"/>
                    </a:cxn>
                  </a:cxnLst>
                  <a:rect l="0" t="0" r="r" b="b"/>
                  <a:pathLst>
                    <a:path w="114" h="44">
                      <a:moveTo>
                        <a:pt x="114" y="33"/>
                      </a:moveTo>
                      <a:cubicBezTo>
                        <a:pt x="114" y="33"/>
                        <a:pt x="65" y="44"/>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66" name="Freeform 367">
                  <a:extLst>
                    <a:ext uri="{FF2B5EF4-FFF2-40B4-BE49-F238E27FC236}">
                      <a16:creationId xmlns:a16="http://schemas.microsoft.com/office/drawing/2014/main" id="{C0952B51-B53F-437D-8D30-9F70778B30E5}"/>
                    </a:ext>
                  </a:extLst>
                </p:cNvPr>
                <p:cNvSpPr>
                  <a:spLocks/>
                </p:cNvSpPr>
                <p:nvPr/>
              </p:nvSpPr>
              <p:spPr bwMode="auto">
                <a:xfrm>
                  <a:off x="3524072" y="3867415"/>
                  <a:ext cx="74056" cy="45389"/>
                </a:xfrm>
                <a:custGeom>
                  <a:avLst/>
                  <a:gdLst>
                    <a:gd name="T0" fmla="*/ 99 w 99"/>
                    <a:gd name="T1" fmla="*/ 60 h 60"/>
                    <a:gd name="T2" fmla="*/ 0 w 99"/>
                    <a:gd name="T3" fmla="*/ 0 h 60"/>
                  </a:gdLst>
                  <a:ahLst/>
                  <a:cxnLst>
                    <a:cxn ang="0">
                      <a:pos x="T0" y="T1"/>
                    </a:cxn>
                    <a:cxn ang="0">
                      <a:pos x="T2" y="T3"/>
                    </a:cxn>
                  </a:cxnLst>
                  <a:rect l="0" t="0" r="r" b="b"/>
                  <a:pathLst>
                    <a:path w="99" h="60">
                      <a:moveTo>
                        <a:pt x="99" y="60"/>
                      </a:moveTo>
                      <a:cubicBezTo>
                        <a:pt x="99" y="60"/>
                        <a:pt x="34" y="42"/>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67" name="Freeform 368">
                  <a:extLst>
                    <a:ext uri="{FF2B5EF4-FFF2-40B4-BE49-F238E27FC236}">
                      <a16:creationId xmlns:a16="http://schemas.microsoft.com/office/drawing/2014/main" id="{8341AC45-6089-4930-882F-0EFDE5FAC507}"/>
                    </a:ext>
                  </a:extLst>
                </p:cNvPr>
                <p:cNvSpPr>
                  <a:spLocks/>
                </p:cNvSpPr>
                <p:nvPr/>
              </p:nvSpPr>
              <p:spPr bwMode="auto">
                <a:xfrm>
                  <a:off x="3516109" y="3872989"/>
                  <a:ext cx="76445" cy="50167"/>
                </a:xfrm>
                <a:custGeom>
                  <a:avLst/>
                  <a:gdLst>
                    <a:gd name="T0" fmla="*/ 101 w 101"/>
                    <a:gd name="T1" fmla="*/ 67 h 67"/>
                    <a:gd name="T2" fmla="*/ 0 w 101"/>
                    <a:gd name="T3" fmla="*/ 0 h 67"/>
                  </a:gdLst>
                  <a:ahLst/>
                  <a:cxnLst>
                    <a:cxn ang="0">
                      <a:pos x="T0" y="T1"/>
                    </a:cxn>
                    <a:cxn ang="0">
                      <a:pos x="T2" y="T3"/>
                    </a:cxn>
                  </a:cxnLst>
                  <a:rect l="0" t="0" r="r" b="b"/>
                  <a:pathLst>
                    <a:path w="101" h="67">
                      <a:moveTo>
                        <a:pt x="101" y="67"/>
                      </a:moveTo>
                      <a:cubicBezTo>
                        <a:pt x="101" y="67"/>
                        <a:pt x="26" y="36"/>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68" name="Freeform 369">
                  <a:extLst>
                    <a:ext uri="{FF2B5EF4-FFF2-40B4-BE49-F238E27FC236}">
                      <a16:creationId xmlns:a16="http://schemas.microsoft.com/office/drawing/2014/main" id="{C8E37494-F69A-4AFB-ADBE-C2F30CFF3FE4}"/>
                    </a:ext>
                  </a:extLst>
                </p:cNvPr>
                <p:cNvSpPr>
                  <a:spLocks/>
                </p:cNvSpPr>
                <p:nvPr/>
              </p:nvSpPr>
              <p:spPr bwMode="auto">
                <a:xfrm>
                  <a:off x="3502572" y="3880952"/>
                  <a:ext cx="65297" cy="56538"/>
                </a:xfrm>
                <a:custGeom>
                  <a:avLst/>
                  <a:gdLst>
                    <a:gd name="T0" fmla="*/ 87 w 87"/>
                    <a:gd name="T1" fmla="*/ 75 h 75"/>
                    <a:gd name="T2" fmla="*/ 0 w 87"/>
                    <a:gd name="T3" fmla="*/ 0 h 75"/>
                  </a:gdLst>
                  <a:ahLst/>
                  <a:cxnLst>
                    <a:cxn ang="0">
                      <a:pos x="T0" y="T1"/>
                    </a:cxn>
                    <a:cxn ang="0">
                      <a:pos x="T2" y="T3"/>
                    </a:cxn>
                  </a:cxnLst>
                  <a:rect l="0" t="0" r="r" b="b"/>
                  <a:pathLst>
                    <a:path w="87" h="75">
                      <a:moveTo>
                        <a:pt x="87" y="75"/>
                      </a:moveTo>
                      <a:cubicBezTo>
                        <a:pt x="87" y="75"/>
                        <a:pt x="43"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69" name="Freeform 370">
                  <a:extLst>
                    <a:ext uri="{FF2B5EF4-FFF2-40B4-BE49-F238E27FC236}">
                      <a16:creationId xmlns:a16="http://schemas.microsoft.com/office/drawing/2014/main" id="{BAF83322-4423-4FBF-B84B-35A8C8A60674}"/>
                    </a:ext>
                  </a:extLst>
                </p:cNvPr>
                <p:cNvSpPr>
                  <a:spLocks/>
                </p:cNvSpPr>
                <p:nvPr/>
              </p:nvSpPr>
              <p:spPr bwMode="auto">
                <a:xfrm>
                  <a:off x="3477887" y="3892897"/>
                  <a:ext cx="53353" cy="61316"/>
                </a:xfrm>
                <a:custGeom>
                  <a:avLst/>
                  <a:gdLst>
                    <a:gd name="T0" fmla="*/ 71 w 71"/>
                    <a:gd name="T1" fmla="*/ 81 h 81"/>
                    <a:gd name="T2" fmla="*/ 0 w 71"/>
                    <a:gd name="T3" fmla="*/ 0 h 81"/>
                  </a:gdLst>
                  <a:ahLst/>
                  <a:cxnLst>
                    <a:cxn ang="0">
                      <a:pos x="T0" y="T1"/>
                    </a:cxn>
                    <a:cxn ang="0">
                      <a:pos x="T2" y="T3"/>
                    </a:cxn>
                  </a:cxnLst>
                  <a:rect l="0" t="0" r="r" b="b"/>
                  <a:pathLst>
                    <a:path w="71" h="81">
                      <a:moveTo>
                        <a:pt x="71" y="81"/>
                      </a:moveTo>
                      <a:cubicBezTo>
                        <a:pt x="71" y="81"/>
                        <a:pt x="20" y="40"/>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70" name="Freeform 371">
                  <a:extLst>
                    <a:ext uri="{FF2B5EF4-FFF2-40B4-BE49-F238E27FC236}">
                      <a16:creationId xmlns:a16="http://schemas.microsoft.com/office/drawing/2014/main" id="{D8486B38-CC33-436E-8F50-17DF40403D4C}"/>
                    </a:ext>
                  </a:extLst>
                </p:cNvPr>
                <p:cNvSpPr>
                  <a:spLocks/>
                </p:cNvSpPr>
                <p:nvPr/>
              </p:nvSpPr>
              <p:spPr bwMode="auto">
                <a:xfrm>
                  <a:off x="3474701" y="3904045"/>
                  <a:ext cx="33445" cy="54149"/>
                </a:xfrm>
                <a:custGeom>
                  <a:avLst/>
                  <a:gdLst>
                    <a:gd name="T0" fmla="*/ 45 w 45"/>
                    <a:gd name="T1" fmla="*/ 73 h 73"/>
                    <a:gd name="T2" fmla="*/ 0 w 45"/>
                    <a:gd name="T3" fmla="*/ 0 h 73"/>
                  </a:gdLst>
                  <a:ahLst/>
                  <a:cxnLst>
                    <a:cxn ang="0">
                      <a:pos x="T0" y="T1"/>
                    </a:cxn>
                    <a:cxn ang="0">
                      <a:pos x="T2" y="T3"/>
                    </a:cxn>
                  </a:cxnLst>
                  <a:rect l="0" t="0" r="r" b="b"/>
                  <a:pathLst>
                    <a:path w="45" h="73">
                      <a:moveTo>
                        <a:pt x="45" y="73"/>
                      </a:moveTo>
                      <a:cubicBezTo>
                        <a:pt x="45" y="73"/>
                        <a:pt x="13" y="33"/>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71" name="Freeform 372">
                  <a:extLst>
                    <a:ext uri="{FF2B5EF4-FFF2-40B4-BE49-F238E27FC236}">
                      <a16:creationId xmlns:a16="http://schemas.microsoft.com/office/drawing/2014/main" id="{F575A9AD-E7A7-4543-ABB8-43E2ABCDF635}"/>
                    </a:ext>
                  </a:extLst>
                </p:cNvPr>
                <p:cNvSpPr>
                  <a:spLocks/>
                </p:cNvSpPr>
                <p:nvPr/>
              </p:nvSpPr>
              <p:spPr bwMode="auto">
                <a:xfrm>
                  <a:off x="3480275" y="3915990"/>
                  <a:ext cx="2389" cy="48575"/>
                </a:xfrm>
                <a:custGeom>
                  <a:avLst/>
                  <a:gdLst>
                    <a:gd name="T0" fmla="*/ 0 w 3"/>
                    <a:gd name="T1" fmla="*/ 65 h 65"/>
                    <a:gd name="T2" fmla="*/ 0 w 3"/>
                    <a:gd name="T3" fmla="*/ 0 h 65"/>
                  </a:gdLst>
                  <a:ahLst/>
                  <a:cxnLst>
                    <a:cxn ang="0">
                      <a:pos x="T0" y="T1"/>
                    </a:cxn>
                    <a:cxn ang="0">
                      <a:pos x="T2" y="T3"/>
                    </a:cxn>
                  </a:cxnLst>
                  <a:rect l="0" t="0" r="r" b="b"/>
                  <a:pathLst>
                    <a:path w="3" h="65">
                      <a:moveTo>
                        <a:pt x="0" y="65"/>
                      </a:moveTo>
                      <a:cubicBezTo>
                        <a:pt x="0" y="65"/>
                        <a:pt x="3" y="14"/>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72" name="Freeform 373">
                  <a:extLst>
                    <a:ext uri="{FF2B5EF4-FFF2-40B4-BE49-F238E27FC236}">
                      <a16:creationId xmlns:a16="http://schemas.microsoft.com/office/drawing/2014/main" id="{B5228EDB-3ED7-4ACE-B90C-52092240DF1F}"/>
                    </a:ext>
                  </a:extLst>
                </p:cNvPr>
                <p:cNvSpPr>
                  <a:spLocks/>
                </p:cNvSpPr>
                <p:nvPr/>
              </p:nvSpPr>
              <p:spPr bwMode="auto">
                <a:xfrm>
                  <a:off x="3459571" y="3904045"/>
                  <a:ext cx="20704" cy="60519"/>
                </a:xfrm>
                <a:custGeom>
                  <a:avLst/>
                  <a:gdLst>
                    <a:gd name="T0" fmla="*/ 0 w 28"/>
                    <a:gd name="T1" fmla="*/ 80 h 80"/>
                    <a:gd name="T2" fmla="*/ 7 w 28"/>
                    <a:gd name="T3" fmla="*/ 0 h 80"/>
                  </a:gdLst>
                  <a:ahLst/>
                  <a:cxnLst>
                    <a:cxn ang="0">
                      <a:pos x="T0" y="T1"/>
                    </a:cxn>
                    <a:cxn ang="0">
                      <a:pos x="T2" y="T3"/>
                    </a:cxn>
                  </a:cxnLst>
                  <a:rect l="0" t="0" r="r" b="b"/>
                  <a:pathLst>
                    <a:path w="28" h="80">
                      <a:moveTo>
                        <a:pt x="0" y="80"/>
                      </a:moveTo>
                      <a:cubicBezTo>
                        <a:pt x="0" y="80"/>
                        <a:pt x="28" y="49"/>
                        <a:pt x="7"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73" name="Freeform 374">
                  <a:extLst>
                    <a:ext uri="{FF2B5EF4-FFF2-40B4-BE49-F238E27FC236}">
                      <a16:creationId xmlns:a16="http://schemas.microsoft.com/office/drawing/2014/main" id="{FA46BECE-86DF-4ADE-B9BE-BE54AAD7FBA5}"/>
                    </a:ext>
                  </a:extLst>
                </p:cNvPr>
                <p:cNvSpPr>
                  <a:spLocks/>
                </p:cNvSpPr>
                <p:nvPr/>
              </p:nvSpPr>
              <p:spPr bwMode="auto">
                <a:xfrm>
                  <a:off x="3431701" y="3912008"/>
                  <a:ext cx="32649" cy="53353"/>
                </a:xfrm>
                <a:custGeom>
                  <a:avLst/>
                  <a:gdLst>
                    <a:gd name="T0" fmla="*/ 18 w 44"/>
                    <a:gd name="T1" fmla="*/ 0 h 71"/>
                    <a:gd name="T2" fmla="*/ 0 w 44"/>
                    <a:gd name="T3" fmla="*/ 71 h 71"/>
                  </a:gdLst>
                  <a:ahLst/>
                  <a:cxnLst>
                    <a:cxn ang="0">
                      <a:pos x="T0" y="T1"/>
                    </a:cxn>
                    <a:cxn ang="0">
                      <a:pos x="T2" y="T3"/>
                    </a:cxn>
                  </a:cxnLst>
                  <a:rect l="0" t="0" r="r" b="b"/>
                  <a:pathLst>
                    <a:path w="44" h="71">
                      <a:moveTo>
                        <a:pt x="18" y="0"/>
                      </a:moveTo>
                      <a:cubicBezTo>
                        <a:pt x="18" y="0"/>
                        <a:pt x="44" y="55"/>
                        <a:pt x="0" y="71"/>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74" name="Freeform 375">
                  <a:extLst>
                    <a:ext uri="{FF2B5EF4-FFF2-40B4-BE49-F238E27FC236}">
                      <a16:creationId xmlns:a16="http://schemas.microsoft.com/office/drawing/2014/main" id="{14BDE639-D6D8-4FE8-98DD-13136A24CB81}"/>
                    </a:ext>
                  </a:extLst>
                </p:cNvPr>
                <p:cNvSpPr>
                  <a:spLocks/>
                </p:cNvSpPr>
                <p:nvPr/>
              </p:nvSpPr>
              <p:spPr bwMode="auto">
                <a:xfrm>
                  <a:off x="3406219" y="3914397"/>
                  <a:ext cx="25482" cy="46982"/>
                </a:xfrm>
                <a:custGeom>
                  <a:avLst/>
                  <a:gdLst>
                    <a:gd name="T0" fmla="*/ 23 w 34"/>
                    <a:gd name="T1" fmla="*/ 0 h 63"/>
                    <a:gd name="T2" fmla="*/ 0 w 34"/>
                    <a:gd name="T3" fmla="*/ 63 h 63"/>
                  </a:gdLst>
                  <a:ahLst/>
                  <a:cxnLst>
                    <a:cxn ang="0">
                      <a:pos x="T0" y="T1"/>
                    </a:cxn>
                    <a:cxn ang="0">
                      <a:pos x="T2" y="T3"/>
                    </a:cxn>
                  </a:cxnLst>
                  <a:rect l="0" t="0" r="r" b="b"/>
                  <a:pathLst>
                    <a:path w="34" h="63">
                      <a:moveTo>
                        <a:pt x="23" y="0"/>
                      </a:moveTo>
                      <a:cubicBezTo>
                        <a:pt x="23" y="0"/>
                        <a:pt x="34" y="47"/>
                        <a:pt x="0" y="63"/>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75" name="Freeform 376">
                  <a:extLst>
                    <a:ext uri="{FF2B5EF4-FFF2-40B4-BE49-F238E27FC236}">
                      <a16:creationId xmlns:a16="http://schemas.microsoft.com/office/drawing/2014/main" id="{82E08711-9F37-4203-B7D4-DA827CCE2DAF}"/>
                    </a:ext>
                  </a:extLst>
                </p:cNvPr>
                <p:cNvSpPr>
                  <a:spLocks/>
                </p:cNvSpPr>
                <p:nvPr/>
              </p:nvSpPr>
              <p:spPr bwMode="auto">
                <a:xfrm>
                  <a:off x="3374367" y="3900860"/>
                  <a:ext cx="26278" cy="58926"/>
                </a:xfrm>
                <a:custGeom>
                  <a:avLst/>
                  <a:gdLst>
                    <a:gd name="T0" fmla="*/ 0 w 35"/>
                    <a:gd name="T1" fmla="*/ 79 h 79"/>
                    <a:gd name="T2" fmla="*/ 24 w 35"/>
                    <a:gd name="T3" fmla="*/ 0 h 79"/>
                  </a:gdLst>
                  <a:ahLst/>
                  <a:cxnLst>
                    <a:cxn ang="0">
                      <a:pos x="T0" y="T1"/>
                    </a:cxn>
                    <a:cxn ang="0">
                      <a:pos x="T2" y="T3"/>
                    </a:cxn>
                  </a:cxnLst>
                  <a:rect l="0" t="0" r="r" b="b"/>
                  <a:pathLst>
                    <a:path w="35" h="79">
                      <a:moveTo>
                        <a:pt x="0" y="79"/>
                      </a:moveTo>
                      <a:cubicBezTo>
                        <a:pt x="0" y="79"/>
                        <a:pt x="35" y="65"/>
                        <a:pt x="24"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76" name="Freeform 377">
                  <a:extLst>
                    <a:ext uri="{FF2B5EF4-FFF2-40B4-BE49-F238E27FC236}">
                      <a16:creationId xmlns:a16="http://schemas.microsoft.com/office/drawing/2014/main" id="{A649F69D-1E4B-412C-8252-BA2AEE9F2203}"/>
                    </a:ext>
                  </a:extLst>
                </p:cNvPr>
                <p:cNvSpPr>
                  <a:spLocks/>
                </p:cNvSpPr>
                <p:nvPr/>
              </p:nvSpPr>
              <p:spPr bwMode="auto">
                <a:xfrm>
                  <a:off x="3321015" y="3938286"/>
                  <a:ext cx="70075" cy="38223"/>
                </a:xfrm>
                <a:custGeom>
                  <a:avLst/>
                  <a:gdLst>
                    <a:gd name="T0" fmla="*/ 0 w 93"/>
                    <a:gd name="T1" fmla="*/ 51 h 51"/>
                    <a:gd name="T2" fmla="*/ 93 w 93"/>
                    <a:gd name="T3" fmla="*/ 0 h 51"/>
                  </a:gdLst>
                  <a:ahLst/>
                  <a:cxnLst>
                    <a:cxn ang="0">
                      <a:pos x="T0" y="T1"/>
                    </a:cxn>
                    <a:cxn ang="0">
                      <a:pos x="T2" y="T3"/>
                    </a:cxn>
                  </a:cxnLst>
                  <a:rect l="0" t="0" r="r" b="b"/>
                  <a:pathLst>
                    <a:path w="93" h="51">
                      <a:moveTo>
                        <a:pt x="0" y="51"/>
                      </a:moveTo>
                      <a:cubicBezTo>
                        <a:pt x="0" y="51"/>
                        <a:pt x="67" y="35"/>
                        <a:pt x="93"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77" name="Freeform 378">
                  <a:extLst>
                    <a:ext uri="{FF2B5EF4-FFF2-40B4-BE49-F238E27FC236}">
                      <a16:creationId xmlns:a16="http://schemas.microsoft.com/office/drawing/2014/main" id="{1AC803B9-2268-4DE2-BEAF-EF79FD7DE4B1}"/>
                    </a:ext>
                  </a:extLst>
                </p:cNvPr>
                <p:cNvSpPr>
                  <a:spLocks/>
                </p:cNvSpPr>
                <p:nvPr/>
              </p:nvSpPr>
              <p:spPr bwMode="auto">
                <a:xfrm>
                  <a:off x="3320219" y="3914397"/>
                  <a:ext cx="74852" cy="44593"/>
                </a:xfrm>
                <a:custGeom>
                  <a:avLst/>
                  <a:gdLst>
                    <a:gd name="T0" fmla="*/ 0 w 99"/>
                    <a:gd name="T1" fmla="*/ 56 h 60"/>
                    <a:gd name="T2" fmla="*/ 99 w 99"/>
                    <a:gd name="T3" fmla="*/ 0 h 60"/>
                  </a:gdLst>
                  <a:ahLst/>
                  <a:cxnLst>
                    <a:cxn ang="0">
                      <a:pos x="T0" y="T1"/>
                    </a:cxn>
                    <a:cxn ang="0">
                      <a:pos x="T2" y="T3"/>
                    </a:cxn>
                  </a:cxnLst>
                  <a:rect l="0" t="0" r="r" b="b"/>
                  <a:pathLst>
                    <a:path w="99" h="60">
                      <a:moveTo>
                        <a:pt x="0" y="56"/>
                      </a:moveTo>
                      <a:cubicBezTo>
                        <a:pt x="0" y="56"/>
                        <a:pt x="51" y="60"/>
                        <a:pt x="99"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78" name="Freeform 379">
                  <a:extLst>
                    <a:ext uri="{FF2B5EF4-FFF2-40B4-BE49-F238E27FC236}">
                      <a16:creationId xmlns:a16="http://schemas.microsoft.com/office/drawing/2014/main" id="{FE037C10-425F-40CE-AC3F-93181C13A75F}"/>
                    </a:ext>
                  </a:extLst>
                </p:cNvPr>
                <p:cNvSpPr>
                  <a:spLocks/>
                </p:cNvSpPr>
                <p:nvPr/>
              </p:nvSpPr>
              <p:spPr bwMode="auto">
                <a:xfrm>
                  <a:off x="3320219" y="3903249"/>
                  <a:ext cx="52556" cy="39019"/>
                </a:xfrm>
                <a:custGeom>
                  <a:avLst/>
                  <a:gdLst>
                    <a:gd name="T0" fmla="*/ 0 w 70"/>
                    <a:gd name="T1" fmla="*/ 44 h 52"/>
                    <a:gd name="T2" fmla="*/ 70 w 70"/>
                    <a:gd name="T3" fmla="*/ 0 h 52"/>
                  </a:gdLst>
                  <a:ahLst/>
                  <a:cxnLst>
                    <a:cxn ang="0">
                      <a:pos x="T0" y="T1"/>
                    </a:cxn>
                    <a:cxn ang="0">
                      <a:pos x="T2" y="T3"/>
                    </a:cxn>
                  </a:cxnLst>
                  <a:rect l="0" t="0" r="r" b="b"/>
                  <a:pathLst>
                    <a:path w="70" h="52">
                      <a:moveTo>
                        <a:pt x="0" y="44"/>
                      </a:moveTo>
                      <a:cubicBezTo>
                        <a:pt x="0" y="44"/>
                        <a:pt x="43" y="52"/>
                        <a:pt x="7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79" name="Freeform 380">
                  <a:extLst>
                    <a:ext uri="{FF2B5EF4-FFF2-40B4-BE49-F238E27FC236}">
                      <a16:creationId xmlns:a16="http://schemas.microsoft.com/office/drawing/2014/main" id="{B89C864A-44CD-4CEA-824A-165629749227}"/>
                    </a:ext>
                  </a:extLst>
                </p:cNvPr>
                <p:cNvSpPr>
                  <a:spLocks/>
                </p:cNvSpPr>
                <p:nvPr/>
              </p:nvSpPr>
              <p:spPr bwMode="auto">
                <a:xfrm>
                  <a:off x="3318626" y="3894489"/>
                  <a:ext cx="26278" cy="25482"/>
                </a:xfrm>
                <a:custGeom>
                  <a:avLst/>
                  <a:gdLst>
                    <a:gd name="T0" fmla="*/ 0 w 35"/>
                    <a:gd name="T1" fmla="*/ 34 h 34"/>
                    <a:gd name="T2" fmla="*/ 35 w 35"/>
                    <a:gd name="T3" fmla="*/ 0 h 34"/>
                  </a:gdLst>
                  <a:ahLst/>
                  <a:cxnLst>
                    <a:cxn ang="0">
                      <a:pos x="T0" y="T1"/>
                    </a:cxn>
                    <a:cxn ang="0">
                      <a:pos x="T2" y="T3"/>
                    </a:cxn>
                  </a:cxnLst>
                  <a:rect l="0" t="0" r="r" b="b"/>
                  <a:pathLst>
                    <a:path w="35" h="34">
                      <a:moveTo>
                        <a:pt x="0" y="34"/>
                      </a:moveTo>
                      <a:cubicBezTo>
                        <a:pt x="0" y="34"/>
                        <a:pt x="24" y="34"/>
                        <a:pt x="35"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80" name="Line 381">
                  <a:extLst>
                    <a:ext uri="{FF2B5EF4-FFF2-40B4-BE49-F238E27FC236}">
                      <a16:creationId xmlns:a16="http://schemas.microsoft.com/office/drawing/2014/main" id="{45CC4B9C-E885-4047-A249-E26487C379D2}"/>
                    </a:ext>
                  </a:extLst>
                </p:cNvPr>
                <p:cNvSpPr>
                  <a:spLocks noChangeShapeType="1"/>
                </p:cNvSpPr>
                <p:nvPr/>
              </p:nvSpPr>
              <p:spPr bwMode="auto">
                <a:xfrm>
                  <a:off x="3524868" y="3841933"/>
                  <a:ext cx="0" cy="0"/>
                </a:xfrm>
                <a:prstGeom prst="line">
                  <a:avLst/>
                </a:prstGeom>
                <a:noFill/>
                <a:ln w="3175"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81" name="Freeform 382">
                  <a:extLst>
                    <a:ext uri="{FF2B5EF4-FFF2-40B4-BE49-F238E27FC236}">
                      <a16:creationId xmlns:a16="http://schemas.microsoft.com/office/drawing/2014/main" id="{62A41B6A-5654-43E1-8B2E-3193902D554C}"/>
                    </a:ext>
                  </a:extLst>
                </p:cNvPr>
                <p:cNvSpPr>
                  <a:spLocks/>
                </p:cNvSpPr>
                <p:nvPr/>
              </p:nvSpPr>
              <p:spPr bwMode="auto">
                <a:xfrm>
                  <a:off x="2910123" y="3355393"/>
                  <a:ext cx="660931" cy="750117"/>
                </a:xfrm>
                <a:custGeom>
                  <a:avLst/>
                  <a:gdLst>
                    <a:gd name="T0" fmla="*/ 480 w 879"/>
                    <a:gd name="T1" fmla="*/ 525 h 997"/>
                    <a:gd name="T2" fmla="*/ 418 w 879"/>
                    <a:gd name="T3" fmla="*/ 315 h 997"/>
                    <a:gd name="T4" fmla="*/ 451 w 879"/>
                    <a:gd name="T5" fmla="*/ 218 h 997"/>
                    <a:gd name="T6" fmla="*/ 558 w 879"/>
                    <a:gd name="T7" fmla="*/ 210 h 997"/>
                    <a:gd name="T8" fmla="*/ 425 w 879"/>
                    <a:gd name="T9" fmla="*/ 5 h 997"/>
                    <a:gd name="T10" fmla="*/ 19 w 879"/>
                    <a:gd name="T11" fmla="*/ 35 h 997"/>
                    <a:gd name="T12" fmla="*/ 102 w 879"/>
                    <a:gd name="T13" fmla="*/ 209 h 997"/>
                    <a:gd name="T14" fmla="*/ 111 w 879"/>
                    <a:gd name="T15" fmla="*/ 326 h 997"/>
                    <a:gd name="T16" fmla="*/ 210 w 879"/>
                    <a:gd name="T17" fmla="*/ 305 h 997"/>
                    <a:gd name="T18" fmla="*/ 364 w 879"/>
                    <a:gd name="T19" fmla="*/ 379 h 997"/>
                    <a:gd name="T20" fmla="*/ 514 w 879"/>
                    <a:gd name="T21" fmla="*/ 997 h 997"/>
                    <a:gd name="T22" fmla="*/ 534 w 879"/>
                    <a:gd name="T23" fmla="*/ 803 h 997"/>
                    <a:gd name="T24" fmla="*/ 584 w 879"/>
                    <a:gd name="T25" fmla="*/ 729 h 997"/>
                    <a:gd name="T26" fmla="*/ 597 w 879"/>
                    <a:gd name="T27" fmla="*/ 739 h 997"/>
                    <a:gd name="T28" fmla="*/ 640 w 879"/>
                    <a:gd name="T29" fmla="*/ 739 h 997"/>
                    <a:gd name="T30" fmla="*/ 636 w 879"/>
                    <a:gd name="T31" fmla="*/ 700 h 997"/>
                    <a:gd name="T32" fmla="*/ 623 w 879"/>
                    <a:gd name="T33" fmla="*/ 640 h 997"/>
                    <a:gd name="T34" fmla="*/ 647 w 879"/>
                    <a:gd name="T35" fmla="*/ 702 h 997"/>
                    <a:gd name="T36" fmla="*/ 657 w 879"/>
                    <a:gd name="T37" fmla="*/ 756 h 997"/>
                    <a:gd name="T38" fmla="*/ 701 w 879"/>
                    <a:gd name="T39" fmla="*/ 767 h 997"/>
                    <a:gd name="T40" fmla="*/ 730 w 879"/>
                    <a:gd name="T41" fmla="*/ 754 h 997"/>
                    <a:gd name="T42" fmla="*/ 757 w 879"/>
                    <a:gd name="T43" fmla="*/ 734 h 997"/>
                    <a:gd name="T44" fmla="*/ 743 w 879"/>
                    <a:gd name="T45" fmla="*/ 695 h 997"/>
                    <a:gd name="T46" fmla="*/ 720 w 879"/>
                    <a:gd name="T47" fmla="*/ 667 h 997"/>
                    <a:gd name="T48" fmla="*/ 695 w 879"/>
                    <a:gd name="T49" fmla="*/ 616 h 997"/>
                    <a:gd name="T50" fmla="*/ 759 w 879"/>
                    <a:gd name="T51" fmla="*/ 678 h 997"/>
                    <a:gd name="T52" fmla="*/ 766 w 879"/>
                    <a:gd name="T53" fmla="*/ 716 h 997"/>
                    <a:gd name="T54" fmla="*/ 802 w 879"/>
                    <a:gd name="T55" fmla="*/ 702 h 997"/>
                    <a:gd name="T56" fmla="*/ 827 w 879"/>
                    <a:gd name="T57" fmla="*/ 668 h 997"/>
                    <a:gd name="T58" fmla="*/ 825 w 879"/>
                    <a:gd name="T59" fmla="*/ 636 h 997"/>
                    <a:gd name="T60" fmla="*/ 823 w 879"/>
                    <a:gd name="T61" fmla="*/ 627 h 997"/>
                    <a:gd name="T62" fmla="*/ 852 w 879"/>
                    <a:gd name="T63" fmla="*/ 609 h 997"/>
                    <a:gd name="T64" fmla="*/ 863 w 879"/>
                    <a:gd name="T65" fmla="*/ 577 h 997"/>
                    <a:gd name="T66" fmla="*/ 865 w 879"/>
                    <a:gd name="T67" fmla="*/ 546 h 997"/>
                    <a:gd name="T68" fmla="*/ 866 w 879"/>
                    <a:gd name="T69" fmla="*/ 521 h 997"/>
                    <a:gd name="T70" fmla="*/ 840 w 879"/>
                    <a:gd name="T71" fmla="*/ 494 h 997"/>
                    <a:gd name="T72" fmla="*/ 828 w 879"/>
                    <a:gd name="T73" fmla="*/ 462 h 997"/>
                    <a:gd name="T74" fmla="*/ 804 w 879"/>
                    <a:gd name="T75" fmla="*/ 441 h 997"/>
                    <a:gd name="T76" fmla="*/ 780 w 879"/>
                    <a:gd name="T77" fmla="*/ 423 h 997"/>
                    <a:gd name="T78" fmla="*/ 780 w 879"/>
                    <a:gd name="T79" fmla="*/ 398 h 997"/>
                    <a:gd name="T80" fmla="*/ 759 w 879"/>
                    <a:gd name="T81" fmla="*/ 368 h 997"/>
                    <a:gd name="T82" fmla="*/ 722 w 879"/>
                    <a:gd name="T83" fmla="*/ 346 h 997"/>
                    <a:gd name="T84" fmla="*/ 687 w 879"/>
                    <a:gd name="T85" fmla="*/ 333 h 997"/>
                    <a:gd name="T86" fmla="*/ 665 w 879"/>
                    <a:gd name="T87" fmla="*/ 323 h 997"/>
                    <a:gd name="T88" fmla="*/ 625 w 879"/>
                    <a:gd name="T89" fmla="*/ 317 h 997"/>
                    <a:gd name="T90" fmla="*/ 598 w 879"/>
                    <a:gd name="T91" fmla="*/ 354 h 997"/>
                    <a:gd name="T92" fmla="*/ 563 w 879"/>
                    <a:gd name="T93" fmla="*/ 360 h 997"/>
                    <a:gd name="T94" fmla="*/ 512 w 879"/>
                    <a:gd name="T95" fmla="*/ 387 h 997"/>
                    <a:gd name="T96" fmla="*/ 536 w 879"/>
                    <a:gd name="T97" fmla="*/ 432 h 997"/>
                    <a:gd name="T98" fmla="*/ 531 w 879"/>
                    <a:gd name="T99" fmla="*/ 447 h 997"/>
                    <a:gd name="T100" fmla="*/ 496 w 879"/>
                    <a:gd name="T101" fmla="*/ 449 h 997"/>
                    <a:gd name="T102" fmla="*/ 503 w 879"/>
                    <a:gd name="T103" fmla="*/ 486 h 997"/>
                    <a:gd name="T104" fmla="*/ 519 w 879"/>
                    <a:gd name="T105" fmla="*/ 497 h 997"/>
                    <a:gd name="T106" fmla="*/ 522 w 879"/>
                    <a:gd name="T107" fmla="*/ 541 h 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79" h="997">
                      <a:moveTo>
                        <a:pt x="521" y="552"/>
                      </a:moveTo>
                      <a:cubicBezTo>
                        <a:pt x="480" y="525"/>
                        <a:pt x="480" y="525"/>
                        <a:pt x="480" y="525"/>
                      </a:cubicBezTo>
                      <a:cubicBezTo>
                        <a:pt x="439" y="424"/>
                        <a:pt x="439" y="424"/>
                        <a:pt x="439" y="424"/>
                      </a:cubicBezTo>
                      <a:cubicBezTo>
                        <a:pt x="418" y="315"/>
                        <a:pt x="418" y="315"/>
                        <a:pt x="418" y="315"/>
                      </a:cubicBezTo>
                      <a:cubicBezTo>
                        <a:pt x="405" y="247"/>
                        <a:pt x="405" y="247"/>
                        <a:pt x="405" y="247"/>
                      </a:cubicBezTo>
                      <a:cubicBezTo>
                        <a:pt x="451" y="218"/>
                        <a:pt x="451" y="218"/>
                        <a:pt x="451" y="218"/>
                      </a:cubicBezTo>
                      <a:cubicBezTo>
                        <a:pt x="498" y="233"/>
                        <a:pt x="498" y="233"/>
                        <a:pt x="498" y="233"/>
                      </a:cubicBezTo>
                      <a:cubicBezTo>
                        <a:pt x="558" y="210"/>
                        <a:pt x="558" y="210"/>
                        <a:pt x="558" y="210"/>
                      </a:cubicBezTo>
                      <a:cubicBezTo>
                        <a:pt x="516" y="106"/>
                        <a:pt x="516" y="106"/>
                        <a:pt x="516" y="106"/>
                      </a:cubicBezTo>
                      <a:cubicBezTo>
                        <a:pt x="425" y="5"/>
                        <a:pt x="425" y="5"/>
                        <a:pt x="425" y="5"/>
                      </a:cubicBezTo>
                      <a:cubicBezTo>
                        <a:pt x="167" y="0"/>
                        <a:pt x="167" y="0"/>
                        <a:pt x="167" y="0"/>
                      </a:cubicBezTo>
                      <a:cubicBezTo>
                        <a:pt x="19" y="35"/>
                        <a:pt x="19" y="35"/>
                        <a:pt x="19" y="35"/>
                      </a:cubicBezTo>
                      <a:cubicBezTo>
                        <a:pt x="0" y="127"/>
                        <a:pt x="0" y="127"/>
                        <a:pt x="0" y="127"/>
                      </a:cubicBezTo>
                      <a:cubicBezTo>
                        <a:pt x="102" y="209"/>
                        <a:pt x="102" y="209"/>
                        <a:pt x="102" y="209"/>
                      </a:cubicBezTo>
                      <a:cubicBezTo>
                        <a:pt x="85" y="316"/>
                        <a:pt x="85" y="316"/>
                        <a:pt x="85" y="316"/>
                      </a:cubicBezTo>
                      <a:cubicBezTo>
                        <a:pt x="111" y="326"/>
                        <a:pt x="111" y="326"/>
                        <a:pt x="111" y="326"/>
                      </a:cubicBezTo>
                      <a:cubicBezTo>
                        <a:pt x="118" y="360"/>
                        <a:pt x="118" y="360"/>
                        <a:pt x="118" y="360"/>
                      </a:cubicBezTo>
                      <a:cubicBezTo>
                        <a:pt x="210" y="305"/>
                        <a:pt x="210" y="305"/>
                        <a:pt x="210" y="305"/>
                      </a:cubicBezTo>
                      <a:cubicBezTo>
                        <a:pt x="314" y="302"/>
                        <a:pt x="314" y="302"/>
                        <a:pt x="314" y="302"/>
                      </a:cubicBezTo>
                      <a:cubicBezTo>
                        <a:pt x="364" y="379"/>
                        <a:pt x="364" y="379"/>
                        <a:pt x="364" y="379"/>
                      </a:cubicBezTo>
                      <a:cubicBezTo>
                        <a:pt x="430" y="657"/>
                        <a:pt x="430" y="657"/>
                        <a:pt x="430" y="657"/>
                      </a:cubicBezTo>
                      <a:cubicBezTo>
                        <a:pt x="514" y="997"/>
                        <a:pt x="514" y="997"/>
                        <a:pt x="514" y="997"/>
                      </a:cubicBezTo>
                      <a:cubicBezTo>
                        <a:pt x="563" y="981"/>
                        <a:pt x="563" y="981"/>
                        <a:pt x="563" y="981"/>
                      </a:cubicBezTo>
                      <a:cubicBezTo>
                        <a:pt x="534" y="803"/>
                        <a:pt x="534" y="803"/>
                        <a:pt x="534" y="803"/>
                      </a:cubicBezTo>
                      <a:cubicBezTo>
                        <a:pt x="551" y="714"/>
                        <a:pt x="551" y="714"/>
                        <a:pt x="551" y="714"/>
                      </a:cubicBezTo>
                      <a:cubicBezTo>
                        <a:pt x="551" y="714"/>
                        <a:pt x="561" y="747"/>
                        <a:pt x="584" y="729"/>
                      </a:cubicBezTo>
                      <a:cubicBezTo>
                        <a:pt x="593" y="722"/>
                        <a:pt x="588" y="701"/>
                        <a:pt x="588" y="701"/>
                      </a:cubicBezTo>
                      <a:cubicBezTo>
                        <a:pt x="588" y="701"/>
                        <a:pt x="586" y="734"/>
                        <a:pt x="597" y="739"/>
                      </a:cubicBezTo>
                      <a:cubicBezTo>
                        <a:pt x="608" y="745"/>
                        <a:pt x="615" y="740"/>
                        <a:pt x="615" y="731"/>
                      </a:cubicBezTo>
                      <a:cubicBezTo>
                        <a:pt x="615" y="731"/>
                        <a:pt x="617" y="751"/>
                        <a:pt x="640" y="739"/>
                      </a:cubicBezTo>
                      <a:cubicBezTo>
                        <a:pt x="656" y="730"/>
                        <a:pt x="643" y="718"/>
                        <a:pt x="638" y="713"/>
                      </a:cubicBezTo>
                      <a:cubicBezTo>
                        <a:pt x="633" y="709"/>
                        <a:pt x="636" y="706"/>
                        <a:pt x="636" y="700"/>
                      </a:cubicBezTo>
                      <a:cubicBezTo>
                        <a:pt x="636" y="693"/>
                        <a:pt x="636" y="682"/>
                        <a:pt x="630" y="677"/>
                      </a:cubicBezTo>
                      <a:cubicBezTo>
                        <a:pt x="624" y="671"/>
                        <a:pt x="631" y="656"/>
                        <a:pt x="623" y="640"/>
                      </a:cubicBezTo>
                      <a:cubicBezTo>
                        <a:pt x="623" y="640"/>
                        <a:pt x="626" y="661"/>
                        <a:pt x="638" y="666"/>
                      </a:cubicBezTo>
                      <a:cubicBezTo>
                        <a:pt x="638" y="666"/>
                        <a:pt x="633" y="686"/>
                        <a:pt x="647" y="702"/>
                      </a:cubicBezTo>
                      <a:cubicBezTo>
                        <a:pt x="647" y="702"/>
                        <a:pt x="643" y="725"/>
                        <a:pt x="659" y="725"/>
                      </a:cubicBezTo>
                      <a:cubicBezTo>
                        <a:pt x="659" y="725"/>
                        <a:pt x="639" y="747"/>
                        <a:pt x="657" y="756"/>
                      </a:cubicBezTo>
                      <a:cubicBezTo>
                        <a:pt x="657" y="756"/>
                        <a:pt x="666" y="766"/>
                        <a:pt x="682" y="753"/>
                      </a:cubicBezTo>
                      <a:cubicBezTo>
                        <a:pt x="682" y="753"/>
                        <a:pt x="683" y="771"/>
                        <a:pt x="701" y="767"/>
                      </a:cubicBezTo>
                      <a:cubicBezTo>
                        <a:pt x="713" y="765"/>
                        <a:pt x="716" y="756"/>
                        <a:pt x="713" y="746"/>
                      </a:cubicBezTo>
                      <a:cubicBezTo>
                        <a:pt x="713" y="746"/>
                        <a:pt x="716" y="760"/>
                        <a:pt x="730" y="754"/>
                      </a:cubicBezTo>
                      <a:cubicBezTo>
                        <a:pt x="744" y="748"/>
                        <a:pt x="742" y="740"/>
                        <a:pt x="738" y="733"/>
                      </a:cubicBezTo>
                      <a:cubicBezTo>
                        <a:pt x="738" y="733"/>
                        <a:pt x="744" y="741"/>
                        <a:pt x="757" y="734"/>
                      </a:cubicBezTo>
                      <a:cubicBezTo>
                        <a:pt x="767" y="730"/>
                        <a:pt x="755" y="712"/>
                        <a:pt x="750" y="709"/>
                      </a:cubicBezTo>
                      <a:cubicBezTo>
                        <a:pt x="746" y="706"/>
                        <a:pt x="743" y="708"/>
                        <a:pt x="743" y="695"/>
                      </a:cubicBezTo>
                      <a:cubicBezTo>
                        <a:pt x="743" y="683"/>
                        <a:pt x="737" y="678"/>
                        <a:pt x="729" y="678"/>
                      </a:cubicBezTo>
                      <a:cubicBezTo>
                        <a:pt x="720" y="677"/>
                        <a:pt x="720" y="680"/>
                        <a:pt x="720" y="667"/>
                      </a:cubicBezTo>
                      <a:cubicBezTo>
                        <a:pt x="719" y="654"/>
                        <a:pt x="716" y="657"/>
                        <a:pt x="709" y="652"/>
                      </a:cubicBezTo>
                      <a:cubicBezTo>
                        <a:pt x="702" y="647"/>
                        <a:pt x="693" y="635"/>
                        <a:pt x="695" y="616"/>
                      </a:cubicBezTo>
                      <a:cubicBezTo>
                        <a:pt x="695" y="616"/>
                        <a:pt x="694" y="650"/>
                        <a:pt x="729" y="650"/>
                      </a:cubicBezTo>
                      <a:cubicBezTo>
                        <a:pt x="732" y="650"/>
                        <a:pt x="712" y="677"/>
                        <a:pt x="759" y="678"/>
                      </a:cubicBezTo>
                      <a:cubicBezTo>
                        <a:pt x="759" y="678"/>
                        <a:pt x="749" y="694"/>
                        <a:pt x="759" y="703"/>
                      </a:cubicBezTo>
                      <a:cubicBezTo>
                        <a:pt x="768" y="712"/>
                        <a:pt x="764" y="712"/>
                        <a:pt x="766" y="716"/>
                      </a:cubicBezTo>
                      <a:cubicBezTo>
                        <a:pt x="768" y="720"/>
                        <a:pt x="785" y="724"/>
                        <a:pt x="788" y="712"/>
                      </a:cubicBezTo>
                      <a:cubicBezTo>
                        <a:pt x="791" y="701"/>
                        <a:pt x="788" y="703"/>
                        <a:pt x="802" y="702"/>
                      </a:cubicBezTo>
                      <a:cubicBezTo>
                        <a:pt x="815" y="701"/>
                        <a:pt x="812" y="690"/>
                        <a:pt x="812" y="691"/>
                      </a:cubicBezTo>
                      <a:cubicBezTo>
                        <a:pt x="812" y="691"/>
                        <a:pt x="845" y="689"/>
                        <a:pt x="827" y="668"/>
                      </a:cubicBezTo>
                      <a:cubicBezTo>
                        <a:pt x="808" y="647"/>
                        <a:pt x="832" y="659"/>
                        <a:pt x="834" y="657"/>
                      </a:cubicBezTo>
                      <a:cubicBezTo>
                        <a:pt x="836" y="656"/>
                        <a:pt x="848" y="633"/>
                        <a:pt x="825" y="636"/>
                      </a:cubicBezTo>
                      <a:cubicBezTo>
                        <a:pt x="819" y="632"/>
                        <a:pt x="819" y="632"/>
                        <a:pt x="819" y="632"/>
                      </a:cubicBezTo>
                      <a:cubicBezTo>
                        <a:pt x="823" y="627"/>
                        <a:pt x="823" y="627"/>
                        <a:pt x="823" y="627"/>
                      </a:cubicBezTo>
                      <a:cubicBezTo>
                        <a:pt x="823" y="627"/>
                        <a:pt x="835" y="645"/>
                        <a:pt x="852" y="622"/>
                      </a:cubicBezTo>
                      <a:cubicBezTo>
                        <a:pt x="858" y="614"/>
                        <a:pt x="852" y="609"/>
                        <a:pt x="852" y="609"/>
                      </a:cubicBezTo>
                      <a:cubicBezTo>
                        <a:pt x="852" y="609"/>
                        <a:pt x="853" y="610"/>
                        <a:pt x="864" y="604"/>
                      </a:cubicBezTo>
                      <a:cubicBezTo>
                        <a:pt x="875" y="597"/>
                        <a:pt x="869" y="580"/>
                        <a:pt x="863" y="577"/>
                      </a:cubicBezTo>
                      <a:cubicBezTo>
                        <a:pt x="857" y="574"/>
                        <a:pt x="868" y="571"/>
                        <a:pt x="869" y="570"/>
                      </a:cubicBezTo>
                      <a:cubicBezTo>
                        <a:pt x="871" y="569"/>
                        <a:pt x="879" y="559"/>
                        <a:pt x="865" y="546"/>
                      </a:cubicBezTo>
                      <a:cubicBezTo>
                        <a:pt x="865" y="546"/>
                        <a:pt x="872" y="541"/>
                        <a:pt x="872" y="533"/>
                      </a:cubicBezTo>
                      <a:cubicBezTo>
                        <a:pt x="872" y="524"/>
                        <a:pt x="869" y="523"/>
                        <a:pt x="866" y="521"/>
                      </a:cubicBezTo>
                      <a:cubicBezTo>
                        <a:pt x="862" y="520"/>
                        <a:pt x="857" y="514"/>
                        <a:pt x="858" y="508"/>
                      </a:cubicBezTo>
                      <a:cubicBezTo>
                        <a:pt x="859" y="502"/>
                        <a:pt x="849" y="491"/>
                        <a:pt x="840" y="494"/>
                      </a:cubicBezTo>
                      <a:cubicBezTo>
                        <a:pt x="831" y="496"/>
                        <a:pt x="857" y="479"/>
                        <a:pt x="839" y="468"/>
                      </a:cubicBezTo>
                      <a:cubicBezTo>
                        <a:pt x="820" y="457"/>
                        <a:pt x="832" y="464"/>
                        <a:pt x="828" y="462"/>
                      </a:cubicBezTo>
                      <a:cubicBezTo>
                        <a:pt x="823" y="460"/>
                        <a:pt x="818" y="461"/>
                        <a:pt x="818" y="461"/>
                      </a:cubicBezTo>
                      <a:cubicBezTo>
                        <a:pt x="818" y="461"/>
                        <a:pt x="823" y="444"/>
                        <a:pt x="804" y="441"/>
                      </a:cubicBezTo>
                      <a:cubicBezTo>
                        <a:pt x="786" y="438"/>
                        <a:pt x="787" y="442"/>
                        <a:pt x="784" y="442"/>
                      </a:cubicBezTo>
                      <a:cubicBezTo>
                        <a:pt x="780" y="443"/>
                        <a:pt x="786" y="428"/>
                        <a:pt x="780" y="423"/>
                      </a:cubicBezTo>
                      <a:cubicBezTo>
                        <a:pt x="774" y="418"/>
                        <a:pt x="774" y="418"/>
                        <a:pt x="774" y="418"/>
                      </a:cubicBezTo>
                      <a:cubicBezTo>
                        <a:pt x="774" y="418"/>
                        <a:pt x="790" y="417"/>
                        <a:pt x="780" y="398"/>
                      </a:cubicBezTo>
                      <a:cubicBezTo>
                        <a:pt x="776" y="389"/>
                        <a:pt x="761" y="391"/>
                        <a:pt x="758" y="393"/>
                      </a:cubicBezTo>
                      <a:cubicBezTo>
                        <a:pt x="758" y="393"/>
                        <a:pt x="774" y="377"/>
                        <a:pt x="759" y="368"/>
                      </a:cubicBezTo>
                      <a:cubicBezTo>
                        <a:pt x="745" y="358"/>
                        <a:pt x="736" y="364"/>
                        <a:pt x="732" y="367"/>
                      </a:cubicBezTo>
                      <a:cubicBezTo>
                        <a:pt x="728" y="370"/>
                        <a:pt x="736" y="346"/>
                        <a:pt x="722" y="346"/>
                      </a:cubicBezTo>
                      <a:cubicBezTo>
                        <a:pt x="707" y="346"/>
                        <a:pt x="706" y="350"/>
                        <a:pt x="706" y="350"/>
                      </a:cubicBezTo>
                      <a:cubicBezTo>
                        <a:pt x="705" y="351"/>
                        <a:pt x="706" y="330"/>
                        <a:pt x="687" y="333"/>
                      </a:cubicBezTo>
                      <a:cubicBezTo>
                        <a:pt x="668" y="336"/>
                        <a:pt x="681" y="336"/>
                        <a:pt x="681" y="336"/>
                      </a:cubicBezTo>
                      <a:cubicBezTo>
                        <a:pt x="681" y="336"/>
                        <a:pt x="677" y="323"/>
                        <a:pt x="665" y="323"/>
                      </a:cubicBezTo>
                      <a:cubicBezTo>
                        <a:pt x="652" y="324"/>
                        <a:pt x="648" y="329"/>
                        <a:pt x="648" y="333"/>
                      </a:cubicBezTo>
                      <a:cubicBezTo>
                        <a:pt x="648" y="336"/>
                        <a:pt x="639" y="315"/>
                        <a:pt x="625" y="317"/>
                      </a:cubicBezTo>
                      <a:cubicBezTo>
                        <a:pt x="611" y="319"/>
                        <a:pt x="596" y="324"/>
                        <a:pt x="595" y="340"/>
                      </a:cubicBezTo>
                      <a:cubicBezTo>
                        <a:pt x="593" y="356"/>
                        <a:pt x="596" y="352"/>
                        <a:pt x="598" y="354"/>
                      </a:cubicBezTo>
                      <a:cubicBezTo>
                        <a:pt x="600" y="356"/>
                        <a:pt x="586" y="350"/>
                        <a:pt x="581" y="358"/>
                      </a:cubicBezTo>
                      <a:cubicBezTo>
                        <a:pt x="576" y="367"/>
                        <a:pt x="569" y="362"/>
                        <a:pt x="563" y="360"/>
                      </a:cubicBezTo>
                      <a:cubicBezTo>
                        <a:pt x="558" y="358"/>
                        <a:pt x="540" y="357"/>
                        <a:pt x="537" y="382"/>
                      </a:cubicBezTo>
                      <a:cubicBezTo>
                        <a:pt x="537" y="382"/>
                        <a:pt x="518" y="364"/>
                        <a:pt x="512" y="387"/>
                      </a:cubicBezTo>
                      <a:cubicBezTo>
                        <a:pt x="505" y="411"/>
                        <a:pt x="521" y="420"/>
                        <a:pt x="533" y="424"/>
                      </a:cubicBezTo>
                      <a:cubicBezTo>
                        <a:pt x="538" y="426"/>
                        <a:pt x="535" y="429"/>
                        <a:pt x="536" y="432"/>
                      </a:cubicBezTo>
                      <a:cubicBezTo>
                        <a:pt x="536" y="435"/>
                        <a:pt x="546" y="439"/>
                        <a:pt x="545" y="450"/>
                      </a:cubicBezTo>
                      <a:cubicBezTo>
                        <a:pt x="544" y="462"/>
                        <a:pt x="534" y="451"/>
                        <a:pt x="531" y="447"/>
                      </a:cubicBezTo>
                      <a:cubicBezTo>
                        <a:pt x="529" y="444"/>
                        <a:pt x="519" y="424"/>
                        <a:pt x="506" y="426"/>
                      </a:cubicBezTo>
                      <a:cubicBezTo>
                        <a:pt x="492" y="427"/>
                        <a:pt x="491" y="438"/>
                        <a:pt x="496" y="449"/>
                      </a:cubicBezTo>
                      <a:cubicBezTo>
                        <a:pt x="499" y="456"/>
                        <a:pt x="481" y="435"/>
                        <a:pt x="483" y="465"/>
                      </a:cubicBezTo>
                      <a:cubicBezTo>
                        <a:pt x="483" y="465"/>
                        <a:pt x="484" y="499"/>
                        <a:pt x="503" y="486"/>
                      </a:cubicBezTo>
                      <a:cubicBezTo>
                        <a:pt x="522" y="474"/>
                        <a:pt x="512" y="483"/>
                        <a:pt x="512" y="483"/>
                      </a:cubicBezTo>
                      <a:cubicBezTo>
                        <a:pt x="512" y="483"/>
                        <a:pt x="511" y="491"/>
                        <a:pt x="519" y="497"/>
                      </a:cubicBezTo>
                      <a:cubicBezTo>
                        <a:pt x="528" y="503"/>
                        <a:pt x="486" y="489"/>
                        <a:pt x="507" y="519"/>
                      </a:cubicBezTo>
                      <a:cubicBezTo>
                        <a:pt x="528" y="548"/>
                        <a:pt x="522" y="541"/>
                        <a:pt x="522" y="541"/>
                      </a:cubicBezTo>
                      <a:cubicBezTo>
                        <a:pt x="522" y="541"/>
                        <a:pt x="538" y="557"/>
                        <a:pt x="521" y="552"/>
                      </a:cubicBezTo>
                      <a:close/>
                    </a:path>
                  </a:pathLst>
                </a:custGeom>
                <a:solidFill>
                  <a:schemeClr val="bg1">
                    <a:lumMod val="8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82" name="Freeform 383">
                  <a:extLst>
                    <a:ext uri="{FF2B5EF4-FFF2-40B4-BE49-F238E27FC236}">
                      <a16:creationId xmlns:a16="http://schemas.microsoft.com/office/drawing/2014/main" id="{6B451DD6-A6C4-4ECD-8E21-BA190C05D00E}"/>
                    </a:ext>
                  </a:extLst>
                </p:cNvPr>
                <p:cNvSpPr>
                  <a:spLocks/>
                </p:cNvSpPr>
                <p:nvPr/>
              </p:nvSpPr>
              <p:spPr bwMode="auto">
                <a:xfrm>
                  <a:off x="3446034" y="3646043"/>
                  <a:ext cx="34241" cy="64501"/>
                </a:xfrm>
                <a:custGeom>
                  <a:avLst/>
                  <a:gdLst>
                    <a:gd name="T0" fmla="*/ 26 w 46"/>
                    <a:gd name="T1" fmla="*/ 0 h 86"/>
                    <a:gd name="T2" fmla="*/ 13 w 46"/>
                    <a:gd name="T3" fmla="*/ 18 h 86"/>
                    <a:gd name="T4" fmla="*/ 22 w 46"/>
                    <a:gd name="T5" fmla="*/ 32 h 86"/>
                    <a:gd name="T6" fmla="*/ 8 w 46"/>
                    <a:gd name="T7" fmla="*/ 56 h 86"/>
                    <a:gd name="T8" fmla="*/ 8 w 46"/>
                    <a:gd name="T9" fmla="*/ 74 h 86"/>
                    <a:gd name="T10" fmla="*/ 2 w 46"/>
                    <a:gd name="T11" fmla="*/ 86 h 86"/>
                    <a:gd name="T12" fmla="*/ 22 w 46"/>
                    <a:gd name="T13" fmla="*/ 71 h 86"/>
                    <a:gd name="T14" fmla="*/ 23 w 46"/>
                    <a:gd name="T15" fmla="*/ 54 h 86"/>
                    <a:gd name="T16" fmla="*/ 37 w 46"/>
                    <a:gd name="T17" fmla="*/ 50 h 86"/>
                    <a:gd name="T18" fmla="*/ 33 w 46"/>
                    <a:gd name="T19" fmla="*/ 38 h 86"/>
                    <a:gd name="T20" fmla="*/ 42 w 46"/>
                    <a:gd name="T21" fmla="*/ 29 h 86"/>
                    <a:gd name="T22" fmla="*/ 26 w 46"/>
                    <a:gd name="T23"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6" h="86">
                      <a:moveTo>
                        <a:pt x="26" y="0"/>
                      </a:moveTo>
                      <a:cubicBezTo>
                        <a:pt x="26" y="0"/>
                        <a:pt x="26" y="10"/>
                        <a:pt x="13" y="18"/>
                      </a:cubicBezTo>
                      <a:cubicBezTo>
                        <a:pt x="0" y="25"/>
                        <a:pt x="22" y="20"/>
                        <a:pt x="22" y="32"/>
                      </a:cubicBezTo>
                      <a:cubicBezTo>
                        <a:pt x="22" y="45"/>
                        <a:pt x="12" y="54"/>
                        <a:pt x="8" y="56"/>
                      </a:cubicBezTo>
                      <a:cubicBezTo>
                        <a:pt x="4" y="58"/>
                        <a:pt x="10" y="65"/>
                        <a:pt x="8" y="74"/>
                      </a:cubicBezTo>
                      <a:cubicBezTo>
                        <a:pt x="6" y="83"/>
                        <a:pt x="2" y="86"/>
                        <a:pt x="2" y="86"/>
                      </a:cubicBezTo>
                      <a:cubicBezTo>
                        <a:pt x="2" y="86"/>
                        <a:pt x="13" y="72"/>
                        <a:pt x="22" y="71"/>
                      </a:cubicBezTo>
                      <a:cubicBezTo>
                        <a:pt x="32" y="70"/>
                        <a:pt x="14" y="69"/>
                        <a:pt x="23" y="54"/>
                      </a:cubicBezTo>
                      <a:cubicBezTo>
                        <a:pt x="29" y="46"/>
                        <a:pt x="33" y="49"/>
                        <a:pt x="37" y="50"/>
                      </a:cubicBezTo>
                      <a:cubicBezTo>
                        <a:pt x="41" y="50"/>
                        <a:pt x="29" y="44"/>
                        <a:pt x="33" y="38"/>
                      </a:cubicBezTo>
                      <a:cubicBezTo>
                        <a:pt x="36" y="32"/>
                        <a:pt x="38" y="30"/>
                        <a:pt x="42" y="29"/>
                      </a:cubicBezTo>
                      <a:cubicBezTo>
                        <a:pt x="46" y="28"/>
                        <a:pt x="22" y="27"/>
                        <a:pt x="26" y="0"/>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83" name="Freeform 384">
                  <a:extLst>
                    <a:ext uri="{FF2B5EF4-FFF2-40B4-BE49-F238E27FC236}">
                      <a16:creationId xmlns:a16="http://schemas.microsoft.com/office/drawing/2014/main" id="{03B40DAD-CBA7-475F-A26F-A7736FD843AE}"/>
                    </a:ext>
                  </a:extLst>
                </p:cNvPr>
                <p:cNvSpPr>
                  <a:spLocks/>
                </p:cNvSpPr>
                <p:nvPr/>
              </p:nvSpPr>
              <p:spPr bwMode="auto">
                <a:xfrm>
                  <a:off x="3311459" y="3627728"/>
                  <a:ext cx="240483" cy="276317"/>
                </a:xfrm>
                <a:custGeom>
                  <a:avLst/>
                  <a:gdLst>
                    <a:gd name="T0" fmla="*/ 104 w 320"/>
                    <a:gd name="T1" fmla="*/ 35 h 367"/>
                    <a:gd name="T2" fmla="*/ 99 w 320"/>
                    <a:gd name="T3" fmla="*/ 58 h 367"/>
                    <a:gd name="T4" fmla="*/ 117 w 320"/>
                    <a:gd name="T5" fmla="*/ 99 h 367"/>
                    <a:gd name="T6" fmla="*/ 115 w 320"/>
                    <a:gd name="T7" fmla="*/ 143 h 367"/>
                    <a:gd name="T8" fmla="*/ 62 w 320"/>
                    <a:gd name="T9" fmla="*/ 127 h 367"/>
                    <a:gd name="T10" fmla="*/ 18 w 320"/>
                    <a:gd name="T11" fmla="*/ 136 h 367"/>
                    <a:gd name="T12" fmla="*/ 19 w 320"/>
                    <a:gd name="T13" fmla="*/ 154 h 367"/>
                    <a:gd name="T14" fmla="*/ 9 w 320"/>
                    <a:gd name="T15" fmla="*/ 181 h 367"/>
                    <a:gd name="T16" fmla="*/ 4 w 320"/>
                    <a:gd name="T17" fmla="*/ 195 h 367"/>
                    <a:gd name="T18" fmla="*/ 22 w 320"/>
                    <a:gd name="T19" fmla="*/ 200 h 367"/>
                    <a:gd name="T20" fmla="*/ 33 w 320"/>
                    <a:gd name="T21" fmla="*/ 222 h 367"/>
                    <a:gd name="T22" fmla="*/ 23 w 320"/>
                    <a:gd name="T23" fmla="*/ 248 h 367"/>
                    <a:gd name="T24" fmla="*/ 52 w 320"/>
                    <a:gd name="T25" fmla="*/ 248 h 367"/>
                    <a:gd name="T26" fmla="*/ 51 w 320"/>
                    <a:gd name="T27" fmla="*/ 285 h 367"/>
                    <a:gd name="T28" fmla="*/ 31 w 320"/>
                    <a:gd name="T29" fmla="*/ 313 h 367"/>
                    <a:gd name="T30" fmla="*/ 69 w 320"/>
                    <a:gd name="T31" fmla="*/ 312 h 367"/>
                    <a:gd name="T32" fmla="*/ 67 w 320"/>
                    <a:gd name="T33" fmla="*/ 287 h 367"/>
                    <a:gd name="T34" fmla="*/ 74 w 320"/>
                    <a:gd name="T35" fmla="*/ 261 h 367"/>
                    <a:gd name="T36" fmla="*/ 103 w 320"/>
                    <a:gd name="T37" fmla="*/ 243 h 367"/>
                    <a:gd name="T38" fmla="*/ 109 w 320"/>
                    <a:gd name="T39" fmla="*/ 268 h 367"/>
                    <a:gd name="T40" fmla="*/ 127 w 320"/>
                    <a:gd name="T41" fmla="*/ 294 h 367"/>
                    <a:gd name="T42" fmla="*/ 136 w 320"/>
                    <a:gd name="T43" fmla="*/ 328 h 367"/>
                    <a:gd name="T44" fmla="*/ 145 w 320"/>
                    <a:gd name="T45" fmla="*/ 353 h 367"/>
                    <a:gd name="T46" fmla="*/ 166 w 320"/>
                    <a:gd name="T47" fmla="*/ 340 h 367"/>
                    <a:gd name="T48" fmla="*/ 190 w 320"/>
                    <a:gd name="T49" fmla="*/ 335 h 367"/>
                    <a:gd name="T50" fmla="*/ 163 w 320"/>
                    <a:gd name="T51" fmla="*/ 311 h 367"/>
                    <a:gd name="T52" fmla="*/ 148 w 320"/>
                    <a:gd name="T53" fmla="*/ 285 h 367"/>
                    <a:gd name="T54" fmla="*/ 139 w 320"/>
                    <a:gd name="T55" fmla="*/ 259 h 367"/>
                    <a:gd name="T56" fmla="*/ 149 w 320"/>
                    <a:gd name="T57" fmla="*/ 229 h 367"/>
                    <a:gd name="T58" fmla="*/ 175 w 320"/>
                    <a:gd name="T59" fmla="*/ 248 h 367"/>
                    <a:gd name="T60" fmla="*/ 204 w 320"/>
                    <a:gd name="T61" fmla="*/ 268 h 367"/>
                    <a:gd name="T62" fmla="*/ 219 w 320"/>
                    <a:gd name="T63" fmla="*/ 295 h 367"/>
                    <a:gd name="T64" fmla="*/ 274 w 320"/>
                    <a:gd name="T65" fmla="*/ 297 h 367"/>
                    <a:gd name="T66" fmla="*/ 234 w 320"/>
                    <a:gd name="T67" fmla="*/ 284 h 367"/>
                    <a:gd name="T68" fmla="*/ 217 w 320"/>
                    <a:gd name="T69" fmla="*/ 249 h 367"/>
                    <a:gd name="T70" fmla="*/ 214 w 320"/>
                    <a:gd name="T71" fmla="*/ 204 h 367"/>
                    <a:gd name="T72" fmla="*/ 237 w 320"/>
                    <a:gd name="T73" fmla="*/ 214 h 367"/>
                    <a:gd name="T74" fmla="*/ 270 w 320"/>
                    <a:gd name="T75" fmla="*/ 226 h 367"/>
                    <a:gd name="T76" fmla="*/ 311 w 320"/>
                    <a:gd name="T77" fmla="*/ 213 h 367"/>
                    <a:gd name="T78" fmla="*/ 252 w 320"/>
                    <a:gd name="T79" fmla="*/ 212 h 367"/>
                    <a:gd name="T80" fmla="*/ 230 w 320"/>
                    <a:gd name="T81" fmla="*/ 170 h 367"/>
                    <a:gd name="T82" fmla="*/ 154 w 320"/>
                    <a:gd name="T83" fmla="*/ 206 h 367"/>
                    <a:gd name="T84" fmla="*/ 181 w 320"/>
                    <a:gd name="T85" fmla="*/ 146 h 367"/>
                    <a:gd name="T86" fmla="*/ 140 w 320"/>
                    <a:gd name="T87" fmla="*/ 110 h 367"/>
                    <a:gd name="T88" fmla="*/ 142 w 320"/>
                    <a:gd name="T89" fmla="*/ 4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67">
                      <a:moveTo>
                        <a:pt x="136" y="0"/>
                      </a:moveTo>
                      <a:cubicBezTo>
                        <a:pt x="136" y="0"/>
                        <a:pt x="125" y="46"/>
                        <a:pt x="104" y="35"/>
                      </a:cubicBezTo>
                      <a:cubicBezTo>
                        <a:pt x="89" y="28"/>
                        <a:pt x="96" y="42"/>
                        <a:pt x="96" y="42"/>
                      </a:cubicBezTo>
                      <a:cubicBezTo>
                        <a:pt x="96" y="42"/>
                        <a:pt x="104" y="48"/>
                        <a:pt x="99" y="58"/>
                      </a:cubicBezTo>
                      <a:cubicBezTo>
                        <a:pt x="95" y="66"/>
                        <a:pt x="113" y="53"/>
                        <a:pt x="119" y="85"/>
                      </a:cubicBezTo>
                      <a:cubicBezTo>
                        <a:pt x="121" y="93"/>
                        <a:pt x="119" y="94"/>
                        <a:pt x="117" y="99"/>
                      </a:cubicBezTo>
                      <a:cubicBezTo>
                        <a:pt x="115" y="103"/>
                        <a:pt x="115" y="104"/>
                        <a:pt x="120" y="113"/>
                      </a:cubicBezTo>
                      <a:cubicBezTo>
                        <a:pt x="120" y="113"/>
                        <a:pt x="128" y="130"/>
                        <a:pt x="115" y="143"/>
                      </a:cubicBezTo>
                      <a:cubicBezTo>
                        <a:pt x="102" y="157"/>
                        <a:pt x="90" y="150"/>
                        <a:pt x="83" y="144"/>
                      </a:cubicBezTo>
                      <a:cubicBezTo>
                        <a:pt x="76" y="137"/>
                        <a:pt x="65" y="130"/>
                        <a:pt x="62" y="127"/>
                      </a:cubicBezTo>
                      <a:cubicBezTo>
                        <a:pt x="59" y="125"/>
                        <a:pt x="52" y="119"/>
                        <a:pt x="47" y="131"/>
                      </a:cubicBezTo>
                      <a:cubicBezTo>
                        <a:pt x="42" y="143"/>
                        <a:pt x="27" y="143"/>
                        <a:pt x="18" y="136"/>
                      </a:cubicBezTo>
                      <a:cubicBezTo>
                        <a:pt x="8" y="130"/>
                        <a:pt x="7" y="128"/>
                        <a:pt x="7" y="128"/>
                      </a:cubicBezTo>
                      <a:cubicBezTo>
                        <a:pt x="7" y="128"/>
                        <a:pt x="25" y="145"/>
                        <a:pt x="19" y="154"/>
                      </a:cubicBezTo>
                      <a:cubicBezTo>
                        <a:pt x="14" y="163"/>
                        <a:pt x="9" y="163"/>
                        <a:pt x="9" y="163"/>
                      </a:cubicBezTo>
                      <a:cubicBezTo>
                        <a:pt x="9" y="163"/>
                        <a:pt x="18" y="174"/>
                        <a:pt x="9" y="181"/>
                      </a:cubicBezTo>
                      <a:cubicBezTo>
                        <a:pt x="0" y="188"/>
                        <a:pt x="5" y="181"/>
                        <a:pt x="4" y="186"/>
                      </a:cubicBezTo>
                      <a:cubicBezTo>
                        <a:pt x="3" y="190"/>
                        <a:pt x="4" y="195"/>
                        <a:pt x="4" y="195"/>
                      </a:cubicBezTo>
                      <a:cubicBezTo>
                        <a:pt x="4" y="195"/>
                        <a:pt x="3" y="196"/>
                        <a:pt x="10" y="197"/>
                      </a:cubicBezTo>
                      <a:cubicBezTo>
                        <a:pt x="17" y="198"/>
                        <a:pt x="17" y="198"/>
                        <a:pt x="22" y="200"/>
                      </a:cubicBezTo>
                      <a:cubicBezTo>
                        <a:pt x="27" y="202"/>
                        <a:pt x="33" y="202"/>
                        <a:pt x="33" y="202"/>
                      </a:cubicBezTo>
                      <a:cubicBezTo>
                        <a:pt x="33" y="202"/>
                        <a:pt x="46" y="207"/>
                        <a:pt x="33" y="222"/>
                      </a:cubicBezTo>
                      <a:cubicBezTo>
                        <a:pt x="26" y="230"/>
                        <a:pt x="25" y="222"/>
                        <a:pt x="12" y="235"/>
                      </a:cubicBezTo>
                      <a:cubicBezTo>
                        <a:pt x="3" y="243"/>
                        <a:pt x="12" y="256"/>
                        <a:pt x="23" y="248"/>
                      </a:cubicBezTo>
                      <a:cubicBezTo>
                        <a:pt x="23" y="248"/>
                        <a:pt x="31" y="236"/>
                        <a:pt x="42" y="236"/>
                      </a:cubicBezTo>
                      <a:cubicBezTo>
                        <a:pt x="52" y="235"/>
                        <a:pt x="54" y="241"/>
                        <a:pt x="52" y="248"/>
                      </a:cubicBezTo>
                      <a:cubicBezTo>
                        <a:pt x="51" y="255"/>
                        <a:pt x="45" y="255"/>
                        <a:pt x="52" y="261"/>
                      </a:cubicBezTo>
                      <a:cubicBezTo>
                        <a:pt x="58" y="267"/>
                        <a:pt x="57" y="277"/>
                        <a:pt x="51" y="285"/>
                      </a:cubicBezTo>
                      <a:cubicBezTo>
                        <a:pt x="44" y="292"/>
                        <a:pt x="46" y="288"/>
                        <a:pt x="46" y="291"/>
                      </a:cubicBezTo>
                      <a:cubicBezTo>
                        <a:pt x="46" y="294"/>
                        <a:pt x="54" y="307"/>
                        <a:pt x="31" y="313"/>
                      </a:cubicBezTo>
                      <a:cubicBezTo>
                        <a:pt x="31" y="313"/>
                        <a:pt x="45" y="318"/>
                        <a:pt x="45" y="323"/>
                      </a:cubicBezTo>
                      <a:cubicBezTo>
                        <a:pt x="45" y="323"/>
                        <a:pt x="51" y="301"/>
                        <a:pt x="69" y="312"/>
                      </a:cubicBezTo>
                      <a:cubicBezTo>
                        <a:pt x="69" y="312"/>
                        <a:pt x="69" y="303"/>
                        <a:pt x="66" y="300"/>
                      </a:cubicBezTo>
                      <a:cubicBezTo>
                        <a:pt x="62" y="297"/>
                        <a:pt x="66" y="290"/>
                        <a:pt x="67" y="287"/>
                      </a:cubicBezTo>
                      <a:cubicBezTo>
                        <a:pt x="68" y="284"/>
                        <a:pt x="65" y="278"/>
                        <a:pt x="65" y="275"/>
                      </a:cubicBezTo>
                      <a:cubicBezTo>
                        <a:pt x="65" y="272"/>
                        <a:pt x="64" y="267"/>
                        <a:pt x="74" y="261"/>
                      </a:cubicBezTo>
                      <a:cubicBezTo>
                        <a:pt x="74" y="261"/>
                        <a:pt x="55" y="252"/>
                        <a:pt x="72" y="236"/>
                      </a:cubicBezTo>
                      <a:cubicBezTo>
                        <a:pt x="89" y="220"/>
                        <a:pt x="102" y="238"/>
                        <a:pt x="103" y="243"/>
                      </a:cubicBezTo>
                      <a:cubicBezTo>
                        <a:pt x="103" y="249"/>
                        <a:pt x="105" y="249"/>
                        <a:pt x="103" y="254"/>
                      </a:cubicBezTo>
                      <a:cubicBezTo>
                        <a:pt x="101" y="260"/>
                        <a:pt x="102" y="265"/>
                        <a:pt x="109" y="268"/>
                      </a:cubicBezTo>
                      <a:cubicBezTo>
                        <a:pt x="116" y="270"/>
                        <a:pt x="118" y="273"/>
                        <a:pt x="117" y="285"/>
                      </a:cubicBezTo>
                      <a:cubicBezTo>
                        <a:pt x="117" y="291"/>
                        <a:pt x="118" y="287"/>
                        <a:pt x="127" y="294"/>
                      </a:cubicBezTo>
                      <a:cubicBezTo>
                        <a:pt x="127" y="294"/>
                        <a:pt x="146" y="306"/>
                        <a:pt x="133" y="321"/>
                      </a:cubicBezTo>
                      <a:cubicBezTo>
                        <a:pt x="131" y="323"/>
                        <a:pt x="132" y="326"/>
                        <a:pt x="136" y="328"/>
                      </a:cubicBezTo>
                      <a:cubicBezTo>
                        <a:pt x="136" y="328"/>
                        <a:pt x="152" y="333"/>
                        <a:pt x="148" y="346"/>
                      </a:cubicBezTo>
                      <a:cubicBezTo>
                        <a:pt x="144" y="360"/>
                        <a:pt x="145" y="353"/>
                        <a:pt x="145" y="353"/>
                      </a:cubicBezTo>
                      <a:cubicBezTo>
                        <a:pt x="158" y="359"/>
                        <a:pt x="158" y="359"/>
                        <a:pt x="158" y="359"/>
                      </a:cubicBezTo>
                      <a:cubicBezTo>
                        <a:pt x="158" y="359"/>
                        <a:pt x="155" y="342"/>
                        <a:pt x="166" y="340"/>
                      </a:cubicBezTo>
                      <a:cubicBezTo>
                        <a:pt x="166" y="340"/>
                        <a:pt x="189" y="340"/>
                        <a:pt x="190" y="354"/>
                      </a:cubicBezTo>
                      <a:cubicBezTo>
                        <a:pt x="191" y="367"/>
                        <a:pt x="190" y="335"/>
                        <a:pt x="190" y="335"/>
                      </a:cubicBezTo>
                      <a:cubicBezTo>
                        <a:pt x="190" y="335"/>
                        <a:pt x="171" y="338"/>
                        <a:pt x="171" y="317"/>
                      </a:cubicBezTo>
                      <a:cubicBezTo>
                        <a:pt x="171" y="316"/>
                        <a:pt x="168" y="314"/>
                        <a:pt x="163" y="311"/>
                      </a:cubicBezTo>
                      <a:cubicBezTo>
                        <a:pt x="159" y="309"/>
                        <a:pt x="152" y="300"/>
                        <a:pt x="155" y="290"/>
                      </a:cubicBezTo>
                      <a:cubicBezTo>
                        <a:pt x="155" y="290"/>
                        <a:pt x="156" y="288"/>
                        <a:pt x="148" y="285"/>
                      </a:cubicBezTo>
                      <a:cubicBezTo>
                        <a:pt x="141" y="282"/>
                        <a:pt x="131" y="276"/>
                        <a:pt x="133" y="269"/>
                      </a:cubicBezTo>
                      <a:cubicBezTo>
                        <a:pt x="135" y="261"/>
                        <a:pt x="137" y="260"/>
                        <a:pt x="139" y="259"/>
                      </a:cubicBezTo>
                      <a:cubicBezTo>
                        <a:pt x="141" y="258"/>
                        <a:pt x="140" y="253"/>
                        <a:pt x="135" y="250"/>
                      </a:cubicBezTo>
                      <a:cubicBezTo>
                        <a:pt x="131" y="246"/>
                        <a:pt x="128" y="229"/>
                        <a:pt x="149" y="229"/>
                      </a:cubicBezTo>
                      <a:cubicBezTo>
                        <a:pt x="169" y="228"/>
                        <a:pt x="175" y="237"/>
                        <a:pt x="175" y="245"/>
                      </a:cubicBezTo>
                      <a:cubicBezTo>
                        <a:pt x="175" y="253"/>
                        <a:pt x="175" y="248"/>
                        <a:pt x="175" y="248"/>
                      </a:cubicBezTo>
                      <a:cubicBezTo>
                        <a:pt x="175" y="248"/>
                        <a:pt x="196" y="240"/>
                        <a:pt x="193" y="263"/>
                      </a:cubicBezTo>
                      <a:cubicBezTo>
                        <a:pt x="204" y="268"/>
                        <a:pt x="204" y="268"/>
                        <a:pt x="204" y="268"/>
                      </a:cubicBezTo>
                      <a:cubicBezTo>
                        <a:pt x="204" y="268"/>
                        <a:pt x="211" y="275"/>
                        <a:pt x="208" y="290"/>
                      </a:cubicBezTo>
                      <a:cubicBezTo>
                        <a:pt x="207" y="296"/>
                        <a:pt x="209" y="292"/>
                        <a:pt x="219" y="295"/>
                      </a:cubicBezTo>
                      <a:cubicBezTo>
                        <a:pt x="229" y="297"/>
                        <a:pt x="246" y="290"/>
                        <a:pt x="249" y="321"/>
                      </a:cubicBezTo>
                      <a:cubicBezTo>
                        <a:pt x="250" y="332"/>
                        <a:pt x="244" y="302"/>
                        <a:pt x="274" y="297"/>
                      </a:cubicBezTo>
                      <a:cubicBezTo>
                        <a:pt x="281" y="295"/>
                        <a:pt x="245" y="303"/>
                        <a:pt x="252" y="283"/>
                      </a:cubicBezTo>
                      <a:cubicBezTo>
                        <a:pt x="253" y="282"/>
                        <a:pt x="243" y="293"/>
                        <a:pt x="234" y="284"/>
                      </a:cubicBezTo>
                      <a:cubicBezTo>
                        <a:pt x="225" y="274"/>
                        <a:pt x="218" y="267"/>
                        <a:pt x="218" y="267"/>
                      </a:cubicBezTo>
                      <a:cubicBezTo>
                        <a:pt x="218" y="267"/>
                        <a:pt x="214" y="261"/>
                        <a:pt x="217" y="249"/>
                      </a:cubicBezTo>
                      <a:cubicBezTo>
                        <a:pt x="220" y="238"/>
                        <a:pt x="197" y="261"/>
                        <a:pt x="189" y="231"/>
                      </a:cubicBezTo>
                      <a:cubicBezTo>
                        <a:pt x="182" y="205"/>
                        <a:pt x="214" y="205"/>
                        <a:pt x="214" y="204"/>
                      </a:cubicBezTo>
                      <a:cubicBezTo>
                        <a:pt x="214" y="204"/>
                        <a:pt x="219" y="206"/>
                        <a:pt x="223" y="210"/>
                      </a:cubicBezTo>
                      <a:cubicBezTo>
                        <a:pt x="227" y="214"/>
                        <a:pt x="229" y="215"/>
                        <a:pt x="237" y="214"/>
                      </a:cubicBezTo>
                      <a:cubicBezTo>
                        <a:pt x="245" y="214"/>
                        <a:pt x="242" y="214"/>
                        <a:pt x="249" y="219"/>
                      </a:cubicBezTo>
                      <a:cubicBezTo>
                        <a:pt x="256" y="225"/>
                        <a:pt x="257" y="235"/>
                        <a:pt x="270" y="226"/>
                      </a:cubicBezTo>
                      <a:cubicBezTo>
                        <a:pt x="282" y="216"/>
                        <a:pt x="293" y="227"/>
                        <a:pt x="303" y="235"/>
                      </a:cubicBezTo>
                      <a:cubicBezTo>
                        <a:pt x="306" y="238"/>
                        <a:pt x="295" y="226"/>
                        <a:pt x="311" y="213"/>
                      </a:cubicBezTo>
                      <a:cubicBezTo>
                        <a:pt x="320" y="206"/>
                        <a:pt x="295" y="223"/>
                        <a:pt x="286" y="206"/>
                      </a:cubicBezTo>
                      <a:cubicBezTo>
                        <a:pt x="286" y="206"/>
                        <a:pt x="263" y="220"/>
                        <a:pt x="252" y="212"/>
                      </a:cubicBezTo>
                      <a:cubicBezTo>
                        <a:pt x="241" y="203"/>
                        <a:pt x="245" y="190"/>
                        <a:pt x="248" y="187"/>
                      </a:cubicBezTo>
                      <a:cubicBezTo>
                        <a:pt x="249" y="186"/>
                        <a:pt x="229" y="193"/>
                        <a:pt x="230" y="170"/>
                      </a:cubicBezTo>
                      <a:cubicBezTo>
                        <a:pt x="230" y="165"/>
                        <a:pt x="234" y="189"/>
                        <a:pt x="196" y="187"/>
                      </a:cubicBezTo>
                      <a:cubicBezTo>
                        <a:pt x="196" y="187"/>
                        <a:pt x="181" y="215"/>
                        <a:pt x="154" y="206"/>
                      </a:cubicBezTo>
                      <a:cubicBezTo>
                        <a:pt x="127" y="196"/>
                        <a:pt x="139" y="169"/>
                        <a:pt x="157" y="160"/>
                      </a:cubicBezTo>
                      <a:cubicBezTo>
                        <a:pt x="176" y="150"/>
                        <a:pt x="181" y="146"/>
                        <a:pt x="181" y="146"/>
                      </a:cubicBezTo>
                      <a:cubicBezTo>
                        <a:pt x="181" y="146"/>
                        <a:pt x="160" y="147"/>
                        <a:pt x="176" y="119"/>
                      </a:cubicBezTo>
                      <a:cubicBezTo>
                        <a:pt x="176" y="119"/>
                        <a:pt x="143" y="131"/>
                        <a:pt x="140" y="110"/>
                      </a:cubicBezTo>
                      <a:cubicBezTo>
                        <a:pt x="136" y="79"/>
                        <a:pt x="142" y="80"/>
                        <a:pt x="144" y="75"/>
                      </a:cubicBezTo>
                      <a:cubicBezTo>
                        <a:pt x="144" y="75"/>
                        <a:pt x="119" y="70"/>
                        <a:pt x="142" y="40"/>
                      </a:cubicBezTo>
                      <a:cubicBezTo>
                        <a:pt x="142" y="40"/>
                        <a:pt x="120" y="48"/>
                        <a:pt x="136" y="0"/>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84" name="Freeform 385">
                  <a:extLst>
                    <a:ext uri="{FF2B5EF4-FFF2-40B4-BE49-F238E27FC236}">
                      <a16:creationId xmlns:a16="http://schemas.microsoft.com/office/drawing/2014/main" id="{E84B81ED-A3C9-4363-8E7F-6142D4740EA4}"/>
                    </a:ext>
                  </a:extLst>
                </p:cNvPr>
                <p:cNvSpPr>
                  <a:spLocks/>
                </p:cNvSpPr>
                <p:nvPr/>
              </p:nvSpPr>
              <p:spPr bwMode="auto">
                <a:xfrm>
                  <a:off x="3418164" y="3617376"/>
                  <a:ext cx="35834" cy="89982"/>
                </a:xfrm>
                <a:custGeom>
                  <a:avLst/>
                  <a:gdLst>
                    <a:gd name="T0" fmla="*/ 31 w 48"/>
                    <a:gd name="T1" fmla="*/ 0 h 120"/>
                    <a:gd name="T2" fmla="*/ 38 w 48"/>
                    <a:gd name="T3" fmla="*/ 31 h 120"/>
                    <a:gd name="T4" fmla="*/ 30 w 48"/>
                    <a:gd name="T5" fmla="*/ 51 h 120"/>
                    <a:gd name="T6" fmla="*/ 37 w 48"/>
                    <a:gd name="T7" fmla="*/ 69 h 120"/>
                    <a:gd name="T8" fmla="*/ 25 w 48"/>
                    <a:gd name="T9" fmla="*/ 100 h 120"/>
                    <a:gd name="T10" fmla="*/ 17 w 48"/>
                    <a:gd name="T11" fmla="*/ 61 h 120"/>
                    <a:gd name="T12" fmla="*/ 10 w 48"/>
                    <a:gd name="T13" fmla="*/ 31 h 120"/>
                    <a:gd name="T14" fmla="*/ 31 w 48"/>
                    <a:gd name="T15" fmla="*/ 0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20">
                      <a:moveTo>
                        <a:pt x="31" y="0"/>
                      </a:moveTo>
                      <a:cubicBezTo>
                        <a:pt x="31" y="0"/>
                        <a:pt x="27" y="21"/>
                        <a:pt x="38" y="31"/>
                      </a:cubicBezTo>
                      <a:cubicBezTo>
                        <a:pt x="48" y="41"/>
                        <a:pt x="28" y="30"/>
                        <a:pt x="30" y="51"/>
                      </a:cubicBezTo>
                      <a:cubicBezTo>
                        <a:pt x="32" y="72"/>
                        <a:pt x="34" y="66"/>
                        <a:pt x="37" y="69"/>
                      </a:cubicBezTo>
                      <a:cubicBezTo>
                        <a:pt x="39" y="73"/>
                        <a:pt x="26" y="81"/>
                        <a:pt x="25" y="100"/>
                      </a:cubicBezTo>
                      <a:cubicBezTo>
                        <a:pt x="23" y="120"/>
                        <a:pt x="26" y="73"/>
                        <a:pt x="17" y="61"/>
                      </a:cubicBezTo>
                      <a:cubicBezTo>
                        <a:pt x="8" y="48"/>
                        <a:pt x="37" y="55"/>
                        <a:pt x="10" y="31"/>
                      </a:cubicBezTo>
                      <a:cubicBezTo>
                        <a:pt x="0" y="22"/>
                        <a:pt x="21" y="38"/>
                        <a:pt x="31" y="0"/>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85" name="Freeform 386">
                  <a:extLst>
                    <a:ext uri="{FF2B5EF4-FFF2-40B4-BE49-F238E27FC236}">
                      <a16:creationId xmlns:a16="http://schemas.microsoft.com/office/drawing/2014/main" id="{27647215-9A30-4649-84FB-2EF433722898}"/>
                    </a:ext>
                  </a:extLst>
                </p:cNvPr>
                <p:cNvSpPr>
                  <a:spLocks/>
                </p:cNvSpPr>
                <p:nvPr/>
              </p:nvSpPr>
              <p:spPr bwMode="auto">
                <a:xfrm>
                  <a:off x="3438868" y="3685062"/>
                  <a:ext cx="76445" cy="78834"/>
                </a:xfrm>
                <a:custGeom>
                  <a:avLst/>
                  <a:gdLst>
                    <a:gd name="T0" fmla="*/ 80 w 101"/>
                    <a:gd name="T1" fmla="*/ 3 h 105"/>
                    <a:gd name="T2" fmla="*/ 53 w 101"/>
                    <a:gd name="T3" fmla="*/ 20 h 105"/>
                    <a:gd name="T4" fmla="*/ 44 w 101"/>
                    <a:gd name="T5" fmla="*/ 51 h 105"/>
                    <a:gd name="T6" fmla="*/ 37 w 101"/>
                    <a:gd name="T7" fmla="*/ 78 h 105"/>
                    <a:gd name="T8" fmla="*/ 10 w 101"/>
                    <a:gd name="T9" fmla="*/ 98 h 105"/>
                    <a:gd name="T10" fmla="*/ 18 w 101"/>
                    <a:gd name="T11" fmla="*/ 101 h 105"/>
                    <a:gd name="T12" fmla="*/ 47 w 101"/>
                    <a:gd name="T13" fmla="*/ 83 h 105"/>
                    <a:gd name="T14" fmla="*/ 50 w 101"/>
                    <a:gd name="T15" fmla="*/ 73 h 105"/>
                    <a:gd name="T16" fmla="*/ 67 w 101"/>
                    <a:gd name="T17" fmla="*/ 52 h 105"/>
                    <a:gd name="T18" fmla="*/ 67 w 101"/>
                    <a:gd name="T19" fmla="*/ 42 h 105"/>
                    <a:gd name="T20" fmla="*/ 76 w 101"/>
                    <a:gd name="T21" fmla="*/ 19 h 105"/>
                    <a:gd name="T22" fmla="*/ 95 w 101"/>
                    <a:gd name="T23" fmla="*/ 2 h 105"/>
                    <a:gd name="T24" fmla="*/ 80 w 101"/>
                    <a:gd name="T25" fmla="*/ 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1" h="105">
                      <a:moveTo>
                        <a:pt x="80" y="3"/>
                      </a:moveTo>
                      <a:cubicBezTo>
                        <a:pt x="80" y="3"/>
                        <a:pt x="74" y="23"/>
                        <a:pt x="53" y="20"/>
                      </a:cubicBezTo>
                      <a:cubicBezTo>
                        <a:pt x="48" y="19"/>
                        <a:pt x="71" y="35"/>
                        <a:pt x="44" y="51"/>
                      </a:cubicBezTo>
                      <a:cubicBezTo>
                        <a:pt x="44" y="51"/>
                        <a:pt x="43" y="71"/>
                        <a:pt x="37" y="78"/>
                      </a:cubicBezTo>
                      <a:cubicBezTo>
                        <a:pt x="31" y="85"/>
                        <a:pt x="21" y="95"/>
                        <a:pt x="10" y="98"/>
                      </a:cubicBezTo>
                      <a:cubicBezTo>
                        <a:pt x="0" y="101"/>
                        <a:pt x="11" y="105"/>
                        <a:pt x="18" y="101"/>
                      </a:cubicBezTo>
                      <a:cubicBezTo>
                        <a:pt x="25" y="97"/>
                        <a:pt x="34" y="85"/>
                        <a:pt x="47" y="83"/>
                      </a:cubicBezTo>
                      <a:cubicBezTo>
                        <a:pt x="60" y="82"/>
                        <a:pt x="51" y="76"/>
                        <a:pt x="50" y="73"/>
                      </a:cubicBezTo>
                      <a:cubicBezTo>
                        <a:pt x="50" y="70"/>
                        <a:pt x="48" y="55"/>
                        <a:pt x="67" y="52"/>
                      </a:cubicBezTo>
                      <a:cubicBezTo>
                        <a:pt x="73" y="51"/>
                        <a:pt x="68" y="44"/>
                        <a:pt x="67" y="42"/>
                      </a:cubicBezTo>
                      <a:cubicBezTo>
                        <a:pt x="66" y="40"/>
                        <a:pt x="63" y="30"/>
                        <a:pt x="76" y="19"/>
                      </a:cubicBezTo>
                      <a:cubicBezTo>
                        <a:pt x="90" y="8"/>
                        <a:pt x="89" y="4"/>
                        <a:pt x="95" y="2"/>
                      </a:cubicBezTo>
                      <a:cubicBezTo>
                        <a:pt x="101" y="0"/>
                        <a:pt x="88" y="4"/>
                        <a:pt x="80" y="3"/>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86" name="Freeform 387">
                  <a:extLst>
                    <a:ext uri="{FF2B5EF4-FFF2-40B4-BE49-F238E27FC236}">
                      <a16:creationId xmlns:a16="http://schemas.microsoft.com/office/drawing/2014/main" id="{8DAEC8E4-5DFC-4906-84FA-D94178165ED1}"/>
                    </a:ext>
                  </a:extLst>
                </p:cNvPr>
                <p:cNvSpPr>
                  <a:spLocks/>
                </p:cNvSpPr>
                <p:nvPr/>
              </p:nvSpPr>
              <p:spPr bwMode="auto">
                <a:xfrm>
                  <a:off x="3339330" y="3622154"/>
                  <a:ext cx="54149" cy="97945"/>
                </a:xfrm>
                <a:custGeom>
                  <a:avLst/>
                  <a:gdLst>
                    <a:gd name="T0" fmla="*/ 16 w 72"/>
                    <a:gd name="T1" fmla="*/ 0 h 130"/>
                    <a:gd name="T2" fmla="*/ 30 w 72"/>
                    <a:gd name="T3" fmla="*/ 29 h 130"/>
                    <a:gd name="T4" fmla="*/ 29 w 72"/>
                    <a:gd name="T5" fmla="*/ 37 h 130"/>
                    <a:gd name="T6" fmla="*/ 47 w 72"/>
                    <a:gd name="T7" fmla="*/ 70 h 130"/>
                    <a:gd name="T8" fmla="*/ 49 w 72"/>
                    <a:gd name="T9" fmla="*/ 81 h 130"/>
                    <a:gd name="T10" fmla="*/ 66 w 72"/>
                    <a:gd name="T11" fmla="*/ 94 h 130"/>
                    <a:gd name="T12" fmla="*/ 65 w 72"/>
                    <a:gd name="T13" fmla="*/ 101 h 130"/>
                    <a:gd name="T14" fmla="*/ 71 w 72"/>
                    <a:gd name="T15" fmla="*/ 128 h 130"/>
                    <a:gd name="T16" fmla="*/ 47 w 72"/>
                    <a:gd name="T17" fmla="*/ 113 h 130"/>
                    <a:gd name="T18" fmla="*/ 47 w 72"/>
                    <a:gd name="T19" fmla="*/ 105 h 130"/>
                    <a:gd name="T20" fmla="*/ 45 w 72"/>
                    <a:gd name="T21" fmla="*/ 92 h 130"/>
                    <a:gd name="T22" fmla="*/ 33 w 72"/>
                    <a:gd name="T23" fmla="*/ 81 h 130"/>
                    <a:gd name="T24" fmla="*/ 28 w 72"/>
                    <a:gd name="T25" fmla="*/ 68 h 130"/>
                    <a:gd name="T26" fmla="*/ 17 w 72"/>
                    <a:gd name="T27" fmla="*/ 41 h 130"/>
                    <a:gd name="T28" fmla="*/ 9 w 72"/>
                    <a:gd name="T29" fmla="*/ 40 h 130"/>
                    <a:gd name="T30" fmla="*/ 8 w 72"/>
                    <a:gd name="T31" fmla="*/ 33 h 130"/>
                    <a:gd name="T32" fmla="*/ 5 w 72"/>
                    <a:gd name="T33" fmla="*/ 12 h 130"/>
                    <a:gd name="T34" fmla="*/ 0 w 72"/>
                    <a:gd name="T35" fmla="*/ 6 h 130"/>
                    <a:gd name="T36" fmla="*/ 16 w 72"/>
                    <a:gd name="T37"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2" h="130">
                      <a:moveTo>
                        <a:pt x="16" y="0"/>
                      </a:moveTo>
                      <a:cubicBezTo>
                        <a:pt x="16" y="0"/>
                        <a:pt x="14" y="11"/>
                        <a:pt x="30" y="29"/>
                      </a:cubicBezTo>
                      <a:cubicBezTo>
                        <a:pt x="33" y="33"/>
                        <a:pt x="30" y="31"/>
                        <a:pt x="29" y="37"/>
                      </a:cubicBezTo>
                      <a:cubicBezTo>
                        <a:pt x="27" y="42"/>
                        <a:pt x="31" y="56"/>
                        <a:pt x="47" y="70"/>
                      </a:cubicBezTo>
                      <a:cubicBezTo>
                        <a:pt x="54" y="76"/>
                        <a:pt x="49" y="79"/>
                        <a:pt x="49" y="81"/>
                      </a:cubicBezTo>
                      <a:cubicBezTo>
                        <a:pt x="49" y="84"/>
                        <a:pt x="49" y="95"/>
                        <a:pt x="66" y="94"/>
                      </a:cubicBezTo>
                      <a:cubicBezTo>
                        <a:pt x="71" y="93"/>
                        <a:pt x="68" y="98"/>
                        <a:pt x="65" y="101"/>
                      </a:cubicBezTo>
                      <a:cubicBezTo>
                        <a:pt x="63" y="103"/>
                        <a:pt x="60" y="114"/>
                        <a:pt x="71" y="128"/>
                      </a:cubicBezTo>
                      <a:cubicBezTo>
                        <a:pt x="72" y="130"/>
                        <a:pt x="62" y="113"/>
                        <a:pt x="47" y="113"/>
                      </a:cubicBezTo>
                      <a:cubicBezTo>
                        <a:pt x="47" y="113"/>
                        <a:pt x="47" y="107"/>
                        <a:pt x="47" y="105"/>
                      </a:cubicBezTo>
                      <a:cubicBezTo>
                        <a:pt x="48" y="103"/>
                        <a:pt x="47" y="97"/>
                        <a:pt x="45" y="92"/>
                      </a:cubicBezTo>
                      <a:cubicBezTo>
                        <a:pt x="42" y="87"/>
                        <a:pt x="36" y="83"/>
                        <a:pt x="33" y="81"/>
                      </a:cubicBezTo>
                      <a:cubicBezTo>
                        <a:pt x="31" y="79"/>
                        <a:pt x="28" y="76"/>
                        <a:pt x="28" y="68"/>
                      </a:cubicBezTo>
                      <a:cubicBezTo>
                        <a:pt x="29" y="59"/>
                        <a:pt x="29" y="46"/>
                        <a:pt x="17" y="41"/>
                      </a:cubicBezTo>
                      <a:cubicBezTo>
                        <a:pt x="11" y="38"/>
                        <a:pt x="11" y="40"/>
                        <a:pt x="9" y="40"/>
                      </a:cubicBezTo>
                      <a:cubicBezTo>
                        <a:pt x="7" y="40"/>
                        <a:pt x="5" y="40"/>
                        <a:pt x="8" y="33"/>
                      </a:cubicBezTo>
                      <a:cubicBezTo>
                        <a:pt x="11" y="25"/>
                        <a:pt x="8" y="17"/>
                        <a:pt x="5" y="12"/>
                      </a:cubicBezTo>
                      <a:cubicBezTo>
                        <a:pt x="2" y="6"/>
                        <a:pt x="0" y="6"/>
                        <a:pt x="0" y="6"/>
                      </a:cubicBezTo>
                      <a:lnTo>
                        <a:pt x="16" y="0"/>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87" name="Freeform 388">
                  <a:extLst>
                    <a:ext uri="{FF2B5EF4-FFF2-40B4-BE49-F238E27FC236}">
                      <a16:creationId xmlns:a16="http://schemas.microsoft.com/office/drawing/2014/main" id="{63E8250A-8B13-493E-B62B-F056767DDDBC}"/>
                    </a:ext>
                  </a:extLst>
                </p:cNvPr>
                <p:cNvSpPr>
                  <a:spLocks/>
                </p:cNvSpPr>
                <p:nvPr/>
              </p:nvSpPr>
              <p:spPr bwMode="auto">
                <a:xfrm>
                  <a:off x="3496998" y="3724877"/>
                  <a:ext cx="53353" cy="30259"/>
                </a:xfrm>
                <a:custGeom>
                  <a:avLst/>
                  <a:gdLst>
                    <a:gd name="T0" fmla="*/ 55 w 71"/>
                    <a:gd name="T1" fmla="*/ 4 h 40"/>
                    <a:gd name="T2" fmla="*/ 17 w 71"/>
                    <a:gd name="T3" fmla="*/ 14 h 40"/>
                    <a:gd name="T4" fmla="*/ 0 w 71"/>
                    <a:gd name="T5" fmla="*/ 40 h 40"/>
                    <a:gd name="T6" fmla="*/ 21 w 71"/>
                    <a:gd name="T7" fmla="*/ 27 h 40"/>
                    <a:gd name="T8" fmla="*/ 38 w 71"/>
                    <a:gd name="T9" fmla="*/ 26 h 40"/>
                    <a:gd name="T10" fmla="*/ 43 w 71"/>
                    <a:gd name="T11" fmla="*/ 19 h 40"/>
                    <a:gd name="T12" fmla="*/ 64 w 71"/>
                    <a:gd name="T13" fmla="*/ 5 h 40"/>
                    <a:gd name="T14" fmla="*/ 55 w 71"/>
                    <a:gd name="T15" fmla="*/ 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40">
                      <a:moveTo>
                        <a:pt x="55" y="4"/>
                      </a:moveTo>
                      <a:cubicBezTo>
                        <a:pt x="55" y="4"/>
                        <a:pt x="42" y="14"/>
                        <a:pt x="17" y="14"/>
                      </a:cubicBezTo>
                      <a:cubicBezTo>
                        <a:pt x="16" y="14"/>
                        <a:pt x="16" y="30"/>
                        <a:pt x="0" y="40"/>
                      </a:cubicBezTo>
                      <a:cubicBezTo>
                        <a:pt x="0" y="40"/>
                        <a:pt x="14" y="35"/>
                        <a:pt x="21" y="27"/>
                      </a:cubicBezTo>
                      <a:cubicBezTo>
                        <a:pt x="28" y="19"/>
                        <a:pt x="30" y="23"/>
                        <a:pt x="38" y="26"/>
                      </a:cubicBezTo>
                      <a:cubicBezTo>
                        <a:pt x="45" y="30"/>
                        <a:pt x="42" y="25"/>
                        <a:pt x="43" y="19"/>
                      </a:cubicBezTo>
                      <a:cubicBezTo>
                        <a:pt x="45" y="14"/>
                        <a:pt x="56" y="5"/>
                        <a:pt x="64" y="5"/>
                      </a:cubicBezTo>
                      <a:cubicBezTo>
                        <a:pt x="71" y="4"/>
                        <a:pt x="65" y="0"/>
                        <a:pt x="55" y="4"/>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88" name="Freeform 389">
                  <a:extLst>
                    <a:ext uri="{FF2B5EF4-FFF2-40B4-BE49-F238E27FC236}">
                      <a16:creationId xmlns:a16="http://schemas.microsoft.com/office/drawing/2014/main" id="{68CAED92-6A9C-44B8-A124-5C4BDE0B0464}"/>
                    </a:ext>
                  </a:extLst>
                </p:cNvPr>
                <p:cNvSpPr>
                  <a:spLocks/>
                </p:cNvSpPr>
                <p:nvPr/>
              </p:nvSpPr>
              <p:spPr bwMode="auto">
                <a:xfrm>
                  <a:off x="3507350" y="3759118"/>
                  <a:ext cx="58926" cy="19908"/>
                </a:xfrm>
                <a:custGeom>
                  <a:avLst/>
                  <a:gdLst>
                    <a:gd name="T0" fmla="*/ 68 w 78"/>
                    <a:gd name="T1" fmla="*/ 5 h 26"/>
                    <a:gd name="T2" fmla="*/ 44 w 78"/>
                    <a:gd name="T3" fmla="*/ 2 h 26"/>
                    <a:gd name="T4" fmla="*/ 40 w 78"/>
                    <a:gd name="T5" fmla="*/ 5 h 26"/>
                    <a:gd name="T6" fmla="*/ 24 w 78"/>
                    <a:gd name="T7" fmla="*/ 4 h 26"/>
                    <a:gd name="T8" fmla="*/ 18 w 78"/>
                    <a:gd name="T9" fmla="*/ 9 h 26"/>
                    <a:gd name="T10" fmla="*/ 3 w 78"/>
                    <a:gd name="T11" fmla="*/ 19 h 26"/>
                    <a:gd name="T12" fmla="*/ 7 w 78"/>
                    <a:gd name="T13" fmla="*/ 24 h 26"/>
                    <a:gd name="T14" fmla="*/ 26 w 78"/>
                    <a:gd name="T15" fmla="*/ 16 h 26"/>
                    <a:gd name="T16" fmla="*/ 44 w 78"/>
                    <a:gd name="T17" fmla="*/ 17 h 26"/>
                    <a:gd name="T18" fmla="*/ 53 w 78"/>
                    <a:gd name="T19" fmla="*/ 15 h 26"/>
                    <a:gd name="T20" fmla="*/ 69 w 78"/>
                    <a:gd name="T21" fmla="*/ 13 h 26"/>
                    <a:gd name="T22" fmla="*/ 76 w 78"/>
                    <a:gd name="T23" fmla="*/ 15 h 26"/>
                    <a:gd name="T24" fmla="*/ 74 w 78"/>
                    <a:gd name="T25" fmla="*/ 5 h 26"/>
                    <a:gd name="T26" fmla="*/ 68 w 78"/>
                    <a:gd name="T27" fmla="*/ 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 h="26">
                      <a:moveTo>
                        <a:pt x="68" y="5"/>
                      </a:moveTo>
                      <a:cubicBezTo>
                        <a:pt x="68" y="5"/>
                        <a:pt x="53" y="7"/>
                        <a:pt x="44" y="2"/>
                      </a:cubicBezTo>
                      <a:cubicBezTo>
                        <a:pt x="41" y="1"/>
                        <a:pt x="42" y="3"/>
                        <a:pt x="40" y="5"/>
                      </a:cubicBezTo>
                      <a:cubicBezTo>
                        <a:pt x="40" y="5"/>
                        <a:pt x="28" y="7"/>
                        <a:pt x="24" y="4"/>
                      </a:cubicBezTo>
                      <a:cubicBezTo>
                        <a:pt x="19" y="0"/>
                        <a:pt x="18" y="2"/>
                        <a:pt x="18" y="9"/>
                      </a:cubicBezTo>
                      <a:cubicBezTo>
                        <a:pt x="17" y="16"/>
                        <a:pt x="7" y="19"/>
                        <a:pt x="3" y="19"/>
                      </a:cubicBezTo>
                      <a:cubicBezTo>
                        <a:pt x="0" y="20"/>
                        <a:pt x="0" y="26"/>
                        <a:pt x="7" y="24"/>
                      </a:cubicBezTo>
                      <a:cubicBezTo>
                        <a:pt x="14" y="22"/>
                        <a:pt x="13" y="20"/>
                        <a:pt x="26" y="16"/>
                      </a:cubicBezTo>
                      <a:cubicBezTo>
                        <a:pt x="39" y="12"/>
                        <a:pt x="41" y="16"/>
                        <a:pt x="44" y="17"/>
                      </a:cubicBezTo>
                      <a:cubicBezTo>
                        <a:pt x="48" y="19"/>
                        <a:pt x="50" y="18"/>
                        <a:pt x="53" y="15"/>
                      </a:cubicBezTo>
                      <a:cubicBezTo>
                        <a:pt x="56" y="12"/>
                        <a:pt x="61" y="8"/>
                        <a:pt x="69" y="13"/>
                      </a:cubicBezTo>
                      <a:cubicBezTo>
                        <a:pt x="78" y="18"/>
                        <a:pt x="76" y="15"/>
                        <a:pt x="76" y="15"/>
                      </a:cubicBezTo>
                      <a:cubicBezTo>
                        <a:pt x="74" y="5"/>
                        <a:pt x="74" y="5"/>
                        <a:pt x="74" y="5"/>
                      </a:cubicBezTo>
                      <a:lnTo>
                        <a:pt x="68" y="5"/>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89" name="Freeform 390">
                  <a:extLst>
                    <a:ext uri="{FF2B5EF4-FFF2-40B4-BE49-F238E27FC236}">
                      <a16:creationId xmlns:a16="http://schemas.microsoft.com/office/drawing/2014/main" id="{6DD6033D-AA61-4B44-AB86-5202E62329E0}"/>
                    </a:ext>
                  </a:extLst>
                </p:cNvPr>
                <p:cNvSpPr>
                  <a:spLocks/>
                </p:cNvSpPr>
                <p:nvPr/>
              </p:nvSpPr>
              <p:spPr bwMode="auto">
                <a:xfrm>
                  <a:off x="2561342" y="3004223"/>
                  <a:ext cx="1231880" cy="769228"/>
                </a:xfrm>
                <a:custGeom>
                  <a:avLst/>
                  <a:gdLst>
                    <a:gd name="T0" fmla="*/ 1134 w 1638"/>
                    <a:gd name="T1" fmla="*/ 638 h 1023"/>
                    <a:gd name="T2" fmla="*/ 1149 w 1638"/>
                    <a:gd name="T3" fmla="*/ 745 h 1023"/>
                    <a:gd name="T4" fmla="*/ 1305 w 1638"/>
                    <a:gd name="T5" fmla="*/ 906 h 1023"/>
                    <a:gd name="T6" fmla="*/ 1393 w 1638"/>
                    <a:gd name="T7" fmla="*/ 957 h 1023"/>
                    <a:gd name="T8" fmla="*/ 1527 w 1638"/>
                    <a:gd name="T9" fmla="*/ 981 h 1023"/>
                    <a:gd name="T10" fmla="*/ 1600 w 1638"/>
                    <a:gd name="T11" fmla="*/ 837 h 1023"/>
                    <a:gd name="T12" fmla="*/ 1631 w 1638"/>
                    <a:gd name="T13" fmla="*/ 732 h 1023"/>
                    <a:gd name="T14" fmla="*/ 1632 w 1638"/>
                    <a:gd name="T15" fmla="*/ 658 h 1023"/>
                    <a:gd name="T16" fmla="*/ 1617 w 1638"/>
                    <a:gd name="T17" fmla="*/ 585 h 1023"/>
                    <a:gd name="T18" fmla="*/ 1583 w 1638"/>
                    <a:gd name="T19" fmla="*/ 496 h 1023"/>
                    <a:gd name="T20" fmla="*/ 1556 w 1638"/>
                    <a:gd name="T21" fmla="*/ 445 h 1023"/>
                    <a:gd name="T22" fmla="*/ 1499 w 1638"/>
                    <a:gd name="T23" fmla="*/ 357 h 1023"/>
                    <a:gd name="T24" fmla="*/ 1460 w 1638"/>
                    <a:gd name="T25" fmla="*/ 326 h 1023"/>
                    <a:gd name="T26" fmla="*/ 1339 w 1638"/>
                    <a:gd name="T27" fmla="*/ 227 h 1023"/>
                    <a:gd name="T28" fmla="*/ 1248 w 1638"/>
                    <a:gd name="T29" fmla="*/ 156 h 1023"/>
                    <a:gd name="T30" fmla="*/ 1144 w 1638"/>
                    <a:gd name="T31" fmla="*/ 98 h 1023"/>
                    <a:gd name="T32" fmla="*/ 1083 w 1638"/>
                    <a:gd name="T33" fmla="*/ 68 h 1023"/>
                    <a:gd name="T34" fmla="*/ 987 w 1638"/>
                    <a:gd name="T35" fmla="*/ 50 h 1023"/>
                    <a:gd name="T36" fmla="*/ 886 w 1638"/>
                    <a:gd name="T37" fmla="*/ 13 h 1023"/>
                    <a:gd name="T38" fmla="*/ 767 w 1638"/>
                    <a:gd name="T39" fmla="*/ 2 h 1023"/>
                    <a:gd name="T40" fmla="*/ 674 w 1638"/>
                    <a:gd name="T41" fmla="*/ 5 h 1023"/>
                    <a:gd name="T42" fmla="*/ 512 w 1638"/>
                    <a:gd name="T43" fmla="*/ 18 h 1023"/>
                    <a:gd name="T44" fmla="*/ 372 w 1638"/>
                    <a:gd name="T45" fmla="*/ 56 h 1023"/>
                    <a:gd name="T46" fmla="*/ 289 w 1638"/>
                    <a:gd name="T47" fmla="*/ 100 h 1023"/>
                    <a:gd name="T48" fmla="*/ 200 w 1638"/>
                    <a:gd name="T49" fmla="*/ 166 h 1023"/>
                    <a:gd name="T50" fmla="*/ 102 w 1638"/>
                    <a:gd name="T51" fmla="*/ 260 h 1023"/>
                    <a:gd name="T52" fmla="*/ 36 w 1638"/>
                    <a:gd name="T53" fmla="*/ 355 h 1023"/>
                    <a:gd name="T54" fmla="*/ 8 w 1638"/>
                    <a:gd name="T55" fmla="*/ 400 h 1023"/>
                    <a:gd name="T56" fmla="*/ 5 w 1638"/>
                    <a:gd name="T57" fmla="*/ 565 h 1023"/>
                    <a:gd name="T58" fmla="*/ 39 w 1638"/>
                    <a:gd name="T59" fmla="*/ 700 h 1023"/>
                    <a:gd name="T60" fmla="*/ 130 w 1638"/>
                    <a:gd name="T61" fmla="*/ 779 h 1023"/>
                    <a:gd name="T62" fmla="*/ 345 w 1638"/>
                    <a:gd name="T63" fmla="*/ 829 h 1023"/>
                    <a:gd name="T64" fmla="*/ 553 w 1638"/>
                    <a:gd name="T65" fmla="*/ 666 h 1023"/>
                    <a:gd name="T66" fmla="*/ 364 w 1638"/>
                    <a:gd name="T67" fmla="*/ 499 h 1023"/>
                    <a:gd name="T68" fmla="*/ 1026 w 1638"/>
                    <a:gd name="T69" fmla="*/ 487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8" h="1023">
                      <a:moveTo>
                        <a:pt x="1026" y="487"/>
                      </a:moveTo>
                      <a:cubicBezTo>
                        <a:pt x="1026" y="487"/>
                        <a:pt x="1134" y="568"/>
                        <a:pt x="1134" y="638"/>
                      </a:cubicBezTo>
                      <a:cubicBezTo>
                        <a:pt x="1134" y="707"/>
                        <a:pt x="1094" y="726"/>
                        <a:pt x="1079" y="731"/>
                      </a:cubicBezTo>
                      <a:cubicBezTo>
                        <a:pt x="1074" y="732"/>
                        <a:pt x="1105" y="753"/>
                        <a:pt x="1149" y="745"/>
                      </a:cubicBezTo>
                      <a:cubicBezTo>
                        <a:pt x="1149" y="745"/>
                        <a:pt x="1154" y="821"/>
                        <a:pt x="1255" y="817"/>
                      </a:cubicBezTo>
                      <a:cubicBezTo>
                        <a:pt x="1255" y="817"/>
                        <a:pt x="1281" y="893"/>
                        <a:pt x="1305" y="906"/>
                      </a:cubicBezTo>
                      <a:cubicBezTo>
                        <a:pt x="1328" y="918"/>
                        <a:pt x="1311" y="902"/>
                        <a:pt x="1330" y="925"/>
                      </a:cubicBezTo>
                      <a:cubicBezTo>
                        <a:pt x="1349" y="947"/>
                        <a:pt x="1352" y="961"/>
                        <a:pt x="1393" y="957"/>
                      </a:cubicBezTo>
                      <a:cubicBezTo>
                        <a:pt x="1410" y="955"/>
                        <a:pt x="1376" y="963"/>
                        <a:pt x="1426" y="979"/>
                      </a:cubicBezTo>
                      <a:cubicBezTo>
                        <a:pt x="1426" y="979"/>
                        <a:pt x="1480" y="1023"/>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463" y="819"/>
                        <a:pt x="511" y="809"/>
                        <a:pt x="541" y="764"/>
                      </a:cubicBezTo>
                      <a:cubicBezTo>
                        <a:pt x="572" y="719"/>
                        <a:pt x="560" y="682"/>
                        <a:pt x="553" y="666"/>
                      </a:cubicBezTo>
                      <a:cubicBezTo>
                        <a:pt x="546" y="650"/>
                        <a:pt x="522" y="636"/>
                        <a:pt x="468" y="620"/>
                      </a:cubicBezTo>
                      <a:cubicBezTo>
                        <a:pt x="413" y="604"/>
                        <a:pt x="343" y="575"/>
                        <a:pt x="364" y="499"/>
                      </a:cubicBezTo>
                      <a:cubicBezTo>
                        <a:pt x="384" y="424"/>
                        <a:pt x="514" y="379"/>
                        <a:pt x="651" y="384"/>
                      </a:cubicBezTo>
                      <a:cubicBezTo>
                        <a:pt x="787" y="389"/>
                        <a:pt x="937" y="416"/>
                        <a:pt x="1026" y="487"/>
                      </a:cubicBezTo>
                      <a:close/>
                    </a:path>
                  </a:pathLst>
                </a:custGeom>
                <a:gradFill>
                  <a:gsLst>
                    <a:gs pos="0">
                      <a:srgbClr val="E1A4A0"/>
                    </a:gs>
                    <a:gs pos="35000">
                      <a:schemeClr val="bg1"/>
                    </a:gs>
                    <a:gs pos="13000">
                      <a:srgbClr val="F0D2D0"/>
                    </a:gs>
                  </a:gsLst>
                  <a:lin ang="16200000" scaled="1"/>
                </a:gradFill>
                <a:ln w="3175">
                  <a:solidFill>
                    <a:schemeClr val="tx1"/>
                  </a:solidFill>
                </a:ln>
              </p:spPr>
              <p:txBody>
                <a:bodyPr vert="horz" wrap="square" lIns="91440" tIns="45720" rIns="91440" bIns="45720" numCol="1" anchor="t" anchorCtr="0" compatLnSpc="1">
                  <a:prstTxWarp prst="textNoShape">
                    <a:avLst/>
                  </a:prstTxWarp>
                </a:bodyPr>
                <a:lstStyle/>
                <a:p>
                  <a:endParaRPr lang="en-GB" sz="1600"/>
                </a:p>
              </p:txBody>
            </p:sp>
            <p:sp>
              <p:nvSpPr>
                <p:cNvPr id="390" name="Freeform 391">
                  <a:extLst>
                    <a:ext uri="{FF2B5EF4-FFF2-40B4-BE49-F238E27FC236}">
                      <a16:creationId xmlns:a16="http://schemas.microsoft.com/office/drawing/2014/main" id="{965EBFD8-BDF9-4A25-912E-1FEFA188FD8F}"/>
                    </a:ext>
                  </a:extLst>
                </p:cNvPr>
                <p:cNvSpPr>
                  <a:spLocks/>
                </p:cNvSpPr>
                <p:nvPr/>
              </p:nvSpPr>
              <p:spPr bwMode="auto">
                <a:xfrm>
                  <a:off x="2828900" y="3004223"/>
                  <a:ext cx="672876" cy="218983"/>
                </a:xfrm>
                <a:custGeom>
                  <a:avLst/>
                  <a:gdLst>
                    <a:gd name="T0" fmla="*/ 892 w 894"/>
                    <a:gd name="T1" fmla="*/ 156 h 291"/>
                    <a:gd name="T2" fmla="*/ 831 w 894"/>
                    <a:gd name="T3" fmla="*/ 109 h 291"/>
                    <a:gd name="T4" fmla="*/ 788 w 894"/>
                    <a:gd name="T5" fmla="*/ 98 h 291"/>
                    <a:gd name="T6" fmla="*/ 776 w 894"/>
                    <a:gd name="T7" fmla="*/ 79 h 291"/>
                    <a:gd name="T8" fmla="*/ 727 w 894"/>
                    <a:gd name="T9" fmla="*/ 68 h 291"/>
                    <a:gd name="T10" fmla="*/ 669 w 894"/>
                    <a:gd name="T11" fmla="*/ 39 h 291"/>
                    <a:gd name="T12" fmla="*/ 631 w 894"/>
                    <a:gd name="T13" fmla="*/ 50 h 291"/>
                    <a:gd name="T14" fmla="*/ 597 w 894"/>
                    <a:gd name="T15" fmla="*/ 31 h 291"/>
                    <a:gd name="T16" fmla="*/ 530 w 894"/>
                    <a:gd name="T17" fmla="*/ 13 h 291"/>
                    <a:gd name="T18" fmla="*/ 474 w 894"/>
                    <a:gd name="T19" fmla="*/ 31 h 291"/>
                    <a:gd name="T20" fmla="*/ 411 w 894"/>
                    <a:gd name="T21" fmla="*/ 2 h 291"/>
                    <a:gd name="T22" fmla="*/ 356 w 894"/>
                    <a:gd name="T23" fmla="*/ 5 h 291"/>
                    <a:gd name="T24" fmla="*/ 318 w 894"/>
                    <a:gd name="T25" fmla="*/ 5 h 291"/>
                    <a:gd name="T26" fmla="*/ 231 w 894"/>
                    <a:gd name="T27" fmla="*/ 18 h 291"/>
                    <a:gd name="T28" fmla="*/ 156 w 894"/>
                    <a:gd name="T29" fmla="*/ 18 h 291"/>
                    <a:gd name="T30" fmla="*/ 119 w 894"/>
                    <a:gd name="T31" fmla="*/ 39 h 291"/>
                    <a:gd name="T32" fmla="*/ 16 w 894"/>
                    <a:gd name="T33" fmla="*/ 56 h 291"/>
                    <a:gd name="T34" fmla="*/ 3 w 894"/>
                    <a:gd name="T35" fmla="*/ 84 h 291"/>
                    <a:gd name="T36" fmla="*/ 172 w 894"/>
                    <a:gd name="T37" fmla="*/ 147 h 291"/>
                    <a:gd name="T38" fmla="*/ 344 w 894"/>
                    <a:gd name="T39" fmla="*/ 192 h 291"/>
                    <a:gd name="T40" fmla="*/ 468 w 894"/>
                    <a:gd name="T41" fmla="*/ 280 h 291"/>
                    <a:gd name="T42" fmla="*/ 626 w 894"/>
                    <a:gd name="T43" fmla="*/ 283 h 291"/>
                    <a:gd name="T44" fmla="*/ 703 w 894"/>
                    <a:gd name="T45" fmla="*/ 270 h 291"/>
                    <a:gd name="T46" fmla="*/ 713 w 894"/>
                    <a:gd name="T47" fmla="*/ 241 h 291"/>
                    <a:gd name="T48" fmla="*/ 811 w 894"/>
                    <a:gd name="T49" fmla="*/ 252 h 291"/>
                    <a:gd name="T50" fmla="*/ 883 w 894"/>
                    <a:gd name="T51" fmla="*/ 180 h 291"/>
                    <a:gd name="T52" fmla="*/ 892 w 894"/>
                    <a:gd name="T53" fmla="*/ 15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94" h="291">
                      <a:moveTo>
                        <a:pt x="892" y="156"/>
                      </a:moveTo>
                      <a:cubicBezTo>
                        <a:pt x="879" y="149"/>
                        <a:pt x="848" y="122"/>
                        <a:pt x="831" y="109"/>
                      </a:cubicBezTo>
                      <a:cubicBezTo>
                        <a:pt x="814" y="96"/>
                        <a:pt x="795" y="96"/>
                        <a:pt x="788" y="98"/>
                      </a:cubicBezTo>
                      <a:cubicBezTo>
                        <a:pt x="781" y="100"/>
                        <a:pt x="781" y="82"/>
                        <a:pt x="776" y="79"/>
                      </a:cubicBezTo>
                      <a:cubicBezTo>
                        <a:pt x="771" y="76"/>
                        <a:pt x="735" y="71"/>
                        <a:pt x="727" y="68"/>
                      </a:cubicBezTo>
                      <a:cubicBezTo>
                        <a:pt x="718" y="64"/>
                        <a:pt x="706" y="42"/>
                        <a:pt x="669" y="39"/>
                      </a:cubicBezTo>
                      <a:cubicBezTo>
                        <a:pt x="631" y="35"/>
                        <a:pt x="633" y="48"/>
                        <a:pt x="631" y="50"/>
                      </a:cubicBezTo>
                      <a:cubicBezTo>
                        <a:pt x="629" y="52"/>
                        <a:pt x="621" y="37"/>
                        <a:pt x="597" y="31"/>
                      </a:cubicBezTo>
                      <a:cubicBezTo>
                        <a:pt x="573" y="24"/>
                        <a:pt x="540" y="18"/>
                        <a:pt x="530" y="13"/>
                      </a:cubicBezTo>
                      <a:cubicBezTo>
                        <a:pt x="520" y="8"/>
                        <a:pt x="481" y="26"/>
                        <a:pt x="474" y="31"/>
                      </a:cubicBezTo>
                      <a:cubicBezTo>
                        <a:pt x="467" y="35"/>
                        <a:pt x="443" y="3"/>
                        <a:pt x="411" y="2"/>
                      </a:cubicBezTo>
                      <a:cubicBezTo>
                        <a:pt x="378" y="0"/>
                        <a:pt x="363" y="3"/>
                        <a:pt x="356" y="5"/>
                      </a:cubicBezTo>
                      <a:cubicBezTo>
                        <a:pt x="349" y="7"/>
                        <a:pt x="329" y="10"/>
                        <a:pt x="318" y="5"/>
                      </a:cubicBezTo>
                      <a:cubicBezTo>
                        <a:pt x="308" y="0"/>
                        <a:pt x="236" y="13"/>
                        <a:pt x="231" y="18"/>
                      </a:cubicBezTo>
                      <a:cubicBezTo>
                        <a:pt x="226" y="23"/>
                        <a:pt x="194" y="5"/>
                        <a:pt x="156" y="18"/>
                      </a:cubicBezTo>
                      <a:cubicBezTo>
                        <a:pt x="119" y="31"/>
                        <a:pt x="127" y="32"/>
                        <a:pt x="119" y="39"/>
                      </a:cubicBezTo>
                      <a:cubicBezTo>
                        <a:pt x="110" y="45"/>
                        <a:pt x="59" y="42"/>
                        <a:pt x="16" y="56"/>
                      </a:cubicBezTo>
                      <a:cubicBezTo>
                        <a:pt x="16" y="56"/>
                        <a:pt x="0" y="74"/>
                        <a:pt x="3" y="84"/>
                      </a:cubicBezTo>
                      <a:cubicBezTo>
                        <a:pt x="6" y="95"/>
                        <a:pt x="12" y="151"/>
                        <a:pt x="172" y="147"/>
                      </a:cubicBezTo>
                      <a:cubicBezTo>
                        <a:pt x="332" y="143"/>
                        <a:pt x="331" y="176"/>
                        <a:pt x="344" y="192"/>
                      </a:cubicBezTo>
                      <a:cubicBezTo>
                        <a:pt x="358" y="208"/>
                        <a:pt x="352" y="283"/>
                        <a:pt x="468" y="280"/>
                      </a:cubicBezTo>
                      <a:cubicBezTo>
                        <a:pt x="584" y="278"/>
                        <a:pt x="595" y="291"/>
                        <a:pt x="626" y="283"/>
                      </a:cubicBezTo>
                      <a:cubicBezTo>
                        <a:pt x="656" y="275"/>
                        <a:pt x="690" y="287"/>
                        <a:pt x="703" y="270"/>
                      </a:cubicBezTo>
                      <a:cubicBezTo>
                        <a:pt x="716" y="252"/>
                        <a:pt x="713" y="241"/>
                        <a:pt x="713" y="241"/>
                      </a:cubicBezTo>
                      <a:cubicBezTo>
                        <a:pt x="713" y="241"/>
                        <a:pt x="764" y="256"/>
                        <a:pt x="811" y="252"/>
                      </a:cubicBezTo>
                      <a:cubicBezTo>
                        <a:pt x="858" y="248"/>
                        <a:pt x="894" y="196"/>
                        <a:pt x="883" y="180"/>
                      </a:cubicBezTo>
                      <a:cubicBezTo>
                        <a:pt x="872" y="164"/>
                        <a:pt x="892" y="156"/>
                        <a:pt x="892" y="156"/>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391" name="Freeform 392">
                  <a:extLst>
                    <a:ext uri="{FF2B5EF4-FFF2-40B4-BE49-F238E27FC236}">
                      <a16:creationId xmlns:a16="http://schemas.microsoft.com/office/drawing/2014/main" id="{BDE2D994-A3F2-4EB9-A1FD-170777D0CD09}"/>
                    </a:ext>
                  </a:extLst>
                </p:cNvPr>
                <p:cNvSpPr>
                  <a:spLocks/>
                </p:cNvSpPr>
                <p:nvPr/>
              </p:nvSpPr>
              <p:spPr bwMode="auto">
                <a:xfrm>
                  <a:off x="3425331" y="3472449"/>
                  <a:ext cx="368688" cy="284280"/>
                </a:xfrm>
                <a:custGeom>
                  <a:avLst/>
                  <a:gdLst>
                    <a:gd name="T0" fmla="*/ 483 w 490"/>
                    <a:gd name="T1" fmla="*/ 69 h 378"/>
                    <a:gd name="T2" fmla="*/ 483 w 490"/>
                    <a:gd name="T3" fmla="*/ 35 h 378"/>
                    <a:gd name="T4" fmla="*/ 481 w 490"/>
                    <a:gd name="T5" fmla="*/ 0 h 378"/>
                    <a:gd name="T6" fmla="*/ 481 w 490"/>
                    <a:gd name="T7" fmla="*/ 23 h 378"/>
                    <a:gd name="T8" fmla="*/ 363 w 490"/>
                    <a:gd name="T9" fmla="*/ 65 h 378"/>
                    <a:gd name="T10" fmla="*/ 174 w 490"/>
                    <a:gd name="T11" fmla="*/ 97 h 378"/>
                    <a:gd name="T12" fmla="*/ 0 w 490"/>
                    <a:gd name="T13" fmla="*/ 122 h 378"/>
                    <a:gd name="T14" fmla="*/ 47 w 490"/>
                    <a:gd name="T15" fmla="*/ 184 h 378"/>
                    <a:gd name="T16" fmla="*/ 319 w 490"/>
                    <a:gd name="T17" fmla="*/ 237 h 378"/>
                    <a:gd name="T18" fmla="*/ 279 w 490"/>
                    <a:gd name="T19" fmla="*/ 328 h 378"/>
                    <a:gd name="T20" fmla="*/ 322 w 490"/>
                    <a:gd name="T21" fmla="*/ 375 h 378"/>
                    <a:gd name="T22" fmla="*/ 333 w 490"/>
                    <a:gd name="T23" fmla="*/ 376 h 378"/>
                    <a:gd name="T24" fmla="*/ 322 w 490"/>
                    <a:gd name="T25" fmla="*/ 375 h 378"/>
                    <a:gd name="T26" fmla="*/ 319 w 490"/>
                    <a:gd name="T27" fmla="*/ 375 h 378"/>
                    <a:gd name="T28" fmla="*/ 378 w 490"/>
                    <a:gd name="T29" fmla="*/ 358 h 378"/>
                    <a:gd name="T30" fmla="*/ 412 w 490"/>
                    <a:gd name="T31" fmla="*/ 257 h 378"/>
                    <a:gd name="T32" fmla="*/ 451 w 490"/>
                    <a:gd name="T33" fmla="*/ 214 h 378"/>
                    <a:gd name="T34" fmla="*/ 453 w 490"/>
                    <a:gd name="T35" fmla="*/ 157 h 378"/>
                    <a:gd name="T36" fmla="*/ 482 w 490"/>
                    <a:gd name="T37" fmla="*/ 109 h 378"/>
                    <a:gd name="T38" fmla="*/ 483 w 490"/>
                    <a:gd name="T39" fmla="*/ 69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0" h="378">
                      <a:moveTo>
                        <a:pt x="483" y="69"/>
                      </a:moveTo>
                      <a:cubicBezTo>
                        <a:pt x="478" y="50"/>
                        <a:pt x="478" y="53"/>
                        <a:pt x="483" y="35"/>
                      </a:cubicBezTo>
                      <a:cubicBezTo>
                        <a:pt x="483" y="35"/>
                        <a:pt x="490" y="19"/>
                        <a:pt x="481" y="0"/>
                      </a:cubicBezTo>
                      <a:cubicBezTo>
                        <a:pt x="481" y="0"/>
                        <a:pt x="486" y="16"/>
                        <a:pt x="481" y="23"/>
                      </a:cubicBezTo>
                      <a:cubicBezTo>
                        <a:pt x="481" y="23"/>
                        <a:pt x="462" y="79"/>
                        <a:pt x="363" y="65"/>
                      </a:cubicBezTo>
                      <a:cubicBezTo>
                        <a:pt x="265" y="52"/>
                        <a:pt x="325" y="59"/>
                        <a:pt x="174" y="97"/>
                      </a:cubicBezTo>
                      <a:cubicBezTo>
                        <a:pt x="23" y="136"/>
                        <a:pt x="0" y="122"/>
                        <a:pt x="0" y="122"/>
                      </a:cubicBezTo>
                      <a:cubicBezTo>
                        <a:pt x="0" y="122"/>
                        <a:pt x="3" y="165"/>
                        <a:pt x="47" y="184"/>
                      </a:cubicBezTo>
                      <a:cubicBezTo>
                        <a:pt x="47" y="184"/>
                        <a:pt x="330" y="67"/>
                        <a:pt x="319" y="237"/>
                      </a:cubicBezTo>
                      <a:cubicBezTo>
                        <a:pt x="315" y="292"/>
                        <a:pt x="275" y="271"/>
                        <a:pt x="279" y="328"/>
                      </a:cubicBezTo>
                      <a:cubicBezTo>
                        <a:pt x="282" y="364"/>
                        <a:pt x="307" y="373"/>
                        <a:pt x="322" y="375"/>
                      </a:cubicBezTo>
                      <a:cubicBezTo>
                        <a:pt x="333" y="376"/>
                        <a:pt x="333" y="376"/>
                        <a:pt x="333" y="376"/>
                      </a:cubicBezTo>
                      <a:cubicBezTo>
                        <a:pt x="333" y="376"/>
                        <a:pt x="328" y="376"/>
                        <a:pt x="322" y="375"/>
                      </a:cubicBezTo>
                      <a:cubicBezTo>
                        <a:pt x="319" y="375"/>
                        <a:pt x="319" y="375"/>
                        <a:pt x="319" y="375"/>
                      </a:cubicBezTo>
                      <a:cubicBezTo>
                        <a:pt x="337" y="378"/>
                        <a:pt x="358" y="376"/>
                        <a:pt x="378" y="358"/>
                      </a:cubicBezTo>
                      <a:cubicBezTo>
                        <a:pt x="424" y="316"/>
                        <a:pt x="422" y="287"/>
                        <a:pt x="412" y="257"/>
                      </a:cubicBezTo>
                      <a:cubicBezTo>
                        <a:pt x="412" y="257"/>
                        <a:pt x="432" y="249"/>
                        <a:pt x="451" y="214"/>
                      </a:cubicBezTo>
                      <a:cubicBezTo>
                        <a:pt x="451" y="214"/>
                        <a:pt x="466" y="195"/>
                        <a:pt x="453" y="157"/>
                      </a:cubicBezTo>
                      <a:cubicBezTo>
                        <a:pt x="451" y="153"/>
                        <a:pt x="477" y="149"/>
                        <a:pt x="482" y="109"/>
                      </a:cubicBezTo>
                      <a:cubicBezTo>
                        <a:pt x="487" y="69"/>
                        <a:pt x="489" y="88"/>
                        <a:pt x="483" y="69"/>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392" name="Freeform 393">
                  <a:extLst>
                    <a:ext uri="{FF2B5EF4-FFF2-40B4-BE49-F238E27FC236}">
                      <a16:creationId xmlns:a16="http://schemas.microsoft.com/office/drawing/2014/main" id="{9C3128BC-3DE3-4D89-BC79-934506546CE3}"/>
                    </a:ext>
                  </a:extLst>
                </p:cNvPr>
                <p:cNvSpPr>
                  <a:spLocks/>
                </p:cNvSpPr>
                <p:nvPr/>
              </p:nvSpPr>
              <p:spPr bwMode="auto">
                <a:xfrm>
                  <a:off x="3297126" y="3349022"/>
                  <a:ext cx="219780" cy="230132"/>
                </a:xfrm>
                <a:custGeom>
                  <a:avLst/>
                  <a:gdLst>
                    <a:gd name="T0" fmla="*/ 29 w 293"/>
                    <a:gd name="T1" fmla="*/ 66 h 306"/>
                    <a:gd name="T2" fmla="*/ 236 w 293"/>
                    <a:gd name="T3" fmla="*/ 126 h 306"/>
                    <a:gd name="T4" fmla="*/ 73 w 293"/>
                    <a:gd name="T5" fmla="*/ 260 h 306"/>
                    <a:gd name="T6" fmla="*/ 29 w 293"/>
                    <a:gd name="T7" fmla="*/ 66 h 306"/>
                  </a:gdLst>
                  <a:ahLst/>
                  <a:cxnLst>
                    <a:cxn ang="0">
                      <a:pos x="T0" y="T1"/>
                    </a:cxn>
                    <a:cxn ang="0">
                      <a:pos x="T2" y="T3"/>
                    </a:cxn>
                    <a:cxn ang="0">
                      <a:pos x="T4" y="T5"/>
                    </a:cxn>
                    <a:cxn ang="0">
                      <a:pos x="T6" y="T7"/>
                    </a:cxn>
                  </a:cxnLst>
                  <a:rect l="0" t="0" r="r" b="b"/>
                  <a:pathLst>
                    <a:path w="293" h="306">
                      <a:moveTo>
                        <a:pt x="29" y="66"/>
                      </a:moveTo>
                      <a:cubicBezTo>
                        <a:pt x="29" y="66"/>
                        <a:pt x="178" y="0"/>
                        <a:pt x="236" y="126"/>
                      </a:cubicBezTo>
                      <a:cubicBezTo>
                        <a:pt x="293" y="253"/>
                        <a:pt x="146" y="306"/>
                        <a:pt x="73" y="260"/>
                      </a:cubicBezTo>
                      <a:cubicBezTo>
                        <a:pt x="0" y="213"/>
                        <a:pt x="29" y="66"/>
                        <a:pt x="29" y="66"/>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393" name="Freeform 394">
                  <a:extLst>
                    <a:ext uri="{FF2B5EF4-FFF2-40B4-BE49-F238E27FC236}">
                      <a16:creationId xmlns:a16="http://schemas.microsoft.com/office/drawing/2014/main" id="{BE644C7D-B30A-4287-B99B-CEB4DDEFD464}"/>
                    </a:ext>
                  </a:extLst>
                </p:cNvPr>
                <p:cNvSpPr>
                  <a:spLocks/>
                </p:cNvSpPr>
                <p:nvPr/>
              </p:nvSpPr>
              <p:spPr bwMode="auto">
                <a:xfrm>
                  <a:off x="2561342" y="3004223"/>
                  <a:ext cx="1231880" cy="769228"/>
                </a:xfrm>
                <a:custGeom>
                  <a:avLst/>
                  <a:gdLst>
                    <a:gd name="T0" fmla="*/ 1134 w 1638"/>
                    <a:gd name="T1" fmla="*/ 638 h 1023"/>
                    <a:gd name="T2" fmla="*/ 1149 w 1638"/>
                    <a:gd name="T3" fmla="*/ 745 h 1023"/>
                    <a:gd name="T4" fmla="*/ 1255 w 1638"/>
                    <a:gd name="T5" fmla="*/ 817 h 1023"/>
                    <a:gd name="T6" fmla="*/ 1330 w 1638"/>
                    <a:gd name="T7" fmla="*/ 925 h 1023"/>
                    <a:gd name="T8" fmla="*/ 1426 w 1638"/>
                    <a:gd name="T9" fmla="*/ 979 h 1023"/>
                    <a:gd name="T10" fmla="*/ 1561 w 1638"/>
                    <a:gd name="T11" fmla="*/ 880 h 1023"/>
                    <a:gd name="T12" fmla="*/ 1602 w 1638"/>
                    <a:gd name="T13" fmla="*/ 780 h 1023"/>
                    <a:gd name="T14" fmla="*/ 1632 w 1638"/>
                    <a:gd name="T15" fmla="*/ 692 h 1023"/>
                    <a:gd name="T16" fmla="*/ 1624 w 1638"/>
                    <a:gd name="T17" fmla="*/ 609 h 1023"/>
                    <a:gd name="T18" fmla="*/ 1597 w 1638"/>
                    <a:gd name="T19" fmla="*/ 527 h 1023"/>
                    <a:gd name="T20" fmla="*/ 1556 w 1638"/>
                    <a:gd name="T21" fmla="*/ 469 h 1023"/>
                    <a:gd name="T22" fmla="*/ 1527 w 1638"/>
                    <a:gd name="T23" fmla="*/ 400 h 1023"/>
                    <a:gd name="T24" fmla="*/ 1469 w 1638"/>
                    <a:gd name="T25" fmla="*/ 349 h 1023"/>
                    <a:gd name="T26" fmla="*/ 1417 w 1638"/>
                    <a:gd name="T27" fmla="*/ 279 h 1023"/>
                    <a:gd name="T28" fmla="*/ 1310 w 1638"/>
                    <a:gd name="T29" fmla="*/ 185 h 1023"/>
                    <a:gd name="T30" fmla="*/ 1187 w 1638"/>
                    <a:gd name="T31" fmla="*/ 109 h 1023"/>
                    <a:gd name="T32" fmla="*/ 1132 w 1638"/>
                    <a:gd name="T33" fmla="*/ 79 h 1023"/>
                    <a:gd name="T34" fmla="*/ 1025 w 1638"/>
                    <a:gd name="T35" fmla="*/ 39 h 1023"/>
                    <a:gd name="T36" fmla="*/ 953 w 1638"/>
                    <a:gd name="T37" fmla="*/ 31 h 1023"/>
                    <a:gd name="T38" fmla="*/ 830 w 1638"/>
                    <a:gd name="T39" fmla="*/ 31 h 1023"/>
                    <a:gd name="T40" fmla="*/ 712 w 1638"/>
                    <a:gd name="T41" fmla="*/ 5 h 1023"/>
                    <a:gd name="T42" fmla="*/ 587 w 1638"/>
                    <a:gd name="T43" fmla="*/ 18 h 1023"/>
                    <a:gd name="T44" fmla="*/ 475 w 1638"/>
                    <a:gd name="T45" fmla="*/ 39 h 1023"/>
                    <a:gd name="T46" fmla="*/ 321 w 1638"/>
                    <a:gd name="T47" fmla="*/ 82 h 1023"/>
                    <a:gd name="T48" fmla="*/ 225 w 1638"/>
                    <a:gd name="T49" fmla="*/ 132 h 1023"/>
                    <a:gd name="T50" fmla="*/ 164 w 1638"/>
                    <a:gd name="T51" fmla="*/ 180 h 1023"/>
                    <a:gd name="T52" fmla="*/ 67 w 1638"/>
                    <a:gd name="T53" fmla="*/ 300 h 1023"/>
                    <a:gd name="T54" fmla="*/ 34 w 1638"/>
                    <a:gd name="T55" fmla="*/ 377 h 1023"/>
                    <a:gd name="T56" fmla="*/ 5 w 1638"/>
                    <a:gd name="T57" fmla="*/ 472 h 1023"/>
                    <a:gd name="T58" fmla="*/ 19 w 1638"/>
                    <a:gd name="T59" fmla="*/ 617 h 1023"/>
                    <a:gd name="T60" fmla="*/ 89 w 1638"/>
                    <a:gd name="T61" fmla="*/ 729 h 1023"/>
                    <a:gd name="T62" fmla="*/ 198 w 1638"/>
                    <a:gd name="T63" fmla="*/ 808 h 1023"/>
                    <a:gd name="T64" fmla="*/ 541 w 1638"/>
                    <a:gd name="T65" fmla="*/ 764 h 1023"/>
                    <a:gd name="T66" fmla="*/ 468 w 1638"/>
                    <a:gd name="T67" fmla="*/ 620 h 1023"/>
                    <a:gd name="T68" fmla="*/ 651 w 1638"/>
                    <a:gd name="T69" fmla="*/ 384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8" h="1023">
                      <a:moveTo>
                        <a:pt x="1026" y="487"/>
                      </a:moveTo>
                      <a:cubicBezTo>
                        <a:pt x="1026" y="487"/>
                        <a:pt x="1134" y="568"/>
                        <a:pt x="1134" y="638"/>
                      </a:cubicBezTo>
                      <a:cubicBezTo>
                        <a:pt x="1134" y="707"/>
                        <a:pt x="1094" y="726"/>
                        <a:pt x="1079" y="731"/>
                      </a:cubicBezTo>
                      <a:cubicBezTo>
                        <a:pt x="1074" y="732"/>
                        <a:pt x="1105" y="753"/>
                        <a:pt x="1149" y="745"/>
                      </a:cubicBezTo>
                      <a:cubicBezTo>
                        <a:pt x="1149" y="745"/>
                        <a:pt x="1152" y="788"/>
                        <a:pt x="1196" y="807"/>
                      </a:cubicBezTo>
                      <a:cubicBezTo>
                        <a:pt x="1211" y="814"/>
                        <a:pt x="1230" y="818"/>
                        <a:pt x="1255" y="817"/>
                      </a:cubicBezTo>
                      <a:cubicBezTo>
                        <a:pt x="1255" y="817"/>
                        <a:pt x="1281" y="893"/>
                        <a:pt x="1305" y="906"/>
                      </a:cubicBezTo>
                      <a:cubicBezTo>
                        <a:pt x="1328" y="918"/>
                        <a:pt x="1311" y="902"/>
                        <a:pt x="1330" y="925"/>
                      </a:cubicBezTo>
                      <a:cubicBezTo>
                        <a:pt x="1349" y="947"/>
                        <a:pt x="1352" y="961"/>
                        <a:pt x="1393" y="957"/>
                      </a:cubicBezTo>
                      <a:cubicBezTo>
                        <a:pt x="1410" y="955"/>
                        <a:pt x="1376" y="963"/>
                        <a:pt x="1426" y="979"/>
                      </a:cubicBezTo>
                      <a:cubicBezTo>
                        <a:pt x="1426" y="979"/>
                        <a:pt x="1480" y="1023"/>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463" y="819"/>
                        <a:pt x="511" y="809"/>
                        <a:pt x="541" y="764"/>
                      </a:cubicBezTo>
                      <a:cubicBezTo>
                        <a:pt x="572" y="719"/>
                        <a:pt x="560" y="682"/>
                        <a:pt x="553" y="666"/>
                      </a:cubicBezTo>
                      <a:cubicBezTo>
                        <a:pt x="546" y="650"/>
                        <a:pt x="522" y="636"/>
                        <a:pt x="468" y="620"/>
                      </a:cubicBezTo>
                      <a:cubicBezTo>
                        <a:pt x="413" y="604"/>
                        <a:pt x="343" y="575"/>
                        <a:pt x="364" y="499"/>
                      </a:cubicBezTo>
                      <a:cubicBezTo>
                        <a:pt x="384" y="424"/>
                        <a:pt x="514" y="379"/>
                        <a:pt x="651" y="384"/>
                      </a:cubicBezTo>
                      <a:cubicBezTo>
                        <a:pt x="787" y="389"/>
                        <a:pt x="937" y="416"/>
                        <a:pt x="1026" y="487"/>
                      </a:cubicBezTo>
                      <a:close/>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94" name="Freeform 395">
                  <a:extLst>
                    <a:ext uri="{FF2B5EF4-FFF2-40B4-BE49-F238E27FC236}">
                      <a16:creationId xmlns:a16="http://schemas.microsoft.com/office/drawing/2014/main" id="{921679C3-C0AE-4B2E-8EE8-8806CA131B24}"/>
                    </a:ext>
                  </a:extLst>
                </p:cNvPr>
                <p:cNvSpPr>
                  <a:spLocks/>
                </p:cNvSpPr>
                <p:nvPr/>
              </p:nvSpPr>
              <p:spPr bwMode="auto">
                <a:xfrm>
                  <a:off x="3422145" y="3145169"/>
                  <a:ext cx="75649" cy="50963"/>
                </a:xfrm>
                <a:custGeom>
                  <a:avLst/>
                  <a:gdLst>
                    <a:gd name="T0" fmla="*/ 97 w 101"/>
                    <a:gd name="T1" fmla="*/ 0 h 68"/>
                    <a:gd name="T2" fmla="*/ 79 w 101"/>
                    <a:gd name="T3" fmla="*/ 35 h 68"/>
                    <a:gd name="T4" fmla="*/ 53 w 101"/>
                    <a:gd name="T5" fmla="*/ 59 h 68"/>
                    <a:gd name="T6" fmla="*/ 0 w 101"/>
                    <a:gd name="T7" fmla="*/ 65 h 68"/>
                  </a:gdLst>
                  <a:ahLst/>
                  <a:cxnLst>
                    <a:cxn ang="0">
                      <a:pos x="T0" y="T1"/>
                    </a:cxn>
                    <a:cxn ang="0">
                      <a:pos x="T2" y="T3"/>
                    </a:cxn>
                    <a:cxn ang="0">
                      <a:pos x="T4" y="T5"/>
                    </a:cxn>
                    <a:cxn ang="0">
                      <a:pos x="T6" y="T7"/>
                    </a:cxn>
                  </a:cxnLst>
                  <a:rect l="0" t="0" r="r" b="b"/>
                  <a:pathLst>
                    <a:path w="101" h="68">
                      <a:moveTo>
                        <a:pt x="97" y="0"/>
                      </a:moveTo>
                      <a:cubicBezTo>
                        <a:pt x="97" y="0"/>
                        <a:pt x="101" y="16"/>
                        <a:pt x="79" y="35"/>
                      </a:cubicBezTo>
                      <a:cubicBezTo>
                        <a:pt x="58" y="53"/>
                        <a:pt x="53" y="59"/>
                        <a:pt x="53" y="59"/>
                      </a:cubicBezTo>
                      <a:cubicBezTo>
                        <a:pt x="53" y="59"/>
                        <a:pt x="54" y="68"/>
                        <a:pt x="0" y="6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95" name="Freeform 396">
                  <a:extLst>
                    <a:ext uri="{FF2B5EF4-FFF2-40B4-BE49-F238E27FC236}">
                      <a16:creationId xmlns:a16="http://schemas.microsoft.com/office/drawing/2014/main" id="{68537C5F-1F64-455E-B073-22752BD36FE1}"/>
                    </a:ext>
                  </a:extLst>
                </p:cNvPr>
                <p:cNvSpPr>
                  <a:spLocks/>
                </p:cNvSpPr>
                <p:nvPr/>
              </p:nvSpPr>
              <p:spPr bwMode="auto">
                <a:xfrm>
                  <a:off x="3453201" y="3175428"/>
                  <a:ext cx="57334" cy="39815"/>
                </a:xfrm>
                <a:custGeom>
                  <a:avLst/>
                  <a:gdLst>
                    <a:gd name="T0" fmla="*/ 76 w 76"/>
                    <a:gd name="T1" fmla="*/ 2 h 53"/>
                    <a:gd name="T2" fmla="*/ 32 w 76"/>
                    <a:gd name="T3" fmla="*/ 1 h 53"/>
                    <a:gd name="T4" fmla="*/ 22 w 76"/>
                    <a:gd name="T5" fmla="*/ 7 h 53"/>
                    <a:gd name="T6" fmla="*/ 9 w 76"/>
                    <a:gd name="T7" fmla="*/ 53 h 53"/>
                  </a:gdLst>
                  <a:ahLst/>
                  <a:cxnLst>
                    <a:cxn ang="0">
                      <a:pos x="T0" y="T1"/>
                    </a:cxn>
                    <a:cxn ang="0">
                      <a:pos x="T2" y="T3"/>
                    </a:cxn>
                    <a:cxn ang="0">
                      <a:pos x="T4" y="T5"/>
                    </a:cxn>
                    <a:cxn ang="0">
                      <a:pos x="T6" y="T7"/>
                    </a:cxn>
                  </a:cxnLst>
                  <a:rect l="0" t="0" r="r" b="b"/>
                  <a:pathLst>
                    <a:path w="76" h="53">
                      <a:moveTo>
                        <a:pt x="76" y="2"/>
                      </a:moveTo>
                      <a:cubicBezTo>
                        <a:pt x="76" y="2"/>
                        <a:pt x="40" y="0"/>
                        <a:pt x="32" y="1"/>
                      </a:cubicBezTo>
                      <a:cubicBezTo>
                        <a:pt x="25" y="3"/>
                        <a:pt x="25" y="5"/>
                        <a:pt x="22" y="7"/>
                      </a:cubicBezTo>
                      <a:cubicBezTo>
                        <a:pt x="19" y="9"/>
                        <a:pt x="0" y="19"/>
                        <a:pt x="9" y="5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96" name="Freeform 397">
                  <a:extLst>
                    <a:ext uri="{FF2B5EF4-FFF2-40B4-BE49-F238E27FC236}">
                      <a16:creationId xmlns:a16="http://schemas.microsoft.com/office/drawing/2014/main" id="{89825FFB-E9D9-4DD6-850E-3D867B648701}"/>
                    </a:ext>
                  </a:extLst>
                </p:cNvPr>
                <p:cNvSpPr>
                  <a:spLocks/>
                </p:cNvSpPr>
                <p:nvPr/>
              </p:nvSpPr>
              <p:spPr bwMode="auto">
                <a:xfrm>
                  <a:off x="3716777" y="3537746"/>
                  <a:ext cx="52556" cy="60519"/>
                </a:xfrm>
                <a:custGeom>
                  <a:avLst/>
                  <a:gdLst>
                    <a:gd name="T0" fmla="*/ 70 w 70"/>
                    <a:gd name="T1" fmla="*/ 69 h 81"/>
                    <a:gd name="T2" fmla="*/ 35 w 70"/>
                    <a:gd name="T3" fmla="*/ 58 h 81"/>
                    <a:gd name="T4" fmla="*/ 24 w 70"/>
                    <a:gd name="T5" fmla="*/ 0 h 81"/>
                  </a:gdLst>
                  <a:ahLst/>
                  <a:cxnLst>
                    <a:cxn ang="0">
                      <a:pos x="T0" y="T1"/>
                    </a:cxn>
                    <a:cxn ang="0">
                      <a:pos x="T2" y="T3"/>
                    </a:cxn>
                    <a:cxn ang="0">
                      <a:pos x="T4" y="T5"/>
                    </a:cxn>
                  </a:cxnLst>
                  <a:rect l="0" t="0" r="r" b="b"/>
                  <a:pathLst>
                    <a:path w="70" h="81">
                      <a:moveTo>
                        <a:pt x="70" y="69"/>
                      </a:moveTo>
                      <a:cubicBezTo>
                        <a:pt x="70" y="69"/>
                        <a:pt x="57" y="81"/>
                        <a:pt x="35" y="58"/>
                      </a:cubicBezTo>
                      <a:cubicBezTo>
                        <a:pt x="14" y="36"/>
                        <a:pt x="0" y="20"/>
                        <a:pt x="24"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97" name="Freeform 398">
                  <a:extLst>
                    <a:ext uri="{FF2B5EF4-FFF2-40B4-BE49-F238E27FC236}">
                      <a16:creationId xmlns:a16="http://schemas.microsoft.com/office/drawing/2014/main" id="{EFCA6066-71C6-4B8E-931E-F6E552A6B61B}"/>
                    </a:ext>
                  </a:extLst>
                </p:cNvPr>
                <p:cNvSpPr>
                  <a:spLocks/>
                </p:cNvSpPr>
                <p:nvPr/>
              </p:nvSpPr>
              <p:spPr bwMode="auto">
                <a:xfrm>
                  <a:off x="3696074" y="3546505"/>
                  <a:ext cx="33445" cy="17519"/>
                </a:xfrm>
                <a:custGeom>
                  <a:avLst/>
                  <a:gdLst>
                    <a:gd name="T0" fmla="*/ 0 w 44"/>
                    <a:gd name="T1" fmla="*/ 6 h 23"/>
                    <a:gd name="T2" fmla="*/ 44 w 44"/>
                    <a:gd name="T3" fmla="*/ 23 h 23"/>
                  </a:gdLst>
                  <a:ahLst/>
                  <a:cxnLst>
                    <a:cxn ang="0">
                      <a:pos x="T0" y="T1"/>
                    </a:cxn>
                    <a:cxn ang="0">
                      <a:pos x="T2" y="T3"/>
                    </a:cxn>
                  </a:cxnLst>
                  <a:rect l="0" t="0" r="r" b="b"/>
                  <a:pathLst>
                    <a:path w="44" h="23">
                      <a:moveTo>
                        <a:pt x="0" y="6"/>
                      </a:moveTo>
                      <a:cubicBezTo>
                        <a:pt x="0" y="6"/>
                        <a:pt x="27" y="0"/>
                        <a:pt x="44" y="2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98" name="Freeform 399">
                  <a:extLst>
                    <a:ext uri="{FF2B5EF4-FFF2-40B4-BE49-F238E27FC236}">
                      <a16:creationId xmlns:a16="http://schemas.microsoft.com/office/drawing/2014/main" id="{E3B91843-398E-4BD0-A9E9-AACF90FDFFEC}"/>
                    </a:ext>
                  </a:extLst>
                </p:cNvPr>
                <p:cNvSpPr>
                  <a:spLocks/>
                </p:cNvSpPr>
                <p:nvPr/>
              </p:nvSpPr>
              <p:spPr bwMode="auto">
                <a:xfrm>
                  <a:off x="3598128" y="3536950"/>
                  <a:ext cx="74056" cy="134575"/>
                </a:xfrm>
                <a:custGeom>
                  <a:avLst/>
                  <a:gdLst>
                    <a:gd name="T0" fmla="*/ 0 w 98"/>
                    <a:gd name="T1" fmla="*/ 0 h 179"/>
                    <a:gd name="T2" fmla="*/ 82 w 98"/>
                    <a:gd name="T3" fmla="*/ 98 h 179"/>
                    <a:gd name="T4" fmla="*/ 52 w 98"/>
                    <a:gd name="T5" fmla="*/ 179 h 179"/>
                  </a:gdLst>
                  <a:ahLst/>
                  <a:cxnLst>
                    <a:cxn ang="0">
                      <a:pos x="T0" y="T1"/>
                    </a:cxn>
                    <a:cxn ang="0">
                      <a:pos x="T2" y="T3"/>
                    </a:cxn>
                    <a:cxn ang="0">
                      <a:pos x="T4" y="T5"/>
                    </a:cxn>
                  </a:cxnLst>
                  <a:rect l="0" t="0" r="r" b="b"/>
                  <a:pathLst>
                    <a:path w="98" h="179">
                      <a:moveTo>
                        <a:pt x="0" y="0"/>
                      </a:moveTo>
                      <a:cubicBezTo>
                        <a:pt x="0" y="0"/>
                        <a:pt x="64" y="46"/>
                        <a:pt x="82" y="98"/>
                      </a:cubicBezTo>
                      <a:cubicBezTo>
                        <a:pt x="98" y="141"/>
                        <a:pt x="81" y="145"/>
                        <a:pt x="52" y="17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99" name="Freeform 400">
                  <a:extLst>
                    <a:ext uri="{FF2B5EF4-FFF2-40B4-BE49-F238E27FC236}">
                      <a16:creationId xmlns:a16="http://schemas.microsoft.com/office/drawing/2014/main" id="{C6FD468E-85D7-4201-9D4A-4B4B4900E240}"/>
                    </a:ext>
                  </a:extLst>
                </p:cNvPr>
                <p:cNvSpPr>
                  <a:spLocks/>
                </p:cNvSpPr>
                <p:nvPr/>
              </p:nvSpPr>
              <p:spPr bwMode="auto">
                <a:xfrm>
                  <a:off x="3664221" y="3625339"/>
                  <a:ext cx="30260" cy="34241"/>
                </a:xfrm>
                <a:custGeom>
                  <a:avLst/>
                  <a:gdLst>
                    <a:gd name="T0" fmla="*/ 0 w 41"/>
                    <a:gd name="T1" fmla="*/ 0 h 45"/>
                    <a:gd name="T2" fmla="*/ 41 w 41"/>
                    <a:gd name="T3" fmla="*/ 45 h 45"/>
                  </a:gdLst>
                  <a:ahLst/>
                  <a:cxnLst>
                    <a:cxn ang="0">
                      <a:pos x="T0" y="T1"/>
                    </a:cxn>
                    <a:cxn ang="0">
                      <a:pos x="T2" y="T3"/>
                    </a:cxn>
                  </a:cxnLst>
                  <a:rect l="0" t="0" r="r" b="b"/>
                  <a:pathLst>
                    <a:path w="41" h="45">
                      <a:moveTo>
                        <a:pt x="0" y="0"/>
                      </a:moveTo>
                      <a:cubicBezTo>
                        <a:pt x="0" y="0"/>
                        <a:pt x="0" y="40"/>
                        <a:pt x="41" y="4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00" name="Line 401">
                  <a:extLst>
                    <a:ext uri="{FF2B5EF4-FFF2-40B4-BE49-F238E27FC236}">
                      <a16:creationId xmlns:a16="http://schemas.microsoft.com/office/drawing/2014/main" id="{8CE773D9-C187-47C1-B604-0396DFAB6CF5}"/>
                    </a:ext>
                  </a:extLst>
                </p:cNvPr>
                <p:cNvSpPr>
                  <a:spLocks noChangeShapeType="1"/>
                </p:cNvSpPr>
                <p:nvPr/>
              </p:nvSpPr>
              <p:spPr bwMode="auto">
                <a:xfrm flipH="1" flipV="1">
                  <a:off x="3713592" y="3663561"/>
                  <a:ext cx="24686" cy="2389"/>
                </a:xfrm>
                <a:prstGeom prst="line">
                  <a:avLst/>
                </a:prstGeom>
                <a:noFill/>
                <a:ln w="3175"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01" name="Freeform 402">
                  <a:extLst>
                    <a:ext uri="{FF2B5EF4-FFF2-40B4-BE49-F238E27FC236}">
                      <a16:creationId xmlns:a16="http://schemas.microsoft.com/office/drawing/2014/main" id="{56D94B70-B1AF-4CA5-847C-BBDE81651740}"/>
                    </a:ext>
                  </a:extLst>
                </p:cNvPr>
                <p:cNvSpPr>
                  <a:spLocks/>
                </p:cNvSpPr>
                <p:nvPr/>
              </p:nvSpPr>
              <p:spPr bwMode="auto">
                <a:xfrm>
                  <a:off x="3615647" y="3699395"/>
                  <a:ext cx="62908" cy="24686"/>
                </a:xfrm>
                <a:custGeom>
                  <a:avLst/>
                  <a:gdLst>
                    <a:gd name="T0" fmla="*/ 83 w 83"/>
                    <a:gd name="T1" fmla="*/ 18 h 33"/>
                    <a:gd name="T2" fmla="*/ 0 w 83"/>
                    <a:gd name="T3" fmla="*/ 33 h 33"/>
                  </a:gdLst>
                  <a:ahLst/>
                  <a:cxnLst>
                    <a:cxn ang="0">
                      <a:pos x="T0" y="T1"/>
                    </a:cxn>
                    <a:cxn ang="0">
                      <a:pos x="T2" y="T3"/>
                    </a:cxn>
                  </a:cxnLst>
                  <a:rect l="0" t="0" r="r" b="b"/>
                  <a:pathLst>
                    <a:path w="83" h="33">
                      <a:moveTo>
                        <a:pt x="83" y="18"/>
                      </a:moveTo>
                      <a:cubicBezTo>
                        <a:pt x="83" y="18"/>
                        <a:pt x="53" y="0"/>
                        <a:pt x="0" y="3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02" name="Freeform 403">
                  <a:extLst>
                    <a:ext uri="{FF2B5EF4-FFF2-40B4-BE49-F238E27FC236}">
                      <a16:creationId xmlns:a16="http://schemas.microsoft.com/office/drawing/2014/main" id="{FDA36FBF-94C6-46D3-937E-E8E89E1AAD53}"/>
                    </a:ext>
                  </a:extLst>
                </p:cNvPr>
                <p:cNvSpPr>
                  <a:spLocks/>
                </p:cNvSpPr>
                <p:nvPr/>
              </p:nvSpPr>
              <p:spPr bwMode="auto">
                <a:xfrm>
                  <a:off x="3571054" y="3589506"/>
                  <a:ext cx="39815" cy="48575"/>
                </a:xfrm>
                <a:custGeom>
                  <a:avLst/>
                  <a:gdLst>
                    <a:gd name="T0" fmla="*/ 52 w 52"/>
                    <a:gd name="T1" fmla="*/ 41 h 65"/>
                    <a:gd name="T2" fmla="*/ 0 w 52"/>
                    <a:gd name="T3" fmla="*/ 65 h 65"/>
                    <a:gd name="T4" fmla="*/ 5 w 52"/>
                    <a:gd name="T5" fmla="*/ 0 h 65"/>
                  </a:gdLst>
                  <a:ahLst/>
                  <a:cxnLst>
                    <a:cxn ang="0">
                      <a:pos x="T0" y="T1"/>
                    </a:cxn>
                    <a:cxn ang="0">
                      <a:pos x="T2" y="T3"/>
                    </a:cxn>
                    <a:cxn ang="0">
                      <a:pos x="T4" y="T5"/>
                    </a:cxn>
                  </a:cxnLst>
                  <a:rect l="0" t="0" r="r" b="b"/>
                  <a:pathLst>
                    <a:path w="52" h="65">
                      <a:moveTo>
                        <a:pt x="52" y="41"/>
                      </a:moveTo>
                      <a:cubicBezTo>
                        <a:pt x="52" y="41"/>
                        <a:pt x="23" y="31"/>
                        <a:pt x="0" y="65"/>
                      </a:cubicBezTo>
                      <a:cubicBezTo>
                        <a:pt x="0" y="65"/>
                        <a:pt x="43" y="24"/>
                        <a:pt x="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03" name="Freeform 404">
                  <a:extLst>
                    <a:ext uri="{FF2B5EF4-FFF2-40B4-BE49-F238E27FC236}">
                      <a16:creationId xmlns:a16="http://schemas.microsoft.com/office/drawing/2014/main" id="{B6C700E0-2ADA-4CD2-87A6-2C67D4623699}"/>
                    </a:ext>
                  </a:extLst>
                </p:cNvPr>
                <p:cNvSpPr>
                  <a:spLocks/>
                </p:cNvSpPr>
                <p:nvPr/>
              </p:nvSpPr>
              <p:spPr bwMode="auto">
                <a:xfrm>
                  <a:off x="3504961" y="3583931"/>
                  <a:ext cx="46982" cy="35037"/>
                </a:xfrm>
                <a:custGeom>
                  <a:avLst/>
                  <a:gdLst>
                    <a:gd name="T0" fmla="*/ 62 w 62"/>
                    <a:gd name="T1" fmla="*/ 0 h 46"/>
                    <a:gd name="T2" fmla="*/ 0 w 62"/>
                    <a:gd name="T3" fmla="*/ 46 h 46"/>
                  </a:gdLst>
                  <a:ahLst/>
                  <a:cxnLst>
                    <a:cxn ang="0">
                      <a:pos x="T0" y="T1"/>
                    </a:cxn>
                    <a:cxn ang="0">
                      <a:pos x="T2" y="T3"/>
                    </a:cxn>
                  </a:cxnLst>
                  <a:rect l="0" t="0" r="r" b="b"/>
                  <a:pathLst>
                    <a:path w="62" h="46">
                      <a:moveTo>
                        <a:pt x="62" y="0"/>
                      </a:moveTo>
                      <a:cubicBezTo>
                        <a:pt x="62" y="0"/>
                        <a:pt x="10" y="31"/>
                        <a:pt x="0" y="4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04" name="Freeform 405">
                  <a:extLst>
                    <a:ext uri="{FF2B5EF4-FFF2-40B4-BE49-F238E27FC236}">
                      <a16:creationId xmlns:a16="http://schemas.microsoft.com/office/drawing/2014/main" id="{EF904C18-1D00-4BAD-A84C-C7D4B47A3255}"/>
                    </a:ext>
                  </a:extLst>
                </p:cNvPr>
                <p:cNvSpPr>
                  <a:spLocks/>
                </p:cNvSpPr>
                <p:nvPr/>
              </p:nvSpPr>
              <p:spPr bwMode="auto">
                <a:xfrm>
                  <a:off x="3664221" y="3496338"/>
                  <a:ext cx="96353" cy="23093"/>
                </a:xfrm>
                <a:custGeom>
                  <a:avLst/>
                  <a:gdLst>
                    <a:gd name="T0" fmla="*/ 129 w 129"/>
                    <a:gd name="T1" fmla="*/ 26 h 31"/>
                    <a:gd name="T2" fmla="*/ 90 w 129"/>
                    <a:gd name="T3" fmla="*/ 16 h 31"/>
                    <a:gd name="T4" fmla="*/ 0 w 129"/>
                    <a:gd name="T5" fmla="*/ 2 h 31"/>
                  </a:gdLst>
                  <a:ahLst/>
                  <a:cxnLst>
                    <a:cxn ang="0">
                      <a:pos x="T0" y="T1"/>
                    </a:cxn>
                    <a:cxn ang="0">
                      <a:pos x="T2" y="T3"/>
                    </a:cxn>
                    <a:cxn ang="0">
                      <a:pos x="T4" y="T5"/>
                    </a:cxn>
                  </a:cxnLst>
                  <a:rect l="0" t="0" r="r" b="b"/>
                  <a:pathLst>
                    <a:path w="129" h="31">
                      <a:moveTo>
                        <a:pt x="129" y="26"/>
                      </a:moveTo>
                      <a:cubicBezTo>
                        <a:pt x="129" y="26"/>
                        <a:pt x="120" y="31"/>
                        <a:pt x="90" y="16"/>
                      </a:cubicBezTo>
                      <a:cubicBezTo>
                        <a:pt x="60" y="1"/>
                        <a:pt x="23" y="0"/>
                        <a:pt x="0" y="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05" name="Freeform 406">
                  <a:extLst>
                    <a:ext uri="{FF2B5EF4-FFF2-40B4-BE49-F238E27FC236}">
                      <a16:creationId xmlns:a16="http://schemas.microsoft.com/office/drawing/2014/main" id="{50B6297B-95CD-4A9E-B559-5760B0EEDA3E}"/>
                    </a:ext>
                  </a:extLst>
                </p:cNvPr>
                <p:cNvSpPr>
                  <a:spLocks/>
                </p:cNvSpPr>
                <p:nvPr/>
              </p:nvSpPr>
              <p:spPr bwMode="auto">
                <a:xfrm>
                  <a:off x="3428516" y="3371319"/>
                  <a:ext cx="260391" cy="193502"/>
                </a:xfrm>
                <a:custGeom>
                  <a:avLst/>
                  <a:gdLst>
                    <a:gd name="T0" fmla="*/ 346 w 346"/>
                    <a:gd name="T1" fmla="*/ 0 h 257"/>
                    <a:gd name="T2" fmla="*/ 309 w 346"/>
                    <a:gd name="T3" fmla="*/ 17 h 257"/>
                    <a:gd name="T4" fmla="*/ 228 w 346"/>
                    <a:gd name="T5" fmla="*/ 59 h 257"/>
                    <a:gd name="T6" fmla="*/ 153 w 346"/>
                    <a:gd name="T7" fmla="*/ 137 h 257"/>
                    <a:gd name="T8" fmla="*/ 84 w 346"/>
                    <a:gd name="T9" fmla="*/ 195 h 257"/>
                    <a:gd name="T10" fmla="*/ 0 w 346"/>
                    <a:gd name="T11" fmla="*/ 257 h 257"/>
                  </a:gdLst>
                  <a:ahLst/>
                  <a:cxnLst>
                    <a:cxn ang="0">
                      <a:pos x="T0" y="T1"/>
                    </a:cxn>
                    <a:cxn ang="0">
                      <a:pos x="T2" y="T3"/>
                    </a:cxn>
                    <a:cxn ang="0">
                      <a:pos x="T4" y="T5"/>
                    </a:cxn>
                    <a:cxn ang="0">
                      <a:pos x="T6" y="T7"/>
                    </a:cxn>
                    <a:cxn ang="0">
                      <a:pos x="T8" y="T9"/>
                    </a:cxn>
                    <a:cxn ang="0">
                      <a:pos x="T10" y="T11"/>
                    </a:cxn>
                  </a:cxnLst>
                  <a:rect l="0" t="0" r="r" b="b"/>
                  <a:pathLst>
                    <a:path w="346" h="257">
                      <a:moveTo>
                        <a:pt x="346" y="0"/>
                      </a:moveTo>
                      <a:cubicBezTo>
                        <a:pt x="346" y="0"/>
                        <a:pt x="338" y="14"/>
                        <a:pt x="309" y="17"/>
                      </a:cubicBezTo>
                      <a:cubicBezTo>
                        <a:pt x="280" y="21"/>
                        <a:pt x="248" y="37"/>
                        <a:pt x="228" y="59"/>
                      </a:cubicBezTo>
                      <a:cubicBezTo>
                        <a:pt x="208" y="82"/>
                        <a:pt x="179" y="126"/>
                        <a:pt x="153" y="137"/>
                      </a:cubicBezTo>
                      <a:cubicBezTo>
                        <a:pt x="126" y="148"/>
                        <a:pt x="104" y="172"/>
                        <a:pt x="84" y="195"/>
                      </a:cubicBezTo>
                      <a:cubicBezTo>
                        <a:pt x="63" y="218"/>
                        <a:pt x="29" y="252"/>
                        <a:pt x="0" y="25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06" name="Freeform 407">
                  <a:extLst>
                    <a:ext uri="{FF2B5EF4-FFF2-40B4-BE49-F238E27FC236}">
                      <a16:creationId xmlns:a16="http://schemas.microsoft.com/office/drawing/2014/main" id="{CF069225-3E16-4F2E-B83D-C4E8A0622314}"/>
                    </a:ext>
                  </a:extLst>
                </p:cNvPr>
                <p:cNvSpPr>
                  <a:spLocks/>
                </p:cNvSpPr>
                <p:nvPr/>
              </p:nvSpPr>
              <p:spPr bwMode="auto">
                <a:xfrm>
                  <a:off x="3530443" y="3475634"/>
                  <a:ext cx="103519" cy="23093"/>
                </a:xfrm>
                <a:custGeom>
                  <a:avLst/>
                  <a:gdLst>
                    <a:gd name="T0" fmla="*/ 137 w 137"/>
                    <a:gd name="T1" fmla="*/ 25 h 31"/>
                    <a:gd name="T2" fmla="*/ 71 w 137"/>
                    <a:gd name="T3" fmla="*/ 16 h 31"/>
                    <a:gd name="T4" fmla="*/ 0 w 137"/>
                    <a:gd name="T5" fmla="*/ 8 h 31"/>
                  </a:gdLst>
                  <a:ahLst/>
                  <a:cxnLst>
                    <a:cxn ang="0">
                      <a:pos x="T0" y="T1"/>
                    </a:cxn>
                    <a:cxn ang="0">
                      <a:pos x="T2" y="T3"/>
                    </a:cxn>
                    <a:cxn ang="0">
                      <a:pos x="T4" y="T5"/>
                    </a:cxn>
                  </a:cxnLst>
                  <a:rect l="0" t="0" r="r" b="b"/>
                  <a:pathLst>
                    <a:path w="137" h="31">
                      <a:moveTo>
                        <a:pt x="137" y="25"/>
                      </a:moveTo>
                      <a:cubicBezTo>
                        <a:pt x="137" y="25"/>
                        <a:pt x="106" y="31"/>
                        <a:pt x="71" y="16"/>
                      </a:cubicBezTo>
                      <a:cubicBezTo>
                        <a:pt x="36" y="0"/>
                        <a:pt x="14" y="3"/>
                        <a:pt x="0" y="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07" name="Freeform 408">
                  <a:extLst>
                    <a:ext uri="{FF2B5EF4-FFF2-40B4-BE49-F238E27FC236}">
                      <a16:creationId xmlns:a16="http://schemas.microsoft.com/office/drawing/2014/main" id="{66255DD3-00D7-4DFF-8662-92D547A57220}"/>
                    </a:ext>
                  </a:extLst>
                </p:cNvPr>
                <p:cNvSpPr>
                  <a:spLocks/>
                </p:cNvSpPr>
                <p:nvPr/>
              </p:nvSpPr>
              <p:spPr bwMode="auto">
                <a:xfrm>
                  <a:off x="3664221" y="3384856"/>
                  <a:ext cx="27074" cy="11148"/>
                </a:xfrm>
                <a:custGeom>
                  <a:avLst/>
                  <a:gdLst>
                    <a:gd name="T0" fmla="*/ 36 w 36"/>
                    <a:gd name="T1" fmla="*/ 15 h 15"/>
                    <a:gd name="T2" fmla="*/ 0 w 36"/>
                    <a:gd name="T3" fmla="*/ 0 h 15"/>
                  </a:gdLst>
                  <a:ahLst/>
                  <a:cxnLst>
                    <a:cxn ang="0">
                      <a:pos x="T0" y="T1"/>
                    </a:cxn>
                    <a:cxn ang="0">
                      <a:pos x="T2" y="T3"/>
                    </a:cxn>
                  </a:cxnLst>
                  <a:rect l="0" t="0" r="r" b="b"/>
                  <a:pathLst>
                    <a:path w="36" h="15">
                      <a:moveTo>
                        <a:pt x="36" y="15"/>
                      </a:moveTo>
                      <a:cubicBezTo>
                        <a:pt x="36" y="15"/>
                        <a:pt x="20" y="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08" name="Freeform 409">
                  <a:extLst>
                    <a:ext uri="{FF2B5EF4-FFF2-40B4-BE49-F238E27FC236}">
                      <a16:creationId xmlns:a16="http://schemas.microsoft.com/office/drawing/2014/main" id="{178B3282-75AC-4C88-A342-3DF3D561EE58}"/>
                    </a:ext>
                  </a:extLst>
                </p:cNvPr>
                <p:cNvSpPr>
                  <a:spLocks/>
                </p:cNvSpPr>
                <p:nvPr/>
              </p:nvSpPr>
              <p:spPr bwMode="auto">
                <a:xfrm>
                  <a:off x="3643518" y="3265410"/>
                  <a:ext cx="20704" cy="32649"/>
                </a:xfrm>
                <a:custGeom>
                  <a:avLst/>
                  <a:gdLst>
                    <a:gd name="T0" fmla="*/ 27 w 27"/>
                    <a:gd name="T1" fmla="*/ 0 h 44"/>
                    <a:gd name="T2" fmla="*/ 0 w 27"/>
                    <a:gd name="T3" fmla="*/ 44 h 44"/>
                  </a:gdLst>
                  <a:ahLst/>
                  <a:cxnLst>
                    <a:cxn ang="0">
                      <a:pos x="T0" y="T1"/>
                    </a:cxn>
                    <a:cxn ang="0">
                      <a:pos x="T2" y="T3"/>
                    </a:cxn>
                  </a:cxnLst>
                  <a:rect l="0" t="0" r="r" b="b"/>
                  <a:pathLst>
                    <a:path w="27" h="44">
                      <a:moveTo>
                        <a:pt x="27" y="0"/>
                      </a:moveTo>
                      <a:cubicBezTo>
                        <a:pt x="27" y="0"/>
                        <a:pt x="10" y="37"/>
                        <a:pt x="0" y="4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09" name="Freeform 410">
                  <a:extLst>
                    <a:ext uri="{FF2B5EF4-FFF2-40B4-BE49-F238E27FC236}">
                      <a16:creationId xmlns:a16="http://schemas.microsoft.com/office/drawing/2014/main" id="{087AD140-2C11-46CF-9956-509C36F4D6A8}"/>
                    </a:ext>
                  </a:extLst>
                </p:cNvPr>
                <p:cNvSpPr>
                  <a:spLocks/>
                </p:cNvSpPr>
                <p:nvPr/>
              </p:nvSpPr>
              <p:spPr bwMode="auto">
                <a:xfrm>
                  <a:off x="3536016" y="3327522"/>
                  <a:ext cx="39815" cy="56538"/>
                </a:xfrm>
                <a:custGeom>
                  <a:avLst/>
                  <a:gdLst>
                    <a:gd name="T0" fmla="*/ 53 w 53"/>
                    <a:gd name="T1" fmla="*/ 16 h 75"/>
                    <a:gd name="T2" fmla="*/ 31 w 53"/>
                    <a:gd name="T3" fmla="*/ 75 h 75"/>
                    <a:gd name="T4" fmla="*/ 0 w 53"/>
                    <a:gd name="T5" fmla="*/ 0 h 75"/>
                  </a:gdLst>
                  <a:ahLst/>
                  <a:cxnLst>
                    <a:cxn ang="0">
                      <a:pos x="T0" y="T1"/>
                    </a:cxn>
                    <a:cxn ang="0">
                      <a:pos x="T2" y="T3"/>
                    </a:cxn>
                    <a:cxn ang="0">
                      <a:pos x="T4" y="T5"/>
                    </a:cxn>
                  </a:cxnLst>
                  <a:rect l="0" t="0" r="r" b="b"/>
                  <a:pathLst>
                    <a:path w="53" h="75">
                      <a:moveTo>
                        <a:pt x="53" y="16"/>
                      </a:moveTo>
                      <a:cubicBezTo>
                        <a:pt x="53" y="16"/>
                        <a:pt x="29" y="26"/>
                        <a:pt x="31" y="75"/>
                      </a:cubicBezTo>
                      <a:cubicBezTo>
                        <a:pt x="31" y="75"/>
                        <a:pt x="41" y="26"/>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10" name="Freeform 411">
                  <a:extLst>
                    <a:ext uri="{FF2B5EF4-FFF2-40B4-BE49-F238E27FC236}">
                      <a16:creationId xmlns:a16="http://schemas.microsoft.com/office/drawing/2014/main" id="{0F2A0579-0F75-4945-8A71-BDA98B5D7794}"/>
                    </a:ext>
                  </a:extLst>
                </p:cNvPr>
                <p:cNvSpPr>
                  <a:spLocks/>
                </p:cNvSpPr>
                <p:nvPr/>
              </p:nvSpPr>
              <p:spPr bwMode="auto">
                <a:xfrm>
                  <a:off x="3430904" y="3259040"/>
                  <a:ext cx="160057" cy="45389"/>
                </a:xfrm>
                <a:custGeom>
                  <a:avLst/>
                  <a:gdLst>
                    <a:gd name="T0" fmla="*/ 213 w 213"/>
                    <a:gd name="T1" fmla="*/ 0 h 60"/>
                    <a:gd name="T2" fmla="*/ 91 w 213"/>
                    <a:gd name="T3" fmla="*/ 4 h 60"/>
                    <a:gd name="T4" fmla="*/ 50 w 213"/>
                    <a:gd name="T5" fmla="*/ 33 h 60"/>
                    <a:gd name="T6" fmla="*/ 0 w 213"/>
                    <a:gd name="T7" fmla="*/ 32 h 60"/>
                  </a:gdLst>
                  <a:ahLst/>
                  <a:cxnLst>
                    <a:cxn ang="0">
                      <a:pos x="T0" y="T1"/>
                    </a:cxn>
                    <a:cxn ang="0">
                      <a:pos x="T2" y="T3"/>
                    </a:cxn>
                    <a:cxn ang="0">
                      <a:pos x="T4" y="T5"/>
                    </a:cxn>
                    <a:cxn ang="0">
                      <a:pos x="T6" y="T7"/>
                    </a:cxn>
                  </a:cxnLst>
                  <a:rect l="0" t="0" r="r" b="b"/>
                  <a:pathLst>
                    <a:path w="213" h="60">
                      <a:moveTo>
                        <a:pt x="213" y="0"/>
                      </a:moveTo>
                      <a:cubicBezTo>
                        <a:pt x="213" y="0"/>
                        <a:pt x="140" y="60"/>
                        <a:pt x="91" y="4"/>
                      </a:cubicBezTo>
                      <a:cubicBezTo>
                        <a:pt x="91" y="4"/>
                        <a:pt x="96" y="32"/>
                        <a:pt x="50" y="33"/>
                      </a:cubicBezTo>
                      <a:cubicBezTo>
                        <a:pt x="4" y="34"/>
                        <a:pt x="21" y="36"/>
                        <a:pt x="0" y="3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11" name="Freeform 412">
                  <a:extLst>
                    <a:ext uri="{FF2B5EF4-FFF2-40B4-BE49-F238E27FC236}">
                      <a16:creationId xmlns:a16="http://schemas.microsoft.com/office/drawing/2014/main" id="{4FD71DA4-D995-4294-BB77-459247680030}"/>
                    </a:ext>
                  </a:extLst>
                </p:cNvPr>
                <p:cNvSpPr>
                  <a:spLocks/>
                </p:cNvSpPr>
                <p:nvPr/>
              </p:nvSpPr>
              <p:spPr bwMode="auto">
                <a:xfrm>
                  <a:off x="3426923" y="3280540"/>
                  <a:ext cx="50963" cy="134575"/>
                </a:xfrm>
                <a:custGeom>
                  <a:avLst/>
                  <a:gdLst>
                    <a:gd name="T0" fmla="*/ 68 w 68"/>
                    <a:gd name="T1" fmla="*/ 179 h 179"/>
                    <a:gd name="T2" fmla="*/ 12 w 68"/>
                    <a:gd name="T3" fmla="*/ 108 h 179"/>
                    <a:gd name="T4" fmla="*/ 0 w 68"/>
                    <a:gd name="T5" fmla="*/ 0 h 179"/>
                  </a:gdLst>
                  <a:ahLst/>
                  <a:cxnLst>
                    <a:cxn ang="0">
                      <a:pos x="T0" y="T1"/>
                    </a:cxn>
                    <a:cxn ang="0">
                      <a:pos x="T2" y="T3"/>
                    </a:cxn>
                    <a:cxn ang="0">
                      <a:pos x="T4" y="T5"/>
                    </a:cxn>
                  </a:cxnLst>
                  <a:rect l="0" t="0" r="r" b="b"/>
                  <a:pathLst>
                    <a:path w="68" h="179">
                      <a:moveTo>
                        <a:pt x="68" y="179"/>
                      </a:moveTo>
                      <a:cubicBezTo>
                        <a:pt x="68" y="179"/>
                        <a:pt x="60" y="103"/>
                        <a:pt x="12" y="108"/>
                      </a:cubicBezTo>
                      <a:cubicBezTo>
                        <a:pt x="12" y="108"/>
                        <a:pt x="44" y="46"/>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12" name="Freeform 413">
                  <a:extLst>
                    <a:ext uri="{FF2B5EF4-FFF2-40B4-BE49-F238E27FC236}">
                      <a16:creationId xmlns:a16="http://schemas.microsoft.com/office/drawing/2014/main" id="{1578842C-98F3-4762-ABB7-CBE908E7D15D}"/>
                    </a:ext>
                  </a:extLst>
                </p:cNvPr>
                <p:cNvSpPr>
                  <a:spLocks/>
                </p:cNvSpPr>
                <p:nvPr/>
              </p:nvSpPr>
              <p:spPr bwMode="auto">
                <a:xfrm>
                  <a:off x="3360830" y="3079075"/>
                  <a:ext cx="66093" cy="201465"/>
                </a:xfrm>
                <a:custGeom>
                  <a:avLst/>
                  <a:gdLst>
                    <a:gd name="T0" fmla="*/ 88 w 88"/>
                    <a:gd name="T1" fmla="*/ 268 h 268"/>
                    <a:gd name="T2" fmla="*/ 35 w 88"/>
                    <a:gd name="T3" fmla="*/ 219 h 268"/>
                    <a:gd name="T4" fmla="*/ 6 w 88"/>
                    <a:gd name="T5" fmla="*/ 142 h 268"/>
                    <a:gd name="T6" fmla="*/ 31 w 88"/>
                    <a:gd name="T7" fmla="*/ 85 h 268"/>
                    <a:gd name="T8" fmla="*/ 47 w 88"/>
                    <a:gd name="T9" fmla="*/ 56 h 268"/>
                    <a:gd name="T10" fmla="*/ 65 w 88"/>
                    <a:gd name="T11" fmla="*/ 30 h 268"/>
                    <a:gd name="T12" fmla="*/ 81 w 88"/>
                    <a:gd name="T13" fmla="*/ 0 h 268"/>
                  </a:gdLst>
                  <a:ahLst/>
                  <a:cxnLst>
                    <a:cxn ang="0">
                      <a:pos x="T0" y="T1"/>
                    </a:cxn>
                    <a:cxn ang="0">
                      <a:pos x="T2" y="T3"/>
                    </a:cxn>
                    <a:cxn ang="0">
                      <a:pos x="T4" y="T5"/>
                    </a:cxn>
                    <a:cxn ang="0">
                      <a:pos x="T6" y="T7"/>
                    </a:cxn>
                    <a:cxn ang="0">
                      <a:pos x="T8" y="T9"/>
                    </a:cxn>
                    <a:cxn ang="0">
                      <a:pos x="T10" y="T11"/>
                    </a:cxn>
                    <a:cxn ang="0">
                      <a:pos x="T12" y="T13"/>
                    </a:cxn>
                  </a:cxnLst>
                  <a:rect l="0" t="0" r="r" b="b"/>
                  <a:pathLst>
                    <a:path w="88" h="268">
                      <a:moveTo>
                        <a:pt x="88" y="268"/>
                      </a:moveTo>
                      <a:cubicBezTo>
                        <a:pt x="88" y="268"/>
                        <a:pt x="54" y="230"/>
                        <a:pt x="35" y="219"/>
                      </a:cubicBezTo>
                      <a:cubicBezTo>
                        <a:pt x="17" y="209"/>
                        <a:pt x="0" y="185"/>
                        <a:pt x="6" y="142"/>
                      </a:cubicBezTo>
                      <a:cubicBezTo>
                        <a:pt x="13" y="98"/>
                        <a:pt x="21" y="94"/>
                        <a:pt x="31" y="85"/>
                      </a:cubicBezTo>
                      <a:cubicBezTo>
                        <a:pt x="41" y="75"/>
                        <a:pt x="44" y="69"/>
                        <a:pt x="47" y="56"/>
                      </a:cubicBezTo>
                      <a:cubicBezTo>
                        <a:pt x="51" y="42"/>
                        <a:pt x="58" y="43"/>
                        <a:pt x="65" y="30"/>
                      </a:cubicBezTo>
                      <a:cubicBezTo>
                        <a:pt x="73" y="17"/>
                        <a:pt x="79" y="23"/>
                        <a:pt x="81"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13" name="Freeform 414">
                  <a:extLst>
                    <a:ext uri="{FF2B5EF4-FFF2-40B4-BE49-F238E27FC236}">
                      <a16:creationId xmlns:a16="http://schemas.microsoft.com/office/drawing/2014/main" id="{F432BF5F-0CA0-4ECD-A3B7-B7D8149C05C6}"/>
                    </a:ext>
                  </a:extLst>
                </p:cNvPr>
                <p:cNvSpPr>
                  <a:spLocks/>
                </p:cNvSpPr>
                <p:nvPr/>
              </p:nvSpPr>
              <p:spPr bwMode="auto">
                <a:xfrm>
                  <a:off x="3549554" y="3173836"/>
                  <a:ext cx="21500" cy="36630"/>
                </a:xfrm>
                <a:custGeom>
                  <a:avLst/>
                  <a:gdLst>
                    <a:gd name="T0" fmla="*/ 29 w 29"/>
                    <a:gd name="T1" fmla="*/ 0 h 48"/>
                    <a:gd name="T2" fmla="*/ 0 w 29"/>
                    <a:gd name="T3" fmla="*/ 48 h 48"/>
                  </a:gdLst>
                  <a:ahLst/>
                  <a:cxnLst>
                    <a:cxn ang="0">
                      <a:pos x="T0" y="T1"/>
                    </a:cxn>
                    <a:cxn ang="0">
                      <a:pos x="T2" y="T3"/>
                    </a:cxn>
                  </a:cxnLst>
                  <a:rect l="0" t="0" r="r" b="b"/>
                  <a:pathLst>
                    <a:path w="29" h="48">
                      <a:moveTo>
                        <a:pt x="29" y="0"/>
                      </a:moveTo>
                      <a:cubicBezTo>
                        <a:pt x="29" y="0"/>
                        <a:pt x="19" y="33"/>
                        <a:pt x="0" y="4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14" name="Freeform 415">
                  <a:extLst>
                    <a:ext uri="{FF2B5EF4-FFF2-40B4-BE49-F238E27FC236}">
                      <a16:creationId xmlns:a16="http://schemas.microsoft.com/office/drawing/2014/main" id="{B088718F-9481-4BAC-B702-B803A6C95C6B}"/>
                    </a:ext>
                  </a:extLst>
                </p:cNvPr>
                <p:cNvSpPr>
                  <a:spLocks/>
                </p:cNvSpPr>
                <p:nvPr/>
              </p:nvSpPr>
              <p:spPr bwMode="auto">
                <a:xfrm>
                  <a:off x="3397460" y="3432634"/>
                  <a:ext cx="21500" cy="19111"/>
                </a:xfrm>
                <a:custGeom>
                  <a:avLst/>
                  <a:gdLst>
                    <a:gd name="T0" fmla="*/ 0 w 28"/>
                    <a:gd name="T1" fmla="*/ 0 h 25"/>
                    <a:gd name="T2" fmla="*/ 28 w 28"/>
                    <a:gd name="T3" fmla="*/ 5 h 25"/>
                    <a:gd name="T4" fmla="*/ 14 w 28"/>
                    <a:gd name="T5" fmla="*/ 25 h 25"/>
                  </a:gdLst>
                  <a:ahLst/>
                  <a:cxnLst>
                    <a:cxn ang="0">
                      <a:pos x="T0" y="T1"/>
                    </a:cxn>
                    <a:cxn ang="0">
                      <a:pos x="T2" y="T3"/>
                    </a:cxn>
                    <a:cxn ang="0">
                      <a:pos x="T4" y="T5"/>
                    </a:cxn>
                  </a:cxnLst>
                  <a:rect l="0" t="0" r="r" b="b"/>
                  <a:pathLst>
                    <a:path w="28" h="25">
                      <a:moveTo>
                        <a:pt x="0" y="0"/>
                      </a:moveTo>
                      <a:cubicBezTo>
                        <a:pt x="13" y="10"/>
                        <a:pt x="28" y="5"/>
                        <a:pt x="28" y="5"/>
                      </a:cubicBezTo>
                      <a:cubicBezTo>
                        <a:pt x="28" y="5"/>
                        <a:pt x="16" y="11"/>
                        <a:pt x="14" y="2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15" name="Freeform 416">
                  <a:extLst>
                    <a:ext uri="{FF2B5EF4-FFF2-40B4-BE49-F238E27FC236}">
                      <a16:creationId xmlns:a16="http://schemas.microsoft.com/office/drawing/2014/main" id="{0BABCCB0-27C5-4F80-A9F8-85EF67C0B21E}"/>
                    </a:ext>
                  </a:extLst>
                </p:cNvPr>
                <p:cNvSpPr>
                  <a:spLocks/>
                </p:cNvSpPr>
                <p:nvPr/>
              </p:nvSpPr>
              <p:spPr bwMode="auto">
                <a:xfrm>
                  <a:off x="3301107" y="3282133"/>
                  <a:ext cx="68482" cy="78834"/>
                </a:xfrm>
                <a:custGeom>
                  <a:avLst/>
                  <a:gdLst>
                    <a:gd name="T0" fmla="*/ 60 w 91"/>
                    <a:gd name="T1" fmla="*/ 0 h 104"/>
                    <a:gd name="T2" fmla="*/ 61 w 91"/>
                    <a:gd name="T3" fmla="*/ 62 h 104"/>
                    <a:gd name="T4" fmla="*/ 0 w 91"/>
                    <a:gd name="T5" fmla="*/ 86 h 104"/>
                  </a:gdLst>
                  <a:ahLst/>
                  <a:cxnLst>
                    <a:cxn ang="0">
                      <a:pos x="T0" y="T1"/>
                    </a:cxn>
                    <a:cxn ang="0">
                      <a:pos x="T2" y="T3"/>
                    </a:cxn>
                    <a:cxn ang="0">
                      <a:pos x="T4" y="T5"/>
                    </a:cxn>
                  </a:cxnLst>
                  <a:rect l="0" t="0" r="r" b="b"/>
                  <a:pathLst>
                    <a:path w="91" h="104">
                      <a:moveTo>
                        <a:pt x="60" y="0"/>
                      </a:moveTo>
                      <a:cubicBezTo>
                        <a:pt x="60" y="0"/>
                        <a:pt x="91" y="29"/>
                        <a:pt x="61" y="62"/>
                      </a:cubicBezTo>
                      <a:cubicBezTo>
                        <a:pt x="30" y="95"/>
                        <a:pt x="27" y="104"/>
                        <a:pt x="0" y="8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16" name="Freeform 417">
                  <a:extLst>
                    <a:ext uri="{FF2B5EF4-FFF2-40B4-BE49-F238E27FC236}">
                      <a16:creationId xmlns:a16="http://schemas.microsoft.com/office/drawing/2014/main" id="{929980CC-4E46-4B2B-BF8D-A11E6029C804}"/>
                    </a:ext>
                  </a:extLst>
                </p:cNvPr>
                <p:cNvSpPr>
                  <a:spLocks/>
                </p:cNvSpPr>
                <p:nvPr/>
              </p:nvSpPr>
              <p:spPr bwMode="auto">
                <a:xfrm>
                  <a:off x="3324996" y="3295670"/>
                  <a:ext cx="65297" cy="74056"/>
                </a:xfrm>
                <a:custGeom>
                  <a:avLst/>
                  <a:gdLst>
                    <a:gd name="T0" fmla="*/ 87 w 87"/>
                    <a:gd name="T1" fmla="*/ 17 h 99"/>
                    <a:gd name="T2" fmla="*/ 31 w 87"/>
                    <a:gd name="T3" fmla="*/ 40 h 99"/>
                    <a:gd name="T4" fmla="*/ 15 w 87"/>
                    <a:gd name="T5" fmla="*/ 99 h 99"/>
                  </a:gdLst>
                  <a:ahLst/>
                  <a:cxnLst>
                    <a:cxn ang="0">
                      <a:pos x="T0" y="T1"/>
                    </a:cxn>
                    <a:cxn ang="0">
                      <a:pos x="T2" y="T3"/>
                    </a:cxn>
                    <a:cxn ang="0">
                      <a:pos x="T4" y="T5"/>
                    </a:cxn>
                  </a:cxnLst>
                  <a:rect l="0" t="0" r="r" b="b"/>
                  <a:pathLst>
                    <a:path w="87" h="99">
                      <a:moveTo>
                        <a:pt x="87" y="17"/>
                      </a:moveTo>
                      <a:cubicBezTo>
                        <a:pt x="87" y="17"/>
                        <a:pt x="63" y="0"/>
                        <a:pt x="31" y="40"/>
                      </a:cubicBezTo>
                      <a:cubicBezTo>
                        <a:pt x="0" y="79"/>
                        <a:pt x="0" y="84"/>
                        <a:pt x="15" y="9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17" name="Freeform 418">
                  <a:extLst>
                    <a:ext uri="{FF2B5EF4-FFF2-40B4-BE49-F238E27FC236}">
                      <a16:creationId xmlns:a16="http://schemas.microsoft.com/office/drawing/2014/main" id="{B13839C8-5C54-4566-AE1B-C2387D0053DC}"/>
                    </a:ext>
                  </a:extLst>
                </p:cNvPr>
                <p:cNvSpPr>
                  <a:spLocks/>
                </p:cNvSpPr>
                <p:nvPr/>
              </p:nvSpPr>
              <p:spPr bwMode="auto">
                <a:xfrm>
                  <a:off x="3203958" y="3194540"/>
                  <a:ext cx="167224" cy="33445"/>
                </a:xfrm>
                <a:custGeom>
                  <a:avLst/>
                  <a:gdLst>
                    <a:gd name="T0" fmla="*/ 223 w 223"/>
                    <a:gd name="T1" fmla="*/ 44 h 45"/>
                    <a:gd name="T2" fmla="*/ 165 w 223"/>
                    <a:gd name="T3" fmla="*/ 27 h 45"/>
                    <a:gd name="T4" fmla="*/ 0 w 223"/>
                    <a:gd name="T5" fmla="*/ 0 h 45"/>
                  </a:gdLst>
                  <a:ahLst/>
                  <a:cxnLst>
                    <a:cxn ang="0">
                      <a:pos x="T0" y="T1"/>
                    </a:cxn>
                    <a:cxn ang="0">
                      <a:pos x="T2" y="T3"/>
                    </a:cxn>
                    <a:cxn ang="0">
                      <a:pos x="T4" y="T5"/>
                    </a:cxn>
                  </a:cxnLst>
                  <a:rect l="0" t="0" r="r" b="b"/>
                  <a:pathLst>
                    <a:path w="223" h="45">
                      <a:moveTo>
                        <a:pt x="223" y="44"/>
                      </a:moveTo>
                      <a:cubicBezTo>
                        <a:pt x="223" y="44"/>
                        <a:pt x="215" y="23"/>
                        <a:pt x="165" y="27"/>
                      </a:cubicBezTo>
                      <a:cubicBezTo>
                        <a:pt x="115" y="31"/>
                        <a:pt x="75" y="45"/>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18" name="Freeform 419">
                  <a:extLst>
                    <a:ext uri="{FF2B5EF4-FFF2-40B4-BE49-F238E27FC236}">
                      <a16:creationId xmlns:a16="http://schemas.microsoft.com/office/drawing/2014/main" id="{463D909D-00AB-44D2-943E-6D28DC470552}"/>
                    </a:ext>
                  </a:extLst>
                </p:cNvPr>
                <p:cNvSpPr>
                  <a:spLocks/>
                </p:cNvSpPr>
                <p:nvPr/>
              </p:nvSpPr>
              <p:spPr bwMode="auto">
                <a:xfrm>
                  <a:off x="3211922" y="3133224"/>
                  <a:ext cx="46982" cy="83612"/>
                </a:xfrm>
                <a:custGeom>
                  <a:avLst/>
                  <a:gdLst>
                    <a:gd name="T0" fmla="*/ 35 w 62"/>
                    <a:gd name="T1" fmla="*/ 0 h 112"/>
                    <a:gd name="T2" fmla="*/ 39 w 62"/>
                    <a:gd name="T3" fmla="*/ 71 h 112"/>
                    <a:gd name="T4" fmla="*/ 0 w 62"/>
                    <a:gd name="T5" fmla="*/ 87 h 112"/>
                  </a:gdLst>
                  <a:ahLst/>
                  <a:cxnLst>
                    <a:cxn ang="0">
                      <a:pos x="T0" y="T1"/>
                    </a:cxn>
                    <a:cxn ang="0">
                      <a:pos x="T2" y="T3"/>
                    </a:cxn>
                    <a:cxn ang="0">
                      <a:pos x="T4" y="T5"/>
                    </a:cxn>
                  </a:cxnLst>
                  <a:rect l="0" t="0" r="r" b="b"/>
                  <a:pathLst>
                    <a:path w="62" h="112">
                      <a:moveTo>
                        <a:pt x="35" y="0"/>
                      </a:moveTo>
                      <a:cubicBezTo>
                        <a:pt x="35" y="0"/>
                        <a:pt x="62" y="17"/>
                        <a:pt x="39" y="71"/>
                      </a:cubicBezTo>
                      <a:cubicBezTo>
                        <a:pt x="21" y="112"/>
                        <a:pt x="9" y="90"/>
                        <a:pt x="0" y="8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19" name="Freeform 420">
                  <a:extLst>
                    <a:ext uri="{FF2B5EF4-FFF2-40B4-BE49-F238E27FC236}">
                      <a16:creationId xmlns:a16="http://schemas.microsoft.com/office/drawing/2014/main" id="{6C8A01F8-169F-4321-9BC7-CC2655E58BAA}"/>
                    </a:ext>
                  </a:extLst>
                </p:cNvPr>
                <p:cNvSpPr>
                  <a:spLocks/>
                </p:cNvSpPr>
                <p:nvPr/>
              </p:nvSpPr>
              <p:spPr bwMode="auto">
                <a:xfrm>
                  <a:off x="3237403" y="3146761"/>
                  <a:ext cx="39019" cy="66093"/>
                </a:xfrm>
                <a:custGeom>
                  <a:avLst/>
                  <a:gdLst>
                    <a:gd name="T0" fmla="*/ 52 w 52"/>
                    <a:gd name="T1" fmla="*/ 0 h 87"/>
                    <a:gd name="T2" fmla="*/ 10 w 52"/>
                    <a:gd name="T3" fmla="*/ 36 h 87"/>
                    <a:gd name="T4" fmla="*/ 12 w 52"/>
                    <a:gd name="T5" fmla="*/ 87 h 87"/>
                  </a:gdLst>
                  <a:ahLst/>
                  <a:cxnLst>
                    <a:cxn ang="0">
                      <a:pos x="T0" y="T1"/>
                    </a:cxn>
                    <a:cxn ang="0">
                      <a:pos x="T2" y="T3"/>
                    </a:cxn>
                    <a:cxn ang="0">
                      <a:pos x="T4" y="T5"/>
                    </a:cxn>
                  </a:cxnLst>
                  <a:rect l="0" t="0" r="r" b="b"/>
                  <a:pathLst>
                    <a:path w="52" h="87">
                      <a:moveTo>
                        <a:pt x="52" y="0"/>
                      </a:moveTo>
                      <a:cubicBezTo>
                        <a:pt x="52" y="0"/>
                        <a:pt x="20" y="4"/>
                        <a:pt x="10" y="36"/>
                      </a:cubicBezTo>
                      <a:cubicBezTo>
                        <a:pt x="0" y="68"/>
                        <a:pt x="1" y="81"/>
                        <a:pt x="12" y="8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20" name="Freeform 421">
                  <a:extLst>
                    <a:ext uri="{FF2B5EF4-FFF2-40B4-BE49-F238E27FC236}">
                      <a16:creationId xmlns:a16="http://schemas.microsoft.com/office/drawing/2014/main" id="{5AD83305-4D81-4519-AA92-05497B1BEF0F}"/>
                    </a:ext>
                  </a:extLst>
                </p:cNvPr>
                <p:cNvSpPr>
                  <a:spLocks/>
                </p:cNvSpPr>
                <p:nvPr/>
              </p:nvSpPr>
              <p:spPr bwMode="auto">
                <a:xfrm>
                  <a:off x="3344904" y="3194540"/>
                  <a:ext cx="19111" cy="23093"/>
                </a:xfrm>
                <a:custGeom>
                  <a:avLst/>
                  <a:gdLst>
                    <a:gd name="T0" fmla="*/ 0 w 25"/>
                    <a:gd name="T1" fmla="*/ 26 h 31"/>
                    <a:gd name="T2" fmla="*/ 25 w 25"/>
                    <a:gd name="T3" fmla="*/ 0 h 31"/>
                  </a:gdLst>
                  <a:ahLst/>
                  <a:cxnLst>
                    <a:cxn ang="0">
                      <a:pos x="T0" y="T1"/>
                    </a:cxn>
                    <a:cxn ang="0">
                      <a:pos x="T2" y="T3"/>
                    </a:cxn>
                  </a:cxnLst>
                  <a:rect l="0" t="0" r="r" b="b"/>
                  <a:pathLst>
                    <a:path w="25" h="31">
                      <a:moveTo>
                        <a:pt x="0" y="26"/>
                      </a:moveTo>
                      <a:cubicBezTo>
                        <a:pt x="0" y="26"/>
                        <a:pt x="14" y="31"/>
                        <a:pt x="2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21" name="Freeform 422">
                  <a:extLst>
                    <a:ext uri="{FF2B5EF4-FFF2-40B4-BE49-F238E27FC236}">
                      <a16:creationId xmlns:a16="http://schemas.microsoft.com/office/drawing/2014/main" id="{7F5D2DCF-A301-4D55-8CF7-EA90AFBFB9BF}"/>
                    </a:ext>
                  </a:extLst>
                </p:cNvPr>
                <p:cNvSpPr>
                  <a:spLocks/>
                </p:cNvSpPr>
                <p:nvPr/>
              </p:nvSpPr>
              <p:spPr bwMode="auto">
                <a:xfrm>
                  <a:off x="3184847" y="3027316"/>
                  <a:ext cx="31056" cy="141742"/>
                </a:xfrm>
                <a:custGeom>
                  <a:avLst/>
                  <a:gdLst>
                    <a:gd name="T0" fmla="*/ 2 w 41"/>
                    <a:gd name="T1" fmla="*/ 0 h 188"/>
                    <a:gd name="T2" fmla="*/ 0 w 41"/>
                    <a:gd name="T3" fmla="*/ 78 h 188"/>
                    <a:gd name="T4" fmla="*/ 7 w 41"/>
                    <a:gd name="T5" fmla="*/ 188 h 188"/>
                  </a:gdLst>
                  <a:ahLst/>
                  <a:cxnLst>
                    <a:cxn ang="0">
                      <a:pos x="T0" y="T1"/>
                    </a:cxn>
                    <a:cxn ang="0">
                      <a:pos x="T2" y="T3"/>
                    </a:cxn>
                    <a:cxn ang="0">
                      <a:pos x="T4" y="T5"/>
                    </a:cxn>
                  </a:cxnLst>
                  <a:rect l="0" t="0" r="r" b="b"/>
                  <a:pathLst>
                    <a:path w="41" h="188">
                      <a:moveTo>
                        <a:pt x="2" y="0"/>
                      </a:moveTo>
                      <a:cubicBezTo>
                        <a:pt x="2" y="0"/>
                        <a:pt x="41" y="54"/>
                        <a:pt x="0" y="78"/>
                      </a:cubicBezTo>
                      <a:cubicBezTo>
                        <a:pt x="0" y="78"/>
                        <a:pt x="41" y="106"/>
                        <a:pt x="7" y="18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22" name="Freeform 423">
                  <a:extLst>
                    <a:ext uri="{FF2B5EF4-FFF2-40B4-BE49-F238E27FC236}">
                      <a16:creationId xmlns:a16="http://schemas.microsoft.com/office/drawing/2014/main" id="{3E47EA02-1ED5-43DA-BBFF-19D5CC56DB92}"/>
                    </a:ext>
                  </a:extLst>
                </p:cNvPr>
                <p:cNvSpPr>
                  <a:spLocks/>
                </p:cNvSpPr>
                <p:nvPr/>
              </p:nvSpPr>
              <p:spPr bwMode="auto">
                <a:xfrm>
                  <a:off x="3292348" y="3041649"/>
                  <a:ext cx="15926" cy="55741"/>
                </a:xfrm>
                <a:custGeom>
                  <a:avLst/>
                  <a:gdLst>
                    <a:gd name="T0" fmla="*/ 15 w 21"/>
                    <a:gd name="T1" fmla="*/ 0 h 74"/>
                    <a:gd name="T2" fmla="*/ 15 w 21"/>
                    <a:gd name="T3" fmla="*/ 30 h 74"/>
                    <a:gd name="T4" fmla="*/ 10 w 21"/>
                    <a:gd name="T5" fmla="*/ 74 h 74"/>
                  </a:gdLst>
                  <a:ahLst/>
                  <a:cxnLst>
                    <a:cxn ang="0">
                      <a:pos x="T0" y="T1"/>
                    </a:cxn>
                    <a:cxn ang="0">
                      <a:pos x="T2" y="T3"/>
                    </a:cxn>
                    <a:cxn ang="0">
                      <a:pos x="T4" y="T5"/>
                    </a:cxn>
                  </a:cxnLst>
                  <a:rect l="0" t="0" r="r" b="b"/>
                  <a:pathLst>
                    <a:path w="21" h="74">
                      <a:moveTo>
                        <a:pt x="15" y="0"/>
                      </a:moveTo>
                      <a:cubicBezTo>
                        <a:pt x="15" y="0"/>
                        <a:pt x="21" y="18"/>
                        <a:pt x="15" y="30"/>
                      </a:cubicBezTo>
                      <a:cubicBezTo>
                        <a:pt x="9" y="42"/>
                        <a:pt x="0" y="46"/>
                        <a:pt x="10" y="7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23" name="Freeform 424">
                  <a:extLst>
                    <a:ext uri="{FF2B5EF4-FFF2-40B4-BE49-F238E27FC236}">
                      <a16:creationId xmlns:a16="http://schemas.microsoft.com/office/drawing/2014/main" id="{0D36C89A-825B-408C-8C0F-BC2484F52BDA}"/>
                    </a:ext>
                  </a:extLst>
                </p:cNvPr>
                <p:cNvSpPr>
                  <a:spLocks/>
                </p:cNvSpPr>
                <p:nvPr/>
              </p:nvSpPr>
              <p:spPr bwMode="auto">
                <a:xfrm>
                  <a:off x="3084513" y="3011390"/>
                  <a:ext cx="12741" cy="12741"/>
                </a:xfrm>
                <a:custGeom>
                  <a:avLst/>
                  <a:gdLst>
                    <a:gd name="T0" fmla="*/ 0 w 18"/>
                    <a:gd name="T1" fmla="*/ 0 h 17"/>
                    <a:gd name="T2" fmla="*/ 18 w 18"/>
                    <a:gd name="T3" fmla="*/ 17 h 17"/>
                  </a:gdLst>
                  <a:ahLst/>
                  <a:cxnLst>
                    <a:cxn ang="0">
                      <a:pos x="T0" y="T1"/>
                    </a:cxn>
                    <a:cxn ang="0">
                      <a:pos x="T2" y="T3"/>
                    </a:cxn>
                  </a:cxnLst>
                  <a:rect l="0" t="0" r="r" b="b"/>
                  <a:pathLst>
                    <a:path w="18" h="17">
                      <a:moveTo>
                        <a:pt x="0" y="0"/>
                      </a:moveTo>
                      <a:cubicBezTo>
                        <a:pt x="0" y="0"/>
                        <a:pt x="9" y="4"/>
                        <a:pt x="18" y="1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24" name="Freeform 425">
                  <a:extLst>
                    <a:ext uri="{FF2B5EF4-FFF2-40B4-BE49-F238E27FC236}">
                      <a16:creationId xmlns:a16="http://schemas.microsoft.com/office/drawing/2014/main" id="{D7480027-1009-4D15-A340-20D2AD86152A}"/>
                    </a:ext>
                  </a:extLst>
                </p:cNvPr>
                <p:cNvSpPr>
                  <a:spLocks/>
                </p:cNvSpPr>
                <p:nvPr/>
              </p:nvSpPr>
              <p:spPr bwMode="auto">
                <a:xfrm>
                  <a:off x="3003290" y="3017760"/>
                  <a:ext cx="27871" cy="125020"/>
                </a:xfrm>
                <a:custGeom>
                  <a:avLst/>
                  <a:gdLst>
                    <a:gd name="T0" fmla="*/ 0 w 38"/>
                    <a:gd name="T1" fmla="*/ 0 h 166"/>
                    <a:gd name="T2" fmla="*/ 13 w 38"/>
                    <a:gd name="T3" fmla="*/ 43 h 166"/>
                    <a:gd name="T4" fmla="*/ 31 w 38"/>
                    <a:gd name="T5" fmla="*/ 93 h 166"/>
                    <a:gd name="T6" fmla="*/ 29 w 38"/>
                    <a:gd name="T7" fmla="*/ 131 h 166"/>
                    <a:gd name="T8" fmla="*/ 12 w 38"/>
                    <a:gd name="T9" fmla="*/ 166 h 166"/>
                  </a:gdLst>
                  <a:ahLst/>
                  <a:cxnLst>
                    <a:cxn ang="0">
                      <a:pos x="T0" y="T1"/>
                    </a:cxn>
                    <a:cxn ang="0">
                      <a:pos x="T2" y="T3"/>
                    </a:cxn>
                    <a:cxn ang="0">
                      <a:pos x="T4" y="T5"/>
                    </a:cxn>
                    <a:cxn ang="0">
                      <a:pos x="T6" y="T7"/>
                    </a:cxn>
                    <a:cxn ang="0">
                      <a:pos x="T8" y="T9"/>
                    </a:cxn>
                  </a:cxnLst>
                  <a:rect l="0" t="0" r="r" b="b"/>
                  <a:pathLst>
                    <a:path w="38" h="166">
                      <a:moveTo>
                        <a:pt x="0" y="0"/>
                      </a:moveTo>
                      <a:cubicBezTo>
                        <a:pt x="0" y="0"/>
                        <a:pt x="16" y="14"/>
                        <a:pt x="13" y="43"/>
                      </a:cubicBezTo>
                      <a:cubicBezTo>
                        <a:pt x="11" y="72"/>
                        <a:pt x="25" y="71"/>
                        <a:pt x="31" y="93"/>
                      </a:cubicBezTo>
                      <a:cubicBezTo>
                        <a:pt x="38" y="114"/>
                        <a:pt x="34" y="123"/>
                        <a:pt x="29" y="131"/>
                      </a:cubicBezTo>
                      <a:cubicBezTo>
                        <a:pt x="23" y="139"/>
                        <a:pt x="16" y="152"/>
                        <a:pt x="12" y="16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25" name="Freeform 426">
                  <a:extLst>
                    <a:ext uri="{FF2B5EF4-FFF2-40B4-BE49-F238E27FC236}">
                      <a16:creationId xmlns:a16="http://schemas.microsoft.com/office/drawing/2014/main" id="{E336EE76-E514-4232-8BFE-7256AB677EF8}"/>
                    </a:ext>
                  </a:extLst>
                </p:cNvPr>
                <p:cNvSpPr>
                  <a:spLocks/>
                </p:cNvSpPr>
                <p:nvPr/>
              </p:nvSpPr>
              <p:spPr bwMode="auto">
                <a:xfrm>
                  <a:off x="3013642" y="3052798"/>
                  <a:ext cx="105112" cy="136964"/>
                </a:xfrm>
                <a:custGeom>
                  <a:avLst/>
                  <a:gdLst>
                    <a:gd name="T0" fmla="*/ 122 w 140"/>
                    <a:gd name="T1" fmla="*/ 0 h 182"/>
                    <a:gd name="T2" fmla="*/ 121 w 140"/>
                    <a:gd name="T3" fmla="*/ 60 h 182"/>
                    <a:gd name="T4" fmla="*/ 136 w 140"/>
                    <a:gd name="T5" fmla="*/ 119 h 182"/>
                    <a:gd name="T6" fmla="*/ 59 w 140"/>
                    <a:gd name="T7" fmla="*/ 177 h 182"/>
                    <a:gd name="T8" fmla="*/ 0 w 140"/>
                    <a:gd name="T9" fmla="*/ 156 h 182"/>
                  </a:gdLst>
                  <a:ahLst/>
                  <a:cxnLst>
                    <a:cxn ang="0">
                      <a:pos x="T0" y="T1"/>
                    </a:cxn>
                    <a:cxn ang="0">
                      <a:pos x="T2" y="T3"/>
                    </a:cxn>
                    <a:cxn ang="0">
                      <a:pos x="T4" y="T5"/>
                    </a:cxn>
                    <a:cxn ang="0">
                      <a:pos x="T6" y="T7"/>
                    </a:cxn>
                    <a:cxn ang="0">
                      <a:pos x="T8" y="T9"/>
                    </a:cxn>
                  </a:cxnLst>
                  <a:rect l="0" t="0" r="r" b="b"/>
                  <a:pathLst>
                    <a:path w="140" h="182">
                      <a:moveTo>
                        <a:pt x="122" y="0"/>
                      </a:moveTo>
                      <a:cubicBezTo>
                        <a:pt x="122" y="0"/>
                        <a:pt x="117" y="44"/>
                        <a:pt x="121" y="60"/>
                      </a:cubicBezTo>
                      <a:cubicBezTo>
                        <a:pt x="125" y="76"/>
                        <a:pt x="140" y="99"/>
                        <a:pt x="136" y="119"/>
                      </a:cubicBezTo>
                      <a:cubicBezTo>
                        <a:pt x="132" y="139"/>
                        <a:pt x="134" y="168"/>
                        <a:pt x="59" y="177"/>
                      </a:cubicBezTo>
                      <a:cubicBezTo>
                        <a:pt x="16" y="182"/>
                        <a:pt x="16" y="177"/>
                        <a:pt x="0" y="15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26" name="Freeform 427">
                  <a:extLst>
                    <a:ext uri="{FF2B5EF4-FFF2-40B4-BE49-F238E27FC236}">
                      <a16:creationId xmlns:a16="http://schemas.microsoft.com/office/drawing/2014/main" id="{3A8D1F57-E78B-4DFC-A0D2-31FF7A44A5AA}"/>
                    </a:ext>
                  </a:extLst>
                </p:cNvPr>
                <p:cNvSpPr>
                  <a:spLocks/>
                </p:cNvSpPr>
                <p:nvPr/>
              </p:nvSpPr>
              <p:spPr bwMode="auto">
                <a:xfrm>
                  <a:off x="3106013" y="3151539"/>
                  <a:ext cx="59723" cy="31056"/>
                </a:xfrm>
                <a:custGeom>
                  <a:avLst/>
                  <a:gdLst>
                    <a:gd name="T0" fmla="*/ 12 w 80"/>
                    <a:gd name="T1" fmla="*/ 0 h 41"/>
                    <a:gd name="T2" fmla="*/ 80 w 80"/>
                    <a:gd name="T3" fmla="*/ 41 h 41"/>
                  </a:gdLst>
                  <a:ahLst/>
                  <a:cxnLst>
                    <a:cxn ang="0">
                      <a:pos x="T0" y="T1"/>
                    </a:cxn>
                    <a:cxn ang="0">
                      <a:pos x="T2" y="T3"/>
                    </a:cxn>
                  </a:cxnLst>
                  <a:rect l="0" t="0" r="r" b="b"/>
                  <a:pathLst>
                    <a:path w="80" h="41">
                      <a:moveTo>
                        <a:pt x="12" y="0"/>
                      </a:moveTo>
                      <a:cubicBezTo>
                        <a:pt x="12" y="0"/>
                        <a:pt x="0" y="36"/>
                        <a:pt x="80" y="4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27" name="Freeform 428">
                  <a:extLst>
                    <a:ext uri="{FF2B5EF4-FFF2-40B4-BE49-F238E27FC236}">
                      <a16:creationId xmlns:a16="http://schemas.microsoft.com/office/drawing/2014/main" id="{9330E18B-7625-4B50-A28D-DA796BD11CD5}"/>
                    </a:ext>
                  </a:extLst>
                </p:cNvPr>
                <p:cNvSpPr>
                  <a:spLocks/>
                </p:cNvSpPr>
                <p:nvPr/>
              </p:nvSpPr>
              <p:spPr bwMode="auto">
                <a:xfrm>
                  <a:off x="3133087" y="3174632"/>
                  <a:ext cx="8760" cy="21500"/>
                </a:xfrm>
                <a:custGeom>
                  <a:avLst/>
                  <a:gdLst>
                    <a:gd name="T0" fmla="*/ 0 w 12"/>
                    <a:gd name="T1" fmla="*/ 0 h 28"/>
                    <a:gd name="T2" fmla="*/ 9 w 12"/>
                    <a:gd name="T3" fmla="*/ 28 h 28"/>
                  </a:gdLst>
                  <a:ahLst/>
                  <a:cxnLst>
                    <a:cxn ang="0">
                      <a:pos x="T0" y="T1"/>
                    </a:cxn>
                    <a:cxn ang="0">
                      <a:pos x="T2" y="T3"/>
                    </a:cxn>
                  </a:cxnLst>
                  <a:rect l="0" t="0" r="r" b="b"/>
                  <a:pathLst>
                    <a:path w="12" h="28">
                      <a:moveTo>
                        <a:pt x="0" y="0"/>
                      </a:moveTo>
                      <a:cubicBezTo>
                        <a:pt x="0" y="0"/>
                        <a:pt x="12" y="10"/>
                        <a:pt x="9" y="2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28" name="Freeform 429">
                  <a:extLst>
                    <a:ext uri="{FF2B5EF4-FFF2-40B4-BE49-F238E27FC236}">
                      <a16:creationId xmlns:a16="http://schemas.microsoft.com/office/drawing/2014/main" id="{BB45B35A-CA62-40E8-B508-B911EAD05CE1}"/>
                    </a:ext>
                  </a:extLst>
                </p:cNvPr>
                <p:cNvSpPr>
                  <a:spLocks/>
                </p:cNvSpPr>
                <p:nvPr/>
              </p:nvSpPr>
              <p:spPr bwMode="auto">
                <a:xfrm>
                  <a:off x="2908530" y="3084650"/>
                  <a:ext cx="116260" cy="128205"/>
                </a:xfrm>
                <a:custGeom>
                  <a:avLst/>
                  <a:gdLst>
                    <a:gd name="T0" fmla="*/ 155 w 155"/>
                    <a:gd name="T1" fmla="*/ 132 h 170"/>
                    <a:gd name="T2" fmla="*/ 51 w 155"/>
                    <a:gd name="T3" fmla="*/ 117 h 170"/>
                    <a:gd name="T4" fmla="*/ 33 w 155"/>
                    <a:gd name="T5" fmla="*/ 71 h 170"/>
                    <a:gd name="T6" fmla="*/ 28 w 155"/>
                    <a:gd name="T7" fmla="*/ 46 h 170"/>
                    <a:gd name="T8" fmla="*/ 0 w 155"/>
                    <a:gd name="T9" fmla="*/ 0 h 170"/>
                  </a:gdLst>
                  <a:ahLst/>
                  <a:cxnLst>
                    <a:cxn ang="0">
                      <a:pos x="T0" y="T1"/>
                    </a:cxn>
                    <a:cxn ang="0">
                      <a:pos x="T2" y="T3"/>
                    </a:cxn>
                    <a:cxn ang="0">
                      <a:pos x="T4" y="T5"/>
                    </a:cxn>
                    <a:cxn ang="0">
                      <a:pos x="T6" y="T7"/>
                    </a:cxn>
                    <a:cxn ang="0">
                      <a:pos x="T8" y="T9"/>
                    </a:cxn>
                  </a:cxnLst>
                  <a:rect l="0" t="0" r="r" b="b"/>
                  <a:pathLst>
                    <a:path w="155" h="170">
                      <a:moveTo>
                        <a:pt x="155" y="132"/>
                      </a:moveTo>
                      <a:cubicBezTo>
                        <a:pt x="155" y="132"/>
                        <a:pt x="78" y="170"/>
                        <a:pt x="51" y="117"/>
                      </a:cubicBezTo>
                      <a:cubicBezTo>
                        <a:pt x="24" y="64"/>
                        <a:pt x="37" y="81"/>
                        <a:pt x="33" y="71"/>
                      </a:cubicBezTo>
                      <a:cubicBezTo>
                        <a:pt x="29" y="61"/>
                        <a:pt x="25" y="67"/>
                        <a:pt x="28" y="46"/>
                      </a:cubicBezTo>
                      <a:cubicBezTo>
                        <a:pt x="30" y="24"/>
                        <a:pt x="47" y="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29" name="Freeform 430">
                  <a:extLst>
                    <a:ext uri="{FF2B5EF4-FFF2-40B4-BE49-F238E27FC236}">
                      <a16:creationId xmlns:a16="http://schemas.microsoft.com/office/drawing/2014/main" id="{29040B33-C57F-4E74-A649-1FB798468A84}"/>
                    </a:ext>
                  </a:extLst>
                </p:cNvPr>
                <p:cNvSpPr>
                  <a:spLocks/>
                </p:cNvSpPr>
                <p:nvPr/>
              </p:nvSpPr>
              <p:spPr bwMode="auto">
                <a:xfrm>
                  <a:off x="2932419" y="3075094"/>
                  <a:ext cx="18315" cy="18315"/>
                </a:xfrm>
                <a:custGeom>
                  <a:avLst/>
                  <a:gdLst>
                    <a:gd name="T0" fmla="*/ 0 w 25"/>
                    <a:gd name="T1" fmla="*/ 25 h 25"/>
                    <a:gd name="T2" fmla="*/ 25 w 25"/>
                    <a:gd name="T3" fmla="*/ 0 h 25"/>
                  </a:gdLst>
                  <a:ahLst/>
                  <a:cxnLst>
                    <a:cxn ang="0">
                      <a:pos x="T0" y="T1"/>
                    </a:cxn>
                    <a:cxn ang="0">
                      <a:pos x="T2" y="T3"/>
                    </a:cxn>
                  </a:cxnLst>
                  <a:rect l="0" t="0" r="r" b="b"/>
                  <a:pathLst>
                    <a:path w="25" h="25">
                      <a:moveTo>
                        <a:pt x="0" y="25"/>
                      </a:moveTo>
                      <a:cubicBezTo>
                        <a:pt x="0" y="25"/>
                        <a:pt x="1" y="14"/>
                        <a:pt x="2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30" name="Freeform 431">
                  <a:extLst>
                    <a:ext uri="{FF2B5EF4-FFF2-40B4-BE49-F238E27FC236}">
                      <a16:creationId xmlns:a16="http://schemas.microsoft.com/office/drawing/2014/main" id="{84CE41CB-B980-4BD4-927A-0D11A99CB4E6}"/>
                    </a:ext>
                  </a:extLst>
                </p:cNvPr>
                <p:cNvSpPr>
                  <a:spLocks/>
                </p:cNvSpPr>
                <p:nvPr/>
              </p:nvSpPr>
              <p:spPr bwMode="auto">
                <a:xfrm>
                  <a:off x="2921271" y="3032890"/>
                  <a:ext cx="15130" cy="13537"/>
                </a:xfrm>
                <a:custGeom>
                  <a:avLst/>
                  <a:gdLst>
                    <a:gd name="T0" fmla="*/ 0 w 21"/>
                    <a:gd name="T1" fmla="*/ 0 h 18"/>
                    <a:gd name="T2" fmla="*/ 21 w 21"/>
                    <a:gd name="T3" fmla="*/ 18 h 18"/>
                  </a:gdLst>
                  <a:ahLst/>
                  <a:cxnLst>
                    <a:cxn ang="0">
                      <a:pos x="T0" y="T1"/>
                    </a:cxn>
                    <a:cxn ang="0">
                      <a:pos x="T2" y="T3"/>
                    </a:cxn>
                  </a:cxnLst>
                  <a:rect l="0" t="0" r="r" b="b"/>
                  <a:pathLst>
                    <a:path w="21" h="18">
                      <a:moveTo>
                        <a:pt x="0" y="0"/>
                      </a:moveTo>
                      <a:cubicBezTo>
                        <a:pt x="0" y="0"/>
                        <a:pt x="15" y="4"/>
                        <a:pt x="21" y="1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31" name="Freeform 432">
                  <a:extLst>
                    <a:ext uri="{FF2B5EF4-FFF2-40B4-BE49-F238E27FC236}">
                      <a16:creationId xmlns:a16="http://schemas.microsoft.com/office/drawing/2014/main" id="{5D5B88ED-8400-463C-8FE6-EF3DAF30FD29}"/>
                    </a:ext>
                  </a:extLst>
                </p:cNvPr>
                <p:cNvSpPr>
                  <a:spLocks/>
                </p:cNvSpPr>
                <p:nvPr/>
              </p:nvSpPr>
              <p:spPr bwMode="auto">
                <a:xfrm>
                  <a:off x="3138662" y="3280540"/>
                  <a:ext cx="39019" cy="25482"/>
                </a:xfrm>
                <a:custGeom>
                  <a:avLst/>
                  <a:gdLst>
                    <a:gd name="T0" fmla="*/ 0 w 51"/>
                    <a:gd name="T1" fmla="*/ 24 h 34"/>
                    <a:gd name="T2" fmla="*/ 35 w 51"/>
                    <a:gd name="T3" fmla="*/ 0 h 34"/>
                    <a:gd name="T4" fmla="*/ 51 w 51"/>
                    <a:gd name="T5" fmla="*/ 34 h 34"/>
                  </a:gdLst>
                  <a:ahLst/>
                  <a:cxnLst>
                    <a:cxn ang="0">
                      <a:pos x="T0" y="T1"/>
                    </a:cxn>
                    <a:cxn ang="0">
                      <a:pos x="T2" y="T3"/>
                    </a:cxn>
                    <a:cxn ang="0">
                      <a:pos x="T4" y="T5"/>
                    </a:cxn>
                  </a:cxnLst>
                  <a:rect l="0" t="0" r="r" b="b"/>
                  <a:pathLst>
                    <a:path w="51" h="34">
                      <a:moveTo>
                        <a:pt x="0" y="24"/>
                      </a:moveTo>
                      <a:cubicBezTo>
                        <a:pt x="40" y="20"/>
                        <a:pt x="35" y="0"/>
                        <a:pt x="35" y="0"/>
                      </a:cubicBezTo>
                      <a:cubicBezTo>
                        <a:pt x="35" y="0"/>
                        <a:pt x="28" y="30"/>
                        <a:pt x="51" y="3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32" name="Freeform 433">
                  <a:extLst>
                    <a:ext uri="{FF2B5EF4-FFF2-40B4-BE49-F238E27FC236}">
                      <a16:creationId xmlns:a16="http://schemas.microsoft.com/office/drawing/2014/main" id="{AE6389E2-4BE3-4AAE-9733-30386171612C}"/>
                    </a:ext>
                  </a:extLst>
                </p:cNvPr>
                <p:cNvSpPr>
                  <a:spLocks/>
                </p:cNvSpPr>
                <p:nvPr/>
              </p:nvSpPr>
              <p:spPr bwMode="auto">
                <a:xfrm>
                  <a:off x="3023198" y="3265410"/>
                  <a:ext cx="45390" cy="27871"/>
                </a:xfrm>
                <a:custGeom>
                  <a:avLst/>
                  <a:gdLst>
                    <a:gd name="T0" fmla="*/ 0 w 60"/>
                    <a:gd name="T1" fmla="*/ 36 h 37"/>
                    <a:gd name="T2" fmla="*/ 27 w 60"/>
                    <a:gd name="T3" fmla="*/ 0 h 37"/>
                    <a:gd name="T4" fmla="*/ 60 w 60"/>
                    <a:gd name="T5" fmla="*/ 37 h 37"/>
                  </a:gdLst>
                  <a:ahLst/>
                  <a:cxnLst>
                    <a:cxn ang="0">
                      <a:pos x="T0" y="T1"/>
                    </a:cxn>
                    <a:cxn ang="0">
                      <a:pos x="T2" y="T3"/>
                    </a:cxn>
                    <a:cxn ang="0">
                      <a:pos x="T4" y="T5"/>
                    </a:cxn>
                  </a:cxnLst>
                  <a:rect l="0" t="0" r="r" b="b"/>
                  <a:pathLst>
                    <a:path w="60" h="37">
                      <a:moveTo>
                        <a:pt x="0" y="36"/>
                      </a:moveTo>
                      <a:cubicBezTo>
                        <a:pt x="35" y="34"/>
                        <a:pt x="27" y="0"/>
                        <a:pt x="27" y="0"/>
                      </a:cubicBezTo>
                      <a:cubicBezTo>
                        <a:pt x="27" y="0"/>
                        <a:pt x="26" y="31"/>
                        <a:pt x="60" y="3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33" name="Freeform 434">
                  <a:extLst>
                    <a:ext uri="{FF2B5EF4-FFF2-40B4-BE49-F238E27FC236}">
                      <a16:creationId xmlns:a16="http://schemas.microsoft.com/office/drawing/2014/main" id="{E3B1ED1F-B91F-47E6-B1FB-BC251B8A7210}"/>
                    </a:ext>
                  </a:extLst>
                </p:cNvPr>
                <p:cNvSpPr>
                  <a:spLocks/>
                </p:cNvSpPr>
                <p:nvPr/>
              </p:nvSpPr>
              <p:spPr bwMode="auto">
                <a:xfrm>
                  <a:off x="2836067" y="3106150"/>
                  <a:ext cx="17519" cy="53353"/>
                </a:xfrm>
                <a:custGeom>
                  <a:avLst/>
                  <a:gdLst>
                    <a:gd name="T0" fmla="*/ 23 w 23"/>
                    <a:gd name="T1" fmla="*/ 71 h 71"/>
                    <a:gd name="T2" fmla="*/ 0 w 23"/>
                    <a:gd name="T3" fmla="*/ 0 h 71"/>
                  </a:gdLst>
                  <a:ahLst/>
                  <a:cxnLst>
                    <a:cxn ang="0">
                      <a:pos x="T0" y="T1"/>
                    </a:cxn>
                    <a:cxn ang="0">
                      <a:pos x="T2" y="T3"/>
                    </a:cxn>
                  </a:cxnLst>
                  <a:rect l="0" t="0" r="r" b="b"/>
                  <a:pathLst>
                    <a:path w="23" h="71">
                      <a:moveTo>
                        <a:pt x="23" y="71"/>
                      </a:moveTo>
                      <a:cubicBezTo>
                        <a:pt x="21" y="45"/>
                        <a:pt x="19" y="2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34" name="Freeform 435">
                  <a:extLst>
                    <a:ext uri="{FF2B5EF4-FFF2-40B4-BE49-F238E27FC236}">
                      <a16:creationId xmlns:a16="http://schemas.microsoft.com/office/drawing/2014/main" id="{E52E2BF5-87BB-4732-98C1-A4BAD65363A3}"/>
                    </a:ext>
                  </a:extLst>
                </p:cNvPr>
                <p:cNvSpPr>
                  <a:spLocks/>
                </p:cNvSpPr>
                <p:nvPr/>
              </p:nvSpPr>
              <p:spPr bwMode="auto">
                <a:xfrm>
                  <a:off x="2895789" y="3173039"/>
                  <a:ext cx="52556" cy="46982"/>
                </a:xfrm>
                <a:custGeom>
                  <a:avLst/>
                  <a:gdLst>
                    <a:gd name="T0" fmla="*/ 67 w 69"/>
                    <a:gd name="T1" fmla="*/ 0 h 63"/>
                    <a:gd name="T2" fmla="*/ 0 w 69"/>
                    <a:gd name="T3" fmla="*/ 45 h 63"/>
                  </a:gdLst>
                  <a:ahLst/>
                  <a:cxnLst>
                    <a:cxn ang="0">
                      <a:pos x="T0" y="T1"/>
                    </a:cxn>
                    <a:cxn ang="0">
                      <a:pos x="T2" y="T3"/>
                    </a:cxn>
                  </a:cxnLst>
                  <a:rect l="0" t="0" r="r" b="b"/>
                  <a:pathLst>
                    <a:path w="69" h="63">
                      <a:moveTo>
                        <a:pt x="67" y="0"/>
                      </a:moveTo>
                      <a:cubicBezTo>
                        <a:pt x="67" y="0"/>
                        <a:pt x="69" y="63"/>
                        <a:pt x="0" y="4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35" name="Freeform 436">
                  <a:extLst>
                    <a:ext uri="{FF2B5EF4-FFF2-40B4-BE49-F238E27FC236}">
                      <a16:creationId xmlns:a16="http://schemas.microsoft.com/office/drawing/2014/main" id="{8803728F-0586-4E98-9FDC-A7C8166242F7}"/>
                    </a:ext>
                  </a:extLst>
                </p:cNvPr>
                <p:cNvSpPr>
                  <a:spLocks/>
                </p:cNvSpPr>
                <p:nvPr/>
              </p:nvSpPr>
              <p:spPr bwMode="auto">
                <a:xfrm>
                  <a:off x="2789881" y="3073502"/>
                  <a:ext cx="10352" cy="35037"/>
                </a:xfrm>
                <a:custGeom>
                  <a:avLst/>
                  <a:gdLst>
                    <a:gd name="T0" fmla="*/ 13 w 13"/>
                    <a:gd name="T1" fmla="*/ 0 h 47"/>
                    <a:gd name="T2" fmla="*/ 0 w 13"/>
                    <a:gd name="T3" fmla="*/ 47 h 47"/>
                  </a:gdLst>
                  <a:ahLst/>
                  <a:cxnLst>
                    <a:cxn ang="0">
                      <a:pos x="T0" y="T1"/>
                    </a:cxn>
                    <a:cxn ang="0">
                      <a:pos x="T2" y="T3"/>
                    </a:cxn>
                  </a:cxnLst>
                  <a:rect l="0" t="0" r="r" b="b"/>
                  <a:pathLst>
                    <a:path w="13" h="47">
                      <a:moveTo>
                        <a:pt x="13" y="0"/>
                      </a:moveTo>
                      <a:cubicBezTo>
                        <a:pt x="13" y="0"/>
                        <a:pt x="0" y="34"/>
                        <a:pt x="0" y="4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36" name="Freeform 437">
                  <a:extLst>
                    <a:ext uri="{FF2B5EF4-FFF2-40B4-BE49-F238E27FC236}">
                      <a16:creationId xmlns:a16="http://schemas.microsoft.com/office/drawing/2014/main" id="{8AD0A4C9-0D2F-474F-81A7-8DB9A703FC9C}"/>
                    </a:ext>
                  </a:extLst>
                </p:cNvPr>
                <p:cNvSpPr>
                  <a:spLocks/>
                </p:cNvSpPr>
                <p:nvPr/>
              </p:nvSpPr>
              <p:spPr bwMode="auto">
                <a:xfrm>
                  <a:off x="2761214" y="3134021"/>
                  <a:ext cx="137761" cy="93964"/>
                </a:xfrm>
                <a:custGeom>
                  <a:avLst/>
                  <a:gdLst>
                    <a:gd name="T0" fmla="*/ 183 w 183"/>
                    <a:gd name="T1" fmla="*/ 98 h 125"/>
                    <a:gd name="T2" fmla="*/ 142 w 183"/>
                    <a:gd name="T3" fmla="*/ 119 h 125"/>
                    <a:gd name="T4" fmla="*/ 92 w 183"/>
                    <a:gd name="T5" fmla="*/ 93 h 125"/>
                    <a:gd name="T6" fmla="*/ 59 w 183"/>
                    <a:gd name="T7" fmla="*/ 59 h 125"/>
                    <a:gd name="T8" fmla="*/ 49 w 183"/>
                    <a:gd name="T9" fmla="*/ 0 h 125"/>
                    <a:gd name="T10" fmla="*/ 0 w 183"/>
                    <a:gd name="T11" fmla="*/ 30 h 125"/>
                  </a:gdLst>
                  <a:ahLst/>
                  <a:cxnLst>
                    <a:cxn ang="0">
                      <a:pos x="T0" y="T1"/>
                    </a:cxn>
                    <a:cxn ang="0">
                      <a:pos x="T2" y="T3"/>
                    </a:cxn>
                    <a:cxn ang="0">
                      <a:pos x="T4" y="T5"/>
                    </a:cxn>
                    <a:cxn ang="0">
                      <a:pos x="T6" y="T7"/>
                    </a:cxn>
                    <a:cxn ang="0">
                      <a:pos x="T8" y="T9"/>
                    </a:cxn>
                    <a:cxn ang="0">
                      <a:pos x="T10" y="T11"/>
                    </a:cxn>
                  </a:cxnLst>
                  <a:rect l="0" t="0" r="r" b="b"/>
                  <a:pathLst>
                    <a:path w="183" h="125">
                      <a:moveTo>
                        <a:pt x="183" y="98"/>
                      </a:moveTo>
                      <a:cubicBezTo>
                        <a:pt x="180" y="106"/>
                        <a:pt x="174" y="113"/>
                        <a:pt x="142" y="119"/>
                      </a:cubicBezTo>
                      <a:cubicBezTo>
                        <a:pt x="110" y="125"/>
                        <a:pt x="102" y="110"/>
                        <a:pt x="92" y="93"/>
                      </a:cubicBezTo>
                      <a:cubicBezTo>
                        <a:pt x="82" y="76"/>
                        <a:pt x="75" y="80"/>
                        <a:pt x="59" y="59"/>
                      </a:cubicBezTo>
                      <a:cubicBezTo>
                        <a:pt x="42" y="39"/>
                        <a:pt x="49" y="0"/>
                        <a:pt x="49" y="0"/>
                      </a:cubicBezTo>
                      <a:cubicBezTo>
                        <a:pt x="49" y="0"/>
                        <a:pt x="50" y="22"/>
                        <a:pt x="0" y="3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37" name="Freeform 438">
                  <a:extLst>
                    <a:ext uri="{FF2B5EF4-FFF2-40B4-BE49-F238E27FC236}">
                      <a16:creationId xmlns:a16="http://schemas.microsoft.com/office/drawing/2014/main" id="{128510E8-BEE4-4644-B1D0-0A0CB3DCFCD1}"/>
                    </a:ext>
                  </a:extLst>
                </p:cNvPr>
                <p:cNvSpPr>
                  <a:spLocks/>
                </p:cNvSpPr>
                <p:nvPr/>
              </p:nvSpPr>
              <p:spPr bwMode="auto">
                <a:xfrm>
                  <a:off x="2846418" y="3224002"/>
                  <a:ext cx="21500" cy="17519"/>
                </a:xfrm>
                <a:custGeom>
                  <a:avLst/>
                  <a:gdLst>
                    <a:gd name="T0" fmla="*/ 29 w 29"/>
                    <a:gd name="T1" fmla="*/ 0 h 24"/>
                    <a:gd name="T2" fmla="*/ 0 w 29"/>
                    <a:gd name="T3" fmla="*/ 24 h 24"/>
                  </a:gdLst>
                  <a:ahLst/>
                  <a:cxnLst>
                    <a:cxn ang="0">
                      <a:pos x="T0" y="T1"/>
                    </a:cxn>
                    <a:cxn ang="0">
                      <a:pos x="T2" y="T3"/>
                    </a:cxn>
                  </a:cxnLst>
                  <a:rect l="0" t="0" r="r" b="b"/>
                  <a:pathLst>
                    <a:path w="29" h="24">
                      <a:moveTo>
                        <a:pt x="29" y="0"/>
                      </a:moveTo>
                      <a:cubicBezTo>
                        <a:pt x="29" y="0"/>
                        <a:pt x="7" y="15"/>
                        <a:pt x="0" y="2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38" name="Freeform 439">
                  <a:extLst>
                    <a:ext uri="{FF2B5EF4-FFF2-40B4-BE49-F238E27FC236}">
                      <a16:creationId xmlns:a16="http://schemas.microsoft.com/office/drawing/2014/main" id="{A747F5BF-8789-4735-A4F7-B924ED41FEF3}"/>
                    </a:ext>
                  </a:extLst>
                </p:cNvPr>
                <p:cNvSpPr>
                  <a:spLocks/>
                </p:cNvSpPr>
                <p:nvPr/>
              </p:nvSpPr>
              <p:spPr bwMode="auto">
                <a:xfrm>
                  <a:off x="2712640" y="3130835"/>
                  <a:ext cx="7167" cy="22296"/>
                </a:xfrm>
                <a:custGeom>
                  <a:avLst/>
                  <a:gdLst>
                    <a:gd name="T0" fmla="*/ 0 w 10"/>
                    <a:gd name="T1" fmla="*/ 0 h 30"/>
                    <a:gd name="T2" fmla="*/ 10 w 10"/>
                    <a:gd name="T3" fmla="*/ 30 h 30"/>
                  </a:gdLst>
                  <a:ahLst/>
                  <a:cxnLst>
                    <a:cxn ang="0">
                      <a:pos x="T0" y="T1"/>
                    </a:cxn>
                    <a:cxn ang="0">
                      <a:pos x="T2" y="T3"/>
                    </a:cxn>
                  </a:cxnLst>
                  <a:rect l="0" t="0" r="r" b="b"/>
                  <a:pathLst>
                    <a:path w="10" h="30">
                      <a:moveTo>
                        <a:pt x="0" y="0"/>
                      </a:moveTo>
                      <a:cubicBezTo>
                        <a:pt x="0" y="0"/>
                        <a:pt x="5" y="14"/>
                        <a:pt x="10" y="3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39" name="Freeform 440">
                  <a:extLst>
                    <a:ext uri="{FF2B5EF4-FFF2-40B4-BE49-F238E27FC236}">
                      <a16:creationId xmlns:a16="http://schemas.microsoft.com/office/drawing/2014/main" id="{7D179A49-719E-47C5-B626-844622B58356}"/>
                    </a:ext>
                  </a:extLst>
                </p:cNvPr>
                <p:cNvSpPr>
                  <a:spLocks/>
                </p:cNvSpPr>
                <p:nvPr/>
              </p:nvSpPr>
              <p:spPr bwMode="auto">
                <a:xfrm>
                  <a:off x="2779529" y="3254262"/>
                  <a:ext cx="50167" cy="39019"/>
                </a:xfrm>
                <a:custGeom>
                  <a:avLst/>
                  <a:gdLst>
                    <a:gd name="T0" fmla="*/ 67 w 67"/>
                    <a:gd name="T1" fmla="*/ 0 h 52"/>
                    <a:gd name="T2" fmla="*/ 0 w 67"/>
                    <a:gd name="T3" fmla="*/ 18 h 52"/>
                  </a:gdLst>
                  <a:ahLst/>
                  <a:cxnLst>
                    <a:cxn ang="0">
                      <a:pos x="T0" y="T1"/>
                    </a:cxn>
                    <a:cxn ang="0">
                      <a:pos x="T2" y="T3"/>
                    </a:cxn>
                  </a:cxnLst>
                  <a:rect l="0" t="0" r="r" b="b"/>
                  <a:pathLst>
                    <a:path w="67" h="52">
                      <a:moveTo>
                        <a:pt x="67" y="0"/>
                      </a:moveTo>
                      <a:cubicBezTo>
                        <a:pt x="67" y="0"/>
                        <a:pt x="45" y="52"/>
                        <a:pt x="0" y="1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40" name="Freeform 441">
                  <a:extLst>
                    <a:ext uri="{FF2B5EF4-FFF2-40B4-BE49-F238E27FC236}">
                      <a16:creationId xmlns:a16="http://schemas.microsoft.com/office/drawing/2014/main" id="{7AFA069A-939F-4545-B5D0-F10AEA56BF13}"/>
                    </a:ext>
                  </a:extLst>
                </p:cNvPr>
                <p:cNvSpPr>
                  <a:spLocks/>
                </p:cNvSpPr>
                <p:nvPr/>
              </p:nvSpPr>
              <p:spPr bwMode="auto">
                <a:xfrm>
                  <a:off x="2692732" y="3178614"/>
                  <a:ext cx="70075" cy="76445"/>
                </a:xfrm>
                <a:custGeom>
                  <a:avLst/>
                  <a:gdLst>
                    <a:gd name="T0" fmla="*/ 93 w 93"/>
                    <a:gd name="T1" fmla="*/ 101 h 101"/>
                    <a:gd name="T2" fmla="*/ 68 w 93"/>
                    <a:gd name="T3" fmla="*/ 0 h 101"/>
                    <a:gd name="T4" fmla="*/ 0 w 93"/>
                    <a:gd name="T5" fmla="*/ 33 h 101"/>
                  </a:gdLst>
                  <a:ahLst/>
                  <a:cxnLst>
                    <a:cxn ang="0">
                      <a:pos x="T0" y="T1"/>
                    </a:cxn>
                    <a:cxn ang="0">
                      <a:pos x="T2" y="T3"/>
                    </a:cxn>
                    <a:cxn ang="0">
                      <a:pos x="T4" y="T5"/>
                    </a:cxn>
                  </a:cxnLst>
                  <a:rect l="0" t="0" r="r" b="b"/>
                  <a:pathLst>
                    <a:path w="93" h="101">
                      <a:moveTo>
                        <a:pt x="93" y="101"/>
                      </a:moveTo>
                      <a:cubicBezTo>
                        <a:pt x="38" y="41"/>
                        <a:pt x="68" y="0"/>
                        <a:pt x="68" y="0"/>
                      </a:cubicBezTo>
                      <a:cubicBezTo>
                        <a:pt x="68" y="0"/>
                        <a:pt x="61" y="29"/>
                        <a:pt x="0" y="3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41" name="Freeform 442">
                  <a:extLst>
                    <a:ext uri="{FF2B5EF4-FFF2-40B4-BE49-F238E27FC236}">
                      <a16:creationId xmlns:a16="http://schemas.microsoft.com/office/drawing/2014/main" id="{676172A0-A901-4C41-9E1D-8590D42DED58}"/>
                    </a:ext>
                  </a:extLst>
                </p:cNvPr>
                <p:cNvSpPr>
                  <a:spLocks/>
                </p:cNvSpPr>
                <p:nvPr/>
              </p:nvSpPr>
              <p:spPr bwMode="auto">
                <a:xfrm>
                  <a:off x="2709454" y="3196132"/>
                  <a:ext cx="28667" cy="18315"/>
                </a:xfrm>
                <a:custGeom>
                  <a:avLst/>
                  <a:gdLst>
                    <a:gd name="T0" fmla="*/ 38 w 38"/>
                    <a:gd name="T1" fmla="*/ 25 h 25"/>
                    <a:gd name="T2" fmla="*/ 0 w 38"/>
                    <a:gd name="T3" fmla="*/ 6 h 25"/>
                  </a:gdLst>
                  <a:ahLst/>
                  <a:cxnLst>
                    <a:cxn ang="0">
                      <a:pos x="T0" y="T1"/>
                    </a:cxn>
                    <a:cxn ang="0">
                      <a:pos x="T2" y="T3"/>
                    </a:cxn>
                  </a:cxnLst>
                  <a:rect l="0" t="0" r="r" b="b"/>
                  <a:pathLst>
                    <a:path w="38" h="25">
                      <a:moveTo>
                        <a:pt x="38" y="25"/>
                      </a:moveTo>
                      <a:cubicBezTo>
                        <a:pt x="38" y="25"/>
                        <a:pt x="25" y="0"/>
                        <a:pt x="0" y="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42" name="Freeform 443">
                  <a:extLst>
                    <a:ext uri="{FF2B5EF4-FFF2-40B4-BE49-F238E27FC236}">
                      <a16:creationId xmlns:a16="http://schemas.microsoft.com/office/drawing/2014/main" id="{2B8AC620-3EA5-4F35-9EA6-A054CD075340}"/>
                    </a:ext>
                  </a:extLst>
                </p:cNvPr>
                <p:cNvSpPr>
                  <a:spLocks/>
                </p:cNvSpPr>
                <p:nvPr/>
              </p:nvSpPr>
              <p:spPr bwMode="auto">
                <a:xfrm>
                  <a:off x="2679195" y="3276558"/>
                  <a:ext cx="123427" cy="73260"/>
                </a:xfrm>
                <a:custGeom>
                  <a:avLst/>
                  <a:gdLst>
                    <a:gd name="T0" fmla="*/ 165 w 165"/>
                    <a:gd name="T1" fmla="*/ 0 h 97"/>
                    <a:gd name="T2" fmla="*/ 92 w 165"/>
                    <a:gd name="T3" fmla="*/ 92 h 97"/>
                    <a:gd name="T4" fmla="*/ 0 w 165"/>
                    <a:gd name="T5" fmla="*/ 89 h 97"/>
                  </a:gdLst>
                  <a:ahLst/>
                  <a:cxnLst>
                    <a:cxn ang="0">
                      <a:pos x="T0" y="T1"/>
                    </a:cxn>
                    <a:cxn ang="0">
                      <a:pos x="T2" y="T3"/>
                    </a:cxn>
                    <a:cxn ang="0">
                      <a:pos x="T4" y="T5"/>
                    </a:cxn>
                  </a:cxnLst>
                  <a:rect l="0" t="0" r="r" b="b"/>
                  <a:pathLst>
                    <a:path w="165" h="97">
                      <a:moveTo>
                        <a:pt x="165" y="0"/>
                      </a:moveTo>
                      <a:cubicBezTo>
                        <a:pt x="165" y="0"/>
                        <a:pt x="144" y="87"/>
                        <a:pt x="92" y="92"/>
                      </a:cubicBezTo>
                      <a:cubicBezTo>
                        <a:pt x="39" y="97"/>
                        <a:pt x="80" y="69"/>
                        <a:pt x="0" y="8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43" name="Freeform 444">
                  <a:extLst>
                    <a:ext uri="{FF2B5EF4-FFF2-40B4-BE49-F238E27FC236}">
                      <a16:creationId xmlns:a16="http://schemas.microsoft.com/office/drawing/2014/main" id="{A7FB0110-EC05-4C61-9D8C-CA6A46B7883C}"/>
                    </a:ext>
                  </a:extLst>
                </p:cNvPr>
                <p:cNvSpPr>
                  <a:spLocks/>
                </p:cNvSpPr>
                <p:nvPr/>
              </p:nvSpPr>
              <p:spPr bwMode="auto">
                <a:xfrm>
                  <a:off x="2669639" y="3274170"/>
                  <a:ext cx="43000" cy="48575"/>
                </a:xfrm>
                <a:custGeom>
                  <a:avLst/>
                  <a:gdLst>
                    <a:gd name="T0" fmla="*/ 57 w 57"/>
                    <a:gd name="T1" fmla="*/ 0 h 65"/>
                    <a:gd name="T2" fmla="*/ 17 w 57"/>
                    <a:gd name="T3" fmla="*/ 31 h 65"/>
                    <a:gd name="T4" fmla="*/ 0 w 57"/>
                    <a:gd name="T5" fmla="*/ 65 h 65"/>
                  </a:gdLst>
                  <a:ahLst/>
                  <a:cxnLst>
                    <a:cxn ang="0">
                      <a:pos x="T0" y="T1"/>
                    </a:cxn>
                    <a:cxn ang="0">
                      <a:pos x="T2" y="T3"/>
                    </a:cxn>
                    <a:cxn ang="0">
                      <a:pos x="T4" y="T5"/>
                    </a:cxn>
                  </a:cxnLst>
                  <a:rect l="0" t="0" r="r" b="b"/>
                  <a:pathLst>
                    <a:path w="57" h="65">
                      <a:moveTo>
                        <a:pt x="57" y="0"/>
                      </a:moveTo>
                      <a:cubicBezTo>
                        <a:pt x="57" y="0"/>
                        <a:pt x="28" y="7"/>
                        <a:pt x="17" y="31"/>
                      </a:cubicBezTo>
                      <a:cubicBezTo>
                        <a:pt x="5" y="55"/>
                        <a:pt x="10" y="57"/>
                        <a:pt x="0" y="6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44" name="Freeform 445">
                  <a:extLst>
                    <a:ext uri="{FF2B5EF4-FFF2-40B4-BE49-F238E27FC236}">
                      <a16:creationId xmlns:a16="http://schemas.microsoft.com/office/drawing/2014/main" id="{F7851F61-9A38-4687-A246-83CA7EE8EC08}"/>
                    </a:ext>
                  </a:extLst>
                </p:cNvPr>
                <p:cNvSpPr>
                  <a:spLocks/>
                </p:cNvSpPr>
                <p:nvPr/>
              </p:nvSpPr>
              <p:spPr bwMode="auto">
                <a:xfrm>
                  <a:off x="2590009" y="3287707"/>
                  <a:ext cx="72464" cy="95556"/>
                </a:xfrm>
                <a:custGeom>
                  <a:avLst/>
                  <a:gdLst>
                    <a:gd name="T0" fmla="*/ 0 w 96"/>
                    <a:gd name="T1" fmla="*/ 0 h 127"/>
                    <a:gd name="T2" fmla="*/ 96 w 96"/>
                    <a:gd name="T3" fmla="*/ 74 h 127"/>
                  </a:gdLst>
                  <a:ahLst/>
                  <a:cxnLst>
                    <a:cxn ang="0">
                      <a:pos x="T0" y="T1"/>
                    </a:cxn>
                    <a:cxn ang="0">
                      <a:pos x="T2" y="T3"/>
                    </a:cxn>
                  </a:cxnLst>
                  <a:rect l="0" t="0" r="r" b="b"/>
                  <a:pathLst>
                    <a:path w="96" h="127">
                      <a:moveTo>
                        <a:pt x="0" y="0"/>
                      </a:moveTo>
                      <a:cubicBezTo>
                        <a:pt x="0" y="0"/>
                        <a:pt x="37" y="127"/>
                        <a:pt x="96" y="7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45" name="Freeform 446">
                  <a:extLst>
                    <a:ext uri="{FF2B5EF4-FFF2-40B4-BE49-F238E27FC236}">
                      <a16:creationId xmlns:a16="http://schemas.microsoft.com/office/drawing/2014/main" id="{085CAF5B-6094-49DF-AB38-3ABC05454E04}"/>
                    </a:ext>
                  </a:extLst>
                </p:cNvPr>
                <p:cNvSpPr>
                  <a:spLocks/>
                </p:cNvSpPr>
                <p:nvPr/>
              </p:nvSpPr>
              <p:spPr bwMode="auto">
                <a:xfrm>
                  <a:off x="2638584" y="3354596"/>
                  <a:ext cx="14333" cy="33445"/>
                </a:xfrm>
                <a:custGeom>
                  <a:avLst/>
                  <a:gdLst>
                    <a:gd name="T0" fmla="*/ 0 w 19"/>
                    <a:gd name="T1" fmla="*/ 0 h 44"/>
                    <a:gd name="T2" fmla="*/ 16 w 19"/>
                    <a:gd name="T3" fmla="*/ 44 h 44"/>
                  </a:gdLst>
                  <a:ahLst/>
                  <a:cxnLst>
                    <a:cxn ang="0">
                      <a:pos x="T0" y="T1"/>
                    </a:cxn>
                    <a:cxn ang="0">
                      <a:pos x="T2" y="T3"/>
                    </a:cxn>
                  </a:cxnLst>
                  <a:rect l="0" t="0" r="r" b="b"/>
                  <a:pathLst>
                    <a:path w="19" h="44">
                      <a:moveTo>
                        <a:pt x="0" y="0"/>
                      </a:moveTo>
                      <a:cubicBezTo>
                        <a:pt x="0" y="0"/>
                        <a:pt x="19" y="20"/>
                        <a:pt x="16" y="4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46" name="Freeform 447">
                  <a:extLst>
                    <a:ext uri="{FF2B5EF4-FFF2-40B4-BE49-F238E27FC236}">
                      <a16:creationId xmlns:a16="http://schemas.microsoft.com/office/drawing/2014/main" id="{829C1A8F-5D8B-49A0-B327-7CF002F1C40F}"/>
                    </a:ext>
                  </a:extLst>
                </p:cNvPr>
                <p:cNvSpPr>
                  <a:spLocks/>
                </p:cNvSpPr>
                <p:nvPr/>
              </p:nvSpPr>
              <p:spPr bwMode="auto">
                <a:xfrm>
                  <a:off x="2756436" y="3342652"/>
                  <a:ext cx="101927" cy="138557"/>
                </a:xfrm>
                <a:custGeom>
                  <a:avLst/>
                  <a:gdLst>
                    <a:gd name="T0" fmla="*/ 3 w 136"/>
                    <a:gd name="T1" fmla="*/ 0 h 184"/>
                    <a:gd name="T2" fmla="*/ 12 w 136"/>
                    <a:gd name="T3" fmla="*/ 40 h 184"/>
                    <a:gd name="T4" fmla="*/ 13 w 136"/>
                    <a:gd name="T5" fmla="*/ 123 h 184"/>
                    <a:gd name="T6" fmla="*/ 70 w 136"/>
                    <a:gd name="T7" fmla="*/ 165 h 184"/>
                    <a:gd name="T8" fmla="*/ 100 w 136"/>
                    <a:gd name="T9" fmla="*/ 179 h 184"/>
                    <a:gd name="T10" fmla="*/ 136 w 136"/>
                    <a:gd name="T11" fmla="*/ 181 h 184"/>
                  </a:gdLst>
                  <a:ahLst/>
                  <a:cxnLst>
                    <a:cxn ang="0">
                      <a:pos x="T0" y="T1"/>
                    </a:cxn>
                    <a:cxn ang="0">
                      <a:pos x="T2" y="T3"/>
                    </a:cxn>
                    <a:cxn ang="0">
                      <a:pos x="T4" y="T5"/>
                    </a:cxn>
                    <a:cxn ang="0">
                      <a:pos x="T6" y="T7"/>
                    </a:cxn>
                    <a:cxn ang="0">
                      <a:pos x="T8" y="T9"/>
                    </a:cxn>
                    <a:cxn ang="0">
                      <a:pos x="T10" y="T11"/>
                    </a:cxn>
                  </a:cxnLst>
                  <a:rect l="0" t="0" r="r" b="b"/>
                  <a:pathLst>
                    <a:path w="136" h="184">
                      <a:moveTo>
                        <a:pt x="3" y="0"/>
                      </a:moveTo>
                      <a:cubicBezTo>
                        <a:pt x="3" y="0"/>
                        <a:pt x="24" y="4"/>
                        <a:pt x="12" y="40"/>
                      </a:cubicBezTo>
                      <a:cubicBezTo>
                        <a:pt x="0" y="76"/>
                        <a:pt x="4" y="111"/>
                        <a:pt x="13" y="123"/>
                      </a:cubicBezTo>
                      <a:cubicBezTo>
                        <a:pt x="22" y="135"/>
                        <a:pt x="21" y="154"/>
                        <a:pt x="70" y="165"/>
                      </a:cubicBezTo>
                      <a:cubicBezTo>
                        <a:pt x="90" y="170"/>
                        <a:pt x="90" y="175"/>
                        <a:pt x="100" y="179"/>
                      </a:cubicBezTo>
                      <a:cubicBezTo>
                        <a:pt x="111" y="184"/>
                        <a:pt x="99" y="184"/>
                        <a:pt x="136" y="18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47" name="Freeform 448">
                  <a:extLst>
                    <a:ext uri="{FF2B5EF4-FFF2-40B4-BE49-F238E27FC236}">
                      <a16:creationId xmlns:a16="http://schemas.microsoft.com/office/drawing/2014/main" id="{DB7EB3F5-2FB1-4330-877A-35BDBB8E94E5}"/>
                    </a:ext>
                  </a:extLst>
                </p:cNvPr>
                <p:cNvSpPr>
                  <a:spLocks/>
                </p:cNvSpPr>
                <p:nvPr/>
              </p:nvSpPr>
              <p:spPr bwMode="auto">
                <a:xfrm>
                  <a:off x="2686362" y="3412726"/>
                  <a:ext cx="74056" cy="25482"/>
                </a:xfrm>
                <a:custGeom>
                  <a:avLst/>
                  <a:gdLst>
                    <a:gd name="T0" fmla="*/ 99 w 99"/>
                    <a:gd name="T1" fmla="*/ 0 h 34"/>
                    <a:gd name="T2" fmla="*/ 44 w 99"/>
                    <a:gd name="T3" fmla="*/ 25 h 34"/>
                    <a:gd name="T4" fmla="*/ 0 w 99"/>
                    <a:gd name="T5" fmla="*/ 20 h 34"/>
                  </a:gdLst>
                  <a:ahLst/>
                  <a:cxnLst>
                    <a:cxn ang="0">
                      <a:pos x="T0" y="T1"/>
                    </a:cxn>
                    <a:cxn ang="0">
                      <a:pos x="T2" y="T3"/>
                    </a:cxn>
                    <a:cxn ang="0">
                      <a:pos x="T4" y="T5"/>
                    </a:cxn>
                  </a:cxnLst>
                  <a:rect l="0" t="0" r="r" b="b"/>
                  <a:pathLst>
                    <a:path w="99" h="34">
                      <a:moveTo>
                        <a:pt x="99" y="0"/>
                      </a:moveTo>
                      <a:cubicBezTo>
                        <a:pt x="99" y="0"/>
                        <a:pt x="81" y="34"/>
                        <a:pt x="44" y="25"/>
                      </a:cubicBezTo>
                      <a:cubicBezTo>
                        <a:pt x="6" y="17"/>
                        <a:pt x="8" y="19"/>
                        <a:pt x="0" y="2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48" name="Freeform 449">
                  <a:extLst>
                    <a:ext uri="{FF2B5EF4-FFF2-40B4-BE49-F238E27FC236}">
                      <a16:creationId xmlns:a16="http://schemas.microsoft.com/office/drawing/2014/main" id="{E74CB2FA-19DA-403F-A1AA-375D315925A1}"/>
                    </a:ext>
                  </a:extLst>
                </p:cNvPr>
                <p:cNvSpPr>
                  <a:spLocks/>
                </p:cNvSpPr>
                <p:nvPr/>
              </p:nvSpPr>
              <p:spPr bwMode="auto">
                <a:xfrm>
                  <a:off x="2654510" y="3244706"/>
                  <a:ext cx="41408" cy="39815"/>
                </a:xfrm>
                <a:custGeom>
                  <a:avLst/>
                  <a:gdLst>
                    <a:gd name="T0" fmla="*/ 14 w 55"/>
                    <a:gd name="T1" fmla="*/ 0 h 53"/>
                    <a:gd name="T2" fmla="*/ 55 w 55"/>
                    <a:gd name="T3" fmla="*/ 46 h 53"/>
                  </a:gdLst>
                  <a:ahLst/>
                  <a:cxnLst>
                    <a:cxn ang="0">
                      <a:pos x="T0" y="T1"/>
                    </a:cxn>
                    <a:cxn ang="0">
                      <a:pos x="T2" y="T3"/>
                    </a:cxn>
                  </a:cxnLst>
                  <a:rect l="0" t="0" r="r" b="b"/>
                  <a:pathLst>
                    <a:path w="55" h="53">
                      <a:moveTo>
                        <a:pt x="14" y="0"/>
                      </a:moveTo>
                      <a:cubicBezTo>
                        <a:pt x="14" y="0"/>
                        <a:pt x="0" y="53"/>
                        <a:pt x="55" y="4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49" name="Freeform 450">
                  <a:extLst>
                    <a:ext uri="{FF2B5EF4-FFF2-40B4-BE49-F238E27FC236}">
                      <a16:creationId xmlns:a16="http://schemas.microsoft.com/office/drawing/2014/main" id="{B70F9DFC-2C6B-42A2-9617-8D6E321B7F6C}"/>
                    </a:ext>
                  </a:extLst>
                </p:cNvPr>
                <p:cNvSpPr>
                  <a:spLocks/>
                </p:cNvSpPr>
                <p:nvPr/>
              </p:nvSpPr>
              <p:spPr bwMode="auto">
                <a:xfrm>
                  <a:off x="2590805" y="3390430"/>
                  <a:ext cx="246058" cy="121038"/>
                </a:xfrm>
                <a:custGeom>
                  <a:avLst/>
                  <a:gdLst>
                    <a:gd name="T0" fmla="*/ 13 w 327"/>
                    <a:gd name="T1" fmla="*/ 0 h 160"/>
                    <a:gd name="T2" fmla="*/ 50 w 327"/>
                    <a:gd name="T3" fmla="*/ 69 h 160"/>
                    <a:gd name="T4" fmla="*/ 80 w 327"/>
                    <a:gd name="T5" fmla="*/ 100 h 160"/>
                    <a:gd name="T6" fmla="*/ 160 w 327"/>
                    <a:gd name="T7" fmla="*/ 141 h 160"/>
                    <a:gd name="T8" fmla="*/ 231 w 327"/>
                    <a:gd name="T9" fmla="*/ 155 h 160"/>
                    <a:gd name="T10" fmla="*/ 327 w 327"/>
                    <a:gd name="T11" fmla="*/ 152 h 160"/>
                  </a:gdLst>
                  <a:ahLst/>
                  <a:cxnLst>
                    <a:cxn ang="0">
                      <a:pos x="T0" y="T1"/>
                    </a:cxn>
                    <a:cxn ang="0">
                      <a:pos x="T2" y="T3"/>
                    </a:cxn>
                    <a:cxn ang="0">
                      <a:pos x="T4" y="T5"/>
                    </a:cxn>
                    <a:cxn ang="0">
                      <a:pos x="T6" y="T7"/>
                    </a:cxn>
                    <a:cxn ang="0">
                      <a:pos x="T8" y="T9"/>
                    </a:cxn>
                    <a:cxn ang="0">
                      <a:pos x="T10" y="T11"/>
                    </a:cxn>
                  </a:cxnLst>
                  <a:rect l="0" t="0" r="r" b="b"/>
                  <a:pathLst>
                    <a:path w="327" h="160">
                      <a:moveTo>
                        <a:pt x="13" y="0"/>
                      </a:moveTo>
                      <a:cubicBezTo>
                        <a:pt x="13" y="0"/>
                        <a:pt x="0" y="36"/>
                        <a:pt x="50" y="69"/>
                      </a:cubicBezTo>
                      <a:cubicBezTo>
                        <a:pt x="83" y="90"/>
                        <a:pt x="78" y="96"/>
                        <a:pt x="80" y="100"/>
                      </a:cubicBezTo>
                      <a:cubicBezTo>
                        <a:pt x="81" y="103"/>
                        <a:pt x="91" y="130"/>
                        <a:pt x="160" y="141"/>
                      </a:cubicBezTo>
                      <a:cubicBezTo>
                        <a:pt x="229" y="152"/>
                        <a:pt x="209" y="150"/>
                        <a:pt x="231" y="155"/>
                      </a:cubicBezTo>
                      <a:cubicBezTo>
                        <a:pt x="252" y="160"/>
                        <a:pt x="276" y="159"/>
                        <a:pt x="327" y="15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50" name="Freeform 451">
                  <a:extLst>
                    <a:ext uri="{FF2B5EF4-FFF2-40B4-BE49-F238E27FC236}">
                      <a16:creationId xmlns:a16="http://schemas.microsoft.com/office/drawing/2014/main" id="{0482D5FA-83DC-4363-8439-A257122EBAED}"/>
                    </a:ext>
                  </a:extLst>
                </p:cNvPr>
                <p:cNvSpPr>
                  <a:spLocks/>
                </p:cNvSpPr>
                <p:nvPr/>
              </p:nvSpPr>
              <p:spPr bwMode="auto">
                <a:xfrm>
                  <a:off x="2918882" y="3498727"/>
                  <a:ext cx="43797" cy="43000"/>
                </a:xfrm>
                <a:custGeom>
                  <a:avLst/>
                  <a:gdLst>
                    <a:gd name="T0" fmla="*/ 0 w 59"/>
                    <a:gd name="T1" fmla="*/ 0 h 58"/>
                    <a:gd name="T2" fmla="*/ 18 w 59"/>
                    <a:gd name="T3" fmla="*/ 58 h 58"/>
                  </a:gdLst>
                  <a:ahLst/>
                  <a:cxnLst>
                    <a:cxn ang="0">
                      <a:pos x="T0" y="T1"/>
                    </a:cxn>
                    <a:cxn ang="0">
                      <a:pos x="T2" y="T3"/>
                    </a:cxn>
                  </a:cxnLst>
                  <a:rect l="0" t="0" r="r" b="b"/>
                  <a:pathLst>
                    <a:path w="59" h="58">
                      <a:moveTo>
                        <a:pt x="0" y="0"/>
                      </a:moveTo>
                      <a:cubicBezTo>
                        <a:pt x="0" y="0"/>
                        <a:pt x="59" y="12"/>
                        <a:pt x="18" y="5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51" name="Freeform 453">
                  <a:extLst>
                    <a:ext uri="{FF2B5EF4-FFF2-40B4-BE49-F238E27FC236}">
                      <a16:creationId xmlns:a16="http://schemas.microsoft.com/office/drawing/2014/main" id="{D09B09DA-7ECB-4EE6-9C79-C5F16A2CD22F}"/>
                    </a:ext>
                  </a:extLst>
                </p:cNvPr>
                <p:cNvSpPr>
                  <a:spLocks/>
                </p:cNvSpPr>
                <p:nvPr/>
              </p:nvSpPr>
              <p:spPr bwMode="auto">
                <a:xfrm>
                  <a:off x="2631417" y="3536950"/>
                  <a:ext cx="44593" cy="17519"/>
                </a:xfrm>
                <a:custGeom>
                  <a:avLst/>
                  <a:gdLst>
                    <a:gd name="T0" fmla="*/ 59 w 59"/>
                    <a:gd name="T1" fmla="*/ 0 h 24"/>
                    <a:gd name="T2" fmla="*/ 38 w 59"/>
                    <a:gd name="T3" fmla="*/ 12 h 24"/>
                    <a:gd name="T4" fmla="*/ 0 w 59"/>
                    <a:gd name="T5" fmla="*/ 21 h 24"/>
                  </a:gdLst>
                  <a:ahLst/>
                  <a:cxnLst>
                    <a:cxn ang="0">
                      <a:pos x="T0" y="T1"/>
                    </a:cxn>
                    <a:cxn ang="0">
                      <a:pos x="T2" y="T3"/>
                    </a:cxn>
                    <a:cxn ang="0">
                      <a:pos x="T4" y="T5"/>
                    </a:cxn>
                  </a:cxnLst>
                  <a:rect l="0" t="0" r="r" b="b"/>
                  <a:pathLst>
                    <a:path w="59" h="24">
                      <a:moveTo>
                        <a:pt x="59" y="0"/>
                      </a:moveTo>
                      <a:cubicBezTo>
                        <a:pt x="59" y="0"/>
                        <a:pt x="42" y="7"/>
                        <a:pt x="38" y="12"/>
                      </a:cubicBezTo>
                      <a:cubicBezTo>
                        <a:pt x="35" y="17"/>
                        <a:pt x="40" y="24"/>
                        <a:pt x="0" y="2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52" name="Freeform 454">
                  <a:extLst>
                    <a:ext uri="{FF2B5EF4-FFF2-40B4-BE49-F238E27FC236}">
                      <a16:creationId xmlns:a16="http://schemas.microsoft.com/office/drawing/2014/main" id="{B3D9CF37-AD27-424C-83D4-C1F552F12605}"/>
                    </a:ext>
                  </a:extLst>
                </p:cNvPr>
                <p:cNvSpPr>
                  <a:spLocks/>
                </p:cNvSpPr>
                <p:nvPr/>
              </p:nvSpPr>
              <p:spPr bwMode="auto">
                <a:xfrm>
                  <a:off x="2704676" y="3552876"/>
                  <a:ext cx="190317" cy="30259"/>
                </a:xfrm>
                <a:custGeom>
                  <a:avLst/>
                  <a:gdLst>
                    <a:gd name="T0" fmla="*/ 254 w 254"/>
                    <a:gd name="T1" fmla="*/ 16 h 41"/>
                    <a:gd name="T2" fmla="*/ 191 w 254"/>
                    <a:gd name="T3" fmla="*/ 32 h 41"/>
                    <a:gd name="T4" fmla="*/ 125 w 254"/>
                    <a:gd name="T5" fmla="*/ 22 h 41"/>
                    <a:gd name="T6" fmla="*/ 77 w 254"/>
                    <a:gd name="T7" fmla="*/ 27 h 41"/>
                    <a:gd name="T8" fmla="*/ 0 w 254"/>
                    <a:gd name="T9" fmla="*/ 0 h 41"/>
                    <a:gd name="T10" fmla="*/ 5 w 254"/>
                    <a:gd name="T11" fmla="*/ 26 h 41"/>
                  </a:gdLst>
                  <a:ahLst/>
                  <a:cxnLst>
                    <a:cxn ang="0">
                      <a:pos x="T0" y="T1"/>
                    </a:cxn>
                    <a:cxn ang="0">
                      <a:pos x="T2" y="T3"/>
                    </a:cxn>
                    <a:cxn ang="0">
                      <a:pos x="T4" y="T5"/>
                    </a:cxn>
                    <a:cxn ang="0">
                      <a:pos x="T6" y="T7"/>
                    </a:cxn>
                    <a:cxn ang="0">
                      <a:pos x="T8" y="T9"/>
                    </a:cxn>
                    <a:cxn ang="0">
                      <a:pos x="T10" y="T11"/>
                    </a:cxn>
                  </a:cxnLst>
                  <a:rect l="0" t="0" r="r" b="b"/>
                  <a:pathLst>
                    <a:path w="254" h="41">
                      <a:moveTo>
                        <a:pt x="254" y="16"/>
                      </a:moveTo>
                      <a:cubicBezTo>
                        <a:pt x="254" y="16"/>
                        <a:pt x="239" y="37"/>
                        <a:pt x="191" y="32"/>
                      </a:cubicBezTo>
                      <a:cubicBezTo>
                        <a:pt x="144" y="27"/>
                        <a:pt x="141" y="26"/>
                        <a:pt x="125" y="22"/>
                      </a:cubicBezTo>
                      <a:cubicBezTo>
                        <a:pt x="108" y="18"/>
                        <a:pt x="95" y="25"/>
                        <a:pt x="77" y="27"/>
                      </a:cubicBezTo>
                      <a:cubicBezTo>
                        <a:pt x="59" y="29"/>
                        <a:pt x="27" y="41"/>
                        <a:pt x="0" y="0"/>
                      </a:cubicBezTo>
                      <a:cubicBezTo>
                        <a:pt x="0" y="0"/>
                        <a:pt x="8" y="17"/>
                        <a:pt x="5" y="2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53" name="Freeform 455">
                  <a:extLst>
                    <a:ext uri="{FF2B5EF4-FFF2-40B4-BE49-F238E27FC236}">
                      <a16:creationId xmlns:a16="http://schemas.microsoft.com/office/drawing/2014/main" id="{CBB00319-3DAD-4B60-8E84-16C6CE414746}"/>
                    </a:ext>
                  </a:extLst>
                </p:cNvPr>
                <p:cNvSpPr>
                  <a:spLocks/>
                </p:cNvSpPr>
                <p:nvPr/>
              </p:nvSpPr>
              <p:spPr bwMode="auto">
                <a:xfrm>
                  <a:off x="2875882" y="3546505"/>
                  <a:ext cx="33445" cy="39019"/>
                </a:xfrm>
                <a:custGeom>
                  <a:avLst/>
                  <a:gdLst>
                    <a:gd name="T0" fmla="*/ 45 w 45"/>
                    <a:gd name="T1" fmla="*/ 0 h 52"/>
                    <a:gd name="T2" fmla="*/ 39 w 45"/>
                    <a:gd name="T3" fmla="*/ 52 h 52"/>
                  </a:gdLst>
                  <a:ahLst/>
                  <a:cxnLst>
                    <a:cxn ang="0">
                      <a:pos x="T0" y="T1"/>
                    </a:cxn>
                    <a:cxn ang="0">
                      <a:pos x="T2" y="T3"/>
                    </a:cxn>
                  </a:cxnLst>
                  <a:rect l="0" t="0" r="r" b="b"/>
                  <a:pathLst>
                    <a:path w="45" h="52">
                      <a:moveTo>
                        <a:pt x="45" y="0"/>
                      </a:moveTo>
                      <a:cubicBezTo>
                        <a:pt x="45" y="0"/>
                        <a:pt x="0" y="29"/>
                        <a:pt x="39" y="5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54" name="Freeform 456">
                  <a:extLst>
                    <a:ext uri="{FF2B5EF4-FFF2-40B4-BE49-F238E27FC236}">
                      <a16:creationId xmlns:a16="http://schemas.microsoft.com/office/drawing/2014/main" id="{28227F93-5E40-47D6-A776-3FE62CEFEA07}"/>
                    </a:ext>
                  </a:extLst>
                </p:cNvPr>
                <p:cNvSpPr>
                  <a:spLocks/>
                </p:cNvSpPr>
                <p:nvPr/>
              </p:nvSpPr>
              <p:spPr bwMode="auto">
                <a:xfrm>
                  <a:off x="2916493" y="3245503"/>
                  <a:ext cx="67686" cy="33445"/>
                </a:xfrm>
                <a:custGeom>
                  <a:avLst/>
                  <a:gdLst>
                    <a:gd name="T0" fmla="*/ 90 w 90"/>
                    <a:gd name="T1" fmla="*/ 0 h 44"/>
                    <a:gd name="T2" fmla="*/ 0 w 90"/>
                    <a:gd name="T3" fmla="*/ 13 h 44"/>
                  </a:gdLst>
                  <a:ahLst/>
                  <a:cxnLst>
                    <a:cxn ang="0">
                      <a:pos x="T0" y="T1"/>
                    </a:cxn>
                    <a:cxn ang="0">
                      <a:pos x="T2" y="T3"/>
                    </a:cxn>
                  </a:cxnLst>
                  <a:rect l="0" t="0" r="r" b="b"/>
                  <a:pathLst>
                    <a:path w="90" h="44">
                      <a:moveTo>
                        <a:pt x="90" y="0"/>
                      </a:moveTo>
                      <a:cubicBezTo>
                        <a:pt x="90" y="0"/>
                        <a:pt x="62" y="44"/>
                        <a:pt x="0" y="1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55" name="Freeform 457">
                  <a:extLst>
                    <a:ext uri="{FF2B5EF4-FFF2-40B4-BE49-F238E27FC236}">
                      <a16:creationId xmlns:a16="http://schemas.microsoft.com/office/drawing/2014/main" id="{2C3625DD-03D1-4F23-ACD8-A5EAE99E1D7F}"/>
                    </a:ext>
                  </a:extLst>
                </p:cNvPr>
                <p:cNvSpPr>
                  <a:spLocks/>
                </p:cNvSpPr>
                <p:nvPr/>
              </p:nvSpPr>
              <p:spPr bwMode="auto">
                <a:xfrm>
                  <a:off x="2810585" y="3265410"/>
                  <a:ext cx="132186" cy="57334"/>
                </a:xfrm>
                <a:custGeom>
                  <a:avLst/>
                  <a:gdLst>
                    <a:gd name="T0" fmla="*/ 176 w 176"/>
                    <a:gd name="T1" fmla="*/ 0 h 77"/>
                    <a:gd name="T2" fmla="*/ 91 w 176"/>
                    <a:gd name="T3" fmla="*/ 27 h 77"/>
                    <a:gd name="T4" fmla="*/ 0 w 176"/>
                    <a:gd name="T5" fmla="*/ 75 h 77"/>
                  </a:gdLst>
                  <a:ahLst/>
                  <a:cxnLst>
                    <a:cxn ang="0">
                      <a:pos x="T0" y="T1"/>
                    </a:cxn>
                    <a:cxn ang="0">
                      <a:pos x="T2" y="T3"/>
                    </a:cxn>
                    <a:cxn ang="0">
                      <a:pos x="T4" y="T5"/>
                    </a:cxn>
                  </a:cxnLst>
                  <a:rect l="0" t="0" r="r" b="b"/>
                  <a:pathLst>
                    <a:path w="176" h="77">
                      <a:moveTo>
                        <a:pt x="176" y="0"/>
                      </a:moveTo>
                      <a:cubicBezTo>
                        <a:pt x="176" y="0"/>
                        <a:pt x="109" y="10"/>
                        <a:pt x="91" y="27"/>
                      </a:cubicBezTo>
                      <a:cubicBezTo>
                        <a:pt x="73" y="44"/>
                        <a:pt x="41" y="77"/>
                        <a:pt x="0" y="7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56" name="Freeform 458">
                  <a:extLst>
                    <a:ext uri="{FF2B5EF4-FFF2-40B4-BE49-F238E27FC236}">
                      <a16:creationId xmlns:a16="http://schemas.microsoft.com/office/drawing/2014/main" id="{D1DEFB42-5B13-4DE9-B5CF-B60C33129A28}"/>
                    </a:ext>
                  </a:extLst>
                </p:cNvPr>
                <p:cNvSpPr>
                  <a:spLocks/>
                </p:cNvSpPr>
                <p:nvPr/>
              </p:nvSpPr>
              <p:spPr bwMode="auto">
                <a:xfrm>
                  <a:off x="2809788" y="3321151"/>
                  <a:ext cx="17519" cy="55741"/>
                </a:xfrm>
                <a:custGeom>
                  <a:avLst/>
                  <a:gdLst>
                    <a:gd name="T0" fmla="*/ 23 w 23"/>
                    <a:gd name="T1" fmla="*/ 0 h 75"/>
                    <a:gd name="T2" fmla="*/ 5 w 23"/>
                    <a:gd name="T3" fmla="*/ 75 h 75"/>
                  </a:gdLst>
                  <a:ahLst/>
                  <a:cxnLst>
                    <a:cxn ang="0">
                      <a:pos x="T0" y="T1"/>
                    </a:cxn>
                    <a:cxn ang="0">
                      <a:pos x="T2" y="T3"/>
                    </a:cxn>
                  </a:cxnLst>
                  <a:rect l="0" t="0" r="r" b="b"/>
                  <a:pathLst>
                    <a:path w="23" h="75">
                      <a:moveTo>
                        <a:pt x="23" y="0"/>
                      </a:moveTo>
                      <a:cubicBezTo>
                        <a:pt x="23" y="0"/>
                        <a:pt x="0" y="36"/>
                        <a:pt x="5" y="7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57" name="Freeform 460">
                  <a:extLst>
                    <a:ext uri="{FF2B5EF4-FFF2-40B4-BE49-F238E27FC236}">
                      <a16:creationId xmlns:a16="http://schemas.microsoft.com/office/drawing/2014/main" id="{72F2345D-9423-4B6B-8F10-967C96814090}"/>
                    </a:ext>
                  </a:extLst>
                </p:cNvPr>
                <p:cNvSpPr>
                  <a:spLocks/>
                </p:cNvSpPr>
                <p:nvPr/>
              </p:nvSpPr>
              <p:spPr bwMode="auto">
                <a:xfrm>
                  <a:off x="2679195" y="3281336"/>
                  <a:ext cx="6370" cy="12741"/>
                </a:xfrm>
                <a:custGeom>
                  <a:avLst/>
                  <a:gdLst>
                    <a:gd name="T0" fmla="*/ 0 w 8"/>
                    <a:gd name="T1" fmla="*/ 0 h 17"/>
                    <a:gd name="T2" fmla="*/ 5 w 8"/>
                    <a:gd name="T3" fmla="*/ 17 h 17"/>
                  </a:gdLst>
                  <a:ahLst/>
                  <a:cxnLst>
                    <a:cxn ang="0">
                      <a:pos x="T0" y="T1"/>
                    </a:cxn>
                    <a:cxn ang="0">
                      <a:pos x="T2" y="T3"/>
                    </a:cxn>
                  </a:cxnLst>
                  <a:rect l="0" t="0" r="r" b="b"/>
                  <a:pathLst>
                    <a:path w="8" h="17">
                      <a:moveTo>
                        <a:pt x="0" y="0"/>
                      </a:moveTo>
                      <a:cubicBezTo>
                        <a:pt x="0" y="0"/>
                        <a:pt x="8" y="1"/>
                        <a:pt x="5" y="1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58" name="Freeform: Shape 457">
                  <a:extLst>
                    <a:ext uri="{FF2B5EF4-FFF2-40B4-BE49-F238E27FC236}">
                      <a16:creationId xmlns:a16="http://schemas.microsoft.com/office/drawing/2014/main" id="{C9D047F1-1313-4E81-AB6D-75D1A687BF11}"/>
                    </a:ext>
                  </a:extLst>
                </p:cNvPr>
                <p:cNvSpPr/>
                <p:nvPr/>
              </p:nvSpPr>
              <p:spPr>
                <a:xfrm>
                  <a:off x="2971627" y="3388816"/>
                  <a:ext cx="342566" cy="313019"/>
                </a:xfrm>
                <a:custGeom>
                  <a:avLst/>
                  <a:gdLst>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27467 w 695085"/>
                    <a:gd name="connsiteY9" fmla="*/ 290555 h 454927"/>
                    <a:gd name="connsiteX10" fmla="*/ 494129 w 695085"/>
                    <a:gd name="connsiteY10" fmla="*/ 335798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17942 w 695085"/>
                    <a:gd name="connsiteY9" fmla="*/ 273886 h 454927"/>
                    <a:gd name="connsiteX10" fmla="*/ 494129 w 695085"/>
                    <a:gd name="connsiteY10" fmla="*/ 335798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17942 w 695085"/>
                    <a:gd name="connsiteY9" fmla="*/ 273886 h 454927"/>
                    <a:gd name="connsiteX10" fmla="*/ 491748 w 695085"/>
                    <a:gd name="connsiteY10" fmla="*/ 338179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4"/>
                    <a:gd name="connsiteY0" fmla="*/ 235786 h 454927"/>
                    <a:gd name="connsiteX1" fmla="*/ 127417 w 695084"/>
                    <a:gd name="connsiteY1" fmla="*/ 114342 h 454927"/>
                    <a:gd name="connsiteX2" fmla="*/ 236954 w 695084"/>
                    <a:gd name="connsiteY2" fmla="*/ 28617 h 454927"/>
                    <a:gd name="connsiteX3" fmla="*/ 401261 w 695084"/>
                    <a:gd name="connsiteY3" fmla="*/ 42 h 454927"/>
                    <a:gd name="connsiteX4" fmla="*/ 572711 w 695084"/>
                    <a:gd name="connsiteY4" fmla="*/ 33380 h 454927"/>
                    <a:gd name="connsiteX5" fmla="*/ 627479 w 695084"/>
                    <a:gd name="connsiteY5" fmla="*/ 119105 h 454927"/>
                    <a:gd name="connsiteX6" fmla="*/ 677486 w 695084"/>
                    <a:gd name="connsiteY6" fmla="*/ 214355 h 454927"/>
                    <a:gd name="connsiteX7" fmla="*/ 689392 w 695084"/>
                    <a:gd name="connsiteY7" fmla="*/ 269123 h 454927"/>
                    <a:gd name="connsiteX8" fmla="*/ 591761 w 695084"/>
                    <a:gd name="connsiteY8" fmla="*/ 273885 h 454927"/>
                    <a:gd name="connsiteX9" fmla="*/ 517942 w 695084"/>
                    <a:gd name="connsiteY9" fmla="*/ 273886 h 454927"/>
                    <a:gd name="connsiteX10" fmla="*/ 491748 w 695084"/>
                    <a:gd name="connsiteY10" fmla="*/ 338179 h 454927"/>
                    <a:gd name="connsiteX11" fmla="*/ 508417 w 695084"/>
                    <a:gd name="connsiteY11" fmla="*/ 388186 h 454927"/>
                    <a:gd name="connsiteX12" fmla="*/ 384592 w 695084"/>
                    <a:gd name="connsiteY12" fmla="*/ 404855 h 454927"/>
                    <a:gd name="connsiteX13" fmla="*/ 194092 w 695084"/>
                    <a:gd name="connsiteY13" fmla="*/ 416761 h 454927"/>
                    <a:gd name="connsiteX14" fmla="*/ 67886 w 695084"/>
                    <a:gd name="connsiteY14" fmla="*/ 454861 h 454927"/>
                    <a:gd name="connsiteX15" fmla="*/ 1211 w 695084"/>
                    <a:gd name="connsiteY15" fmla="*/ 423905 h 454927"/>
                    <a:gd name="connsiteX16" fmla="*/ 25023 w 695084"/>
                    <a:gd name="connsiteY16" fmla="*/ 352467 h 454927"/>
                    <a:gd name="connsiteX17" fmla="*/ 27404 w 695084"/>
                    <a:gd name="connsiteY17" fmla="*/ 242930 h 454927"/>
                    <a:gd name="connsiteX18" fmla="*/ 86936 w 695084"/>
                    <a:gd name="connsiteY18" fmla="*/ 235786 h 454927"/>
                    <a:gd name="connsiteX0" fmla="*/ 86936 w 682178"/>
                    <a:gd name="connsiteY0" fmla="*/ 235786 h 454927"/>
                    <a:gd name="connsiteX1" fmla="*/ 127417 w 682178"/>
                    <a:gd name="connsiteY1" fmla="*/ 114342 h 454927"/>
                    <a:gd name="connsiteX2" fmla="*/ 236954 w 682178"/>
                    <a:gd name="connsiteY2" fmla="*/ 28617 h 454927"/>
                    <a:gd name="connsiteX3" fmla="*/ 401261 w 682178"/>
                    <a:gd name="connsiteY3" fmla="*/ 42 h 454927"/>
                    <a:gd name="connsiteX4" fmla="*/ 572711 w 682178"/>
                    <a:gd name="connsiteY4" fmla="*/ 33380 h 454927"/>
                    <a:gd name="connsiteX5" fmla="*/ 627479 w 682178"/>
                    <a:gd name="connsiteY5" fmla="*/ 119105 h 454927"/>
                    <a:gd name="connsiteX6" fmla="*/ 677486 w 682178"/>
                    <a:gd name="connsiteY6" fmla="*/ 214355 h 454927"/>
                    <a:gd name="connsiteX7" fmla="*/ 670342 w 682178"/>
                    <a:gd name="connsiteY7" fmla="*/ 285792 h 454927"/>
                    <a:gd name="connsiteX8" fmla="*/ 591761 w 682178"/>
                    <a:gd name="connsiteY8" fmla="*/ 273885 h 454927"/>
                    <a:gd name="connsiteX9" fmla="*/ 517942 w 682178"/>
                    <a:gd name="connsiteY9" fmla="*/ 273886 h 454927"/>
                    <a:gd name="connsiteX10" fmla="*/ 491748 w 682178"/>
                    <a:gd name="connsiteY10" fmla="*/ 338179 h 454927"/>
                    <a:gd name="connsiteX11" fmla="*/ 508417 w 682178"/>
                    <a:gd name="connsiteY11" fmla="*/ 388186 h 454927"/>
                    <a:gd name="connsiteX12" fmla="*/ 384592 w 682178"/>
                    <a:gd name="connsiteY12" fmla="*/ 404855 h 454927"/>
                    <a:gd name="connsiteX13" fmla="*/ 194092 w 682178"/>
                    <a:gd name="connsiteY13" fmla="*/ 416761 h 454927"/>
                    <a:gd name="connsiteX14" fmla="*/ 67886 w 682178"/>
                    <a:gd name="connsiteY14" fmla="*/ 454861 h 454927"/>
                    <a:gd name="connsiteX15" fmla="*/ 1211 w 682178"/>
                    <a:gd name="connsiteY15" fmla="*/ 423905 h 454927"/>
                    <a:gd name="connsiteX16" fmla="*/ 25023 w 682178"/>
                    <a:gd name="connsiteY16" fmla="*/ 352467 h 454927"/>
                    <a:gd name="connsiteX17" fmla="*/ 27404 w 682178"/>
                    <a:gd name="connsiteY17" fmla="*/ 242930 h 454927"/>
                    <a:gd name="connsiteX18" fmla="*/ 86936 w 682178"/>
                    <a:gd name="connsiteY18" fmla="*/ 235786 h 454927"/>
                    <a:gd name="connsiteX0" fmla="*/ 86936 w 682935"/>
                    <a:gd name="connsiteY0" fmla="*/ 235786 h 454927"/>
                    <a:gd name="connsiteX1" fmla="*/ 127417 w 682935"/>
                    <a:gd name="connsiteY1" fmla="*/ 114342 h 454927"/>
                    <a:gd name="connsiteX2" fmla="*/ 236954 w 682935"/>
                    <a:gd name="connsiteY2" fmla="*/ 28617 h 454927"/>
                    <a:gd name="connsiteX3" fmla="*/ 401261 w 682935"/>
                    <a:gd name="connsiteY3" fmla="*/ 42 h 454927"/>
                    <a:gd name="connsiteX4" fmla="*/ 572711 w 682935"/>
                    <a:gd name="connsiteY4" fmla="*/ 33380 h 454927"/>
                    <a:gd name="connsiteX5" fmla="*/ 627479 w 682935"/>
                    <a:gd name="connsiteY5" fmla="*/ 119105 h 454927"/>
                    <a:gd name="connsiteX6" fmla="*/ 677486 w 682935"/>
                    <a:gd name="connsiteY6" fmla="*/ 214355 h 454927"/>
                    <a:gd name="connsiteX7" fmla="*/ 670342 w 682935"/>
                    <a:gd name="connsiteY7" fmla="*/ 285792 h 454927"/>
                    <a:gd name="connsiteX8" fmla="*/ 577473 w 682935"/>
                    <a:gd name="connsiteY8" fmla="*/ 264360 h 454927"/>
                    <a:gd name="connsiteX9" fmla="*/ 517942 w 682935"/>
                    <a:gd name="connsiteY9" fmla="*/ 273886 h 454927"/>
                    <a:gd name="connsiteX10" fmla="*/ 491748 w 682935"/>
                    <a:gd name="connsiteY10" fmla="*/ 338179 h 454927"/>
                    <a:gd name="connsiteX11" fmla="*/ 508417 w 682935"/>
                    <a:gd name="connsiteY11" fmla="*/ 388186 h 454927"/>
                    <a:gd name="connsiteX12" fmla="*/ 384592 w 682935"/>
                    <a:gd name="connsiteY12" fmla="*/ 404855 h 454927"/>
                    <a:gd name="connsiteX13" fmla="*/ 194092 w 682935"/>
                    <a:gd name="connsiteY13" fmla="*/ 416761 h 454927"/>
                    <a:gd name="connsiteX14" fmla="*/ 67886 w 682935"/>
                    <a:gd name="connsiteY14" fmla="*/ 454861 h 454927"/>
                    <a:gd name="connsiteX15" fmla="*/ 1211 w 682935"/>
                    <a:gd name="connsiteY15" fmla="*/ 423905 h 454927"/>
                    <a:gd name="connsiteX16" fmla="*/ 25023 w 682935"/>
                    <a:gd name="connsiteY16" fmla="*/ 352467 h 454927"/>
                    <a:gd name="connsiteX17" fmla="*/ 27404 w 682935"/>
                    <a:gd name="connsiteY17" fmla="*/ 242930 h 454927"/>
                    <a:gd name="connsiteX18" fmla="*/ 86936 w 682935"/>
                    <a:gd name="connsiteY18" fmla="*/ 235786 h 454927"/>
                    <a:gd name="connsiteX0" fmla="*/ 86936 w 682935"/>
                    <a:gd name="connsiteY0" fmla="*/ 235786 h 454927"/>
                    <a:gd name="connsiteX1" fmla="*/ 127417 w 682935"/>
                    <a:gd name="connsiteY1" fmla="*/ 114342 h 454927"/>
                    <a:gd name="connsiteX2" fmla="*/ 236954 w 682935"/>
                    <a:gd name="connsiteY2" fmla="*/ 28617 h 454927"/>
                    <a:gd name="connsiteX3" fmla="*/ 401261 w 682935"/>
                    <a:gd name="connsiteY3" fmla="*/ 42 h 454927"/>
                    <a:gd name="connsiteX4" fmla="*/ 572711 w 682935"/>
                    <a:gd name="connsiteY4" fmla="*/ 33380 h 454927"/>
                    <a:gd name="connsiteX5" fmla="*/ 627479 w 682935"/>
                    <a:gd name="connsiteY5" fmla="*/ 119105 h 454927"/>
                    <a:gd name="connsiteX6" fmla="*/ 677486 w 682935"/>
                    <a:gd name="connsiteY6" fmla="*/ 214355 h 454927"/>
                    <a:gd name="connsiteX7" fmla="*/ 670342 w 682935"/>
                    <a:gd name="connsiteY7" fmla="*/ 285792 h 454927"/>
                    <a:gd name="connsiteX8" fmla="*/ 577473 w 682935"/>
                    <a:gd name="connsiteY8" fmla="*/ 264360 h 454927"/>
                    <a:gd name="connsiteX9" fmla="*/ 517942 w 682935"/>
                    <a:gd name="connsiteY9" fmla="*/ 273886 h 454927"/>
                    <a:gd name="connsiteX10" fmla="*/ 484605 w 682935"/>
                    <a:gd name="connsiteY10" fmla="*/ 333416 h 454927"/>
                    <a:gd name="connsiteX11" fmla="*/ 508417 w 682935"/>
                    <a:gd name="connsiteY11" fmla="*/ 388186 h 454927"/>
                    <a:gd name="connsiteX12" fmla="*/ 384592 w 682935"/>
                    <a:gd name="connsiteY12" fmla="*/ 404855 h 454927"/>
                    <a:gd name="connsiteX13" fmla="*/ 194092 w 682935"/>
                    <a:gd name="connsiteY13" fmla="*/ 416761 h 454927"/>
                    <a:gd name="connsiteX14" fmla="*/ 67886 w 682935"/>
                    <a:gd name="connsiteY14" fmla="*/ 454861 h 454927"/>
                    <a:gd name="connsiteX15" fmla="*/ 1211 w 682935"/>
                    <a:gd name="connsiteY15" fmla="*/ 423905 h 454927"/>
                    <a:gd name="connsiteX16" fmla="*/ 25023 w 682935"/>
                    <a:gd name="connsiteY16" fmla="*/ 352467 h 454927"/>
                    <a:gd name="connsiteX17" fmla="*/ 27404 w 682935"/>
                    <a:gd name="connsiteY17" fmla="*/ 242930 h 454927"/>
                    <a:gd name="connsiteX18" fmla="*/ 86936 w 682935"/>
                    <a:gd name="connsiteY18" fmla="*/ 235786 h 454927"/>
                    <a:gd name="connsiteX0" fmla="*/ 86936 w 682935"/>
                    <a:gd name="connsiteY0" fmla="*/ 235786 h 514451"/>
                    <a:gd name="connsiteX1" fmla="*/ 127417 w 682935"/>
                    <a:gd name="connsiteY1" fmla="*/ 114342 h 514451"/>
                    <a:gd name="connsiteX2" fmla="*/ 236954 w 682935"/>
                    <a:gd name="connsiteY2" fmla="*/ 28617 h 514451"/>
                    <a:gd name="connsiteX3" fmla="*/ 401261 w 682935"/>
                    <a:gd name="connsiteY3" fmla="*/ 42 h 514451"/>
                    <a:gd name="connsiteX4" fmla="*/ 572711 w 682935"/>
                    <a:gd name="connsiteY4" fmla="*/ 33380 h 514451"/>
                    <a:gd name="connsiteX5" fmla="*/ 627479 w 682935"/>
                    <a:gd name="connsiteY5" fmla="*/ 119105 h 514451"/>
                    <a:gd name="connsiteX6" fmla="*/ 677486 w 682935"/>
                    <a:gd name="connsiteY6" fmla="*/ 214355 h 514451"/>
                    <a:gd name="connsiteX7" fmla="*/ 670342 w 682935"/>
                    <a:gd name="connsiteY7" fmla="*/ 285792 h 514451"/>
                    <a:gd name="connsiteX8" fmla="*/ 577473 w 682935"/>
                    <a:gd name="connsiteY8" fmla="*/ 264360 h 514451"/>
                    <a:gd name="connsiteX9" fmla="*/ 517942 w 682935"/>
                    <a:gd name="connsiteY9" fmla="*/ 273886 h 514451"/>
                    <a:gd name="connsiteX10" fmla="*/ 484605 w 682935"/>
                    <a:gd name="connsiteY10" fmla="*/ 333416 h 514451"/>
                    <a:gd name="connsiteX11" fmla="*/ 508417 w 682935"/>
                    <a:gd name="connsiteY11" fmla="*/ 388186 h 514451"/>
                    <a:gd name="connsiteX12" fmla="*/ 529848 w 682935"/>
                    <a:gd name="connsiteY12" fmla="*/ 514392 h 514451"/>
                    <a:gd name="connsiteX13" fmla="*/ 384592 w 682935"/>
                    <a:gd name="connsiteY13" fmla="*/ 404855 h 514451"/>
                    <a:gd name="connsiteX14" fmla="*/ 194092 w 682935"/>
                    <a:gd name="connsiteY14" fmla="*/ 416761 h 514451"/>
                    <a:gd name="connsiteX15" fmla="*/ 67886 w 682935"/>
                    <a:gd name="connsiteY15" fmla="*/ 454861 h 514451"/>
                    <a:gd name="connsiteX16" fmla="*/ 1211 w 682935"/>
                    <a:gd name="connsiteY16" fmla="*/ 423905 h 514451"/>
                    <a:gd name="connsiteX17" fmla="*/ 25023 w 682935"/>
                    <a:gd name="connsiteY17" fmla="*/ 352467 h 514451"/>
                    <a:gd name="connsiteX18" fmla="*/ 27404 w 682935"/>
                    <a:gd name="connsiteY18" fmla="*/ 242930 h 514451"/>
                    <a:gd name="connsiteX19" fmla="*/ 86936 w 682935"/>
                    <a:gd name="connsiteY19" fmla="*/ 235786 h 514451"/>
                    <a:gd name="connsiteX0" fmla="*/ 86936 w 682935"/>
                    <a:gd name="connsiteY0" fmla="*/ 235786 h 540376"/>
                    <a:gd name="connsiteX1" fmla="*/ 127417 w 682935"/>
                    <a:gd name="connsiteY1" fmla="*/ 114342 h 540376"/>
                    <a:gd name="connsiteX2" fmla="*/ 236954 w 682935"/>
                    <a:gd name="connsiteY2" fmla="*/ 28617 h 540376"/>
                    <a:gd name="connsiteX3" fmla="*/ 401261 w 682935"/>
                    <a:gd name="connsiteY3" fmla="*/ 42 h 540376"/>
                    <a:gd name="connsiteX4" fmla="*/ 572711 w 682935"/>
                    <a:gd name="connsiteY4" fmla="*/ 33380 h 540376"/>
                    <a:gd name="connsiteX5" fmla="*/ 627479 w 682935"/>
                    <a:gd name="connsiteY5" fmla="*/ 119105 h 540376"/>
                    <a:gd name="connsiteX6" fmla="*/ 677486 w 682935"/>
                    <a:gd name="connsiteY6" fmla="*/ 214355 h 540376"/>
                    <a:gd name="connsiteX7" fmla="*/ 670342 w 682935"/>
                    <a:gd name="connsiteY7" fmla="*/ 285792 h 540376"/>
                    <a:gd name="connsiteX8" fmla="*/ 577473 w 682935"/>
                    <a:gd name="connsiteY8" fmla="*/ 264360 h 540376"/>
                    <a:gd name="connsiteX9" fmla="*/ 517942 w 682935"/>
                    <a:gd name="connsiteY9" fmla="*/ 273886 h 540376"/>
                    <a:gd name="connsiteX10" fmla="*/ 484605 w 682935"/>
                    <a:gd name="connsiteY10" fmla="*/ 333416 h 540376"/>
                    <a:gd name="connsiteX11" fmla="*/ 508417 w 682935"/>
                    <a:gd name="connsiteY11" fmla="*/ 388186 h 540376"/>
                    <a:gd name="connsiteX12" fmla="*/ 529848 w 682935"/>
                    <a:gd name="connsiteY12" fmla="*/ 514392 h 540376"/>
                    <a:gd name="connsiteX13" fmla="*/ 470317 w 682935"/>
                    <a:gd name="connsiteY13" fmla="*/ 533442 h 540376"/>
                    <a:gd name="connsiteX14" fmla="*/ 384592 w 682935"/>
                    <a:gd name="connsiteY14" fmla="*/ 404855 h 540376"/>
                    <a:gd name="connsiteX15" fmla="*/ 194092 w 682935"/>
                    <a:gd name="connsiteY15" fmla="*/ 416761 h 540376"/>
                    <a:gd name="connsiteX16" fmla="*/ 67886 w 682935"/>
                    <a:gd name="connsiteY16" fmla="*/ 454861 h 540376"/>
                    <a:gd name="connsiteX17" fmla="*/ 1211 w 682935"/>
                    <a:gd name="connsiteY17" fmla="*/ 423905 h 540376"/>
                    <a:gd name="connsiteX18" fmla="*/ 25023 w 682935"/>
                    <a:gd name="connsiteY18" fmla="*/ 352467 h 540376"/>
                    <a:gd name="connsiteX19" fmla="*/ 27404 w 682935"/>
                    <a:gd name="connsiteY19" fmla="*/ 242930 h 540376"/>
                    <a:gd name="connsiteX20" fmla="*/ 86936 w 682935"/>
                    <a:gd name="connsiteY20" fmla="*/ 235786 h 540376"/>
                    <a:gd name="connsiteX0" fmla="*/ 86936 w 682935"/>
                    <a:gd name="connsiteY0" fmla="*/ 235786 h 624031"/>
                    <a:gd name="connsiteX1" fmla="*/ 127417 w 682935"/>
                    <a:gd name="connsiteY1" fmla="*/ 114342 h 624031"/>
                    <a:gd name="connsiteX2" fmla="*/ 236954 w 682935"/>
                    <a:gd name="connsiteY2" fmla="*/ 28617 h 624031"/>
                    <a:gd name="connsiteX3" fmla="*/ 401261 w 682935"/>
                    <a:gd name="connsiteY3" fmla="*/ 42 h 624031"/>
                    <a:gd name="connsiteX4" fmla="*/ 572711 w 682935"/>
                    <a:gd name="connsiteY4" fmla="*/ 33380 h 624031"/>
                    <a:gd name="connsiteX5" fmla="*/ 627479 w 682935"/>
                    <a:gd name="connsiteY5" fmla="*/ 119105 h 624031"/>
                    <a:gd name="connsiteX6" fmla="*/ 677486 w 682935"/>
                    <a:gd name="connsiteY6" fmla="*/ 214355 h 624031"/>
                    <a:gd name="connsiteX7" fmla="*/ 670342 w 682935"/>
                    <a:gd name="connsiteY7" fmla="*/ 285792 h 624031"/>
                    <a:gd name="connsiteX8" fmla="*/ 577473 w 682935"/>
                    <a:gd name="connsiteY8" fmla="*/ 264360 h 624031"/>
                    <a:gd name="connsiteX9" fmla="*/ 517942 w 682935"/>
                    <a:gd name="connsiteY9" fmla="*/ 273886 h 624031"/>
                    <a:gd name="connsiteX10" fmla="*/ 484605 w 682935"/>
                    <a:gd name="connsiteY10" fmla="*/ 333416 h 624031"/>
                    <a:gd name="connsiteX11" fmla="*/ 508417 w 682935"/>
                    <a:gd name="connsiteY11" fmla="*/ 388186 h 624031"/>
                    <a:gd name="connsiteX12" fmla="*/ 529848 w 682935"/>
                    <a:gd name="connsiteY12" fmla="*/ 514392 h 624031"/>
                    <a:gd name="connsiteX13" fmla="*/ 494129 w 682935"/>
                    <a:gd name="connsiteY13" fmla="*/ 623929 h 624031"/>
                    <a:gd name="connsiteX14" fmla="*/ 470317 w 682935"/>
                    <a:gd name="connsiteY14" fmla="*/ 533442 h 624031"/>
                    <a:gd name="connsiteX15" fmla="*/ 384592 w 682935"/>
                    <a:gd name="connsiteY15" fmla="*/ 404855 h 624031"/>
                    <a:gd name="connsiteX16" fmla="*/ 194092 w 682935"/>
                    <a:gd name="connsiteY16" fmla="*/ 416761 h 624031"/>
                    <a:gd name="connsiteX17" fmla="*/ 67886 w 682935"/>
                    <a:gd name="connsiteY17" fmla="*/ 454861 h 624031"/>
                    <a:gd name="connsiteX18" fmla="*/ 1211 w 682935"/>
                    <a:gd name="connsiteY18" fmla="*/ 423905 h 624031"/>
                    <a:gd name="connsiteX19" fmla="*/ 25023 w 682935"/>
                    <a:gd name="connsiteY19" fmla="*/ 352467 h 624031"/>
                    <a:gd name="connsiteX20" fmla="*/ 27404 w 682935"/>
                    <a:gd name="connsiteY20" fmla="*/ 242930 h 624031"/>
                    <a:gd name="connsiteX21" fmla="*/ 86936 w 682935"/>
                    <a:gd name="connsiteY21" fmla="*/ 235786 h 624031"/>
                    <a:gd name="connsiteX0" fmla="*/ 86936 w 682935"/>
                    <a:gd name="connsiteY0" fmla="*/ 235786 h 624031"/>
                    <a:gd name="connsiteX1" fmla="*/ 127417 w 682935"/>
                    <a:gd name="connsiteY1" fmla="*/ 114342 h 624031"/>
                    <a:gd name="connsiteX2" fmla="*/ 236954 w 682935"/>
                    <a:gd name="connsiteY2" fmla="*/ 28617 h 624031"/>
                    <a:gd name="connsiteX3" fmla="*/ 401261 w 682935"/>
                    <a:gd name="connsiteY3" fmla="*/ 42 h 624031"/>
                    <a:gd name="connsiteX4" fmla="*/ 572711 w 682935"/>
                    <a:gd name="connsiteY4" fmla="*/ 33380 h 624031"/>
                    <a:gd name="connsiteX5" fmla="*/ 627479 w 682935"/>
                    <a:gd name="connsiteY5" fmla="*/ 119105 h 624031"/>
                    <a:gd name="connsiteX6" fmla="*/ 677486 w 682935"/>
                    <a:gd name="connsiteY6" fmla="*/ 214355 h 624031"/>
                    <a:gd name="connsiteX7" fmla="*/ 670342 w 682935"/>
                    <a:gd name="connsiteY7" fmla="*/ 285792 h 624031"/>
                    <a:gd name="connsiteX8" fmla="*/ 577473 w 682935"/>
                    <a:gd name="connsiteY8" fmla="*/ 264360 h 624031"/>
                    <a:gd name="connsiteX9" fmla="*/ 517942 w 682935"/>
                    <a:gd name="connsiteY9" fmla="*/ 273886 h 624031"/>
                    <a:gd name="connsiteX10" fmla="*/ 484605 w 682935"/>
                    <a:gd name="connsiteY10" fmla="*/ 333416 h 624031"/>
                    <a:gd name="connsiteX11" fmla="*/ 508417 w 682935"/>
                    <a:gd name="connsiteY11" fmla="*/ 388186 h 624031"/>
                    <a:gd name="connsiteX12" fmla="*/ 536992 w 682935"/>
                    <a:gd name="connsiteY12" fmla="*/ 585829 h 624031"/>
                    <a:gd name="connsiteX13" fmla="*/ 494129 w 682935"/>
                    <a:gd name="connsiteY13" fmla="*/ 623929 h 624031"/>
                    <a:gd name="connsiteX14" fmla="*/ 470317 w 682935"/>
                    <a:gd name="connsiteY14" fmla="*/ 533442 h 624031"/>
                    <a:gd name="connsiteX15" fmla="*/ 384592 w 682935"/>
                    <a:gd name="connsiteY15" fmla="*/ 404855 h 624031"/>
                    <a:gd name="connsiteX16" fmla="*/ 194092 w 682935"/>
                    <a:gd name="connsiteY16" fmla="*/ 416761 h 624031"/>
                    <a:gd name="connsiteX17" fmla="*/ 67886 w 682935"/>
                    <a:gd name="connsiteY17" fmla="*/ 454861 h 624031"/>
                    <a:gd name="connsiteX18" fmla="*/ 1211 w 682935"/>
                    <a:gd name="connsiteY18" fmla="*/ 423905 h 624031"/>
                    <a:gd name="connsiteX19" fmla="*/ 25023 w 682935"/>
                    <a:gd name="connsiteY19" fmla="*/ 352467 h 624031"/>
                    <a:gd name="connsiteX20" fmla="*/ 27404 w 682935"/>
                    <a:gd name="connsiteY20" fmla="*/ 242930 h 624031"/>
                    <a:gd name="connsiteX21" fmla="*/ 86936 w 682935"/>
                    <a:gd name="connsiteY21" fmla="*/ 235786 h 62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82935" h="624031">
                      <a:moveTo>
                        <a:pt x="86936" y="235786"/>
                      </a:moveTo>
                      <a:cubicBezTo>
                        <a:pt x="103605" y="214355"/>
                        <a:pt x="102414" y="148870"/>
                        <a:pt x="127417" y="114342"/>
                      </a:cubicBezTo>
                      <a:cubicBezTo>
                        <a:pt x="152420" y="79814"/>
                        <a:pt x="191313" y="47667"/>
                        <a:pt x="236954" y="28617"/>
                      </a:cubicBezTo>
                      <a:cubicBezTo>
                        <a:pt x="282595" y="9567"/>
                        <a:pt x="345302" y="-752"/>
                        <a:pt x="401261" y="42"/>
                      </a:cubicBezTo>
                      <a:cubicBezTo>
                        <a:pt x="457221" y="836"/>
                        <a:pt x="535008" y="13536"/>
                        <a:pt x="572711" y="33380"/>
                      </a:cubicBezTo>
                      <a:cubicBezTo>
                        <a:pt x="610414" y="53224"/>
                        <a:pt x="610017" y="88943"/>
                        <a:pt x="627479" y="119105"/>
                      </a:cubicBezTo>
                      <a:cubicBezTo>
                        <a:pt x="644941" y="149267"/>
                        <a:pt x="670342" y="186574"/>
                        <a:pt x="677486" y="214355"/>
                      </a:cubicBezTo>
                      <a:cubicBezTo>
                        <a:pt x="684630" y="242136"/>
                        <a:pt x="687011" y="277458"/>
                        <a:pt x="670342" y="285792"/>
                      </a:cubicBezTo>
                      <a:cubicBezTo>
                        <a:pt x="653673" y="294126"/>
                        <a:pt x="602873" y="266344"/>
                        <a:pt x="577473" y="264360"/>
                      </a:cubicBezTo>
                      <a:cubicBezTo>
                        <a:pt x="552073" y="262376"/>
                        <a:pt x="533420" y="262377"/>
                        <a:pt x="517942" y="273886"/>
                      </a:cubicBezTo>
                      <a:cubicBezTo>
                        <a:pt x="502464" y="285395"/>
                        <a:pt x="486192" y="314366"/>
                        <a:pt x="484605" y="333416"/>
                      </a:cubicBezTo>
                      <a:cubicBezTo>
                        <a:pt x="483018" y="352466"/>
                        <a:pt x="499686" y="346117"/>
                        <a:pt x="508417" y="388186"/>
                      </a:cubicBezTo>
                      <a:cubicBezTo>
                        <a:pt x="517148" y="430255"/>
                        <a:pt x="538976" y="560826"/>
                        <a:pt x="536992" y="585829"/>
                      </a:cubicBezTo>
                      <a:cubicBezTo>
                        <a:pt x="535008" y="610832"/>
                        <a:pt x="504051" y="620754"/>
                        <a:pt x="494129" y="623929"/>
                      </a:cubicBezTo>
                      <a:cubicBezTo>
                        <a:pt x="484207" y="627104"/>
                        <a:pt x="488970" y="555667"/>
                        <a:pt x="470317" y="533442"/>
                      </a:cubicBezTo>
                      <a:cubicBezTo>
                        <a:pt x="451664" y="511217"/>
                        <a:pt x="430630" y="424302"/>
                        <a:pt x="384592" y="404855"/>
                      </a:cubicBezTo>
                      <a:cubicBezTo>
                        <a:pt x="338555" y="385408"/>
                        <a:pt x="246876" y="408427"/>
                        <a:pt x="194092" y="416761"/>
                      </a:cubicBezTo>
                      <a:cubicBezTo>
                        <a:pt x="141308" y="425095"/>
                        <a:pt x="100033" y="453670"/>
                        <a:pt x="67886" y="454861"/>
                      </a:cubicBezTo>
                      <a:cubicBezTo>
                        <a:pt x="35739" y="456052"/>
                        <a:pt x="8355" y="440971"/>
                        <a:pt x="1211" y="423905"/>
                      </a:cubicBezTo>
                      <a:cubicBezTo>
                        <a:pt x="-5933" y="406839"/>
                        <a:pt x="20657" y="382630"/>
                        <a:pt x="25023" y="352467"/>
                      </a:cubicBezTo>
                      <a:cubicBezTo>
                        <a:pt x="29388" y="322305"/>
                        <a:pt x="20260" y="265155"/>
                        <a:pt x="27404" y="242930"/>
                      </a:cubicBezTo>
                      <a:cubicBezTo>
                        <a:pt x="34548" y="220705"/>
                        <a:pt x="70267" y="257217"/>
                        <a:pt x="86936" y="235786"/>
                      </a:cubicBezTo>
                      <a:close/>
                    </a:path>
                  </a:pathLst>
                </a:cu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459" name="Freeform 461">
                  <a:extLst>
                    <a:ext uri="{FF2B5EF4-FFF2-40B4-BE49-F238E27FC236}">
                      <a16:creationId xmlns:a16="http://schemas.microsoft.com/office/drawing/2014/main" id="{853AAD08-ED1F-463D-810C-DF314D07A563}"/>
                    </a:ext>
                  </a:extLst>
                </p:cNvPr>
                <p:cNvSpPr>
                  <a:spLocks/>
                </p:cNvSpPr>
                <p:nvPr/>
              </p:nvSpPr>
              <p:spPr bwMode="auto">
                <a:xfrm>
                  <a:off x="3277218" y="3497135"/>
                  <a:ext cx="103519" cy="86001"/>
                </a:xfrm>
                <a:custGeom>
                  <a:avLst/>
                  <a:gdLst>
                    <a:gd name="T0" fmla="*/ 106 w 137"/>
                    <a:gd name="T1" fmla="*/ 45 h 115"/>
                    <a:gd name="T2" fmla="*/ 123 w 137"/>
                    <a:gd name="T3" fmla="*/ 99 h 115"/>
                    <a:gd name="T4" fmla="*/ 75 w 137"/>
                    <a:gd name="T5" fmla="*/ 109 h 115"/>
                    <a:gd name="T6" fmla="*/ 48 w 137"/>
                    <a:gd name="T7" fmla="*/ 64 h 115"/>
                    <a:gd name="T8" fmla="*/ 14 w 137"/>
                    <a:gd name="T9" fmla="*/ 61 h 115"/>
                    <a:gd name="T10" fmla="*/ 24 w 137"/>
                    <a:gd name="T11" fmla="*/ 3 h 115"/>
                    <a:gd name="T12" fmla="*/ 106 w 137"/>
                    <a:gd name="T13" fmla="*/ 45 h 115"/>
                  </a:gdLst>
                  <a:ahLst/>
                  <a:cxnLst>
                    <a:cxn ang="0">
                      <a:pos x="T0" y="T1"/>
                    </a:cxn>
                    <a:cxn ang="0">
                      <a:pos x="T2" y="T3"/>
                    </a:cxn>
                    <a:cxn ang="0">
                      <a:pos x="T4" y="T5"/>
                    </a:cxn>
                    <a:cxn ang="0">
                      <a:pos x="T6" y="T7"/>
                    </a:cxn>
                    <a:cxn ang="0">
                      <a:pos x="T8" y="T9"/>
                    </a:cxn>
                    <a:cxn ang="0">
                      <a:pos x="T10" y="T11"/>
                    </a:cxn>
                    <a:cxn ang="0">
                      <a:pos x="T12" y="T13"/>
                    </a:cxn>
                  </a:cxnLst>
                  <a:rect l="0" t="0" r="r" b="b"/>
                  <a:pathLst>
                    <a:path w="137" h="115">
                      <a:moveTo>
                        <a:pt x="106" y="45"/>
                      </a:moveTo>
                      <a:cubicBezTo>
                        <a:pt x="106" y="45"/>
                        <a:pt x="137" y="90"/>
                        <a:pt x="123" y="99"/>
                      </a:cubicBezTo>
                      <a:cubicBezTo>
                        <a:pt x="110" y="109"/>
                        <a:pt x="86" y="115"/>
                        <a:pt x="75" y="109"/>
                      </a:cubicBezTo>
                      <a:cubicBezTo>
                        <a:pt x="65" y="103"/>
                        <a:pt x="64" y="63"/>
                        <a:pt x="48" y="64"/>
                      </a:cubicBezTo>
                      <a:cubicBezTo>
                        <a:pt x="32" y="65"/>
                        <a:pt x="17" y="77"/>
                        <a:pt x="14" y="61"/>
                      </a:cubicBezTo>
                      <a:cubicBezTo>
                        <a:pt x="10" y="45"/>
                        <a:pt x="0" y="3"/>
                        <a:pt x="24" y="3"/>
                      </a:cubicBezTo>
                      <a:cubicBezTo>
                        <a:pt x="48" y="3"/>
                        <a:pt x="86" y="0"/>
                        <a:pt x="106" y="45"/>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460" name="Freeform 462">
                  <a:extLst>
                    <a:ext uri="{FF2B5EF4-FFF2-40B4-BE49-F238E27FC236}">
                      <a16:creationId xmlns:a16="http://schemas.microsoft.com/office/drawing/2014/main" id="{3B166C6B-DDF7-4B81-86D6-F5A8AF8500A4}"/>
                    </a:ext>
                  </a:extLst>
                </p:cNvPr>
                <p:cNvSpPr>
                  <a:spLocks/>
                </p:cNvSpPr>
                <p:nvPr/>
              </p:nvSpPr>
              <p:spPr bwMode="auto">
                <a:xfrm>
                  <a:off x="2819344" y="3289299"/>
                  <a:ext cx="594042" cy="821784"/>
                </a:xfrm>
                <a:custGeom>
                  <a:avLst/>
                  <a:gdLst>
                    <a:gd name="T0" fmla="*/ 124 w 790"/>
                    <a:gd name="T1" fmla="*/ 240 h 1093"/>
                    <a:gd name="T2" fmla="*/ 210 w 790"/>
                    <a:gd name="T3" fmla="*/ 287 h 1093"/>
                    <a:gd name="T4" fmla="*/ 198 w 790"/>
                    <a:gd name="T5" fmla="*/ 385 h 1093"/>
                    <a:gd name="T6" fmla="*/ 177 w 790"/>
                    <a:gd name="T7" fmla="*/ 435 h 1093"/>
                    <a:gd name="T8" fmla="*/ 208 w 790"/>
                    <a:gd name="T9" fmla="*/ 443 h 1093"/>
                    <a:gd name="T10" fmla="*/ 225 w 790"/>
                    <a:gd name="T11" fmla="*/ 422 h 1093"/>
                    <a:gd name="T12" fmla="*/ 208 w 790"/>
                    <a:gd name="T13" fmla="*/ 494 h 1093"/>
                    <a:gd name="T14" fmla="*/ 199 w 790"/>
                    <a:gd name="T15" fmla="*/ 530 h 1093"/>
                    <a:gd name="T16" fmla="*/ 228 w 790"/>
                    <a:gd name="T17" fmla="*/ 535 h 1093"/>
                    <a:gd name="T18" fmla="*/ 244 w 790"/>
                    <a:gd name="T19" fmla="*/ 480 h 1093"/>
                    <a:gd name="T20" fmla="*/ 285 w 790"/>
                    <a:gd name="T21" fmla="*/ 435 h 1093"/>
                    <a:gd name="T22" fmla="*/ 324 w 790"/>
                    <a:gd name="T23" fmla="*/ 409 h 1093"/>
                    <a:gd name="T24" fmla="*/ 391 w 790"/>
                    <a:gd name="T25" fmla="*/ 399 h 1093"/>
                    <a:gd name="T26" fmla="*/ 415 w 790"/>
                    <a:gd name="T27" fmla="*/ 489 h 1093"/>
                    <a:gd name="T28" fmla="*/ 350 w 790"/>
                    <a:gd name="T29" fmla="*/ 571 h 1093"/>
                    <a:gd name="T30" fmla="*/ 377 w 790"/>
                    <a:gd name="T31" fmla="*/ 724 h 1093"/>
                    <a:gd name="T32" fmla="*/ 467 w 790"/>
                    <a:gd name="T33" fmla="*/ 765 h 1093"/>
                    <a:gd name="T34" fmla="*/ 519 w 790"/>
                    <a:gd name="T35" fmla="*/ 876 h 1093"/>
                    <a:gd name="T36" fmla="*/ 570 w 790"/>
                    <a:gd name="T37" fmla="*/ 950 h 1093"/>
                    <a:gd name="T38" fmla="*/ 604 w 790"/>
                    <a:gd name="T39" fmla="*/ 1093 h 1093"/>
                    <a:gd name="T40" fmla="*/ 649 w 790"/>
                    <a:gd name="T41" fmla="*/ 1082 h 1093"/>
                    <a:gd name="T42" fmla="*/ 623 w 790"/>
                    <a:gd name="T43" fmla="*/ 944 h 1093"/>
                    <a:gd name="T44" fmla="*/ 585 w 790"/>
                    <a:gd name="T45" fmla="*/ 738 h 1093"/>
                    <a:gd name="T46" fmla="*/ 514 w 790"/>
                    <a:gd name="T47" fmla="*/ 460 h 1093"/>
                    <a:gd name="T48" fmla="*/ 461 w 790"/>
                    <a:gd name="T49" fmla="*/ 382 h 1093"/>
                    <a:gd name="T50" fmla="*/ 358 w 790"/>
                    <a:gd name="T51" fmla="*/ 374 h 1093"/>
                    <a:gd name="T52" fmla="*/ 247 w 790"/>
                    <a:gd name="T53" fmla="*/ 420 h 1093"/>
                    <a:gd name="T54" fmla="*/ 220 w 790"/>
                    <a:gd name="T55" fmla="*/ 401 h 1093"/>
                    <a:gd name="T56" fmla="*/ 239 w 790"/>
                    <a:gd name="T57" fmla="*/ 300 h 1093"/>
                    <a:gd name="T58" fmla="*/ 165 w 790"/>
                    <a:gd name="T59" fmla="*/ 191 h 1093"/>
                    <a:gd name="T60" fmla="*/ 286 w 790"/>
                    <a:gd name="T61" fmla="*/ 107 h 1093"/>
                    <a:gd name="T62" fmla="*/ 464 w 790"/>
                    <a:gd name="T63" fmla="*/ 112 h 1093"/>
                    <a:gd name="T64" fmla="*/ 367 w 790"/>
                    <a:gd name="T65" fmla="*/ 132 h 1093"/>
                    <a:gd name="T66" fmla="*/ 271 w 790"/>
                    <a:gd name="T67" fmla="*/ 221 h 1093"/>
                    <a:gd name="T68" fmla="*/ 274 w 790"/>
                    <a:gd name="T69" fmla="*/ 268 h 1093"/>
                    <a:gd name="T70" fmla="*/ 295 w 790"/>
                    <a:gd name="T71" fmla="*/ 240 h 1093"/>
                    <a:gd name="T72" fmla="*/ 317 w 790"/>
                    <a:gd name="T73" fmla="*/ 197 h 1093"/>
                    <a:gd name="T74" fmla="*/ 457 w 790"/>
                    <a:gd name="T75" fmla="*/ 147 h 1093"/>
                    <a:gd name="T76" fmla="*/ 588 w 790"/>
                    <a:gd name="T77" fmla="*/ 188 h 1093"/>
                    <a:gd name="T78" fmla="*/ 647 w 790"/>
                    <a:gd name="T79" fmla="*/ 297 h 1093"/>
                    <a:gd name="T80" fmla="*/ 736 w 790"/>
                    <a:gd name="T81" fmla="*/ 351 h 1093"/>
                    <a:gd name="T82" fmla="*/ 790 w 790"/>
                    <a:gd name="T83" fmla="*/ 258 h 1093"/>
                    <a:gd name="T84" fmla="*/ 683 w 790"/>
                    <a:gd name="T85" fmla="*/ 107 h 1093"/>
                    <a:gd name="T86" fmla="*/ 307 w 790"/>
                    <a:gd name="T87" fmla="*/ 4 h 1093"/>
                    <a:gd name="T88" fmla="*/ 20 w 790"/>
                    <a:gd name="T89" fmla="*/ 120 h 1093"/>
                    <a:gd name="T90" fmla="*/ 124 w 790"/>
                    <a:gd name="T91" fmla="*/ 24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90" h="1093">
                      <a:moveTo>
                        <a:pt x="124" y="240"/>
                      </a:moveTo>
                      <a:cubicBezTo>
                        <a:pt x="179" y="257"/>
                        <a:pt x="203" y="271"/>
                        <a:pt x="210" y="287"/>
                      </a:cubicBezTo>
                      <a:cubicBezTo>
                        <a:pt x="216" y="303"/>
                        <a:pt x="228" y="340"/>
                        <a:pt x="198" y="385"/>
                      </a:cubicBezTo>
                      <a:cubicBezTo>
                        <a:pt x="198" y="385"/>
                        <a:pt x="177" y="427"/>
                        <a:pt x="177" y="435"/>
                      </a:cubicBezTo>
                      <a:cubicBezTo>
                        <a:pt x="177" y="483"/>
                        <a:pt x="204" y="449"/>
                        <a:pt x="208" y="443"/>
                      </a:cubicBezTo>
                      <a:cubicBezTo>
                        <a:pt x="211" y="436"/>
                        <a:pt x="223" y="407"/>
                        <a:pt x="225" y="422"/>
                      </a:cubicBezTo>
                      <a:cubicBezTo>
                        <a:pt x="229" y="454"/>
                        <a:pt x="225" y="468"/>
                        <a:pt x="208" y="494"/>
                      </a:cubicBezTo>
                      <a:cubicBezTo>
                        <a:pt x="191" y="520"/>
                        <a:pt x="199" y="530"/>
                        <a:pt x="199" y="530"/>
                      </a:cubicBezTo>
                      <a:cubicBezTo>
                        <a:pt x="204" y="529"/>
                        <a:pt x="204" y="531"/>
                        <a:pt x="228" y="535"/>
                      </a:cubicBezTo>
                      <a:cubicBezTo>
                        <a:pt x="263" y="540"/>
                        <a:pt x="249" y="501"/>
                        <a:pt x="244" y="480"/>
                      </a:cubicBezTo>
                      <a:cubicBezTo>
                        <a:pt x="239" y="459"/>
                        <a:pt x="256" y="448"/>
                        <a:pt x="285" y="435"/>
                      </a:cubicBezTo>
                      <a:cubicBezTo>
                        <a:pt x="314" y="422"/>
                        <a:pt x="324" y="409"/>
                        <a:pt x="324" y="409"/>
                      </a:cubicBezTo>
                      <a:cubicBezTo>
                        <a:pt x="375" y="446"/>
                        <a:pt x="391" y="399"/>
                        <a:pt x="391" y="399"/>
                      </a:cubicBezTo>
                      <a:cubicBezTo>
                        <a:pt x="417" y="432"/>
                        <a:pt x="415" y="489"/>
                        <a:pt x="415" y="489"/>
                      </a:cubicBezTo>
                      <a:cubicBezTo>
                        <a:pt x="411" y="489"/>
                        <a:pt x="358" y="504"/>
                        <a:pt x="350" y="571"/>
                      </a:cubicBezTo>
                      <a:cubicBezTo>
                        <a:pt x="338" y="666"/>
                        <a:pt x="377" y="724"/>
                        <a:pt x="377" y="724"/>
                      </a:cubicBezTo>
                      <a:cubicBezTo>
                        <a:pt x="403" y="780"/>
                        <a:pt x="467" y="765"/>
                        <a:pt x="467" y="765"/>
                      </a:cubicBezTo>
                      <a:cubicBezTo>
                        <a:pt x="456" y="851"/>
                        <a:pt x="503" y="860"/>
                        <a:pt x="519" y="876"/>
                      </a:cubicBezTo>
                      <a:cubicBezTo>
                        <a:pt x="534" y="892"/>
                        <a:pt x="555" y="915"/>
                        <a:pt x="570" y="950"/>
                      </a:cubicBezTo>
                      <a:cubicBezTo>
                        <a:pt x="585" y="985"/>
                        <a:pt x="604" y="1093"/>
                        <a:pt x="604" y="1093"/>
                      </a:cubicBezTo>
                      <a:cubicBezTo>
                        <a:pt x="604" y="1093"/>
                        <a:pt x="649" y="1083"/>
                        <a:pt x="649" y="1082"/>
                      </a:cubicBezTo>
                      <a:cubicBezTo>
                        <a:pt x="649" y="1080"/>
                        <a:pt x="630" y="992"/>
                        <a:pt x="623" y="944"/>
                      </a:cubicBezTo>
                      <a:cubicBezTo>
                        <a:pt x="616" y="896"/>
                        <a:pt x="608" y="823"/>
                        <a:pt x="585" y="738"/>
                      </a:cubicBezTo>
                      <a:cubicBezTo>
                        <a:pt x="563" y="653"/>
                        <a:pt x="529" y="518"/>
                        <a:pt x="514" y="460"/>
                      </a:cubicBezTo>
                      <a:cubicBezTo>
                        <a:pt x="498" y="403"/>
                        <a:pt x="478" y="391"/>
                        <a:pt x="461" y="382"/>
                      </a:cubicBezTo>
                      <a:cubicBezTo>
                        <a:pt x="444" y="372"/>
                        <a:pt x="421" y="366"/>
                        <a:pt x="358" y="374"/>
                      </a:cubicBezTo>
                      <a:cubicBezTo>
                        <a:pt x="295" y="382"/>
                        <a:pt x="247" y="436"/>
                        <a:pt x="247" y="420"/>
                      </a:cubicBezTo>
                      <a:cubicBezTo>
                        <a:pt x="247" y="404"/>
                        <a:pt x="220" y="401"/>
                        <a:pt x="220" y="401"/>
                      </a:cubicBezTo>
                      <a:cubicBezTo>
                        <a:pt x="223" y="393"/>
                        <a:pt x="249" y="366"/>
                        <a:pt x="239" y="300"/>
                      </a:cubicBezTo>
                      <a:cubicBezTo>
                        <a:pt x="226" y="220"/>
                        <a:pt x="172" y="261"/>
                        <a:pt x="165" y="191"/>
                      </a:cubicBezTo>
                      <a:cubicBezTo>
                        <a:pt x="158" y="120"/>
                        <a:pt x="235" y="115"/>
                        <a:pt x="286" y="107"/>
                      </a:cubicBezTo>
                      <a:cubicBezTo>
                        <a:pt x="323" y="101"/>
                        <a:pt x="402" y="102"/>
                        <a:pt x="464" y="112"/>
                      </a:cubicBezTo>
                      <a:cubicBezTo>
                        <a:pt x="437" y="110"/>
                        <a:pt x="405" y="113"/>
                        <a:pt x="367" y="132"/>
                      </a:cubicBezTo>
                      <a:cubicBezTo>
                        <a:pt x="295" y="166"/>
                        <a:pt x="279" y="205"/>
                        <a:pt x="271" y="221"/>
                      </a:cubicBezTo>
                      <a:cubicBezTo>
                        <a:pt x="263" y="236"/>
                        <a:pt x="254" y="264"/>
                        <a:pt x="274" y="268"/>
                      </a:cubicBezTo>
                      <a:cubicBezTo>
                        <a:pt x="293" y="271"/>
                        <a:pt x="294" y="247"/>
                        <a:pt x="295" y="240"/>
                      </a:cubicBezTo>
                      <a:cubicBezTo>
                        <a:pt x="297" y="233"/>
                        <a:pt x="289" y="223"/>
                        <a:pt x="317" y="197"/>
                      </a:cubicBezTo>
                      <a:cubicBezTo>
                        <a:pt x="345" y="170"/>
                        <a:pt x="380" y="157"/>
                        <a:pt x="457" y="147"/>
                      </a:cubicBezTo>
                      <a:cubicBezTo>
                        <a:pt x="525" y="139"/>
                        <a:pt x="577" y="179"/>
                        <a:pt x="588" y="188"/>
                      </a:cubicBezTo>
                      <a:cubicBezTo>
                        <a:pt x="610" y="220"/>
                        <a:pt x="628" y="260"/>
                        <a:pt x="647" y="297"/>
                      </a:cubicBezTo>
                      <a:cubicBezTo>
                        <a:pt x="681" y="364"/>
                        <a:pt x="736" y="351"/>
                        <a:pt x="736" y="351"/>
                      </a:cubicBezTo>
                      <a:cubicBezTo>
                        <a:pt x="750" y="347"/>
                        <a:pt x="790" y="327"/>
                        <a:pt x="790" y="258"/>
                      </a:cubicBezTo>
                      <a:cubicBezTo>
                        <a:pt x="790" y="189"/>
                        <a:pt x="683" y="107"/>
                        <a:pt x="683" y="107"/>
                      </a:cubicBezTo>
                      <a:cubicBezTo>
                        <a:pt x="594" y="37"/>
                        <a:pt x="444" y="9"/>
                        <a:pt x="307" y="4"/>
                      </a:cubicBezTo>
                      <a:cubicBezTo>
                        <a:pt x="170" y="0"/>
                        <a:pt x="41" y="45"/>
                        <a:pt x="20" y="120"/>
                      </a:cubicBezTo>
                      <a:cubicBezTo>
                        <a:pt x="0" y="196"/>
                        <a:pt x="70" y="224"/>
                        <a:pt x="124" y="240"/>
                      </a:cubicBezTo>
                      <a:close/>
                    </a:path>
                  </a:pathLst>
                </a:custGeom>
                <a:gradFill flip="none" rotWithShape="1">
                  <a:gsLst>
                    <a:gs pos="0">
                      <a:schemeClr val="accent1"/>
                    </a:gs>
                    <a:gs pos="67000">
                      <a:srgbClr val="D37771"/>
                    </a:gs>
                    <a:gs pos="27000">
                      <a:srgbClr val="C44941"/>
                    </a:gs>
                    <a:gs pos="68000">
                      <a:schemeClr val="bg1"/>
                    </a:gs>
                  </a:gsLst>
                  <a:lin ang="16200000" scaled="1"/>
                  <a:tileRect/>
                </a:gra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461" name="Freeform 463">
                  <a:extLst>
                    <a:ext uri="{FF2B5EF4-FFF2-40B4-BE49-F238E27FC236}">
                      <a16:creationId xmlns:a16="http://schemas.microsoft.com/office/drawing/2014/main" id="{A162A506-2239-4E88-9B4B-FE765D178378}"/>
                    </a:ext>
                  </a:extLst>
                </p:cNvPr>
                <p:cNvSpPr>
                  <a:spLocks/>
                </p:cNvSpPr>
                <p:nvPr/>
              </p:nvSpPr>
              <p:spPr bwMode="auto">
                <a:xfrm>
                  <a:off x="3199977" y="3508283"/>
                  <a:ext cx="105909" cy="280298"/>
                </a:xfrm>
                <a:custGeom>
                  <a:avLst/>
                  <a:gdLst>
                    <a:gd name="T0" fmla="*/ 141 w 141"/>
                    <a:gd name="T1" fmla="*/ 350 h 373"/>
                    <a:gd name="T2" fmla="*/ 80 w 141"/>
                    <a:gd name="T3" fmla="*/ 313 h 373"/>
                    <a:gd name="T4" fmla="*/ 41 w 141"/>
                    <a:gd name="T5" fmla="*/ 207 h 373"/>
                    <a:gd name="T6" fmla="*/ 18 w 141"/>
                    <a:gd name="T7" fmla="*/ 102 h 373"/>
                    <a:gd name="T8" fmla="*/ 31 w 141"/>
                    <a:gd name="T9" fmla="*/ 18 h 373"/>
                    <a:gd name="T10" fmla="*/ 80 w 141"/>
                    <a:gd name="T11" fmla="*/ 10 h 373"/>
                    <a:gd name="T12" fmla="*/ 96 w 141"/>
                    <a:gd name="T13" fmla="*/ 13 h 373"/>
                    <a:gd name="T14" fmla="*/ 120 w 141"/>
                    <a:gd name="T15" fmla="*/ 14 h 373"/>
                    <a:gd name="T16" fmla="*/ 135 w 141"/>
                    <a:gd name="T17" fmla="*/ 50 h 373"/>
                    <a:gd name="T18" fmla="*/ 94 w 141"/>
                    <a:gd name="T19" fmla="*/ 50 h 373"/>
                    <a:gd name="T20" fmla="*/ 84 w 141"/>
                    <a:gd name="T21" fmla="*/ 34 h 373"/>
                    <a:gd name="T22" fmla="*/ 64 w 141"/>
                    <a:gd name="T23" fmla="*/ 31 h 373"/>
                    <a:gd name="T24" fmla="*/ 42 w 141"/>
                    <a:gd name="T25" fmla="*/ 43 h 373"/>
                    <a:gd name="T26" fmla="*/ 33 w 141"/>
                    <a:gd name="T27" fmla="*/ 71 h 373"/>
                    <a:gd name="T28" fmla="*/ 49 w 141"/>
                    <a:gd name="T29" fmla="*/ 94 h 373"/>
                    <a:gd name="T30" fmla="*/ 50 w 141"/>
                    <a:gd name="T31" fmla="*/ 127 h 373"/>
                    <a:gd name="T32" fmla="*/ 73 w 141"/>
                    <a:gd name="T33" fmla="*/ 171 h 373"/>
                    <a:gd name="T34" fmla="*/ 66 w 141"/>
                    <a:gd name="T35" fmla="*/ 223 h 373"/>
                    <a:gd name="T36" fmla="*/ 87 w 141"/>
                    <a:gd name="T37" fmla="*/ 304 h 373"/>
                    <a:gd name="T38" fmla="*/ 141 w 141"/>
                    <a:gd name="T39" fmla="*/ 35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1" h="373">
                      <a:moveTo>
                        <a:pt x="141" y="350"/>
                      </a:moveTo>
                      <a:cubicBezTo>
                        <a:pt x="141" y="350"/>
                        <a:pt x="109" y="373"/>
                        <a:pt x="80" y="313"/>
                      </a:cubicBezTo>
                      <a:cubicBezTo>
                        <a:pt x="51" y="253"/>
                        <a:pt x="46" y="236"/>
                        <a:pt x="41" y="207"/>
                      </a:cubicBezTo>
                      <a:cubicBezTo>
                        <a:pt x="36" y="177"/>
                        <a:pt x="29" y="133"/>
                        <a:pt x="18" y="102"/>
                      </a:cubicBezTo>
                      <a:cubicBezTo>
                        <a:pt x="7" y="71"/>
                        <a:pt x="0" y="46"/>
                        <a:pt x="31" y="18"/>
                      </a:cubicBezTo>
                      <a:cubicBezTo>
                        <a:pt x="50" y="0"/>
                        <a:pt x="77" y="8"/>
                        <a:pt x="80" y="10"/>
                      </a:cubicBezTo>
                      <a:cubicBezTo>
                        <a:pt x="80" y="10"/>
                        <a:pt x="86" y="18"/>
                        <a:pt x="96" y="13"/>
                      </a:cubicBezTo>
                      <a:cubicBezTo>
                        <a:pt x="107" y="8"/>
                        <a:pt x="114" y="9"/>
                        <a:pt x="120" y="14"/>
                      </a:cubicBezTo>
                      <a:cubicBezTo>
                        <a:pt x="120" y="14"/>
                        <a:pt x="141" y="33"/>
                        <a:pt x="135" y="50"/>
                      </a:cubicBezTo>
                      <a:cubicBezTo>
                        <a:pt x="130" y="68"/>
                        <a:pt x="105" y="66"/>
                        <a:pt x="94" y="50"/>
                      </a:cubicBezTo>
                      <a:cubicBezTo>
                        <a:pt x="86" y="38"/>
                        <a:pt x="84" y="34"/>
                        <a:pt x="84" y="34"/>
                      </a:cubicBezTo>
                      <a:cubicBezTo>
                        <a:pt x="84" y="34"/>
                        <a:pt x="70" y="15"/>
                        <a:pt x="64" y="31"/>
                      </a:cubicBezTo>
                      <a:cubicBezTo>
                        <a:pt x="57" y="46"/>
                        <a:pt x="50" y="42"/>
                        <a:pt x="42" y="43"/>
                      </a:cubicBezTo>
                      <a:cubicBezTo>
                        <a:pt x="34" y="43"/>
                        <a:pt x="16" y="53"/>
                        <a:pt x="33" y="71"/>
                      </a:cubicBezTo>
                      <a:cubicBezTo>
                        <a:pt x="39" y="77"/>
                        <a:pt x="50" y="70"/>
                        <a:pt x="49" y="94"/>
                      </a:cubicBezTo>
                      <a:cubicBezTo>
                        <a:pt x="48" y="119"/>
                        <a:pt x="48" y="118"/>
                        <a:pt x="50" y="127"/>
                      </a:cubicBezTo>
                      <a:cubicBezTo>
                        <a:pt x="53" y="136"/>
                        <a:pt x="73" y="148"/>
                        <a:pt x="73" y="171"/>
                      </a:cubicBezTo>
                      <a:cubicBezTo>
                        <a:pt x="72" y="194"/>
                        <a:pt x="66" y="202"/>
                        <a:pt x="66" y="223"/>
                      </a:cubicBezTo>
                      <a:cubicBezTo>
                        <a:pt x="65" y="245"/>
                        <a:pt x="73" y="279"/>
                        <a:pt x="87" y="304"/>
                      </a:cubicBezTo>
                      <a:cubicBezTo>
                        <a:pt x="100" y="329"/>
                        <a:pt x="118" y="348"/>
                        <a:pt x="141" y="350"/>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462" name="Freeform 464">
                  <a:extLst>
                    <a:ext uri="{FF2B5EF4-FFF2-40B4-BE49-F238E27FC236}">
                      <a16:creationId xmlns:a16="http://schemas.microsoft.com/office/drawing/2014/main" id="{D15BE90B-680D-402F-B125-0AAD391B0B4D}"/>
                    </a:ext>
                  </a:extLst>
                </p:cNvPr>
                <p:cNvSpPr>
                  <a:spLocks/>
                </p:cNvSpPr>
                <p:nvPr/>
              </p:nvSpPr>
              <p:spPr bwMode="auto">
                <a:xfrm>
                  <a:off x="3281996" y="3773451"/>
                  <a:ext cx="51760" cy="140946"/>
                </a:xfrm>
                <a:custGeom>
                  <a:avLst/>
                  <a:gdLst>
                    <a:gd name="T0" fmla="*/ 49 w 69"/>
                    <a:gd name="T1" fmla="*/ 15 h 187"/>
                    <a:gd name="T2" fmla="*/ 22 w 69"/>
                    <a:gd name="T3" fmla="*/ 92 h 187"/>
                    <a:gd name="T4" fmla="*/ 42 w 69"/>
                    <a:gd name="T5" fmla="*/ 155 h 187"/>
                    <a:gd name="T6" fmla="*/ 35 w 69"/>
                    <a:gd name="T7" fmla="*/ 164 h 187"/>
                    <a:gd name="T8" fmla="*/ 6 w 69"/>
                    <a:gd name="T9" fmla="*/ 100 h 187"/>
                    <a:gd name="T10" fmla="*/ 17 w 69"/>
                    <a:gd name="T11" fmla="*/ 24 h 187"/>
                    <a:gd name="T12" fmla="*/ 39 w 69"/>
                    <a:gd name="T13" fmla="*/ 5 h 187"/>
                    <a:gd name="T14" fmla="*/ 49 w 69"/>
                    <a:gd name="T15" fmla="*/ 15 h 1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87">
                      <a:moveTo>
                        <a:pt x="49" y="15"/>
                      </a:moveTo>
                      <a:cubicBezTo>
                        <a:pt x="28" y="30"/>
                        <a:pt x="18" y="66"/>
                        <a:pt x="22" y="92"/>
                      </a:cubicBezTo>
                      <a:cubicBezTo>
                        <a:pt x="26" y="118"/>
                        <a:pt x="35" y="144"/>
                        <a:pt x="42" y="155"/>
                      </a:cubicBezTo>
                      <a:cubicBezTo>
                        <a:pt x="50" y="166"/>
                        <a:pt x="53" y="187"/>
                        <a:pt x="35" y="164"/>
                      </a:cubicBezTo>
                      <a:cubicBezTo>
                        <a:pt x="17" y="141"/>
                        <a:pt x="8" y="133"/>
                        <a:pt x="6" y="100"/>
                      </a:cubicBezTo>
                      <a:cubicBezTo>
                        <a:pt x="4" y="67"/>
                        <a:pt x="0" y="38"/>
                        <a:pt x="17" y="24"/>
                      </a:cubicBezTo>
                      <a:cubicBezTo>
                        <a:pt x="34" y="9"/>
                        <a:pt x="23" y="16"/>
                        <a:pt x="39" y="5"/>
                      </a:cubicBezTo>
                      <a:cubicBezTo>
                        <a:pt x="39" y="5"/>
                        <a:pt x="69" y="0"/>
                        <a:pt x="49" y="15"/>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463" name="Freeform 465">
                  <a:extLst>
                    <a:ext uri="{FF2B5EF4-FFF2-40B4-BE49-F238E27FC236}">
                      <a16:creationId xmlns:a16="http://schemas.microsoft.com/office/drawing/2014/main" id="{4F55BC71-0041-4F21-BDA1-8CC26987644C}"/>
                    </a:ext>
                  </a:extLst>
                </p:cNvPr>
                <p:cNvSpPr>
                  <a:spLocks/>
                </p:cNvSpPr>
                <p:nvPr/>
              </p:nvSpPr>
              <p:spPr bwMode="auto">
                <a:xfrm>
                  <a:off x="3293940" y="3887323"/>
                  <a:ext cx="46982" cy="223761"/>
                </a:xfrm>
                <a:custGeom>
                  <a:avLst/>
                  <a:gdLst>
                    <a:gd name="T0" fmla="*/ 1 w 63"/>
                    <a:gd name="T1" fmla="*/ 32 h 298"/>
                    <a:gd name="T2" fmla="*/ 15 w 63"/>
                    <a:gd name="T3" fmla="*/ 23 h 298"/>
                    <a:gd name="T4" fmla="*/ 28 w 63"/>
                    <a:gd name="T5" fmla="*/ 38 h 298"/>
                    <a:gd name="T6" fmla="*/ 35 w 63"/>
                    <a:gd name="T7" fmla="*/ 88 h 298"/>
                    <a:gd name="T8" fmla="*/ 47 w 63"/>
                    <a:gd name="T9" fmla="*/ 198 h 298"/>
                    <a:gd name="T10" fmla="*/ 63 w 63"/>
                    <a:gd name="T11" fmla="*/ 273 h 298"/>
                    <a:gd name="T12" fmla="*/ 35 w 63"/>
                    <a:gd name="T13" fmla="*/ 282 h 298"/>
                    <a:gd name="T14" fmla="*/ 13 w 63"/>
                    <a:gd name="T15" fmla="*/ 150 h 298"/>
                    <a:gd name="T16" fmla="*/ 1 w 63"/>
                    <a:gd name="T17" fmla="*/ 32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298">
                      <a:moveTo>
                        <a:pt x="1" y="32"/>
                      </a:moveTo>
                      <a:cubicBezTo>
                        <a:pt x="0" y="0"/>
                        <a:pt x="15" y="23"/>
                        <a:pt x="15" y="23"/>
                      </a:cubicBezTo>
                      <a:cubicBezTo>
                        <a:pt x="18" y="30"/>
                        <a:pt x="17" y="26"/>
                        <a:pt x="28" y="38"/>
                      </a:cubicBezTo>
                      <a:cubicBezTo>
                        <a:pt x="39" y="49"/>
                        <a:pt x="34" y="62"/>
                        <a:pt x="35" y="88"/>
                      </a:cubicBezTo>
                      <a:cubicBezTo>
                        <a:pt x="36" y="113"/>
                        <a:pt x="41" y="161"/>
                        <a:pt x="47" y="198"/>
                      </a:cubicBezTo>
                      <a:cubicBezTo>
                        <a:pt x="53" y="235"/>
                        <a:pt x="63" y="273"/>
                        <a:pt x="63" y="273"/>
                      </a:cubicBezTo>
                      <a:cubicBezTo>
                        <a:pt x="63" y="273"/>
                        <a:pt x="38" y="298"/>
                        <a:pt x="35" y="282"/>
                      </a:cubicBezTo>
                      <a:cubicBezTo>
                        <a:pt x="32" y="265"/>
                        <a:pt x="18" y="186"/>
                        <a:pt x="13" y="150"/>
                      </a:cubicBezTo>
                      <a:cubicBezTo>
                        <a:pt x="9" y="115"/>
                        <a:pt x="2" y="63"/>
                        <a:pt x="1" y="32"/>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464" name="Freeform 466">
                  <a:extLst>
                    <a:ext uri="{FF2B5EF4-FFF2-40B4-BE49-F238E27FC236}">
                      <a16:creationId xmlns:a16="http://schemas.microsoft.com/office/drawing/2014/main" id="{94958C9E-57EF-4E08-A702-B47BD71F065C}"/>
                    </a:ext>
                  </a:extLst>
                </p:cNvPr>
                <p:cNvSpPr>
                  <a:spLocks/>
                </p:cNvSpPr>
                <p:nvPr/>
              </p:nvSpPr>
              <p:spPr bwMode="auto">
                <a:xfrm>
                  <a:off x="3081328" y="3458115"/>
                  <a:ext cx="68482" cy="35037"/>
                </a:xfrm>
                <a:custGeom>
                  <a:avLst/>
                  <a:gdLst>
                    <a:gd name="T0" fmla="*/ 42 w 91"/>
                    <a:gd name="T1" fmla="*/ 4 h 47"/>
                    <a:gd name="T2" fmla="*/ 86 w 91"/>
                    <a:gd name="T3" fmla="*/ 23 h 47"/>
                    <a:gd name="T4" fmla="*/ 45 w 91"/>
                    <a:gd name="T5" fmla="*/ 46 h 47"/>
                    <a:gd name="T6" fmla="*/ 20 w 91"/>
                    <a:gd name="T7" fmla="*/ 9 h 47"/>
                    <a:gd name="T8" fmla="*/ 42 w 91"/>
                    <a:gd name="T9" fmla="*/ 4 h 47"/>
                  </a:gdLst>
                  <a:ahLst/>
                  <a:cxnLst>
                    <a:cxn ang="0">
                      <a:pos x="T0" y="T1"/>
                    </a:cxn>
                    <a:cxn ang="0">
                      <a:pos x="T2" y="T3"/>
                    </a:cxn>
                    <a:cxn ang="0">
                      <a:pos x="T4" y="T5"/>
                    </a:cxn>
                    <a:cxn ang="0">
                      <a:pos x="T6" y="T7"/>
                    </a:cxn>
                    <a:cxn ang="0">
                      <a:pos x="T8" y="T9"/>
                    </a:cxn>
                  </a:cxnLst>
                  <a:rect l="0" t="0" r="r" b="b"/>
                  <a:pathLst>
                    <a:path w="91" h="47">
                      <a:moveTo>
                        <a:pt x="42" y="4"/>
                      </a:moveTo>
                      <a:cubicBezTo>
                        <a:pt x="42" y="4"/>
                        <a:pt x="91" y="0"/>
                        <a:pt x="86" y="23"/>
                      </a:cubicBezTo>
                      <a:cubicBezTo>
                        <a:pt x="81" y="46"/>
                        <a:pt x="68" y="45"/>
                        <a:pt x="45" y="46"/>
                      </a:cubicBezTo>
                      <a:cubicBezTo>
                        <a:pt x="22" y="47"/>
                        <a:pt x="0" y="33"/>
                        <a:pt x="20" y="9"/>
                      </a:cubicBezTo>
                      <a:cubicBezTo>
                        <a:pt x="26" y="3"/>
                        <a:pt x="37" y="3"/>
                        <a:pt x="42" y="4"/>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465" name="Freeform 467">
                  <a:extLst>
                    <a:ext uri="{FF2B5EF4-FFF2-40B4-BE49-F238E27FC236}">
                      <a16:creationId xmlns:a16="http://schemas.microsoft.com/office/drawing/2014/main" id="{7C14DC3E-1619-4FBC-B5A8-1B4D8469E6D8}"/>
                    </a:ext>
                  </a:extLst>
                </p:cNvPr>
                <p:cNvSpPr>
                  <a:spLocks/>
                </p:cNvSpPr>
                <p:nvPr/>
              </p:nvSpPr>
              <p:spPr bwMode="auto">
                <a:xfrm>
                  <a:off x="2988160" y="3474838"/>
                  <a:ext cx="25482" cy="50963"/>
                </a:xfrm>
                <a:custGeom>
                  <a:avLst/>
                  <a:gdLst>
                    <a:gd name="T0" fmla="*/ 1 w 34"/>
                    <a:gd name="T1" fmla="*/ 11 h 67"/>
                    <a:gd name="T2" fmla="*/ 18 w 34"/>
                    <a:gd name="T3" fmla="*/ 57 h 67"/>
                    <a:gd name="T4" fmla="*/ 32 w 34"/>
                    <a:gd name="T5" fmla="*/ 51 h 67"/>
                    <a:gd name="T6" fmla="*/ 16 w 34"/>
                    <a:gd name="T7" fmla="*/ 3 h 67"/>
                    <a:gd name="T8" fmla="*/ 1 w 34"/>
                    <a:gd name="T9" fmla="*/ 11 h 67"/>
                  </a:gdLst>
                  <a:ahLst/>
                  <a:cxnLst>
                    <a:cxn ang="0">
                      <a:pos x="T0" y="T1"/>
                    </a:cxn>
                    <a:cxn ang="0">
                      <a:pos x="T2" y="T3"/>
                    </a:cxn>
                    <a:cxn ang="0">
                      <a:pos x="T4" y="T5"/>
                    </a:cxn>
                    <a:cxn ang="0">
                      <a:pos x="T6" y="T7"/>
                    </a:cxn>
                    <a:cxn ang="0">
                      <a:pos x="T8" y="T9"/>
                    </a:cxn>
                  </a:cxnLst>
                  <a:rect l="0" t="0" r="r" b="b"/>
                  <a:pathLst>
                    <a:path w="34" h="67">
                      <a:moveTo>
                        <a:pt x="1" y="11"/>
                      </a:moveTo>
                      <a:cubicBezTo>
                        <a:pt x="1" y="11"/>
                        <a:pt x="18" y="51"/>
                        <a:pt x="18" y="57"/>
                      </a:cubicBezTo>
                      <a:cubicBezTo>
                        <a:pt x="18" y="63"/>
                        <a:pt x="29" y="67"/>
                        <a:pt x="32" y="51"/>
                      </a:cubicBezTo>
                      <a:cubicBezTo>
                        <a:pt x="34" y="35"/>
                        <a:pt x="33" y="5"/>
                        <a:pt x="16" y="3"/>
                      </a:cubicBezTo>
                      <a:cubicBezTo>
                        <a:pt x="0" y="0"/>
                        <a:pt x="1" y="11"/>
                        <a:pt x="1" y="11"/>
                      </a:cubicBezTo>
                      <a:close/>
                    </a:path>
                  </a:pathLst>
                </a:custGeom>
                <a:solidFill>
                  <a:srgbClr val="FEEAD3"/>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466" name="Freeform 468">
                  <a:extLst>
                    <a:ext uri="{FF2B5EF4-FFF2-40B4-BE49-F238E27FC236}">
                      <a16:creationId xmlns:a16="http://schemas.microsoft.com/office/drawing/2014/main" id="{A5B1C14D-DC4B-45CB-A0AD-4A32D79C6488}"/>
                    </a:ext>
                  </a:extLst>
                </p:cNvPr>
                <p:cNvSpPr>
                  <a:spLocks/>
                </p:cNvSpPr>
                <p:nvPr/>
              </p:nvSpPr>
              <p:spPr bwMode="auto">
                <a:xfrm>
                  <a:off x="2561342" y="3004223"/>
                  <a:ext cx="1231880" cy="1106860"/>
                </a:xfrm>
                <a:custGeom>
                  <a:avLst/>
                  <a:gdLst>
                    <a:gd name="T0" fmla="*/ 1624 w 1638"/>
                    <a:gd name="T1" fmla="*/ 609 h 1472"/>
                    <a:gd name="T2" fmla="*/ 1597 w 1638"/>
                    <a:gd name="T3" fmla="*/ 527 h 1472"/>
                    <a:gd name="T4" fmla="*/ 1556 w 1638"/>
                    <a:gd name="T5" fmla="*/ 469 h 1472"/>
                    <a:gd name="T6" fmla="*/ 1527 w 1638"/>
                    <a:gd name="T7" fmla="*/ 400 h 1472"/>
                    <a:gd name="T8" fmla="*/ 1469 w 1638"/>
                    <a:gd name="T9" fmla="*/ 349 h 1472"/>
                    <a:gd name="T10" fmla="*/ 1417 w 1638"/>
                    <a:gd name="T11" fmla="*/ 279 h 1472"/>
                    <a:gd name="T12" fmla="*/ 1310 w 1638"/>
                    <a:gd name="T13" fmla="*/ 185 h 1472"/>
                    <a:gd name="T14" fmla="*/ 1187 w 1638"/>
                    <a:gd name="T15" fmla="*/ 109 h 1472"/>
                    <a:gd name="T16" fmla="*/ 1132 w 1638"/>
                    <a:gd name="T17" fmla="*/ 79 h 1472"/>
                    <a:gd name="T18" fmla="*/ 1025 w 1638"/>
                    <a:gd name="T19" fmla="*/ 39 h 1472"/>
                    <a:gd name="T20" fmla="*/ 953 w 1638"/>
                    <a:gd name="T21" fmla="*/ 31 h 1472"/>
                    <a:gd name="T22" fmla="*/ 830 w 1638"/>
                    <a:gd name="T23" fmla="*/ 31 h 1472"/>
                    <a:gd name="T24" fmla="*/ 712 w 1638"/>
                    <a:gd name="T25" fmla="*/ 5 h 1472"/>
                    <a:gd name="T26" fmla="*/ 587 w 1638"/>
                    <a:gd name="T27" fmla="*/ 18 h 1472"/>
                    <a:gd name="T28" fmla="*/ 475 w 1638"/>
                    <a:gd name="T29" fmla="*/ 39 h 1472"/>
                    <a:gd name="T30" fmla="*/ 321 w 1638"/>
                    <a:gd name="T31" fmla="*/ 82 h 1472"/>
                    <a:gd name="T32" fmla="*/ 225 w 1638"/>
                    <a:gd name="T33" fmla="*/ 132 h 1472"/>
                    <a:gd name="T34" fmla="*/ 164 w 1638"/>
                    <a:gd name="T35" fmla="*/ 180 h 1472"/>
                    <a:gd name="T36" fmla="*/ 67 w 1638"/>
                    <a:gd name="T37" fmla="*/ 300 h 1472"/>
                    <a:gd name="T38" fmla="*/ 34 w 1638"/>
                    <a:gd name="T39" fmla="*/ 377 h 1472"/>
                    <a:gd name="T40" fmla="*/ 5 w 1638"/>
                    <a:gd name="T41" fmla="*/ 472 h 1472"/>
                    <a:gd name="T42" fmla="*/ 19 w 1638"/>
                    <a:gd name="T43" fmla="*/ 617 h 1472"/>
                    <a:gd name="T44" fmla="*/ 89 w 1638"/>
                    <a:gd name="T45" fmla="*/ 729 h 1472"/>
                    <a:gd name="T46" fmla="*/ 198 w 1638"/>
                    <a:gd name="T47" fmla="*/ 808 h 1472"/>
                    <a:gd name="T48" fmla="*/ 362 w 1638"/>
                    <a:gd name="T49" fmla="*/ 827 h 1472"/>
                    <a:gd name="T50" fmla="*/ 414 w 1638"/>
                    <a:gd name="T51" fmla="*/ 909 h 1472"/>
                    <a:gd name="T52" fmla="*/ 453 w 1638"/>
                    <a:gd name="T53" fmla="*/ 952 h 1472"/>
                    <a:gd name="T54" fmla="*/ 616 w 1638"/>
                    <a:gd name="T55" fmla="*/ 987 h 1472"/>
                    <a:gd name="T56" fmla="*/ 691 w 1638"/>
                    <a:gd name="T57" fmla="*/ 978 h 1472"/>
                    <a:gd name="T58" fmla="*/ 810 w 1638"/>
                    <a:gd name="T59" fmla="*/ 1144 h 1472"/>
                    <a:gd name="T60" fmla="*/ 913 w 1638"/>
                    <a:gd name="T61" fmla="*/ 1329 h 1472"/>
                    <a:gd name="T62" fmla="*/ 992 w 1638"/>
                    <a:gd name="T63" fmla="*/ 1461 h 1472"/>
                    <a:gd name="T64" fmla="*/ 1009 w 1638"/>
                    <a:gd name="T65" fmla="*/ 1454 h 1472"/>
                    <a:gd name="T66" fmla="*/ 1037 w 1638"/>
                    <a:gd name="T67" fmla="*/ 1447 h 1472"/>
                    <a:gd name="T68" fmla="*/ 1013 w 1638"/>
                    <a:gd name="T69" fmla="*/ 1313 h 1472"/>
                    <a:gd name="T70" fmla="*/ 1123 w 1638"/>
                    <a:gd name="T71" fmla="*/ 1273 h 1472"/>
                    <a:gd name="T72" fmla="*/ 1194 w 1638"/>
                    <a:gd name="T73" fmla="*/ 1277 h 1472"/>
                    <a:gd name="T74" fmla="*/ 1260 w 1638"/>
                    <a:gd name="T75" fmla="*/ 1269 h 1472"/>
                    <a:gd name="T76" fmla="*/ 1338 w 1638"/>
                    <a:gd name="T77" fmla="*/ 1241 h 1472"/>
                    <a:gd name="T78" fmla="*/ 1379 w 1638"/>
                    <a:gd name="T79" fmla="*/ 1208 h 1472"/>
                    <a:gd name="T80" fmla="*/ 1418 w 1638"/>
                    <a:gd name="T81" fmla="*/ 1151 h 1472"/>
                    <a:gd name="T82" fmla="*/ 1456 w 1638"/>
                    <a:gd name="T83" fmla="*/ 1070 h 1472"/>
                    <a:gd name="T84" fmla="*/ 1469 w 1638"/>
                    <a:gd name="T85" fmla="*/ 999 h 1472"/>
                    <a:gd name="T86" fmla="*/ 1527 w 1638"/>
                    <a:gd name="T87" fmla="*/ 981 h 1472"/>
                    <a:gd name="T88" fmla="*/ 1600 w 1638"/>
                    <a:gd name="T89" fmla="*/ 837 h 1472"/>
                    <a:gd name="T90" fmla="*/ 1631 w 1638"/>
                    <a:gd name="T91" fmla="*/ 732 h 1472"/>
                    <a:gd name="T92" fmla="*/ 1632 w 1638"/>
                    <a:gd name="T93" fmla="*/ 658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38" h="1472">
                      <a:moveTo>
                        <a:pt x="1632" y="658"/>
                      </a:move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351" y="828"/>
                        <a:pt x="357" y="828"/>
                        <a:pt x="362" y="827"/>
                      </a:cubicBezTo>
                      <a:cubicBezTo>
                        <a:pt x="363" y="833"/>
                        <a:pt x="363" y="840"/>
                        <a:pt x="363" y="847"/>
                      </a:cubicBezTo>
                      <a:cubicBezTo>
                        <a:pt x="364" y="880"/>
                        <a:pt x="393" y="900"/>
                        <a:pt x="414" y="909"/>
                      </a:cubicBezTo>
                      <a:cubicBezTo>
                        <a:pt x="435" y="919"/>
                        <a:pt x="434" y="925"/>
                        <a:pt x="434" y="925"/>
                      </a:cubicBezTo>
                      <a:cubicBezTo>
                        <a:pt x="437" y="930"/>
                        <a:pt x="431" y="935"/>
                        <a:pt x="453" y="952"/>
                      </a:cubicBezTo>
                      <a:cubicBezTo>
                        <a:pt x="507" y="993"/>
                        <a:pt x="556" y="987"/>
                        <a:pt x="569" y="985"/>
                      </a:cubicBezTo>
                      <a:cubicBezTo>
                        <a:pt x="582" y="984"/>
                        <a:pt x="598" y="982"/>
                        <a:pt x="616" y="987"/>
                      </a:cubicBezTo>
                      <a:cubicBezTo>
                        <a:pt x="634" y="993"/>
                        <a:pt x="664" y="988"/>
                        <a:pt x="675" y="984"/>
                      </a:cubicBezTo>
                      <a:cubicBezTo>
                        <a:pt x="679" y="982"/>
                        <a:pt x="685" y="980"/>
                        <a:pt x="691" y="978"/>
                      </a:cubicBezTo>
                      <a:cubicBezTo>
                        <a:pt x="688" y="1056"/>
                        <a:pt x="720" y="1103"/>
                        <a:pt x="720" y="1103"/>
                      </a:cubicBezTo>
                      <a:cubicBezTo>
                        <a:pt x="746" y="1159"/>
                        <a:pt x="810" y="1144"/>
                        <a:pt x="810" y="1144"/>
                      </a:cubicBezTo>
                      <a:cubicBezTo>
                        <a:pt x="799" y="1230"/>
                        <a:pt x="846" y="1239"/>
                        <a:pt x="862" y="1255"/>
                      </a:cubicBezTo>
                      <a:cubicBezTo>
                        <a:pt x="877" y="1271"/>
                        <a:pt x="898" y="1294"/>
                        <a:pt x="913" y="1329"/>
                      </a:cubicBezTo>
                      <a:cubicBezTo>
                        <a:pt x="928" y="1364"/>
                        <a:pt x="947" y="1472"/>
                        <a:pt x="947" y="1472"/>
                      </a:cubicBezTo>
                      <a:cubicBezTo>
                        <a:pt x="947" y="1472"/>
                        <a:pt x="992" y="1462"/>
                        <a:pt x="992" y="1461"/>
                      </a:cubicBezTo>
                      <a:cubicBezTo>
                        <a:pt x="992" y="1461"/>
                        <a:pt x="991" y="1460"/>
                        <a:pt x="991" y="1460"/>
                      </a:cubicBezTo>
                      <a:cubicBezTo>
                        <a:pt x="1009" y="1454"/>
                        <a:pt x="1009" y="1454"/>
                        <a:pt x="1009" y="1454"/>
                      </a:cubicBezTo>
                      <a:cubicBezTo>
                        <a:pt x="1009" y="1455"/>
                        <a:pt x="1009" y="1455"/>
                        <a:pt x="1009" y="1456"/>
                      </a:cubicBezTo>
                      <a:cubicBezTo>
                        <a:pt x="1012" y="1472"/>
                        <a:pt x="1037" y="1447"/>
                        <a:pt x="1037" y="1447"/>
                      </a:cubicBezTo>
                      <a:cubicBezTo>
                        <a:pt x="1037" y="1447"/>
                        <a:pt x="1027" y="1409"/>
                        <a:pt x="1021" y="1372"/>
                      </a:cubicBezTo>
                      <a:cubicBezTo>
                        <a:pt x="1018" y="1354"/>
                        <a:pt x="1015" y="1333"/>
                        <a:pt x="1013" y="1313"/>
                      </a:cubicBezTo>
                      <a:cubicBezTo>
                        <a:pt x="1061" y="1301"/>
                        <a:pt x="1081" y="1271"/>
                        <a:pt x="1081" y="1271"/>
                      </a:cubicBezTo>
                      <a:cubicBezTo>
                        <a:pt x="1102" y="1283"/>
                        <a:pt x="1123" y="1273"/>
                        <a:pt x="1123" y="1273"/>
                      </a:cubicBezTo>
                      <a:cubicBezTo>
                        <a:pt x="1137" y="1287"/>
                        <a:pt x="1157" y="1278"/>
                        <a:pt x="1157" y="1278"/>
                      </a:cubicBezTo>
                      <a:cubicBezTo>
                        <a:pt x="1177" y="1292"/>
                        <a:pt x="1194" y="1277"/>
                        <a:pt x="1194" y="1277"/>
                      </a:cubicBezTo>
                      <a:cubicBezTo>
                        <a:pt x="1206" y="1288"/>
                        <a:pt x="1222" y="1277"/>
                        <a:pt x="1222" y="1277"/>
                      </a:cubicBezTo>
                      <a:cubicBezTo>
                        <a:pt x="1247" y="1289"/>
                        <a:pt x="1260" y="1269"/>
                        <a:pt x="1260" y="1269"/>
                      </a:cubicBezTo>
                      <a:cubicBezTo>
                        <a:pt x="1288" y="1276"/>
                        <a:pt x="1286" y="1260"/>
                        <a:pt x="1292" y="1262"/>
                      </a:cubicBezTo>
                      <a:cubicBezTo>
                        <a:pt x="1329" y="1269"/>
                        <a:pt x="1338" y="1241"/>
                        <a:pt x="1338" y="1241"/>
                      </a:cubicBezTo>
                      <a:cubicBezTo>
                        <a:pt x="1364" y="1247"/>
                        <a:pt x="1371" y="1230"/>
                        <a:pt x="1371" y="1222"/>
                      </a:cubicBezTo>
                      <a:cubicBezTo>
                        <a:pt x="1371" y="1214"/>
                        <a:pt x="1379" y="1208"/>
                        <a:pt x="1379" y="1208"/>
                      </a:cubicBezTo>
                      <a:cubicBezTo>
                        <a:pt x="1426" y="1199"/>
                        <a:pt x="1406" y="1180"/>
                        <a:pt x="1412" y="1178"/>
                      </a:cubicBezTo>
                      <a:cubicBezTo>
                        <a:pt x="1430" y="1169"/>
                        <a:pt x="1418" y="1151"/>
                        <a:pt x="1418" y="1151"/>
                      </a:cubicBezTo>
                      <a:cubicBezTo>
                        <a:pt x="1449" y="1141"/>
                        <a:pt x="1439" y="1113"/>
                        <a:pt x="1439" y="1113"/>
                      </a:cubicBezTo>
                      <a:cubicBezTo>
                        <a:pt x="1478" y="1094"/>
                        <a:pt x="1453" y="1073"/>
                        <a:pt x="1456" y="1070"/>
                      </a:cubicBezTo>
                      <a:cubicBezTo>
                        <a:pt x="1485" y="1047"/>
                        <a:pt x="1459" y="1029"/>
                        <a:pt x="1461" y="1028"/>
                      </a:cubicBezTo>
                      <a:cubicBezTo>
                        <a:pt x="1476" y="1019"/>
                        <a:pt x="1469" y="999"/>
                        <a:pt x="1469" y="999"/>
                      </a:cubicBezTo>
                      <a:cubicBezTo>
                        <a:pt x="1468" y="998"/>
                        <a:pt x="1468" y="998"/>
                        <a:pt x="1468" y="998"/>
                      </a:cubicBezTo>
                      <a:cubicBezTo>
                        <a:pt x="1486" y="1001"/>
                        <a:pt x="1507" y="999"/>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lose/>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467" name="Freeform 475">
                  <a:extLst>
                    <a:ext uri="{FF2B5EF4-FFF2-40B4-BE49-F238E27FC236}">
                      <a16:creationId xmlns:a16="http://schemas.microsoft.com/office/drawing/2014/main" id="{E4975184-7D79-43A4-8AC7-4426085E9329}"/>
                    </a:ext>
                  </a:extLst>
                </p:cNvPr>
                <p:cNvSpPr>
                  <a:spLocks/>
                </p:cNvSpPr>
                <p:nvPr/>
              </p:nvSpPr>
              <p:spPr bwMode="auto">
                <a:xfrm>
                  <a:off x="2916493" y="3537746"/>
                  <a:ext cx="47778" cy="40612"/>
                </a:xfrm>
                <a:custGeom>
                  <a:avLst/>
                  <a:gdLst>
                    <a:gd name="T0" fmla="*/ 0 w 60"/>
                    <a:gd name="T1" fmla="*/ 35 h 51"/>
                    <a:gd name="T2" fmla="*/ 53 w 60"/>
                    <a:gd name="T3" fmla="*/ 0 h 51"/>
                    <a:gd name="T4" fmla="*/ 60 w 60"/>
                    <a:gd name="T5" fmla="*/ 51 h 51"/>
                    <a:gd name="T6" fmla="*/ 0 w 60"/>
                    <a:gd name="T7" fmla="*/ 35 h 51"/>
                  </a:gdLst>
                  <a:ahLst/>
                  <a:cxnLst>
                    <a:cxn ang="0">
                      <a:pos x="T0" y="T1"/>
                    </a:cxn>
                    <a:cxn ang="0">
                      <a:pos x="T2" y="T3"/>
                    </a:cxn>
                    <a:cxn ang="0">
                      <a:pos x="T4" y="T5"/>
                    </a:cxn>
                    <a:cxn ang="0">
                      <a:pos x="T6" y="T7"/>
                    </a:cxn>
                  </a:cxnLst>
                  <a:rect l="0" t="0" r="r" b="b"/>
                  <a:pathLst>
                    <a:path w="60" h="51">
                      <a:moveTo>
                        <a:pt x="0" y="35"/>
                      </a:moveTo>
                      <a:lnTo>
                        <a:pt x="53" y="0"/>
                      </a:lnTo>
                      <a:lnTo>
                        <a:pt x="60" y="51"/>
                      </a:lnTo>
                      <a:lnTo>
                        <a:pt x="0" y="35"/>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468" name="Freeform 477">
                  <a:extLst>
                    <a:ext uri="{FF2B5EF4-FFF2-40B4-BE49-F238E27FC236}">
                      <a16:creationId xmlns:a16="http://schemas.microsoft.com/office/drawing/2014/main" id="{7C19DB89-FC98-4C8A-AC7E-D22A5E3E1812}"/>
                    </a:ext>
                  </a:extLst>
                </p:cNvPr>
                <p:cNvSpPr>
                  <a:spLocks/>
                </p:cNvSpPr>
                <p:nvPr/>
              </p:nvSpPr>
              <p:spPr bwMode="auto">
                <a:xfrm>
                  <a:off x="2957901" y="3512264"/>
                  <a:ext cx="369484" cy="574134"/>
                </a:xfrm>
                <a:custGeom>
                  <a:avLst/>
                  <a:gdLst>
                    <a:gd name="T0" fmla="*/ 5 w 491"/>
                    <a:gd name="T1" fmla="*/ 75 h 764"/>
                    <a:gd name="T2" fmla="*/ 279 w 491"/>
                    <a:gd name="T3" fmla="*/ 281 h 764"/>
                    <a:gd name="T4" fmla="*/ 428 w 491"/>
                    <a:gd name="T5" fmla="*/ 764 h 764"/>
                    <a:gd name="T6" fmla="*/ 491 w 491"/>
                    <a:gd name="T7" fmla="*/ 748 h 764"/>
                    <a:gd name="T8" fmla="*/ 331 w 491"/>
                    <a:gd name="T9" fmla="*/ 275 h 764"/>
                    <a:gd name="T10" fmla="*/ 0 w 491"/>
                    <a:gd name="T11" fmla="*/ 49 h 764"/>
                    <a:gd name="T12" fmla="*/ 5 w 491"/>
                    <a:gd name="T13" fmla="*/ 75 h 764"/>
                  </a:gdLst>
                  <a:ahLst/>
                  <a:cxnLst>
                    <a:cxn ang="0">
                      <a:pos x="T0" y="T1"/>
                    </a:cxn>
                    <a:cxn ang="0">
                      <a:pos x="T2" y="T3"/>
                    </a:cxn>
                    <a:cxn ang="0">
                      <a:pos x="T4" y="T5"/>
                    </a:cxn>
                    <a:cxn ang="0">
                      <a:pos x="T6" y="T7"/>
                    </a:cxn>
                    <a:cxn ang="0">
                      <a:pos x="T8" y="T9"/>
                    </a:cxn>
                    <a:cxn ang="0">
                      <a:pos x="T10" y="T11"/>
                    </a:cxn>
                    <a:cxn ang="0">
                      <a:pos x="T12" y="T13"/>
                    </a:cxn>
                  </a:cxnLst>
                  <a:rect l="0" t="0" r="r" b="b"/>
                  <a:pathLst>
                    <a:path w="491" h="764">
                      <a:moveTo>
                        <a:pt x="5" y="75"/>
                      </a:moveTo>
                      <a:cubicBezTo>
                        <a:pt x="5" y="75"/>
                        <a:pt x="200" y="33"/>
                        <a:pt x="279" y="281"/>
                      </a:cubicBezTo>
                      <a:cubicBezTo>
                        <a:pt x="405" y="680"/>
                        <a:pt x="428" y="764"/>
                        <a:pt x="428" y="764"/>
                      </a:cubicBezTo>
                      <a:cubicBezTo>
                        <a:pt x="491" y="748"/>
                        <a:pt x="491" y="748"/>
                        <a:pt x="491" y="748"/>
                      </a:cubicBezTo>
                      <a:cubicBezTo>
                        <a:pt x="331" y="275"/>
                        <a:pt x="331" y="275"/>
                        <a:pt x="331" y="275"/>
                      </a:cubicBezTo>
                      <a:cubicBezTo>
                        <a:pt x="331" y="275"/>
                        <a:pt x="259" y="0"/>
                        <a:pt x="0" y="49"/>
                      </a:cubicBezTo>
                      <a:lnTo>
                        <a:pt x="5" y="75"/>
                      </a:lnTo>
                      <a:close/>
                    </a:path>
                  </a:pathLst>
                </a:custGeom>
                <a:solidFill>
                  <a:schemeClr val="accent1"/>
                </a:solidFill>
                <a:ln w="3175">
                  <a:solidFill>
                    <a:schemeClr val="accent1"/>
                  </a:solidFill>
                </a:ln>
              </p:spPr>
              <p:txBody>
                <a:bodyPr vert="horz" wrap="square" lIns="91440" tIns="45720" rIns="91440" bIns="45720" numCol="1" anchor="t" anchorCtr="0" compatLnSpc="1">
                  <a:prstTxWarp prst="textNoShape">
                    <a:avLst/>
                  </a:prstTxWarp>
                </a:bodyPr>
                <a:lstStyle/>
                <a:p>
                  <a:endParaRPr lang="en-GB" sz="1600"/>
                </a:p>
              </p:txBody>
            </p:sp>
            <p:sp>
              <p:nvSpPr>
                <p:cNvPr id="469" name="Freeform 500">
                  <a:extLst>
                    <a:ext uri="{FF2B5EF4-FFF2-40B4-BE49-F238E27FC236}">
                      <a16:creationId xmlns:a16="http://schemas.microsoft.com/office/drawing/2014/main" id="{5B74746E-8A54-46B1-B3EB-EA0F1DA43B6C}"/>
                    </a:ext>
                  </a:extLst>
                </p:cNvPr>
                <p:cNvSpPr>
                  <a:spLocks/>
                </p:cNvSpPr>
                <p:nvPr/>
              </p:nvSpPr>
              <p:spPr bwMode="auto">
                <a:xfrm>
                  <a:off x="2881456" y="3649228"/>
                  <a:ext cx="49371" cy="41408"/>
                </a:xfrm>
                <a:custGeom>
                  <a:avLst/>
                  <a:gdLst>
                    <a:gd name="T0" fmla="*/ 0 w 62"/>
                    <a:gd name="T1" fmla="*/ 52 h 52"/>
                    <a:gd name="T2" fmla="*/ 35 w 62"/>
                    <a:gd name="T3" fmla="*/ 0 h 52"/>
                    <a:gd name="T4" fmla="*/ 62 w 62"/>
                    <a:gd name="T5" fmla="*/ 45 h 52"/>
                    <a:gd name="T6" fmla="*/ 0 w 62"/>
                    <a:gd name="T7" fmla="*/ 52 h 52"/>
                  </a:gdLst>
                  <a:ahLst/>
                  <a:cxnLst>
                    <a:cxn ang="0">
                      <a:pos x="T0" y="T1"/>
                    </a:cxn>
                    <a:cxn ang="0">
                      <a:pos x="T2" y="T3"/>
                    </a:cxn>
                    <a:cxn ang="0">
                      <a:pos x="T4" y="T5"/>
                    </a:cxn>
                    <a:cxn ang="0">
                      <a:pos x="T6" y="T7"/>
                    </a:cxn>
                  </a:cxnLst>
                  <a:rect l="0" t="0" r="r" b="b"/>
                  <a:pathLst>
                    <a:path w="62" h="52">
                      <a:moveTo>
                        <a:pt x="0" y="52"/>
                      </a:moveTo>
                      <a:lnTo>
                        <a:pt x="35" y="0"/>
                      </a:lnTo>
                      <a:lnTo>
                        <a:pt x="62" y="45"/>
                      </a:lnTo>
                      <a:lnTo>
                        <a:pt x="0" y="52"/>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470" name="Freeform 501">
                  <a:extLst>
                    <a:ext uri="{FF2B5EF4-FFF2-40B4-BE49-F238E27FC236}">
                      <a16:creationId xmlns:a16="http://schemas.microsoft.com/office/drawing/2014/main" id="{9D7C5553-F0C7-486A-9C2D-1160F8918214}"/>
                    </a:ext>
                  </a:extLst>
                </p:cNvPr>
                <p:cNvSpPr>
                  <a:spLocks/>
                </p:cNvSpPr>
                <p:nvPr/>
              </p:nvSpPr>
              <p:spPr bwMode="auto">
                <a:xfrm>
                  <a:off x="2913308" y="3611802"/>
                  <a:ext cx="108297" cy="64501"/>
                </a:xfrm>
                <a:custGeom>
                  <a:avLst/>
                  <a:gdLst>
                    <a:gd name="T0" fmla="*/ 0 w 144"/>
                    <a:gd name="T1" fmla="*/ 66 h 86"/>
                    <a:gd name="T2" fmla="*/ 88 w 144"/>
                    <a:gd name="T3" fmla="*/ 0 h 86"/>
                    <a:gd name="T4" fmla="*/ 144 w 144"/>
                    <a:gd name="T5" fmla="*/ 32 h 86"/>
                    <a:gd name="T6" fmla="*/ 12 w 144"/>
                    <a:gd name="T7" fmla="*/ 86 h 86"/>
                    <a:gd name="T8" fmla="*/ 0 w 144"/>
                    <a:gd name="T9" fmla="*/ 66 h 86"/>
                  </a:gdLst>
                  <a:ahLst/>
                  <a:cxnLst>
                    <a:cxn ang="0">
                      <a:pos x="T0" y="T1"/>
                    </a:cxn>
                    <a:cxn ang="0">
                      <a:pos x="T2" y="T3"/>
                    </a:cxn>
                    <a:cxn ang="0">
                      <a:pos x="T4" y="T5"/>
                    </a:cxn>
                    <a:cxn ang="0">
                      <a:pos x="T6" y="T7"/>
                    </a:cxn>
                    <a:cxn ang="0">
                      <a:pos x="T8" y="T9"/>
                    </a:cxn>
                  </a:cxnLst>
                  <a:rect l="0" t="0" r="r" b="b"/>
                  <a:pathLst>
                    <a:path w="144" h="86">
                      <a:moveTo>
                        <a:pt x="0" y="66"/>
                      </a:moveTo>
                      <a:cubicBezTo>
                        <a:pt x="0" y="66"/>
                        <a:pt x="64" y="39"/>
                        <a:pt x="88" y="0"/>
                      </a:cubicBezTo>
                      <a:cubicBezTo>
                        <a:pt x="144" y="32"/>
                        <a:pt x="144" y="32"/>
                        <a:pt x="144" y="32"/>
                      </a:cubicBezTo>
                      <a:cubicBezTo>
                        <a:pt x="144" y="32"/>
                        <a:pt x="100" y="68"/>
                        <a:pt x="12" y="86"/>
                      </a:cubicBezTo>
                      <a:lnTo>
                        <a:pt x="0" y="66"/>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grpSp>
          <p:sp>
            <p:nvSpPr>
              <p:cNvPr id="654" name="Rectangle 653">
                <a:extLst>
                  <a:ext uri="{FF2B5EF4-FFF2-40B4-BE49-F238E27FC236}">
                    <a16:creationId xmlns:a16="http://schemas.microsoft.com/office/drawing/2014/main" id="{FB30D5FF-7F7C-4446-8D3C-3333B9063073}"/>
                  </a:ext>
                </a:extLst>
              </p:cNvPr>
              <p:cNvSpPr/>
              <p:nvPr/>
            </p:nvSpPr>
            <p:spPr>
              <a:xfrm>
                <a:off x="4343866" y="4772163"/>
                <a:ext cx="222977" cy="19389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78CAE480-0B9D-B1B7-001D-DBCA46AFF97B}"/>
                </a:ext>
              </a:extLst>
            </p:cNvPr>
            <p:cNvGrpSpPr/>
            <p:nvPr/>
          </p:nvGrpSpPr>
          <p:grpSpPr>
            <a:xfrm>
              <a:off x="3622714" y="1350673"/>
              <a:ext cx="1535935" cy="1346931"/>
              <a:chOff x="3706702" y="1242024"/>
              <a:chExt cx="1535935" cy="1346931"/>
            </a:xfrm>
          </p:grpSpPr>
          <p:sp>
            <p:nvSpPr>
              <p:cNvPr id="631" name="Rectangle 630">
                <a:extLst>
                  <a:ext uri="{FF2B5EF4-FFF2-40B4-BE49-F238E27FC236}">
                    <a16:creationId xmlns:a16="http://schemas.microsoft.com/office/drawing/2014/main" id="{74BAE96D-BBA0-4D51-A7DB-3D908B7CF2F7}"/>
                  </a:ext>
                </a:extLst>
              </p:cNvPr>
              <p:cNvSpPr/>
              <p:nvPr/>
            </p:nvSpPr>
            <p:spPr>
              <a:xfrm>
                <a:off x="3706702" y="1242024"/>
                <a:ext cx="1535935" cy="1346931"/>
              </a:xfrm>
              <a:prstGeom prst="rect">
                <a:avLst/>
              </a:prstGeom>
              <a:solidFill>
                <a:schemeClr val="bg1"/>
              </a:solidFill>
              <a:ln w="19050">
                <a:solidFill>
                  <a:schemeClr val="tx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63" name="Group 662">
                <a:extLst>
                  <a:ext uri="{FF2B5EF4-FFF2-40B4-BE49-F238E27FC236}">
                    <a16:creationId xmlns:a16="http://schemas.microsoft.com/office/drawing/2014/main" id="{6FEA05CD-C948-41FE-A69B-61A29ED04160}"/>
                  </a:ext>
                </a:extLst>
              </p:cNvPr>
              <p:cNvGrpSpPr/>
              <p:nvPr/>
            </p:nvGrpSpPr>
            <p:grpSpPr>
              <a:xfrm rot="1072542">
                <a:off x="3747720" y="1367335"/>
                <a:ext cx="1437652" cy="1076233"/>
                <a:chOff x="3887205" y="5317598"/>
                <a:chExt cx="1437652" cy="1076233"/>
              </a:xfrm>
            </p:grpSpPr>
            <p:sp>
              <p:nvSpPr>
                <p:cNvPr id="664" name="Oval 663">
                  <a:extLst>
                    <a:ext uri="{FF2B5EF4-FFF2-40B4-BE49-F238E27FC236}">
                      <a16:creationId xmlns:a16="http://schemas.microsoft.com/office/drawing/2014/main" id="{E2B9951C-D30D-4170-96D8-08F883F0FFDB}"/>
                    </a:ext>
                  </a:extLst>
                </p:cNvPr>
                <p:cNvSpPr/>
                <p:nvPr/>
              </p:nvSpPr>
              <p:spPr>
                <a:xfrm rot="300574">
                  <a:off x="3887205" y="5317598"/>
                  <a:ext cx="1437652" cy="1076233"/>
                </a:xfrm>
                <a:prstGeom prst="ellipse">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5" name="Oval 664">
                  <a:extLst>
                    <a:ext uri="{FF2B5EF4-FFF2-40B4-BE49-F238E27FC236}">
                      <a16:creationId xmlns:a16="http://schemas.microsoft.com/office/drawing/2014/main" id="{9409B8CD-D820-4931-BF30-D5C1F7CA4F97}"/>
                    </a:ext>
                  </a:extLst>
                </p:cNvPr>
                <p:cNvSpPr/>
                <p:nvPr/>
              </p:nvSpPr>
              <p:spPr>
                <a:xfrm>
                  <a:off x="4033490" y="5542644"/>
                  <a:ext cx="453096" cy="4762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66" name="Group 665">
                  <a:extLst>
                    <a:ext uri="{FF2B5EF4-FFF2-40B4-BE49-F238E27FC236}">
                      <a16:creationId xmlns:a16="http://schemas.microsoft.com/office/drawing/2014/main" id="{75F26326-0A37-4AB1-A215-BF346B4BB387}"/>
                    </a:ext>
                  </a:extLst>
                </p:cNvPr>
                <p:cNvGrpSpPr/>
                <p:nvPr/>
              </p:nvGrpSpPr>
              <p:grpSpPr>
                <a:xfrm>
                  <a:off x="4498531" y="5485789"/>
                  <a:ext cx="332058" cy="219315"/>
                  <a:chOff x="2247921" y="2676541"/>
                  <a:chExt cx="1531951" cy="860430"/>
                </a:xfrm>
              </p:grpSpPr>
              <p:sp>
                <p:nvSpPr>
                  <p:cNvPr id="679" name="Freeform 10">
                    <a:extLst>
                      <a:ext uri="{FF2B5EF4-FFF2-40B4-BE49-F238E27FC236}">
                        <a16:creationId xmlns:a16="http://schemas.microsoft.com/office/drawing/2014/main" id="{738702E8-A99F-414A-9586-00D0DCE7D816}"/>
                      </a:ext>
                    </a:extLst>
                  </p:cNvPr>
                  <p:cNvSpPr>
                    <a:spLocks/>
                  </p:cNvSpPr>
                  <p:nvPr/>
                </p:nvSpPr>
                <p:spPr bwMode="auto">
                  <a:xfrm>
                    <a:off x="2247921" y="2676541"/>
                    <a:ext cx="1531951" cy="860430"/>
                  </a:xfrm>
                  <a:custGeom>
                    <a:avLst/>
                    <a:gdLst>
                      <a:gd name="T0" fmla="*/ 1923 w 1930"/>
                      <a:gd name="T1" fmla="*/ 484 h 1083"/>
                      <a:gd name="T2" fmla="*/ 1898 w 1930"/>
                      <a:gd name="T3" fmla="*/ 403 h 1083"/>
                      <a:gd name="T4" fmla="*/ 1852 w 1930"/>
                      <a:gd name="T5" fmla="*/ 327 h 1083"/>
                      <a:gd name="T6" fmla="*/ 1787 w 1930"/>
                      <a:gd name="T7" fmla="*/ 257 h 1083"/>
                      <a:gd name="T8" fmla="*/ 1706 w 1930"/>
                      <a:gd name="T9" fmla="*/ 193 h 1083"/>
                      <a:gd name="T10" fmla="*/ 1610 w 1930"/>
                      <a:gd name="T11" fmla="*/ 137 h 1083"/>
                      <a:gd name="T12" fmla="*/ 1500 w 1930"/>
                      <a:gd name="T13" fmla="*/ 89 h 1083"/>
                      <a:gd name="T14" fmla="*/ 1379 w 1930"/>
                      <a:gd name="T15" fmla="*/ 51 h 1083"/>
                      <a:gd name="T16" fmla="*/ 1248 w 1930"/>
                      <a:gd name="T17" fmla="*/ 23 h 1083"/>
                      <a:gd name="T18" fmla="*/ 1109 w 1930"/>
                      <a:gd name="T19" fmla="*/ 5 h 1083"/>
                      <a:gd name="T20" fmla="*/ 963 w 1930"/>
                      <a:gd name="T21" fmla="*/ 0 h 1083"/>
                      <a:gd name="T22" fmla="*/ 864 w 1930"/>
                      <a:gd name="T23" fmla="*/ 2 h 1083"/>
                      <a:gd name="T24" fmla="*/ 721 w 1930"/>
                      <a:gd name="T25" fmla="*/ 17 h 1083"/>
                      <a:gd name="T26" fmla="*/ 586 w 1930"/>
                      <a:gd name="T27" fmla="*/ 44 h 1083"/>
                      <a:gd name="T28" fmla="*/ 461 w 1930"/>
                      <a:gd name="T29" fmla="*/ 81 h 1083"/>
                      <a:gd name="T30" fmla="*/ 348 w 1930"/>
                      <a:gd name="T31" fmla="*/ 126 h 1083"/>
                      <a:gd name="T32" fmla="*/ 247 w 1930"/>
                      <a:gd name="T33" fmla="*/ 180 h 1083"/>
                      <a:gd name="T34" fmla="*/ 162 w 1930"/>
                      <a:gd name="T35" fmla="*/ 242 h 1083"/>
                      <a:gd name="T36" fmla="*/ 93 w 1930"/>
                      <a:gd name="T37" fmla="*/ 310 h 1083"/>
                      <a:gd name="T38" fmla="*/ 41 w 1930"/>
                      <a:gd name="T39" fmla="*/ 383 h 1083"/>
                      <a:gd name="T40" fmla="*/ 10 w 1930"/>
                      <a:gd name="T41" fmla="*/ 462 h 1083"/>
                      <a:gd name="T42" fmla="*/ 0 w 1930"/>
                      <a:gd name="T43" fmla="*/ 544 h 1083"/>
                      <a:gd name="T44" fmla="*/ 5 w 1930"/>
                      <a:gd name="T45" fmla="*/ 599 h 1083"/>
                      <a:gd name="T46" fmla="*/ 30 w 1930"/>
                      <a:gd name="T47" fmla="*/ 680 h 1083"/>
                      <a:gd name="T48" fmla="*/ 77 w 1930"/>
                      <a:gd name="T49" fmla="*/ 756 h 1083"/>
                      <a:gd name="T50" fmla="*/ 141 w 1930"/>
                      <a:gd name="T51" fmla="*/ 826 h 1083"/>
                      <a:gd name="T52" fmla="*/ 222 w 1930"/>
                      <a:gd name="T53" fmla="*/ 890 h 1083"/>
                      <a:gd name="T54" fmla="*/ 319 w 1930"/>
                      <a:gd name="T55" fmla="*/ 946 h 1083"/>
                      <a:gd name="T56" fmla="*/ 428 w 1930"/>
                      <a:gd name="T57" fmla="*/ 994 h 1083"/>
                      <a:gd name="T58" fmla="*/ 549 w 1930"/>
                      <a:gd name="T59" fmla="*/ 1032 h 1083"/>
                      <a:gd name="T60" fmla="*/ 680 w 1930"/>
                      <a:gd name="T61" fmla="*/ 1060 h 1083"/>
                      <a:gd name="T62" fmla="*/ 820 w 1930"/>
                      <a:gd name="T63" fmla="*/ 1078 h 1083"/>
                      <a:gd name="T64" fmla="*/ 965 w 1930"/>
                      <a:gd name="T65" fmla="*/ 1083 h 1083"/>
                      <a:gd name="T66" fmla="*/ 1064 w 1930"/>
                      <a:gd name="T67" fmla="*/ 1081 h 1083"/>
                      <a:gd name="T68" fmla="*/ 1207 w 1930"/>
                      <a:gd name="T69" fmla="*/ 1066 h 1083"/>
                      <a:gd name="T70" fmla="*/ 1342 w 1930"/>
                      <a:gd name="T71" fmla="*/ 1039 h 1083"/>
                      <a:gd name="T72" fmla="*/ 1467 w 1930"/>
                      <a:gd name="T73" fmla="*/ 1004 h 1083"/>
                      <a:gd name="T74" fmla="*/ 1581 w 1930"/>
                      <a:gd name="T75" fmla="*/ 957 h 1083"/>
                      <a:gd name="T76" fmla="*/ 1681 w 1930"/>
                      <a:gd name="T77" fmla="*/ 903 h 1083"/>
                      <a:gd name="T78" fmla="*/ 1767 w 1930"/>
                      <a:gd name="T79" fmla="*/ 842 h 1083"/>
                      <a:gd name="T80" fmla="*/ 1835 w 1930"/>
                      <a:gd name="T81" fmla="*/ 773 h 1083"/>
                      <a:gd name="T82" fmla="*/ 1887 w 1930"/>
                      <a:gd name="T83" fmla="*/ 700 h 1083"/>
                      <a:gd name="T84" fmla="*/ 1919 w 1930"/>
                      <a:gd name="T85" fmla="*/ 621 h 1083"/>
                      <a:gd name="T86" fmla="*/ 1930 w 1930"/>
                      <a:gd name="T87" fmla="*/ 539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083">
                        <a:moveTo>
                          <a:pt x="1928" y="511"/>
                        </a:moveTo>
                        <a:lnTo>
                          <a:pt x="1928" y="511"/>
                        </a:lnTo>
                        <a:lnTo>
                          <a:pt x="1923" y="484"/>
                        </a:lnTo>
                        <a:lnTo>
                          <a:pt x="1917" y="456"/>
                        </a:lnTo>
                        <a:lnTo>
                          <a:pt x="1909" y="429"/>
                        </a:lnTo>
                        <a:lnTo>
                          <a:pt x="1898" y="403"/>
                        </a:lnTo>
                        <a:lnTo>
                          <a:pt x="1885" y="377"/>
                        </a:lnTo>
                        <a:lnTo>
                          <a:pt x="1870" y="351"/>
                        </a:lnTo>
                        <a:lnTo>
                          <a:pt x="1852" y="327"/>
                        </a:lnTo>
                        <a:lnTo>
                          <a:pt x="1833" y="304"/>
                        </a:lnTo>
                        <a:lnTo>
                          <a:pt x="1811" y="279"/>
                        </a:lnTo>
                        <a:lnTo>
                          <a:pt x="1787" y="257"/>
                        </a:lnTo>
                        <a:lnTo>
                          <a:pt x="1762" y="235"/>
                        </a:lnTo>
                        <a:lnTo>
                          <a:pt x="1735" y="214"/>
                        </a:lnTo>
                        <a:lnTo>
                          <a:pt x="1706" y="193"/>
                        </a:lnTo>
                        <a:lnTo>
                          <a:pt x="1676" y="174"/>
                        </a:lnTo>
                        <a:lnTo>
                          <a:pt x="1644" y="155"/>
                        </a:lnTo>
                        <a:lnTo>
                          <a:pt x="1610" y="137"/>
                        </a:lnTo>
                        <a:lnTo>
                          <a:pt x="1575" y="121"/>
                        </a:lnTo>
                        <a:lnTo>
                          <a:pt x="1538" y="105"/>
                        </a:lnTo>
                        <a:lnTo>
                          <a:pt x="1500" y="89"/>
                        </a:lnTo>
                        <a:lnTo>
                          <a:pt x="1461" y="76"/>
                        </a:lnTo>
                        <a:lnTo>
                          <a:pt x="1421" y="63"/>
                        </a:lnTo>
                        <a:lnTo>
                          <a:pt x="1379" y="51"/>
                        </a:lnTo>
                        <a:lnTo>
                          <a:pt x="1336" y="40"/>
                        </a:lnTo>
                        <a:lnTo>
                          <a:pt x="1293" y="31"/>
                        </a:lnTo>
                        <a:lnTo>
                          <a:pt x="1248" y="23"/>
                        </a:lnTo>
                        <a:lnTo>
                          <a:pt x="1203" y="16"/>
                        </a:lnTo>
                        <a:lnTo>
                          <a:pt x="1156" y="9"/>
                        </a:lnTo>
                        <a:lnTo>
                          <a:pt x="1109" y="5"/>
                        </a:lnTo>
                        <a:lnTo>
                          <a:pt x="1062" y="2"/>
                        </a:lnTo>
                        <a:lnTo>
                          <a:pt x="1013" y="0"/>
                        </a:lnTo>
                        <a:lnTo>
                          <a:pt x="963" y="0"/>
                        </a:lnTo>
                        <a:lnTo>
                          <a:pt x="914" y="0"/>
                        </a:lnTo>
                        <a:lnTo>
                          <a:pt x="914" y="0"/>
                        </a:lnTo>
                        <a:lnTo>
                          <a:pt x="864" y="2"/>
                        </a:lnTo>
                        <a:lnTo>
                          <a:pt x="816" y="6"/>
                        </a:lnTo>
                        <a:lnTo>
                          <a:pt x="767" y="11"/>
                        </a:lnTo>
                        <a:lnTo>
                          <a:pt x="721" y="17"/>
                        </a:lnTo>
                        <a:lnTo>
                          <a:pt x="675" y="25"/>
                        </a:lnTo>
                        <a:lnTo>
                          <a:pt x="630" y="34"/>
                        </a:lnTo>
                        <a:lnTo>
                          <a:pt x="586" y="44"/>
                        </a:lnTo>
                        <a:lnTo>
                          <a:pt x="543" y="55"/>
                        </a:lnTo>
                        <a:lnTo>
                          <a:pt x="501" y="67"/>
                        </a:lnTo>
                        <a:lnTo>
                          <a:pt x="461" y="81"/>
                        </a:lnTo>
                        <a:lnTo>
                          <a:pt x="422" y="94"/>
                        </a:lnTo>
                        <a:lnTo>
                          <a:pt x="384" y="110"/>
                        </a:lnTo>
                        <a:lnTo>
                          <a:pt x="348" y="126"/>
                        </a:lnTo>
                        <a:lnTo>
                          <a:pt x="312" y="143"/>
                        </a:lnTo>
                        <a:lnTo>
                          <a:pt x="279" y="161"/>
                        </a:lnTo>
                        <a:lnTo>
                          <a:pt x="247" y="180"/>
                        </a:lnTo>
                        <a:lnTo>
                          <a:pt x="217" y="199"/>
                        </a:lnTo>
                        <a:lnTo>
                          <a:pt x="189" y="220"/>
                        </a:lnTo>
                        <a:lnTo>
                          <a:pt x="162" y="242"/>
                        </a:lnTo>
                        <a:lnTo>
                          <a:pt x="137" y="264"/>
                        </a:lnTo>
                        <a:lnTo>
                          <a:pt x="114" y="286"/>
                        </a:lnTo>
                        <a:lnTo>
                          <a:pt x="93" y="310"/>
                        </a:lnTo>
                        <a:lnTo>
                          <a:pt x="73" y="334"/>
                        </a:lnTo>
                        <a:lnTo>
                          <a:pt x="57" y="359"/>
                        </a:lnTo>
                        <a:lnTo>
                          <a:pt x="41" y="383"/>
                        </a:lnTo>
                        <a:lnTo>
                          <a:pt x="29" y="409"/>
                        </a:lnTo>
                        <a:lnTo>
                          <a:pt x="18" y="435"/>
                        </a:lnTo>
                        <a:lnTo>
                          <a:pt x="10" y="462"/>
                        </a:lnTo>
                        <a:lnTo>
                          <a:pt x="5" y="489"/>
                        </a:lnTo>
                        <a:lnTo>
                          <a:pt x="1" y="516"/>
                        </a:lnTo>
                        <a:lnTo>
                          <a:pt x="0" y="544"/>
                        </a:lnTo>
                        <a:lnTo>
                          <a:pt x="1" y="572"/>
                        </a:lnTo>
                        <a:lnTo>
                          <a:pt x="1" y="572"/>
                        </a:lnTo>
                        <a:lnTo>
                          <a:pt x="5" y="599"/>
                        </a:lnTo>
                        <a:lnTo>
                          <a:pt x="11" y="627"/>
                        </a:lnTo>
                        <a:lnTo>
                          <a:pt x="19" y="654"/>
                        </a:lnTo>
                        <a:lnTo>
                          <a:pt x="30" y="680"/>
                        </a:lnTo>
                        <a:lnTo>
                          <a:pt x="44" y="706"/>
                        </a:lnTo>
                        <a:lnTo>
                          <a:pt x="59" y="732"/>
                        </a:lnTo>
                        <a:lnTo>
                          <a:pt x="77" y="756"/>
                        </a:lnTo>
                        <a:lnTo>
                          <a:pt x="97" y="781"/>
                        </a:lnTo>
                        <a:lnTo>
                          <a:pt x="117" y="804"/>
                        </a:lnTo>
                        <a:lnTo>
                          <a:pt x="141" y="826"/>
                        </a:lnTo>
                        <a:lnTo>
                          <a:pt x="167" y="848"/>
                        </a:lnTo>
                        <a:lnTo>
                          <a:pt x="194" y="869"/>
                        </a:lnTo>
                        <a:lnTo>
                          <a:pt x="222" y="890"/>
                        </a:lnTo>
                        <a:lnTo>
                          <a:pt x="252" y="909"/>
                        </a:lnTo>
                        <a:lnTo>
                          <a:pt x="285" y="928"/>
                        </a:lnTo>
                        <a:lnTo>
                          <a:pt x="319" y="946"/>
                        </a:lnTo>
                        <a:lnTo>
                          <a:pt x="354" y="963"/>
                        </a:lnTo>
                        <a:lnTo>
                          <a:pt x="390" y="979"/>
                        </a:lnTo>
                        <a:lnTo>
                          <a:pt x="428" y="994"/>
                        </a:lnTo>
                        <a:lnTo>
                          <a:pt x="467" y="1007"/>
                        </a:lnTo>
                        <a:lnTo>
                          <a:pt x="507" y="1021"/>
                        </a:lnTo>
                        <a:lnTo>
                          <a:pt x="549" y="1032"/>
                        </a:lnTo>
                        <a:lnTo>
                          <a:pt x="592" y="1043"/>
                        </a:lnTo>
                        <a:lnTo>
                          <a:pt x="636" y="1053"/>
                        </a:lnTo>
                        <a:lnTo>
                          <a:pt x="680" y="1060"/>
                        </a:lnTo>
                        <a:lnTo>
                          <a:pt x="726" y="1067"/>
                        </a:lnTo>
                        <a:lnTo>
                          <a:pt x="772" y="1074"/>
                        </a:lnTo>
                        <a:lnTo>
                          <a:pt x="820" y="1078"/>
                        </a:lnTo>
                        <a:lnTo>
                          <a:pt x="868" y="1081"/>
                        </a:lnTo>
                        <a:lnTo>
                          <a:pt x="916" y="1083"/>
                        </a:lnTo>
                        <a:lnTo>
                          <a:pt x="965" y="1083"/>
                        </a:lnTo>
                        <a:lnTo>
                          <a:pt x="1015" y="1083"/>
                        </a:lnTo>
                        <a:lnTo>
                          <a:pt x="1015" y="1083"/>
                        </a:lnTo>
                        <a:lnTo>
                          <a:pt x="1064" y="1081"/>
                        </a:lnTo>
                        <a:lnTo>
                          <a:pt x="1113" y="1077"/>
                        </a:lnTo>
                        <a:lnTo>
                          <a:pt x="1161" y="1072"/>
                        </a:lnTo>
                        <a:lnTo>
                          <a:pt x="1207" y="1066"/>
                        </a:lnTo>
                        <a:lnTo>
                          <a:pt x="1254" y="1059"/>
                        </a:lnTo>
                        <a:lnTo>
                          <a:pt x="1298" y="1049"/>
                        </a:lnTo>
                        <a:lnTo>
                          <a:pt x="1342" y="1039"/>
                        </a:lnTo>
                        <a:lnTo>
                          <a:pt x="1385" y="1028"/>
                        </a:lnTo>
                        <a:lnTo>
                          <a:pt x="1427" y="1016"/>
                        </a:lnTo>
                        <a:lnTo>
                          <a:pt x="1467" y="1004"/>
                        </a:lnTo>
                        <a:lnTo>
                          <a:pt x="1507" y="989"/>
                        </a:lnTo>
                        <a:lnTo>
                          <a:pt x="1545" y="973"/>
                        </a:lnTo>
                        <a:lnTo>
                          <a:pt x="1581" y="957"/>
                        </a:lnTo>
                        <a:lnTo>
                          <a:pt x="1616" y="940"/>
                        </a:lnTo>
                        <a:lnTo>
                          <a:pt x="1649" y="922"/>
                        </a:lnTo>
                        <a:lnTo>
                          <a:pt x="1681" y="903"/>
                        </a:lnTo>
                        <a:lnTo>
                          <a:pt x="1711" y="884"/>
                        </a:lnTo>
                        <a:lnTo>
                          <a:pt x="1740" y="863"/>
                        </a:lnTo>
                        <a:lnTo>
                          <a:pt x="1767" y="842"/>
                        </a:lnTo>
                        <a:lnTo>
                          <a:pt x="1791" y="820"/>
                        </a:lnTo>
                        <a:lnTo>
                          <a:pt x="1814" y="797"/>
                        </a:lnTo>
                        <a:lnTo>
                          <a:pt x="1835" y="773"/>
                        </a:lnTo>
                        <a:lnTo>
                          <a:pt x="1855" y="749"/>
                        </a:lnTo>
                        <a:lnTo>
                          <a:pt x="1872" y="724"/>
                        </a:lnTo>
                        <a:lnTo>
                          <a:pt x="1887" y="700"/>
                        </a:lnTo>
                        <a:lnTo>
                          <a:pt x="1899" y="674"/>
                        </a:lnTo>
                        <a:lnTo>
                          <a:pt x="1910" y="648"/>
                        </a:lnTo>
                        <a:lnTo>
                          <a:pt x="1919" y="621"/>
                        </a:lnTo>
                        <a:lnTo>
                          <a:pt x="1925" y="594"/>
                        </a:lnTo>
                        <a:lnTo>
                          <a:pt x="1928" y="567"/>
                        </a:lnTo>
                        <a:lnTo>
                          <a:pt x="1930" y="539"/>
                        </a:lnTo>
                        <a:lnTo>
                          <a:pt x="1928" y="511"/>
                        </a:lnTo>
                        <a:lnTo>
                          <a:pt x="1928" y="511"/>
                        </a:lnTo>
                        <a:close/>
                      </a:path>
                    </a:pathLst>
                  </a:custGeom>
                  <a:solidFill>
                    <a:schemeClr val="accent1"/>
                  </a:solidFill>
                  <a:ln w="7938">
                    <a:noFill/>
                    <a:prstDash val="solid"/>
                    <a:round/>
                    <a:headEnd/>
                    <a:tailEnd/>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80" name="Freeform 11">
                    <a:extLst>
                      <a:ext uri="{FF2B5EF4-FFF2-40B4-BE49-F238E27FC236}">
                        <a16:creationId xmlns:a16="http://schemas.microsoft.com/office/drawing/2014/main" id="{D4B9E178-86FD-463A-8B18-F77882444979}"/>
                      </a:ext>
                    </a:extLst>
                  </p:cNvPr>
                  <p:cNvSpPr>
                    <a:spLocks/>
                  </p:cNvSpPr>
                  <p:nvPr/>
                </p:nvSpPr>
                <p:spPr bwMode="auto">
                  <a:xfrm>
                    <a:off x="2354285" y="2771792"/>
                    <a:ext cx="1346212" cy="693742"/>
                  </a:xfrm>
                  <a:custGeom>
                    <a:avLst/>
                    <a:gdLst>
                      <a:gd name="T0" fmla="*/ 1 w 1697"/>
                      <a:gd name="T1" fmla="*/ 375 h 874"/>
                      <a:gd name="T2" fmla="*/ 38 w 1697"/>
                      <a:gd name="T3" fmla="*/ 545 h 874"/>
                      <a:gd name="T4" fmla="*/ 152 w 1697"/>
                      <a:gd name="T5" fmla="*/ 684 h 874"/>
                      <a:gd name="T6" fmla="*/ 304 w 1697"/>
                      <a:gd name="T7" fmla="*/ 729 h 874"/>
                      <a:gd name="T8" fmla="*/ 341 w 1697"/>
                      <a:gd name="T9" fmla="*/ 630 h 874"/>
                      <a:gd name="T10" fmla="*/ 305 w 1697"/>
                      <a:gd name="T11" fmla="*/ 285 h 874"/>
                      <a:gd name="T12" fmla="*/ 342 w 1697"/>
                      <a:gd name="T13" fmla="*/ 208 h 874"/>
                      <a:gd name="T14" fmla="*/ 389 w 1697"/>
                      <a:gd name="T15" fmla="*/ 262 h 874"/>
                      <a:gd name="T16" fmla="*/ 439 w 1697"/>
                      <a:gd name="T17" fmla="*/ 625 h 874"/>
                      <a:gd name="T18" fmla="*/ 498 w 1697"/>
                      <a:gd name="T19" fmla="*/ 808 h 874"/>
                      <a:gd name="T20" fmla="*/ 602 w 1697"/>
                      <a:gd name="T21" fmla="*/ 870 h 874"/>
                      <a:gd name="T22" fmla="*/ 801 w 1697"/>
                      <a:gd name="T23" fmla="*/ 860 h 874"/>
                      <a:gd name="T24" fmla="*/ 782 w 1697"/>
                      <a:gd name="T25" fmla="*/ 379 h 874"/>
                      <a:gd name="T26" fmla="*/ 770 w 1697"/>
                      <a:gd name="T27" fmla="*/ 207 h 874"/>
                      <a:gd name="T28" fmla="*/ 806 w 1697"/>
                      <a:gd name="T29" fmla="*/ 184 h 874"/>
                      <a:gd name="T30" fmla="*/ 862 w 1697"/>
                      <a:gd name="T31" fmla="*/ 321 h 874"/>
                      <a:gd name="T32" fmla="*/ 894 w 1697"/>
                      <a:gd name="T33" fmla="*/ 692 h 874"/>
                      <a:gd name="T34" fmla="*/ 948 w 1697"/>
                      <a:gd name="T35" fmla="*/ 841 h 874"/>
                      <a:gd name="T36" fmla="*/ 1042 w 1697"/>
                      <a:gd name="T37" fmla="*/ 862 h 874"/>
                      <a:gd name="T38" fmla="*/ 1292 w 1697"/>
                      <a:gd name="T39" fmla="*/ 786 h 874"/>
                      <a:gd name="T40" fmla="*/ 1237 w 1697"/>
                      <a:gd name="T41" fmla="*/ 627 h 874"/>
                      <a:gd name="T42" fmla="*/ 1201 w 1697"/>
                      <a:gd name="T43" fmla="*/ 342 h 874"/>
                      <a:gd name="T44" fmla="*/ 1219 w 1697"/>
                      <a:gd name="T45" fmla="*/ 195 h 874"/>
                      <a:gd name="T46" fmla="*/ 1274 w 1697"/>
                      <a:gd name="T47" fmla="*/ 238 h 874"/>
                      <a:gd name="T48" fmla="*/ 1311 w 1697"/>
                      <a:gd name="T49" fmla="*/ 392 h 874"/>
                      <a:gd name="T50" fmla="*/ 1339 w 1697"/>
                      <a:gd name="T51" fmla="*/ 662 h 874"/>
                      <a:gd name="T52" fmla="*/ 1392 w 1697"/>
                      <a:gd name="T53" fmla="*/ 715 h 874"/>
                      <a:gd name="T54" fmla="*/ 1523 w 1697"/>
                      <a:gd name="T55" fmla="*/ 673 h 874"/>
                      <a:gd name="T56" fmla="*/ 1666 w 1697"/>
                      <a:gd name="T57" fmla="*/ 533 h 874"/>
                      <a:gd name="T58" fmla="*/ 1695 w 1697"/>
                      <a:gd name="T59" fmla="*/ 387 h 874"/>
                      <a:gd name="T60" fmla="*/ 1605 w 1697"/>
                      <a:gd name="T61" fmla="*/ 168 h 874"/>
                      <a:gd name="T62" fmla="*/ 1480 w 1697"/>
                      <a:gd name="T63" fmla="*/ 71 h 874"/>
                      <a:gd name="T64" fmla="*/ 1436 w 1697"/>
                      <a:gd name="T65" fmla="*/ 87 h 874"/>
                      <a:gd name="T66" fmla="*/ 1462 w 1697"/>
                      <a:gd name="T67" fmla="*/ 371 h 874"/>
                      <a:gd name="T68" fmla="*/ 1441 w 1697"/>
                      <a:gd name="T69" fmla="*/ 472 h 874"/>
                      <a:gd name="T70" fmla="*/ 1392 w 1697"/>
                      <a:gd name="T71" fmla="*/ 415 h 874"/>
                      <a:gd name="T72" fmla="*/ 1359 w 1697"/>
                      <a:gd name="T73" fmla="*/ 148 h 874"/>
                      <a:gd name="T74" fmla="*/ 1326 w 1697"/>
                      <a:gd name="T75" fmla="*/ 54 h 874"/>
                      <a:gd name="T76" fmla="*/ 1102 w 1697"/>
                      <a:gd name="T77" fmla="*/ 7 h 874"/>
                      <a:gd name="T78" fmla="*/ 1062 w 1697"/>
                      <a:gd name="T79" fmla="*/ 73 h 874"/>
                      <a:gd name="T80" fmla="*/ 1080 w 1697"/>
                      <a:gd name="T81" fmla="*/ 439 h 874"/>
                      <a:gd name="T82" fmla="*/ 1040 w 1697"/>
                      <a:gd name="T83" fmla="*/ 467 h 874"/>
                      <a:gd name="T84" fmla="*/ 987 w 1697"/>
                      <a:gd name="T85" fmla="*/ 364 h 874"/>
                      <a:gd name="T86" fmla="*/ 965 w 1697"/>
                      <a:gd name="T87" fmla="*/ 99 h 874"/>
                      <a:gd name="T88" fmla="*/ 920 w 1697"/>
                      <a:gd name="T89" fmla="*/ 5 h 874"/>
                      <a:gd name="T90" fmla="*/ 638 w 1697"/>
                      <a:gd name="T91" fmla="*/ 7 h 874"/>
                      <a:gd name="T92" fmla="*/ 601 w 1697"/>
                      <a:gd name="T93" fmla="*/ 67 h 874"/>
                      <a:gd name="T94" fmla="*/ 618 w 1697"/>
                      <a:gd name="T95" fmla="*/ 423 h 874"/>
                      <a:gd name="T96" fmla="*/ 587 w 1697"/>
                      <a:gd name="T97" fmla="*/ 471 h 874"/>
                      <a:gd name="T98" fmla="*/ 540 w 1697"/>
                      <a:gd name="T99" fmla="*/ 332 h 874"/>
                      <a:gd name="T100" fmla="*/ 497 w 1697"/>
                      <a:gd name="T101" fmla="*/ 54 h 874"/>
                      <a:gd name="T102" fmla="*/ 350 w 1697"/>
                      <a:gd name="T103" fmla="*/ 52 h 874"/>
                      <a:gd name="T104" fmla="*/ 178 w 1697"/>
                      <a:gd name="T105" fmla="*/ 117 h 874"/>
                      <a:gd name="T106" fmla="*/ 167 w 1697"/>
                      <a:gd name="T107" fmla="*/ 255 h 874"/>
                      <a:gd name="T108" fmla="*/ 158 w 1697"/>
                      <a:gd name="T109" fmla="*/ 409 h 874"/>
                      <a:gd name="T110" fmla="*/ 114 w 1697"/>
                      <a:gd name="T111" fmla="*/ 377 h 874"/>
                      <a:gd name="T112" fmla="*/ 73 w 1697"/>
                      <a:gd name="T113" fmla="*/ 197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97" h="874">
                        <a:moveTo>
                          <a:pt x="58" y="204"/>
                        </a:moveTo>
                        <a:lnTo>
                          <a:pt x="58" y="204"/>
                        </a:lnTo>
                        <a:lnTo>
                          <a:pt x="42" y="236"/>
                        </a:lnTo>
                        <a:lnTo>
                          <a:pt x="30" y="265"/>
                        </a:lnTo>
                        <a:lnTo>
                          <a:pt x="19" y="298"/>
                        </a:lnTo>
                        <a:lnTo>
                          <a:pt x="12" y="316"/>
                        </a:lnTo>
                        <a:lnTo>
                          <a:pt x="8" y="334"/>
                        </a:lnTo>
                        <a:lnTo>
                          <a:pt x="4" y="354"/>
                        </a:lnTo>
                        <a:lnTo>
                          <a:pt x="1" y="375"/>
                        </a:lnTo>
                        <a:lnTo>
                          <a:pt x="0" y="396"/>
                        </a:lnTo>
                        <a:lnTo>
                          <a:pt x="0" y="415"/>
                        </a:lnTo>
                        <a:lnTo>
                          <a:pt x="3" y="436"/>
                        </a:lnTo>
                        <a:lnTo>
                          <a:pt x="6" y="457"/>
                        </a:lnTo>
                        <a:lnTo>
                          <a:pt x="6" y="457"/>
                        </a:lnTo>
                        <a:lnTo>
                          <a:pt x="12" y="477"/>
                        </a:lnTo>
                        <a:lnTo>
                          <a:pt x="20" y="499"/>
                        </a:lnTo>
                        <a:lnTo>
                          <a:pt x="28" y="522"/>
                        </a:lnTo>
                        <a:lnTo>
                          <a:pt x="38" y="545"/>
                        </a:lnTo>
                        <a:lnTo>
                          <a:pt x="49" y="569"/>
                        </a:lnTo>
                        <a:lnTo>
                          <a:pt x="63" y="592"/>
                        </a:lnTo>
                        <a:lnTo>
                          <a:pt x="79" y="614"/>
                        </a:lnTo>
                        <a:lnTo>
                          <a:pt x="97" y="636"/>
                        </a:lnTo>
                        <a:lnTo>
                          <a:pt x="107" y="646"/>
                        </a:lnTo>
                        <a:lnTo>
                          <a:pt x="117" y="657"/>
                        </a:lnTo>
                        <a:lnTo>
                          <a:pt x="128" y="665"/>
                        </a:lnTo>
                        <a:lnTo>
                          <a:pt x="140" y="675"/>
                        </a:lnTo>
                        <a:lnTo>
                          <a:pt x="152" y="684"/>
                        </a:lnTo>
                        <a:lnTo>
                          <a:pt x="166" y="691"/>
                        </a:lnTo>
                        <a:lnTo>
                          <a:pt x="180" y="699"/>
                        </a:lnTo>
                        <a:lnTo>
                          <a:pt x="195" y="706"/>
                        </a:lnTo>
                        <a:lnTo>
                          <a:pt x="211" y="712"/>
                        </a:lnTo>
                        <a:lnTo>
                          <a:pt x="228" y="717"/>
                        </a:lnTo>
                        <a:lnTo>
                          <a:pt x="245" y="722"/>
                        </a:lnTo>
                        <a:lnTo>
                          <a:pt x="264" y="726"/>
                        </a:lnTo>
                        <a:lnTo>
                          <a:pt x="283" y="728"/>
                        </a:lnTo>
                        <a:lnTo>
                          <a:pt x="304" y="729"/>
                        </a:lnTo>
                        <a:lnTo>
                          <a:pt x="325" y="730"/>
                        </a:lnTo>
                        <a:lnTo>
                          <a:pt x="348" y="730"/>
                        </a:lnTo>
                        <a:lnTo>
                          <a:pt x="348" y="730"/>
                        </a:lnTo>
                        <a:lnTo>
                          <a:pt x="348" y="729"/>
                        </a:lnTo>
                        <a:lnTo>
                          <a:pt x="350" y="728"/>
                        </a:lnTo>
                        <a:lnTo>
                          <a:pt x="351" y="722"/>
                        </a:lnTo>
                        <a:lnTo>
                          <a:pt x="350" y="700"/>
                        </a:lnTo>
                        <a:lnTo>
                          <a:pt x="346" y="668"/>
                        </a:lnTo>
                        <a:lnTo>
                          <a:pt x="341" y="630"/>
                        </a:lnTo>
                        <a:lnTo>
                          <a:pt x="328" y="550"/>
                        </a:lnTo>
                        <a:lnTo>
                          <a:pt x="318" y="493"/>
                        </a:lnTo>
                        <a:lnTo>
                          <a:pt x="318" y="493"/>
                        </a:lnTo>
                        <a:lnTo>
                          <a:pt x="314" y="467"/>
                        </a:lnTo>
                        <a:lnTo>
                          <a:pt x="309" y="428"/>
                        </a:lnTo>
                        <a:lnTo>
                          <a:pt x="305" y="381"/>
                        </a:lnTo>
                        <a:lnTo>
                          <a:pt x="304" y="332"/>
                        </a:lnTo>
                        <a:lnTo>
                          <a:pt x="304" y="309"/>
                        </a:lnTo>
                        <a:lnTo>
                          <a:pt x="305" y="285"/>
                        </a:lnTo>
                        <a:lnTo>
                          <a:pt x="308" y="265"/>
                        </a:lnTo>
                        <a:lnTo>
                          <a:pt x="312" y="246"/>
                        </a:lnTo>
                        <a:lnTo>
                          <a:pt x="317" y="230"/>
                        </a:lnTo>
                        <a:lnTo>
                          <a:pt x="319" y="224"/>
                        </a:lnTo>
                        <a:lnTo>
                          <a:pt x="323" y="218"/>
                        </a:lnTo>
                        <a:lnTo>
                          <a:pt x="328" y="214"/>
                        </a:lnTo>
                        <a:lnTo>
                          <a:pt x="331" y="211"/>
                        </a:lnTo>
                        <a:lnTo>
                          <a:pt x="337" y="208"/>
                        </a:lnTo>
                        <a:lnTo>
                          <a:pt x="342" y="208"/>
                        </a:lnTo>
                        <a:lnTo>
                          <a:pt x="342" y="208"/>
                        </a:lnTo>
                        <a:lnTo>
                          <a:pt x="348" y="208"/>
                        </a:lnTo>
                        <a:lnTo>
                          <a:pt x="353" y="209"/>
                        </a:lnTo>
                        <a:lnTo>
                          <a:pt x="358" y="213"/>
                        </a:lnTo>
                        <a:lnTo>
                          <a:pt x="363" y="217"/>
                        </a:lnTo>
                        <a:lnTo>
                          <a:pt x="368" y="222"/>
                        </a:lnTo>
                        <a:lnTo>
                          <a:pt x="373" y="228"/>
                        </a:lnTo>
                        <a:lnTo>
                          <a:pt x="382" y="244"/>
                        </a:lnTo>
                        <a:lnTo>
                          <a:pt x="389" y="262"/>
                        </a:lnTo>
                        <a:lnTo>
                          <a:pt x="395" y="283"/>
                        </a:lnTo>
                        <a:lnTo>
                          <a:pt x="401" y="306"/>
                        </a:lnTo>
                        <a:lnTo>
                          <a:pt x="406" y="332"/>
                        </a:lnTo>
                        <a:lnTo>
                          <a:pt x="415" y="385"/>
                        </a:lnTo>
                        <a:lnTo>
                          <a:pt x="422" y="439"/>
                        </a:lnTo>
                        <a:lnTo>
                          <a:pt x="431" y="532"/>
                        </a:lnTo>
                        <a:lnTo>
                          <a:pt x="431" y="532"/>
                        </a:lnTo>
                        <a:lnTo>
                          <a:pt x="434" y="575"/>
                        </a:lnTo>
                        <a:lnTo>
                          <a:pt x="439" y="625"/>
                        </a:lnTo>
                        <a:lnTo>
                          <a:pt x="443" y="652"/>
                        </a:lnTo>
                        <a:lnTo>
                          <a:pt x="448" y="680"/>
                        </a:lnTo>
                        <a:lnTo>
                          <a:pt x="454" y="708"/>
                        </a:lnTo>
                        <a:lnTo>
                          <a:pt x="462" y="735"/>
                        </a:lnTo>
                        <a:lnTo>
                          <a:pt x="472" y="761"/>
                        </a:lnTo>
                        <a:lnTo>
                          <a:pt x="477" y="773"/>
                        </a:lnTo>
                        <a:lnTo>
                          <a:pt x="485" y="786"/>
                        </a:lnTo>
                        <a:lnTo>
                          <a:pt x="491" y="798"/>
                        </a:lnTo>
                        <a:lnTo>
                          <a:pt x="498" y="808"/>
                        </a:lnTo>
                        <a:lnTo>
                          <a:pt x="507" y="819"/>
                        </a:lnTo>
                        <a:lnTo>
                          <a:pt x="516" y="829"/>
                        </a:lnTo>
                        <a:lnTo>
                          <a:pt x="526" y="837"/>
                        </a:lnTo>
                        <a:lnTo>
                          <a:pt x="536" y="844"/>
                        </a:lnTo>
                        <a:lnTo>
                          <a:pt x="548" y="852"/>
                        </a:lnTo>
                        <a:lnTo>
                          <a:pt x="561" y="858"/>
                        </a:lnTo>
                        <a:lnTo>
                          <a:pt x="573" y="863"/>
                        </a:lnTo>
                        <a:lnTo>
                          <a:pt x="587" y="867"/>
                        </a:lnTo>
                        <a:lnTo>
                          <a:pt x="602" y="870"/>
                        </a:lnTo>
                        <a:lnTo>
                          <a:pt x="618" y="871"/>
                        </a:lnTo>
                        <a:lnTo>
                          <a:pt x="618" y="871"/>
                        </a:lnTo>
                        <a:lnTo>
                          <a:pt x="678" y="874"/>
                        </a:lnTo>
                        <a:lnTo>
                          <a:pt x="726" y="873"/>
                        </a:lnTo>
                        <a:lnTo>
                          <a:pt x="746" y="873"/>
                        </a:lnTo>
                        <a:lnTo>
                          <a:pt x="763" y="870"/>
                        </a:lnTo>
                        <a:lnTo>
                          <a:pt x="778" y="868"/>
                        </a:lnTo>
                        <a:lnTo>
                          <a:pt x="791" y="864"/>
                        </a:lnTo>
                        <a:lnTo>
                          <a:pt x="801" y="860"/>
                        </a:lnTo>
                        <a:lnTo>
                          <a:pt x="809" y="857"/>
                        </a:lnTo>
                        <a:lnTo>
                          <a:pt x="817" y="852"/>
                        </a:lnTo>
                        <a:lnTo>
                          <a:pt x="822" y="846"/>
                        </a:lnTo>
                        <a:lnTo>
                          <a:pt x="825" y="840"/>
                        </a:lnTo>
                        <a:lnTo>
                          <a:pt x="827" y="833"/>
                        </a:lnTo>
                        <a:lnTo>
                          <a:pt x="828" y="826"/>
                        </a:lnTo>
                        <a:lnTo>
                          <a:pt x="828" y="819"/>
                        </a:lnTo>
                        <a:lnTo>
                          <a:pt x="828" y="819"/>
                        </a:lnTo>
                        <a:lnTo>
                          <a:pt x="782" y="379"/>
                        </a:lnTo>
                        <a:lnTo>
                          <a:pt x="782" y="379"/>
                        </a:lnTo>
                        <a:lnTo>
                          <a:pt x="780" y="358"/>
                        </a:lnTo>
                        <a:lnTo>
                          <a:pt x="775" y="330"/>
                        </a:lnTo>
                        <a:lnTo>
                          <a:pt x="770" y="298"/>
                        </a:lnTo>
                        <a:lnTo>
                          <a:pt x="768" y="265"/>
                        </a:lnTo>
                        <a:lnTo>
                          <a:pt x="766" y="249"/>
                        </a:lnTo>
                        <a:lnTo>
                          <a:pt x="766" y="234"/>
                        </a:lnTo>
                        <a:lnTo>
                          <a:pt x="768" y="219"/>
                        </a:lnTo>
                        <a:lnTo>
                          <a:pt x="770" y="207"/>
                        </a:lnTo>
                        <a:lnTo>
                          <a:pt x="774" y="197"/>
                        </a:lnTo>
                        <a:lnTo>
                          <a:pt x="780" y="189"/>
                        </a:lnTo>
                        <a:lnTo>
                          <a:pt x="782" y="186"/>
                        </a:lnTo>
                        <a:lnTo>
                          <a:pt x="786" y="184"/>
                        </a:lnTo>
                        <a:lnTo>
                          <a:pt x="791" y="182"/>
                        </a:lnTo>
                        <a:lnTo>
                          <a:pt x="796" y="182"/>
                        </a:lnTo>
                        <a:lnTo>
                          <a:pt x="796" y="182"/>
                        </a:lnTo>
                        <a:lnTo>
                          <a:pt x="801" y="182"/>
                        </a:lnTo>
                        <a:lnTo>
                          <a:pt x="806" y="184"/>
                        </a:lnTo>
                        <a:lnTo>
                          <a:pt x="811" y="186"/>
                        </a:lnTo>
                        <a:lnTo>
                          <a:pt x="814" y="190"/>
                        </a:lnTo>
                        <a:lnTo>
                          <a:pt x="823" y="200"/>
                        </a:lnTo>
                        <a:lnTo>
                          <a:pt x="831" y="213"/>
                        </a:lnTo>
                        <a:lnTo>
                          <a:pt x="839" y="230"/>
                        </a:lnTo>
                        <a:lnTo>
                          <a:pt x="845" y="250"/>
                        </a:lnTo>
                        <a:lnTo>
                          <a:pt x="852" y="272"/>
                        </a:lnTo>
                        <a:lnTo>
                          <a:pt x="857" y="295"/>
                        </a:lnTo>
                        <a:lnTo>
                          <a:pt x="862" y="321"/>
                        </a:lnTo>
                        <a:lnTo>
                          <a:pt x="867" y="348"/>
                        </a:lnTo>
                        <a:lnTo>
                          <a:pt x="874" y="403"/>
                        </a:lnTo>
                        <a:lnTo>
                          <a:pt x="881" y="460"/>
                        </a:lnTo>
                        <a:lnTo>
                          <a:pt x="885" y="513"/>
                        </a:lnTo>
                        <a:lnTo>
                          <a:pt x="885" y="513"/>
                        </a:lnTo>
                        <a:lnTo>
                          <a:pt x="888" y="570"/>
                        </a:lnTo>
                        <a:lnTo>
                          <a:pt x="889" y="631"/>
                        </a:lnTo>
                        <a:lnTo>
                          <a:pt x="892" y="662"/>
                        </a:lnTo>
                        <a:lnTo>
                          <a:pt x="894" y="692"/>
                        </a:lnTo>
                        <a:lnTo>
                          <a:pt x="898" y="723"/>
                        </a:lnTo>
                        <a:lnTo>
                          <a:pt x="904" y="751"/>
                        </a:lnTo>
                        <a:lnTo>
                          <a:pt x="911" y="778"/>
                        </a:lnTo>
                        <a:lnTo>
                          <a:pt x="916" y="791"/>
                        </a:lnTo>
                        <a:lnTo>
                          <a:pt x="921" y="803"/>
                        </a:lnTo>
                        <a:lnTo>
                          <a:pt x="926" y="813"/>
                        </a:lnTo>
                        <a:lnTo>
                          <a:pt x="933" y="824"/>
                        </a:lnTo>
                        <a:lnTo>
                          <a:pt x="939" y="832"/>
                        </a:lnTo>
                        <a:lnTo>
                          <a:pt x="948" y="841"/>
                        </a:lnTo>
                        <a:lnTo>
                          <a:pt x="957" y="848"/>
                        </a:lnTo>
                        <a:lnTo>
                          <a:pt x="966" y="854"/>
                        </a:lnTo>
                        <a:lnTo>
                          <a:pt x="976" y="858"/>
                        </a:lnTo>
                        <a:lnTo>
                          <a:pt x="987" y="862"/>
                        </a:lnTo>
                        <a:lnTo>
                          <a:pt x="999" y="864"/>
                        </a:lnTo>
                        <a:lnTo>
                          <a:pt x="1013" y="865"/>
                        </a:lnTo>
                        <a:lnTo>
                          <a:pt x="1026" y="864"/>
                        </a:lnTo>
                        <a:lnTo>
                          <a:pt x="1042" y="862"/>
                        </a:lnTo>
                        <a:lnTo>
                          <a:pt x="1042" y="862"/>
                        </a:lnTo>
                        <a:lnTo>
                          <a:pt x="1102" y="849"/>
                        </a:lnTo>
                        <a:lnTo>
                          <a:pt x="1155" y="838"/>
                        </a:lnTo>
                        <a:lnTo>
                          <a:pt x="1201" y="826"/>
                        </a:lnTo>
                        <a:lnTo>
                          <a:pt x="1239" y="814"/>
                        </a:lnTo>
                        <a:lnTo>
                          <a:pt x="1253" y="808"/>
                        </a:lnTo>
                        <a:lnTo>
                          <a:pt x="1267" y="802"/>
                        </a:lnTo>
                        <a:lnTo>
                          <a:pt x="1278" y="797"/>
                        </a:lnTo>
                        <a:lnTo>
                          <a:pt x="1286" y="791"/>
                        </a:lnTo>
                        <a:lnTo>
                          <a:pt x="1292" y="786"/>
                        </a:lnTo>
                        <a:lnTo>
                          <a:pt x="1296" y="779"/>
                        </a:lnTo>
                        <a:lnTo>
                          <a:pt x="1296" y="775"/>
                        </a:lnTo>
                        <a:lnTo>
                          <a:pt x="1295" y="770"/>
                        </a:lnTo>
                        <a:lnTo>
                          <a:pt x="1295" y="770"/>
                        </a:lnTo>
                        <a:lnTo>
                          <a:pt x="1285" y="755"/>
                        </a:lnTo>
                        <a:lnTo>
                          <a:pt x="1273" y="729"/>
                        </a:lnTo>
                        <a:lnTo>
                          <a:pt x="1259" y="695"/>
                        </a:lnTo>
                        <a:lnTo>
                          <a:pt x="1245" y="652"/>
                        </a:lnTo>
                        <a:lnTo>
                          <a:pt x="1237" y="627"/>
                        </a:lnTo>
                        <a:lnTo>
                          <a:pt x="1230" y="602"/>
                        </a:lnTo>
                        <a:lnTo>
                          <a:pt x="1223" y="572"/>
                        </a:lnTo>
                        <a:lnTo>
                          <a:pt x="1216" y="543"/>
                        </a:lnTo>
                        <a:lnTo>
                          <a:pt x="1212" y="511"/>
                        </a:lnTo>
                        <a:lnTo>
                          <a:pt x="1208" y="478"/>
                        </a:lnTo>
                        <a:lnTo>
                          <a:pt x="1204" y="444"/>
                        </a:lnTo>
                        <a:lnTo>
                          <a:pt x="1202" y="408"/>
                        </a:lnTo>
                        <a:lnTo>
                          <a:pt x="1202" y="408"/>
                        </a:lnTo>
                        <a:lnTo>
                          <a:pt x="1201" y="342"/>
                        </a:lnTo>
                        <a:lnTo>
                          <a:pt x="1199" y="292"/>
                        </a:lnTo>
                        <a:lnTo>
                          <a:pt x="1201" y="255"/>
                        </a:lnTo>
                        <a:lnTo>
                          <a:pt x="1202" y="228"/>
                        </a:lnTo>
                        <a:lnTo>
                          <a:pt x="1203" y="218"/>
                        </a:lnTo>
                        <a:lnTo>
                          <a:pt x="1205" y="211"/>
                        </a:lnTo>
                        <a:lnTo>
                          <a:pt x="1208" y="204"/>
                        </a:lnTo>
                        <a:lnTo>
                          <a:pt x="1212" y="200"/>
                        </a:lnTo>
                        <a:lnTo>
                          <a:pt x="1215" y="196"/>
                        </a:lnTo>
                        <a:lnTo>
                          <a:pt x="1219" y="195"/>
                        </a:lnTo>
                        <a:lnTo>
                          <a:pt x="1229" y="191"/>
                        </a:lnTo>
                        <a:lnTo>
                          <a:pt x="1229" y="191"/>
                        </a:lnTo>
                        <a:lnTo>
                          <a:pt x="1235" y="192"/>
                        </a:lnTo>
                        <a:lnTo>
                          <a:pt x="1241" y="195"/>
                        </a:lnTo>
                        <a:lnTo>
                          <a:pt x="1248" y="200"/>
                        </a:lnTo>
                        <a:lnTo>
                          <a:pt x="1254" y="206"/>
                        </a:lnTo>
                        <a:lnTo>
                          <a:pt x="1262" y="216"/>
                        </a:lnTo>
                        <a:lnTo>
                          <a:pt x="1268" y="225"/>
                        </a:lnTo>
                        <a:lnTo>
                          <a:pt x="1274" y="238"/>
                        </a:lnTo>
                        <a:lnTo>
                          <a:pt x="1280" y="251"/>
                        </a:lnTo>
                        <a:lnTo>
                          <a:pt x="1286" y="266"/>
                        </a:lnTo>
                        <a:lnTo>
                          <a:pt x="1292" y="282"/>
                        </a:lnTo>
                        <a:lnTo>
                          <a:pt x="1297" y="299"/>
                        </a:lnTo>
                        <a:lnTo>
                          <a:pt x="1301" y="316"/>
                        </a:lnTo>
                        <a:lnTo>
                          <a:pt x="1305" y="334"/>
                        </a:lnTo>
                        <a:lnTo>
                          <a:pt x="1307" y="354"/>
                        </a:lnTo>
                        <a:lnTo>
                          <a:pt x="1310" y="372"/>
                        </a:lnTo>
                        <a:lnTo>
                          <a:pt x="1311" y="392"/>
                        </a:lnTo>
                        <a:lnTo>
                          <a:pt x="1311" y="392"/>
                        </a:lnTo>
                        <a:lnTo>
                          <a:pt x="1311" y="435"/>
                        </a:lnTo>
                        <a:lnTo>
                          <a:pt x="1313" y="483"/>
                        </a:lnTo>
                        <a:lnTo>
                          <a:pt x="1317" y="532"/>
                        </a:lnTo>
                        <a:lnTo>
                          <a:pt x="1322" y="580"/>
                        </a:lnTo>
                        <a:lnTo>
                          <a:pt x="1326" y="603"/>
                        </a:lnTo>
                        <a:lnTo>
                          <a:pt x="1329" y="625"/>
                        </a:lnTo>
                        <a:lnTo>
                          <a:pt x="1334" y="645"/>
                        </a:lnTo>
                        <a:lnTo>
                          <a:pt x="1339" y="662"/>
                        </a:lnTo>
                        <a:lnTo>
                          <a:pt x="1345" y="678"/>
                        </a:lnTo>
                        <a:lnTo>
                          <a:pt x="1351" y="690"/>
                        </a:lnTo>
                        <a:lnTo>
                          <a:pt x="1359" y="700"/>
                        </a:lnTo>
                        <a:lnTo>
                          <a:pt x="1362" y="703"/>
                        </a:lnTo>
                        <a:lnTo>
                          <a:pt x="1366" y="706"/>
                        </a:lnTo>
                        <a:lnTo>
                          <a:pt x="1366" y="706"/>
                        </a:lnTo>
                        <a:lnTo>
                          <a:pt x="1375" y="710"/>
                        </a:lnTo>
                        <a:lnTo>
                          <a:pt x="1383" y="712"/>
                        </a:lnTo>
                        <a:lnTo>
                          <a:pt x="1392" y="715"/>
                        </a:lnTo>
                        <a:lnTo>
                          <a:pt x="1400" y="716"/>
                        </a:lnTo>
                        <a:lnTo>
                          <a:pt x="1418" y="716"/>
                        </a:lnTo>
                        <a:lnTo>
                          <a:pt x="1436" y="713"/>
                        </a:lnTo>
                        <a:lnTo>
                          <a:pt x="1453" y="708"/>
                        </a:lnTo>
                        <a:lnTo>
                          <a:pt x="1469" y="702"/>
                        </a:lnTo>
                        <a:lnTo>
                          <a:pt x="1485" y="695"/>
                        </a:lnTo>
                        <a:lnTo>
                          <a:pt x="1501" y="686"/>
                        </a:lnTo>
                        <a:lnTo>
                          <a:pt x="1501" y="686"/>
                        </a:lnTo>
                        <a:lnTo>
                          <a:pt x="1523" y="673"/>
                        </a:lnTo>
                        <a:lnTo>
                          <a:pt x="1539" y="663"/>
                        </a:lnTo>
                        <a:lnTo>
                          <a:pt x="1556" y="652"/>
                        </a:lnTo>
                        <a:lnTo>
                          <a:pt x="1576" y="637"/>
                        </a:lnTo>
                        <a:lnTo>
                          <a:pt x="1595" y="621"/>
                        </a:lnTo>
                        <a:lnTo>
                          <a:pt x="1615" y="603"/>
                        </a:lnTo>
                        <a:lnTo>
                          <a:pt x="1633" y="582"/>
                        </a:lnTo>
                        <a:lnTo>
                          <a:pt x="1652" y="559"/>
                        </a:lnTo>
                        <a:lnTo>
                          <a:pt x="1659" y="547"/>
                        </a:lnTo>
                        <a:lnTo>
                          <a:pt x="1666" y="533"/>
                        </a:lnTo>
                        <a:lnTo>
                          <a:pt x="1674" y="520"/>
                        </a:lnTo>
                        <a:lnTo>
                          <a:pt x="1680" y="505"/>
                        </a:lnTo>
                        <a:lnTo>
                          <a:pt x="1685" y="490"/>
                        </a:lnTo>
                        <a:lnTo>
                          <a:pt x="1690" y="474"/>
                        </a:lnTo>
                        <a:lnTo>
                          <a:pt x="1693" y="458"/>
                        </a:lnTo>
                        <a:lnTo>
                          <a:pt x="1696" y="441"/>
                        </a:lnTo>
                        <a:lnTo>
                          <a:pt x="1697" y="424"/>
                        </a:lnTo>
                        <a:lnTo>
                          <a:pt x="1696" y="406"/>
                        </a:lnTo>
                        <a:lnTo>
                          <a:pt x="1695" y="387"/>
                        </a:lnTo>
                        <a:lnTo>
                          <a:pt x="1692" y="368"/>
                        </a:lnTo>
                        <a:lnTo>
                          <a:pt x="1688" y="348"/>
                        </a:lnTo>
                        <a:lnTo>
                          <a:pt x="1682" y="327"/>
                        </a:lnTo>
                        <a:lnTo>
                          <a:pt x="1682" y="327"/>
                        </a:lnTo>
                        <a:lnTo>
                          <a:pt x="1668" y="287"/>
                        </a:lnTo>
                        <a:lnTo>
                          <a:pt x="1653" y="251"/>
                        </a:lnTo>
                        <a:lnTo>
                          <a:pt x="1637" y="220"/>
                        </a:lnTo>
                        <a:lnTo>
                          <a:pt x="1621" y="192"/>
                        </a:lnTo>
                        <a:lnTo>
                          <a:pt x="1605" y="168"/>
                        </a:lnTo>
                        <a:lnTo>
                          <a:pt x="1589" y="147"/>
                        </a:lnTo>
                        <a:lnTo>
                          <a:pt x="1572" y="128"/>
                        </a:lnTo>
                        <a:lnTo>
                          <a:pt x="1556" y="114"/>
                        </a:lnTo>
                        <a:lnTo>
                          <a:pt x="1541" y="102"/>
                        </a:lnTo>
                        <a:lnTo>
                          <a:pt x="1527" y="90"/>
                        </a:lnTo>
                        <a:lnTo>
                          <a:pt x="1513" y="83"/>
                        </a:lnTo>
                        <a:lnTo>
                          <a:pt x="1501" y="77"/>
                        </a:lnTo>
                        <a:lnTo>
                          <a:pt x="1490" y="73"/>
                        </a:lnTo>
                        <a:lnTo>
                          <a:pt x="1480" y="71"/>
                        </a:lnTo>
                        <a:lnTo>
                          <a:pt x="1473" y="70"/>
                        </a:lnTo>
                        <a:lnTo>
                          <a:pt x="1468" y="68"/>
                        </a:lnTo>
                        <a:lnTo>
                          <a:pt x="1468" y="68"/>
                        </a:lnTo>
                        <a:lnTo>
                          <a:pt x="1459" y="70"/>
                        </a:lnTo>
                        <a:lnTo>
                          <a:pt x="1452" y="71"/>
                        </a:lnTo>
                        <a:lnTo>
                          <a:pt x="1445" y="73"/>
                        </a:lnTo>
                        <a:lnTo>
                          <a:pt x="1442" y="76"/>
                        </a:lnTo>
                        <a:lnTo>
                          <a:pt x="1440" y="78"/>
                        </a:lnTo>
                        <a:lnTo>
                          <a:pt x="1436" y="87"/>
                        </a:lnTo>
                        <a:lnTo>
                          <a:pt x="1433" y="99"/>
                        </a:lnTo>
                        <a:lnTo>
                          <a:pt x="1433" y="116"/>
                        </a:lnTo>
                        <a:lnTo>
                          <a:pt x="1435" y="138"/>
                        </a:lnTo>
                        <a:lnTo>
                          <a:pt x="1435" y="138"/>
                        </a:lnTo>
                        <a:lnTo>
                          <a:pt x="1440" y="174"/>
                        </a:lnTo>
                        <a:lnTo>
                          <a:pt x="1446" y="224"/>
                        </a:lnTo>
                        <a:lnTo>
                          <a:pt x="1453" y="282"/>
                        </a:lnTo>
                        <a:lnTo>
                          <a:pt x="1459" y="342"/>
                        </a:lnTo>
                        <a:lnTo>
                          <a:pt x="1462" y="371"/>
                        </a:lnTo>
                        <a:lnTo>
                          <a:pt x="1462" y="397"/>
                        </a:lnTo>
                        <a:lnTo>
                          <a:pt x="1462" y="422"/>
                        </a:lnTo>
                        <a:lnTo>
                          <a:pt x="1459" y="441"/>
                        </a:lnTo>
                        <a:lnTo>
                          <a:pt x="1458" y="450"/>
                        </a:lnTo>
                        <a:lnTo>
                          <a:pt x="1456" y="457"/>
                        </a:lnTo>
                        <a:lnTo>
                          <a:pt x="1453" y="463"/>
                        </a:lnTo>
                        <a:lnTo>
                          <a:pt x="1449" y="467"/>
                        </a:lnTo>
                        <a:lnTo>
                          <a:pt x="1446" y="471"/>
                        </a:lnTo>
                        <a:lnTo>
                          <a:pt x="1441" y="472"/>
                        </a:lnTo>
                        <a:lnTo>
                          <a:pt x="1436" y="472"/>
                        </a:lnTo>
                        <a:lnTo>
                          <a:pt x="1430" y="469"/>
                        </a:lnTo>
                        <a:lnTo>
                          <a:pt x="1430" y="469"/>
                        </a:lnTo>
                        <a:lnTo>
                          <a:pt x="1425" y="466"/>
                        </a:lnTo>
                        <a:lnTo>
                          <a:pt x="1419" y="461"/>
                        </a:lnTo>
                        <a:lnTo>
                          <a:pt x="1414" y="456"/>
                        </a:lnTo>
                        <a:lnTo>
                          <a:pt x="1409" y="448"/>
                        </a:lnTo>
                        <a:lnTo>
                          <a:pt x="1400" y="434"/>
                        </a:lnTo>
                        <a:lnTo>
                          <a:pt x="1392" y="415"/>
                        </a:lnTo>
                        <a:lnTo>
                          <a:pt x="1386" y="395"/>
                        </a:lnTo>
                        <a:lnTo>
                          <a:pt x="1381" y="371"/>
                        </a:lnTo>
                        <a:lnTo>
                          <a:pt x="1376" y="348"/>
                        </a:lnTo>
                        <a:lnTo>
                          <a:pt x="1372" y="323"/>
                        </a:lnTo>
                        <a:lnTo>
                          <a:pt x="1367" y="277"/>
                        </a:lnTo>
                        <a:lnTo>
                          <a:pt x="1364" y="233"/>
                        </a:lnTo>
                        <a:lnTo>
                          <a:pt x="1361" y="180"/>
                        </a:lnTo>
                        <a:lnTo>
                          <a:pt x="1361" y="180"/>
                        </a:lnTo>
                        <a:lnTo>
                          <a:pt x="1359" y="148"/>
                        </a:lnTo>
                        <a:lnTo>
                          <a:pt x="1356" y="128"/>
                        </a:lnTo>
                        <a:lnTo>
                          <a:pt x="1354" y="108"/>
                        </a:lnTo>
                        <a:lnTo>
                          <a:pt x="1350" y="88"/>
                        </a:lnTo>
                        <a:lnTo>
                          <a:pt x="1348" y="79"/>
                        </a:lnTo>
                        <a:lnTo>
                          <a:pt x="1344" y="72"/>
                        </a:lnTo>
                        <a:lnTo>
                          <a:pt x="1340" y="65"/>
                        </a:lnTo>
                        <a:lnTo>
                          <a:pt x="1337" y="60"/>
                        </a:lnTo>
                        <a:lnTo>
                          <a:pt x="1332" y="56"/>
                        </a:lnTo>
                        <a:lnTo>
                          <a:pt x="1326" y="54"/>
                        </a:lnTo>
                        <a:lnTo>
                          <a:pt x="1326" y="54"/>
                        </a:lnTo>
                        <a:lnTo>
                          <a:pt x="1281" y="43"/>
                        </a:lnTo>
                        <a:lnTo>
                          <a:pt x="1214" y="27"/>
                        </a:lnTo>
                        <a:lnTo>
                          <a:pt x="1178" y="18"/>
                        </a:lnTo>
                        <a:lnTo>
                          <a:pt x="1147" y="12"/>
                        </a:lnTo>
                        <a:lnTo>
                          <a:pt x="1120" y="7"/>
                        </a:lnTo>
                        <a:lnTo>
                          <a:pt x="1110" y="7"/>
                        </a:lnTo>
                        <a:lnTo>
                          <a:pt x="1102" y="7"/>
                        </a:lnTo>
                        <a:lnTo>
                          <a:pt x="1102" y="7"/>
                        </a:lnTo>
                        <a:lnTo>
                          <a:pt x="1093" y="10"/>
                        </a:lnTo>
                        <a:lnTo>
                          <a:pt x="1083" y="12"/>
                        </a:lnTo>
                        <a:lnTo>
                          <a:pt x="1075" y="16"/>
                        </a:lnTo>
                        <a:lnTo>
                          <a:pt x="1069" y="22"/>
                        </a:lnTo>
                        <a:lnTo>
                          <a:pt x="1064" y="30"/>
                        </a:lnTo>
                        <a:lnTo>
                          <a:pt x="1062" y="41"/>
                        </a:lnTo>
                        <a:lnTo>
                          <a:pt x="1062" y="56"/>
                        </a:lnTo>
                        <a:lnTo>
                          <a:pt x="1062" y="73"/>
                        </a:lnTo>
                        <a:lnTo>
                          <a:pt x="1062" y="73"/>
                        </a:lnTo>
                        <a:lnTo>
                          <a:pt x="1073" y="158"/>
                        </a:lnTo>
                        <a:lnTo>
                          <a:pt x="1080" y="223"/>
                        </a:lnTo>
                        <a:lnTo>
                          <a:pt x="1085" y="293"/>
                        </a:lnTo>
                        <a:lnTo>
                          <a:pt x="1088" y="327"/>
                        </a:lnTo>
                        <a:lnTo>
                          <a:pt x="1088" y="359"/>
                        </a:lnTo>
                        <a:lnTo>
                          <a:pt x="1086" y="390"/>
                        </a:lnTo>
                        <a:lnTo>
                          <a:pt x="1084" y="417"/>
                        </a:lnTo>
                        <a:lnTo>
                          <a:pt x="1083" y="428"/>
                        </a:lnTo>
                        <a:lnTo>
                          <a:pt x="1080" y="439"/>
                        </a:lnTo>
                        <a:lnTo>
                          <a:pt x="1077" y="447"/>
                        </a:lnTo>
                        <a:lnTo>
                          <a:pt x="1073" y="456"/>
                        </a:lnTo>
                        <a:lnTo>
                          <a:pt x="1069" y="462"/>
                        </a:lnTo>
                        <a:lnTo>
                          <a:pt x="1064" y="466"/>
                        </a:lnTo>
                        <a:lnTo>
                          <a:pt x="1058" y="469"/>
                        </a:lnTo>
                        <a:lnTo>
                          <a:pt x="1052" y="469"/>
                        </a:lnTo>
                        <a:lnTo>
                          <a:pt x="1052" y="469"/>
                        </a:lnTo>
                        <a:lnTo>
                          <a:pt x="1046" y="469"/>
                        </a:lnTo>
                        <a:lnTo>
                          <a:pt x="1040" y="467"/>
                        </a:lnTo>
                        <a:lnTo>
                          <a:pt x="1034" y="464"/>
                        </a:lnTo>
                        <a:lnTo>
                          <a:pt x="1029" y="461"/>
                        </a:lnTo>
                        <a:lnTo>
                          <a:pt x="1024" y="457"/>
                        </a:lnTo>
                        <a:lnTo>
                          <a:pt x="1019" y="451"/>
                        </a:lnTo>
                        <a:lnTo>
                          <a:pt x="1010" y="439"/>
                        </a:lnTo>
                        <a:lnTo>
                          <a:pt x="1003" y="423"/>
                        </a:lnTo>
                        <a:lnTo>
                          <a:pt x="997" y="404"/>
                        </a:lnTo>
                        <a:lnTo>
                          <a:pt x="992" y="385"/>
                        </a:lnTo>
                        <a:lnTo>
                          <a:pt x="987" y="364"/>
                        </a:lnTo>
                        <a:lnTo>
                          <a:pt x="984" y="342"/>
                        </a:lnTo>
                        <a:lnTo>
                          <a:pt x="981" y="319"/>
                        </a:lnTo>
                        <a:lnTo>
                          <a:pt x="976" y="274"/>
                        </a:lnTo>
                        <a:lnTo>
                          <a:pt x="974" y="231"/>
                        </a:lnTo>
                        <a:lnTo>
                          <a:pt x="972" y="196"/>
                        </a:lnTo>
                        <a:lnTo>
                          <a:pt x="972" y="196"/>
                        </a:lnTo>
                        <a:lnTo>
                          <a:pt x="971" y="163"/>
                        </a:lnTo>
                        <a:lnTo>
                          <a:pt x="969" y="131"/>
                        </a:lnTo>
                        <a:lnTo>
                          <a:pt x="965" y="99"/>
                        </a:lnTo>
                        <a:lnTo>
                          <a:pt x="960" y="70"/>
                        </a:lnTo>
                        <a:lnTo>
                          <a:pt x="958" y="56"/>
                        </a:lnTo>
                        <a:lnTo>
                          <a:pt x="954" y="44"/>
                        </a:lnTo>
                        <a:lnTo>
                          <a:pt x="950" y="33"/>
                        </a:lnTo>
                        <a:lnTo>
                          <a:pt x="945" y="24"/>
                        </a:lnTo>
                        <a:lnTo>
                          <a:pt x="941" y="17"/>
                        </a:lnTo>
                        <a:lnTo>
                          <a:pt x="934" y="11"/>
                        </a:lnTo>
                        <a:lnTo>
                          <a:pt x="927" y="7"/>
                        </a:lnTo>
                        <a:lnTo>
                          <a:pt x="920" y="5"/>
                        </a:lnTo>
                        <a:lnTo>
                          <a:pt x="920" y="5"/>
                        </a:lnTo>
                        <a:lnTo>
                          <a:pt x="862" y="2"/>
                        </a:lnTo>
                        <a:lnTo>
                          <a:pt x="819" y="0"/>
                        </a:lnTo>
                        <a:lnTo>
                          <a:pt x="773" y="0"/>
                        </a:lnTo>
                        <a:lnTo>
                          <a:pt x="727" y="0"/>
                        </a:lnTo>
                        <a:lnTo>
                          <a:pt x="684" y="1"/>
                        </a:lnTo>
                        <a:lnTo>
                          <a:pt x="666" y="2"/>
                        </a:lnTo>
                        <a:lnTo>
                          <a:pt x="650" y="5"/>
                        </a:lnTo>
                        <a:lnTo>
                          <a:pt x="638" y="7"/>
                        </a:lnTo>
                        <a:lnTo>
                          <a:pt x="628" y="11"/>
                        </a:lnTo>
                        <a:lnTo>
                          <a:pt x="628" y="11"/>
                        </a:lnTo>
                        <a:lnTo>
                          <a:pt x="614" y="18"/>
                        </a:lnTo>
                        <a:lnTo>
                          <a:pt x="606" y="24"/>
                        </a:lnTo>
                        <a:lnTo>
                          <a:pt x="601" y="29"/>
                        </a:lnTo>
                        <a:lnTo>
                          <a:pt x="599" y="37"/>
                        </a:lnTo>
                        <a:lnTo>
                          <a:pt x="599" y="44"/>
                        </a:lnTo>
                        <a:lnTo>
                          <a:pt x="600" y="55"/>
                        </a:lnTo>
                        <a:lnTo>
                          <a:pt x="601" y="67"/>
                        </a:lnTo>
                        <a:lnTo>
                          <a:pt x="603" y="84"/>
                        </a:lnTo>
                        <a:lnTo>
                          <a:pt x="603" y="84"/>
                        </a:lnTo>
                        <a:lnTo>
                          <a:pt x="612" y="168"/>
                        </a:lnTo>
                        <a:lnTo>
                          <a:pt x="617" y="231"/>
                        </a:lnTo>
                        <a:lnTo>
                          <a:pt x="621" y="301"/>
                        </a:lnTo>
                        <a:lnTo>
                          <a:pt x="622" y="334"/>
                        </a:lnTo>
                        <a:lnTo>
                          <a:pt x="622" y="368"/>
                        </a:lnTo>
                        <a:lnTo>
                          <a:pt x="621" y="397"/>
                        </a:lnTo>
                        <a:lnTo>
                          <a:pt x="618" y="423"/>
                        </a:lnTo>
                        <a:lnTo>
                          <a:pt x="614" y="445"/>
                        </a:lnTo>
                        <a:lnTo>
                          <a:pt x="612" y="453"/>
                        </a:lnTo>
                        <a:lnTo>
                          <a:pt x="610" y="461"/>
                        </a:lnTo>
                        <a:lnTo>
                          <a:pt x="606" y="467"/>
                        </a:lnTo>
                        <a:lnTo>
                          <a:pt x="602" y="471"/>
                        </a:lnTo>
                        <a:lnTo>
                          <a:pt x="599" y="473"/>
                        </a:lnTo>
                        <a:lnTo>
                          <a:pt x="594" y="473"/>
                        </a:lnTo>
                        <a:lnTo>
                          <a:pt x="594" y="473"/>
                        </a:lnTo>
                        <a:lnTo>
                          <a:pt x="587" y="471"/>
                        </a:lnTo>
                        <a:lnTo>
                          <a:pt x="583" y="467"/>
                        </a:lnTo>
                        <a:lnTo>
                          <a:pt x="579" y="462"/>
                        </a:lnTo>
                        <a:lnTo>
                          <a:pt x="574" y="456"/>
                        </a:lnTo>
                        <a:lnTo>
                          <a:pt x="569" y="447"/>
                        </a:lnTo>
                        <a:lnTo>
                          <a:pt x="565" y="439"/>
                        </a:lnTo>
                        <a:lnTo>
                          <a:pt x="558" y="417"/>
                        </a:lnTo>
                        <a:lnTo>
                          <a:pt x="551" y="391"/>
                        </a:lnTo>
                        <a:lnTo>
                          <a:pt x="545" y="363"/>
                        </a:lnTo>
                        <a:lnTo>
                          <a:pt x="540" y="332"/>
                        </a:lnTo>
                        <a:lnTo>
                          <a:pt x="535" y="300"/>
                        </a:lnTo>
                        <a:lnTo>
                          <a:pt x="527" y="235"/>
                        </a:lnTo>
                        <a:lnTo>
                          <a:pt x="521" y="176"/>
                        </a:lnTo>
                        <a:lnTo>
                          <a:pt x="515" y="103"/>
                        </a:lnTo>
                        <a:lnTo>
                          <a:pt x="515" y="103"/>
                        </a:lnTo>
                        <a:lnTo>
                          <a:pt x="513" y="88"/>
                        </a:lnTo>
                        <a:lnTo>
                          <a:pt x="509" y="75"/>
                        </a:lnTo>
                        <a:lnTo>
                          <a:pt x="504" y="62"/>
                        </a:lnTo>
                        <a:lnTo>
                          <a:pt x="497" y="54"/>
                        </a:lnTo>
                        <a:lnTo>
                          <a:pt x="487" y="46"/>
                        </a:lnTo>
                        <a:lnTo>
                          <a:pt x="482" y="43"/>
                        </a:lnTo>
                        <a:lnTo>
                          <a:pt x="477" y="41"/>
                        </a:lnTo>
                        <a:lnTo>
                          <a:pt x="471" y="39"/>
                        </a:lnTo>
                        <a:lnTo>
                          <a:pt x="465" y="39"/>
                        </a:lnTo>
                        <a:lnTo>
                          <a:pt x="451" y="39"/>
                        </a:lnTo>
                        <a:lnTo>
                          <a:pt x="451" y="39"/>
                        </a:lnTo>
                        <a:lnTo>
                          <a:pt x="394" y="46"/>
                        </a:lnTo>
                        <a:lnTo>
                          <a:pt x="350" y="52"/>
                        </a:lnTo>
                        <a:lnTo>
                          <a:pt x="302" y="62"/>
                        </a:lnTo>
                        <a:lnTo>
                          <a:pt x="277" y="68"/>
                        </a:lnTo>
                        <a:lnTo>
                          <a:pt x="255" y="75"/>
                        </a:lnTo>
                        <a:lnTo>
                          <a:pt x="233" y="82"/>
                        </a:lnTo>
                        <a:lnTo>
                          <a:pt x="214" y="90"/>
                        </a:lnTo>
                        <a:lnTo>
                          <a:pt x="198" y="100"/>
                        </a:lnTo>
                        <a:lnTo>
                          <a:pt x="190" y="105"/>
                        </a:lnTo>
                        <a:lnTo>
                          <a:pt x="183" y="111"/>
                        </a:lnTo>
                        <a:lnTo>
                          <a:pt x="178" y="117"/>
                        </a:lnTo>
                        <a:lnTo>
                          <a:pt x="173" y="124"/>
                        </a:lnTo>
                        <a:lnTo>
                          <a:pt x="171" y="130"/>
                        </a:lnTo>
                        <a:lnTo>
                          <a:pt x="168" y="136"/>
                        </a:lnTo>
                        <a:lnTo>
                          <a:pt x="168" y="136"/>
                        </a:lnTo>
                        <a:lnTo>
                          <a:pt x="166" y="152"/>
                        </a:lnTo>
                        <a:lnTo>
                          <a:pt x="165" y="169"/>
                        </a:lnTo>
                        <a:lnTo>
                          <a:pt x="165" y="189"/>
                        </a:lnTo>
                        <a:lnTo>
                          <a:pt x="165" y="209"/>
                        </a:lnTo>
                        <a:lnTo>
                          <a:pt x="167" y="255"/>
                        </a:lnTo>
                        <a:lnTo>
                          <a:pt x="169" y="300"/>
                        </a:lnTo>
                        <a:lnTo>
                          <a:pt x="172" y="342"/>
                        </a:lnTo>
                        <a:lnTo>
                          <a:pt x="172" y="360"/>
                        </a:lnTo>
                        <a:lnTo>
                          <a:pt x="171" y="376"/>
                        </a:lnTo>
                        <a:lnTo>
                          <a:pt x="169" y="390"/>
                        </a:lnTo>
                        <a:lnTo>
                          <a:pt x="166" y="401"/>
                        </a:lnTo>
                        <a:lnTo>
                          <a:pt x="163" y="404"/>
                        </a:lnTo>
                        <a:lnTo>
                          <a:pt x="161" y="407"/>
                        </a:lnTo>
                        <a:lnTo>
                          <a:pt x="158" y="409"/>
                        </a:lnTo>
                        <a:lnTo>
                          <a:pt x="155" y="409"/>
                        </a:lnTo>
                        <a:lnTo>
                          <a:pt x="155" y="409"/>
                        </a:lnTo>
                        <a:lnTo>
                          <a:pt x="147" y="409"/>
                        </a:lnTo>
                        <a:lnTo>
                          <a:pt x="140" y="407"/>
                        </a:lnTo>
                        <a:lnTo>
                          <a:pt x="134" y="403"/>
                        </a:lnTo>
                        <a:lnTo>
                          <a:pt x="129" y="398"/>
                        </a:lnTo>
                        <a:lnTo>
                          <a:pt x="123" y="392"/>
                        </a:lnTo>
                        <a:lnTo>
                          <a:pt x="118" y="385"/>
                        </a:lnTo>
                        <a:lnTo>
                          <a:pt x="114" y="377"/>
                        </a:lnTo>
                        <a:lnTo>
                          <a:pt x="111" y="369"/>
                        </a:lnTo>
                        <a:lnTo>
                          <a:pt x="103" y="348"/>
                        </a:lnTo>
                        <a:lnTo>
                          <a:pt x="97" y="326"/>
                        </a:lnTo>
                        <a:lnTo>
                          <a:pt x="93" y="304"/>
                        </a:lnTo>
                        <a:lnTo>
                          <a:pt x="88" y="281"/>
                        </a:lnTo>
                        <a:lnTo>
                          <a:pt x="82" y="238"/>
                        </a:lnTo>
                        <a:lnTo>
                          <a:pt x="80" y="220"/>
                        </a:lnTo>
                        <a:lnTo>
                          <a:pt x="76" y="206"/>
                        </a:lnTo>
                        <a:lnTo>
                          <a:pt x="73" y="197"/>
                        </a:lnTo>
                        <a:lnTo>
                          <a:pt x="71" y="193"/>
                        </a:lnTo>
                        <a:lnTo>
                          <a:pt x="69" y="192"/>
                        </a:lnTo>
                        <a:lnTo>
                          <a:pt x="66" y="193"/>
                        </a:lnTo>
                        <a:lnTo>
                          <a:pt x="64" y="195"/>
                        </a:lnTo>
                        <a:lnTo>
                          <a:pt x="60" y="200"/>
                        </a:lnTo>
                        <a:lnTo>
                          <a:pt x="58" y="204"/>
                        </a:lnTo>
                        <a:lnTo>
                          <a:pt x="58" y="204"/>
                        </a:lnTo>
                        <a:close/>
                      </a:path>
                    </a:pathLst>
                  </a:cu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grpSp>
            <p:sp>
              <p:nvSpPr>
                <p:cNvPr id="667" name="Freeform 10">
                  <a:extLst>
                    <a:ext uri="{FF2B5EF4-FFF2-40B4-BE49-F238E27FC236}">
                      <a16:creationId xmlns:a16="http://schemas.microsoft.com/office/drawing/2014/main" id="{49060B68-1989-49A6-B295-8F94FAEF6467}"/>
                    </a:ext>
                  </a:extLst>
                </p:cNvPr>
                <p:cNvSpPr>
                  <a:spLocks/>
                </p:cNvSpPr>
                <p:nvPr/>
              </p:nvSpPr>
              <p:spPr bwMode="auto">
                <a:xfrm>
                  <a:off x="4294677" y="6072749"/>
                  <a:ext cx="332058" cy="219315"/>
                </a:xfrm>
                <a:custGeom>
                  <a:avLst/>
                  <a:gdLst>
                    <a:gd name="T0" fmla="*/ 1923 w 1930"/>
                    <a:gd name="T1" fmla="*/ 484 h 1083"/>
                    <a:gd name="T2" fmla="*/ 1898 w 1930"/>
                    <a:gd name="T3" fmla="*/ 403 h 1083"/>
                    <a:gd name="T4" fmla="*/ 1852 w 1930"/>
                    <a:gd name="T5" fmla="*/ 327 h 1083"/>
                    <a:gd name="T6" fmla="*/ 1787 w 1930"/>
                    <a:gd name="T7" fmla="*/ 257 h 1083"/>
                    <a:gd name="T8" fmla="*/ 1706 w 1930"/>
                    <a:gd name="T9" fmla="*/ 193 h 1083"/>
                    <a:gd name="T10" fmla="*/ 1610 w 1930"/>
                    <a:gd name="T11" fmla="*/ 137 h 1083"/>
                    <a:gd name="T12" fmla="*/ 1500 w 1930"/>
                    <a:gd name="T13" fmla="*/ 89 h 1083"/>
                    <a:gd name="T14" fmla="*/ 1379 w 1930"/>
                    <a:gd name="T15" fmla="*/ 51 h 1083"/>
                    <a:gd name="T16" fmla="*/ 1248 w 1930"/>
                    <a:gd name="T17" fmla="*/ 23 h 1083"/>
                    <a:gd name="T18" fmla="*/ 1109 w 1930"/>
                    <a:gd name="T19" fmla="*/ 5 h 1083"/>
                    <a:gd name="T20" fmla="*/ 963 w 1930"/>
                    <a:gd name="T21" fmla="*/ 0 h 1083"/>
                    <a:gd name="T22" fmla="*/ 864 w 1930"/>
                    <a:gd name="T23" fmla="*/ 2 h 1083"/>
                    <a:gd name="T24" fmla="*/ 721 w 1930"/>
                    <a:gd name="T25" fmla="*/ 17 h 1083"/>
                    <a:gd name="T26" fmla="*/ 586 w 1930"/>
                    <a:gd name="T27" fmla="*/ 44 h 1083"/>
                    <a:gd name="T28" fmla="*/ 461 w 1930"/>
                    <a:gd name="T29" fmla="*/ 81 h 1083"/>
                    <a:gd name="T30" fmla="*/ 348 w 1930"/>
                    <a:gd name="T31" fmla="*/ 126 h 1083"/>
                    <a:gd name="T32" fmla="*/ 247 w 1930"/>
                    <a:gd name="T33" fmla="*/ 180 h 1083"/>
                    <a:gd name="T34" fmla="*/ 162 w 1930"/>
                    <a:gd name="T35" fmla="*/ 242 h 1083"/>
                    <a:gd name="T36" fmla="*/ 93 w 1930"/>
                    <a:gd name="T37" fmla="*/ 310 h 1083"/>
                    <a:gd name="T38" fmla="*/ 41 w 1930"/>
                    <a:gd name="T39" fmla="*/ 383 h 1083"/>
                    <a:gd name="T40" fmla="*/ 10 w 1930"/>
                    <a:gd name="T41" fmla="*/ 462 h 1083"/>
                    <a:gd name="T42" fmla="*/ 0 w 1930"/>
                    <a:gd name="T43" fmla="*/ 544 h 1083"/>
                    <a:gd name="T44" fmla="*/ 5 w 1930"/>
                    <a:gd name="T45" fmla="*/ 599 h 1083"/>
                    <a:gd name="T46" fmla="*/ 30 w 1930"/>
                    <a:gd name="T47" fmla="*/ 680 h 1083"/>
                    <a:gd name="T48" fmla="*/ 77 w 1930"/>
                    <a:gd name="T49" fmla="*/ 756 h 1083"/>
                    <a:gd name="T50" fmla="*/ 141 w 1930"/>
                    <a:gd name="T51" fmla="*/ 826 h 1083"/>
                    <a:gd name="T52" fmla="*/ 222 w 1930"/>
                    <a:gd name="T53" fmla="*/ 890 h 1083"/>
                    <a:gd name="T54" fmla="*/ 319 w 1930"/>
                    <a:gd name="T55" fmla="*/ 946 h 1083"/>
                    <a:gd name="T56" fmla="*/ 428 w 1930"/>
                    <a:gd name="T57" fmla="*/ 994 h 1083"/>
                    <a:gd name="T58" fmla="*/ 549 w 1930"/>
                    <a:gd name="T59" fmla="*/ 1032 h 1083"/>
                    <a:gd name="T60" fmla="*/ 680 w 1930"/>
                    <a:gd name="T61" fmla="*/ 1060 h 1083"/>
                    <a:gd name="T62" fmla="*/ 820 w 1930"/>
                    <a:gd name="T63" fmla="*/ 1078 h 1083"/>
                    <a:gd name="T64" fmla="*/ 965 w 1930"/>
                    <a:gd name="T65" fmla="*/ 1083 h 1083"/>
                    <a:gd name="T66" fmla="*/ 1064 w 1930"/>
                    <a:gd name="T67" fmla="*/ 1081 h 1083"/>
                    <a:gd name="T68" fmla="*/ 1207 w 1930"/>
                    <a:gd name="T69" fmla="*/ 1066 h 1083"/>
                    <a:gd name="T70" fmla="*/ 1342 w 1930"/>
                    <a:gd name="T71" fmla="*/ 1039 h 1083"/>
                    <a:gd name="T72" fmla="*/ 1467 w 1930"/>
                    <a:gd name="T73" fmla="*/ 1004 h 1083"/>
                    <a:gd name="T74" fmla="*/ 1581 w 1930"/>
                    <a:gd name="T75" fmla="*/ 957 h 1083"/>
                    <a:gd name="T76" fmla="*/ 1681 w 1930"/>
                    <a:gd name="T77" fmla="*/ 903 h 1083"/>
                    <a:gd name="T78" fmla="*/ 1767 w 1930"/>
                    <a:gd name="T79" fmla="*/ 842 h 1083"/>
                    <a:gd name="T80" fmla="*/ 1835 w 1930"/>
                    <a:gd name="T81" fmla="*/ 773 h 1083"/>
                    <a:gd name="T82" fmla="*/ 1887 w 1930"/>
                    <a:gd name="T83" fmla="*/ 700 h 1083"/>
                    <a:gd name="T84" fmla="*/ 1919 w 1930"/>
                    <a:gd name="T85" fmla="*/ 621 h 1083"/>
                    <a:gd name="T86" fmla="*/ 1930 w 1930"/>
                    <a:gd name="T87" fmla="*/ 539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083">
                      <a:moveTo>
                        <a:pt x="1928" y="511"/>
                      </a:moveTo>
                      <a:lnTo>
                        <a:pt x="1928" y="511"/>
                      </a:lnTo>
                      <a:lnTo>
                        <a:pt x="1923" y="484"/>
                      </a:lnTo>
                      <a:lnTo>
                        <a:pt x="1917" y="456"/>
                      </a:lnTo>
                      <a:lnTo>
                        <a:pt x="1909" y="429"/>
                      </a:lnTo>
                      <a:lnTo>
                        <a:pt x="1898" y="403"/>
                      </a:lnTo>
                      <a:lnTo>
                        <a:pt x="1885" y="377"/>
                      </a:lnTo>
                      <a:lnTo>
                        <a:pt x="1870" y="351"/>
                      </a:lnTo>
                      <a:lnTo>
                        <a:pt x="1852" y="327"/>
                      </a:lnTo>
                      <a:lnTo>
                        <a:pt x="1833" y="304"/>
                      </a:lnTo>
                      <a:lnTo>
                        <a:pt x="1811" y="279"/>
                      </a:lnTo>
                      <a:lnTo>
                        <a:pt x="1787" y="257"/>
                      </a:lnTo>
                      <a:lnTo>
                        <a:pt x="1762" y="235"/>
                      </a:lnTo>
                      <a:lnTo>
                        <a:pt x="1735" y="214"/>
                      </a:lnTo>
                      <a:lnTo>
                        <a:pt x="1706" y="193"/>
                      </a:lnTo>
                      <a:lnTo>
                        <a:pt x="1676" y="174"/>
                      </a:lnTo>
                      <a:lnTo>
                        <a:pt x="1644" y="155"/>
                      </a:lnTo>
                      <a:lnTo>
                        <a:pt x="1610" y="137"/>
                      </a:lnTo>
                      <a:lnTo>
                        <a:pt x="1575" y="121"/>
                      </a:lnTo>
                      <a:lnTo>
                        <a:pt x="1538" y="105"/>
                      </a:lnTo>
                      <a:lnTo>
                        <a:pt x="1500" y="89"/>
                      </a:lnTo>
                      <a:lnTo>
                        <a:pt x="1461" y="76"/>
                      </a:lnTo>
                      <a:lnTo>
                        <a:pt x="1421" y="63"/>
                      </a:lnTo>
                      <a:lnTo>
                        <a:pt x="1379" y="51"/>
                      </a:lnTo>
                      <a:lnTo>
                        <a:pt x="1336" y="40"/>
                      </a:lnTo>
                      <a:lnTo>
                        <a:pt x="1293" y="31"/>
                      </a:lnTo>
                      <a:lnTo>
                        <a:pt x="1248" y="23"/>
                      </a:lnTo>
                      <a:lnTo>
                        <a:pt x="1203" y="16"/>
                      </a:lnTo>
                      <a:lnTo>
                        <a:pt x="1156" y="9"/>
                      </a:lnTo>
                      <a:lnTo>
                        <a:pt x="1109" y="5"/>
                      </a:lnTo>
                      <a:lnTo>
                        <a:pt x="1062" y="2"/>
                      </a:lnTo>
                      <a:lnTo>
                        <a:pt x="1013" y="0"/>
                      </a:lnTo>
                      <a:lnTo>
                        <a:pt x="963" y="0"/>
                      </a:lnTo>
                      <a:lnTo>
                        <a:pt x="914" y="0"/>
                      </a:lnTo>
                      <a:lnTo>
                        <a:pt x="914" y="0"/>
                      </a:lnTo>
                      <a:lnTo>
                        <a:pt x="864" y="2"/>
                      </a:lnTo>
                      <a:lnTo>
                        <a:pt x="816" y="6"/>
                      </a:lnTo>
                      <a:lnTo>
                        <a:pt x="767" y="11"/>
                      </a:lnTo>
                      <a:lnTo>
                        <a:pt x="721" y="17"/>
                      </a:lnTo>
                      <a:lnTo>
                        <a:pt x="675" y="25"/>
                      </a:lnTo>
                      <a:lnTo>
                        <a:pt x="630" y="34"/>
                      </a:lnTo>
                      <a:lnTo>
                        <a:pt x="586" y="44"/>
                      </a:lnTo>
                      <a:lnTo>
                        <a:pt x="543" y="55"/>
                      </a:lnTo>
                      <a:lnTo>
                        <a:pt x="501" y="67"/>
                      </a:lnTo>
                      <a:lnTo>
                        <a:pt x="461" y="81"/>
                      </a:lnTo>
                      <a:lnTo>
                        <a:pt x="422" y="94"/>
                      </a:lnTo>
                      <a:lnTo>
                        <a:pt x="384" y="110"/>
                      </a:lnTo>
                      <a:lnTo>
                        <a:pt x="348" y="126"/>
                      </a:lnTo>
                      <a:lnTo>
                        <a:pt x="312" y="143"/>
                      </a:lnTo>
                      <a:lnTo>
                        <a:pt x="279" y="161"/>
                      </a:lnTo>
                      <a:lnTo>
                        <a:pt x="247" y="180"/>
                      </a:lnTo>
                      <a:lnTo>
                        <a:pt x="217" y="199"/>
                      </a:lnTo>
                      <a:lnTo>
                        <a:pt x="189" y="220"/>
                      </a:lnTo>
                      <a:lnTo>
                        <a:pt x="162" y="242"/>
                      </a:lnTo>
                      <a:lnTo>
                        <a:pt x="137" y="264"/>
                      </a:lnTo>
                      <a:lnTo>
                        <a:pt x="114" y="286"/>
                      </a:lnTo>
                      <a:lnTo>
                        <a:pt x="93" y="310"/>
                      </a:lnTo>
                      <a:lnTo>
                        <a:pt x="73" y="334"/>
                      </a:lnTo>
                      <a:lnTo>
                        <a:pt x="57" y="359"/>
                      </a:lnTo>
                      <a:lnTo>
                        <a:pt x="41" y="383"/>
                      </a:lnTo>
                      <a:lnTo>
                        <a:pt x="29" y="409"/>
                      </a:lnTo>
                      <a:lnTo>
                        <a:pt x="18" y="435"/>
                      </a:lnTo>
                      <a:lnTo>
                        <a:pt x="10" y="462"/>
                      </a:lnTo>
                      <a:lnTo>
                        <a:pt x="5" y="489"/>
                      </a:lnTo>
                      <a:lnTo>
                        <a:pt x="1" y="516"/>
                      </a:lnTo>
                      <a:lnTo>
                        <a:pt x="0" y="544"/>
                      </a:lnTo>
                      <a:lnTo>
                        <a:pt x="1" y="572"/>
                      </a:lnTo>
                      <a:lnTo>
                        <a:pt x="1" y="572"/>
                      </a:lnTo>
                      <a:lnTo>
                        <a:pt x="5" y="599"/>
                      </a:lnTo>
                      <a:lnTo>
                        <a:pt x="11" y="627"/>
                      </a:lnTo>
                      <a:lnTo>
                        <a:pt x="19" y="654"/>
                      </a:lnTo>
                      <a:lnTo>
                        <a:pt x="30" y="680"/>
                      </a:lnTo>
                      <a:lnTo>
                        <a:pt x="44" y="706"/>
                      </a:lnTo>
                      <a:lnTo>
                        <a:pt x="59" y="732"/>
                      </a:lnTo>
                      <a:lnTo>
                        <a:pt x="77" y="756"/>
                      </a:lnTo>
                      <a:lnTo>
                        <a:pt x="97" y="781"/>
                      </a:lnTo>
                      <a:lnTo>
                        <a:pt x="117" y="804"/>
                      </a:lnTo>
                      <a:lnTo>
                        <a:pt x="141" y="826"/>
                      </a:lnTo>
                      <a:lnTo>
                        <a:pt x="167" y="848"/>
                      </a:lnTo>
                      <a:lnTo>
                        <a:pt x="194" y="869"/>
                      </a:lnTo>
                      <a:lnTo>
                        <a:pt x="222" y="890"/>
                      </a:lnTo>
                      <a:lnTo>
                        <a:pt x="252" y="909"/>
                      </a:lnTo>
                      <a:lnTo>
                        <a:pt x="285" y="928"/>
                      </a:lnTo>
                      <a:lnTo>
                        <a:pt x="319" y="946"/>
                      </a:lnTo>
                      <a:lnTo>
                        <a:pt x="354" y="963"/>
                      </a:lnTo>
                      <a:lnTo>
                        <a:pt x="390" y="979"/>
                      </a:lnTo>
                      <a:lnTo>
                        <a:pt x="428" y="994"/>
                      </a:lnTo>
                      <a:lnTo>
                        <a:pt x="467" y="1007"/>
                      </a:lnTo>
                      <a:lnTo>
                        <a:pt x="507" y="1021"/>
                      </a:lnTo>
                      <a:lnTo>
                        <a:pt x="549" y="1032"/>
                      </a:lnTo>
                      <a:lnTo>
                        <a:pt x="592" y="1043"/>
                      </a:lnTo>
                      <a:lnTo>
                        <a:pt x="636" y="1053"/>
                      </a:lnTo>
                      <a:lnTo>
                        <a:pt x="680" y="1060"/>
                      </a:lnTo>
                      <a:lnTo>
                        <a:pt x="726" y="1067"/>
                      </a:lnTo>
                      <a:lnTo>
                        <a:pt x="772" y="1074"/>
                      </a:lnTo>
                      <a:lnTo>
                        <a:pt x="820" y="1078"/>
                      </a:lnTo>
                      <a:lnTo>
                        <a:pt x="868" y="1081"/>
                      </a:lnTo>
                      <a:lnTo>
                        <a:pt x="916" y="1083"/>
                      </a:lnTo>
                      <a:lnTo>
                        <a:pt x="965" y="1083"/>
                      </a:lnTo>
                      <a:lnTo>
                        <a:pt x="1015" y="1083"/>
                      </a:lnTo>
                      <a:lnTo>
                        <a:pt x="1015" y="1083"/>
                      </a:lnTo>
                      <a:lnTo>
                        <a:pt x="1064" y="1081"/>
                      </a:lnTo>
                      <a:lnTo>
                        <a:pt x="1113" y="1077"/>
                      </a:lnTo>
                      <a:lnTo>
                        <a:pt x="1161" y="1072"/>
                      </a:lnTo>
                      <a:lnTo>
                        <a:pt x="1207" y="1066"/>
                      </a:lnTo>
                      <a:lnTo>
                        <a:pt x="1254" y="1059"/>
                      </a:lnTo>
                      <a:lnTo>
                        <a:pt x="1298" y="1049"/>
                      </a:lnTo>
                      <a:lnTo>
                        <a:pt x="1342" y="1039"/>
                      </a:lnTo>
                      <a:lnTo>
                        <a:pt x="1385" y="1028"/>
                      </a:lnTo>
                      <a:lnTo>
                        <a:pt x="1427" y="1016"/>
                      </a:lnTo>
                      <a:lnTo>
                        <a:pt x="1467" y="1004"/>
                      </a:lnTo>
                      <a:lnTo>
                        <a:pt x="1507" y="989"/>
                      </a:lnTo>
                      <a:lnTo>
                        <a:pt x="1545" y="973"/>
                      </a:lnTo>
                      <a:lnTo>
                        <a:pt x="1581" y="957"/>
                      </a:lnTo>
                      <a:lnTo>
                        <a:pt x="1616" y="940"/>
                      </a:lnTo>
                      <a:lnTo>
                        <a:pt x="1649" y="922"/>
                      </a:lnTo>
                      <a:lnTo>
                        <a:pt x="1681" y="903"/>
                      </a:lnTo>
                      <a:lnTo>
                        <a:pt x="1711" y="884"/>
                      </a:lnTo>
                      <a:lnTo>
                        <a:pt x="1740" y="863"/>
                      </a:lnTo>
                      <a:lnTo>
                        <a:pt x="1767" y="842"/>
                      </a:lnTo>
                      <a:lnTo>
                        <a:pt x="1791" y="820"/>
                      </a:lnTo>
                      <a:lnTo>
                        <a:pt x="1814" y="797"/>
                      </a:lnTo>
                      <a:lnTo>
                        <a:pt x="1835" y="773"/>
                      </a:lnTo>
                      <a:lnTo>
                        <a:pt x="1855" y="749"/>
                      </a:lnTo>
                      <a:lnTo>
                        <a:pt x="1872" y="724"/>
                      </a:lnTo>
                      <a:lnTo>
                        <a:pt x="1887" y="700"/>
                      </a:lnTo>
                      <a:lnTo>
                        <a:pt x="1899" y="674"/>
                      </a:lnTo>
                      <a:lnTo>
                        <a:pt x="1910" y="648"/>
                      </a:lnTo>
                      <a:lnTo>
                        <a:pt x="1919" y="621"/>
                      </a:lnTo>
                      <a:lnTo>
                        <a:pt x="1925" y="594"/>
                      </a:lnTo>
                      <a:lnTo>
                        <a:pt x="1928" y="567"/>
                      </a:lnTo>
                      <a:lnTo>
                        <a:pt x="1930" y="539"/>
                      </a:lnTo>
                      <a:lnTo>
                        <a:pt x="1928" y="511"/>
                      </a:lnTo>
                      <a:lnTo>
                        <a:pt x="1928" y="511"/>
                      </a:lnTo>
                      <a:close/>
                    </a:path>
                  </a:pathLst>
                </a:custGeom>
                <a:solidFill>
                  <a:schemeClr val="accent2"/>
                </a:solidFill>
                <a:ln w="7938">
                  <a:noFill/>
                  <a:prstDash val="solid"/>
                  <a:round/>
                  <a:headEnd/>
                  <a:tailEnd/>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68" name="Freeform 11">
                  <a:extLst>
                    <a:ext uri="{FF2B5EF4-FFF2-40B4-BE49-F238E27FC236}">
                      <a16:creationId xmlns:a16="http://schemas.microsoft.com/office/drawing/2014/main" id="{2A0053BC-113B-4E97-A1A8-1105707B8DA1}"/>
                    </a:ext>
                  </a:extLst>
                </p:cNvPr>
                <p:cNvSpPr>
                  <a:spLocks/>
                </p:cNvSpPr>
                <p:nvPr/>
              </p:nvSpPr>
              <p:spPr bwMode="auto">
                <a:xfrm>
                  <a:off x="4317732" y="6097028"/>
                  <a:ext cx="291798" cy="176828"/>
                </a:xfrm>
                <a:custGeom>
                  <a:avLst/>
                  <a:gdLst>
                    <a:gd name="T0" fmla="*/ 1 w 1697"/>
                    <a:gd name="T1" fmla="*/ 375 h 874"/>
                    <a:gd name="T2" fmla="*/ 38 w 1697"/>
                    <a:gd name="T3" fmla="*/ 545 h 874"/>
                    <a:gd name="T4" fmla="*/ 152 w 1697"/>
                    <a:gd name="T5" fmla="*/ 684 h 874"/>
                    <a:gd name="T6" fmla="*/ 304 w 1697"/>
                    <a:gd name="T7" fmla="*/ 729 h 874"/>
                    <a:gd name="T8" fmla="*/ 341 w 1697"/>
                    <a:gd name="T9" fmla="*/ 630 h 874"/>
                    <a:gd name="T10" fmla="*/ 305 w 1697"/>
                    <a:gd name="T11" fmla="*/ 285 h 874"/>
                    <a:gd name="T12" fmla="*/ 342 w 1697"/>
                    <a:gd name="T13" fmla="*/ 208 h 874"/>
                    <a:gd name="T14" fmla="*/ 389 w 1697"/>
                    <a:gd name="T15" fmla="*/ 262 h 874"/>
                    <a:gd name="T16" fmla="*/ 439 w 1697"/>
                    <a:gd name="T17" fmla="*/ 625 h 874"/>
                    <a:gd name="T18" fmla="*/ 498 w 1697"/>
                    <a:gd name="T19" fmla="*/ 808 h 874"/>
                    <a:gd name="T20" fmla="*/ 602 w 1697"/>
                    <a:gd name="T21" fmla="*/ 870 h 874"/>
                    <a:gd name="T22" fmla="*/ 801 w 1697"/>
                    <a:gd name="T23" fmla="*/ 860 h 874"/>
                    <a:gd name="T24" fmla="*/ 782 w 1697"/>
                    <a:gd name="T25" fmla="*/ 379 h 874"/>
                    <a:gd name="T26" fmla="*/ 770 w 1697"/>
                    <a:gd name="T27" fmla="*/ 207 h 874"/>
                    <a:gd name="T28" fmla="*/ 806 w 1697"/>
                    <a:gd name="T29" fmla="*/ 184 h 874"/>
                    <a:gd name="T30" fmla="*/ 862 w 1697"/>
                    <a:gd name="T31" fmla="*/ 321 h 874"/>
                    <a:gd name="T32" fmla="*/ 894 w 1697"/>
                    <a:gd name="T33" fmla="*/ 692 h 874"/>
                    <a:gd name="T34" fmla="*/ 948 w 1697"/>
                    <a:gd name="T35" fmla="*/ 841 h 874"/>
                    <a:gd name="T36" fmla="*/ 1042 w 1697"/>
                    <a:gd name="T37" fmla="*/ 862 h 874"/>
                    <a:gd name="T38" fmla="*/ 1292 w 1697"/>
                    <a:gd name="T39" fmla="*/ 786 h 874"/>
                    <a:gd name="T40" fmla="*/ 1237 w 1697"/>
                    <a:gd name="T41" fmla="*/ 627 h 874"/>
                    <a:gd name="T42" fmla="*/ 1201 w 1697"/>
                    <a:gd name="T43" fmla="*/ 342 h 874"/>
                    <a:gd name="T44" fmla="*/ 1219 w 1697"/>
                    <a:gd name="T45" fmla="*/ 195 h 874"/>
                    <a:gd name="T46" fmla="*/ 1274 w 1697"/>
                    <a:gd name="T47" fmla="*/ 238 h 874"/>
                    <a:gd name="T48" fmla="*/ 1311 w 1697"/>
                    <a:gd name="T49" fmla="*/ 392 h 874"/>
                    <a:gd name="T50" fmla="*/ 1339 w 1697"/>
                    <a:gd name="T51" fmla="*/ 662 h 874"/>
                    <a:gd name="T52" fmla="*/ 1392 w 1697"/>
                    <a:gd name="T53" fmla="*/ 715 h 874"/>
                    <a:gd name="T54" fmla="*/ 1523 w 1697"/>
                    <a:gd name="T55" fmla="*/ 673 h 874"/>
                    <a:gd name="T56" fmla="*/ 1666 w 1697"/>
                    <a:gd name="T57" fmla="*/ 533 h 874"/>
                    <a:gd name="T58" fmla="*/ 1695 w 1697"/>
                    <a:gd name="T59" fmla="*/ 387 h 874"/>
                    <a:gd name="T60" fmla="*/ 1605 w 1697"/>
                    <a:gd name="T61" fmla="*/ 168 h 874"/>
                    <a:gd name="T62" fmla="*/ 1480 w 1697"/>
                    <a:gd name="T63" fmla="*/ 71 h 874"/>
                    <a:gd name="T64" fmla="*/ 1436 w 1697"/>
                    <a:gd name="T65" fmla="*/ 87 h 874"/>
                    <a:gd name="T66" fmla="*/ 1462 w 1697"/>
                    <a:gd name="T67" fmla="*/ 371 h 874"/>
                    <a:gd name="T68" fmla="*/ 1441 w 1697"/>
                    <a:gd name="T69" fmla="*/ 472 h 874"/>
                    <a:gd name="T70" fmla="*/ 1392 w 1697"/>
                    <a:gd name="T71" fmla="*/ 415 h 874"/>
                    <a:gd name="T72" fmla="*/ 1359 w 1697"/>
                    <a:gd name="T73" fmla="*/ 148 h 874"/>
                    <a:gd name="T74" fmla="*/ 1326 w 1697"/>
                    <a:gd name="T75" fmla="*/ 54 h 874"/>
                    <a:gd name="T76" fmla="*/ 1102 w 1697"/>
                    <a:gd name="T77" fmla="*/ 7 h 874"/>
                    <a:gd name="T78" fmla="*/ 1062 w 1697"/>
                    <a:gd name="T79" fmla="*/ 73 h 874"/>
                    <a:gd name="T80" fmla="*/ 1080 w 1697"/>
                    <a:gd name="T81" fmla="*/ 439 h 874"/>
                    <a:gd name="T82" fmla="*/ 1040 w 1697"/>
                    <a:gd name="T83" fmla="*/ 467 h 874"/>
                    <a:gd name="T84" fmla="*/ 987 w 1697"/>
                    <a:gd name="T85" fmla="*/ 364 h 874"/>
                    <a:gd name="T86" fmla="*/ 965 w 1697"/>
                    <a:gd name="T87" fmla="*/ 99 h 874"/>
                    <a:gd name="T88" fmla="*/ 920 w 1697"/>
                    <a:gd name="T89" fmla="*/ 5 h 874"/>
                    <a:gd name="T90" fmla="*/ 638 w 1697"/>
                    <a:gd name="T91" fmla="*/ 7 h 874"/>
                    <a:gd name="T92" fmla="*/ 601 w 1697"/>
                    <a:gd name="T93" fmla="*/ 67 h 874"/>
                    <a:gd name="T94" fmla="*/ 618 w 1697"/>
                    <a:gd name="T95" fmla="*/ 423 h 874"/>
                    <a:gd name="T96" fmla="*/ 587 w 1697"/>
                    <a:gd name="T97" fmla="*/ 471 h 874"/>
                    <a:gd name="T98" fmla="*/ 540 w 1697"/>
                    <a:gd name="T99" fmla="*/ 332 h 874"/>
                    <a:gd name="T100" fmla="*/ 497 w 1697"/>
                    <a:gd name="T101" fmla="*/ 54 h 874"/>
                    <a:gd name="T102" fmla="*/ 350 w 1697"/>
                    <a:gd name="T103" fmla="*/ 52 h 874"/>
                    <a:gd name="T104" fmla="*/ 178 w 1697"/>
                    <a:gd name="T105" fmla="*/ 117 h 874"/>
                    <a:gd name="T106" fmla="*/ 167 w 1697"/>
                    <a:gd name="T107" fmla="*/ 255 h 874"/>
                    <a:gd name="T108" fmla="*/ 158 w 1697"/>
                    <a:gd name="T109" fmla="*/ 409 h 874"/>
                    <a:gd name="T110" fmla="*/ 114 w 1697"/>
                    <a:gd name="T111" fmla="*/ 377 h 874"/>
                    <a:gd name="T112" fmla="*/ 73 w 1697"/>
                    <a:gd name="T113" fmla="*/ 197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97" h="874">
                      <a:moveTo>
                        <a:pt x="58" y="204"/>
                      </a:moveTo>
                      <a:lnTo>
                        <a:pt x="58" y="204"/>
                      </a:lnTo>
                      <a:lnTo>
                        <a:pt x="42" y="236"/>
                      </a:lnTo>
                      <a:lnTo>
                        <a:pt x="30" y="265"/>
                      </a:lnTo>
                      <a:lnTo>
                        <a:pt x="19" y="298"/>
                      </a:lnTo>
                      <a:lnTo>
                        <a:pt x="12" y="316"/>
                      </a:lnTo>
                      <a:lnTo>
                        <a:pt x="8" y="334"/>
                      </a:lnTo>
                      <a:lnTo>
                        <a:pt x="4" y="354"/>
                      </a:lnTo>
                      <a:lnTo>
                        <a:pt x="1" y="375"/>
                      </a:lnTo>
                      <a:lnTo>
                        <a:pt x="0" y="396"/>
                      </a:lnTo>
                      <a:lnTo>
                        <a:pt x="0" y="415"/>
                      </a:lnTo>
                      <a:lnTo>
                        <a:pt x="3" y="436"/>
                      </a:lnTo>
                      <a:lnTo>
                        <a:pt x="6" y="457"/>
                      </a:lnTo>
                      <a:lnTo>
                        <a:pt x="6" y="457"/>
                      </a:lnTo>
                      <a:lnTo>
                        <a:pt x="12" y="477"/>
                      </a:lnTo>
                      <a:lnTo>
                        <a:pt x="20" y="499"/>
                      </a:lnTo>
                      <a:lnTo>
                        <a:pt x="28" y="522"/>
                      </a:lnTo>
                      <a:lnTo>
                        <a:pt x="38" y="545"/>
                      </a:lnTo>
                      <a:lnTo>
                        <a:pt x="49" y="569"/>
                      </a:lnTo>
                      <a:lnTo>
                        <a:pt x="63" y="592"/>
                      </a:lnTo>
                      <a:lnTo>
                        <a:pt x="79" y="614"/>
                      </a:lnTo>
                      <a:lnTo>
                        <a:pt x="97" y="636"/>
                      </a:lnTo>
                      <a:lnTo>
                        <a:pt x="107" y="646"/>
                      </a:lnTo>
                      <a:lnTo>
                        <a:pt x="117" y="657"/>
                      </a:lnTo>
                      <a:lnTo>
                        <a:pt x="128" y="665"/>
                      </a:lnTo>
                      <a:lnTo>
                        <a:pt x="140" y="675"/>
                      </a:lnTo>
                      <a:lnTo>
                        <a:pt x="152" y="684"/>
                      </a:lnTo>
                      <a:lnTo>
                        <a:pt x="166" y="691"/>
                      </a:lnTo>
                      <a:lnTo>
                        <a:pt x="180" y="699"/>
                      </a:lnTo>
                      <a:lnTo>
                        <a:pt x="195" y="706"/>
                      </a:lnTo>
                      <a:lnTo>
                        <a:pt x="211" y="712"/>
                      </a:lnTo>
                      <a:lnTo>
                        <a:pt x="228" y="717"/>
                      </a:lnTo>
                      <a:lnTo>
                        <a:pt x="245" y="722"/>
                      </a:lnTo>
                      <a:lnTo>
                        <a:pt x="264" y="726"/>
                      </a:lnTo>
                      <a:lnTo>
                        <a:pt x="283" y="728"/>
                      </a:lnTo>
                      <a:lnTo>
                        <a:pt x="304" y="729"/>
                      </a:lnTo>
                      <a:lnTo>
                        <a:pt x="325" y="730"/>
                      </a:lnTo>
                      <a:lnTo>
                        <a:pt x="348" y="730"/>
                      </a:lnTo>
                      <a:lnTo>
                        <a:pt x="348" y="730"/>
                      </a:lnTo>
                      <a:lnTo>
                        <a:pt x="348" y="729"/>
                      </a:lnTo>
                      <a:lnTo>
                        <a:pt x="350" y="728"/>
                      </a:lnTo>
                      <a:lnTo>
                        <a:pt x="351" y="722"/>
                      </a:lnTo>
                      <a:lnTo>
                        <a:pt x="350" y="700"/>
                      </a:lnTo>
                      <a:lnTo>
                        <a:pt x="346" y="668"/>
                      </a:lnTo>
                      <a:lnTo>
                        <a:pt x="341" y="630"/>
                      </a:lnTo>
                      <a:lnTo>
                        <a:pt x="328" y="550"/>
                      </a:lnTo>
                      <a:lnTo>
                        <a:pt x="318" y="493"/>
                      </a:lnTo>
                      <a:lnTo>
                        <a:pt x="318" y="493"/>
                      </a:lnTo>
                      <a:lnTo>
                        <a:pt x="314" y="467"/>
                      </a:lnTo>
                      <a:lnTo>
                        <a:pt x="309" y="428"/>
                      </a:lnTo>
                      <a:lnTo>
                        <a:pt x="305" y="381"/>
                      </a:lnTo>
                      <a:lnTo>
                        <a:pt x="304" y="332"/>
                      </a:lnTo>
                      <a:lnTo>
                        <a:pt x="304" y="309"/>
                      </a:lnTo>
                      <a:lnTo>
                        <a:pt x="305" y="285"/>
                      </a:lnTo>
                      <a:lnTo>
                        <a:pt x="308" y="265"/>
                      </a:lnTo>
                      <a:lnTo>
                        <a:pt x="312" y="246"/>
                      </a:lnTo>
                      <a:lnTo>
                        <a:pt x="317" y="230"/>
                      </a:lnTo>
                      <a:lnTo>
                        <a:pt x="319" y="224"/>
                      </a:lnTo>
                      <a:lnTo>
                        <a:pt x="323" y="218"/>
                      </a:lnTo>
                      <a:lnTo>
                        <a:pt x="328" y="214"/>
                      </a:lnTo>
                      <a:lnTo>
                        <a:pt x="331" y="211"/>
                      </a:lnTo>
                      <a:lnTo>
                        <a:pt x="337" y="208"/>
                      </a:lnTo>
                      <a:lnTo>
                        <a:pt x="342" y="208"/>
                      </a:lnTo>
                      <a:lnTo>
                        <a:pt x="342" y="208"/>
                      </a:lnTo>
                      <a:lnTo>
                        <a:pt x="348" y="208"/>
                      </a:lnTo>
                      <a:lnTo>
                        <a:pt x="353" y="209"/>
                      </a:lnTo>
                      <a:lnTo>
                        <a:pt x="358" y="213"/>
                      </a:lnTo>
                      <a:lnTo>
                        <a:pt x="363" y="217"/>
                      </a:lnTo>
                      <a:lnTo>
                        <a:pt x="368" y="222"/>
                      </a:lnTo>
                      <a:lnTo>
                        <a:pt x="373" y="228"/>
                      </a:lnTo>
                      <a:lnTo>
                        <a:pt x="382" y="244"/>
                      </a:lnTo>
                      <a:lnTo>
                        <a:pt x="389" y="262"/>
                      </a:lnTo>
                      <a:lnTo>
                        <a:pt x="395" y="283"/>
                      </a:lnTo>
                      <a:lnTo>
                        <a:pt x="401" y="306"/>
                      </a:lnTo>
                      <a:lnTo>
                        <a:pt x="406" y="332"/>
                      </a:lnTo>
                      <a:lnTo>
                        <a:pt x="415" y="385"/>
                      </a:lnTo>
                      <a:lnTo>
                        <a:pt x="422" y="439"/>
                      </a:lnTo>
                      <a:lnTo>
                        <a:pt x="431" y="532"/>
                      </a:lnTo>
                      <a:lnTo>
                        <a:pt x="431" y="532"/>
                      </a:lnTo>
                      <a:lnTo>
                        <a:pt x="434" y="575"/>
                      </a:lnTo>
                      <a:lnTo>
                        <a:pt x="439" y="625"/>
                      </a:lnTo>
                      <a:lnTo>
                        <a:pt x="443" y="652"/>
                      </a:lnTo>
                      <a:lnTo>
                        <a:pt x="448" y="680"/>
                      </a:lnTo>
                      <a:lnTo>
                        <a:pt x="454" y="708"/>
                      </a:lnTo>
                      <a:lnTo>
                        <a:pt x="462" y="735"/>
                      </a:lnTo>
                      <a:lnTo>
                        <a:pt x="472" y="761"/>
                      </a:lnTo>
                      <a:lnTo>
                        <a:pt x="477" y="773"/>
                      </a:lnTo>
                      <a:lnTo>
                        <a:pt x="485" y="786"/>
                      </a:lnTo>
                      <a:lnTo>
                        <a:pt x="491" y="798"/>
                      </a:lnTo>
                      <a:lnTo>
                        <a:pt x="498" y="808"/>
                      </a:lnTo>
                      <a:lnTo>
                        <a:pt x="507" y="819"/>
                      </a:lnTo>
                      <a:lnTo>
                        <a:pt x="516" y="829"/>
                      </a:lnTo>
                      <a:lnTo>
                        <a:pt x="526" y="837"/>
                      </a:lnTo>
                      <a:lnTo>
                        <a:pt x="536" y="844"/>
                      </a:lnTo>
                      <a:lnTo>
                        <a:pt x="548" y="852"/>
                      </a:lnTo>
                      <a:lnTo>
                        <a:pt x="561" y="858"/>
                      </a:lnTo>
                      <a:lnTo>
                        <a:pt x="573" y="863"/>
                      </a:lnTo>
                      <a:lnTo>
                        <a:pt x="587" y="867"/>
                      </a:lnTo>
                      <a:lnTo>
                        <a:pt x="602" y="870"/>
                      </a:lnTo>
                      <a:lnTo>
                        <a:pt x="618" y="871"/>
                      </a:lnTo>
                      <a:lnTo>
                        <a:pt x="618" y="871"/>
                      </a:lnTo>
                      <a:lnTo>
                        <a:pt x="678" y="874"/>
                      </a:lnTo>
                      <a:lnTo>
                        <a:pt x="726" y="873"/>
                      </a:lnTo>
                      <a:lnTo>
                        <a:pt x="746" y="873"/>
                      </a:lnTo>
                      <a:lnTo>
                        <a:pt x="763" y="870"/>
                      </a:lnTo>
                      <a:lnTo>
                        <a:pt x="778" y="868"/>
                      </a:lnTo>
                      <a:lnTo>
                        <a:pt x="791" y="864"/>
                      </a:lnTo>
                      <a:lnTo>
                        <a:pt x="801" y="860"/>
                      </a:lnTo>
                      <a:lnTo>
                        <a:pt x="809" y="857"/>
                      </a:lnTo>
                      <a:lnTo>
                        <a:pt x="817" y="852"/>
                      </a:lnTo>
                      <a:lnTo>
                        <a:pt x="822" y="846"/>
                      </a:lnTo>
                      <a:lnTo>
                        <a:pt x="825" y="840"/>
                      </a:lnTo>
                      <a:lnTo>
                        <a:pt x="827" y="833"/>
                      </a:lnTo>
                      <a:lnTo>
                        <a:pt x="828" y="826"/>
                      </a:lnTo>
                      <a:lnTo>
                        <a:pt x="828" y="819"/>
                      </a:lnTo>
                      <a:lnTo>
                        <a:pt x="828" y="819"/>
                      </a:lnTo>
                      <a:lnTo>
                        <a:pt x="782" y="379"/>
                      </a:lnTo>
                      <a:lnTo>
                        <a:pt x="782" y="379"/>
                      </a:lnTo>
                      <a:lnTo>
                        <a:pt x="780" y="358"/>
                      </a:lnTo>
                      <a:lnTo>
                        <a:pt x="775" y="330"/>
                      </a:lnTo>
                      <a:lnTo>
                        <a:pt x="770" y="298"/>
                      </a:lnTo>
                      <a:lnTo>
                        <a:pt x="768" y="265"/>
                      </a:lnTo>
                      <a:lnTo>
                        <a:pt x="766" y="249"/>
                      </a:lnTo>
                      <a:lnTo>
                        <a:pt x="766" y="234"/>
                      </a:lnTo>
                      <a:lnTo>
                        <a:pt x="768" y="219"/>
                      </a:lnTo>
                      <a:lnTo>
                        <a:pt x="770" y="207"/>
                      </a:lnTo>
                      <a:lnTo>
                        <a:pt x="774" y="197"/>
                      </a:lnTo>
                      <a:lnTo>
                        <a:pt x="780" y="189"/>
                      </a:lnTo>
                      <a:lnTo>
                        <a:pt x="782" y="186"/>
                      </a:lnTo>
                      <a:lnTo>
                        <a:pt x="786" y="184"/>
                      </a:lnTo>
                      <a:lnTo>
                        <a:pt x="791" y="182"/>
                      </a:lnTo>
                      <a:lnTo>
                        <a:pt x="796" y="182"/>
                      </a:lnTo>
                      <a:lnTo>
                        <a:pt x="796" y="182"/>
                      </a:lnTo>
                      <a:lnTo>
                        <a:pt x="801" y="182"/>
                      </a:lnTo>
                      <a:lnTo>
                        <a:pt x="806" y="184"/>
                      </a:lnTo>
                      <a:lnTo>
                        <a:pt x="811" y="186"/>
                      </a:lnTo>
                      <a:lnTo>
                        <a:pt x="814" y="190"/>
                      </a:lnTo>
                      <a:lnTo>
                        <a:pt x="823" y="200"/>
                      </a:lnTo>
                      <a:lnTo>
                        <a:pt x="831" y="213"/>
                      </a:lnTo>
                      <a:lnTo>
                        <a:pt x="839" y="230"/>
                      </a:lnTo>
                      <a:lnTo>
                        <a:pt x="845" y="250"/>
                      </a:lnTo>
                      <a:lnTo>
                        <a:pt x="852" y="272"/>
                      </a:lnTo>
                      <a:lnTo>
                        <a:pt x="857" y="295"/>
                      </a:lnTo>
                      <a:lnTo>
                        <a:pt x="862" y="321"/>
                      </a:lnTo>
                      <a:lnTo>
                        <a:pt x="867" y="348"/>
                      </a:lnTo>
                      <a:lnTo>
                        <a:pt x="874" y="403"/>
                      </a:lnTo>
                      <a:lnTo>
                        <a:pt x="881" y="460"/>
                      </a:lnTo>
                      <a:lnTo>
                        <a:pt x="885" y="513"/>
                      </a:lnTo>
                      <a:lnTo>
                        <a:pt x="885" y="513"/>
                      </a:lnTo>
                      <a:lnTo>
                        <a:pt x="888" y="570"/>
                      </a:lnTo>
                      <a:lnTo>
                        <a:pt x="889" y="631"/>
                      </a:lnTo>
                      <a:lnTo>
                        <a:pt x="892" y="662"/>
                      </a:lnTo>
                      <a:lnTo>
                        <a:pt x="894" y="692"/>
                      </a:lnTo>
                      <a:lnTo>
                        <a:pt x="898" y="723"/>
                      </a:lnTo>
                      <a:lnTo>
                        <a:pt x="904" y="751"/>
                      </a:lnTo>
                      <a:lnTo>
                        <a:pt x="911" y="778"/>
                      </a:lnTo>
                      <a:lnTo>
                        <a:pt x="916" y="791"/>
                      </a:lnTo>
                      <a:lnTo>
                        <a:pt x="921" y="803"/>
                      </a:lnTo>
                      <a:lnTo>
                        <a:pt x="926" y="813"/>
                      </a:lnTo>
                      <a:lnTo>
                        <a:pt x="933" y="824"/>
                      </a:lnTo>
                      <a:lnTo>
                        <a:pt x="939" y="832"/>
                      </a:lnTo>
                      <a:lnTo>
                        <a:pt x="948" y="841"/>
                      </a:lnTo>
                      <a:lnTo>
                        <a:pt x="957" y="848"/>
                      </a:lnTo>
                      <a:lnTo>
                        <a:pt x="966" y="854"/>
                      </a:lnTo>
                      <a:lnTo>
                        <a:pt x="976" y="858"/>
                      </a:lnTo>
                      <a:lnTo>
                        <a:pt x="987" y="862"/>
                      </a:lnTo>
                      <a:lnTo>
                        <a:pt x="999" y="864"/>
                      </a:lnTo>
                      <a:lnTo>
                        <a:pt x="1013" y="865"/>
                      </a:lnTo>
                      <a:lnTo>
                        <a:pt x="1026" y="864"/>
                      </a:lnTo>
                      <a:lnTo>
                        <a:pt x="1042" y="862"/>
                      </a:lnTo>
                      <a:lnTo>
                        <a:pt x="1042" y="862"/>
                      </a:lnTo>
                      <a:lnTo>
                        <a:pt x="1102" y="849"/>
                      </a:lnTo>
                      <a:lnTo>
                        <a:pt x="1155" y="838"/>
                      </a:lnTo>
                      <a:lnTo>
                        <a:pt x="1201" y="826"/>
                      </a:lnTo>
                      <a:lnTo>
                        <a:pt x="1239" y="814"/>
                      </a:lnTo>
                      <a:lnTo>
                        <a:pt x="1253" y="808"/>
                      </a:lnTo>
                      <a:lnTo>
                        <a:pt x="1267" y="802"/>
                      </a:lnTo>
                      <a:lnTo>
                        <a:pt x="1278" y="797"/>
                      </a:lnTo>
                      <a:lnTo>
                        <a:pt x="1286" y="791"/>
                      </a:lnTo>
                      <a:lnTo>
                        <a:pt x="1292" y="786"/>
                      </a:lnTo>
                      <a:lnTo>
                        <a:pt x="1296" y="779"/>
                      </a:lnTo>
                      <a:lnTo>
                        <a:pt x="1296" y="775"/>
                      </a:lnTo>
                      <a:lnTo>
                        <a:pt x="1295" y="770"/>
                      </a:lnTo>
                      <a:lnTo>
                        <a:pt x="1295" y="770"/>
                      </a:lnTo>
                      <a:lnTo>
                        <a:pt x="1285" y="755"/>
                      </a:lnTo>
                      <a:lnTo>
                        <a:pt x="1273" y="729"/>
                      </a:lnTo>
                      <a:lnTo>
                        <a:pt x="1259" y="695"/>
                      </a:lnTo>
                      <a:lnTo>
                        <a:pt x="1245" y="652"/>
                      </a:lnTo>
                      <a:lnTo>
                        <a:pt x="1237" y="627"/>
                      </a:lnTo>
                      <a:lnTo>
                        <a:pt x="1230" y="602"/>
                      </a:lnTo>
                      <a:lnTo>
                        <a:pt x="1223" y="572"/>
                      </a:lnTo>
                      <a:lnTo>
                        <a:pt x="1216" y="543"/>
                      </a:lnTo>
                      <a:lnTo>
                        <a:pt x="1212" y="511"/>
                      </a:lnTo>
                      <a:lnTo>
                        <a:pt x="1208" y="478"/>
                      </a:lnTo>
                      <a:lnTo>
                        <a:pt x="1204" y="444"/>
                      </a:lnTo>
                      <a:lnTo>
                        <a:pt x="1202" y="408"/>
                      </a:lnTo>
                      <a:lnTo>
                        <a:pt x="1202" y="408"/>
                      </a:lnTo>
                      <a:lnTo>
                        <a:pt x="1201" y="342"/>
                      </a:lnTo>
                      <a:lnTo>
                        <a:pt x="1199" y="292"/>
                      </a:lnTo>
                      <a:lnTo>
                        <a:pt x="1201" y="255"/>
                      </a:lnTo>
                      <a:lnTo>
                        <a:pt x="1202" y="228"/>
                      </a:lnTo>
                      <a:lnTo>
                        <a:pt x="1203" y="218"/>
                      </a:lnTo>
                      <a:lnTo>
                        <a:pt x="1205" y="211"/>
                      </a:lnTo>
                      <a:lnTo>
                        <a:pt x="1208" y="204"/>
                      </a:lnTo>
                      <a:lnTo>
                        <a:pt x="1212" y="200"/>
                      </a:lnTo>
                      <a:lnTo>
                        <a:pt x="1215" y="196"/>
                      </a:lnTo>
                      <a:lnTo>
                        <a:pt x="1219" y="195"/>
                      </a:lnTo>
                      <a:lnTo>
                        <a:pt x="1229" y="191"/>
                      </a:lnTo>
                      <a:lnTo>
                        <a:pt x="1229" y="191"/>
                      </a:lnTo>
                      <a:lnTo>
                        <a:pt x="1235" y="192"/>
                      </a:lnTo>
                      <a:lnTo>
                        <a:pt x="1241" y="195"/>
                      </a:lnTo>
                      <a:lnTo>
                        <a:pt x="1248" y="200"/>
                      </a:lnTo>
                      <a:lnTo>
                        <a:pt x="1254" y="206"/>
                      </a:lnTo>
                      <a:lnTo>
                        <a:pt x="1262" y="216"/>
                      </a:lnTo>
                      <a:lnTo>
                        <a:pt x="1268" y="225"/>
                      </a:lnTo>
                      <a:lnTo>
                        <a:pt x="1274" y="238"/>
                      </a:lnTo>
                      <a:lnTo>
                        <a:pt x="1280" y="251"/>
                      </a:lnTo>
                      <a:lnTo>
                        <a:pt x="1286" y="266"/>
                      </a:lnTo>
                      <a:lnTo>
                        <a:pt x="1292" y="282"/>
                      </a:lnTo>
                      <a:lnTo>
                        <a:pt x="1297" y="299"/>
                      </a:lnTo>
                      <a:lnTo>
                        <a:pt x="1301" y="316"/>
                      </a:lnTo>
                      <a:lnTo>
                        <a:pt x="1305" y="334"/>
                      </a:lnTo>
                      <a:lnTo>
                        <a:pt x="1307" y="354"/>
                      </a:lnTo>
                      <a:lnTo>
                        <a:pt x="1310" y="372"/>
                      </a:lnTo>
                      <a:lnTo>
                        <a:pt x="1311" y="392"/>
                      </a:lnTo>
                      <a:lnTo>
                        <a:pt x="1311" y="392"/>
                      </a:lnTo>
                      <a:lnTo>
                        <a:pt x="1311" y="435"/>
                      </a:lnTo>
                      <a:lnTo>
                        <a:pt x="1313" y="483"/>
                      </a:lnTo>
                      <a:lnTo>
                        <a:pt x="1317" y="532"/>
                      </a:lnTo>
                      <a:lnTo>
                        <a:pt x="1322" y="580"/>
                      </a:lnTo>
                      <a:lnTo>
                        <a:pt x="1326" y="603"/>
                      </a:lnTo>
                      <a:lnTo>
                        <a:pt x="1329" y="625"/>
                      </a:lnTo>
                      <a:lnTo>
                        <a:pt x="1334" y="645"/>
                      </a:lnTo>
                      <a:lnTo>
                        <a:pt x="1339" y="662"/>
                      </a:lnTo>
                      <a:lnTo>
                        <a:pt x="1345" y="678"/>
                      </a:lnTo>
                      <a:lnTo>
                        <a:pt x="1351" y="690"/>
                      </a:lnTo>
                      <a:lnTo>
                        <a:pt x="1359" y="700"/>
                      </a:lnTo>
                      <a:lnTo>
                        <a:pt x="1362" y="703"/>
                      </a:lnTo>
                      <a:lnTo>
                        <a:pt x="1366" y="706"/>
                      </a:lnTo>
                      <a:lnTo>
                        <a:pt x="1366" y="706"/>
                      </a:lnTo>
                      <a:lnTo>
                        <a:pt x="1375" y="710"/>
                      </a:lnTo>
                      <a:lnTo>
                        <a:pt x="1383" y="712"/>
                      </a:lnTo>
                      <a:lnTo>
                        <a:pt x="1392" y="715"/>
                      </a:lnTo>
                      <a:lnTo>
                        <a:pt x="1400" y="716"/>
                      </a:lnTo>
                      <a:lnTo>
                        <a:pt x="1418" y="716"/>
                      </a:lnTo>
                      <a:lnTo>
                        <a:pt x="1436" y="713"/>
                      </a:lnTo>
                      <a:lnTo>
                        <a:pt x="1453" y="708"/>
                      </a:lnTo>
                      <a:lnTo>
                        <a:pt x="1469" y="702"/>
                      </a:lnTo>
                      <a:lnTo>
                        <a:pt x="1485" y="695"/>
                      </a:lnTo>
                      <a:lnTo>
                        <a:pt x="1501" y="686"/>
                      </a:lnTo>
                      <a:lnTo>
                        <a:pt x="1501" y="686"/>
                      </a:lnTo>
                      <a:lnTo>
                        <a:pt x="1523" y="673"/>
                      </a:lnTo>
                      <a:lnTo>
                        <a:pt x="1539" y="663"/>
                      </a:lnTo>
                      <a:lnTo>
                        <a:pt x="1556" y="652"/>
                      </a:lnTo>
                      <a:lnTo>
                        <a:pt x="1576" y="637"/>
                      </a:lnTo>
                      <a:lnTo>
                        <a:pt x="1595" y="621"/>
                      </a:lnTo>
                      <a:lnTo>
                        <a:pt x="1615" y="603"/>
                      </a:lnTo>
                      <a:lnTo>
                        <a:pt x="1633" y="582"/>
                      </a:lnTo>
                      <a:lnTo>
                        <a:pt x="1652" y="559"/>
                      </a:lnTo>
                      <a:lnTo>
                        <a:pt x="1659" y="547"/>
                      </a:lnTo>
                      <a:lnTo>
                        <a:pt x="1666" y="533"/>
                      </a:lnTo>
                      <a:lnTo>
                        <a:pt x="1674" y="520"/>
                      </a:lnTo>
                      <a:lnTo>
                        <a:pt x="1680" y="505"/>
                      </a:lnTo>
                      <a:lnTo>
                        <a:pt x="1685" y="490"/>
                      </a:lnTo>
                      <a:lnTo>
                        <a:pt x="1690" y="474"/>
                      </a:lnTo>
                      <a:lnTo>
                        <a:pt x="1693" y="458"/>
                      </a:lnTo>
                      <a:lnTo>
                        <a:pt x="1696" y="441"/>
                      </a:lnTo>
                      <a:lnTo>
                        <a:pt x="1697" y="424"/>
                      </a:lnTo>
                      <a:lnTo>
                        <a:pt x="1696" y="406"/>
                      </a:lnTo>
                      <a:lnTo>
                        <a:pt x="1695" y="387"/>
                      </a:lnTo>
                      <a:lnTo>
                        <a:pt x="1692" y="368"/>
                      </a:lnTo>
                      <a:lnTo>
                        <a:pt x="1688" y="348"/>
                      </a:lnTo>
                      <a:lnTo>
                        <a:pt x="1682" y="327"/>
                      </a:lnTo>
                      <a:lnTo>
                        <a:pt x="1682" y="327"/>
                      </a:lnTo>
                      <a:lnTo>
                        <a:pt x="1668" y="287"/>
                      </a:lnTo>
                      <a:lnTo>
                        <a:pt x="1653" y="251"/>
                      </a:lnTo>
                      <a:lnTo>
                        <a:pt x="1637" y="220"/>
                      </a:lnTo>
                      <a:lnTo>
                        <a:pt x="1621" y="192"/>
                      </a:lnTo>
                      <a:lnTo>
                        <a:pt x="1605" y="168"/>
                      </a:lnTo>
                      <a:lnTo>
                        <a:pt x="1589" y="147"/>
                      </a:lnTo>
                      <a:lnTo>
                        <a:pt x="1572" y="128"/>
                      </a:lnTo>
                      <a:lnTo>
                        <a:pt x="1556" y="114"/>
                      </a:lnTo>
                      <a:lnTo>
                        <a:pt x="1541" y="102"/>
                      </a:lnTo>
                      <a:lnTo>
                        <a:pt x="1527" y="90"/>
                      </a:lnTo>
                      <a:lnTo>
                        <a:pt x="1513" y="83"/>
                      </a:lnTo>
                      <a:lnTo>
                        <a:pt x="1501" y="77"/>
                      </a:lnTo>
                      <a:lnTo>
                        <a:pt x="1490" y="73"/>
                      </a:lnTo>
                      <a:lnTo>
                        <a:pt x="1480" y="71"/>
                      </a:lnTo>
                      <a:lnTo>
                        <a:pt x="1473" y="70"/>
                      </a:lnTo>
                      <a:lnTo>
                        <a:pt x="1468" y="68"/>
                      </a:lnTo>
                      <a:lnTo>
                        <a:pt x="1468" y="68"/>
                      </a:lnTo>
                      <a:lnTo>
                        <a:pt x="1459" y="70"/>
                      </a:lnTo>
                      <a:lnTo>
                        <a:pt x="1452" y="71"/>
                      </a:lnTo>
                      <a:lnTo>
                        <a:pt x="1445" y="73"/>
                      </a:lnTo>
                      <a:lnTo>
                        <a:pt x="1442" y="76"/>
                      </a:lnTo>
                      <a:lnTo>
                        <a:pt x="1440" y="78"/>
                      </a:lnTo>
                      <a:lnTo>
                        <a:pt x="1436" y="87"/>
                      </a:lnTo>
                      <a:lnTo>
                        <a:pt x="1433" y="99"/>
                      </a:lnTo>
                      <a:lnTo>
                        <a:pt x="1433" y="116"/>
                      </a:lnTo>
                      <a:lnTo>
                        <a:pt x="1435" y="138"/>
                      </a:lnTo>
                      <a:lnTo>
                        <a:pt x="1435" y="138"/>
                      </a:lnTo>
                      <a:lnTo>
                        <a:pt x="1440" y="174"/>
                      </a:lnTo>
                      <a:lnTo>
                        <a:pt x="1446" y="224"/>
                      </a:lnTo>
                      <a:lnTo>
                        <a:pt x="1453" y="282"/>
                      </a:lnTo>
                      <a:lnTo>
                        <a:pt x="1459" y="342"/>
                      </a:lnTo>
                      <a:lnTo>
                        <a:pt x="1462" y="371"/>
                      </a:lnTo>
                      <a:lnTo>
                        <a:pt x="1462" y="397"/>
                      </a:lnTo>
                      <a:lnTo>
                        <a:pt x="1462" y="422"/>
                      </a:lnTo>
                      <a:lnTo>
                        <a:pt x="1459" y="441"/>
                      </a:lnTo>
                      <a:lnTo>
                        <a:pt x="1458" y="450"/>
                      </a:lnTo>
                      <a:lnTo>
                        <a:pt x="1456" y="457"/>
                      </a:lnTo>
                      <a:lnTo>
                        <a:pt x="1453" y="463"/>
                      </a:lnTo>
                      <a:lnTo>
                        <a:pt x="1449" y="467"/>
                      </a:lnTo>
                      <a:lnTo>
                        <a:pt x="1446" y="471"/>
                      </a:lnTo>
                      <a:lnTo>
                        <a:pt x="1441" y="472"/>
                      </a:lnTo>
                      <a:lnTo>
                        <a:pt x="1436" y="472"/>
                      </a:lnTo>
                      <a:lnTo>
                        <a:pt x="1430" y="469"/>
                      </a:lnTo>
                      <a:lnTo>
                        <a:pt x="1430" y="469"/>
                      </a:lnTo>
                      <a:lnTo>
                        <a:pt x="1425" y="466"/>
                      </a:lnTo>
                      <a:lnTo>
                        <a:pt x="1419" y="461"/>
                      </a:lnTo>
                      <a:lnTo>
                        <a:pt x="1414" y="456"/>
                      </a:lnTo>
                      <a:lnTo>
                        <a:pt x="1409" y="448"/>
                      </a:lnTo>
                      <a:lnTo>
                        <a:pt x="1400" y="434"/>
                      </a:lnTo>
                      <a:lnTo>
                        <a:pt x="1392" y="415"/>
                      </a:lnTo>
                      <a:lnTo>
                        <a:pt x="1386" y="395"/>
                      </a:lnTo>
                      <a:lnTo>
                        <a:pt x="1381" y="371"/>
                      </a:lnTo>
                      <a:lnTo>
                        <a:pt x="1376" y="348"/>
                      </a:lnTo>
                      <a:lnTo>
                        <a:pt x="1372" y="323"/>
                      </a:lnTo>
                      <a:lnTo>
                        <a:pt x="1367" y="277"/>
                      </a:lnTo>
                      <a:lnTo>
                        <a:pt x="1364" y="233"/>
                      </a:lnTo>
                      <a:lnTo>
                        <a:pt x="1361" y="180"/>
                      </a:lnTo>
                      <a:lnTo>
                        <a:pt x="1361" y="180"/>
                      </a:lnTo>
                      <a:lnTo>
                        <a:pt x="1359" y="148"/>
                      </a:lnTo>
                      <a:lnTo>
                        <a:pt x="1356" y="128"/>
                      </a:lnTo>
                      <a:lnTo>
                        <a:pt x="1354" y="108"/>
                      </a:lnTo>
                      <a:lnTo>
                        <a:pt x="1350" y="88"/>
                      </a:lnTo>
                      <a:lnTo>
                        <a:pt x="1348" y="79"/>
                      </a:lnTo>
                      <a:lnTo>
                        <a:pt x="1344" y="72"/>
                      </a:lnTo>
                      <a:lnTo>
                        <a:pt x="1340" y="65"/>
                      </a:lnTo>
                      <a:lnTo>
                        <a:pt x="1337" y="60"/>
                      </a:lnTo>
                      <a:lnTo>
                        <a:pt x="1332" y="56"/>
                      </a:lnTo>
                      <a:lnTo>
                        <a:pt x="1326" y="54"/>
                      </a:lnTo>
                      <a:lnTo>
                        <a:pt x="1326" y="54"/>
                      </a:lnTo>
                      <a:lnTo>
                        <a:pt x="1281" y="43"/>
                      </a:lnTo>
                      <a:lnTo>
                        <a:pt x="1214" y="27"/>
                      </a:lnTo>
                      <a:lnTo>
                        <a:pt x="1178" y="18"/>
                      </a:lnTo>
                      <a:lnTo>
                        <a:pt x="1147" y="12"/>
                      </a:lnTo>
                      <a:lnTo>
                        <a:pt x="1120" y="7"/>
                      </a:lnTo>
                      <a:lnTo>
                        <a:pt x="1110" y="7"/>
                      </a:lnTo>
                      <a:lnTo>
                        <a:pt x="1102" y="7"/>
                      </a:lnTo>
                      <a:lnTo>
                        <a:pt x="1102" y="7"/>
                      </a:lnTo>
                      <a:lnTo>
                        <a:pt x="1093" y="10"/>
                      </a:lnTo>
                      <a:lnTo>
                        <a:pt x="1083" y="12"/>
                      </a:lnTo>
                      <a:lnTo>
                        <a:pt x="1075" y="16"/>
                      </a:lnTo>
                      <a:lnTo>
                        <a:pt x="1069" y="22"/>
                      </a:lnTo>
                      <a:lnTo>
                        <a:pt x="1064" y="30"/>
                      </a:lnTo>
                      <a:lnTo>
                        <a:pt x="1062" y="41"/>
                      </a:lnTo>
                      <a:lnTo>
                        <a:pt x="1062" y="56"/>
                      </a:lnTo>
                      <a:lnTo>
                        <a:pt x="1062" y="73"/>
                      </a:lnTo>
                      <a:lnTo>
                        <a:pt x="1062" y="73"/>
                      </a:lnTo>
                      <a:lnTo>
                        <a:pt x="1073" y="158"/>
                      </a:lnTo>
                      <a:lnTo>
                        <a:pt x="1080" y="223"/>
                      </a:lnTo>
                      <a:lnTo>
                        <a:pt x="1085" y="293"/>
                      </a:lnTo>
                      <a:lnTo>
                        <a:pt x="1088" y="327"/>
                      </a:lnTo>
                      <a:lnTo>
                        <a:pt x="1088" y="359"/>
                      </a:lnTo>
                      <a:lnTo>
                        <a:pt x="1086" y="390"/>
                      </a:lnTo>
                      <a:lnTo>
                        <a:pt x="1084" y="417"/>
                      </a:lnTo>
                      <a:lnTo>
                        <a:pt x="1083" y="428"/>
                      </a:lnTo>
                      <a:lnTo>
                        <a:pt x="1080" y="439"/>
                      </a:lnTo>
                      <a:lnTo>
                        <a:pt x="1077" y="447"/>
                      </a:lnTo>
                      <a:lnTo>
                        <a:pt x="1073" y="456"/>
                      </a:lnTo>
                      <a:lnTo>
                        <a:pt x="1069" y="462"/>
                      </a:lnTo>
                      <a:lnTo>
                        <a:pt x="1064" y="466"/>
                      </a:lnTo>
                      <a:lnTo>
                        <a:pt x="1058" y="469"/>
                      </a:lnTo>
                      <a:lnTo>
                        <a:pt x="1052" y="469"/>
                      </a:lnTo>
                      <a:lnTo>
                        <a:pt x="1052" y="469"/>
                      </a:lnTo>
                      <a:lnTo>
                        <a:pt x="1046" y="469"/>
                      </a:lnTo>
                      <a:lnTo>
                        <a:pt x="1040" y="467"/>
                      </a:lnTo>
                      <a:lnTo>
                        <a:pt x="1034" y="464"/>
                      </a:lnTo>
                      <a:lnTo>
                        <a:pt x="1029" y="461"/>
                      </a:lnTo>
                      <a:lnTo>
                        <a:pt x="1024" y="457"/>
                      </a:lnTo>
                      <a:lnTo>
                        <a:pt x="1019" y="451"/>
                      </a:lnTo>
                      <a:lnTo>
                        <a:pt x="1010" y="439"/>
                      </a:lnTo>
                      <a:lnTo>
                        <a:pt x="1003" y="423"/>
                      </a:lnTo>
                      <a:lnTo>
                        <a:pt x="997" y="404"/>
                      </a:lnTo>
                      <a:lnTo>
                        <a:pt x="992" y="385"/>
                      </a:lnTo>
                      <a:lnTo>
                        <a:pt x="987" y="364"/>
                      </a:lnTo>
                      <a:lnTo>
                        <a:pt x="984" y="342"/>
                      </a:lnTo>
                      <a:lnTo>
                        <a:pt x="981" y="319"/>
                      </a:lnTo>
                      <a:lnTo>
                        <a:pt x="976" y="274"/>
                      </a:lnTo>
                      <a:lnTo>
                        <a:pt x="974" y="231"/>
                      </a:lnTo>
                      <a:lnTo>
                        <a:pt x="972" y="196"/>
                      </a:lnTo>
                      <a:lnTo>
                        <a:pt x="972" y="196"/>
                      </a:lnTo>
                      <a:lnTo>
                        <a:pt x="971" y="163"/>
                      </a:lnTo>
                      <a:lnTo>
                        <a:pt x="969" y="131"/>
                      </a:lnTo>
                      <a:lnTo>
                        <a:pt x="965" y="99"/>
                      </a:lnTo>
                      <a:lnTo>
                        <a:pt x="960" y="70"/>
                      </a:lnTo>
                      <a:lnTo>
                        <a:pt x="958" y="56"/>
                      </a:lnTo>
                      <a:lnTo>
                        <a:pt x="954" y="44"/>
                      </a:lnTo>
                      <a:lnTo>
                        <a:pt x="950" y="33"/>
                      </a:lnTo>
                      <a:lnTo>
                        <a:pt x="945" y="24"/>
                      </a:lnTo>
                      <a:lnTo>
                        <a:pt x="941" y="17"/>
                      </a:lnTo>
                      <a:lnTo>
                        <a:pt x="934" y="11"/>
                      </a:lnTo>
                      <a:lnTo>
                        <a:pt x="927" y="7"/>
                      </a:lnTo>
                      <a:lnTo>
                        <a:pt x="920" y="5"/>
                      </a:lnTo>
                      <a:lnTo>
                        <a:pt x="920" y="5"/>
                      </a:lnTo>
                      <a:lnTo>
                        <a:pt x="862" y="2"/>
                      </a:lnTo>
                      <a:lnTo>
                        <a:pt x="819" y="0"/>
                      </a:lnTo>
                      <a:lnTo>
                        <a:pt x="773" y="0"/>
                      </a:lnTo>
                      <a:lnTo>
                        <a:pt x="727" y="0"/>
                      </a:lnTo>
                      <a:lnTo>
                        <a:pt x="684" y="1"/>
                      </a:lnTo>
                      <a:lnTo>
                        <a:pt x="666" y="2"/>
                      </a:lnTo>
                      <a:lnTo>
                        <a:pt x="650" y="5"/>
                      </a:lnTo>
                      <a:lnTo>
                        <a:pt x="638" y="7"/>
                      </a:lnTo>
                      <a:lnTo>
                        <a:pt x="628" y="11"/>
                      </a:lnTo>
                      <a:lnTo>
                        <a:pt x="628" y="11"/>
                      </a:lnTo>
                      <a:lnTo>
                        <a:pt x="614" y="18"/>
                      </a:lnTo>
                      <a:lnTo>
                        <a:pt x="606" y="24"/>
                      </a:lnTo>
                      <a:lnTo>
                        <a:pt x="601" y="29"/>
                      </a:lnTo>
                      <a:lnTo>
                        <a:pt x="599" y="37"/>
                      </a:lnTo>
                      <a:lnTo>
                        <a:pt x="599" y="44"/>
                      </a:lnTo>
                      <a:lnTo>
                        <a:pt x="600" y="55"/>
                      </a:lnTo>
                      <a:lnTo>
                        <a:pt x="601" y="67"/>
                      </a:lnTo>
                      <a:lnTo>
                        <a:pt x="603" y="84"/>
                      </a:lnTo>
                      <a:lnTo>
                        <a:pt x="603" y="84"/>
                      </a:lnTo>
                      <a:lnTo>
                        <a:pt x="612" y="168"/>
                      </a:lnTo>
                      <a:lnTo>
                        <a:pt x="617" y="231"/>
                      </a:lnTo>
                      <a:lnTo>
                        <a:pt x="621" y="301"/>
                      </a:lnTo>
                      <a:lnTo>
                        <a:pt x="622" y="334"/>
                      </a:lnTo>
                      <a:lnTo>
                        <a:pt x="622" y="368"/>
                      </a:lnTo>
                      <a:lnTo>
                        <a:pt x="621" y="397"/>
                      </a:lnTo>
                      <a:lnTo>
                        <a:pt x="618" y="423"/>
                      </a:lnTo>
                      <a:lnTo>
                        <a:pt x="614" y="445"/>
                      </a:lnTo>
                      <a:lnTo>
                        <a:pt x="612" y="453"/>
                      </a:lnTo>
                      <a:lnTo>
                        <a:pt x="610" y="461"/>
                      </a:lnTo>
                      <a:lnTo>
                        <a:pt x="606" y="467"/>
                      </a:lnTo>
                      <a:lnTo>
                        <a:pt x="602" y="471"/>
                      </a:lnTo>
                      <a:lnTo>
                        <a:pt x="599" y="473"/>
                      </a:lnTo>
                      <a:lnTo>
                        <a:pt x="594" y="473"/>
                      </a:lnTo>
                      <a:lnTo>
                        <a:pt x="594" y="473"/>
                      </a:lnTo>
                      <a:lnTo>
                        <a:pt x="587" y="471"/>
                      </a:lnTo>
                      <a:lnTo>
                        <a:pt x="583" y="467"/>
                      </a:lnTo>
                      <a:lnTo>
                        <a:pt x="579" y="462"/>
                      </a:lnTo>
                      <a:lnTo>
                        <a:pt x="574" y="456"/>
                      </a:lnTo>
                      <a:lnTo>
                        <a:pt x="569" y="447"/>
                      </a:lnTo>
                      <a:lnTo>
                        <a:pt x="565" y="439"/>
                      </a:lnTo>
                      <a:lnTo>
                        <a:pt x="558" y="417"/>
                      </a:lnTo>
                      <a:lnTo>
                        <a:pt x="551" y="391"/>
                      </a:lnTo>
                      <a:lnTo>
                        <a:pt x="545" y="363"/>
                      </a:lnTo>
                      <a:lnTo>
                        <a:pt x="540" y="332"/>
                      </a:lnTo>
                      <a:lnTo>
                        <a:pt x="535" y="300"/>
                      </a:lnTo>
                      <a:lnTo>
                        <a:pt x="527" y="235"/>
                      </a:lnTo>
                      <a:lnTo>
                        <a:pt x="521" y="176"/>
                      </a:lnTo>
                      <a:lnTo>
                        <a:pt x="515" y="103"/>
                      </a:lnTo>
                      <a:lnTo>
                        <a:pt x="515" y="103"/>
                      </a:lnTo>
                      <a:lnTo>
                        <a:pt x="513" y="88"/>
                      </a:lnTo>
                      <a:lnTo>
                        <a:pt x="509" y="75"/>
                      </a:lnTo>
                      <a:lnTo>
                        <a:pt x="504" y="62"/>
                      </a:lnTo>
                      <a:lnTo>
                        <a:pt x="497" y="54"/>
                      </a:lnTo>
                      <a:lnTo>
                        <a:pt x="487" y="46"/>
                      </a:lnTo>
                      <a:lnTo>
                        <a:pt x="482" y="43"/>
                      </a:lnTo>
                      <a:lnTo>
                        <a:pt x="477" y="41"/>
                      </a:lnTo>
                      <a:lnTo>
                        <a:pt x="471" y="39"/>
                      </a:lnTo>
                      <a:lnTo>
                        <a:pt x="465" y="39"/>
                      </a:lnTo>
                      <a:lnTo>
                        <a:pt x="451" y="39"/>
                      </a:lnTo>
                      <a:lnTo>
                        <a:pt x="451" y="39"/>
                      </a:lnTo>
                      <a:lnTo>
                        <a:pt x="394" y="46"/>
                      </a:lnTo>
                      <a:lnTo>
                        <a:pt x="350" y="52"/>
                      </a:lnTo>
                      <a:lnTo>
                        <a:pt x="302" y="62"/>
                      </a:lnTo>
                      <a:lnTo>
                        <a:pt x="277" y="68"/>
                      </a:lnTo>
                      <a:lnTo>
                        <a:pt x="255" y="75"/>
                      </a:lnTo>
                      <a:lnTo>
                        <a:pt x="233" y="82"/>
                      </a:lnTo>
                      <a:lnTo>
                        <a:pt x="214" y="90"/>
                      </a:lnTo>
                      <a:lnTo>
                        <a:pt x="198" y="100"/>
                      </a:lnTo>
                      <a:lnTo>
                        <a:pt x="190" y="105"/>
                      </a:lnTo>
                      <a:lnTo>
                        <a:pt x="183" y="111"/>
                      </a:lnTo>
                      <a:lnTo>
                        <a:pt x="178" y="117"/>
                      </a:lnTo>
                      <a:lnTo>
                        <a:pt x="173" y="124"/>
                      </a:lnTo>
                      <a:lnTo>
                        <a:pt x="171" y="130"/>
                      </a:lnTo>
                      <a:lnTo>
                        <a:pt x="168" y="136"/>
                      </a:lnTo>
                      <a:lnTo>
                        <a:pt x="168" y="136"/>
                      </a:lnTo>
                      <a:lnTo>
                        <a:pt x="166" y="152"/>
                      </a:lnTo>
                      <a:lnTo>
                        <a:pt x="165" y="169"/>
                      </a:lnTo>
                      <a:lnTo>
                        <a:pt x="165" y="189"/>
                      </a:lnTo>
                      <a:lnTo>
                        <a:pt x="165" y="209"/>
                      </a:lnTo>
                      <a:lnTo>
                        <a:pt x="167" y="255"/>
                      </a:lnTo>
                      <a:lnTo>
                        <a:pt x="169" y="300"/>
                      </a:lnTo>
                      <a:lnTo>
                        <a:pt x="172" y="342"/>
                      </a:lnTo>
                      <a:lnTo>
                        <a:pt x="172" y="360"/>
                      </a:lnTo>
                      <a:lnTo>
                        <a:pt x="171" y="376"/>
                      </a:lnTo>
                      <a:lnTo>
                        <a:pt x="169" y="390"/>
                      </a:lnTo>
                      <a:lnTo>
                        <a:pt x="166" y="401"/>
                      </a:lnTo>
                      <a:lnTo>
                        <a:pt x="163" y="404"/>
                      </a:lnTo>
                      <a:lnTo>
                        <a:pt x="161" y="407"/>
                      </a:lnTo>
                      <a:lnTo>
                        <a:pt x="158" y="409"/>
                      </a:lnTo>
                      <a:lnTo>
                        <a:pt x="155" y="409"/>
                      </a:lnTo>
                      <a:lnTo>
                        <a:pt x="155" y="409"/>
                      </a:lnTo>
                      <a:lnTo>
                        <a:pt x="147" y="409"/>
                      </a:lnTo>
                      <a:lnTo>
                        <a:pt x="140" y="407"/>
                      </a:lnTo>
                      <a:lnTo>
                        <a:pt x="134" y="403"/>
                      </a:lnTo>
                      <a:lnTo>
                        <a:pt x="129" y="398"/>
                      </a:lnTo>
                      <a:lnTo>
                        <a:pt x="123" y="392"/>
                      </a:lnTo>
                      <a:lnTo>
                        <a:pt x="118" y="385"/>
                      </a:lnTo>
                      <a:lnTo>
                        <a:pt x="114" y="377"/>
                      </a:lnTo>
                      <a:lnTo>
                        <a:pt x="111" y="369"/>
                      </a:lnTo>
                      <a:lnTo>
                        <a:pt x="103" y="348"/>
                      </a:lnTo>
                      <a:lnTo>
                        <a:pt x="97" y="326"/>
                      </a:lnTo>
                      <a:lnTo>
                        <a:pt x="93" y="304"/>
                      </a:lnTo>
                      <a:lnTo>
                        <a:pt x="88" y="281"/>
                      </a:lnTo>
                      <a:lnTo>
                        <a:pt x="82" y="238"/>
                      </a:lnTo>
                      <a:lnTo>
                        <a:pt x="80" y="220"/>
                      </a:lnTo>
                      <a:lnTo>
                        <a:pt x="76" y="206"/>
                      </a:lnTo>
                      <a:lnTo>
                        <a:pt x="73" y="197"/>
                      </a:lnTo>
                      <a:lnTo>
                        <a:pt x="71" y="193"/>
                      </a:lnTo>
                      <a:lnTo>
                        <a:pt x="69" y="192"/>
                      </a:lnTo>
                      <a:lnTo>
                        <a:pt x="66" y="193"/>
                      </a:lnTo>
                      <a:lnTo>
                        <a:pt x="64" y="195"/>
                      </a:lnTo>
                      <a:lnTo>
                        <a:pt x="60" y="200"/>
                      </a:lnTo>
                      <a:lnTo>
                        <a:pt x="58" y="204"/>
                      </a:lnTo>
                      <a:lnTo>
                        <a:pt x="58" y="204"/>
                      </a:lnTo>
                      <a:close/>
                    </a:path>
                  </a:pathLst>
                </a:cu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69" name="Freeform 10">
                  <a:extLst>
                    <a:ext uri="{FF2B5EF4-FFF2-40B4-BE49-F238E27FC236}">
                      <a16:creationId xmlns:a16="http://schemas.microsoft.com/office/drawing/2014/main" id="{26451673-9055-4914-B72E-9C6C03BA62EB}"/>
                    </a:ext>
                  </a:extLst>
                </p:cNvPr>
                <p:cNvSpPr>
                  <a:spLocks/>
                </p:cNvSpPr>
                <p:nvPr/>
              </p:nvSpPr>
              <p:spPr bwMode="auto">
                <a:xfrm>
                  <a:off x="4904645" y="5853434"/>
                  <a:ext cx="332058" cy="219315"/>
                </a:xfrm>
                <a:custGeom>
                  <a:avLst/>
                  <a:gdLst>
                    <a:gd name="T0" fmla="*/ 1923 w 1930"/>
                    <a:gd name="T1" fmla="*/ 484 h 1083"/>
                    <a:gd name="T2" fmla="*/ 1898 w 1930"/>
                    <a:gd name="T3" fmla="*/ 403 h 1083"/>
                    <a:gd name="T4" fmla="*/ 1852 w 1930"/>
                    <a:gd name="T5" fmla="*/ 327 h 1083"/>
                    <a:gd name="T6" fmla="*/ 1787 w 1930"/>
                    <a:gd name="T7" fmla="*/ 257 h 1083"/>
                    <a:gd name="T8" fmla="*/ 1706 w 1930"/>
                    <a:gd name="T9" fmla="*/ 193 h 1083"/>
                    <a:gd name="T10" fmla="*/ 1610 w 1930"/>
                    <a:gd name="T11" fmla="*/ 137 h 1083"/>
                    <a:gd name="T12" fmla="*/ 1500 w 1930"/>
                    <a:gd name="T13" fmla="*/ 89 h 1083"/>
                    <a:gd name="T14" fmla="*/ 1379 w 1930"/>
                    <a:gd name="T15" fmla="*/ 51 h 1083"/>
                    <a:gd name="T16" fmla="*/ 1248 w 1930"/>
                    <a:gd name="T17" fmla="*/ 23 h 1083"/>
                    <a:gd name="T18" fmla="*/ 1109 w 1930"/>
                    <a:gd name="T19" fmla="*/ 5 h 1083"/>
                    <a:gd name="T20" fmla="*/ 963 w 1930"/>
                    <a:gd name="T21" fmla="*/ 0 h 1083"/>
                    <a:gd name="T22" fmla="*/ 864 w 1930"/>
                    <a:gd name="T23" fmla="*/ 2 h 1083"/>
                    <a:gd name="T24" fmla="*/ 721 w 1930"/>
                    <a:gd name="T25" fmla="*/ 17 h 1083"/>
                    <a:gd name="T26" fmla="*/ 586 w 1930"/>
                    <a:gd name="T27" fmla="*/ 44 h 1083"/>
                    <a:gd name="T28" fmla="*/ 461 w 1930"/>
                    <a:gd name="T29" fmla="*/ 81 h 1083"/>
                    <a:gd name="T30" fmla="*/ 348 w 1930"/>
                    <a:gd name="T31" fmla="*/ 126 h 1083"/>
                    <a:gd name="T32" fmla="*/ 247 w 1930"/>
                    <a:gd name="T33" fmla="*/ 180 h 1083"/>
                    <a:gd name="T34" fmla="*/ 162 w 1930"/>
                    <a:gd name="T35" fmla="*/ 242 h 1083"/>
                    <a:gd name="T36" fmla="*/ 93 w 1930"/>
                    <a:gd name="T37" fmla="*/ 310 h 1083"/>
                    <a:gd name="T38" fmla="*/ 41 w 1930"/>
                    <a:gd name="T39" fmla="*/ 383 h 1083"/>
                    <a:gd name="T40" fmla="*/ 10 w 1930"/>
                    <a:gd name="T41" fmla="*/ 462 h 1083"/>
                    <a:gd name="T42" fmla="*/ 0 w 1930"/>
                    <a:gd name="T43" fmla="*/ 544 h 1083"/>
                    <a:gd name="T44" fmla="*/ 5 w 1930"/>
                    <a:gd name="T45" fmla="*/ 599 h 1083"/>
                    <a:gd name="T46" fmla="*/ 30 w 1930"/>
                    <a:gd name="T47" fmla="*/ 680 h 1083"/>
                    <a:gd name="T48" fmla="*/ 77 w 1930"/>
                    <a:gd name="T49" fmla="*/ 756 h 1083"/>
                    <a:gd name="T50" fmla="*/ 141 w 1930"/>
                    <a:gd name="T51" fmla="*/ 826 h 1083"/>
                    <a:gd name="T52" fmla="*/ 222 w 1930"/>
                    <a:gd name="T53" fmla="*/ 890 h 1083"/>
                    <a:gd name="T54" fmla="*/ 319 w 1930"/>
                    <a:gd name="T55" fmla="*/ 946 h 1083"/>
                    <a:gd name="T56" fmla="*/ 428 w 1930"/>
                    <a:gd name="T57" fmla="*/ 994 h 1083"/>
                    <a:gd name="T58" fmla="*/ 549 w 1930"/>
                    <a:gd name="T59" fmla="*/ 1032 h 1083"/>
                    <a:gd name="T60" fmla="*/ 680 w 1930"/>
                    <a:gd name="T61" fmla="*/ 1060 h 1083"/>
                    <a:gd name="T62" fmla="*/ 820 w 1930"/>
                    <a:gd name="T63" fmla="*/ 1078 h 1083"/>
                    <a:gd name="T64" fmla="*/ 965 w 1930"/>
                    <a:gd name="T65" fmla="*/ 1083 h 1083"/>
                    <a:gd name="T66" fmla="*/ 1064 w 1930"/>
                    <a:gd name="T67" fmla="*/ 1081 h 1083"/>
                    <a:gd name="T68" fmla="*/ 1207 w 1930"/>
                    <a:gd name="T69" fmla="*/ 1066 h 1083"/>
                    <a:gd name="T70" fmla="*/ 1342 w 1930"/>
                    <a:gd name="T71" fmla="*/ 1039 h 1083"/>
                    <a:gd name="T72" fmla="*/ 1467 w 1930"/>
                    <a:gd name="T73" fmla="*/ 1004 h 1083"/>
                    <a:gd name="T74" fmla="*/ 1581 w 1930"/>
                    <a:gd name="T75" fmla="*/ 957 h 1083"/>
                    <a:gd name="T76" fmla="*/ 1681 w 1930"/>
                    <a:gd name="T77" fmla="*/ 903 h 1083"/>
                    <a:gd name="T78" fmla="*/ 1767 w 1930"/>
                    <a:gd name="T79" fmla="*/ 842 h 1083"/>
                    <a:gd name="T80" fmla="*/ 1835 w 1930"/>
                    <a:gd name="T81" fmla="*/ 773 h 1083"/>
                    <a:gd name="T82" fmla="*/ 1887 w 1930"/>
                    <a:gd name="T83" fmla="*/ 700 h 1083"/>
                    <a:gd name="T84" fmla="*/ 1919 w 1930"/>
                    <a:gd name="T85" fmla="*/ 621 h 1083"/>
                    <a:gd name="T86" fmla="*/ 1930 w 1930"/>
                    <a:gd name="T87" fmla="*/ 539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083">
                      <a:moveTo>
                        <a:pt x="1928" y="511"/>
                      </a:moveTo>
                      <a:lnTo>
                        <a:pt x="1928" y="511"/>
                      </a:lnTo>
                      <a:lnTo>
                        <a:pt x="1923" y="484"/>
                      </a:lnTo>
                      <a:lnTo>
                        <a:pt x="1917" y="456"/>
                      </a:lnTo>
                      <a:lnTo>
                        <a:pt x="1909" y="429"/>
                      </a:lnTo>
                      <a:lnTo>
                        <a:pt x="1898" y="403"/>
                      </a:lnTo>
                      <a:lnTo>
                        <a:pt x="1885" y="377"/>
                      </a:lnTo>
                      <a:lnTo>
                        <a:pt x="1870" y="351"/>
                      </a:lnTo>
                      <a:lnTo>
                        <a:pt x="1852" y="327"/>
                      </a:lnTo>
                      <a:lnTo>
                        <a:pt x="1833" y="304"/>
                      </a:lnTo>
                      <a:lnTo>
                        <a:pt x="1811" y="279"/>
                      </a:lnTo>
                      <a:lnTo>
                        <a:pt x="1787" y="257"/>
                      </a:lnTo>
                      <a:lnTo>
                        <a:pt x="1762" y="235"/>
                      </a:lnTo>
                      <a:lnTo>
                        <a:pt x="1735" y="214"/>
                      </a:lnTo>
                      <a:lnTo>
                        <a:pt x="1706" y="193"/>
                      </a:lnTo>
                      <a:lnTo>
                        <a:pt x="1676" y="174"/>
                      </a:lnTo>
                      <a:lnTo>
                        <a:pt x="1644" y="155"/>
                      </a:lnTo>
                      <a:lnTo>
                        <a:pt x="1610" y="137"/>
                      </a:lnTo>
                      <a:lnTo>
                        <a:pt x="1575" y="121"/>
                      </a:lnTo>
                      <a:lnTo>
                        <a:pt x="1538" y="105"/>
                      </a:lnTo>
                      <a:lnTo>
                        <a:pt x="1500" y="89"/>
                      </a:lnTo>
                      <a:lnTo>
                        <a:pt x="1461" y="76"/>
                      </a:lnTo>
                      <a:lnTo>
                        <a:pt x="1421" y="63"/>
                      </a:lnTo>
                      <a:lnTo>
                        <a:pt x="1379" y="51"/>
                      </a:lnTo>
                      <a:lnTo>
                        <a:pt x="1336" y="40"/>
                      </a:lnTo>
                      <a:lnTo>
                        <a:pt x="1293" y="31"/>
                      </a:lnTo>
                      <a:lnTo>
                        <a:pt x="1248" y="23"/>
                      </a:lnTo>
                      <a:lnTo>
                        <a:pt x="1203" y="16"/>
                      </a:lnTo>
                      <a:lnTo>
                        <a:pt x="1156" y="9"/>
                      </a:lnTo>
                      <a:lnTo>
                        <a:pt x="1109" y="5"/>
                      </a:lnTo>
                      <a:lnTo>
                        <a:pt x="1062" y="2"/>
                      </a:lnTo>
                      <a:lnTo>
                        <a:pt x="1013" y="0"/>
                      </a:lnTo>
                      <a:lnTo>
                        <a:pt x="963" y="0"/>
                      </a:lnTo>
                      <a:lnTo>
                        <a:pt x="914" y="0"/>
                      </a:lnTo>
                      <a:lnTo>
                        <a:pt x="914" y="0"/>
                      </a:lnTo>
                      <a:lnTo>
                        <a:pt x="864" y="2"/>
                      </a:lnTo>
                      <a:lnTo>
                        <a:pt x="816" y="6"/>
                      </a:lnTo>
                      <a:lnTo>
                        <a:pt x="767" y="11"/>
                      </a:lnTo>
                      <a:lnTo>
                        <a:pt x="721" y="17"/>
                      </a:lnTo>
                      <a:lnTo>
                        <a:pt x="675" y="25"/>
                      </a:lnTo>
                      <a:lnTo>
                        <a:pt x="630" y="34"/>
                      </a:lnTo>
                      <a:lnTo>
                        <a:pt x="586" y="44"/>
                      </a:lnTo>
                      <a:lnTo>
                        <a:pt x="543" y="55"/>
                      </a:lnTo>
                      <a:lnTo>
                        <a:pt x="501" y="67"/>
                      </a:lnTo>
                      <a:lnTo>
                        <a:pt x="461" y="81"/>
                      </a:lnTo>
                      <a:lnTo>
                        <a:pt x="422" y="94"/>
                      </a:lnTo>
                      <a:lnTo>
                        <a:pt x="384" y="110"/>
                      </a:lnTo>
                      <a:lnTo>
                        <a:pt x="348" y="126"/>
                      </a:lnTo>
                      <a:lnTo>
                        <a:pt x="312" y="143"/>
                      </a:lnTo>
                      <a:lnTo>
                        <a:pt x="279" y="161"/>
                      </a:lnTo>
                      <a:lnTo>
                        <a:pt x="247" y="180"/>
                      </a:lnTo>
                      <a:lnTo>
                        <a:pt x="217" y="199"/>
                      </a:lnTo>
                      <a:lnTo>
                        <a:pt x="189" y="220"/>
                      </a:lnTo>
                      <a:lnTo>
                        <a:pt x="162" y="242"/>
                      </a:lnTo>
                      <a:lnTo>
                        <a:pt x="137" y="264"/>
                      </a:lnTo>
                      <a:lnTo>
                        <a:pt x="114" y="286"/>
                      </a:lnTo>
                      <a:lnTo>
                        <a:pt x="93" y="310"/>
                      </a:lnTo>
                      <a:lnTo>
                        <a:pt x="73" y="334"/>
                      </a:lnTo>
                      <a:lnTo>
                        <a:pt x="57" y="359"/>
                      </a:lnTo>
                      <a:lnTo>
                        <a:pt x="41" y="383"/>
                      </a:lnTo>
                      <a:lnTo>
                        <a:pt x="29" y="409"/>
                      </a:lnTo>
                      <a:lnTo>
                        <a:pt x="18" y="435"/>
                      </a:lnTo>
                      <a:lnTo>
                        <a:pt x="10" y="462"/>
                      </a:lnTo>
                      <a:lnTo>
                        <a:pt x="5" y="489"/>
                      </a:lnTo>
                      <a:lnTo>
                        <a:pt x="1" y="516"/>
                      </a:lnTo>
                      <a:lnTo>
                        <a:pt x="0" y="544"/>
                      </a:lnTo>
                      <a:lnTo>
                        <a:pt x="1" y="572"/>
                      </a:lnTo>
                      <a:lnTo>
                        <a:pt x="1" y="572"/>
                      </a:lnTo>
                      <a:lnTo>
                        <a:pt x="5" y="599"/>
                      </a:lnTo>
                      <a:lnTo>
                        <a:pt x="11" y="627"/>
                      </a:lnTo>
                      <a:lnTo>
                        <a:pt x="19" y="654"/>
                      </a:lnTo>
                      <a:lnTo>
                        <a:pt x="30" y="680"/>
                      </a:lnTo>
                      <a:lnTo>
                        <a:pt x="44" y="706"/>
                      </a:lnTo>
                      <a:lnTo>
                        <a:pt x="59" y="732"/>
                      </a:lnTo>
                      <a:lnTo>
                        <a:pt x="77" y="756"/>
                      </a:lnTo>
                      <a:lnTo>
                        <a:pt x="97" y="781"/>
                      </a:lnTo>
                      <a:lnTo>
                        <a:pt x="117" y="804"/>
                      </a:lnTo>
                      <a:lnTo>
                        <a:pt x="141" y="826"/>
                      </a:lnTo>
                      <a:lnTo>
                        <a:pt x="167" y="848"/>
                      </a:lnTo>
                      <a:lnTo>
                        <a:pt x="194" y="869"/>
                      </a:lnTo>
                      <a:lnTo>
                        <a:pt x="222" y="890"/>
                      </a:lnTo>
                      <a:lnTo>
                        <a:pt x="252" y="909"/>
                      </a:lnTo>
                      <a:lnTo>
                        <a:pt x="285" y="928"/>
                      </a:lnTo>
                      <a:lnTo>
                        <a:pt x="319" y="946"/>
                      </a:lnTo>
                      <a:lnTo>
                        <a:pt x="354" y="963"/>
                      </a:lnTo>
                      <a:lnTo>
                        <a:pt x="390" y="979"/>
                      </a:lnTo>
                      <a:lnTo>
                        <a:pt x="428" y="994"/>
                      </a:lnTo>
                      <a:lnTo>
                        <a:pt x="467" y="1007"/>
                      </a:lnTo>
                      <a:lnTo>
                        <a:pt x="507" y="1021"/>
                      </a:lnTo>
                      <a:lnTo>
                        <a:pt x="549" y="1032"/>
                      </a:lnTo>
                      <a:lnTo>
                        <a:pt x="592" y="1043"/>
                      </a:lnTo>
                      <a:lnTo>
                        <a:pt x="636" y="1053"/>
                      </a:lnTo>
                      <a:lnTo>
                        <a:pt x="680" y="1060"/>
                      </a:lnTo>
                      <a:lnTo>
                        <a:pt x="726" y="1067"/>
                      </a:lnTo>
                      <a:lnTo>
                        <a:pt x="772" y="1074"/>
                      </a:lnTo>
                      <a:lnTo>
                        <a:pt x="820" y="1078"/>
                      </a:lnTo>
                      <a:lnTo>
                        <a:pt x="868" y="1081"/>
                      </a:lnTo>
                      <a:lnTo>
                        <a:pt x="916" y="1083"/>
                      </a:lnTo>
                      <a:lnTo>
                        <a:pt x="965" y="1083"/>
                      </a:lnTo>
                      <a:lnTo>
                        <a:pt x="1015" y="1083"/>
                      </a:lnTo>
                      <a:lnTo>
                        <a:pt x="1015" y="1083"/>
                      </a:lnTo>
                      <a:lnTo>
                        <a:pt x="1064" y="1081"/>
                      </a:lnTo>
                      <a:lnTo>
                        <a:pt x="1113" y="1077"/>
                      </a:lnTo>
                      <a:lnTo>
                        <a:pt x="1161" y="1072"/>
                      </a:lnTo>
                      <a:lnTo>
                        <a:pt x="1207" y="1066"/>
                      </a:lnTo>
                      <a:lnTo>
                        <a:pt x="1254" y="1059"/>
                      </a:lnTo>
                      <a:lnTo>
                        <a:pt x="1298" y="1049"/>
                      </a:lnTo>
                      <a:lnTo>
                        <a:pt x="1342" y="1039"/>
                      </a:lnTo>
                      <a:lnTo>
                        <a:pt x="1385" y="1028"/>
                      </a:lnTo>
                      <a:lnTo>
                        <a:pt x="1427" y="1016"/>
                      </a:lnTo>
                      <a:lnTo>
                        <a:pt x="1467" y="1004"/>
                      </a:lnTo>
                      <a:lnTo>
                        <a:pt x="1507" y="989"/>
                      </a:lnTo>
                      <a:lnTo>
                        <a:pt x="1545" y="973"/>
                      </a:lnTo>
                      <a:lnTo>
                        <a:pt x="1581" y="957"/>
                      </a:lnTo>
                      <a:lnTo>
                        <a:pt x="1616" y="940"/>
                      </a:lnTo>
                      <a:lnTo>
                        <a:pt x="1649" y="922"/>
                      </a:lnTo>
                      <a:lnTo>
                        <a:pt x="1681" y="903"/>
                      </a:lnTo>
                      <a:lnTo>
                        <a:pt x="1711" y="884"/>
                      </a:lnTo>
                      <a:lnTo>
                        <a:pt x="1740" y="863"/>
                      </a:lnTo>
                      <a:lnTo>
                        <a:pt x="1767" y="842"/>
                      </a:lnTo>
                      <a:lnTo>
                        <a:pt x="1791" y="820"/>
                      </a:lnTo>
                      <a:lnTo>
                        <a:pt x="1814" y="797"/>
                      </a:lnTo>
                      <a:lnTo>
                        <a:pt x="1835" y="773"/>
                      </a:lnTo>
                      <a:lnTo>
                        <a:pt x="1855" y="749"/>
                      </a:lnTo>
                      <a:lnTo>
                        <a:pt x="1872" y="724"/>
                      </a:lnTo>
                      <a:lnTo>
                        <a:pt x="1887" y="700"/>
                      </a:lnTo>
                      <a:lnTo>
                        <a:pt x="1899" y="674"/>
                      </a:lnTo>
                      <a:lnTo>
                        <a:pt x="1910" y="648"/>
                      </a:lnTo>
                      <a:lnTo>
                        <a:pt x="1919" y="621"/>
                      </a:lnTo>
                      <a:lnTo>
                        <a:pt x="1925" y="594"/>
                      </a:lnTo>
                      <a:lnTo>
                        <a:pt x="1928" y="567"/>
                      </a:lnTo>
                      <a:lnTo>
                        <a:pt x="1930" y="539"/>
                      </a:lnTo>
                      <a:lnTo>
                        <a:pt x="1928" y="511"/>
                      </a:lnTo>
                      <a:lnTo>
                        <a:pt x="1928" y="511"/>
                      </a:lnTo>
                      <a:close/>
                    </a:path>
                  </a:pathLst>
                </a:custGeom>
                <a:solidFill>
                  <a:schemeClr val="accent2"/>
                </a:solidFill>
                <a:ln w="7938">
                  <a:noFill/>
                  <a:prstDash val="solid"/>
                  <a:round/>
                  <a:headEnd/>
                  <a:tailEnd/>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70" name="Freeform 11">
                  <a:extLst>
                    <a:ext uri="{FF2B5EF4-FFF2-40B4-BE49-F238E27FC236}">
                      <a16:creationId xmlns:a16="http://schemas.microsoft.com/office/drawing/2014/main" id="{ABA1383A-7586-4AF9-8DD6-47059ACD932A}"/>
                    </a:ext>
                  </a:extLst>
                </p:cNvPr>
                <p:cNvSpPr>
                  <a:spLocks/>
                </p:cNvSpPr>
                <p:nvPr/>
              </p:nvSpPr>
              <p:spPr bwMode="auto">
                <a:xfrm>
                  <a:off x="4927700" y="5877713"/>
                  <a:ext cx="291798" cy="176828"/>
                </a:xfrm>
                <a:custGeom>
                  <a:avLst/>
                  <a:gdLst>
                    <a:gd name="T0" fmla="*/ 1 w 1697"/>
                    <a:gd name="T1" fmla="*/ 375 h 874"/>
                    <a:gd name="T2" fmla="*/ 38 w 1697"/>
                    <a:gd name="T3" fmla="*/ 545 h 874"/>
                    <a:gd name="T4" fmla="*/ 152 w 1697"/>
                    <a:gd name="T5" fmla="*/ 684 h 874"/>
                    <a:gd name="T6" fmla="*/ 304 w 1697"/>
                    <a:gd name="T7" fmla="*/ 729 h 874"/>
                    <a:gd name="T8" fmla="*/ 341 w 1697"/>
                    <a:gd name="T9" fmla="*/ 630 h 874"/>
                    <a:gd name="T10" fmla="*/ 305 w 1697"/>
                    <a:gd name="T11" fmla="*/ 285 h 874"/>
                    <a:gd name="T12" fmla="*/ 342 w 1697"/>
                    <a:gd name="T13" fmla="*/ 208 h 874"/>
                    <a:gd name="T14" fmla="*/ 389 w 1697"/>
                    <a:gd name="T15" fmla="*/ 262 h 874"/>
                    <a:gd name="T16" fmla="*/ 439 w 1697"/>
                    <a:gd name="T17" fmla="*/ 625 h 874"/>
                    <a:gd name="T18" fmla="*/ 498 w 1697"/>
                    <a:gd name="T19" fmla="*/ 808 h 874"/>
                    <a:gd name="T20" fmla="*/ 602 w 1697"/>
                    <a:gd name="T21" fmla="*/ 870 h 874"/>
                    <a:gd name="T22" fmla="*/ 801 w 1697"/>
                    <a:gd name="T23" fmla="*/ 860 h 874"/>
                    <a:gd name="T24" fmla="*/ 782 w 1697"/>
                    <a:gd name="T25" fmla="*/ 379 h 874"/>
                    <a:gd name="T26" fmla="*/ 770 w 1697"/>
                    <a:gd name="T27" fmla="*/ 207 h 874"/>
                    <a:gd name="T28" fmla="*/ 806 w 1697"/>
                    <a:gd name="T29" fmla="*/ 184 h 874"/>
                    <a:gd name="T30" fmla="*/ 862 w 1697"/>
                    <a:gd name="T31" fmla="*/ 321 h 874"/>
                    <a:gd name="T32" fmla="*/ 894 w 1697"/>
                    <a:gd name="T33" fmla="*/ 692 h 874"/>
                    <a:gd name="T34" fmla="*/ 948 w 1697"/>
                    <a:gd name="T35" fmla="*/ 841 h 874"/>
                    <a:gd name="T36" fmla="*/ 1042 w 1697"/>
                    <a:gd name="T37" fmla="*/ 862 h 874"/>
                    <a:gd name="T38" fmla="*/ 1292 w 1697"/>
                    <a:gd name="T39" fmla="*/ 786 h 874"/>
                    <a:gd name="T40" fmla="*/ 1237 w 1697"/>
                    <a:gd name="T41" fmla="*/ 627 h 874"/>
                    <a:gd name="T42" fmla="*/ 1201 w 1697"/>
                    <a:gd name="T43" fmla="*/ 342 h 874"/>
                    <a:gd name="T44" fmla="*/ 1219 w 1697"/>
                    <a:gd name="T45" fmla="*/ 195 h 874"/>
                    <a:gd name="T46" fmla="*/ 1274 w 1697"/>
                    <a:gd name="T47" fmla="*/ 238 h 874"/>
                    <a:gd name="T48" fmla="*/ 1311 w 1697"/>
                    <a:gd name="T49" fmla="*/ 392 h 874"/>
                    <a:gd name="T50" fmla="*/ 1339 w 1697"/>
                    <a:gd name="T51" fmla="*/ 662 h 874"/>
                    <a:gd name="T52" fmla="*/ 1392 w 1697"/>
                    <a:gd name="T53" fmla="*/ 715 h 874"/>
                    <a:gd name="T54" fmla="*/ 1523 w 1697"/>
                    <a:gd name="T55" fmla="*/ 673 h 874"/>
                    <a:gd name="T56" fmla="*/ 1666 w 1697"/>
                    <a:gd name="T57" fmla="*/ 533 h 874"/>
                    <a:gd name="T58" fmla="*/ 1695 w 1697"/>
                    <a:gd name="T59" fmla="*/ 387 h 874"/>
                    <a:gd name="T60" fmla="*/ 1605 w 1697"/>
                    <a:gd name="T61" fmla="*/ 168 h 874"/>
                    <a:gd name="T62" fmla="*/ 1480 w 1697"/>
                    <a:gd name="T63" fmla="*/ 71 h 874"/>
                    <a:gd name="T64" fmla="*/ 1436 w 1697"/>
                    <a:gd name="T65" fmla="*/ 87 h 874"/>
                    <a:gd name="T66" fmla="*/ 1462 w 1697"/>
                    <a:gd name="T67" fmla="*/ 371 h 874"/>
                    <a:gd name="T68" fmla="*/ 1441 w 1697"/>
                    <a:gd name="T69" fmla="*/ 472 h 874"/>
                    <a:gd name="T70" fmla="*/ 1392 w 1697"/>
                    <a:gd name="T71" fmla="*/ 415 h 874"/>
                    <a:gd name="T72" fmla="*/ 1359 w 1697"/>
                    <a:gd name="T73" fmla="*/ 148 h 874"/>
                    <a:gd name="T74" fmla="*/ 1326 w 1697"/>
                    <a:gd name="T75" fmla="*/ 54 h 874"/>
                    <a:gd name="T76" fmla="*/ 1102 w 1697"/>
                    <a:gd name="T77" fmla="*/ 7 h 874"/>
                    <a:gd name="T78" fmla="*/ 1062 w 1697"/>
                    <a:gd name="T79" fmla="*/ 73 h 874"/>
                    <a:gd name="T80" fmla="*/ 1080 w 1697"/>
                    <a:gd name="T81" fmla="*/ 439 h 874"/>
                    <a:gd name="T82" fmla="*/ 1040 w 1697"/>
                    <a:gd name="T83" fmla="*/ 467 h 874"/>
                    <a:gd name="T84" fmla="*/ 987 w 1697"/>
                    <a:gd name="T85" fmla="*/ 364 h 874"/>
                    <a:gd name="T86" fmla="*/ 965 w 1697"/>
                    <a:gd name="T87" fmla="*/ 99 h 874"/>
                    <a:gd name="T88" fmla="*/ 920 w 1697"/>
                    <a:gd name="T89" fmla="*/ 5 h 874"/>
                    <a:gd name="T90" fmla="*/ 638 w 1697"/>
                    <a:gd name="T91" fmla="*/ 7 h 874"/>
                    <a:gd name="T92" fmla="*/ 601 w 1697"/>
                    <a:gd name="T93" fmla="*/ 67 h 874"/>
                    <a:gd name="T94" fmla="*/ 618 w 1697"/>
                    <a:gd name="T95" fmla="*/ 423 h 874"/>
                    <a:gd name="T96" fmla="*/ 587 w 1697"/>
                    <a:gd name="T97" fmla="*/ 471 h 874"/>
                    <a:gd name="T98" fmla="*/ 540 w 1697"/>
                    <a:gd name="T99" fmla="*/ 332 h 874"/>
                    <a:gd name="T100" fmla="*/ 497 w 1697"/>
                    <a:gd name="T101" fmla="*/ 54 h 874"/>
                    <a:gd name="T102" fmla="*/ 350 w 1697"/>
                    <a:gd name="T103" fmla="*/ 52 h 874"/>
                    <a:gd name="T104" fmla="*/ 178 w 1697"/>
                    <a:gd name="T105" fmla="*/ 117 h 874"/>
                    <a:gd name="T106" fmla="*/ 167 w 1697"/>
                    <a:gd name="T107" fmla="*/ 255 h 874"/>
                    <a:gd name="T108" fmla="*/ 158 w 1697"/>
                    <a:gd name="T109" fmla="*/ 409 h 874"/>
                    <a:gd name="T110" fmla="*/ 114 w 1697"/>
                    <a:gd name="T111" fmla="*/ 377 h 874"/>
                    <a:gd name="T112" fmla="*/ 73 w 1697"/>
                    <a:gd name="T113" fmla="*/ 197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97" h="874">
                      <a:moveTo>
                        <a:pt x="58" y="204"/>
                      </a:moveTo>
                      <a:lnTo>
                        <a:pt x="58" y="204"/>
                      </a:lnTo>
                      <a:lnTo>
                        <a:pt x="42" y="236"/>
                      </a:lnTo>
                      <a:lnTo>
                        <a:pt x="30" y="265"/>
                      </a:lnTo>
                      <a:lnTo>
                        <a:pt x="19" y="298"/>
                      </a:lnTo>
                      <a:lnTo>
                        <a:pt x="12" y="316"/>
                      </a:lnTo>
                      <a:lnTo>
                        <a:pt x="8" y="334"/>
                      </a:lnTo>
                      <a:lnTo>
                        <a:pt x="4" y="354"/>
                      </a:lnTo>
                      <a:lnTo>
                        <a:pt x="1" y="375"/>
                      </a:lnTo>
                      <a:lnTo>
                        <a:pt x="0" y="396"/>
                      </a:lnTo>
                      <a:lnTo>
                        <a:pt x="0" y="415"/>
                      </a:lnTo>
                      <a:lnTo>
                        <a:pt x="3" y="436"/>
                      </a:lnTo>
                      <a:lnTo>
                        <a:pt x="6" y="457"/>
                      </a:lnTo>
                      <a:lnTo>
                        <a:pt x="6" y="457"/>
                      </a:lnTo>
                      <a:lnTo>
                        <a:pt x="12" y="477"/>
                      </a:lnTo>
                      <a:lnTo>
                        <a:pt x="20" y="499"/>
                      </a:lnTo>
                      <a:lnTo>
                        <a:pt x="28" y="522"/>
                      </a:lnTo>
                      <a:lnTo>
                        <a:pt x="38" y="545"/>
                      </a:lnTo>
                      <a:lnTo>
                        <a:pt x="49" y="569"/>
                      </a:lnTo>
                      <a:lnTo>
                        <a:pt x="63" y="592"/>
                      </a:lnTo>
                      <a:lnTo>
                        <a:pt x="79" y="614"/>
                      </a:lnTo>
                      <a:lnTo>
                        <a:pt x="97" y="636"/>
                      </a:lnTo>
                      <a:lnTo>
                        <a:pt x="107" y="646"/>
                      </a:lnTo>
                      <a:lnTo>
                        <a:pt x="117" y="657"/>
                      </a:lnTo>
                      <a:lnTo>
                        <a:pt x="128" y="665"/>
                      </a:lnTo>
                      <a:lnTo>
                        <a:pt x="140" y="675"/>
                      </a:lnTo>
                      <a:lnTo>
                        <a:pt x="152" y="684"/>
                      </a:lnTo>
                      <a:lnTo>
                        <a:pt x="166" y="691"/>
                      </a:lnTo>
                      <a:lnTo>
                        <a:pt x="180" y="699"/>
                      </a:lnTo>
                      <a:lnTo>
                        <a:pt x="195" y="706"/>
                      </a:lnTo>
                      <a:lnTo>
                        <a:pt x="211" y="712"/>
                      </a:lnTo>
                      <a:lnTo>
                        <a:pt x="228" y="717"/>
                      </a:lnTo>
                      <a:lnTo>
                        <a:pt x="245" y="722"/>
                      </a:lnTo>
                      <a:lnTo>
                        <a:pt x="264" y="726"/>
                      </a:lnTo>
                      <a:lnTo>
                        <a:pt x="283" y="728"/>
                      </a:lnTo>
                      <a:lnTo>
                        <a:pt x="304" y="729"/>
                      </a:lnTo>
                      <a:lnTo>
                        <a:pt x="325" y="730"/>
                      </a:lnTo>
                      <a:lnTo>
                        <a:pt x="348" y="730"/>
                      </a:lnTo>
                      <a:lnTo>
                        <a:pt x="348" y="730"/>
                      </a:lnTo>
                      <a:lnTo>
                        <a:pt x="348" y="729"/>
                      </a:lnTo>
                      <a:lnTo>
                        <a:pt x="350" y="728"/>
                      </a:lnTo>
                      <a:lnTo>
                        <a:pt x="351" y="722"/>
                      </a:lnTo>
                      <a:lnTo>
                        <a:pt x="350" y="700"/>
                      </a:lnTo>
                      <a:lnTo>
                        <a:pt x="346" y="668"/>
                      </a:lnTo>
                      <a:lnTo>
                        <a:pt x="341" y="630"/>
                      </a:lnTo>
                      <a:lnTo>
                        <a:pt x="328" y="550"/>
                      </a:lnTo>
                      <a:lnTo>
                        <a:pt x="318" y="493"/>
                      </a:lnTo>
                      <a:lnTo>
                        <a:pt x="318" y="493"/>
                      </a:lnTo>
                      <a:lnTo>
                        <a:pt x="314" y="467"/>
                      </a:lnTo>
                      <a:lnTo>
                        <a:pt x="309" y="428"/>
                      </a:lnTo>
                      <a:lnTo>
                        <a:pt x="305" y="381"/>
                      </a:lnTo>
                      <a:lnTo>
                        <a:pt x="304" y="332"/>
                      </a:lnTo>
                      <a:lnTo>
                        <a:pt x="304" y="309"/>
                      </a:lnTo>
                      <a:lnTo>
                        <a:pt x="305" y="285"/>
                      </a:lnTo>
                      <a:lnTo>
                        <a:pt x="308" y="265"/>
                      </a:lnTo>
                      <a:lnTo>
                        <a:pt x="312" y="246"/>
                      </a:lnTo>
                      <a:lnTo>
                        <a:pt x="317" y="230"/>
                      </a:lnTo>
                      <a:lnTo>
                        <a:pt x="319" y="224"/>
                      </a:lnTo>
                      <a:lnTo>
                        <a:pt x="323" y="218"/>
                      </a:lnTo>
                      <a:lnTo>
                        <a:pt x="328" y="214"/>
                      </a:lnTo>
                      <a:lnTo>
                        <a:pt x="331" y="211"/>
                      </a:lnTo>
                      <a:lnTo>
                        <a:pt x="337" y="208"/>
                      </a:lnTo>
                      <a:lnTo>
                        <a:pt x="342" y="208"/>
                      </a:lnTo>
                      <a:lnTo>
                        <a:pt x="342" y="208"/>
                      </a:lnTo>
                      <a:lnTo>
                        <a:pt x="348" y="208"/>
                      </a:lnTo>
                      <a:lnTo>
                        <a:pt x="353" y="209"/>
                      </a:lnTo>
                      <a:lnTo>
                        <a:pt x="358" y="213"/>
                      </a:lnTo>
                      <a:lnTo>
                        <a:pt x="363" y="217"/>
                      </a:lnTo>
                      <a:lnTo>
                        <a:pt x="368" y="222"/>
                      </a:lnTo>
                      <a:lnTo>
                        <a:pt x="373" y="228"/>
                      </a:lnTo>
                      <a:lnTo>
                        <a:pt x="382" y="244"/>
                      </a:lnTo>
                      <a:lnTo>
                        <a:pt x="389" y="262"/>
                      </a:lnTo>
                      <a:lnTo>
                        <a:pt x="395" y="283"/>
                      </a:lnTo>
                      <a:lnTo>
                        <a:pt x="401" y="306"/>
                      </a:lnTo>
                      <a:lnTo>
                        <a:pt x="406" y="332"/>
                      </a:lnTo>
                      <a:lnTo>
                        <a:pt x="415" y="385"/>
                      </a:lnTo>
                      <a:lnTo>
                        <a:pt x="422" y="439"/>
                      </a:lnTo>
                      <a:lnTo>
                        <a:pt x="431" y="532"/>
                      </a:lnTo>
                      <a:lnTo>
                        <a:pt x="431" y="532"/>
                      </a:lnTo>
                      <a:lnTo>
                        <a:pt x="434" y="575"/>
                      </a:lnTo>
                      <a:lnTo>
                        <a:pt x="439" y="625"/>
                      </a:lnTo>
                      <a:lnTo>
                        <a:pt x="443" y="652"/>
                      </a:lnTo>
                      <a:lnTo>
                        <a:pt x="448" y="680"/>
                      </a:lnTo>
                      <a:lnTo>
                        <a:pt x="454" y="708"/>
                      </a:lnTo>
                      <a:lnTo>
                        <a:pt x="462" y="735"/>
                      </a:lnTo>
                      <a:lnTo>
                        <a:pt x="472" y="761"/>
                      </a:lnTo>
                      <a:lnTo>
                        <a:pt x="477" y="773"/>
                      </a:lnTo>
                      <a:lnTo>
                        <a:pt x="485" y="786"/>
                      </a:lnTo>
                      <a:lnTo>
                        <a:pt x="491" y="798"/>
                      </a:lnTo>
                      <a:lnTo>
                        <a:pt x="498" y="808"/>
                      </a:lnTo>
                      <a:lnTo>
                        <a:pt x="507" y="819"/>
                      </a:lnTo>
                      <a:lnTo>
                        <a:pt x="516" y="829"/>
                      </a:lnTo>
                      <a:lnTo>
                        <a:pt x="526" y="837"/>
                      </a:lnTo>
                      <a:lnTo>
                        <a:pt x="536" y="844"/>
                      </a:lnTo>
                      <a:lnTo>
                        <a:pt x="548" y="852"/>
                      </a:lnTo>
                      <a:lnTo>
                        <a:pt x="561" y="858"/>
                      </a:lnTo>
                      <a:lnTo>
                        <a:pt x="573" y="863"/>
                      </a:lnTo>
                      <a:lnTo>
                        <a:pt x="587" y="867"/>
                      </a:lnTo>
                      <a:lnTo>
                        <a:pt x="602" y="870"/>
                      </a:lnTo>
                      <a:lnTo>
                        <a:pt x="618" y="871"/>
                      </a:lnTo>
                      <a:lnTo>
                        <a:pt x="618" y="871"/>
                      </a:lnTo>
                      <a:lnTo>
                        <a:pt x="678" y="874"/>
                      </a:lnTo>
                      <a:lnTo>
                        <a:pt x="726" y="873"/>
                      </a:lnTo>
                      <a:lnTo>
                        <a:pt x="746" y="873"/>
                      </a:lnTo>
                      <a:lnTo>
                        <a:pt x="763" y="870"/>
                      </a:lnTo>
                      <a:lnTo>
                        <a:pt x="778" y="868"/>
                      </a:lnTo>
                      <a:lnTo>
                        <a:pt x="791" y="864"/>
                      </a:lnTo>
                      <a:lnTo>
                        <a:pt x="801" y="860"/>
                      </a:lnTo>
                      <a:lnTo>
                        <a:pt x="809" y="857"/>
                      </a:lnTo>
                      <a:lnTo>
                        <a:pt x="817" y="852"/>
                      </a:lnTo>
                      <a:lnTo>
                        <a:pt x="822" y="846"/>
                      </a:lnTo>
                      <a:lnTo>
                        <a:pt x="825" y="840"/>
                      </a:lnTo>
                      <a:lnTo>
                        <a:pt x="827" y="833"/>
                      </a:lnTo>
                      <a:lnTo>
                        <a:pt x="828" y="826"/>
                      </a:lnTo>
                      <a:lnTo>
                        <a:pt x="828" y="819"/>
                      </a:lnTo>
                      <a:lnTo>
                        <a:pt x="828" y="819"/>
                      </a:lnTo>
                      <a:lnTo>
                        <a:pt x="782" y="379"/>
                      </a:lnTo>
                      <a:lnTo>
                        <a:pt x="782" y="379"/>
                      </a:lnTo>
                      <a:lnTo>
                        <a:pt x="780" y="358"/>
                      </a:lnTo>
                      <a:lnTo>
                        <a:pt x="775" y="330"/>
                      </a:lnTo>
                      <a:lnTo>
                        <a:pt x="770" y="298"/>
                      </a:lnTo>
                      <a:lnTo>
                        <a:pt x="768" y="265"/>
                      </a:lnTo>
                      <a:lnTo>
                        <a:pt x="766" y="249"/>
                      </a:lnTo>
                      <a:lnTo>
                        <a:pt x="766" y="234"/>
                      </a:lnTo>
                      <a:lnTo>
                        <a:pt x="768" y="219"/>
                      </a:lnTo>
                      <a:lnTo>
                        <a:pt x="770" y="207"/>
                      </a:lnTo>
                      <a:lnTo>
                        <a:pt x="774" y="197"/>
                      </a:lnTo>
                      <a:lnTo>
                        <a:pt x="780" y="189"/>
                      </a:lnTo>
                      <a:lnTo>
                        <a:pt x="782" y="186"/>
                      </a:lnTo>
                      <a:lnTo>
                        <a:pt x="786" y="184"/>
                      </a:lnTo>
                      <a:lnTo>
                        <a:pt x="791" y="182"/>
                      </a:lnTo>
                      <a:lnTo>
                        <a:pt x="796" y="182"/>
                      </a:lnTo>
                      <a:lnTo>
                        <a:pt x="796" y="182"/>
                      </a:lnTo>
                      <a:lnTo>
                        <a:pt x="801" y="182"/>
                      </a:lnTo>
                      <a:lnTo>
                        <a:pt x="806" y="184"/>
                      </a:lnTo>
                      <a:lnTo>
                        <a:pt x="811" y="186"/>
                      </a:lnTo>
                      <a:lnTo>
                        <a:pt x="814" y="190"/>
                      </a:lnTo>
                      <a:lnTo>
                        <a:pt x="823" y="200"/>
                      </a:lnTo>
                      <a:lnTo>
                        <a:pt x="831" y="213"/>
                      </a:lnTo>
                      <a:lnTo>
                        <a:pt x="839" y="230"/>
                      </a:lnTo>
                      <a:lnTo>
                        <a:pt x="845" y="250"/>
                      </a:lnTo>
                      <a:lnTo>
                        <a:pt x="852" y="272"/>
                      </a:lnTo>
                      <a:lnTo>
                        <a:pt x="857" y="295"/>
                      </a:lnTo>
                      <a:lnTo>
                        <a:pt x="862" y="321"/>
                      </a:lnTo>
                      <a:lnTo>
                        <a:pt x="867" y="348"/>
                      </a:lnTo>
                      <a:lnTo>
                        <a:pt x="874" y="403"/>
                      </a:lnTo>
                      <a:lnTo>
                        <a:pt x="881" y="460"/>
                      </a:lnTo>
                      <a:lnTo>
                        <a:pt x="885" y="513"/>
                      </a:lnTo>
                      <a:lnTo>
                        <a:pt x="885" y="513"/>
                      </a:lnTo>
                      <a:lnTo>
                        <a:pt x="888" y="570"/>
                      </a:lnTo>
                      <a:lnTo>
                        <a:pt x="889" y="631"/>
                      </a:lnTo>
                      <a:lnTo>
                        <a:pt x="892" y="662"/>
                      </a:lnTo>
                      <a:lnTo>
                        <a:pt x="894" y="692"/>
                      </a:lnTo>
                      <a:lnTo>
                        <a:pt x="898" y="723"/>
                      </a:lnTo>
                      <a:lnTo>
                        <a:pt x="904" y="751"/>
                      </a:lnTo>
                      <a:lnTo>
                        <a:pt x="911" y="778"/>
                      </a:lnTo>
                      <a:lnTo>
                        <a:pt x="916" y="791"/>
                      </a:lnTo>
                      <a:lnTo>
                        <a:pt x="921" y="803"/>
                      </a:lnTo>
                      <a:lnTo>
                        <a:pt x="926" y="813"/>
                      </a:lnTo>
                      <a:lnTo>
                        <a:pt x="933" y="824"/>
                      </a:lnTo>
                      <a:lnTo>
                        <a:pt x="939" y="832"/>
                      </a:lnTo>
                      <a:lnTo>
                        <a:pt x="948" y="841"/>
                      </a:lnTo>
                      <a:lnTo>
                        <a:pt x="957" y="848"/>
                      </a:lnTo>
                      <a:lnTo>
                        <a:pt x="966" y="854"/>
                      </a:lnTo>
                      <a:lnTo>
                        <a:pt x="976" y="858"/>
                      </a:lnTo>
                      <a:lnTo>
                        <a:pt x="987" y="862"/>
                      </a:lnTo>
                      <a:lnTo>
                        <a:pt x="999" y="864"/>
                      </a:lnTo>
                      <a:lnTo>
                        <a:pt x="1013" y="865"/>
                      </a:lnTo>
                      <a:lnTo>
                        <a:pt x="1026" y="864"/>
                      </a:lnTo>
                      <a:lnTo>
                        <a:pt x="1042" y="862"/>
                      </a:lnTo>
                      <a:lnTo>
                        <a:pt x="1042" y="862"/>
                      </a:lnTo>
                      <a:lnTo>
                        <a:pt x="1102" y="849"/>
                      </a:lnTo>
                      <a:lnTo>
                        <a:pt x="1155" y="838"/>
                      </a:lnTo>
                      <a:lnTo>
                        <a:pt x="1201" y="826"/>
                      </a:lnTo>
                      <a:lnTo>
                        <a:pt x="1239" y="814"/>
                      </a:lnTo>
                      <a:lnTo>
                        <a:pt x="1253" y="808"/>
                      </a:lnTo>
                      <a:lnTo>
                        <a:pt x="1267" y="802"/>
                      </a:lnTo>
                      <a:lnTo>
                        <a:pt x="1278" y="797"/>
                      </a:lnTo>
                      <a:lnTo>
                        <a:pt x="1286" y="791"/>
                      </a:lnTo>
                      <a:lnTo>
                        <a:pt x="1292" y="786"/>
                      </a:lnTo>
                      <a:lnTo>
                        <a:pt x="1296" y="779"/>
                      </a:lnTo>
                      <a:lnTo>
                        <a:pt x="1296" y="775"/>
                      </a:lnTo>
                      <a:lnTo>
                        <a:pt x="1295" y="770"/>
                      </a:lnTo>
                      <a:lnTo>
                        <a:pt x="1295" y="770"/>
                      </a:lnTo>
                      <a:lnTo>
                        <a:pt x="1285" y="755"/>
                      </a:lnTo>
                      <a:lnTo>
                        <a:pt x="1273" y="729"/>
                      </a:lnTo>
                      <a:lnTo>
                        <a:pt x="1259" y="695"/>
                      </a:lnTo>
                      <a:lnTo>
                        <a:pt x="1245" y="652"/>
                      </a:lnTo>
                      <a:lnTo>
                        <a:pt x="1237" y="627"/>
                      </a:lnTo>
                      <a:lnTo>
                        <a:pt x="1230" y="602"/>
                      </a:lnTo>
                      <a:lnTo>
                        <a:pt x="1223" y="572"/>
                      </a:lnTo>
                      <a:lnTo>
                        <a:pt x="1216" y="543"/>
                      </a:lnTo>
                      <a:lnTo>
                        <a:pt x="1212" y="511"/>
                      </a:lnTo>
                      <a:lnTo>
                        <a:pt x="1208" y="478"/>
                      </a:lnTo>
                      <a:lnTo>
                        <a:pt x="1204" y="444"/>
                      </a:lnTo>
                      <a:lnTo>
                        <a:pt x="1202" y="408"/>
                      </a:lnTo>
                      <a:lnTo>
                        <a:pt x="1202" y="408"/>
                      </a:lnTo>
                      <a:lnTo>
                        <a:pt x="1201" y="342"/>
                      </a:lnTo>
                      <a:lnTo>
                        <a:pt x="1199" y="292"/>
                      </a:lnTo>
                      <a:lnTo>
                        <a:pt x="1201" y="255"/>
                      </a:lnTo>
                      <a:lnTo>
                        <a:pt x="1202" y="228"/>
                      </a:lnTo>
                      <a:lnTo>
                        <a:pt x="1203" y="218"/>
                      </a:lnTo>
                      <a:lnTo>
                        <a:pt x="1205" y="211"/>
                      </a:lnTo>
                      <a:lnTo>
                        <a:pt x="1208" y="204"/>
                      </a:lnTo>
                      <a:lnTo>
                        <a:pt x="1212" y="200"/>
                      </a:lnTo>
                      <a:lnTo>
                        <a:pt x="1215" y="196"/>
                      </a:lnTo>
                      <a:lnTo>
                        <a:pt x="1219" y="195"/>
                      </a:lnTo>
                      <a:lnTo>
                        <a:pt x="1229" y="191"/>
                      </a:lnTo>
                      <a:lnTo>
                        <a:pt x="1229" y="191"/>
                      </a:lnTo>
                      <a:lnTo>
                        <a:pt x="1235" y="192"/>
                      </a:lnTo>
                      <a:lnTo>
                        <a:pt x="1241" y="195"/>
                      </a:lnTo>
                      <a:lnTo>
                        <a:pt x="1248" y="200"/>
                      </a:lnTo>
                      <a:lnTo>
                        <a:pt x="1254" y="206"/>
                      </a:lnTo>
                      <a:lnTo>
                        <a:pt x="1262" y="216"/>
                      </a:lnTo>
                      <a:lnTo>
                        <a:pt x="1268" y="225"/>
                      </a:lnTo>
                      <a:lnTo>
                        <a:pt x="1274" y="238"/>
                      </a:lnTo>
                      <a:lnTo>
                        <a:pt x="1280" y="251"/>
                      </a:lnTo>
                      <a:lnTo>
                        <a:pt x="1286" y="266"/>
                      </a:lnTo>
                      <a:lnTo>
                        <a:pt x="1292" y="282"/>
                      </a:lnTo>
                      <a:lnTo>
                        <a:pt x="1297" y="299"/>
                      </a:lnTo>
                      <a:lnTo>
                        <a:pt x="1301" y="316"/>
                      </a:lnTo>
                      <a:lnTo>
                        <a:pt x="1305" y="334"/>
                      </a:lnTo>
                      <a:lnTo>
                        <a:pt x="1307" y="354"/>
                      </a:lnTo>
                      <a:lnTo>
                        <a:pt x="1310" y="372"/>
                      </a:lnTo>
                      <a:lnTo>
                        <a:pt x="1311" y="392"/>
                      </a:lnTo>
                      <a:lnTo>
                        <a:pt x="1311" y="392"/>
                      </a:lnTo>
                      <a:lnTo>
                        <a:pt x="1311" y="435"/>
                      </a:lnTo>
                      <a:lnTo>
                        <a:pt x="1313" y="483"/>
                      </a:lnTo>
                      <a:lnTo>
                        <a:pt x="1317" y="532"/>
                      </a:lnTo>
                      <a:lnTo>
                        <a:pt x="1322" y="580"/>
                      </a:lnTo>
                      <a:lnTo>
                        <a:pt x="1326" y="603"/>
                      </a:lnTo>
                      <a:lnTo>
                        <a:pt x="1329" y="625"/>
                      </a:lnTo>
                      <a:lnTo>
                        <a:pt x="1334" y="645"/>
                      </a:lnTo>
                      <a:lnTo>
                        <a:pt x="1339" y="662"/>
                      </a:lnTo>
                      <a:lnTo>
                        <a:pt x="1345" y="678"/>
                      </a:lnTo>
                      <a:lnTo>
                        <a:pt x="1351" y="690"/>
                      </a:lnTo>
                      <a:lnTo>
                        <a:pt x="1359" y="700"/>
                      </a:lnTo>
                      <a:lnTo>
                        <a:pt x="1362" y="703"/>
                      </a:lnTo>
                      <a:lnTo>
                        <a:pt x="1366" y="706"/>
                      </a:lnTo>
                      <a:lnTo>
                        <a:pt x="1366" y="706"/>
                      </a:lnTo>
                      <a:lnTo>
                        <a:pt x="1375" y="710"/>
                      </a:lnTo>
                      <a:lnTo>
                        <a:pt x="1383" y="712"/>
                      </a:lnTo>
                      <a:lnTo>
                        <a:pt x="1392" y="715"/>
                      </a:lnTo>
                      <a:lnTo>
                        <a:pt x="1400" y="716"/>
                      </a:lnTo>
                      <a:lnTo>
                        <a:pt x="1418" y="716"/>
                      </a:lnTo>
                      <a:lnTo>
                        <a:pt x="1436" y="713"/>
                      </a:lnTo>
                      <a:lnTo>
                        <a:pt x="1453" y="708"/>
                      </a:lnTo>
                      <a:lnTo>
                        <a:pt x="1469" y="702"/>
                      </a:lnTo>
                      <a:lnTo>
                        <a:pt x="1485" y="695"/>
                      </a:lnTo>
                      <a:lnTo>
                        <a:pt x="1501" y="686"/>
                      </a:lnTo>
                      <a:lnTo>
                        <a:pt x="1501" y="686"/>
                      </a:lnTo>
                      <a:lnTo>
                        <a:pt x="1523" y="673"/>
                      </a:lnTo>
                      <a:lnTo>
                        <a:pt x="1539" y="663"/>
                      </a:lnTo>
                      <a:lnTo>
                        <a:pt x="1556" y="652"/>
                      </a:lnTo>
                      <a:lnTo>
                        <a:pt x="1576" y="637"/>
                      </a:lnTo>
                      <a:lnTo>
                        <a:pt x="1595" y="621"/>
                      </a:lnTo>
                      <a:lnTo>
                        <a:pt x="1615" y="603"/>
                      </a:lnTo>
                      <a:lnTo>
                        <a:pt x="1633" y="582"/>
                      </a:lnTo>
                      <a:lnTo>
                        <a:pt x="1652" y="559"/>
                      </a:lnTo>
                      <a:lnTo>
                        <a:pt x="1659" y="547"/>
                      </a:lnTo>
                      <a:lnTo>
                        <a:pt x="1666" y="533"/>
                      </a:lnTo>
                      <a:lnTo>
                        <a:pt x="1674" y="520"/>
                      </a:lnTo>
                      <a:lnTo>
                        <a:pt x="1680" y="505"/>
                      </a:lnTo>
                      <a:lnTo>
                        <a:pt x="1685" y="490"/>
                      </a:lnTo>
                      <a:lnTo>
                        <a:pt x="1690" y="474"/>
                      </a:lnTo>
                      <a:lnTo>
                        <a:pt x="1693" y="458"/>
                      </a:lnTo>
                      <a:lnTo>
                        <a:pt x="1696" y="441"/>
                      </a:lnTo>
                      <a:lnTo>
                        <a:pt x="1697" y="424"/>
                      </a:lnTo>
                      <a:lnTo>
                        <a:pt x="1696" y="406"/>
                      </a:lnTo>
                      <a:lnTo>
                        <a:pt x="1695" y="387"/>
                      </a:lnTo>
                      <a:lnTo>
                        <a:pt x="1692" y="368"/>
                      </a:lnTo>
                      <a:lnTo>
                        <a:pt x="1688" y="348"/>
                      </a:lnTo>
                      <a:lnTo>
                        <a:pt x="1682" y="327"/>
                      </a:lnTo>
                      <a:lnTo>
                        <a:pt x="1682" y="327"/>
                      </a:lnTo>
                      <a:lnTo>
                        <a:pt x="1668" y="287"/>
                      </a:lnTo>
                      <a:lnTo>
                        <a:pt x="1653" y="251"/>
                      </a:lnTo>
                      <a:lnTo>
                        <a:pt x="1637" y="220"/>
                      </a:lnTo>
                      <a:lnTo>
                        <a:pt x="1621" y="192"/>
                      </a:lnTo>
                      <a:lnTo>
                        <a:pt x="1605" y="168"/>
                      </a:lnTo>
                      <a:lnTo>
                        <a:pt x="1589" y="147"/>
                      </a:lnTo>
                      <a:lnTo>
                        <a:pt x="1572" y="128"/>
                      </a:lnTo>
                      <a:lnTo>
                        <a:pt x="1556" y="114"/>
                      </a:lnTo>
                      <a:lnTo>
                        <a:pt x="1541" y="102"/>
                      </a:lnTo>
                      <a:lnTo>
                        <a:pt x="1527" y="90"/>
                      </a:lnTo>
                      <a:lnTo>
                        <a:pt x="1513" y="83"/>
                      </a:lnTo>
                      <a:lnTo>
                        <a:pt x="1501" y="77"/>
                      </a:lnTo>
                      <a:lnTo>
                        <a:pt x="1490" y="73"/>
                      </a:lnTo>
                      <a:lnTo>
                        <a:pt x="1480" y="71"/>
                      </a:lnTo>
                      <a:lnTo>
                        <a:pt x="1473" y="70"/>
                      </a:lnTo>
                      <a:lnTo>
                        <a:pt x="1468" y="68"/>
                      </a:lnTo>
                      <a:lnTo>
                        <a:pt x="1468" y="68"/>
                      </a:lnTo>
                      <a:lnTo>
                        <a:pt x="1459" y="70"/>
                      </a:lnTo>
                      <a:lnTo>
                        <a:pt x="1452" y="71"/>
                      </a:lnTo>
                      <a:lnTo>
                        <a:pt x="1445" y="73"/>
                      </a:lnTo>
                      <a:lnTo>
                        <a:pt x="1442" y="76"/>
                      </a:lnTo>
                      <a:lnTo>
                        <a:pt x="1440" y="78"/>
                      </a:lnTo>
                      <a:lnTo>
                        <a:pt x="1436" y="87"/>
                      </a:lnTo>
                      <a:lnTo>
                        <a:pt x="1433" y="99"/>
                      </a:lnTo>
                      <a:lnTo>
                        <a:pt x="1433" y="116"/>
                      </a:lnTo>
                      <a:lnTo>
                        <a:pt x="1435" y="138"/>
                      </a:lnTo>
                      <a:lnTo>
                        <a:pt x="1435" y="138"/>
                      </a:lnTo>
                      <a:lnTo>
                        <a:pt x="1440" y="174"/>
                      </a:lnTo>
                      <a:lnTo>
                        <a:pt x="1446" y="224"/>
                      </a:lnTo>
                      <a:lnTo>
                        <a:pt x="1453" y="282"/>
                      </a:lnTo>
                      <a:lnTo>
                        <a:pt x="1459" y="342"/>
                      </a:lnTo>
                      <a:lnTo>
                        <a:pt x="1462" y="371"/>
                      </a:lnTo>
                      <a:lnTo>
                        <a:pt x="1462" y="397"/>
                      </a:lnTo>
                      <a:lnTo>
                        <a:pt x="1462" y="422"/>
                      </a:lnTo>
                      <a:lnTo>
                        <a:pt x="1459" y="441"/>
                      </a:lnTo>
                      <a:lnTo>
                        <a:pt x="1458" y="450"/>
                      </a:lnTo>
                      <a:lnTo>
                        <a:pt x="1456" y="457"/>
                      </a:lnTo>
                      <a:lnTo>
                        <a:pt x="1453" y="463"/>
                      </a:lnTo>
                      <a:lnTo>
                        <a:pt x="1449" y="467"/>
                      </a:lnTo>
                      <a:lnTo>
                        <a:pt x="1446" y="471"/>
                      </a:lnTo>
                      <a:lnTo>
                        <a:pt x="1441" y="472"/>
                      </a:lnTo>
                      <a:lnTo>
                        <a:pt x="1436" y="472"/>
                      </a:lnTo>
                      <a:lnTo>
                        <a:pt x="1430" y="469"/>
                      </a:lnTo>
                      <a:lnTo>
                        <a:pt x="1430" y="469"/>
                      </a:lnTo>
                      <a:lnTo>
                        <a:pt x="1425" y="466"/>
                      </a:lnTo>
                      <a:lnTo>
                        <a:pt x="1419" y="461"/>
                      </a:lnTo>
                      <a:lnTo>
                        <a:pt x="1414" y="456"/>
                      </a:lnTo>
                      <a:lnTo>
                        <a:pt x="1409" y="448"/>
                      </a:lnTo>
                      <a:lnTo>
                        <a:pt x="1400" y="434"/>
                      </a:lnTo>
                      <a:lnTo>
                        <a:pt x="1392" y="415"/>
                      </a:lnTo>
                      <a:lnTo>
                        <a:pt x="1386" y="395"/>
                      </a:lnTo>
                      <a:lnTo>
                        <a:pt x="1381" y="371"/>
                      </a:lnTo>
                      <a:lnTo>
                        <a:pt x="1376" y="348"/>
                      </a:lnTo>
                      <a:lnTo>
                        <a:pt x="1372" y="323"/>
                      </a:lnTo>
                      <a:lnTo>
                        <a:pt x="1367" y="277"/>
                      </a:lnTo>
                      <a:lnTo>
                        <a:pt x="1364" y="233"/>
                      </a:lnTo>
                      <a:lnTo>
                        <a:pt x="1361" y="180"/>
                      </a:lnTo>
                      <a:lnTo>
                        <a:pt x="1361" y="180"/>
                      </a:lnTo>
                      <a:lnTo>
                        <a:pt x="1359" y="148"/>
                      </a:lnTo>
                      <a:lnTo>
                        <a:pt x="1356" y="128"/>
                      </a:lnTo>
                      <a:lnTo>
                        <a:pt x="1354" y="108"/>
                      </a:lnTo>
                      <a:lnTo>
                        <a:pt x="1350" y="88"/>
                      </a:lnTo>
                      <a:lnTo>
                        <a:pt x="1348" y="79"/>
                      </a:lnTo>
                      <a:lnTo>
                        <a:pt x="1344" y="72"/>
                      </a:lnTo>
                      <a:lnTo>
                        <a:pt x="1340" y="65"/>
                      </a:lnTo>
                      <a:lnTo>
                        <a:pt x="1337" y="60"/>
                      </a:lnTo>
                      <a:lnTo>
                        <a:pt x="1332" y="56"/>
                      </a:lnTo>
                      <a:lnTo>
                        <a:pt x="1326" y="54"/>
                      </a:lnTo>
                      <a:lnTo>
                        <a:pt x="1326" y="54"/>
                      </a:lnTo>
                      <a:lnTo>
                        <a:pt x="1281" y="43"/>
                      </a:lnTo>
                      <a:lnTo>
                        <a:pt x="1214" y="27"/>
                      </a:lnTo>
                      <a:lnTo>
                        <a:pt x="1178" y="18"/>
                      </a:lnTo>
                      <a:lnTo>
                        <a:pt x="1147" y="12"/>
                      </a:lnTo>
                      <a:lnTo>
                        <a:pt x="1120" y="7"/>
                      </a:lnTo>
                      <a:lnTo>
                        <a:pt x="1110" y="7"/>
                      </a:lnTo>
                      <a:lnTo>
                        <a:pt x="1102" y="7"/>
                      </a:lnTo>
                      <a:lnTo>
                        <a:pt x="1102" y="7"/>
                      </a:lnTo>
                      <a:lnTo>
                        <a:pt x="1093" y="10"/>
                      </a:lnTo>
                      <a:lnTo>
                        <a:pt x="1083" y="12"/>
                      </a:lnTo>
                      <a:lnTo>
                        <a:pt x="1075" y="16"/>
                      </a:lnTo>
                      <a:lnTo>
                        <a:pt x="1069" y="22"/>
                      </a:lnTo>
                      <a:lnTo>
                        <a:pt x="1064" y="30"/>
                      </a:lnTo>
                      <a:lnTo>
                        <a:pt x="1062" y="41"/>
                      </a:lnTo>
                      <a:lnTo>
                        <a:pt x="1062" y="56"/>
                      </a:lnTo>
                      <a:lnTo>
                        <a:pt x="1062" y="73"/>
                      </a:lnTo>
                      <a:lnTo>
                        <a:pt x="1062" y="73"/>
                      </a:lnTo>
                      <a:lnTo>
                        <a:pt x="1073" y="158"/>
                      </a:lnTo>
                      <a:lnTo>
                        <a:pt x="1080" y="223"/>
                      </a:lnTo>
                      <a:lnTo>
                        <a:pt x="1085" y="293"/>
                      </a:lnTo>
                      <a:lnTo>
                        <a:pt x="1088" y="327"/>
                      </a:lnTo>
                      <a:lnTo>
                        <a:pt x="1088" y="359"/>
                      </a:lnTo>
                      <a:lnTo>
                        <a:pt x="1086" y="390"/>
                      </a:lnTo>
                      <a:lnTo>
                        <a:pt x="1084" y="417"/>
                      </a:lnTo>
                      <a:lnTo>
                        <a:pt x="1083" y="428"/>
                      </a:lnTo>
                      <a:lnTo>
                        <a:pt x="1080" y="439"/>
                      </a:lnTo>
                      <a:lnTo>
                        <a:pt x="1077" y="447"/>
                      </a:lnTo>
                      <a:lnTo>
                        <a:pt x="1073" y="456"/>
                      </a:lnTo>
                      <a:lnTo>
                        <a:pt x="1069" y="462"/>
                      </a:lnTo>
                      <a:lnTo>
                        <a:pt x="1064" y="466"/>
                      </a:lnTo>
                      <a:lnTo>
                        <a:pt x="1058" y="469"/>
                      </a:lnTo>
                      <a:lnTo>
                        <a:pt x="1052" y="469"/>
                      </a:lnTo>
                      <a:lnTo>
                        <a:pt x="1052" y="469"/>
                      </a:lnTo>
                      <a:lnTo>
                        <a:pt x="1046" y="469"/>
                      </a:lnTo>
                      <a:lnTo>
                        <a:pt x="1040" y="467"/>
                      </a:lnTo>
                      <a:lnTo>
                        <a:pt x="1034" y="464"/>
                      </a:lnTo>
                      <a:lnTo>
                        <a:pt x="1029" y="461"/>
                      </a:lnTo>
                      <a:lnTo>
                        <a:pt x="1024" y="457"/>
                      </a:lnTo>
                      <a:lnTo>
                        <a:pt x="1019" y="451"/>
                      </a:lnTo>
                      <a:lnTo>
                        <a:pt x="1010" y="439"/>
                      </a:lnTo>
                      <a:lnTo>
                        <a:pt x="1003" y="423"/>
                      </a:lnTo>
                      <a:lnTo>
                        <a:pt x="997" y="404"/>
                      </a:lnTo>
                      <a:lnTo>
                        <a:pt x="992" y="385"/>
                      </a:lnTo>
                      <a:lnTo>
                        <a:pt x="987" y="364"/>
                      </a:lnTo>
                      <a:lnTo>
                        <a:pt x="984" y="342"/>
                      </a:lnTo>
                      <a:lnTo>
                        <a:pt x="981" y="319"/>
                      </a:lnTo>
                      <a:lnTo>
                        <a:pt x="976" y="274"/>
                      </a:lnTo>
                      <a:lnTo>
                        <a:pt x="974" y="231"/>
                      </a:lnTo>
                      <a:lnTo>
                        <a:pt x="972" y="196"/>
                      </a:lnTo>
                      <a:lnTo>
                        <a:pt x="972" y="196"/>
                      </a:lnTo>
                      <a:lnTo>
                        <a:pt x="971" y="163"/>
                      </a:lnTo>
                      <a:lnTo>
                        <a:pt x="969" y="131"/>
                      </a:lnTo>
                      <a:lnTo>
                        <a:pt x="965" y="99"/>
                      </a:lnTo>
                      <a:lnTo>
                        <a:pt x="960" y="70"/>
                      </a:lnTo>
                      <a:lnTo>
                        <a:pt x="958" y="56"/>
                      </a:lnTo>
                      <a:lnTo>
                        <a:pt x="954" y="44"/>
                      </a:lnTo>
                      <a:lnTo>
                        <a:pt x="950" y="33"/>
                      </a:lnTo>
                      <a:lnTo>
                        <a:pt x="945" y="24"/>
                      </a:lnTo>
                      <a:lnTo>
                        <a:pt x="941" y="17"/>
                      </a:lnTo>
                      <a:lnTo>
                        <a:pt x="934" y="11"/>
                      </a:lnTo>
                      <a:lnTo>
                        <a:pt x="927" y="7"/>
                      </a:lnTo>
                      <a:lnTo>
                        <a:pt x="920" y="5"/>
                      </a:lnTo>
                      <a:lnTo>
                        <a:pt x="920" y="5"/>
                      </a:lnTo>
                      <a:lnTo>
                        <a:pt x="862" y="2"/>
                      </a:lnTo>
                      <a:lnTo>
                        <a:pt x="819" y="0"/>
                      </a:lnTo>
                      <a:lnTo>
                        <a:pt x="773" y="0"/>
                      </a:lnTo>
                      <a:lnTo>
                        <a:pt x="727" y="0"/>
                      </a:lnTo>
                      <a:lnTo>
                        <a:pt x="684" y="1"/>
                      </a:lnTo>
                      <a:lnTo>
                        <a:pt x="666" y="2"/>
                      </a:lnTo>
                      <a:lnTo>
                        <a:pt x="650" y="5"/>
                      </a:lnTo>
                      <a:lnTo>
                        <a:pt x="638" y="7"/>
                      </a:lnTo>
                      <a:lnTo>
                        <a:pt x="628" y="11"/>
                      </a:lnTo>
                      <a:lnTo>
                        <a:pt x="628" y="11"/>
                      </a:lnTo>
                      <a:lnTo>
                        <a:pt x="614" y="18"/>
                      </a:lnTo>
                      <a:lnTo>
                        <a:pt x="606" y="24"/>
                      </a:lnTo>
                      <a:lnTo>
                        <a:pt x="601" y="29"/>
                      </a:lnTo>
                      <a:lnTo>
                        <a:pt x="599" y="37"/>
                      </a:lnTo>
                      <a:lnTo>
                        <a:pt x="599" y="44"/>
                      </a:lnTo>
                      <a:lnTo>
                        <a:pt x="600" y="55"/>
                      </a:lnTo>
                      <a:lnTo>
                        <a:pt x="601" y="67"/>
                      </a:lnTo>
                      <a:lnTo>
                        <a:pt x="603" y="84"/>
                      </a:lnTo>
                      <a:lnTo>
                        <a:pt x="603" y="84"/>
                      </a:lnTo>
                      <a:lnTo>
                        <a:pt x="612" y="168"/>
                      </a:lnTo>
                      <a:lnTo>
                        <a:pt x="617" y="231"/>
                      </a:lnTo>
                      <a:lnTo>
                        <a:pt x="621" y="301"/>
                      </a:lnTo>
                      <a:lnTo>
                        <a:pt x="622" y="334"/>
                      </a:lnTo>
                      <a:lnTo>
                        <a:pt x="622" y="368"/>
                      </a:lnTo>
                      <a:lnTo>
                        <a:pt x="621" y="397"/>
                      </a:lnTo>
                      <a:lnTo>
                        <a:pt x="618" y="423"/>
                      </a:lnTo>
                      <a:lnTo>
                        <a:pt x="614" y="445"/>
                      </a:lnTo>
                      <a:lnTo>
                        <a:pt x="612" y="453"/>
                      </a:lnTo>
                      <a:lnTo>
                        <a:pt x="610" y="461"/>
                      </a:lnTo>
                      <a:lnTo>
                        <a:pt x="606" y="467"/>
                      </a:lnTo>
                      <a:lnTo>
                        <a:pt x="602" y="471"/>
                      </a:lnTo>
                      <a:lnTo>
                        <a:pt x="599" y="473"/>
                      </a:lnTo>
                      <a:lnTo>
                        <a:pt x="594" y="473"/>
                      </a:lnTo>
                      <a:lnTo>
                        <a:pt x="594" y="473"/>
                      </a:lnTo>
                      <a:lnTo>
                        <a:pt x="587" y="471"/>
                      </a:lnTo>
                      <a:lnTo>
                        <a:pt x="583" y="467"/>
                      </a:lnTo>
                      <a:lnTo>
                        <a:pt x="579" y="462"/>
                      </a:lnTo>
                      <a:lnTo>
                        <a:pt x="574" y="456"/>
                      </a:lnTo>
                      <a:lnTo>
                        <a:pt x="569" y="447"/>
                      </a:lnTo>
                      <a:lnTo>
                        <a:pt x="565" y="439"/>
                      </a:lnTo>
                      <a:lnTo>
                        <a:pt x="558" y="417"/>
                      </a:lnTo>
                      <a:lnTo>
                        <a:pt x="551" y="391"/>
                      </a:lnTo>
                      <a:lnTo>
                        <a:pt x="545" y="363"/>
                      </a:lnTo>
                      <a:lnTo>
                        <a:pt x="540" y="332"/>
                      </a:lnTo>
                      <a:lnTo>
                        <a:pt x="535" y="300"/>
                      </a:lnTo>
                      <a:lnTo>
                        <a:pt x="527" y="235"/>
                      </a:lnTo>
                      <a:lnTo>
                        <a:pt x="521" y="176"/>
                      </a:lnTo>
                      <a:lnTo>
                        <a:pt x="515" y="103"/>
                      </a:lnTo>
                      <a:lnTo>
                        <a:pt x="515" y="103"/>
                      </a:lnTo>
                      <a:lnTo>
                        <a:pt x="513" y="88"/>
                      </a:lnTo>
                      <a:lnTo>
                        <a:pt x="509" y="75"/>
                      </a:lnTo>
                      <a:lnTo>
                        <a:pt x="504" y="62"/>
                      </a:lnTo>
                      <a:lnTo>
                        <a:pt x="497" y="54"/>
                      </a:lnTo>
                      <a:lnTo>
                        <a:pt x="487" y="46"/>
                      </a:lnTo>
                      <a:lnTo>
                        <a:pt x="482" y="43"/>
                      </a:lnTo>
                      <a:lnTo>
                        <a:pt x="477" y="41"/>
                      </a:lnTo>
                      <a:lnTo>
                        <a:pt x="471" y="39"/>
                      </a:lnTo>
                      <a:lnTo>
                        <a:pt x="465" y="39"/>
                      </a:lnTo>
                      <a:lnTo>
                        <a:pt x="451" y="39"/>
                      </a:lnTo>
                      <a:lnTo>
                        <a:pt x="451" y="39"/>
                      </a:lnTo>
                      <a:lnTo>
                        <a:pt x="394" y="46"/>
                      </a:lnTo>
                      <a:lnTo>
                        <a:pt x="350" y="52"/>
                      </a:lnTo>
                      <a:lnTo>
                        <a:pt x="302" y="62"/>
                      </a:lnTo>
                      <a:lnTo>
                        <a:pt x="277" y="68"/>
                      </a:lnTo>
                      <a:lnTo>
                        <a:pt x="255" y="75"/>
                      </a:lnTo>
                      <a:lnTo>
                        <a:pt x="233" y="82"/>
                      </a:lnTo>
                      <a:lnTo>
                        <a:pt x="214" y="90"/>
                      </a:lnTo>
                      <a:lnTo>
                        <a:pt x="198" y="100"/>
                      </a:lnTo>
                      <a:lnTo>
                        <a:pt x="190" y="105"/>
                      </a:lnTo>
                      <a:lnTo>
                        <a:pt x="183" y="111"/>
                      </a:lnTo>
                      <a:lnTo>
                        <a:pt x="178" y="117"/>
                      </a:lnTo>
                      <a:lnTo>
                        <a:pt x="173" y="124"/>
                      </a:lnTo>
                      <a:lnTo>
                        <a:pt x="171" y="130"/>
                      </a:lnTo>
                      <a:lnTo>
                        <a:pt x="168" y="136"/>
                      </a:lnTo>
                      <a:lnTo>
                        <a:pt x="168" y="136"/>
                      </a:lnTo>
                      <a:lnTo>
                        <a:pt x="166" y="152"/>
                      </a:lnTo>
                      <a:lnTo>
                        <a:pt x="165" y="169"/>
                      </a:lnTo>
                      <a:lnTo>
                        <a:pt x="165" y="189"/>
                      </a:lnTo>
                      <a:lnTo>
                        <a:pt x="165" y="209"/>
                      </a:lnTo>
                      <a:lnTo>
                        <a:pt x="167" y="255"/>
                      </a:lnTo>
                      <a:lnTo>
                        <a:pt x="169" y="300"/>
                      </a:lnTo>
                      <a:lnTo>
                        <a:pt x="172" y="342"/>
                      </a:lnTo>
                      <a:lnTo>
                        <a:pt x="172" y="360"/>
                      </a:lnTo>
                      <a:lnTo>
                        <a:pt x="171" y="376"/>
                      </a:lnTo>
                      <a:lnTo>
                        <a:pt x="169" y="390"/>
                      </a:lnTo>
                      <a:lnTo>
                        <a:pt x="166" y="401"/>
                      </a:lnTo>
                      <a:lnTo>
                        <a:pt x="163" y="404"/>
                      </a:lnTo>
                      <a:lnTo>
                        <a:pt x="161" y="407"/>
                      </a:lnTo>
                      <a:lnTo>
                        <a:pt x="158" y="409"/>
                      </a:lnTo>
                      <a:lnTo>
                        <a:pt x="155" y="409"/>
                      </a:lnTo>
                      <a:lnTo>
                        <a:pt x="155" y="409"/>
                      </a:lnTo>
                      <a:lnTo>
                        <a:pt x="147" y="409"/>
                      </a:lnTo>
                      <a:lnTo>
                        <a:pt x="140" y="407"/>
                      </a:lnTo>
                      <a:lnTo>
                        <a:pt x="134" y="403"/>
                      </a:lnTo>
                      <a:lnTo>
                        <a:pt x="129" y="398"/>
                      </a:lnTo>
                      <a:lnTo>
                        <a:pt x="123" y="392"/>
                      </a:lnTo>
                      <a:lnTo>
                        <a:pt x="118" y="385"/>
                      </a:lnTo>
                      <a:lnTo>
                        <a:pt x="114" y="377"/>
                      </a:lnTo>
                      <a:lnTo>
                        <a:pt x="111" y="369"/>
                      </a:lnTo>
                      <a:lnTo>
                        <a:pt x="103" y="348"/>
                      </a:lnTo>
                      <a:lnTo>
                        <a:pt x="97" y="326"/>
                      </a:lnTo>
                      <a:lnTo>
                        <a:pt x="93" y="304"/>
                      </a:lnTo>
                      <a:lnTo>
                        <a:pt x="88" y="281"/>
                      </a:lnTo>
                      <a:lnTo>
                        <a:pt x="82" y="238"/>
                      </a:lnTo>
                      <a:lnTo>
                        <a:pt x="80" y="220"/>
                      </a:lnTo>
                      <a:lnTo>
                        <a:pt x="76" y="206"/>
                      </a:lnTo>
                      <a:lnTo>
                        <a:pt x="73" y="197"/>
                      </a:lnTo>
                      <a:lnTo>
                        <a:pt x="71" y="193"/>
                      </a:lnTo>
                      <a:lnTo>
                        <a:pt x="69" y="192"/>
                      </a:lnTo>
                      <a:lnTo>
                        <a:pt x="66" y="193"/>
                      </a:lnTo>
                      <a:lnTo>
                        <a:pt x="64" y="195"/>
                      </a:lnTo>
                      <a:lnTo>
                        <a:pt x="60" y="200"/>
                      </a:lnTo>
                      <a:lnTo>
                        <a:pt x="58" y="204"/>
                      </a:lnTo>
                      <a:lnTo>
                        <a:pt x="58" y="204"/>
                      </a:lnTo>
                      <a:close/>
                    </a:path>
                  </a:pathLst>
                </a:cu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671" name="Star: 5 Points 670">
                  <a:extLst>
                    <a:ext uri="{FF2B5EF4-FFF2-40B4-BE49-F238E27FC236}">
                      <a16:creationId xmlns:a16="http://schemas.microsoft.com/office/drawing/2014/main" id="{75ED44C5-42BF-4CF2-8DBF-8F5563C1D0C8}"/>
                    </a:ext>
                  </a:extLst>
                </p:cNvPr>
                <p:cNvSpPr/>
                <p:nvPr/>
              </p:nvSpPr>
              <p:spPr>
                <a:xfrm>
                  <a:off x="4720302" y="5665398"/>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2" name="Star: 5 Points 671">
                  <a:extLst>
                    <a:ext uri="{FF2B5EF4-FFF2-40B4-BE49-F238E27FC236}">
                      <a16:creationId xmlns:a16="http://schemas.microsoft.com/office/drawing/2014/main" id="{847EB313-670C-4D38-AA7F-83AC34098293}"/>
                    </a:ext>
                  </a:extLst>
                </p:cNvPr>
                <p:cNvSpPr/>
                <p:nvPr/>
              </p:nvSpPr>
              <p:spPr>
                <a:xfrm>
                  <a:off x="4822427" y="5596081"/>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3" name="Star: 5 Points 672">
                  <a:extLst>
                    <a:ext uri="{FF2B5EF4-FFF2-40B4-BE49-F238E27FC236}">
                      <a16:creationId xmlns:a16="http://schemas.microsoft.com/office/drawing/2014/main" id="{EED5F6B1-60A8-4096-83D3-C27AA14976EF}"/>
                    </a:ext>
                  </a:extLst>
                </p:cNvPr>
                <p:cNvSpPr/>
                <p:nvPr/>
              </p:nvSpPr>
              <p:spPr>
                <a:xfrm>
                  <a:off x="4813071" y="5492239"/>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4" name="Star: 5 Points 673">
                  <a:extLst>
                    <a:ext uri="{FF2B5EF4-FFF2-40B4-BE49-F238E27FC236}">
                      <a16:creationId xmlns:a16="http://schemas.microsoft.com/office/drawing/2014/main" id="{9D879719-FCBF-4211-988A-E6D75D13B611}"/>
                    </a:ext>
                  </a:extLst>
                </p:cNvPr>
                <p:cNvSpPr/>
                <p:nvPr/>
              </p:nvSpPr>
              <p:spPr>
                <a:xfrm>
                  <a:off x="4654773" y="5558555"/>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5" name="Star: 5 Points 674">
                  <a:extLst>
                    <a:ext uri="{FF2B5EF4-FFF2-40B4-BE49-F238E27FC236}">
                      <a16:creationId xmlns:a16="http://schemas.microsoft.com/office/drawing/2014/main" id="{71290005-3C6A-4273-A436-36013AABF968}"/>
                    </a:ext>
                  </a:extLst>
                </p:cNvPr>
                <p:cNvSpPr/>
                <p:nvPr/>
              </p:nvSpPr>
              <p:spPr>
                <a:xfrm>
                  <a:off x="4809886" y="5690796"/>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76" name="Straight Arrow Connector 675">
                  <a:extLst>
                    <a:ext uri="{FF2B5EF4-FFF2-40B4-BE49-F238E27FC236}">
                      <a16:creationId xmlns:a16="http://schemas.microsoft.com/office/drawing/2014/main" id="{EBEB9A74-9243-427A-80F5-A15675FDA7BA}"/>
                    </a:ext>
                  </a:extLst>
                </p:cNvPr>
                <p:cNvCxnSpPr/>
                <p:nvPr/>
              </p:nvCxnSpPr>
              <p:spPr>
                <a:xfrm flipH="1">
                  <a:off x="4713210" y="5795566"/>
                  <a:ext cx="58130" cy="150150"/>
                </a:xfrm>
                <a:prstGeom prst="straightConnector1">
                  <a:avLst/>
                </a:prstGeom>
                <a:ln>
                  <a:tailEnd type="triangle" w="sm" len="sm"/>
                </a:ln>
              </p:spPr>
              <p:style>
                <a:lnRef idx="1">
                  <a:schemeClr val="accent1"/>
                </a:lnRef>
                <a:fillRef idx="0">
                  <a:schemeClr val="accent1"/>
                </a:fillRef>
                <a:effectRef idx="0">
                  <a:schemeClr val="accent1"/>
                </a:effectRef>
                <a:fontRef idx="minor">
                  <a:schemeClr val="tx1"/>
                </a:fontRef>
              </p:style>
            </p:cxnSp>
            <p:sp>
              <p:nvSpPr>
                <p:cNvPr id="677" name="Isosceles Triangle 676">
                  <a:extLst>
                    <a:ext uri="{FF2B5EF4-FFF2-40B4-BE49-F238E27FC236}">
                      <a16:creationId xmlns:a16="http://schemas.microsoft.com/office/drawing/2014/main" id="{BE00CF98-0A56-4967-864C-AD24C765ABFC}"/>
                    </a:ext>
                  </a:extLst>
                </p:cNvPr>
                <p:cNvSpPr/>
                <p:nvPr/>
              </p:nvSpPr>
              <p:spPr>
                <a:xfrm rot="9643569">
                  <a:off x="4621837" y="5944928"/>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8" name="Isosceles Triangle 677">
                  <a:extLst>
                    <a:ext uri="{FF2B5EF4-FFF2-40B4-BE49-F238E27FC236}">
                      <a16:creationId xmlns:a16="http://schemas.microsoft.com/office/drawing/2014/main" id="{1A1E9D58-02E0-45D3-AE86-ABEC5224D6A9}"/>
                    </a:ext>
                  </a:extLst>
                </p:cNvPr>
                <p:cNvSpPr/>
                <p:nvPr/>
              </p:nvSpPr>
              <p:spPr>
                <a:xfrm rot="6564162">
                  <a:off x="4682586" y="5973892"/>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grpSp>
        <p:nvGrpSpPr>
          <p:cNvPr id="37" name="Group 36">
            <a:extLst>
              <a:ext uri="{FF2B5EF4-FFF2-40B4-BE49-F238E27FC236}">
                <a16:creationId xmlns:a16="http://schemas.microsoft.com/office/drawing/2014/main" id="{227F0EB0-8557-572D-2CF4-C4EDAF4E1EB2}"/>
              </a:ext>
            </a:extLst>
          </p:cNvPr>
          <p:cNvGrpSpPr/>
          <p:nvPr/>
        </p:nvGrpSpPr>
        <p:grpSpPr>
          <a:xfrm>
            <a:off x="8951097" y="1376825"/>
            <a:ext cx="1756872" cy="4070366"/>
            <a:chOff x="8951097" y="1376825"/>
            <a:chExt cx="1756872" cy="4070366"/>
          </a:xfrm>
        </p:grpSpPr>
        <p:grpSp>
          <p:nvGrpSpPr>
            <p:cNvPr id="36" name="Group 35">
              <a:extLst>
                <a:ext uri="{FF2B5EF4-FFF2-40B4-BE49-F238E27FC236}">
                  <a16:creationId xmlns:a16="http://schemas.microsoft.com/office/drawing/2014/main" id="{5AEA7956-872D-2F1D-0282-89A508C4BF45}"/>
                </a:ext>
              </a:extLst>
            </p:cNvPr>
            <p:cNvGrpSpPr/>
            <p:nvPr/>
          </p:nvGrpSpPr>
          <p:grpSpPr>
            <a:xfrm>
              <a:off x="8951097" y="3869637"/>
              <a:ext cx="1756872" cy="1577554"/>
              <a:chOff x="8744388" y="3869637"/>
              <a:chExt cx="1756872" cy="1577554"/>
            </a:xfrm>
          </p:grpSpPr>
          <p:grpSp>
            <p:nvGrpSpPr>
              <p:cNvPr id="235" name="Group 234">
                <a:extLst>
                  <a:ext uri="{FF2B5EF4-FFF2-40B4-BE49-F238E27FC236}">
                    <a16:creationId xmlns:a16="http://schemas.microsoft.com/office/drawing/2014/main" id="{C37EB2D6-1733-4899-9529-B14F543E8EC5}"/>
                  </a:ext>
                </a:extLst>
              </p:cNvPr>
              <p:cNvGrpSpPr/>
              <p:nvPr/>
            </p:nvGrpSpPr>
            <p:grpSpPr>
              <a:xfrm flipH="1">
                <a:off x="8744388" y="3869637"/>
                <a:ext cx="1756872" cy="1577554"/>
                <a:chOff x="5624513" y="4150363"/>
                <a:chExt cx="2457451" cy="2206626"/>
              </a:xfrm>
            </p:grpSpPr>
            <p:sp>
              <p:nvSpPr>
                <p:cNvPr id="236" name="Freeform 357">
                  <a:extLst>
                    <a:ext uri="{FF2B5EF4-FFF2-40B4-BE49-F238E27FC236}">
                      <a16:creationId xmlns:a16="http://schemas.microsoft.com/office/drawing/2014/main" id="{44EEBC45-2911-4F1C-B9B3-75A094E67950}"/>
                    </a:ext>
                  </a:extLst>
                </p:cNvPr>
                <p:cNvSpPr>
                  <a:spLocks/>
                </p:cNvSpPr>
                <p:nvPr/>
              </p:nvSpPr>
              <p:spPr bwMode="auto">
                <a:xfrm>
                  <a:off x="6161088" y="4836163"/>
                  <a:ext cx="1690688" cy="1300163"/>
                </a:xfrm>
                <a:custGeom>
                  <a:avLst/>
                  <a:gdLst>
                    <a:gd name="T0" fmla="*/ 1111 w 1127"/>
                    <a:gd name="T1" fmla="*/ 542 h 868"/>
                    <a:gd name="T2" fmla="*/ 1103 w 1127"/>
                    <a:gd name="T3" fmla="*/ 571 h 868"/>
                    <a:gd name="T4" fmla="*/ 1098 w 1127"/>
                    <a:gd name="T5" fmla="*/ 613 h 868"/>
                    <a:gd name="T6" fmla="*/ 1081 w 1127"/>
                    <a:gd name="T7" fmla="*/ 656 h 868"/>
                    <a:gd name="T8" fmla="*/ 1060 w 1127"/>
                    <a:gd name="T9" fmla="*/ 694 h 868"/>
                    <a:gd name="T10" fmla="*/ 1054 w 1127"/>
                    <a:gd name="T11" fmla="*/ 721 h 868"/>
                    <a:gd name="T12" fmla="*/ 1021 w 1127"/>
                    <a:gd name="T13" fmla="*/ 751 h 868"/>
                    <a:gd name="T14" fmla="*/ 1013 w 1127"/>
                    <a:gd name="T15" fmla="*/ 765 h 868"/>
                    <a:gd name="T16" fmla="*/ 980 w 1127"/>
                    <a:gd name="T17" fmla="*/ 784 h 868"/>
                    <a:gd name="T18" fmla="*/ 934 w 1127"/>
                    <a:gd name="T19" fmla="*/ 805 h 868"/>
                    <a:gd name="T20" fmla="*/ 902 w 1127"/>
                    <a:gd name="T21" fmla="*/ 812 h 868"/>
                    <a:gd name="T22" fmla="*/ 864 w 1127"/>
                    <a:gd name="T23" fmla="*/ 820 h 868"/>
                    <a:gd name="T24" fmla="*/ 836 w 1127"/>
                    <a:gd name="T25" fmla="*/ 820 h 868"/>
                    <a:gd name="T26" fmla="*/ 799 w 1127"/>
                    <a:gd name="T27" fmla="*/ 821 h 868"/>
                    <a:gd name="T28" fmla="*/ 765 w 1127"/>
                    <a:gd name="T29" fmla="*/ 816 h 868"/>
                    <a:gd name="T30" fmla="*/ 723 w 1127"/>
                    <a:gd name="T31" fmla="*/ 814 h 868"/>
                    <a:gd name="T32" fmla="*/ 655 w 1127"/>
                    <a:gd name="T33" fmla="*/ 856 h 868"/>
                    <a:gd name="T34" fmla="*/ 620 w 1127"/>
                    <a:gd name="T35" fmla="*/ 849 h 868"/>
                    <a:gd name="T36" fmla="*/ 562 w 1127"/>
                    <a:gd name="T37" fmla="*/ 708 h 868"/>
                    <a:gd name="T38" fmla="*/ 426 w 1127"/>
                    <a:gd name="T39" fmla="*/ 507 h 868"/>
                    <a:gd name="T40" fmla="*/ 348 w 1127"/>
                    <a:gd name="T41" fmla="*/ 516 h 868"/>
                    <a:gd name="T42" fmla="*/ 317 w 1127"/>
                    <a:gd name="T43" fmla="*/ 527 h 868"/>
                    <a:gd name="T44" fmla="*/ 258 w 1127"/>
                    <a:gd name="T45" fmla="*/ 530 h 868"/>
                    <a:gd name="T46" fmla="*/ 211 w 1127"/>
                    <a:gd name="T47" fmla="*/ 528 h 868"/>
                    <a:gd name="T48" fmla="*/ 95 w 1127"/>
                    <a:gd name="T49" fmla="*/ 495 h 868"/>
                    <a:gd name="T50" fmla="*/ 76 w 1127"/>
                    <a:gd name="T51" fmla="*/ 468 h 868"/>
                    <a:gd name="T52" fmla="*/ 56 w 1127"/>
                    <a:gd name="T53" fmla="*/ 452 h 868"/>
                    <a:gd name="T54" fmla="*/ 5 w 1127"/>
                    <a:gd name="T55" fmla="*/ 390 h 868"/>
                    <a:gd name="T56" fmla="*/ 0 w 1127"/>
                    <a:gd name="T57" fmla="*/ 338 h 868"/>
                    <a:gd name="T58" fmla="*/ 178 w 1127"/>
                    <a:gd name="T59" fmla="*/ 34 h 868"/>
                    <a:gd name="T60" fmla="*/ 895 w 1127"/>
                    <a:gd name="T61" fmla="*/ 0 h 868"/>
                    <a:gd name="T62" fmla="*/ 1111 w 1127"/>
                    <a:gd name="T63" fmla="*/ 542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7" h="868">
                      <a:moveTo>
                        <a:pt x="1111" y="542"/>
                      </a:moveTo>
                      <a:cubicBezTo>
                        <a:pt x="1111" y="542"/>
                        <a:pt x="1118" y="562"/>
                        <a:pt x="1103" y="571"/>
                      </a:cubicBezTo>
                      <a:cubicBezTo>
                        <a:pt x="1101" y="572"/>
                        <a:pt x="1127" y="590"/>
                        <a:pt x="1098" y="613"/>
                      </a:cubicBezTo>
                      <a:cubicBezTo>
                        <a:pt x="1095" y="616"/>
                        <a:pt x="1120" y="637"/>
                        <a:pt x="1081" y="656"/>
                      </a:cubicBezTo>
                      <a:cubicBezTo>
                        <a:pt x="1081" y="656"/>
                        <a:pt x="1091" y="684"/>
                        <a:pt x="1060" y="694"/>
                      </a:cubicBezTo>
                      <a:cubicBezTo>
                        <a:pt x="1060" y="694"/>
                        <a:pt x="1072" y="712"/>
                        <a:pt x="1054" y="721"/>
                      </a:cubicBezTo>
                      <a:cubicBezTo>
                        <a:pt x="1048" y="723"/>
                        <a:pt x="1068" y="742"/>
                        <a:pt x="1021" y="751"/>
                      </a:cubicBezTo>
                      <a:cubicBezTo>
                        <a:pt x="1021" y="751"/>
                        <a:pt x="1013" y="757"/>
                        <a:pt x="1013" y="765"/>
                      </a:cubicBezTo>
                      <a:cubicBezTo>
                        <a:pt x="1013" y="773"/>
                        <a:pt x="1006" y="790"/>
                        <a:pt x="980" y="784"/>
                      </a:cubicBezTo>
                      <a:cubicBezTo>
                        <a:pt x="980" y="784"/>
                        <a:pt x="971" y="812"/>
                        <a:pt x="934" y="805"/>
                      </a:cubicBezTo>
                      <a:cubicBezTo>
                        <a:pt x="928" y="803"/>
                        <a:pt x="930" y="819"/>
                        <a:pt x="902" y="812"/>
                      </a:cubicBezTo>
                      <a:cubicBezTo>
                        <a:pt x="902" y="812"/>
                        <a:pt x="889" y="832"/>
                        <a:pt x="864" y="820"/>
                      </a:cubicBezTo>
                      <a:cubicBezTo>
                        <a:pt x="864" y="820"/>
                        <a:pt x="848" y="831"/>
                        <a:pt x="836" y="820"/>
                      </a:cubicBezTo>
                      <a:cubicBezTo>
                        <a:pt x="836" y="820"/>
                        <a:pt x="819" y="835"/>
                        <a:pt x="799" y="821"/>
                      </a:cubicBezTo>
                      <a:cubicBezTo>
                        <a:pt x="799" y="821"/>
                        <a:pt x="779" y="830"/>
                        <a:pt x="765" y="816"/>
                      </a:cubicBezTo>
                      <a:cubicBezTo>
                        <a:pt x="765" y="816"/>
                        <a:pt x="744" y="826"/>
                        <a:pt x="723" y="814"/>
                      </a:cubicBezTo>
                      <a:cubicBezTo>
                        <a:pt x="723" y="814"/>
                        <a:pt x="703" y="844"/>
                        <a:pt x="655" y="856"/>
                      </a:cubicBezTo>
                      <a:cubicBezTo>
                        <a:pt x="606" y="868"/>
                        <a:pt x="620" y="856"/>
                        <a:pt x="620" y="849"/>
                      </a:cubicBezTo>
                      <a:cubicBezTo>
                        <a:pt x="620" y="841"/>
                        <a:pt x="572" y="735"/>
                        <a:pt x="562" y="708"/>
                      </a:cubicBezTo>
                      <a:cubicBezTo>
                        <a:pt x="552" y="682"/>
                        <a:pt x="518" y="495"/>
                        <a:pt x="426" y="507"/>
                      </a:cubicBezTo>
                      <a:cubicBezTo>
                        <a:pt x="372" y="514"/>
                        <a:pt x="348" y="516"/>
                        <a:pt x="348" y="516"/>
                      </a:cubicBezTo>
                      <a:cubicBezTo>
                        <a:pt x="348" y="516"/>
                        <a:pt x="328" y="523"/>
                        <a:pt x="317" y="527"/>
                      </a:cubicBezTo>
                      <a:cubicBezTo>
                        <a:pt x="306" y="531"/>
                        <a:pt x="276" y="536"/>
                        <a:pt x="258" y="530"/>
                      </a:cubicBezTo>
                      <a:cubicBezTo>
                        <a:pt x="240" y="525"/>
                        <a:pt x="224" y="527"/>
                        <a:pt x="211" y="528"/>
                      </a:cubicBezTo>
                      <a:cubicBezTo>
                        <a:pt x="198" y="530"/>
                        <a:pt x="149" y="536"/>
                        <a:pt x="95" y="495"/>
                      </a:cubicBezTo>
                      <a:cubicBezTo>
                        <a:pt x="73" y="478"/>
                        <a:pt x="79" y="473"/>
                        <a:pt x="76" y="468"/>
                      </a:cubicBezTo>
                      <a:cubicBezTo>
                        <a:pt x="76" y="468"/>
                        <a:pt x="77" y="462"/>
                        <a:pt x="56" y="452"/>
                      </a:cubicBezTo>
                      <a:cubicBezTo>
                        <a:pt x="35" y="443"/>
                        <a:pt x="6" y="423"/>
                        <a:pt x="5" y="390"/>
                      </a:cubicBezTo>
                      <a:cubicBezTo>
                        <a:pt x="5" y="357"/>
                        <a:pt x="0" y="338"/>
                        <a:pt x="0" y="338"/>
                      </a:cubicBezTo>
                      <a:cubicBezTo>
                        <a:pt x="178" y="34"/>
                        <a:pt x="178" y="34"/>
                        <a:pt x="178" y="34"/>
                      </a:cubicBezTo>
                      <a:cubicBezTo>
                        <a:pt x="895" y="0"/>
                        <a:pt x="895" y="0"/>
                        <a:pt x="895" y="0"/>
                      </a:cubicBezTo>
                      <a:lnTo>
                        <a:pt x="1111" y="542"/>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37" name="Freeform 360">
                  <a:extLst>
                    <a:ext uri="{FF2B5EF4-FFF2-40B4-BE49-F238E27FC236}">
                      <a16:creationId xmlns:a16="http://schemas.microsoft.com/office/drawing/2014/main" id="{B80EF49C-2B56-4C2B-8673-802E5829E6B3}"/>
                    </a:ext>
                  </a:extLst>
                </p:cNvPr>
                <p:cNvSpPr>
                  <a:spLocks/>
                </p:cNvSpPr>
                <p:nvPr/>
              </p:nvSpPr>
              <p:spPr bwMode="auto">
                <a:xfrm>
                  <a:off x="7620001" y="5636263"/>
                  <a:ext cx="201613" cy="39688"/>
                </a:xfrm>
                <a:custGeom>
                  <a:avLst/>
                  <a:gdLst>
                    <a:gd name="T0" fmla="*/ 134 w 134"/>
                    <a:gd name="T1" fmla="*/ 0 h 27"/>
                    <a:gd name="T2" fmla="*/ 0 w 134"/>
                    <a:gd name="T3" fmla="*/ 17 h 27"/>
                  </a:gdLst>
                  <a:ahLst/>
                  <a:cxnLst>
                    <a:cxn ang="0">
                      <a:pos x="T0" y="T1"/>
                    </a:cxn>
                    <a:cxn ang="0">
                      <a:pos x="T2" y="T3"/>
                    </a:cxn>
                  </a:cxnLst>
                  <a:rect l="0" t="0" r="r" b="b"/>
                  <a:pathLst>
                    <a:path w="134" h="27">
                      <a:moveTo>
                        <a:pt x="134" y="0"/>
                      </a:moveTo>
                      <a:cubicBezTo>
                        <a:pt x="134" y="0"/>
                        <a:pt x="125" y="27"/>
                        <a:pt x="0" y="17"/>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38" name="Freeform 361">
                  <a:extLst>
                    <a:ext uri="{FF2B5EF4-FFF2-40B4-BE49-F238E27FC236}">
                      <a16:creationId xmlns:a16="http://schemas.microsoft.com/office/drawing/2014/main" id="{7511E8DC-0D07-4E0A-BC46-51C9C2F25F95}"/>
                    </a:ext>
                  </a:extLst>
                </p:cNvPr>
                <p:cNvSpPr>
                  <a:spLocks/>
                </p:cNvSpPr>
                <p:nvPr/>
              </p:nvSpPr>
              <p:spPr bwMode="auto">
                <a:xfrm>
                  <a:off x="7616826" y="5672776"/>
                  <a:ext cx="198438" cy="47625"/>
                </a:xfrm>
                <a:custGeom>
                  <a:avLst/>
                  <a:gdLst>
                    <a:gd name="T0" fmla="*/ 132 w 132"/>
                    <a:gd name="T1" fmla="*/ 13 h 32"/>
                    <a:gd name="T2" fmla="*/ 0 w 132"/>
                    <a:gd name="T3" fmla="*/ 0 h 32"/>
                  </a:gdLst>
                  <a:ahLst/>
                  <a:cxnLst>
                    <a:cxn ang="0">
                      <a:pos x="T0" y="T1"/>
                    </a:cxn>
                    <a:cxn ang="0">
                      <a:pos x="T2" y="T3"/>
                    </a:cxn>
                  </a:cxnLst>
                  <a:rect l="0" t="0" r="r" b="b"/>
                  <a:pathLst>
                    <a:path w="132" h="32">
                      <a:moveTo>
                        <a:pt x="132" y="13"/>
                      </a:moveTo>
                      <a:cubicBezTo>
                        <a:pt x="132" y="13"/>
                        <a:pt x="70" y="32"/>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39" name="Freeform 362">
                  <a:extLst>
                    <a:ext uri="{FF2B5EF4-FFF2-40B4-BE49-F238E27FC236}">
                      <a16:creationId xmlns:a16="http://schemas.microsoft.com/office/drawing/2014/main" id="{CD797324-FD40-474A-80AD-59D4D7206CA7}"/>
                    </a:ext>
                  </a:extLst>
                </p:cNvPr>
                <p:cNvSpPr>
                  <a:spLocks/>
                </p:cNvSpPr>
                <p:nvPr/>
              </p:nvSpPr>
              <p:spPr bwMode="auto">
                <a:xfrm>
                  <a:off x="7607301" y="5707701"/>
                  <a:ext cx="200025" cy="82550"/>
                </a:xfrm>
                <a:custGeom>
                  <a:avLst/>
                  <a:gdLst>
                    <a:gd name="T0" fmla="*/ 134 w 134"/>
                    <a:gd name="T1" fmla="*/ 32 h 55"/>
                    <a:gd name="T2" fmla="*/ 0 w 134"/>
                    <a:gd name="T3" fmla="*/ 0 h 55"/>
                  </a:gdLst>
                  <a:ahLst/>
                  <a:cxnLst>
                    <a:cxn ang="0">
                      <a:pos x="T0" y="T1"/>
                    </a:cxn>
                    <a:cxn ang="0">
                      <a:pos x="T2" y="T3"/>
                    </a:cxn>
                  </a:cxnLst>
                  <a:rect l="0" t="0" r="r" b="b"/>
                  <a:pathLst>
                    <a:path w="134" h="55">
                      <a:moveTo>
                        <a:pt x="134" y="32"/>
                      </a:moveTo>
                      <a:cubicBezTo>
                        <a:pt x="134" y="32"/>
                        <a:pt x="71" y="55"/>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40" name="Freeform 363">
                  <a:extLst>
                    <a:ext uri="{FF2B5EF4-FFF2-40B4-BE49-F238E27FC236}">
                      <a16:creationId xmlns:a16="http://schemas.microsoft.com/office/drawing/2014/main" id="{D04E8FF6-0341-423B-9954-97F915A0EFAC}"/>
                    </a:ext>
                  </a:extLst>
                </p:cNvPr>
                <p:cNvSpPr>
                  <a:spLocks/>
                </p:cNvSpPr>
                <p:nvPr/>
              </p:nvSpPr>
              <p:spPr bwMode="auto">
                <a:xfrm>
                  <a:off x="7597776" y="5750563"/>
                  <a:ext cx="184150" cy="85725"/>
                </a:xfrm>
                <a:custGeom>
                  <a:avLst/>
                  <a:gdLst>
                    <a:gd name="T0" fmla="*/ 123 w 123"/>
                    <a:gd name="T1" fmla="*/ 46 h 57"/>
                    <a:gd name="T2" fmla="*/ 0 w 123"/>
                    <a:gd name="T3" fmla="*/ 0 h 57"/>
                  </a:gdLst>
                  <a:ahLst/>
                  <a:cxnLst>
                    <a:cxn ang="0">
                      <a:pos x="T0" y="T1"/>
                    </a:cxn>
                    <a:cxn ang="0">
                      <a:pos x="T2" y="T3"/>
                    </a:cxn>
                  </a:cxnLst>
                  <a:rect l="0" t="0" r="r" b="b"/>
                  <a:pathLst>
                    <a:path w="123" h="57">
                      <a:moveTo>
                        <a:pt x="123" y="46"/>
                      </a:moveTo>
                      <a:cubicBezTo>
                        <a:pt x="123" y="46"/>
                        <a:pt x="75"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41" name="Freeform 364">
                  <a:extLst>
                    <a:ext uri="{FF2B5EF4-FFF2-40B4-BE49-F238E27FC236}">
                      <a16:creationId xmlns:a16="http://schemas.microsoft.com/office/drawing/2014/main" id="{330E8D69-E59F-4E1F-8459-CAA890F11129}"/>
                    </a:ext>
                  </a:extLst>
                </p:cNvPr>
                <p:cNvSpPr>
                  <a:spLocks/>
                </p:cNvSpPr>
                <p:nvPr/>
              </p:nvSpPr>
              <p:spPr bwMode="auto">
                <a:xfrm>
                  <a:off x="7556501" y="5793426"/>
                  <a:ext cx="160338" cy="50800"/>
                </a:xfrm>
                <a:custGeom>
                  <a:avLst/>
                  <a:gdLst>
                    <a:gd name="T0" fmla="*/ 0 w 106"/>
                    <a:gd name="T1" fmla="*/ 0 h 34"/>
                    <a:gd name="T2" fmla="*/ 106 w 106"/>
                    <a:gd name="T3" fmla="*/ 13 h 34"/>
                  </a:gdLst>
                  <a:ahLst/>
                  <a:cxnLst>
                    <a:cxn ang="0">
                      <a:pos x="T0" y="T1"/>
                    </a:cxn>
                    <a:cxn ang="0">
                      <a:pos x="T2" y="T3"/>
                    </a:cxn>
                  </a:cxnLst>
                  <a:rect l="0" t="0" r="r" b="b"/>
                  <a:pathLst>
                    <a:path w="106" h="34">
                      <a:moveTo>
                        <a:pt x="0" y="0"/>
                      </a:moveTo>
                      <a:cubicBezTo>
                        <a:pt x="66" y="34"/>
                        <a:pt x="106" y="13"/>
                        <a:pt x="106" y="13"/>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42" name="Freeform 365">
                  <a:extLst>
                    <a:ext uri="{FF2B5EF4-FFF2-40B4-BE49-F238E27FC236}">
                      <a16:creationId xmlns:a16="http://schemas.microsoft.com/office/drawing/2014/main" id="{6CC1E6A0-F2F2-4855-A3B1-A7028EE556A8}"/>
                    </a:ext>
                  </a:extLst>
                </p:cNvPr>
                <p:cNvSpPr>
                  <a:spLocks/>
                </p:cNvSpPr>
                <p:nvPr/>
              </p:nvSpPr>
              <p:spPr bwMode="auto">
                <a:xfrm>
                  <a:off x="7540626" y="5820413"/>
                  <a:ext cx="209550" cy="85725"/>
                </a:xfrm>
                <a:custGeom>
                  <a:avLst/>
                  <a:gdLst>
                    <a:gd name="T0" fmla="*/ 140 w 140"/>
                    <a:gd name="T1" fmla="*/ 37 h 57"/>
                    <a:gd name="T2" fmla="*/ 0 w 140"/>
                    <a:gd name="T3" fmla="*/ 0 h 57"/>
                  </a:gdLst>
                  <a:ahLst/>
                  <a:cxnLst>
                    <a:cxn ang="0">
                      <a:pos x="T0" y="T1"/>
                    </a:cxn>
                    <a:cxn ang="0">
                      <a:pos x="T2" y="T3"/>
                    </a:cxn>
                  </a:cxnLst>
                  <a:rect l="0" t="0" r="r" b="b"/>
                  <a:pathLst>
                    <a:path w="140" h="57">
                      <a:moveTo>
                        <a:pt x="140" y="37"/>
                      </a:moveTo>
                      <a:cubicBezTo>
                        <a:pt x="140" y="37"/>
                        <a:pt x="109"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43" name="Freeform 366">
                  <a:extLst>
                    <a:ext uri="{FF2B5EF4-FFF2-40B4-BE49-F238E27FC236}">
                      <a16:creationId xmlns:a16="http://schemas.microsoft.com/office/drawing/2014/main" id="{990D2E1E-3B9B-47AE-96E5-0476DC7ACFB5}"/>
                    </a:ext>
                  </a:extLst>
                </p:cNvPr>
                <p:cNvSpPr>
                  <a:spLocks/>
                </p:cNvSpPr>
                <p:nvPr/>
              </p:nvSpPr>
              <p:spPr bwMode="auto">
                <a:xfrm>
                  <a:off x="7572376" y="5864863"/>
                  <a:ext cx="171450" cy="66675"/>
                </a:xfrm>
                <a:custGeom>
                  <a:avLst/>
                  <a:gdLst>
                    <a:gd name="T0" fmla="*/ 114 w 114"/>
                    <a:gd name="T1" fmla="*/ 33 h 44"/>
                    <a:gd name="T2" fmla="*/ 0 w 114"/>
                    <a:gd name="T3" fmla="*/ 0 h 44"/>
                  </a:gdLst>
                  <a:ahLst/>
                  <a:cxnLst>
                    <a:cxn ang="0">
                      <a:pos x="T0" y="T1"/>
                    </a:cxn>
                    <a:cxn ang="0">
                      <a:pos x="T2" y="T3"/>
                    </a:cxn>
                  </a:cxnLst>
                  <a:rect l="0" t="0" r="r" b="b"/>
                  <a:pathLst>
                    <a:path w="114" h="44">
                      <a:moveTo>
                        <a:pt x="114" y="33"/>
                      </a:moveTo>
                      <a:cubicBezTo>
                        <a:pt x="114" y="33"/>
                        <a:pt x="65" y="44"/>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44" name="Freeform 367">
                  <a:extLst>
                    <a:ext uri="{FF2B5EF4-FFF2-40B4-BE49-F238E27FC236}">
                      <a16:creationId xmlns:a16="http://schemas.microsoft.com/office/drawing/2014/main" id="{D83D7F70-21CA-4754-8272-9291BA5D6DC1}"/>
                    </a:ext>
                  </a:extLst>
                </p:cNvPr>
                <p:cNvSpPr>
                  <a:spLocks/>
                </p:cNvSpPr>
                <p:nvPr/>
              </p:nvSpPr>
              <p:spPr bwMode="auto">
                <a:xfrm>
                  <a:off x="7543801" y="5871213"/>
                  <a:ext cx="147638" cy="90488"/>
                </a:xfrm>
                <a:custGeom>
                  <a:avLst/>
                  <a:gdLst>
                    <a:gd name="T0" fmla="*/ 99 w 99"/>
                    <a:gd name="T1" fmla="*/ 60 h 60"/>
                    <a:gd name="T2" fmla="*/ 0 w 99"/>
                    <a:gd name="T3" fmla="*/ 0 h 60"/>
                  </a:gdLst>
                  <a:ahLst/>
                  <a:cxnLst>
                    <a:cxn ang="0">
                      <a:pos x="T0" y="T1"/>
                    </a:cxn>
                    <a:cxn ang="0">
                      <a:pos x="T2" y="T3"/>
                    </a:cxn>
                  </a:cxnLst>
                  <a:rect l="0" t="0" r="r" b="b"/>
                  <a:pathLst>
                    <a:path w="99" h="60">
                      <a:moveTo>
                        <a:pt x="99" y="60"/>
                      </a:moveTo>
                      <a:cubicBezTo>
                        <a:pt x="99" y="60"/>
                        <a:pt x="34" y="42"/>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45" name="Freeform 368">
                  <a:extLst>
                    <a:ext uri="{FF2B5EF4-FFF2-40B4-BE49-F238E27FC236}">
                      <a16:creationId xmlns:a16="http://schemas.microsoft.com/office/drawing/2014/main" id="{C683DF0B-2981-496F-BAD1-301C59F0CC6D}"/>
                    </a:ext>
                  </a:extLst>
                </p:cNvPr>
                <p:cNvSpPr>
                  <a:spLocks/>
                </p:cNvSpPr>
                <p:nvPr/>
              </p:nvSpPr>
              <p:spPr bwMode="auto">
                <a:xfrm>
                  <a:off x="7527926" y="5882326"/>
                  <a:ext cx="152400" cy="100013"/>
                </a:xfrm>
                <a:custGeom>
                  <a:avLst/>
                  <a:gdLst>
                    <a:gd name="T0" fmla="*/ 101 w 101"/>
                    <a:gd name="T1" fmla="*/ 67 h 67"/>
                    <a:gd name="T2" fmla="*/ 0 w 101"/>
                    <a:gd name="T3" fmla="*/ 0 h 67"/>
                  </a:gdLst>
                  <a:ahLst/>
                  <a:cxnLst>
                    <a:cxn ang="0">
                      <a:pos x="T0" y="T1"/>
                    </a:cxn>
                    <a:cxn ang="0">
                      <a:pos x="T2" y="T3"/>
                    </a:cxn>
                  </a:cxnLst>
                  <a:rect l="0" t="0" r="r" b="b"/>
                  <a:pathLst>
                    <a:path w="101" h="67">
                      <a:moveTo>
                        <a:pt x="101" y="67"/>
                      </a:moveTo>
                      <a:cubicBezTo>
                        <a:pt x="101" y="67"/>
                        <a:pt x="26" y="36"/>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46" name="Freeform 369">
                  <a:extLst>
                    <a:ext uri="{FF2B5EF4-FFF2-40B4-BE49-F238E27FC236}">
                      <a16:creationId xmlns:a16="http://schemas.microsoft.com/office/drawing/2014/main" id="{30C8F92E-7C59-4B62-BEB8-D6BA50117C21}"/>
                    </a:ext>
                  </a:extLst>
                </p:cNvPr>
                <p:cNvSpPr>
                  <a:spLocks/>
                </p:cNvSpPr>
                <p:nvPr/>
              </p:nvSpPr>
              <p:spPr bwMode="auto">
                <a:xfrm>
                  <a:off x="7500938" y="5898201"/>
                  <a:ext cx="130175" cy="112713"/>
                </a:xfrm>
                <a:custGeom>
                  <a:avLst/>
                  <a:gdLst>
                    <a:gd name="T0" fmla="*/ 87 w 87"/>
                    <a:gd name="T1" fmla="*/ 75 h 75"/>
                    <a:gd name="T2" fmla="*/ 0 w 87"/>
                    <a:gd name="T3" fmla="*/ 0 h 75"/>
                  </a:gdLst>
                  <a:ahLst/>
                  <a:cxnLst>
                    <a:cxn ang="0">
                      <a:pos x="T0" y="T1"/>
                    </a:cxn>
                    <a:cxn ang="0">
                      <a:pos x="T2" y="T3"/>
                    </a:cxn>
                  </a:cxnLst>
                  <a:rect l="0" t="0" r="r" b="b"/>
                  <a:pathLst>
                    <a:path w="87" h="75">
                      <a:moveTo>
                        <a:pt x="87" y="75"/>
                      </a:moveTo>
                      <a:cubicBezTo>
                        <a:pt x="87" y="75"/>
                        <a:pt x="43"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47" name="Freeform 370">
                  <a:extLst>
                    <a:ext uri="{FF2B5EF4-FFF2-40B4-BE49-F238E27FC236}">
                      <a16:creationId xmlns:a16="http://schemas.microsoft.com/office/drawing/2014/main" id="{A368AB1A-06F0-421B-864B-43173A5087EC}"/>
                    </a:ext>
                  </a:extLst>
                </p:cNvPr>
                <p:cNvSpPr>
                  <a:spLocks/>
                </p:cNvSpPr>
                <p:nvPr/>
              </p:nvSpPr>
              <p:spPr bwMode="auto">
                <a:xfrm>
                  <a:off x="7451726" y="5922013"/>
                  <a:ext cx="106363" cy="122238"/>
                </a:xfrm>
                <a:custGeom>
                  <a:avLst/>
                  <a:gdLst>
                    <a:gd name="T0" fmla="*/ 71 w 71"/>
                    <a:gd name="T1" fmla="*/ 81 h 81"/>
                    <a:gd name="T2" fmla="*/ 0 w 71"/>
                    <a:gd name="T3" fmla="*/ 0 h 81"/>
                  </a:gdLst>
                  <a:ahLst/>
                  <a:cxnLst>
                    <a:cxn ang="0">
                      <a:pos x="T0" y="T1"/>
                    </a:cxn>
                    <a:cxn ang="0">
                      <a:pos x="T2" y="T3"/>
                    </a:cxn>
                  </a:cxnLst>
                  <a:rect l="0" t="0" r="r" b="b"/>
                  <a:pathLst>
                    <a:path w="71" h="81">
                      <a:moveTo>
                        <a:pt x="71" y="81"/>
                      </a:moveTo>
                      <a:cubicBezTo>
                        <a:pt x="71" y="81"/>
                        <a:pt x="20" y="40"/>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48" name="Freeform 371">
                  <a:extLst>
                    <a:ext uri="{FF2B5EF4-FFF2-40B4-BE49-F238E27FC236}">
                      <a16:creationId xmlns:a16="http://schemas.microsoft.com/office/drawing/2014/main" id="{8FE577B7-34CD-4D0B-A54B-2EA097B25408}"/>
                    </a:ext>
                  </a:extLst>
                </p:cNvPr>
                <p:cNvSpPr>
                  <a:spLocks/>
                </p:cNvSpPr>
                <p:nvPr/>
              </p:nvSpPr>
              <p:spPr bwMode="auto">
                <a:xfrm>
                  <a:off x="7445376" y="5944238"/>
                  <a:ext cx="66675" cy="107950"/>
                </a:xfrm>
                <a:custGeom>
                  <a:avLst/>
                  <a:gdLst>
                    <a:gd name="T0" fmla="*/ 45 w 45"/>
                    <a:gd name="T1" fmla="*/ 73 h 73"/>
                    <a:gd name="T2" fmla="*/ 0 w 45"/>
                    <a:gd name="T3" fmla="*/ 0 h 73"/>
                  </a:gdLst>
                  <a:ahLst/>
                  <a:cxnLst>
                    <a:cxn ang="0">
                      <a:pos x="T0" y="T1"/>
                    </a:cxn>
                    <a:cxn ang="0">
                      <a:pos x="T2" y="T3"/>
                    </a:cxn>
                  </a:cxnLst>
                  <a:rect l="0" t="0" r="r" b="b"/>
                  <a:pathLst>
                    <a:path w="45" h="73">
                      <a:moveTo>
                        <a:pt x="45" y="73"/>
                      </a:moveTo>
                      <a:cubicBezTo>
                        <a:pt x="45" y="73"/>
                        <a:pt x="13" y="33"/>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49" name="Freeform 372">
                  <a:extLst>
                    <a:ext uri="{FF2B5EF4-FFF2-40B4-BE49-F238E27FC236}">
                      <a16:creationId xmlns:a16="http://schemas.microsoft.com/office/drawing/2014/main" id="{BF5C3952-B794-4CB4-BC4B-0EE43549327E}"/>
                    </a:ext>
                  </a:extLst>
                </p:cNvPr>
                <p:cNvSpPr>
                  <a:spLocks/>
                </p:cNvSpPr>
                <p:nvPr/>
              </p:nvSpPr>
              <p:spPr bwMode="auto">
                <a:xfrm>
                  <a:off x="7456488" y="5968051"/>
                  <a:ext cx="4763" cy="96838"/>
                </a:xfrm>
                <a:custGeom>
                  <a:avLst/>
                  <a:gdLst>
                    <a:gd name="T0" fmla="*/ 0 w 3"/>
                    <a:gd name="T1" fmla="*/ 65 h 65"/>
                    <a:gd name="T2" fmla="*/ 0 w 3"/>
                    <a:gd name="T3" fmla="*/ 0 h 65"/>
                  </a:gdLst>
                  <a:ahLst/>
                  <a:cxnLst>
                    <a:cxn ang="0">
                      <a:pos x="T0" y="T1"/>
                    </a:cxn>
                    <a:cxn ang="0">
                      <a:pos x="T2" y="T3"/>
                    </a:cxn>
                  </a:cxnLst>
                  <a:rect l="0" t="0" r="r" b="b"/>
                  <a:pathLst>
                    <a:path w="3" h="65">
                      <a:moveTo>
                        <a:pt x="0" y="65"/>
                      </a:moveTo>
                      <a:cubicBezTo>
                        <a:pt x="0" y="65"/>
                        <a:pt x="3" y="14"/>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50" name="Freeform 373">
                  <a:extLst>
                    <a:ext uri="{FF2B5EF4-FFF2-40B4-BE49-F238E27FC236}">
                      <a16:creationId xmlns:a16="http://schemas.microsoft.com/office/drawing/2014/main" id="{A585567D-EB42-42F4-BDDA-B5CF3DFD0832}"/>
                    </a:ext>
                  </a:extLst>
                </p:cNvPr>
                <p:cNvSpPr>
                  <a:spLocks/>
                </p:cNvSpPr>
                <p:nvPr/>
              </p:nvSpPr>
              <p:spPr bwMode="auto">
                <a:xfrm>
                  <a:off x="7415213" y="5944238"/>
                  <a:ext cx="41275" cy="120650"/>
                </a:xfrm>
                <a:custGeom>
                  <a:avLst/>
                  <a:gdLst>
                    <a:gd name="T0" fmla="*/ 0 w 28"/>
                    <a:gd name="T1" fmla="*/ 80 h 80"/>
                    <a:gd name="T2" fmla="*/ 7 w 28"/>
                    <a:gd name="T3" fmla="*/ 0 h 80"/>
                  </a:gdLst>
                  <a:ahLst/>
                  <a:cxnLst>
                    <a:cxn ang="0">
                      <a:pos x="T0" y="T1"/>
                    </a:cxn>
                    <a:cxn ang="0">
                      <a:pos x="T2" y="T3"/>
                    </a:cxn>
                  </a:cxnLst>
                  <a:rect l="0" t="0" r="r" b="b"/>
                  <a:pathLst>
                    <a:path w="28" h="80">
                      <a:moveTo>
                        <a:pt x="0" y="80"/>
                      </a:moveTo>
                      <a:cubicBezTo>
                        <a:pt x="0" y="80"/>
                        <a:pt x="28" y="49"/>
                        <a:pt x="7"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51" name="Freeform 374">
                  <a:extLst>
                    <a:ext uri="{FF2B5EF4-FFF2-40B4-BE49-F238E27FC236}">
                      <a16:creationId xmlns:a16="http://schemas.microsoft.com/office/drawing/2014/main" id="{580FF2B1-487D-4EEC-B368-2516ACC2CC41}"/>
                    </a:ext>
                  </a:extLst>
                </p:cNvPr>
                <p:cNvSpPr>
                  <a:spLocks/>
                </p:cNvSpPr>
                <p:nvPr/>
              </p:nvSpPr>
              <p:spPr bwMode="auto">
                <a:xfrm>
                  <a:off x="7359651" y="5960113"/>
                  <a:ext cx="65088" cy="106363"/>
                </a:xfrm>
                <a:custGeom>
                  <a:avLst/>
                  <a:gdLst>
                    <a:gd name="T0" fmla="*/ 18 w 44"/>
                    <a:gd name="T1" fmla="*/ 0 h 71"/>
                    <a:gd name="T2" fmla="*/ 0 w 44"/>
                    <a:gd name="T3" fmla="*/ 71 h 71"/>
                  </a:gdLst>
                  <a:ahLst/>
                  <a:cxnLst>
                    <a:cxn ang="0">
                      <a:pos x="T0" y="T1"/>
                    </a:cxn>
                    <a:cxn ang="0">
                      <a:pos x="T2" y="T3"/>
                    </a:cxn>
                  </a:cxnLst>
                  <a:rect l="0" t="0" r="r" b="b"/>
                  <a:pathLst>
                    <a:path w="44" h="71">
                      <a:moveTo>
                        <a:pt x="18" y="0"/>
                      </a:moveTo>
                      <a:cubicBezTo>
                        <a:pt x="18" y="0"/>
                        <a:pt x="44" y="55"/>
                        <a:pt x="0" y="71"/>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52" name="Freeform 375">
                  <a:extLst>
                    <a:ext uri="{FF2B5EF4-FFF2-40B4-BE49-F238E27FC236}">
                      <a16:creationId xmlns:a16="http://schemas.microsoft.com/office/drawing/2014/main" id="{2E4DA722-DB7E-47D1-A70A-FC51953A0906}"/>
                    </a:ext>
                  </a:extLst>
                </p:cNvPr>
                <p:cNvSpPr>
                  <a:spLocks/>
                </p:cNvSpPr>
                <p:nvPr/>
              </p:nvSpPr>
              <p:spPr bwMode="auto">
                <a:xfrm>
                  <a:off x="7308851" y="5964876"/>
                  <a:ext cx="50800" cy="93663"/>
                </a:xfrm>
                <a:custGeom>
                  <a:avLst/>
                  <a:gdLst>
                    <a:gd name="T0" fmla="*/ 23 w 34"/>
                    <a:gd name="T1" fmla="*/ 0 h 63"/>
                    <a:gd name="T2" fmla="*/ 0 w 34"/>
                    <a:gd name="T3" fmla="*/ 63 h 63"/>
                  </a:gdLst>
                  <a:ahLst/>
                  <a:cxnLst>
                    <a:cxn ang="0">
                      <a:pos x="T0" y="T1"/>
                    </a:cxn>
                    <a:cxn ang="0">
                      <a:pos x="T2" y="T3"/>
                    </a:cxn>
                  </a:cxnLst>
                  <a:rect l="0" t="0" r="r" b="b"/>
                  <a:pathLst>
                    <a:path w="34" h="63">
                      <a:moveTo>
                        <a:pt x="23" y="0"/>
                      </a:moveTo>
                      <a:cubicBezTo>
                        <a:pt x="23" y="0"/>
                        <a:pt x="34" y="47"/>
                        <a:pt x="0" y="63"/>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53" name="Freeform 376">
                  <a:extLst>
                    <a:ext uri="{FF2B5EF4-FFF2-40B4-BE49-F238E27FC236}">
                      <a16:creationId xmlns:a16="http://schemas.microsoft.com/office/drawing/2014/main" id="{AA3D0EF5-AEEE-4558-84CB-3F9918F800E7}"/>
                    </a:ext>
                  </a:extLst>
                </p:cNvPr>
                <p:cNvSpPr>
                  <a:spLocks/>
                </p:cNvSpPr>
                <p:nvPr/>
              </p:nvSpPr>
              <p:spPr bwMode="auto">
                <a:xfrm>
                  <a:off x="7245351" y="5937888"/>
                  <a:ext cx="52388" cy="117475"/>
                </a:xfrm>
                <a:custGeom>
                  <a:avLst/>
                  <a:gdLst>
                    <a:gd name="T0" fmla="*/ 0 w 35"/>
                    <a:gd name="T1" fmla="*/ 79 h 79"/>
                    <a:gd name="T2" fmla="*/ 24 w 35"/>
                    <a:gd name="T3" fmla="*/ 0 h 79"/>
                  </a:gdLst>
                  <a:ahLst/>
                  <a:cxnLst>
                    <a:cxn ang="0">
                      <a:pos x="T0" y="T1"/>
                    </a:cxn>
                    <a:cxn ang="0">
                      <a:pos x="T2" y="T3"/>
                    </a:cxn>
                  </a:cxnLst>
                  <a:rect l="0" t="0" r="r" b="b"/>
                  <a:pathLst>
                    <a:path w="35" h="79">
                      <a:moveTo>
                        <a:pt x="0" y="79"/>
                      </a:moveTo>
                      <a:cubicBezTo>
                        <a:pt x="0" y="79"/>
                        <a:pt x="35" y="65"/>
                        <a:pt x="24"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54" name="Freeform 377">
                  <a:extLst>
                    <a:ext uri="{FF2B5EF4-FFF2-40B4-BE49-F238E27FC236}">
                      <a16:creationId xmlns:a16="http://schemas.microsoft.com/office/drawing/2014/main" id="{43E6F14F-694F-4149-89E4-A3633E72D092}"/>
                    </a:ext>
                  </a:extLst>
                </p:cNvPr>
                <p:cNvSpPr>
                  <a:spLocks/>
                </p:cNvSpPr>
                <p:nvPr/>
              </p:nvSpPr>
              <p:spPr bwMode="auto">
                <a:xfrm>
                  <a:off x="7138988" y="6012501"/>
                  <a:ext cx="139700" cy="76200"/>
                </a:xfrm>
                <a:custGeom>
                  <a:avLst/>
                  <a:gdLst>
                    <a:gd name="T0" fmla="*/ 0 w 93"/>
                    <a:gd name="T1" fmla="*/ 51 h 51"/>
                    <a:gd name="T2" fmla="*/ 93 w 93"/>
                    <a:gd name="T3" fmla="*/ 0 h 51"/>
                  </a:gdLst>
                  <a:ahLst/>
                  <a:cxnLst>
                    <a:cxn ang="0">
                      <a:pos x="T0" y="T1"/>
                    </a:cxn>
                    <a:cxn ang="0">
                      <a:pos x="T2" y="T3"/>
                    </a:cxn>
                  </a:cxnLst>
                  <a:rect l="0" t="0" r="r" b="b"/>
                  <a:pathLst>
                    <a:path w="93" h="51">
                      <a:moveTo>
                        <a:pt x="0" y="51"/>
                      </a:moveTo>
                      <a:cubicBezTo>
                        <a:pt x="0" y="51"/>
                        <a:pt x="67" y="35"/>
                        <a:pt x="93"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55" name="Freeform 378">
                  <a:extLst>
                    <a:ext uri="{FF2B5EF4-FFF2-40B4-BE49-F238E27FC236}">
                      <a16:creationId xmlns:a16="http://schemas.microsoft.com/office/drawing/2014/main" id="{951DA98E-F6B1-43E9-A826-8DB2C8302646}"/>
                    </a:ext>
                  </a:extLst>
                </p:cNvPr>
                <p:cNvSpPr>
                  <a:spLocks/>
                </p:cNvSpPr>
                <p:nvPr/>
              </p:nvSpPr>
              <p:spPr bwMode="auto">
                <a:xfrm>
                  <a:off x="7137401" y="5964876"/>
                  <a:ext cx="149225" cy="88900"/>
                </a:xfrm>
                <a:custGeom>
                  <a:avLst/>
                  <a:gdLst>
                    <a:gd name="T0" fmla="*/ 0 w 99"/>
                    <a:gd name="T1" fmla="*/ 56 h 60"/>
                    <a:gd name="T2" fmla="*/ 99 w 99"/>
                    <a:gd name="T3" fmla="*/ 0 h 60"/>
                  </a:gdLst>
                  <a:ahLst/>
                  <a:cxnLst>
                    <a:cxn ang="0">
                      <a:pos x="T0" y="T1"/>
                    </a:cxn>
                    <a:cxn ang="0">
                      <a:pos x="T2" y="T3"/>
                    </a:cxn>
                  </a:cxnLst>
                  <a:rect l="0" t="0" r="r" b="b"/>
                  <a:pathLst>
                    <a:path w="99" h="60">
                      <a:moveTo>
                        <a:pt x="0" y="56"/>
                      </a:moveTo>
                      <a:cubicBezTo>
                        <a:pt x="0" y="56"/>
                        <a:pt x="51" y="60"/>
                        <a:pt x="99"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56" name="Freeform 379">
                  <a:extLst>
                    <a:ext uri="{FF2B5EF4-FFF2-40B4-BE49-F238E27FC236}">
                      <a16:creationId xmlns:a16="http://schemas.microsoft.com/office/drawing/2014/main" id="{5B76E1B6-6375-448B-9766-814A495880D0}"/>
                    </a:ext>
                  </a:extLst>
                </p:cNvPr>
                <p:cNvSpPr>
                  <a:spLocks/>
                </p:cNvSpPr>
                <p:nvPr/>
              </p:nvSpPr>
              <p:spPr bwMode="auto">
                <a:xfrm>
                  <a:off x="7137401" y="5942651"/>
                  <a:ext cx="104775" cy="77788"/>
                </a:xfrm>
                <a:custGeom>
                  <a:avLst/>
                  <a:gdLst>
                    <a:gd name="T0" fmla="*/ 0 w 70"/>
                    <a:gd name="T1" fmla="*/ 44 h 52"/>
                    <a:gd name="T2" fmla="*/ 70 w 70"/>
                    <a:gd name="T3" fmla="*/ 0 h 52"/>
                  </a:gdLst>
                  <a:ahLst/>
                  <a:cxnLst>
                    <a:cxn ang="0">
                      <a:pos x="T0" y="T1"/>
                    </a:cxn>
                    <a:cxn ang="0">
                      <a:pos x="T2" y="T3"/>
                    </a:cxn>
                  </a:cxnLst>
                  <a:rect l="0" t="0" r="r" b="b"/>
                  <a:pathLst>
                    <a:path w="70" h="52">
                      <a:moveTo>
                        <a:pt x="0" y="44"/>
                      </a:moveTo>
                      <a:cubicBezTo>
                        <a:pt x="0" y="44"/>
                        <a:pt x="43" y="52"/>
                        <a:pt x="7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57" name="Freeform 380">
                  <a:extLst>
                    <a:ext uri="{FF2B5EF4-FFF2-40B4-BE49-F238E27FC236}">
                      <a16:creationId xmlns:a16="http://schemas.microsoft.com/office/drawing/2014/main" id="{7C486072-F6AE-4972-9516-B5AC4E160F5A}"/>
                    </a:ext>
                  </a:extLst>
                </p:cNvPr>
                <p:cNvSpPr>
                  <a:spLocks/>
                </p:cNvSpPr>
                <p:nvPr/>
              </p:nvSpPr>
              <p:spPr bwMode="auto">
                <a:xfrm>
                  <a:off x="7134226" y="5925188"/>
                  <a:ext cx="52388" cy="50800"/>
                </a:xfrm>
                <a:custGeom>
                  <a:avLst/>
                  <a:gdLst>
                    <a:gd name="T0" fmla="*/ 0 w 35"/>
                    <a:gd name="T1" fmla="*/ 34 h 34"/>
                    <a:gd name="T2" fmla="*/ 35 w 35"/>
                    <a:gd name="T3" fmla="*/ 0 h 34"/>
                  </a:gdLst>
                  <a:ahLst/>
                  <a:cxnLst>
                    <a:cxn ang="0">
                      <a:pos x="T0" y="T1"/>
                    </a:cxn>
                    <a:cxn ang="0">
                      <a:pos x="T2" y="T3"/>
                    </a:cxn>
                  </a:cxnLst>
                  <a:rect l="0" t="0" r="r" b="b"/>
                  <a:pathLst>
                    <a:path w="35" h="34">
                      <a:moveTo>
                        <a:pt x="0" y="34"/>
                      </a:moveTo>
                      <a:cubicBezTo>
                        <a:pt x="0" y="34"/>
                        <a:pt x="24" y="34"/>
                        <a:pt x="35"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58" name="Line 381">
                  <a:extLst>
                    <a:ext uri="{FF2B5EF4-FFF2-40B4-BE49-F238E27FC236}">
                      <a16:creationId xmlns:a16="http://schemas.microsoft.com/office/drawing/2014/main" id="{994EA6AF-9D77-460B-96DD-D5302202C90B}"/>
                    </a:ext>
                  </a:extLst>
                </p:cNvPr>
                <p:cNvSpPr>
                  <a:spLocks noChangeShapeType="1"/>
                </p:cNvSpPr>
                <p:nvPr/>
              </p:nvSpPr>
              <p:spPr bwMode="auto">
                <a:xfrm>
                  <a:off x="7545388" y="5820413"/>
                  <a:ext cx="0" cy="0"/>
                </a:xfrm>
                <a:prstGeom prst="line">
                  <a:avLst/>
                </a:prstGeom>
                <a:noFill/>
                <a:ln w="3175"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59" name="Freeform 382">
                  <a:extLst>
                    <a:ext uri="{FF2B5EF4-FFF2-40B4-BE49-F238E27FC236}">
                      <a16:creationId xmlns:a16="http://schemas.microsoft.com/office/drawing/2014/main" id="{EADD0234-947E-477F-AFD5-74B2508DE813}"/>
                    </a:ext>
                  </a:extLst>
                </p:cNvPr>
                <p:cNvSpPr>
                  <a:spLocks/>
                </p:cNvSpPr>
                <p:nvPr/>
              </p:nvSpPr>
              <p:spPr bwMode="auto">
                <a:xfrm>
                  <a:off x="6319838" y="4850451"/>
                  <a:ext cx="1317625" cy="1495425"/>
                </a:xfrm>
                <a:custGeom>
                  <a:avLst/>
                  <a:gdLst>
                    <a:gd name="T0" fmla="*/ 480 w 879"/>
                    <a:gd name="T1" fmla="*/ 525 h 997"/>
                    <a:gd name="T2" fmla="*/ 418 w 879"/>
                    <a:gd name="T3" fmla="*/ 315 h 997"/>
                    <a:gd name="T4" fmla="*/ 451 w 879"/>
                    <a:gd name="T5" fmla="*/ 218 h 997"/>
                    <a:gd name="T6" fmla="*/ 558 w 879"/>
                    <a:gd name="T7" fmla="*/ 210 h 997"/>
                    <a:gd name="T8" fmla="*/ 425 w 879"/>
                    <a:gd name="T9" fmla="*/ 5 h 997"/>
                    <a:gd name="T10" fmla="*/ 19 w 879"/>
                    <a:gd name="T11" fmla="*/ 35 h 997"/>
                    <a:gd name="T12" fmla="*/ 102 w 879"/>
                    <a:gd name="T13" fmla="*/ 209 h 997"/>
                    <a:gd name="T14" fmla="*/ 111 w 879"/>
                    <a:gd name="T15" fmla="*/ 326 h 997"/>
                    <a:gd name="T16" fmla="*/ 210 w 879"/>
                    <a:gd name="T17" fmla="*/ 305 h 997"/>
                    <a:gd name="T18" fmla="*/ 364 w 879"/>
                    <a:gd name="T19" fmla="*/ 379 h 997"/>
                    <a:gd name="T20" fmla="*/ 514 w 879"/>
                    <a:gd name="T21" fmla="*/ 997 h 997"/>
                    <a:gd name="T22" fmla="*/ 534 w 879"/>
                    <a:gd name="T23" fmla="*/ 803 h 997"/>
                    <a:gd name="T24" fmla="*/ 584 w 879"/>
                    <a:gd name="T25" fmla="*/ 729 h 997"/>
                    <a:gd name="T26" fmla="*/ 597 w 879"/>
                    <a:gd name="T27" fmla="*/ 739 h 997"/>
                    <a:gd name="T28" fmla="*/ 640 w 879"/>
                    <a:gd name="T29" fmla="*/ 739 h 997"/>
                    <a:gd name="T30" fmla="*/ 636 w 879"/>
                    <a:gd name="T31" fmla="*/ 700 h 997"/>
                    <a:gd name="T32" fmla="*/ 623 w 879"/>
                    <a:gd name="T33" fmla="*/ 640 h 997"/>
                    <a:gd name="T34" fmla="*/ 647 w 879"/>
                    <a:gd name="T35" fmla="*/ 702 h 997"/>
                    <a:gd name="T36" fmla="*/ 657 w 879"/>
                    <a:gd name="T37" fmla="*/ 756 h 997"/>
                    <a:gd name="T38" fmla="*/ 701 w 879"/>
                    <a:gd name="T39" fmla="*/ 767 h 997"/>
                    <a:gd name="T40" fmla="*/ 730 w 879"/>
                    <a:gd name="T41" fmla="*/ 754 h 997"/>
                    <a:gd name="T42" fmla="*/ 757 w 879"/>
                    <a:gd name="T43" fmla="*/ 734 h 997"/>
                    <a:gd name="T44" fmla="*/ 743 w 879"/>
                    <a:gd name="T45" fmla="*/ 695 h 997"/>
                    <a:gd name="T46" fmla="*/ 720 w 879"/>
                    <a:gd name="T47" fmla="*/ 667 h 997"/>
                    <a:gd name="T48" fmla="*/ 695 w 879"/>
                    <a:gd name="T49" fmla="*/ 616 h 997"/>
                    <a:gd name="T50" fmla="*/ 759 w 879"/>
                    <a:gd name="T51" fmla="*/ 678 h 997"/>
                    <a:gd name="T52" fmla="*/ 766 w 879"/>
                    <a:gd name="T53" fmla="*/ 716 h 997"/>
                    <a:gd name="T54" fmla="*/ 802 w 879"/>
                    <a:gd name="T55" fmla="*/ 702 h 997"/>
                    <a:gd name="T56" fmla="*/ 827 w 879"/>
                    <a:gd name="T57" fmla="*/ 668 h 997"/>
                    <a:gd name="T58" fmla="*/ 825 w 879"/>
                    <a:gd name="T59" fmla="*/ 636 h 997"/>
                    <a:gd name="T60" fmla="*/ 823 w 879"/>
                    <a:gd name="T61" fmla="*/ 627 h 997"/>
                    <a:gd name="T62" fmla="*/ 852 w 879"/>
                    <a:gd name="T63" fmla="*/ 609 h 997"/>
                    <a:gd name="T64" fmla="*/ 863 w 879"/>
                    <a:gd name="T65" fmla="*/ 577 h 997"/>
                    <a:gd name="T66" fmla="*/ 865 w 879"/>
                    <a:gd name="T67" fmla="*/ 546 h 997"/>
                    <a:gd name="T68" fmla="*/ 866 w 879"/>
                    <a:gd name="T69" fmla="*/ 521 h 997"/>
                    <a:gd name="T70" fmla="*/ 840 w 879"/>
                    <a:gd name="T71" fmla="*/ 494 h 997"/>
                    <a:gd name="T72" fmla="*/ 828 w 879"/>
                    <a:gd name="T73" fmla="*/ 462 h 997"/>
                    <a:gd name="T74" fmla="*/ 804 w 879"/>
                    <a:gd name="T75" fmla="*/ 441 h 997"/>
                    <a:gd name="T76" fmla="*/ 780 w 879"/>
                    <a:gd name="T77" fmla="*/ 423 h 997"/>
                    <a:gd name="T78" fmla="*/ 780 w 879"/>
                    <a:gd name="T79" fmla="*/ 398 h 997"/>
                    <a:gd name="T80" fmla="*/ 759 w 879"/>
                    <a:gd name="T81" fmla="*/ 368 h 997"/>
                    <a:gd name="T82" fmla="*/ 722 w 879"/>
                    <a:gd name="T83" fmla="*/ 346 h 997"/>
                    <a:gd name="T84" fmla="*/ 687 w 879"/>
                    <a:gd name="T85" fmla="*/ 333 h 997"/>
                    <a:gd name="T86" fmla="*/ 665 w 879"/>
                    <a:gd name="T87" fmla="*/ 323 h 997"/>
                    <a:gd name="T88" fmla="*/ 625 w 879"/>
                    <a:gd name="T89" fmla="*/ 317 h 997"/>
                    <a:gd name="T90" fmla="*/ 598 w 879"/>
                    <a:gd name="T91" fmla="*/ 354 h 997"/>
                    <a:gd name="T92" fmla="*/ 563 w 879"/>
                    <a:gd name="T93" fmla="*/ 360 h 997"/>
                    <a:gd name="T94" fmla="*/ 512 w 879"/>
                    <a:gd name="T95" fmla="*/ 387 h 997"/>
                    <a:gd name="T96" fmla="*/ 536 w 879"/>
                    <a:gd name="T97" fmla="*/ 432 h 997"/>
                    <a:gd name="T98" fmla="*/ 531 w 879"/>
                    <a:gd name="T99" fmla="*/ 447 h 997"/>
                    <a:gd name="T100" fmla="*/ 496 w 879"/>
                    <a:gd name="T101" fmla="*/ 449 h 997"/>
                    <a:gd name="T102" fmla="*/ 503 w 879"/>
                    <a:gd name="T103" fmla="*/ 486 h 997"/>
                    <a:gd name="T104" fmla="*/ 519 w 879"/>
                    <a:gd name="T105" fmla="*/ 497 h 997"/>
                    <a:gd name="T106" fmla="*/ 522 w 879"/>
                    <a:gd name="T107" fmla="*/ 541 h 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79" h="997">
                      <a:moveTo>
                        <a:pt x="521" y="552"/>
                      </a:moveTo>
                      <a:cubicBezTo>
                        <a:pt x="480" y="525"/>
                        <a:pt x="480" y="525"/>
                        <a:pt x="480" y="525"/>
                      </a:cubicBezTo>
                      <a:cubicBezTo>
                        <a:pt x="439" y="424"/>
                        <a:pt x="439" y="424"/>
                        <a:pt x="439" y="424"/>
                      </a:cubicBezTo>
                      <a:cubicBezTo>
                        <a:pt x="418" y="315"/>
                        <a:pt x="418" y="315"/>
                        <a:pt x="418" y="315"/>
                      </a:cubicBezTo>
                      <a:cubicBezTo>
                        <a:pt x="405" y="247"/>
                        <a:pt x="405" y="247"/>
                        <a:pt x="405" y="247"/>
                      </a:cubicBezTo>
                      <a:cubicBezTo>
                        <a:pt x="451" y="218"/>
                        <a:pt x="451" y="218"/>
                        <a:pt x="451" y="218"/>
                      </a:cubicBezTo>
                      <a:cubicBezTo>
                        <a:pt x="498" y="233"/>
                        <a:pt x="498" y="233"/>
                        <a:pt x="498" y="233"/>
                      </a:cubicBezTo>
                      <a:cubicBezTo>
                        <a:pt x="558" y="210"/>
                        <a:pt x="558" y="210"/>
                        <a:pt x="558" y="210"/>
                      </a:cubicBezTo>
                      <a:cubicBezTo>
                        <a:pt x="516" y="106"/>
                        <a:pt x="516" y="106"/>
                        <a:pt x="516" y="106"/>
                      </a:cubicBezTo>
                      <a:cubicBezTo>
                        <a:pt x="425" y="5"/>
                        <a:pt x="425" y="5"/>
                        <a:pt x="425" y="5"/>
                      </a:cubicBezTo>
                      <a:cubicBezTo>
                        <a:pt x="167" y="0"/>
                        <a:pt x="167" y="0"/>
                        <a:pt x="167" y="0"/>
                      </a:cubicBezTo>
                      <a:cubicBezTo>
                        <a:pt x="19" y="35"/>
                        <a:pt x="19" y="35"/>
                        <a:pt x="19" y="35"/>
                      </a:cubicBezTo>
                      <a:cubicBezTo>
                        <a:pt x="0" y="127"/>
                        <a:pt x="0" y="127"/>
                        <a:pt x="0" y="127"/>
                      </a:cubicBezTo>
                      <a:cubicBezTo>
                        <a:pt x="102" y="209"/>
                        <a:pt x="102" y="209"/>
                        <a:pt x="102" y="209"/>
                      </a:cubicBezTo>
                      <a:cubicBezTo>
                        <a:pt x="85" y="316"/>
                        <a:pt x="85" y="316"/>
                        <a:pt x="85" y="316"/>
                      </a:cubicBezTo>
                      <a:cubicBezTo>
                        <a:pt x="111" y="326"/>
                        <a:pt x="111" y="326"/>
                        <a:pt x="111" y="326"/>
                      </a:cubicBezTo>
                      <a:cubicBezTo>
                        <a:pt x="118" y="360"/>
                        <a:pt x="118" y="360"/>
                        <a:pt x="118" y="360"/>
                      </a:cubicBezTo>
                      <a:cubicBezTo>
                        <a:pt x="210" y="305"/>
                        <a:pt x="210" y="305"/>
                        <a:pt x="210" y="305"/>
                      </a:cubicBezTo>
                      <a:cubicBezTo>
                        <a:pt x="314" y="302"/>
                        <a:pt x="314" y="302"/>
                        <a:pt x="314" y="302"/>
                      </a:cubicBezTo>
                      <a:cubicBezTo>
                        <a:pt x="364" y="379"/>
                        <a:pt x="364" y="379"/>
                        <a:pt x="364" y="379"/>
                      </a:cubicBezTo>
                      <a:cubicBezTo>
                        <a:pt x="430" y="657"/>
                        <a:pt x="430" y="657"/>
                        <a:pt x="430" y="657"/>
                      </a:cubicBezTo>
                      <a:cubicBezTo>
                        <a:pt x="514" y="997"/>
                        <a:pt x="514" y="997"/>
                        <a:pt x="514" y="997"/>
                      </a:cubicBezTo>
                      <a:cubicBezTo>
                        <a:pt x="563" y="981"/>
                        <a:pt x="563" y="981"/>
                        <a:pt x="563" y="981"/>
                      </a:cubicBezTo>
                      <a:cubicBezTo>
                        <a:pt x="534" y="803"/>
                        <a:pt x="534" y="803"/>
                        <a:pt x="534" y="803"/>
                      </a:cubicBezTo>
                      <a:cubicBezTo>
                        <a:pt x="551" y="714"/>
                        <a:pt x="551" y="714"/>
                        <a:pt x="551" y="714"/>
                      </a:cubicBezTo>
                      <a:cubicBezTo>
                        <a:pt x="551" y="714"/>
                        <a:pt x="561" y="747"/>
                        <a:pt x="584" y="729"/>
                      </a:cubicBezTo>
                      <a:cubicBezTo>
                        <a:pt x="593" y="722"/>
                        <a:pt x="588" y="701"/>
                        <a:pt x="588" y="701"/>
                      </a:cubicBezTo>
                      <a:cubicBezTo>
                        <a:pt x="588" y="701"/>
                        <a:pt x="586" y="734"/>
                        <a:pt x="597" y="739"/>
                      </a:cubicBezTo>
                      <a:cubicBezTo>
                        <a:pt x="608" y="745"/>
                        <a:pt x="615" y="740"/>
                        <a:pt x="615" y="731"/>
                      </a:cubicBezTo>
                      <a:cubicBezTo>
                        <a:pt x="615" y="731"/>
                        <a:pt x="617" y="751"/>
                        <a:pt x="640" y="739"/>
                      </a:cubicBezTo>
                      <a:cubicBezTo>
                        <a:pt x="656" y="730"/>
                        <a:pt x="643" y="718"/>
                        <a:pt x="638" y="713"/>
                      </a:cubicBezTo>
                      <a:cubicBezTo>
                        <a:pt x="633" y="709"/>
                        <a:pt x="636" y="706"/>
                        <a:pt x="636" y="700"/>
                      </a:cubicBezTo>
                      <a:cubicBezTo>
                        <a:pt x="636" y="693"/>
                        <a:pt x="636" y="682"/>
                        <a:pt x="630" y="677"/>
                      </a:cubicBezTo>
                      <a:cubicBezTo>
                        <a:pt x="624" y="671"/>
                        <a:pt x="631" y="656"/>
                        <a:pt x="623" y="640"/>
                      </a:cubicBezTo>
                      <a:cubicBezTo>
                        <a:pt x="623" y="640"/>
                        <a:pt x="626" y="661"/>
                        <a:pt x="638" y="666"/>
                      </a:cubicBezTo>
                      <a:cubicBezTo>
                        <a:pt x="638" y="666"/>
                        <a:pt x="633" y="686"/>
                        <a:pt x="647" y="702"/>
                      </a:cubicBezTo>
                      <a:cubicBezTo>
                        <a:pt x="647" y="702"/>
                        <a:pt x="643" y="725"/>
                        <a:pt x="659" y="725"/>
                      </a:cubicBezTo>
                      <a:cubicBezTo>
                        <a:pt x="659" y="725"/>
                        <a:pt x="639" y="747"/>
                        <a:pt x="657" y="756"/>
                      </a:cubicBezTo>
                      <a:cubicBezTo>
                        <a:pt x="657" y="756"/>
                        <a:pt x="666" y="766"/>
                        <a:pt x="682" y="753"/>
                      </a:cubicBezTo>
                      <a:cubicBezTo>
                        <a:pt x="682" y="753"/>
                        <a:pt x="683" y="771"/>
                        <a:pt x="701" y="767"/>
                      </a:cubicBezTo>
                      <a:cubicBezTo>
                        <a:pt x="713" y="765"/>
                        <a:pt x="716" y="756"/>
                        <a:pt x="713" y="746"/>
                      </a:cubicBezTo>
                      <a:cubicBezTo>
                        <a:pt x="713" y="746"/>
                        <a:pt x="716" y="760"/>
                        <a:pt x="730" y="754"/>
                      </a:cubicBezTo>
                      <a:cubicBezTo>
                        <a:pt x="744" y="748"/>
                        <a:pt x="742" y="740"/>
                        <a:pt x="738" y="733"/>
                      </a:cubicBezTo>
                      <a:cubicBezTo>
                        <a:pt x="738" y="733"/>
                        <a:pt x="744" y="741"/>
                        <a:pt x="757" y="734"/>
                      </a:cubicBezTo>
                      <a:cubicBezTo>
                        <a:pt x="767" y="730"/>
                        <a:pt x="755" y="712"/>
                        <a:pt x="750" y="709"/>
                      </a:cubicBezTo>
                      <a:cubicBezTo>
                        <a:pt x="746" y="706"/>
                        <a:pt x="743" y="708"/>
                        <a:pt x="743" y="695"/>
                      </a:cubicBezTo>
                      <a:cubicBezTo>
                        <a:pt x="743" y="683"/>
                        <a:pt x="737" y="678"/>
                        <a:pt x="729" y="678"/>
                      </a:cubicBezTo>
                      <a:cubicBezTo>
                        <a:pt x="720" y="677"/>
                        <a:pt x="720" y="680"/>
                        <a:pt x="720" y="667"/>
                      </a:cubicBezTo>
                      <a:cubicBezTo>
                        <a:pt x="719" y="654"/>
                        <a:pt x="716" y="657"/>
                        <a:pt x="709" y="652"/>
                      </a:cubicBezTo>
                      <a:cubicBezTo>
                        <a:pt x="702" y="647"/>
                        <a:pt x="693" y="635"/>
                        <a:pt x="695" y="616"/>
                      </a:cubicBezTo>
                      <a:cubicBezTo>
                        <a:pt x="695" y="616"/>
                        <a:pt x="694" y="650"/>
                        <a:pt x="729" y="650"/>
                      </a:cubicBezTo>
                      <a:cubicBezTo>
                        <a:pt x="732" y="650"/>
                        <a:pt x="712" y="677"/>
                        <a:pt x="759" y="678"/>
                      </a:cubicBezTo>
                      <a:cubicBezTo>
                        <a:pt x="759" y="678"/>
                        <a:pt x="749" y="694"/>
                        <a:pt x="759" y="703"/>
                      </a:cubicBezTo>
                      <a:cubicBezTo>
                        <a:pt x="768" y="712"/>
                        <a:pt x="764" y="712"/>
                        <a:pt x="766" y="716"/>
                      </a:cubicBezTo>
                      <a:cubicBezTo>
                        <a:pt x="768" y="720"/>
                        <a:pt x="785" y="724"/>
                        <a:pt x="788" y="712"/>
                      </a:cubicBezTo>
                      <a:cubicBezTo>
                        <a:pt x="791" y="701"/>
                        <a:pt x="788" y="703"/>
                        <a:pt x="802" y="702"/>
                      </a:cubicBezTo>
                      <a:cubicBezTo>
                        <a:pt x="815" y="701"/>
                        <a:pt x="812" y="690"/>
                        <a:pt x="812" y="691"/>
                      </a:cubicBezTo>
                      <a:cubicBezTo>
                        <a:pt x="812" y="691"/>
                        <a:pt x="845" y="689"/>
                        <a:pt x="827" y="668"/>
                      </a:cubicBezTo>
                      <a:cubicBezTo>
                        <a:pt x="808" y="647"/>
                        <a:pt x="832" y="659"/>
                        <a:pt x="834" y="657"/>
                      </a:cubicBezTo>
                      <a:cubicBezTo>
                        <a:pt x="836" y="656"/>
                        <a:pt x="848" y="633"/>
                        <a:pt x="825" y="636"/>
                      </a:cubicBezTo>
                      <a:cubicBezTo>
                        <a:pt x="819" y="632"/>
                        <a:pt x="819" y="632"/>
                        <a:pt x="819" y="632"/>
                      </a:cubicBezTo>
                      <a:cubicBezTo>
                        <a:pt x="823" y="627"/>
                        <a:pt x="823" y="627"/>
                        <a:pt x="823" y="627"/>
                      </a:cubicBezTo>
                      <a:cubicBezTo>
                        <a:pt x="823" y="627"/>
                        <a:pt x="835" y="645"/>
                        <a:pt x="852" y="622"/>
                      </a:cubicBezTo>
                      <a:cubicBezTo>
                        <a:pt x="858" y="614"/>
                        <a:pt x="852" y="609"/>
                        <a:pt x="852" y="609"/>
                      </a:cubicBezTo>
                      <a:cubicBezTo>
                        <a:pt x="852" y="609"/>
                        <a:pt x="853" y="610"/>
                        <a:pt x="864" y="604"/>
                      </a:cubicBezTo>
                      <a:cubicBezTo>
                        <a:pt x="875" y="597"/>
                        <a:pt x="869" y="580"/>
                        <a:pt x="863" y="577"/>
                      </a:cubicBezTo>
                      <a:cubicBezTo>
                        <a:pt x="857" y="574"/>
                        <a:pt x="868" y="571"/>
                        <a:pt x="869" y="570"/>
                      </a:cubicBezTo>
                      <a:cubicBezTo>
                        <a:pt x="871" y="569"/>
                        <a:pt x="879" y="559"/>
                        <a:pt x="865" y="546"/>
                      </a:cubicBezTo>
                      <a:cubicBezTo>
                        <a:pt x="865" y="546"/>
                        <a:pt x="872" y="541"/>
                        <a:pt x="872" y="533"/>
                      </a:cubicBezTo>
                      <a:cubicBezTo>
                        <a:pt x="872" y="524"/>
                        <a:pt x="869" y="523"/>
                        <a:pt x="866" y="521"/>
                      </a:cubicBezTo>
                      <a:cubicBezTo>
                        <a:pt x="862" y="520"/>
                        <a:pt x="857" y="514"/>
                        <a:pt x="858" y="508"/>
                      </a:cubicBezTo>
                      <a:cubicBezTo>
                        <a:pt x="859" y="502"/>
                        <a:pt x="849" y="491"/>
                        <a:pt x="840" y="494"/>
                      </a:cubicBezTo>
                      <a:cubicBezTo>
                        <a:pt x="831" y="496"/>
                        <a:pt x="857" y="479"/>
                        <a:pt x="839" y="468"/>
                      </a:cubicBezTo>
                      <a:cubicBezTo>
                        <a:pt x="820" y="457"/>
                        <a:pt x="832" y="464"/>
                        <a:pt x="828" y="462"/>
                      </a:cubicBezTo>
                      <a:cubicBezTo>
                        <a:pt x="823" y="460"/>
                        <a:pt x="818" y="461"/>
                        <a:pt x="818" y="461"/>
                      </a:cubicBezTo>
                      <a:cubicBezTo>
                        <a:pt x="818" y="461"/>
                        <a:pt x="823" y="444"/>
                        <a:pt x="804" y="441"/>
                      </a:cubicBezTo>
                      <a:cubicBezTo>
                        <a:pt x="786" y="438"/>
                        <a:pt x="787" y="442"/>
                        <a:pt x="784" y="442"/>
                      </a:cubicBezTo>
                      <a:cubicBezTo>
                        <a:pt x="780" y="443"/>
                        <a:pt x="786" y="428"/>
                        <a:pt x="780" y="423"/>
                      </a:cubicBezTo>
                      <a:cubicBezTo>
                        <a:pt x="774" y="418"/>
                        <a:pt x="774" y="418"/>
                        <a:pt x="774" y="418"/>
                      </a:cubicBezTo>
                      <a:cubicBezTo>
                        <a:pt x="774" y="418"/>
                        <a:pt x="790" y="417"/>
                        <a:pt x="780" y="398"/>
                      </a:cubicBezTo>
                      <a:cubicBezTo>
                        <a:pt x="776" y="389"/>
                        <a:pt x="761" y="391"/>
                        <a:pt x="758" y="393"/>
                      </a:cubicBezTo>
                      <a:cubicBezTo>
                        <a:pt x="758" y="393"/>
                        <a:pt x="774" y="377"/>
                        <a:pt x="759" y="368"/>
                      </a:cubicBezTo>
                      <a:cubicBezTo>
                        <a:pt x="745" y="358"/>
                        <a:pt x="736" y="364"/>
                        <a:pt x="732" y="367"/>
                      </a:cubicBezTo>
                      <a:cubicBezTo>
                        <a:pt x="728" y="370"/>
                        <a:pt x="736" y="346"/>
                        <a:pt x="722" y="346"/>
                      </a:cubicBezTo>
                      <a:cubicBezTo>
                        <a:pt x="707" y="346"/>
                        <a:pt x="706" y="350"/>
                        <a:pt x="706" y="350"/>
                      </a:cubicBezTo>
                      <a:cubicBezTo>
                        <a:pt x="705" y="351"/>
                        <a:pt x="706" y="330"/>
                        <a:pt x="687" y="333"/>
                      </a:cubicBezTo>
                      <a:cubicBezTo>
                        <a:pt x="668" y="336"/>
                        <a:pt x="681" y="336"/>
                        <a:pt x="681" y="336"/>
                      </a:cubicBezTo>
                      <a:cubicBezTo>
                        <a:pt x="681" y="336"/>
                        <a:pt x="677" y="323"/>
                        <a:pt x="665" y="323"/>
                      </a:cubicBezTo>
                      <a:cubicBezTo>
                        <a:pt x="652" y="324"/>
                        <a:pt x="648" y="329"/>
                        <a:pt x="648" y="333"/>
                      </a:cubicBezTo>
                      <a:cubicBezTo>
                        <a:pt x="648" y="336"/>
                        <a:pt x="639" y="315"/>
                        <a:pt x="625" y="317"/>
                      </a:cubicBezTo>
                      <a:cubicBezTo>
                        <a:pt x="611" y="319"/>
                        <a:pt x="596" y="324"/>
                        <a:pt x="595" y="340"/>
                      </a:cubicBezTo>
                      <a:cubicBezTo>
                        <a:pt x="593" y="356"/>
                        <a:pt x="596" y="352"/>
                        <a:pt x="598" y="354"/>
                      </a:cubicBezTo>
                      <a:cubicBezTo>
                        <a:pt x="600" y="356"/>
                        <a:pt x="586" y="350"/>
                        <a:pt x="581" y="358"/>
                      </a:cubicBezTo>
                      <a:cubicBezTo>
                        <a:pt x="576" y="367"/>
                        <a:pt x="569" y="362"/>
                        <a:pt x="563" y="360"/>
                      </a:cubicBezTo>
                      <a:cubicBezTo>
                        <a:pt x="558" y="358"/>
                        <a:pt x="540" y="357"/>
                        <a:pt x="537" y="382"/>
                      </a:cubicBezTo>
                      <a:cubicBezTo>
                        <a:pt x="537" y="382"/>
                        <a:pt x="518" y="364"/>
                        <a:pt x="512" y="387"/>
                      </a:cubicBezTo>
                      <a:cubicBezTo>
                        <a:pt x="505" y="411"/>
                        <a:pt x="521" y="420"/>
                        <a:pt x="533" y="424"/>
                      </a:cubicBezTo>
                      <a:cubicBezTo>
                        <a:pt x="538" y="426"/>
                        <a:pt x="535" y="429"/>
                        <a:pt x="536" y="432"/>
                      </a:cubicBezTo>
                      <a:cubicBezTo>
                        <a:pt x="536" y="435"/>
                        <a:pt x="546" y="439"/>
                        <a:pt x="545" y="450"/>
                      </a:cubicBezTo>
                      <a:cubicBezTo>
                        <a:pt x="544" y="462"/>
                        <a:pt x="534" y="451"/>
                        <a:pt x="531" y="447"/>
                      </a:cubicBezTo>
                      <a:cubicBezTo>
                        <a:pt x="529" y="444"/>
                        <a:pt x="519" y="424"/>
                        <a:pt x="506" y="426"/>
                      </a:cubicBezTo>
                      <a:cubicBezTo>
                        <a:pt x="492" y="427"/>
                        <a:pt x="491" y="438"/>
                        <a:pt x="496" y="449"/>
                      </a:cubicBezTo>
                      <a:cubicBezTo>
                        <a:pt x="499" y="456"/>
                        <a:pt x="481" y="435"/>
                        <a:pt x="483" y="465"/>
                      </a:cubicBezTo>
                      <a:cubicBezTo>
                        <a:pt x="483" y="465"/>
                        <a:pt x="484" y="499"/>
                        <a:pt x="503" y="486"/>
                      </a:cubicBezTo>
                      <a:cubicBezTo>
                        <a:pt x="522" y="474"/>
                        <a:pt x="512" y="483"/>
                        <a:pt x="512" y="483"/>
                      </a:cubicBezTo>
                      <a:cubicBezTo>
                        <a:pt x="512" y="483"/>
                        <a:pt x="511" y="491"/>
                        <a:pt x="519" y="497"/>
                      </a:cubicBezTo>
                      <a:cubicBezTo>
                        <a:pt x="528" y="503"/>
                        <a:pt x="486" y="489"/>
                        <a:pt x="507" y="519"/>
                      </a:cubicBezTo>
                      <a:cubicBezTo>
                        <a:pt x="528" y="548"/>
                        <a:pt x="522" y="541"/>
                        <a:pt x="522" y="541"/>
                      </a:cubicBezTo>
                      <a:cubicBezTo>
                        <a:pt x="522" y="541"/>
                        <a:pt x="538" y="557"/>
                        <a:pt x="521" y="552"/>
                      </a:cubicBezTo>
                      <a:close/>
                    </a:path>
                  </a:pathLst>
                </a:custGeom>
                <a:solidFill>
                  <a:schemeClr val="bg1">
                    <a:lumMod val="8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60" name="Freeform 383">
                  <a:extLst>
                    <a:ext uri="{FF2B5EF4-FFF2-40B4-BE49-F238E27FC236}">
                      <a16:creationId xmlns:a16="http://schemas.microsoft.com/office/drawing/2014/main" id="{8DF8906D-3C32-45B5-85E7-3FA05D34826D}"/>
                    </a:ext>
                  </a:extLst>
                </p:cNvPr>
                <p:cNvSpPr>
                  <a:spLocks/>
                </p:cNvSpPr>
                <p:nvPr/>
              </p:nvSpPr>
              <p:spPr bwMode="auto">
                <a:xfrm>
                  <a:off x="7388226" y="5429888"/>
                  <a:ext cx="68263" cy="128588"/>
                </a:xfrm>
                <a:custGeom>
                  <a:avLst/>
                  <a:gdLst>
                    <a:gd name="T0" fmla="*/ 26 w 46"/>
                    <a:gd name="T1" fmla="*/ 0 h 86"/>
                    <a:gd name="T2" fmla="*/ 13 w 46"/>
                    <a:gd name="T3" fmla="*/ 18 h 86"/>
                    <a:gd name="T4" fmla="*/ 22 w 46"/>
                    <a:gd name="T5" fmla="*/ 32 h 86"/>
                    <a:gd name="T6" fmla="*/ 8 w 46"/>
                    <a:gd name="T7" fmla="*/ 56 h 86"/>
                    <a:gd name="T8" fmla="*/ 8 w 46"/>
                    <a:gd name="T9" fmla="*/ 74 h 86"/>
                    <a:gd name="T10" fmla="*/ 2 w 46"/>
                    <a:gd name="T11" fmla="*/ 86 h 86"/>
                    <a:gd name="T12" fmla="*/ 22 w 46"/>
                    <a:gd name="T13" fmla="*/ 71 h 86"/>
                    <a:gd name="T14" fmla="*/ 23 w 46"/>
                    <a:gd name="T15" fmla="*/ 54 h 86"/>
                    <a:gd name="T16" fmla="*/ 37 w 46"/>
                    <a:gd name="T17" fmla="*/ 50 h 86"/>
                    <a:gd name="T18" fmla="*/ 33 w 46"/>
                    <a:gd name="T19" fmla="*/ 38 h 86"/>
                    <a:gd name="T20" fmla="*/ 42 w 46"/>
                    <a:gd name="T21" fmla="*/ 29 h 86"/>
                    <a:gd name="T22" fmla="*/ 26 w 46"/>
                    <a:gd name="T23"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6" h="86">
                      <a:moveTo>
                        <a:pt x="26" y="0"/>
                      </a:moveTo>
                      <a:cubicBezTo>
                        <a:pt x="26" y="0"/>
                        <a:pt x="26" y="10"/>
                        <a:pt x="13" y="18"/>
                      </a:cubicBezTo>
                      <a:cubicBezTo>
                        <a:pt x="0" y="25"/>
                        <a:pt x="22" y="20"/>
                        <a:pt x="22" y="32"/>
                      </a:cubicBezTo>
                      <a:cubicBezTo>
                        <a:pt x="22" y="45"/>
                        <a:pt x="12" y="54"/>
                        <a:pt x="8" y="56"/>
                      </a:cubicBezTo>
                      <a:cubicBezTo>
                        <a:pt x="4" y="58"/>
                        <a:pt x="10" y="65"/>
                        <a:pt x="8" y="74"/>
                      </a:cubicBezTo>
                      <a:cubicBezTo>
                        <a:pt x="6" y="83"/>
                        <a:pt x="2" y="86"/>
                        <a:pt x="2" y="86"/>
                      </a:cubicBezTo>
                      <a:cubicBezTo>
                        <a:pt x="2" y="86"/>
                        <a:pt x="13" y="72"/>
                        <a:pt x="22" y="71"/>
                      </a:cubicBezTo>
                      <a:cubicBezTo>
                        <a:pt x="32" y="70"/>
                        <a:pt x="14" y="69"/>
                        <a:pt x="23" y="54"/>
                      </a:cubicBezTo>
                      <a:cubicBezTo>
                        <a:pt x="29" y="46"/>
                        <a:pt x="33" y="49"/>
                        <a:pt x="37" y="50"/>
                      </a:cubicBezTo>
                      <a:cubicBezTo>
                        <a:pt x="41" y="50"/>
                        <a:pt x="29" y="44"/>
                        <a:pt x="33" y="38"/>
                      </a:cubicBezTo>
                      <a:cubicBezTo>
                        <a:pt x="36" y="32"/>
                        <a:pt x="38" y="30"/>
                        <a:pt x="42" y="29"/>
                      </a:cubicBezTo>
                      <a:cubicBezTo>
                        <a:pt x="46" y="28"/>
                        <a:pt x="22" y="27"/>
                        <a:pt x="26" y="0"/>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61" name="Freeform 384">
                  <a:extLst>
                    <a:ext uri="{FF2B5EF4-FFF2-40B4-BE49-F238E27FC236}">
                      <a16:creationId xmlns:a16="http://schemas.microsoft.com/office/drawing/2014/main" id="{D74DD877-7BEA-4950-B851-31635452D885}"/>
                    </a:ext>
                  </a:extLst>
                </p:cNvPr>
                <p:cNvSpPr>
                  <a:spLocks/>
                </p:cNvSpPr>
                <p:nvPr/>
              </p:nvSpPr>
              <p:spPr bwMode="auto">
                <a:xfrm>
                  <a:off x="7119938" y="5393376"/>
                  <a:ext cx="479425" cy="550863"/>
                </a:xfrm>
                <a:custGeom>
                  <a:avLst/>
                  <a:gdLst>
                    <a:gd name="T0" fmla="*/ 104 w 320"/>
                    <a:gd name="T1" fmla="*/ 35 h 367"/>
                    <a:gd name="T2" fmla="*/ 99 w 320"/>
                    <a:gd name="T3" fmla="*/ 58 h 367"/>
                    <a:gd name="T4" fmla="*/ 117 w 320"/>
                    <a:gd name="T5" fmla="*/ 99 h 367"/>
                    <a:gd name="T6" fmla="*/ 115 w 320"/>
                    <a:gd name="T7" fmla="*/ 143 h 367"/>
                    <a:gd name="T8" fmla="*/ 62 w 320"/>
                    <a:gd name="T9" fmla="*/ 127 h 367"/>
                    <a:gd name="T10" fmla="*/ 18 w 320"/>
                    <a:gd name="T11" fmla="*/ 136 h 367"/>
                    <a:gd name="T12" fmla="*/ 19 w 320"/>
                    <a:gd name="T13" fmla="*/ 154 h 367"/>
                    <a:gd name="T14" fmla="*/ 9 w 320"/>
                    <a:gd name="T15" fmla="*/ 181 h 367"/>
                    <a:gd name="T16" fmla="*/ 4 w 320"/>
                    <a:gd name="T17" fmla="*/ 195 h 367"/>
                    <a:gd name="T18" fmla="*/ 22 w 320"/>
                    <a:gd name="T19" fmla="*/ 200 h 367"/>
                    <a:gd name="T20" fmla="*/ 33 w 320"/>
                    <a:gd name="T21" fmla="*/ 222 h 367"/>
                    <a:gd name="T22" fmla="*/ 23 w 320"/>
                    <a:gd name="T23" fmla="*/ 248 h 367"/>
                    <a:gd name="T24" fmla="*/ 52 w 320"/>
                    <a:gd name="T25" fmla="*/ 248 h 367"/>
                    <a:gd name="T26" fmla="*/ 51 w 320"/>
                    <a:gd name="T27" fmla="*/ 285 h 367"/>
                    <a:gd name="T28" fmla="*/ 31 w 320"/>
                    <a:gd name="T29" fmla="*/ 313 h 367"/>
                    <a:gd name="T30" fmla="*/ 69 w 320"/>
                    <a:gd name="T31" fmla="*/ 312 h 367"/>
                    <a:gd name="T32" fmla="*/ 67 w 320"/>
                    <a:gd name="T33" fmla="*/ 287 h 367"/>
                    <a:gd name="T34" fmla="*/ 74 w 320"/>
                    <a:gd name="T35" fmla="*/ 261 h 367"/>
                    <a:gd name="T36" fmla="*/ 103 w 320"/>
                    <a:gd name="T37" fmla="*/ 243 h 367"/>
                    <a:gd name="T38" fmla="*/ 109 w 320"/>
                    <a:gd name="T39" fmla="*/ 268 h 367"/>
                    <a:gd name="T40" fmla="*/ 127 w 320"/>
                    <a:gd name="T41" fmla="*/ 294 h 367"/>
                    <a:gd name="T42" fmla="*/ 136 w 320"/>
                    <a:gd name="T43" fmla="*/ 328 h 367"/>
                    <a:gd name="T44" fmla="*/ 145 w 320"/>
                    <a:gd name="T45" fmla="*/ 353 h 367"/>
                    <a:gd name="T46" fmla="*/ 166 w 320"/>
                    <a:gd name="T47" fmla="*/ 340 h 367"/>
                    <a:gd name="T48" fmla="*/ 190 w 320"/>
                    <a:gd name="T49" fmla="*/ 335 h 367"/>
                    <a:gd name="T50" fmla="*/ 163 w 320"/>
                    <a:gd name="T51" fmla="*/ 311 h 367"/>
                    <a:gd name="T52" fmla="*/ 148 w 320"/>
                    <a:gd name="T53" fmla="*/ 285 h 367"/>
                    <a:gd name="T54" fmla="*/ 139 w 320"/>
                    <a:gd name="T55" fmla="*/ 259 h 367"/>
                    <a:gd name="T56" fmla="*/ 149 w 320"/>
                    <a:gd name="T57" fmla="*/ 229 h 367"/>
                    <a:gd name="T58" fmla="*/ 175 w 320"/>
                    <a:gd name="T59" fmla="*/ 248 h 367"/>
                    <a:gd name="T60" fmla="*/ 204 w 320"/>
                    <a:gd name="T61" fmla="*/ 268 h 367"/>
                    <a:gd name="T62" fmla="*/ 219 w 320"/>
                    <a:gd name="T63" fmla="*/ 295 h 367"/>
                    <a:gd name="T64" fmla="*/ 274 w 320"/>
                    <a:gd name="T65" fmla="*/ 297 h 367"/>
                    <a:gd name="T66" fmla="*/ 234 w 320"/>
                    <a:gd name="T67" fmla="*/ 284 h 367"/>
                    <a:gd name="T68" fmla="*/ 217 w 320"/>
                    <a:gd name="T69" fmla="*/ 249 h 367"/>
                    <a:gd name="T70" fmla="*/ 214 w 320"/>
                    <a:gd name="T71" fmla="*/ 204 h 367"/>
                    <a:gd name="T72" fmla="*/ 237 w 320"/>
                    <a:gd name="T73" fmla="*/ 214 h 367"/>
                    <a:gd name="T74" fmla="*/ 270 w 320"/>
                    <a:gd name="T75" fmla="*/ 226 h 367"/>
                    <a:gd name="T76" fmla="*/ 311 w 320"/>
                    <a:gd name="T77" fmla="*/ 213 h 367"/>
                    <a:gd name="T78" fmla="*/ 252 w 320"/>
                    <a:gd name="T79" fmla="*/ 212 h 367"/>
                    <a:gd name="T80" fmla="*/ 230 w 320"/>
                    <a:gd name="T81" fmla="*/ 170 h 367"/>
                    <a:gd name="T82" fmla="*/ 154 w 320"/>
                    <a:gd name="T83" fmla="*/ 206 h 367"/>
                    <a:gd name="T84" fmla="*/ 181 w 320"/>
                    <a:gd name="T85" fmla="*/ 146 h 367"/>
                    <a:gd name="T86" fmla="*/ 140 w 320"/>
                    <a:gd name="T87" fmla="*/ 110 h 367"/>
                    <a:gd name="T88" fmla="*/ 142 w 320"/>
                    <a:gd name="T89" fmla="*/ 4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67">
                      <a:moveTo>
                        <a:pt x="136" y="0"/>
                      </a:moveTo>
                      <a:cubicBezTo>
                        <a:pt x="136" y="0"/>
                        <a:pt x="125" y="46"/>
                        <a:pt x="104" y="35"/>
                      </a:cubicBezTo>
                      <a:cubicBezTo>
                        <a:pt x="89" y="28"/>
                        <a:pt x="96" y="42"/>
                        <a:pt x="96" y="42"/>
                      </a:cubicBezTo>
                      <a:cubicBezTo>
                        <a:pt x="96" y="42"/>
                        <a:pt x="104" y="48"/>
                        <a:pt x="99" y="58"/>
                      </a:cubicBezTo>
                      <a:cubicBezTo>
                        <a:pt x="95" y="66"/>
                        <a:pt x="113" y="53"/>
                        <a:pt x="119" y="85"/>
                      </a:cubicBezTo>
                      <a:cubicBezTo>
                        <a:pt x="121" y="93"/>
                        <a:pt x="119" y="94"/>
                        <a:pt x="117" y="99"/>
                      </a:cubicBezTo>
                      <a:cubicBezTo>
                        <a:pt x="115" y="103"/>
                        <a:pt x="115" y="104"/>
                        <a:pt x="120" y="113"/>
                      </a:cubicBezTo>
                      <a:cubicBezTo>
                        <a:pt x="120" y="113"/>
                        <a:pt x="128" y="130"/>
                        <a:pt x="115" y="143"/>
                      </a:cubicBezTo>
                      <a:cubicBezTo>
                        <a:pt x="102" y="157"/>
                        <a:pt x="90" y="150"/>
                        <a:pt x="83" y="144"/>
                      </a:cubicBezTo>
                      <a:cubicBezTo>
                        <a:pt x="76" y="137"/>
                        <a:pt x="65" y="130"/>
                        <a:pt x="62" y="127"/>
                      </a:cubicBezTo>
                      <a:cubicBezTo>
                        <a:pt x="59" y="125"/>
                        <a:pt x="52" y="119"/>
                        <a:pt x="47" y="131"/>
                      </a:cubicBezTo>
                      <a:cubicBezTo>
                        <a:pt x="42" y="143"/>
                        <a:pt x="27" y="143"/>
                        <a:pt x="18" y="136"/>
                      </a:cubicBezTo>
                      <a:cubicBezTo>
                        <a:pt x="8" y="130"/>
                        <a:pt x="7" y="128"/>
                        <a:pt x="7" y="128"/>
                      </a:cubicBezTo>
                      <a:cubicBezTo>
                        <a:pt x="7" y="128"/>
                        <a:pt x="25" y="145"/>
                        <a:pt x="19" y="154"/>
                      </a:cubicBezTo>
                      <a:cubicBezTo>
                        <a:pt x="14" y="163"/>
                        <a:pt x="9" y="163"/>
                        <a:pt x="9" y="163"/>
                      </a:cubicBezTo>
                      <a:cubicBezTo>
                        <a:pt x="9" y="163"/>
                        <a:pt x="18" y="174"/>
                        <a:pt x="9" y="181"/>
                      </a:cubicBezTo>
                      <a:cubicBezTo>
                        <a:pt x="0" y="188"/>
                        <a:pt x="5" y="181"/>
                        <a:pt x="4" y="186"/>
                      </a:cubicBezTo>
                      <a:cubicBezTo>
                        <a:pt x="3" y="190"/>
                        <a:pt x="4" y="195"/>
                        <a:pt x="4" y="195"/>
                      </a:cubicBezTo>
                      <a:cubicBezTo>
                        <a:pt x="4" y="195"/>
                        <a:pt x="3" y="196"/>
                        <a:pt x="10" y="197"/>
                      </a:cubicBezTo>
                      <a:cubicBezTo>
                        <a:pt x="17" y="198"/>
                        <a:pt x="17" y="198"/>
                        <a:pt x="22" y="200"/>
                      </a:cubicBezTo>
                      <a:cubicBezTo>
                        <a:pt x="27" y="202"/>
                        <a:pt x="33" y="202"/>
                        <a:pt x="33" y="202"/>
                      </a:cubicBezTo>
                      <a:cubicBezTo>
                        <a:pt x="33" y="202"/>
                        <a:pt x="46" y="207"/>
                        <a:pt x="33" y="222"/>
                      </a:cubicBezTo>
                      <a:cubicBezTo>
                        <a:pt x="26" y="230"/>
                        <a:pt x="25" y="222"/>
                        <a:pt x="12" y="235"/>
                      </a:cubicBezTo>
                      <a:cubicBezTo>
                        <a:pt x="3" y="243"/>
                        <a:pt x="12" y="256"/>
                        <a:pt x="23" y="248"/>
                      </a:cubicBezTo>
                      <a:cubicBezTo>
                        <a:pt x="23" y="248"/>
                        <a:pt x="31" y="236"/>
                        <a:pt x="42" y="236"/>
                      </a:cubicBezTo>
                      <a:cubicBezTo>
                        <a:pt x="52" y="235"/>
                        <a:pt x="54" y="241"/>
                        <a:pt x="52" y="248"/>
                      </a:cubicBezTo>
                      <a:cubicBezTo>
                        <a:pt x="51" y="255"/>
                        <a:pt x="45" y="255"/>
                        <a:pt x="52" y="261"/>
                      </a:cubicBezTo>
                      <a:cubicBezTo>
                        <a:pt x="58" y="267"/>
                        <a:pt x="57" y="277"/>
                        <a:pt x="51" y="285"/>
                      </a:cubicBezTo>
                      <a:cubicBezTo>
                        <a:pt x="44" y="292"/>
                        <a:pt x="46" y="288"/>
                        <a:pt x="46" y="291"/>
                      </a:cubicBezTo>
                      <a:cubicBezTo>
                        <a:pt x="46" y="294"/>
                        <a:pt x="54" y="307"/>
                        <a:pt x="31" y="313"/>
                      </a:cubicBezTo>
                      <a:cubicBezTo>
                        <a:pt x="31" y="313"/>
                        <a:pt x="45" y="318"/>
                        <a:pt x="45" y="323"/>
                      </a:cubicBezTo>
                      <a:cubicBezTo>
                        <a:pt x="45" y="323"/>
                        <a:pt x="51" y="301"/>
                        <a:pt x="69" y="312"/>
                      </a:cubicBezTo>
                      <a:cubicBezTo>
                        <a:pt x="69" y="312"/>
                        <a:pt x="69" y="303"/>
                        <a:pt x="66" y="300"/>
                      </a:cubicBezTo>
                      <a:cubicBezTo>
                        <a:pt x="62" y="297"/>
                        <a:pt x="66" y="290"/>
                        <a:pt x="67" y="287"/>
                      </a:cubicBezTo>
                      <a:cubicBezTo>
                        <a:pt x="68" y="284"/>
                        <a:pt x="65" y="278"/>
                        <a:pt x="65" y="275"/>
                      </a:cubicBezTo>
                      <a:cubicBezTo>
                        <a:pt x="65" y="272"/>
                        <a:pt x="64" y="267"/>
                        <a:pt x="74" y="261"/>
                      </a:cubicBezTo>
                      <a:cubicBezTo>
                        <a:pt x="74" y="261"/>
                        <a:pt x="55" y="252"/>
                        <a:pt x="72" y="236"/>
                      </a:cubicBezTo>
                      <a:cubicBezTo>
                        <a:pt x="89" y="220"/>
                        <a:pt x="102" y="238"/>
                        <a:pt x="103" y="243"/>
                      </a:cubicBezTo>
                      <a:cubicBezTo>
                        <a:pt x="103" y="249"/>
                        <a:pt x="105" y="249"/>
                        <a:pt x="103" y="254"/>
                      </a:cubicBezTo>
                      <a:cubicBezTo>
                        <a:pt x="101" y="260"/>
                        <a:pt x="102" y="265"/>
                        <a:pt x="109" y="268"/>
                      </a:cubicBezTo>
                      <a:cubicBezTo>
                        <a:pt x="116" y="270"/>
                        <a:pt x="118" y="273"/>
                        <a:pt x="117" y="285"/>
                      </a:cubicBezTo>
                      <a:cubicBezTo>
                        <a:pt x="117" y="291"/>
                        <a:pt x="118" y="287"/>
                        <a:pt x="127" y="294"/>
                      </a:cubicBezTo>
                      <a:cubicBezTo>
                        <a:pt x="127" y="294"/>
                        <a:pt x="146" y="306"/>
                        <a:pt x="133" y="321"/>
                      </a:cubicBezTo>
                      <a:cubicBezTo>
                        <a:pt x="131" y="323"/>
                        <a:pt x="132" y="326"/>
                        <a:pt x="136" y="328"/>
                      </a:cubicBezTo>
                      <a:cubicBezTo>
                        <a:pt x="136" y="328"/>
                        <a:pt x="152" y="333"/>
                        <a:pt x="148" y="346"/>
                      </a:cubicBezTo>
                      <a:cubicBezTo>
                        <a:pt x="144" y="360"/>
                        <a:pt x="145" y="353"/>
                        <a:pt x="145" y="353"/>
                      </a:cubicBezTo>
                      <a:cubicBezTo>
                        <a:pt x="158" y="359"/>
                        <a:pt x="158" y="359"/>
                        <a:pt x="158" y="359"/>
                      </a:cubicBezTo>
                      <a:cubicBezTo>
                        <a:pt x="158" y="359"/>
                        <a:pt x="155" y="342"/>
                        <a:pt x="166" y="340"/>
                      </a:cubicBezTo>
                      <a:cubicBezTo>
                        <a:pt x="166" y="340"/>
                        <a:pt x="189" y="340"/>
                        <a:pt x="190" y="354"/>
                      </a:cubicBezTo>
                      <a:cubicBezTo>
                        <a:pt x="191" y="367"/>
                        <a:pt x="190" y="335"/>
                        <a:pt x="190" y="335"/>
                      </a:cubicBezTo>
                      <a:cubicBezTo>
                        <a:pt x="190" y="335"/>
                        <a:pt x="171" y="338"/>
                        <a:pt x="171" y="317"/>
                      </a:cubicBezTo>
                      <a:cubicBezTo>
                        <a:pt x="171" y="316"/>
                        <a:pt x="168" y="314"/>
                        <a:pt x="163" y="311"/>
                      </a:cubicBezTo>
                      <a:cubicBezTo>
                        <a:pt x="159" y="309"/>
                        <a:pt x="152" y="300"/>
                        <a:pt x="155" y="290"/>
                      </a:cubicBezTo>
                      <a:cubicBezTo>
                        <a:pt x="155" y="290"/>
                        <a:pt x="156" y="288"/>
                        <a:pt x="148" y="285"/>
                      </a:cubicBezTo>
                      <a:cubicBezTo>
                        <a:pt x="141" y="282"/>
                        <a:pt x="131" y="276"/>
                        <a:pt x="133" y="269"/>
                      </a:cubicBezTo>
                      <a:cubicBezTo>
                        <a:pt x="135" y="261"/>
                        <a:pt x="137" y="260"/>
                        <a:pt x="139" y="259"/>
                      </a:cubicBezTo>
                      <a:cubicBezTo>
                        <a:pt x="141" y="258"/>
                        <a:pt x="140" y="253"/>
                        <a:pt x="135" y="250"/>
                      </a:cubicBezTo>
                      <a:cubicBezTo>
                        <a:pt x="131" y="246"/>
                        <a:pt x="128" y="229"/>
                        <a:pt x="149" y="229"/>
                      </a:cubicBezTo>
                      <a:cubicBezTo>
                        <a:pt x="169" y="228"/>
                        <a:pt x="175" y="237"/>
                        <a:pt x="175" y="245"/>
                      </a:cubicBezTo>
                      <a:cubicBezTo>
                        <a:pt x="175" y="253"/>
                        <a:pt x="175" y="248"/>
                        <a:pt x="175" y="248"/>
                      </a:cubicBezTo>
                      <a:cubicBezTo>
                        <a:pt x="175" y="248"/>
                        <a:pt x="196" y="240"/>
                        <a:pt x="193" y="263"/>
                      </a:cubicBezTo>
                      <a:cubicBezTo>
                        <a:pt x="204" y="268"/>
                        <a:pt x="204" y="268"/>
                        <a:pt x="204" y="268"/>
                      </a:cubicBezTo>
                      <a:cubicBezTo>
                        <a:pt x="204" y="268"/>
                        <a:pt x="211" y="275"/>
                        <a:pt x="208" y="290"/>
                      </a:cubicBezTo>
                      <a:cubicBezTo>
                        <a:pt x="207" y="296"/>
                        <a:pt x="209" y="292"/>
                        <a:pt x="219" y="295"/>
                      </a:cubicBezTo>
                      <a:cubicBezTo>
                        <a:pt x="229" y="297"/>
                        <a:pt x="246" y="290"/>
                        <a:pt x="249" y="321"/>
                      </a:cubicBezTo>
                      <a:cubicBezTo>
                        <a:pt x="250" y="332"/>
                        <a:pt x="244" y="302"/>
                        <a:pt x="274" y="297"/>
                      </a:cubicBezTo>
                      <a:cubicBezTo>
                        <a:pt x="281" y="295"/>
                        <a:pt x="245" y="303"/>
                        <a:pt x="252" y="283"/>
                      </a:cubicBezTo>
                      <a:cubicBezTo>
                        <a:pt x="253" y="282"/>
                        <a:pt x="243" y="293"/>
                        <a:pt x="234" y="284"/>
                      </a:cubicBezTo>
                      <a:cubicBezTo>
                        <a:pt x="225" y="274"/>
                        <a:pt x="218" y="267"/>
                        <a:pt x="218" y="267"/>
                      </a:cubicBezTo>
                      <a:cubicBezTo>
                        <a:pt x="218" y="267"/>
                        <a:pt x="214" y="261"/>
                        <a:pt x="217" y="249"/>
                      </a:cubicBezTo>
                      <a:cubicBezTo>
                        <a:pt x="220" y="238"/>
                        <a:pt x="197" y="261"/>
                        <a:pt x="189" y="231"/>
                      </a:cubicBezTo>
                      <a:cubicBezTo>
                        <a:pt x="182" y="205"/>
                        <a:pt x="214" y="205"/>
                        <a:pt x="214" y="204"/>
                      </a:cubicBezTo>
                      <a:cubicBezTo>
                        <a:pt x="214" y="204"/>
                        <a:pt x="219" y="206"/>
                        <a:pt x="223" y="210"/>
                      </a:cubicBezTo>
                      <a:cubicBezTo>
                        <a:pt x="227" y="214"/>
                        <a:pt x="229" y="215"/>
                        <a:pt x="237" y="214"/>
                      </a:cubicBezTo>
                      <a:cubicBezTo>
                        <a:pt x="245" y="214"/>
                        <a:pt x="242" y="214"/>
                        <a:pt x="249" y="219"/>
                      </a:cubicBezTo>
                      <a:cubicBezTo>
                        <a:pt x="256" y="225"/>
                        <a:pt x="257" y="235"/>
                        <a:pt x="270" y="226"/>
                      </a:cubicBezTo>
                      <a:cubicBezTo>
                        <a:pt x="282" y="216"/>
                        <a:pt x="293" y="227"/>
                        <a:pt x="303" y="235"/>
                      </a:cubicBezTo>
                      <a:cubicBezTo>
                        <a:pt x="306" y="238"/>
                        <a:pt x="295" y="226"/>
                        <a:pt x="311" y="213"/>
                      </a:cubicBezTo>
                      <a:cubicBezTo>
                        <a:pt x="320" y="206"/>
                        <a:pt x="295" y="223"/>
                        <a:pt x="286" y="206"/>
                      </a:cubicBezTo>
                      <a:cubicBezTo>
                        <a:pt x="286" y="206"/>
                        <a:pt x="263" y="220"/>
                        <a:pt x="252" y="212"/>
                      </a:cubicBezTo>
                      <a:cubicBezTo>
                        <a:pt x="241" y="203"/>
                        <a:pt x="245" y="190"/>
                        <a:pt x="248" y="187"/>
                      </a:cubicBezTo>
                      <a:cubicBezTo>
                        <a:pt x="249" y="186"/>
                        <a:pt x="229" y="193"/>
                        <a:pt x="230" y="170"/>
                      </a:cubicBezTo>
                      <a:cubicBezTo>
                        <a:pt x="230" y="165"/>
                        <a:pt x="234" y="189"/>
                        <a:pt x="196" y="187"/>
                      </a:cubicBezTo>
                      <a:cubicBezTo>
                        <a:pt x="196" y="187"/>
                        <a:pt x="181" y="215"/>
                        <a:pt x="154" y="206"/>
                      </a:cubicBezTo>
                      <a:cubicBezTo>
                        <a:pt x="127" y="196"/>
                        <a:pt x="139" y="169"/>
                        <a:pt x="157" y="160"/>
                      </a:cubicBezTo>
                      <a:cubicBezTo>
                        <a:pt x="176" y="150"/>
                        <a:pt x="181" y="146"/>
                        <a:pt x="181" y="146"/>
                      </a:cubicBezTo>
                      <a:cubicBezTo>
                        <a:pt x="181" y="146"/>
                        <a:pt x="160" y="147"/>
                        <a:pt x="176" y="119"/>
                      </a:cubicBezTo>
                      <a:cubicBezTo>
                        <a:pt x="176" y="119"/>
                        <a:pt x="143" y="131"/>
                        <a:pt x="140" y="110"/>
                      </a:cubicBezTo>
                      <a:cubicBezTo>
                        <a:pt x="136" y="79"/>
                        <a:pt x="142" y="80"/>
                        <a:pt x="144" y="75"/>
                      </a:cubicBezTo>
                      <a:cubicBezTo>
                        <a:pt x="144" y="75"/>
                        <a:pt x="119" y="70"/>
                        <a:pt x="142" y="40"/>
                      </a:cubicBezTo>
                      <a:cubicBezTo>
                        <a:pt x="142" y="40"/>
                        <a:pt x="120" y="48"/>
                        <a:pt x="136" y="0"/>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62" name="Freeform 385">
                  <a:extLst>
                    <a:ext uri="{FF2B5EF4-FFF2-40B4-BE49-F238E27FC236}">
                      <a16:creationId xmlns:a16="http://schemas.microsoft.com/office/drawing/2014/main" id="{FE2FB7A3-5DD7-47D4-AA48-3DB35C0E80F6}"/>
                    </a:ext>
                  </a:extLst>
                </p:cNvPr>
                <p:cNvSpPr>
                  <a:spLocks/>
                </p:cNvSpPr>
                <p:nvPr/>
              </p:nvSpPr>
              <p:spPr bwMode="auto">
                <a:xfrm>
                  <a:off x="7332663" y="5372738"/>
                  <a:ext cx="71438" cy="179388"/>
                </a:xfrm>
                <a:custGeom>
                  <a:avLst/>
                  <a:gdLst>
                    <a:gd name="T0" fmla="*/ 31 w 48"/>
                    <a:gd name="T1" fmla="*/ 0 h 120"/>
                    <a:gd name="T2" fmla="*/ 38 w 48"/>
                    <a:gd name="T3" fmla="*/ 31 h 120"/>
                    <a:gd name="T4" fmla="*/ 30 w 48"/>
                    <a:gd name="T5" fmla="*/ 51 h 120"/>
                    <a:gd name="T6" fmla="*/ 37 w 48"/>
                    <a:gd name="T7" fmla="*/ 69 h 120"/>
                    <a:gd name="T8" fmla="*/ 25 w 48"/>
                    <a:gd name="T9" fmla="*/ 100 h 120"/>
                    <a:gd name="T10" fmla="*/ 17 w 48"/>
                    <a:gd name="T11" fmla="*/ 61 h 120"/>
                    <a:gd name="T12" fmla="*/ 10 w 48"/>
                    <a:gd name="T13" fmla="*/ 31 h 120"/>
                    <a:gd name="T14" fmla="*/ 31 w 48"/>
                    <a:gd name="T15" fmla="*/ 0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20">
                      <a:moveTo>
                        <a:pt x="31" y="0"/>
                      </a:moveTo>
                      <a:cubicBezTo>
                        <a:pt x="31" y="0"/>
                        <a:pt x="27" y="21"/>
                        <a:pt x="38" y="31"/>
                      </a:cubicBezTo>
                      <a:cubicBezTo>
                        <a:pt x="48" y="41"/>
                        <a:pt x="28" y="30"/>
                        <a:pt x="30" y="51"/>
                      </a:cubicBezTo>
                      <a:cubicBezTo>
                        <a:pt x="32" y="72"/>
                        <a:pt x="34" y="66"/>
                        <a:pt x="37" y="69"/>
                      </a:cubicBezTo>
                      <a:cubicBezTo>
                        <a:pt x="39" y="73"/>
                        <a:pt x="26" y="81"/>
                        <a:pt x="25" y="100"/>
                      </a:cubicBezTo>
                      <a:cubicBezTo>
                        <a:pt x="23" y="120"/>
                        <a:pt x="26" y="73"/>
                        <a:pt x="17" y="61"/>
                      </a:cubicBezTo>
                      <a:cubicBezTo>
                        <a:pt x="8" y="48"/>
                        <a:pt x="37" y="55"/>
                        <a:pt x="10" y="31"/>
                      </a:cubicBezTo>
                      <a:cubicBezTo>
                        <a:pt x="0" y="22"/>
                        <a:pt x="21" y="38"/>
                        <a:pt x="31" y="0"/>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63" name="Freeform 386">
                  <a:extLst>
                    <a:ext uri="{FF2B5EF4-FFF2-40B4-BE49-F238E27FC236}">
                      <a16:creationId xmlns:a16="http://schemas.microsoft.com/office/drawing/2014/main" id="{3F491BB6-640D-4A4C-9BEE-26D72241D377}"/>
                    </a:ext>
                  </a:extLst>
                </p:cNvPr>
                <p:cNvSpPr>
                  <a:spLocks/>
                </p:cNvSpPr>
                <p:nvPr/>
              </p:nvSpPr>
              <p:spPr bwMode="auto">
                <a:xfrm>
                  <a:off x="7373938" y="5507676"/>
                  <a:ext cx="152400" cy="157163"/>
                </a:xfrm>
                <a:custGeom>
                  <a:avLst/>
                  <a:gdLst>
                    <a:gd name="T0" fmla="*/ 80 w 101"/>
                    <a:gd name="T1" fmla="*/ 3 h 105"/>
                    <a:gd name="T2" fmla="*/ 53 w 101"/>
                    <a:gd name="T3" fmla="*/ 20 h 105"/>
                    <a:gd name="T4" fmla="*/ 44 w 101"/>
                    <a:gd name="T5" fmla="*/ 51 h 105"/>
                    <a:gd name="T6" fmla="*/ 37 w 101"/>
                    <a:gd name="T7" fmla="*/ 78 h 105"/>
                    <a:gd name="T8" fmla="*/ 10 w 101"/>
                    <a:gd name="T9" fmla="*/ 98 h 105"/>
                    <a:gd name="T10" fmla="*/ 18 w 101"/>
                    <a:gd name="T11" fmla="*/ 101 h 105"/>
                    <a:gd name="T12" fmla="*/ 47 w 101"/>
                    <a:gd name="T13" fmla="*/ 83 h 105"/>
                    <a:gd name="T14" fmla="*/ 50 w 101"/>
                    <a:gd name="T15" fmla="*/ 73 h 105"/>
                    <a:gd name="T16" fmla="*/ 67 w 101"/>
                    <a:gd name="T17" fmla="*/ 52 h 105"/>
                    <a:gd name="T18" fmla="*/ 67 w 101"/>
                    <a:gd name="T19" fmla="*/ 42 h 105"/>
                    <a:gd name="T20" fmla="*/ 76 w 101"/>
                    <a:gd name="T21" fmla="*/ 19 h 105"/>
                    <a:gd name="T22" fmla="*/ 95 w 101"/>
                    <a:gd name="T23" fmla="*/ 2 h 105"/>
                    <a:gd name="T24" fmla="*/ 80 w 101"/>
                    <a:gd name="T25" fmla="*/ 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1" h="105">
                      <a:moveTo>
                        <a:pt x="80" y="3"/>
                      </a:moveTo>
                      <a:cubicBezTo>
                        <a:pt x="80" y="3"/>
                        <a:pt x="74" y="23"/>
                        <a:pt x="53" y="20"/>
                      </a:cubicBezTo>
                      <a:cubicBezTo>
                        <a:pt x="48" y="19"/>
                        <a:pt x="71" y="35"/>
                        <a:pt x="44" y="51"/>
                      </a:cubicBezTo>
                      <a:cubicBezTo>
                        <a:pt x="44" y="51"/>
                        <a:pt x="43" y="71"/>
                        <a:pt x="37" y="78"/>
                      </a:cubicBezTo>
                      <a:cubicBezTo>
                        <a:pt x="31" y="85"/>
                        <a:pt x="21" y="95"/>
                        <a:pt x="10" y="98"/>
                      </a:cubicBezTo>
                      <a:cubicBezTo>
                        <a:pt x="0" y="101"/>
                        <a:pt x="11" y="105"/>
                        <a:pt x="18" y="101"/>
                      </a:cubicBezTo>
                      <a:cubicBezTo>
                        <a:pt x="25" y="97"/>
                        <a:pt x="34" y="85"/>
                        <a:pt x="47" y="83"/>
                      </a:cubicBezTo>
                      <a:cubicBezTo>
                        <a:pt x="60" y="82"/>
                        <a:pt x="51" y="76"/>
                        <a:pt x="50" y="73"/>
                      </a:cubicBezTo>
                      <a:cubicBezTo>
                        <a:pt x="50" y="70"/>
                        <a:pt x="48" y="55"/>
                        <a:pt x="67" y="52"/>
                      </a:cubicBezTo>
                      <a:cubicBezTo>
                        <a:pt x="73" y="51"/>
                        <a:pt x="68" y="44"/>
                        <a:pt x="67" y="42"/>
                      </a:cubicBezTo>
                      <a:cubicBezTo>
                        <a:pt x="66" y="40"/>
                        <a:pt x="63" y="30"/>
                        <a:pt x="76" y="19"/>
                      </a:cubicBezTo>
                      <a:cubicBezTo>
                        <a:pt x="90" y="8"/>
                        <a:pt x="89" y="4"/>
                        <a:pt x="95" y="2"/>
                      </a:cubicBezTo>
                      <a:cubicBezTo>
                        <a:pt x="101" y="0"/>
                        <a:pt x="88" y="4"/>
                        <a:pt x="80" y="3"/>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64" name="Freeform 387">
                  <a:extLst>
                    <a:ext uri="{FF2B5EF4-FFF2-40B4-BE49-F238E27FC236}">
                      <a16:creationId xmlns:a16="http://schemas.microsoft.com/office/drawing/2014/main" id="{FE27E25C-AE4B-4679-AC58-4C58037DA70D}"/>
                    </a:ext>
                  </a:extLst>
                </p:cNvPr>
                <p:cNvSpPr>
                  <a:spLocks/>
                </p:cNvSpPr>
                <p:nvPr/>
              </p:nvSpPr>
              <p:spPr bwMode="auto">
                <a:xfrm>
                  <a:off x="7175501" y="5382263"/>
                  <a:ext cx="107950" cy="195263"/>
                </a:xfrm>
                <a:custGeom>
                  <a:avLst/>
                  <a:gdLst>
                    <a:gd name="T0" fmla="*/ 16 w 72"/>
                    <a:gd name="T1" fmla="*/ 0 h 130"/>
                    <a:gd name="T2" fmla="*/ 30 w 72"/>
                    <a:gd name="T3" fmla="*/ 29 h 130"/>
                    <a:gd name="T4" fmla="*/ 29 w 72"/>
                    <a:gd name="T5" fmla="*/ 37 h 130"/>
                    <a:gd name="T6" fmla="*/ 47 w 72"/>
                    <a:gd name="T7" fmla="*/ 70 h 130"/>
                    <a:gd name="T8" fmla="*/ 49 w 72"/>
                    <a:gd name="T9" fmla="*/ 81 h 130"/>
                    <a:gd name="T10" fmla="*/ 66 w 72"/>
                    <a:gd name="T11" fmla="*/ 94 h 130"/>
                    <a:gd name="T12" fmla="*/ 65 w 72"/>
                    <a:gd name="T13" fmla="*/ 101 h 130"/>
                    <a:gd name="T14" fmla="*/ 71 w 72"/>
                    <a:gd name="T15" fmla="*/ 128 h 130"/>
                    <a:gd name="T16" fmla="*/ 47 w 72"/>
                    <a:gd name="T17" fmla="*/ 113 h 130"/>
                    <a:gd name="T18" fmla="*/ 47 w 72"/>
                    <a:gd name="T19" fmla="*/ 105 h 130"/>
                    <a:gd name="T20" fmla="*/ 45 w 72"/>
                    <a:gd name="T21" fmla="*/ 92 h 130"/>
                    <a:gd name="T22" fmla="*/ 33 w 72"/>
                    <a:gd name="T23" fmla="*/ 81 h 130"/>
                    <a:gd name="T24" fmla="*/ 28 w 72"/>
                    <a:gd name="T25" fmla="*/ 68 h 130"/>
                    <a:gd name="T26" fmla="*/ 17 w 72"/>
                    <a:gd name="T27" fmla="*/ 41 h 130"/>
                    <a:gd name="T28" fmla="*/ 9 w 72"/>
                    <a:gd name="T29" fmla="*/ 40 h 130"/>
                    <a:gd name="T30" fmla="*/ 8 w 72"/>
                    <a:gd name="T31" fmla="*/ 33 h 130"/>
                    <a:gd name="T32" fmla="*/ 5 w 72"/>
                    <a:gd name="T33" fmla="*/ 12 h 130"/>
                    <a:gd name="T34" fmla="*/ 0 w 72"/>
                    <a:gd name="T35" fmla="*/ 6 h 130"/>
                    <a:gd name="T36" fmla="*/ 16 w 72"/>
                    <a:gd name="T37"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2" h="130">
                      <a:moveTo>
                        <a:pt x="16" y="0"/>
                      </a:moveTo>
                      <a:cubicBezTo>
                        <a:pt x="16" y="0"/>
                        <a:pt x="14" y="11"/>
                        <a:pt x="30" y="29"/>
                      </a:cubicBezTo>
                      <a:cubicBezTo>
                        <a:pt x="33" y="33"/>
                        <a:pt x="30" y="31"/>
                        <a:pt x="29" y="37"/>
                      </a:cubicBezTo>
                      <a:cubicBezTo>
                        <a:pt x="27" y="42"/>
                        <a:pt x="31" y="56"/>
                        <a:pt x="47" y="70"/>
                      </a:cubicBezTo>
                      <a:cubicBezTo>
                        <a:pt x="54" y="76"/>
                        <a:pt x="49" y="79"/>
                        <a:pt x="49" y="81"/>
                      </a:cubicBezTo>
                      <a:cubicBezTo>
                        <a:pt x="49" y="84"/>
                        <a:pt x="49" y="95"/>
                        <a:pt x="66" y="94"/>
                      </a:cubicBezTo>
                      <a:cubicBezTo>
                        <a:pt x="71" y="93"/>
                        <a:pt x="68" y="98"/>
                        <a:pt x="65" y="101"/>
                      </a:cubicBezTo>
                      <a:cubicBezTo>
                        <a:pt x="63" y="103"/>
                        <a:pt x="60" y="114"/>
                        <a:pt x="71" y="128"/>
                      </a:cubicBezTo>
                      <a:cubicBezTo>
                        <a:pt x="72" y="130"/>
                        <a:pt x="62" y="113"/>
                        <a:pt x="47" y="113"/>
                      </a:cubicBezTo>
                      <a:cubicBezTo>
                        <a:pt x="47" y="113"/>
                        <a:pt x="47" y="107"/>
                        <a:pt x="47" y="105"/>
                      </a:cubicBezTo>
                      <a:cubicBezTo>
                        <a:pt x="48" y="103"/>
                        <a:pt x="47" y="97"/>
                        <a:pt x="45" y="92"/>
                      </a:cubicBezTo>
                      <a:cubicBezTo>
                        <a:pt x="42" y="87"/>
                        <a:pt x="36" y="83"/>
                        <a:pt x="33" y="81"/>
                      </a:cubicBezTo>
                      <a:cubicBezTo>
                        <a:pt x="31" y="79"/>
                        <a:pt x="28" y="76"/>
                        <a:pt x="28" y="68"/>
                      </a:cubicBezTo>
                      <a:cubicBezTo>
                        <a:pt x="29" y="59"/>
                        <a:pt x="29" y="46"/>
                        <a:pt x="17" y="41"/>
                      </a:cubicBezTo>
                      <a:cubicBezTo>
                        <a:pt x="11" y="38"/>
                        <a:pt x="11" y="40"/>
                        <a:pt x="9" y="40"/>
                      </a:cubicBezTo>
                      <a:cubicBezTo>
                        <a:pt x="7" y="40"/>
                        <a:pt x="5" y="40"/>
                        <a:pt x="8" y="33"/>
                      </a:cubicBezTo>
                      <a:cubicBezTo>
                        <a:pt x="11" y="25"/>
                        <a:pt x="8" y="17"/>
                        <a:pt x="5" y="12"/>
                      </a:cubicBezTo>
                      <a:cubicBezTo>
                        <a:pt x="2" y="6"/>
                        <a:pt x="0" y="6"/>
                        <a:pt x="0" y="6"/>
                      </a:cubicBezTo>
                      <a:lnTo>
                        <a:pt x="16" y="0"/>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65" name="Freeform 388">
                  <a:extLst>
                    <a:ext uri="{FF2B5EF4-FFF2-40B4-BE49-F238E27FC236}">
                      <a16:creationId xmlns:a16="http://schemas.microsoft.com/office/drawing/2014/main" id="{1AB9C557-5656-4AD9-A34E-3B7321CD3923}"/>
                    </a:ext>
                  </a:extLst>
                </p:cNvPr>
                <p:cNvSpPr>
                  <a:spLocks/>
                </p:cNvSpPr>
                <p:nvPr/>
              </p:nvSpPr>
              <p:spPr bwMode="auto">
                <a:xfrm>
                  <a:off x="7489826" y="5587051"/>
                  <a:ext cx="106363" cy="60325"/>
                </a:xfrm>
                <a:custGeom>
                  <a:avLst/>
                  <a:gdLst>
                    <a:gd name="T0" fmla="*/ 55 w 71"/>
                    <a:gd name="T1" fmla="*/ 4 h 40"/>
                    <a:gd name="T2" fmla="*/ 17 w 71"/>
                    <a:gd name="T3" fmla="*/ 14 h 40"/>
                    <a:gd name="T4" fmla="*/ 0 w 71"/>
                    <a:gd name="T5" fmla="*/ 40 h 40"/>
                    <a:gd name="T6" fmla="*/ 21 w 71"/>
                    <a:gd name="T7" fmla="*/ 27 h 40"/>
                    <a:gd name="T8" fmla="*/ 38 w 71"/>
                    <a:gd name="T9" fmla="*/ 26 h 40"/>
                    <a:gd name="T10" fmla="*/ 43 w 71"/>
                    <a:gd name="T11" fmla="*/ 19 h 40"/>
                    <a:gd name="T12" fmla="*/ 64 w 71"/>
                    <a:gd name="T13" fmla="*/ 5 h 40"/>
                    <a:gd name="T14" fmla="*/ 55 w 71"/>
                    <a:gd name="T15" fmla="*/ 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40">
                      <a:moveTo>
                        <a:pt x="55" y="4"/>
                      </a:moveTo>
                      <a:cubicBezTo>
                        <a:pt x="55" y="4"/>
                        <a:pt x="42" y="14"/>
                        <a:pt x="17" y="14"/>
                      </a:cubicBezTo>
                      <a:cubicBezTo>
                        <a:pt x="16" y="14"/>
                        <a:pt x="16" y="30"/>
                        <a:pt x="0" y="40"/>
                      </a:cubicBezTo>
                      <a:cubicBezTo>
                        <a:pt x="0" y="40"/>
                        <a:pt x="14" y="35"/>
                        <a:pt x="21" y="27"/>
                      </a:cubicBezTo>
                      <a:cubicBezTo>
                        <a:pt x="28" y="19"/>
                        <a:pt x="30" y="23"/>
                        <a:pt x="38" y="26"/>
                      </a:cubicBezTo>
                      <a:cubicBezTo>
                        <a:pt x="45" y="30"/>
                        <a:pt x="42" y="25"/>
                        <a:pt x="43" y="19"/>
                      </a:cubicBezTo>
                      <a:cubicBezTo>
                        <a:pt x="45" y="14"/>
                        <a:pt x="56" y="5"/>
                        <a:pt x="64" y="5"/>
                      </a:cubicBezTo>
                      <a:cubicBezTo>
                        <a:pt x="71" y="4"/>
                        <a:pt x="65" y="0"/>
                        <a:pt x="55" y="4"/>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66" name="Freeform 389">
                  <a:extLst>
                    <a:ext uri="{FF2B5EF4-FFF2-40B4-BE49-F238E27FC236}">
                      <a16:creationId xmlns:a16="http://schemas.microsoft.com/office/drawing/2014/main" id="{3060B395-D08A-421D-BEA3-B8557E214463}"/>
                    </a:ext>
                  </a:extLst>
                </p:cNvPr>
                <p:cNvSpPr>
                  <a:spLocks/>
                </p:cNvSpPr>
                <p:nvPr/>
              </p:nvSpPr>
              <p:spPr bwMode="auto">
                <a:xfrm>
                  <a:off x="7510463" y="5655313"/>
                  <a:ext cx="117475" cy="39688"/>
                </a:xfrm>
                <a:custGeom>
                  <a:avLst/>
                  <a:gdLst>
                    <a:gd name="T0" fmla="*/ 68 w 78"/>
                    <a:gd name="T1" fmla="*/ 5 h 26"/>
                    <a:gd name="T2" fmla="*/ 44 w 78"/>
                    <a:gd name="T3" fmla="*/ 2 h 26"/>
                    <a:gd name="T4" fmla="*/ 40 w 78"/>
                    <a:gd name="T5" fmla="*/ 5 h 26"/>
                    <a:gd name="T6" fmla="*/ 24 w 78"/>
                    <a:gd name="T7" fmla="*/ 4 h 26"/>
                    <a:gd name="T8" fmla="*/ 18 w 78"/>
                    <a:gd name="T9" fmla="*/ 9 h 26"/>
                    <a:gd name="T10" fmla="*/ 3 w 78"/>
                    <a:gd name="T11" fmla="*/ 19 h 26"/>
                    <a:gd name="T12" fmla="*/ 7 w 78"/>
                    <a:gd name="T13" fmla="*/ 24 h 26"/>
                    <a:gd name="T14" fmla="*/ 26 w 78"/>
                    <a:gd name="T15" fmla="*/ 16 h 26"/>
                    <a:gd name="T16" fmla="*/ 44 w 78"/>
                    <a:gd name="T17" fmla="*/ 17 h 26"/>
                    <a:gd name="T18" fmla="*/ 53 w 78"/>
                    <a:gd name="T19" fmla="*/ 15 h 26"/>
                    <a:gd name="T20" fmla="*/ 69 w 78"/>
                    <a:gd name="T21" fmla="*/ 13 h 26"/>
                    <a:gd name="T22" fmla="*/ 76 w 78"/>
                    <a:gd name="T23" fmla="*/ 15 h 26"/>
                    <a:gd name="T24" fmla="*/ 74 w 78"/>
                    <a:gd name="T25" fmla="*/ 5 h 26"/>
                    <a:gd name="T26" fmla="*/ 68 w 78"/>
                    <a:gd name="T27" fmla="*/ 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 h="26">
                      <a:moveTo>
                        <a:pt x="68" y="5"/>
                      </a:moveTo>
                      <a:cubicBezTo>
                        <a:pt x="68" y="5"/>
                        <a:pt x="53" y="7"/>
                        <a:pt x="44" y="2"/>
                      </a:cubicBezTo>
                      <a:cubicBezTo>
                        <a:pt x="41" y="1"/>
                        <a:pt x="42" y="3"/>
                        <a:pt x="40" y="5"/>
                      </a:cubicBezTo>
                      <a:cubicBezTo>
                        <a:pt x="40" y="5"/>
                        <a:pt x="28" y="7"/>
                        <a:pt x="24" y="4"/>
                      </a:cubicBezTo>
                      <a:cubicBezTo>
                        <a:pt x="19" y="0"/>
                        <a:pt x="18" y="2"/>
                        <a:pt x="18" y="9"/>
                      </a:cubicBezTo>
                      <a:cubicBezTo>
                        <a:pt x="17" y="16"/>
                        <a:pt x="7" y="19"/>
                        <a:pt x="3" y="19"/>
                      </a:cubicBezTo>
                      <a:cubicBezTo>
                        <a:pt x="0" y="20"/>
                        <a:pt x="0" y="26"/>
                        <a:pt x="7" y="24"/>
                      </a:cubicBezTo>
                      <a:cubicBezTo>
                        <a:pt x="14" y="22"/>
                        <a:pt x="13" y="20"/>
                        <a:pt x="26" y="16"/>
                      </a:cubicBezTo>
                      <a:cubicBezTo>
                        <a:pt x="39" y="12"/>
                        <a:pt x="41" y="16"/>
                        <a:pt x="44" y="17"/>
                      </a:cubicBezTo>
                      <a:cubicBezTo>
                        <a:pt x="48" y="19"/>
                        <a:pt x="50" y="18"/>
                        <a:pt x="53" y="15"/>
                      </a:cubicBezTo>
                      <a:cubicBezTo>
                        <a:pt x="56" y="12"/>
                        <a:pt x="61" y="8"/>
                        <a:pt x="69" y="13"/>
                      </a:cubicBezTo>
                      <a:cubicBezTo>
                        <a:pt x="78" y="18"/>
                        <a:pt x="76" y="15"/>
                        <a:pt x="76" y="15"/>
                      </a:cubicBezTo>
                      <a:cubicBezTo>
                        <a:pt x="74" y="5"/>
                        <a:pt x="74" y="5"/>
                        <a:pt x="74" y="5"/>
                      </a:cubicBezTo>
                      <a:lnTo>
                        <a:pt x="68" y="5"/>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67" name="Freeform 390">
                  <a:extLst>
                    <a:ext uri="{FF2B5EF4-FFF2-40B4-BE49-F238E27FC236}">
                      <a16:creationId xmlns:a16="http://schemas.microsoft.com/office/drawing/2014/main" id="{EADC31DA-C780-400B-AE77-A84D1825CAF8}"/>
                    </a:ext>
                  </a:extLst>
                </p:cNvPr>
                <p:cNvSpPr>
                  <a:spLocks/>
                </p:cNvSpPr>
                <p:nvPr/>
              </p:nvSpPr>
              <p:spPr bwMode="auto">
                <a:xfrm>
                  <a:off x="5624513" y="4150363"/>
                  <a:ext cx="2455863" cy="1533525"/>
                </a:xfrm>
                <a:custGeom>
                  <a:avLst/>
                  <a:gdLst>
                    <a:gd name="T0" fmla="*/ 1134 w 1638"/>
                    <a:gd name="T1" fmla="*/ 638 h 1023"/>
                    <a:gd name="T2" fmla="*/ 1149 w 1638"/>
                    <a:gd name="T3" fmla="*/ 745 h 1023"/>
                    <a:gd name="T4" fmla="*/ 1305 w 1638"/>
                    <a:gd name="T5" fmla="*/ 906 h 1023"/>
                    <a:gd name="T6" fmla="*/ 1393 w 1638"/>
                    <a:gd name="T7" fmla="*/ 957 h 1023"/>
                    <a:gd name="T8" fmla="*/ 1527 w 1638"/>
                    <a:gd name="T9" fmla="*/ 981 h 1023"/>
                    <a:gd name="T10" fmla="*/ 1600 w 1638"/>
                    <a:gd name="T11" fmla="*/ 837 h 1023"/>
                    <a:gd name="T12" fmla="*/ 1631 w 1638"/>
                    <a:gd name="T13" fmla="*/ 732 h 1023"/>
                    <a:gd name="T14" fmla="*/ 1632 w 1638"/>
                    <a:gd name="T15" fmla="*/ 658 h 1023"/>
                    <a:gd name="T16" fmla="*/ 1617 w 1638"/>
                    <a:gd name="T17" fmla="*/ 585 h 1023"/>
                    <a:gd name="T18" fmla="*/ 1583 w 1638"/>
                    <a:gd name="T19" fmla="*/ 496 h 1023"/>
                    <a:gd name="T20" fmla="*/ 1556 w 1638"/>
                    <a:gd name="T21" fmla="*/ 445 h 1023"/>
                    <a:gd name="T22" fmla="*/ 1499 w 1638"/>
                    <a:gd name="T23" fmla="*/ 357 h 1023"/>
                    <a:gd name="T24" fmla="*/ 1460 w 1638"/>
                    <a:gd name="T25" fmla="*/ 326 h 1023"/>
                    <a:gd name="T26" fmla="*/ 1339 w 1638"/>
                    <a:gd name="T27" fmla="*/ 227 h 1023"/>
                    <a:gd name="T28" fmla="*/ 1248 w 1638"/>
                    <a:gd name="T29" fmla="*/ 156 h 1023"/>
                    <a:gd name="T30" fmla="*/ 1144 w 1638"/>
                    <a:gd name="T31" fmla="*/ 98 h 1023"/>
                    <a:gd name="T32" fmla="*/ 1083 w 1638"/>
                    <a:gd name="T33" fmla="*/ 68 h 1023"/>
                    <a:gd name="T34" fmla="*/ 987 w 1638"/>
                    <a:gd name="T35" fmla="*/ 50 h 1023"/>
                    <a:gd name="T36" fmla="*/ 886 w 1638"/>
                    <a:gd name="T37" fmla="*/ 13 h 1023"/>
                    <a:gd name="T38" fmla="*/ 767 w 1638"/>
                    <a:gd name="T39" fmla="*/ 2 h 1023"/>
                    <a:gd name="T40" fmla="*/ 674 w 1638"/>
                    <a:gd name="T41" fmla="*/ 5 h 1023"/>
                    <a:gd name="T42" fmla="*/ 512 w 1638"/>
                    <a:gd name="T43" fmla="*/ 18 h 1023"/>
                    <a:gd name="T44" fmla="*/ 372 w 1638"/>
                    <a:gd name="T45" fmla="*/ 56 h 1023"/>
                    <a:gd name="T46" fmla="*/ 289 w 1638"/>
                    <a:gd name="T47" fmla="*/ 100 h 1023"/>
                    <a:gd name="T48" fmla="*/ 200 w 1638"/>
                    <a:gd name="T49" fmla="*/ 166 h 1023"/>
                    <a:gd name="T50" fmla="*/ 102 w 1638"/>
                    <a:gd name="T51" fmla="*/ 260 h 1023"/>
                    <a:gd name="T52" fmla="*/ 36 w 1638"/>
                    <a:gd name="T53" fmla="*/ 355 h 1023"/>
                    <a:gd name="T54" fmla="*/ 8 w 1638"/>
                    <a:gd name="T55" fmla="*/ 400 h 1023"/>
                    <a:gd name="T56" fmla="*/ 5 w 1638"/>
                    <a:gd name="T57" fmla="*/ 565 h 1023"/>
                    <a:gd name="T58" fmla="*/ 39 w 1638"/>
                    <a:gd name="T59" fmla="*/ 700 h 1023"/>
                    <a:gd name="T60" fmla="*/ 130 w 1638"/>
                    <a:gd name="T61" fmla="*/ 779 h 1023"/>
                    <a:gd name="T62" fmla="*/ 345 w 1638"/>
                    <a:gd name="T63" fmla="*/ 829 h 1023"/>
                    <a:gd name="T64" fmla="*/ 553 w 1638"/>
                    <a:gd name="T65" fmla="*/ 666 h 1023"/>
                    <a:gd name="T66" fmla="*/ 364 w 1638"/>
                    <a:gd name="T67" fmla="*/ 499 h 1023"/>
                    <a:gd name="T68" fmla="*/ 1026 w 1638"/>
                    <a:gd name="T69" fmla="*/ 487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8" h="1023">
                      <a:moveTo>
                        <a:pt x="1026" y="487"/>
                      </a:moveTo>
                      <a:cubicBezTo>
                        <a:pt x="1026" y="487"/>
                        <a:pt x="1134" y="568"/>
                        <a:pt x="1134" y="638"/>
                      </a:cubicBezTo>
                      <a:cubicBezTo>
                        <a:pt x="1134" y="707"/>
                        <a:pt x="1094" y="726"/>
                        <a:pt x="1079" y="731"/>
                      </a:cubicBezTo>
                      <a:cubicBezTo>
                        <a:pt x="1074" y="732"/>
                        <a:pt x="1105" y="753"/>
                        <a:pt x="1149" y="745"/>
                      </a:cubicBezTo>
                      <a:cubicBezTo>
                        <a:pt x="1149" y="745"/>
                        <a:pt x="1154" y="821"/>
                        <a:pt x="1255" y="817"/>
                      </a:cubicBezTo>
                      <a:cubicBezTo>
                        <a:pt x="1255" y="817"/>
                        <a:pt x="1281" y="893"/>
                        <a:pt x="1305" y="906"/>
                      </a:cubicBezTo>
                      <a:cubicBezTo>
                        <a:pt x="1328" y="918"/>
                        <a:pt x="1311" y="902"/>
                        <a:pt x="1330" y="925"/>
                      </a:cubicBezTo>
                      <a:cubicBezTo>
                        <a:pt x="1349" y="947"/>
                        <a:pt x="1352" y="961"/>
                        <a:pt x="1393" y="957"/>
                      </a:cubicBezTo>
                      <a:cubicBezTo>
                        <a:pt x="1410" y="955"/>
                        <a:pt x="1376" y="963"/>
                        <a:pt x="1426" y="979"/>
                      </a:cubicBezTo>
                      <a:cubicBezTo>
                        <a:pt x="1426" y="979"/>
                        <a:pt x="1480" y="1023"/>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463" y="819"/>
                        <a:pt x="511" y="809"/>
                        <a:pt x="541" y="764"/>
                      </a:cubicBezTo>
                      <a:cubicBezTo>
                        <a:pt x="572" y="719"/>
                        <a:pt x="560" y="682"/>
                        <a:pt x="553" y="666"/>
                      </a:cubicBezTo>
                      <a:cubicBezTo>
                        <a:pt x="546" y="650"/>
                        <a:pt x="522" y="636"/>
                        <a:pt x="468" y="620"/>
                      </a:cubicBezTo>
                      <a:cubicBezTo>
                        <a:pt x="413" y="604"/>
                        <a:pt x="343" y="575"/>
                        <a:pt x="364" y="499"/>
                      </a:cubicBezTo>
                      <a:cubicBezTo>
                        <a:pt x="384" y="424"/>
                        <a:pt x="514" y="379"/>
                        <a:pt x="651" y="384"/>
                      </a:cubicBezTo>
                      <a:cubicBezTo>
                        <a:pt x="787" y="389"/>
                        <a:pt x="937" y="416"/>
                        <a:pt x="1026" y="487"/>
                      </a:cubicBezTo>
                      <a:close/>
                    </a:path>
                  </a:pathLst>
                </a:custGeom>
                <a:gradFill>
                  <a:gsLst>
                    <a:gs pos="0">
                      <a:schemeClr val="accent1"/>
                    </a:gs>
                    <a:gs pos="100000">
                      <a:schemeClr val="bg1"/>
                    </a:gs>
                    <a:gs pos="50000">
                      <a:srgbClr val="F0D2D0"/>
                    </a:gs>
                  </a:gsLst>
                  <a:lin ang="16200000" scaled="1"/>
                </a:gradFill>
                <a:ln w="3175">
                  <a:solidFill>
                    <a:schemeClr val="tx1"/>
                  </a:solidFill>
                </a:ln>
              </p:spPr>
              <p:txBody>
                <a:bodyPr vert="horz" wrap="square" lIns="91440" tIns="45720" rIns="91440" bIns="45720" numCol="1" anchor="t" anchorCtr="0" compatLnSpc="1">
                  <a:prstTxWarp prst="textNoShape">
                    <a:avLst/>
                  </a:prstTxWarp>
                </a:bodyPr>
                <a:lstStyle/>
                <a:p>
                  <a:endParaRPr lang="en-GB" sz="1600"/>
                </a:p>
              </p:txBody>
            </p:sp>
            <p:sp>
              <p:nvSpPr>
                <p:cNvPr id="268" name="Freeform 391">
                  <a:extLst>
                    <a:ext uri="{FF2B5EF4-FFF2-40B4-BE49-F238E27FC236}">
                      <a16:creationId xmlns:a16="http://schemas.microsoft.com/office/drawing/2014/main" id="{A48D77C5-4BCA-43BB-8723-A7B0392580A7}"/>
                    </a:ext>
                  </a:extLst>
                </p:cNvPr>
                <p:cNvSpPr>
                  <a:spLocks/>
                </p:cNvSpPr>
                <p:nvPr/>
              </p:nvSpPr>
              <p:spPr bwMode="auto">
                <a:xfrm>
                  <a:off x="6157913" y="4150363"/>
                  <a:ext cx="1341438" cy="436563"/>
                </a:xfrm>
                <a:custGeom>
                  <a:avLst/>
                  <a:gdLst>
                    <a:gd name="T0" fmla="*/ 892 w 894"/>
                    <a:gd name="T1" fmla="*/ 156 h 291"/>
                    <a:gd name="T2" fmla="*/ 831 w 894"/>
                    <a:gd name="T3" fmla="*/ 109 h 291"/>
                    <a:gd name="T4" fmla="*/ 788 w 894"/>
                    <a:gd name="T5" fmla="*/ 98 h 291"/>
                    <a:gd name="T6" fmla="*/ 776 w 894"/>
                    <a:gd name="T7" fmla="*/ 79 h 291"/>
                    <a:gd name="T8" fmla="*/ 727 w 894"/>
                    <a:gd name="T9" fmla="*/ 68 h 291"/>
                    <a:gd name="T10" fmla="*/ 669 w 894"/>
                    <a:gd name="T11" fmla="*/ 39 h 291"/>
                    <a:gd name="T12" fmla="*/ 631 w 894"/>
                    <a:gd name="T13" fmla="*/ 50 h 291"/>
                    <a:gd name="T14" fmla="*/ 597 w 894"/>
                    <a:gd name="T15" fmla="*/ 31 h 291"/>
                    <a:gd name="T16" fmla="*/ 530 w 894"/>
                    <a:gd name="T17" fmla="*/ 13 h 291"/>
                    <a:gd name="T18" fmla="*/ 474 w 894"/>
                    <a:gd name="T19" fmla="*/ 31 h 291"/>
                    <a:gd name="T20" fmla="*/ 411 w 894"/>
                    <a:gd name="T21" fmla="*/ 2 h 291"/>
                    <a:gd name="T22" fmla="*/ 356 w 894"/>
                    <a:gd name="T23" fmla="*/ 5 h 291"/>
                    <a:gd name="T24" fmla="*/ 318 w 894"/>
                    <a:gd name="T25" fmla="*/ 5 h 291"/>
                    <a:gd name="T26" fmla="*/ 231 w 894"/>
                    <a:gd name="T27" fmla="*/ 18 h 291"/>
                    <a:gd name="T28" fmla="*/ 156 w 894"/>
                    <a:gd name="T29" fmla="*/ 18 h 291"/>
                    <a:gd name="T30" fmla="*/ 119 w 894"/>
                    <a:gd name="T31" fmla="*/ 39 h 291"/>
                    <a:gd name="T32" fmla="*/ 16 w 894"/>
                    <a:gd name="T33" fmla="*/ 56 h 291"/>
                    <a:gd name="T34" fmla="*/ 3 w 894"/>
                    <a:gd name="T35" fmla="*/ 84 h 291"/>
                    <a:gd name="T36" fmla="*/ 172 w 894"/>
                    <a:gd name="T37" fmla="*/ 147 h 291"/>
                    <a:gd name="T38" fmla="*/ 344 w 894"/>
                    <a:gd name="T39" fmla="*/ 192 h 291"/>
                    <a:gd name="T40" fmla="*/ 468 w 894"/>
                    <a:gd name="T41" fmla="*/ 280 h 291"/>
                    <a:gd name="T42" fmla="*/ 626 w 894"/>
                    <a:gd name="T43" fmla="*/ 283 h 291"/>
                    <a:gd name="T44" fmla="*/ 703 w 894"/>
                    <a:gd name="T45" fmla="*/ 270 h 291"/>
                    <a:gd name="T46" fmla="*/ 713 w 894"/>
                    <a:gd name="T47" fmla="*/ 241 h 291"/>
                    <a:gd name="T48" fmla="*/ 811 w 894"/>
                    <a:gd name="T49" fmla="*/ 252 h 291"/>
                    <a:gd name="T50" fmla="*/ 883 w 894"/>
                    <a:gd name="T51" fmla="*/ 180 h 291"/>
                    <a:gd name="T52" fmla="*/ 892 w 894"/>
                    <a:gd name="T53" fmla="*/ 15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94" h="291">
                      <a:moveTo>
                        <a:pt x="892" y="156"/>
                      </a:moveTo>
                      <a:cubicBezTo>
                        <a:pt x="879" y="149"/>
                        <a:pt x="848" y="122"/>
                        <a:pt x="831" y="109"/>
                      </a:cubicBezTo>
                      <a:cubicBezTo>
                        <a:pt x="814" y="96"/>
                        <a:pt x="795" y="96"/>
                        <a:pt x="788" y="98"/>
                      </a:cubicBezTo>
                      <a:cubicBezTo>
                        <a:pt x="781" y="100"/>
                        <a:pt x="781" y="82"/>
                        <a:pt x="776" y="79"/>
                      </a:cubicBezTo>
                      <a:cubicBezTo>
                        <a:pt x="771" y="76"/>
                        <a:pt x="735" y="71"/>
                        <a:pt x="727" y="68"/>
                      </a:cubicBezTo>
                      <a:cubicBezTo>
                        <a:pt x="718" y="64"/>
                        <a:pt x="706" y="42"/>
                        <a:pt x="669" y="39"/>
                      </a:cubicBezTo>
                      <a:cubicBezTo>
                        <a:pt x="631" y="35"/>
                        <a:pt x="633" y="48"/>
                        <a:pt x="631" y="50"/>
                      </a:cubicBezTo>
                      <a:cubicBezTo>
                        <a:pt x="629" y="52"/>
                        <a:pt x="621" y="37"/>
                        <a:pt x="597" y="31"/>
                      </a:cubicBezTo>
                      <a:cubicBezTo>
                        <a:pt x="573" y="24"/>
                        <a:pt x="540" y="18"/>
                        <a:pt x="530" y="13"/>
                      </a:cubicBezTo>
                      <a:cubicBezTo>
                        <a:pt x="520" y="8"/>
                        <a:pt x="481" y="26"/>
                        <a:pt x="474" y="31"/>
                      </a:cubicBezTo>
                      <a:cubicBezTo>
                        <a:pt x="467" y="35"/>
                        <a:pt x="443" y="3"/>
                        <a:pt x="411" y="2"/>
                      </a:cubicBezTo>
                      <a:cubicBezTo>
                        <a:pt x="378" y="0"/>
                        <a:pt x="363" y="3"/>
                        <a:pt x="356" y="5"/>
                      </a:cubicBezTo>
                      <a:cubicBezTo>
                        <a:pt x="349" y="7"/>
                        <a:pt x="329" y="10"/>
                        <a:pt x="318" y="5"/>
                      </a:cubicBezTo>
                      <a:cubicBezTo>
                        <a:pt x="308" y="0"/>
                        <a:pt x="236" y="13"/>
                        <a:pt x="231" y="18"/>
                      </a:cubicBezTo>
                      <a:cubicBezTo>
                        <a:pt x="226" y="23"/>
                        <a:pt x="194" y="5"/>
                        <a:pt x="156" y="18"/>
                      </a:cubicBezTo>
                      <a:cubicBezTo>
                        <a:pt x="119" y="31"/>
                        <a:pt x="127" y="32"/>
                        <a:pt x="119" y="39"/>
                      </a:cubicBezTo>
                      <a:cubicBezTo>
                        <a:pt x="110" y="45"/>
                        <a:pt x="59" y="42"/>
                        <a:pt x="16" y="56"/>
                      </a:cubicBezTo>
                      <a:cubicBezTo>
                        <a:pt x="16" y="56"/>
                        <a:pt x="0" y="74"/>
                        <a:pt x="3" y="84"/>
                      </a:cubicBezTo>
                      <a:cubicBezTo>
                        <a:pt x="6" y="95"/>
                        <a:pt x="12" y="151"/>
                        <a:pt x="172" y="147"/>
                      </a:cubicBezTo>
                      <a:cubicBezTo>
                        <a:pt x="332" y="143"/>
                        <a:pt x="331" y="176"/>
                        <a:pt x="344" y="192"/>
                      </a:cubicBezTo>
                      <a:cubicBezTo>
                        <a:pt x="358" y="208"/>
                        <a:pt x="352" y="283"/>
                        <a:pt x="468" y="280"/>
                      </a:cubicBezTo>
                      <a:cubicBezTo>
                        <a:pt x="584" y="278"/>
                        <a:pt x="595" y="291"/>
                        <a:pt x="626" y="283"/>
                      </a:cubicBezTo>
                      <a:cubicBezTo>
                        <a:pt x="656" y="275"/>
                        <a:pt x="690" y="287"/>
                        <a:pt x="703" y="270"/>
                      </a:cubicBezTo>
                      <a:cubicBezTo>
                        <a:pt x="716" y="252"/>
                        <a:pt x="713" y="241"/>
                        <a:pt x="713" y="241"/>
                      </a:cubicBezTo>
                      <a:cubicBezTo>
                        <a:pt x="713" y="241"/>
                        <a:pt x="764" y="256"/>
                        <a:pt x="811" y="252"/>
                      </a:cubicBezTo>
                      <a:cubicBezTo>
                        <a:pt x="858" y="248"/>
                        <a:pt x="894" y="196"/>
                        <a:pt x="883" y="180"/>
                      </a:cubicBezTo>
                      <a:cubicBezTo>
                        <a:pt x="872" y="164"/>
                        <a:pt x="892" y="156"/>
                        <a:pt x="892" y="156"/>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269" name="Freeform 392">
                  <a:extLst>
                    <a:ext uri="{FF2B5EF4-FFF2-40B4-BE49-F238E27FC236}">
                      <a16:creationId xmlns:a16="http://schemas.microsoft.com/office/drawing/2014/main" id="{93003857-95BE-4D02-A591-1AA281EFA5CF}"/>
                    </a:ext>
                  </a:extLst>
                </p:cNvPr>
                <p:cNvSpPr>
                  <a:spLocks/>
                </p:cNvSpPr>
                <p:nvPr/>
              </p:nvSpPr>
              <p:spPr bwMode="auto">
                <a:xfrm>
                  <a:off x="7346951" y="5083813"/>
                  <a:ext cx="735013" cy="566738"/>
                </a:xfrm>
                <a:custGeom>
                  <a:avLst/>
                  <a:gdLst>
                    <a:gd name="T0" fmla="*/ 483 w 490"/>
                    <a:gd name="T1" fmla="*/ 69 h 378"/>
                    <a:gd name="T2" fmla="*/ 483 w 490"/>
                    <a:gd name="T3" fmla="*/ 35 h 378"/>
                    <a:gd name="T4" fmla="*/ 481 w 490"/>
                    <a:gd name="T5" fmla="*/ 0 h 378"/>
                    <a:gd name="T6" fmla="*/ 481 w 490"/>
                    <a:gd name="T7" fmla="*/ 23 h 378"/>
                    <a:gd name="T8" fmla="*/ 363 w 490"/>
                    <a:gd name="T9" fmla="*/ 65 h 378"/>
                    <a:gd name="T10" fmla="*/ 174 w 490"/>
                    <a:gd name="T11" fmla="*/ 97 h 378"/>
                    <a:gd name="T12" fmla="*/ 0 w 490"/>
                    <a:gd name="T13" fmla="*/ 122 h 378"/>
                    <a:gd name="T14" fmla="*/ 47 w 490"/>
                    <a:gd name="T15" fmla="*/ 184 h 378"/>
                    <a:gd name="T16" fmla="*/ 319 w 490"/>
                    <a:gd name="T17" fmla="*/ 237 h 378"/>
                    <a:gd name="T18" fmla="*/ 279 w 490"/>
                    <a:gd name="T19" fmla="*/ 328 h 378"/>
                    <a:gd name="T20" fmla="*/ 322 w 490"/>
                    <a:gd name="T21" fmla="*/ 375 h 378"/>
                    <a:gd name="T22" fmla="*/ 333 w 490"/>
                    <a:gd name="T23" fmla="*/ 376 h 378"/>
                    <a:gd name="T24" fmla="*/ 322 w 490"/>
                    <a:gd name="T25" fmla="*/ 375 h 378"/>
                    <a:gd name="T26" fmla="*/ 319 w 490"/>
                    <a:gd name="T27" fmla="*/ 375 h 378"/>
                    <a:gd name="T28" fmla="*/ 378 w 490"/>
                    <a:gd name="T29" fmla="*/ 358 h 378"/>
                    <a:gd name="T30" fmla="*/ 412 w 490"/>
                    <a:gd name="T31" fmla="*/ 257 h 378"/>
                    <a:gd name="T32" fmla="*/ 451 w 490"/>
                    <a:gd name="T33" fmla="*/ 214 h 378"/>
                    <a:gd name="T34" fmla="*/ 453 w 490"/>
                    <a:gd name="T35" fmla="*/ 157 h 378"/>
                    <a:gd name="T36" fmla="*/ 482 w 490"/>
                    <a:gd name="T37" fmla="*/ 109 h 378"/>
                    <a:gd name="T38" fmla="*/ 483 w 490"/>
                    <a:gd name="T39" fmla="*/ 69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0" h="378">
                      <a:moveTo>
                        <a:pt x="483" y="69"/>
                      </a:moveTo>
                      <a:cubicBezTo>
                        <a:pt x="478" y="50"/>
                        <a:pt x="478" y="53"/>
                        <a:pt x="483" y="35"/>
                      </a:cubicBezTo>
                      <a:cubicBezTo>
                        <a:pt x="483" y="35"/>
                        <a:pt x="490" y="19"/>
                        <a:pt x="481" y="0"/>
                      </a:cubicBezTo>
                      <a:cubicBezTo>
                        <a:pt x="481" y="0"/>
                        <a:pt x="486" y="16"/>
                        <a:pt x="481" y="23"/>
                      </a:cubicBezTo>
                      <a:cubicBezTo>
                        <a:pt x="481" y="23"/>
                        <a:pt x="462" y="79"/>
                        <a:pt x="363" y="65"/>
                      </a:cubicBezTo>
                      <a:cubicBezTo>
                        <a:pt x="265" y="52"/>
                        <a:pt x="325" y="59"/>
                        <a:pt x="174" y="97"/>
                      </a:cubicBezTo>
                      <a:cubicBezTo>
                        <a:pt x="23" y="136"/>
                        <a:pt x="0" y="122"/>
                        <a:pt x="0" y="122"/>
                      </a:cubicBezTo>
                      <a:cubicBezTo>
                        <a:pt x="0" y="122"/>
                        <a:pt x="3" y="165"/>
                        <a:pt x="47" y="184"/>
                      </a:cubicBezTo>
                      <a:cubicBezTo>
                        <a:pt x="47" y="184"/>
                        <a:pt x="330" y="67"/>
                        <a:pt x="319" y="237"/>
                      </a:cubicBezTo>
                      <a:cubicBezTo>
                        <a:pt x="315" y="292"/>
                        <a:pt x="275" y="271"/>
                        <a:pt x="279" y="328"/>
                      </a:cubicBezTo>
                      <a:cubicBezTo>
                        <a:pt x="282" y="364"/>
                        <a:pt x="307" y="373"/>
                        <a:pt x="322" y="375"/>
                      </a:cubicBezTo>
                      <a:cubicBezTo>
                        <a:pt x="333" y="376"/>
                        <a:pt x="333" y="376"/>
                        <a:pt x="333" y="376"/>
                      </a:cubicBezTo>
                      <a:cubicBezTo>
                        <a:pt x="333" y="376"/>
                        <a:pt x="328" y="376"/>
                        <a:pt x="322" y="375"/>
                      </a:cubicBezTo>
                      <a:cubicBezTo>
                        <a:pt x="319" y="375"/>
                        <a:pt x="319" y="375"/>
                        <a:pt x="319" y="375"/>
                      </a:cubicBezTo>
                      <a:cubicBezTo>
                        <a:pt x="337" y="378"/>
                        <a:pt x="358" y="376"/>
                        <a:pt x="378" y="358"/>
                      </a:cubicBezTo>
                      <a:cubicBezTo>
                        <a:pt x="424" y="316"/>
                        <a:pt x="422" y="287"/>
                        <a:pt x="412" y="257"/>
                      </a:cubicBezTo>
                      <a:cubicBezTo>
                        <a:pt x="412" y="257"/>
                        <a:pt x="432" y="249"/>
                        <a:pt x="451" y="214"/>
                      </a:cubicBezTo>
                      <a:cubicBezTo>
                        <a:pt x="451" y="214"/>
                        <a:pt x="466" y="195"/>
                        <a:pt x="453" y="157"/>
                      </a:cubicBezTo>
                      <a:cubicBezTo>
                        <a:pt x="451" y="153"/>
                        <a:pt x="477" y="149"/>
                        <a:pt x="482" y="109"/>
                      </a:cubicBezTo>
                      <a:cubicBezTo>
                        <a:pt x="487" y="69"/>
                        <a:pt x="489" y="88"/>
                        <a:pt x="483" y="69"/>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270" name="Freeform 393">
                  <a:extLst>
                    <a:ext uri="{FF2B5EF4-FFF2-40B4-BE49-F238E27FC236}">
                      <a16:creationId xmlns:a16="http://schemas.microsoft.com/office/drawing/2014/main" id="{D8D79651-B451-4A79-B041-1B2FB200E715}"/>
                    </a:ext>
                  </a:extLst>
                </p:cNvPr>
                <p:cNvSpPr>
                  <a:spLocks/>
                </p:cNvSpPr>
                <p:nvPr/>
              </p:nvSpPr>
              <p:spPr bwMode="auto">
                <a:xfrm>
                  <a:off x="7091363" y="4837751"/>
                  <a:ext cx="438150" cy="458788"/>
                </a:xfrm>
                <a:custGeom>
                  <a:avLst/>
                  <a:gdLst>
                    <a:gd name="T0" fmla="*/ 29 w 293"/>
                    <a:gd name="T1" fmla="*/ 66 h 306"/>
                    <a:gd name="T2" fmla="*/ 236 w 293"/>
                    <a:gd name="T3" fmla="*/ 126 h 306"/>
                    <a:gd name="T4" fmla="*/ 73 w 293"/>
                    <a:gd name="T5" fmla="*/ 260 h 306"/>
                    <a:gd name="T6" fmla="*/ 29 w 293"/>
                    <a:gd name="T7" fmla="*/ 66 h 306"/>
                  </a:gdLst>
                  <a:ahLst/>
                  <a:cxnLst>
                    <a:cxn ang="0">
                      <a:pos x="T0" y="T1"/>
                    </a:cxn>
                    <a:cxn ang="0">
                      <a:pos x="T2" y="T3"/>
                    </a:cxn>
                    <a:cxn ang="0">
                      <a:pos x="T4" y="T5"/>
                    </a:cxn>
                    <a:cxn ang="0">
                      <a:pos x="T6" y="T7"/>
                    </a:cxn>
                  </a:cxnLst>
                  <a:rect l="0" t="0" r="r" b="b"/>
                  <a:pathLst>
                    <a:path w="293" h="306">
                      <a:moveTo>
                        <a:pt x="29" y="66"/>
                      </a:moveTo>
                      <a:cubicBezTo>
                        <a:pt x="29" y="66"/>
                        <a:pt x="178" y="0"/>
                        <a:pt x="236" y="126"/>
                      </a:cubicBezTo>
                      <a:cubicBezTo>
                        <a:pt x="293" y="253"/>
                        <a:pt x="146" y="306"/>
                        <a:pt x="73" y="260"/>
                      </a:cubicBezTo>
                      <a:cubicBezTo>
                        <a:pt x="0" y="213"/>
                        <a:pt x="29" y="66"/>
                        <a:pt x="29" y="66"/>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271" name="Freeform 394">
                  <a:extLst>
                    <a:ext uri="{FF2B5EF4-FFF2-40B4-BE49-F238E27FC236}">
                      <a16:creationId xmlns:a16="http://schemas.microsoft.com/office/drawing/2014/main" id="{503D23F6-F77E-42E0-92AA-BA5DECCA1087}"/>
                    </a:ext>
                  </a:extLst>
                </p:cNvPr>
                <p:cNvSpPr>
                  <a:spLocks/>
                </p:cNvSpPr>
                <p:nvPr/>
              </p:nvSpPr>
              <p:spPr bwMode="auto">
                <a:xfrm>
                  <a:off x="5624513" y="4150363"/>
                  <a:ext cx="2455863" cy="1533525"/>
                </a:xfrm>
                <a:custGeom>
                  <a:avLst/>
                  <a:gdLst>
                    <a:gd name="T0" fmla="*/ 1134 w 1638"/>
                    <a:gd name="T1" fmla="*/ 638 h 1023"/>
                    <a:gd name="T2" fmla="*/ 1149 w 1638"/>
                    <a:gd name="T3" fmla="*/ 745 h 1023"/>
                    <a:gd name="T4" fmla="*/ 1255 w 1638"/>
                    <a:gd name="T5" fmla="*/ 817 h 1023"/>
                    <a:gd name="T6" fmla="*/ 1330 w 1638"/>
                    <a:gd name="T7" fmla="*/ 925 h 1023"/>
                    <a:gd name="T8" fmla="*/ 1426 w 1638"/>
                    <a:gd name="T9" fmla="*/ 979 h 1023"/>
                    <a:gd name="T10" fmla="*/ 1561 w 1638"/>
                    <a:gd name="T11" fmla="*/ 880 h 1023"/>
                    <a:gd name="T12" fmla="*/ 1602 w 1638"/>
                    <a:gd name="T13" fmla="*/ 780 h 1023"/>
                    <a:gd name="T14" fmla="*/ 1632 w 1638"/>
                    <a:gd name="T15" fmla="*/ 692 h 1023"/>
                    <a:gd name="T16" fmla="*/ 1624 w 1638"/>
                    <a:gd name="T17" fmla="*/ 609 h 1023"/>
                    <a:gd name="T18" fmla="*/ 1597 w 1638"/>
                    <a:gd name="T19" fmla="*/ 527 h 1023"/>
                    <a:gd name="T20" fmla="*/ 1556 w 1638"/>
                    <a:gd name="T21" fmla="*/ 469 h 1023"/>
                    <a:gd name="T22" fmla="*/ 1527 w 1638"/>
                    <a:gd name="T23" fmla="*/ 400 h 1023"/>
                    <a:gd name="T24" fmla="*/ 1469 w 1638"/>
                    <a:gd name="T25" fmla="*/ 349 h 1023"/>
                    <a:gd name="T26" fmla="*/ 1417 w 1638"/>
                    <a:gd name="T27" fmla="*/ 279 h 1023"/>
                    <a:gd name="T28" fmla="*/ 1310 w 1638"/>
                    <a:gd name="T29" fmla="*/ 185 h 1023"/>
                    <a:gd name="T30" fmla="*/ 1187 w 1638"/>
                    <a:gd name="T31" fmla="*/ 109 h 1023"/>
                    <a:gd name="T32" fmla="*/ 1132 w 1638"/>
                    <a:gd name="T33" fmla="*/ 79 h 1023"/>
                    <a:gd name="T34" fmla="*/ 1025 w 1638"/>
                    <a:gd name="T35" fmla="*/ 39 h 1023"/>
                    <a:gd name="T36" fmla="*/ 953 w 1638"/>
                    <a:gd name="T37" fmla="*/ 31 h 1023"/>
                    <a:gd name="T38" fmla="*/ 830 w 1638"/>
                    <a:gd name="T39" fmla="*/ 31 h 1023"/>
                    <a:gd name="T40" fmla="*/ 712 w 1638"/>
                    <a:gd name="T41" fmla="*/ 5 h 1023"/>
                    <a:gd name="T42" fmla="*/ 587 w 1638"/>
                    <a:gd name="T43" fmla="*/ 18 h 1023"/>
                    <a:gd name="T44" fmla="*/ 475 w 1638"/>
                    <a:gd name="T45" fmla="*/ 39 h 1023"/>
                    <a:gd name="T46" fmla="*/ 321 w 1638"/>
                    <a:gd name="T47" fmla="*/ 82 h 1023"/>
                    <a:gd name="T48" fmla="*/ 225 w 1638"/>
                    <a:gd name="T49" fmla="*/ 132 h 1023"/>
                    <a:gd name="T50" fmla="*/ 164 w 1638"/>
                    <a:gd name="T51" fmla="*/ 180 h 1023"/>
                    <a:gd name="T52" fmla="*/ 67 w 1638"/>
                    <a:gd name="T53" fmla="*/ 300 h 1023"/>
                    <a:gd name="T54" fmla="*/ 34 w 1638"/>
                    <a:gd name="T55" fmla="*/ 377 h 1023"/>
                    <a:gd name="T56" fmla="*/ 5 w 1638"/>
                    <a:gd name="T57" fmla="*/ 472 h 1023"/>
                    <a:gd name="T58" fmla="*/ 19 w 1638"/>
                    <a:gd name="T59" fmla="*/ 617 h 1023"/>
                    <a:gd name="T60" fmla="*/ 89 w 1638"/>
                    <a:gd name="T61" fmla="*/ 729 h 1023"/>
                    <a:gd name="T62" fmla="*/ 198 w 1638"/>
                    <a:gd name="T63" fmla="*/ 808 h 1023"/>
                    <a:gd name="T64" fmla="*/ 541 w 1638"/>
                    <a:gd name="T65" fmla="*/ 764 h 1023"/>
                    <a:gd name="T66" fmla="*/ 468 w 1638"/>
                    <a:gd name="T67" fmla="*/ 620 h 1023"/>
                    <a:gd name="T68" fmla="*/ 651 w 1638"/>
                    <a:gd name="T69" fmla="*/ 384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8" h="1023">
                      <a:moveTo>
                        <a:pt x="1026" y="487"/>
                      </a:moveTo>
                      <a:cubicBezTo>
                        <a:pt x="1026" y="487"/>
                        <a:pt x="1134" y="568"/>
                        <a:pt x="1134" y="638"/>
                      </a:cubicBezTo>
                      <a:cubicBezTo>
                        <a:pt x="1134" y="707"/>
                        <a:pt x="1094" y="726"/>
                        <a:pt x="1079" y="731"/>
                      </a:cubicBezTo>
                      <a:cubicBezTo>
                        <a:pt x="1074" y="732"/>
                        <a:pt x="1105" y="753"/>
                        <a:pt x="1149" y="745"/>
                      </a:cubicBezTo>
                      <a:cubicBezTo>
                        <a:pt x="1149" y="745"/>
                        <a:pt x="1152" y="788"/>
                        <a:pt x="1196" y="807"/>
                      </a:cubicBezTo>
                      <a:cubicBezTo>
                        <a:pt x="1211" y="814"/>
                        <a:pt x="1230" y="818"/>
                        <a:pt x="1255" y="817"/>
                      </a:cubicBezTo>
                      <a:cubicBezTo>
                        <a:pt x="1255" y="817"/>
                        <a:pt x="1281" y="893"/>
                        <a:pt x="1305" y="906"/>
                      </a:cubicBezTo>
                      <a:cubicBezTo>
                        <a:pt x="1328" y="918"/>
                        <a:pt x="1311" y="902"/>
                        <a:pt x="1330" y="925"/>
                      </a:cubicBezTo>
                      <a:cubicBezTo>
                        <a:pt x="1349" y="947"/>
                        <a:pt x="1352" y="961"/>
                        <a:pt x="1393" y="957"/>
                      </a:cubicBezTo>
                      <a:cubicBezTo>
                        <a:pt x="1410" y="955"/>
                        <a:pt x="1376" y="963"/>
                        <a:pt x="1426" y="979"/>
                      </a:cubicBezTo>
                      <a:cubicBezTo>
                        <a:pt x="1426" y="979"/>
                        <a:pt x="1480" y="1023"/>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463" y="819"/>
                        <a:pt x="511" y="809"/>
                        <a:pt x="541" y="764"/>
                      </a:cubicBezTo>
                      <a:cubicBezTo>
                        <a:pt x="572" y="719"/>
                        <a:pt x="560" y="682"/>
                        <a:pt x="553" y="666"/>
                      </a:cubicBezTo>
                      <a:cubicBezTo>
                        <a:pt x="546" y="650"/>
                        <a:pt x="522" y="636"/>
                        <a:pt x="468" y="620"/>
                      </a:cubicBezTo>
                      <a:cubicBezTo>
                        <a:pt x="413" y="604"/>
                        <a:pt x="343" y="575"/>
                        <a:pt x="364" y="499"/>
                      </a:cubicBezTo>
                      <a:cubicBezTo>
                        <a:pt x="384" y="424"/>
                        <a:pt x="514" y="379"/>
                        <a:pt x="651" y="384"/>
                      </a:cubicBezTo>
                      <a:cubicBezTo>
                        <a:pt x="787" y="389"/>
                        <a:pt x="937" y="416"/>
                        <a:pt x="1026" y="487"/>
                      </a:cubicBezTo>
                      <a:close/>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72" name="Freeform 395">
                  <a:extLst>
                    <a:ext uri="{FF2B5EF4-FFF2-40B4-BE49-F238E27FC236}">
                      <a16:creationId xmlns:a16="http://schemas.microsoft.com/office/drawing/2014/main" id="{F26D809A-76A7-4CFC-913E-E41B9FA766B9}"/>
                    </a:ext>
                  </a:extLst>
                </p:cNvPr>
                <p:cNvSpPr>
                  <a:spLocks/>
                </p:cNvSpPr>
                <p:nvPr/>
              </p:nvSpPr>
              <p:spPr bwMode="auto">
                <a:xfrm>
                  <a:off x="7340601" y="4431351"/>
                  <a:ext cx="150813" cy="101600"/>
                </a:xfrm>
                <a:custGeom>
                  <a:avLst/>
                  <a:gdLst>
                    <a:gd name="T0" fmla="*/ 97 w 101"/>
                    <a:gd name="T1" fmla="*/ 0 h 68"/>
                    <a:gd name="T2" fmla="*/ 79 w 101"/>
                    <a:gd name="T3" fmla="*/ 35 h 68"/>
                    <a:gd name="T4" fmla="*/ 53 w 101"/>
                    <a:gd name="T5" fmla="*/ 59 h 68"/>
                    <a:gd name="T6" fmla="*/ 0 w 101"/>
                    <a:gd name="T7" fmla="*/ 65 h 68"/>
                  </a:gdLst>
                  <a:ahLst/>
                  <a:cxnLst>
                    <a:cxn ang="0">
                      <a:pos x="T0" y="T1"/>
                    </a:cxn>
                    <a:cxn ang="0">
                      <a:pos x="T2" y="T3"/>
                    </a:cxn>
                    <a:cxn ang="0">
                      <a:pos x="T4" y="T5"/>
                    </a:cxn>
                    <a:cxn ang="0">
                      <a:pos x="T6" y="T7"/>
                    </a:cxn>
                  </a:cxnLst>
                  <a:rect l="0" t="0" r="r" b="b"/>
                  <a:pathLst>
                    <a:path w="101" h="68">
                      <a:moveTo>
                        <a:pt x="97" y="0"/>
                      </a:moveTo>
                      <a:cubicBezTo>
                        <a:pt x="97" y="0"/>
                        <a:pt x="101" y="16"/>
                        <a:pt x="79" y="35"/>
                      </a:cubicBezTo>
                      <a:cubicBezTo>
                        <a:pt x="58" y="53"/>
                        <a:pt x="53" y="59"/>
                        <a:pt x="53" y="59"/>
                      </a:cubicBezTo>
                      <a:cubicBezTo>
                        <a:pt x="53" y="59"/>
                        <a:pt x="54" y="68"/>
                        <a:pt x="0" y="6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73" name="Freeform 396">
                  <a:extLst>
                    <a:ext uri="{FF2B5EF4-FFF2-40B4-BE49-F238E27FC236}">
                      <a16:creationId xmlns:a16="http://schemas.microsoft.com/office/drawing/2014/main" id="{0370A9FF-D8B5-4742-81E1-A7D32DBA9309}"/>
                    </a:ext>
                  </a:extLst>
                </p:cNvPr>
                <p:cNvSpPr>
                  <a:spLocks/>
                </p:cNvSpPr>
                <p:nvPr/>
              </p:nvSpPr>
              <p:spPr bwMode="auto">
                <a:xfrm>
                  <a:off x="7402513" y="4491676"/>
                  <a:ext cx="114300" cy="79375"/>
                </a:xfrm>
                <a:custGeom>
                  <a:avLst/>
                  <a:gdLst>
                    <a:gd name="T0" fmla="*/ 76 w 76"/>
                    <a:gd name="T1" fmla="*/ 2 h 53"/>
                    <a:gd name="T2" fmla="*/ 32 w 76"/>
                    <a:gd name="T3" fmla="*/ 1 h 53"/>
                    <a:gd name="T4" fmla="*/ 22 w 76"/>
                    <a:gd name="T5" fmla="*/ 7 h 53"/>
                    <a:gd name="T6" fmla="*/ 9 w 76"/>
                    <a:gd name="T7" fmla="*/ 53 h 53"/>
                  </a:gdLst>
                  <a:ahLst/>
                  <a:cxnLst>
                    <a:cxn ang="0">
                      <a:pos x="T0" y="T1"/>
                    </a:cxn>
                    <a:cxn ang="0">
                      <a:pos x="T2" y="T3"/>
                    </a:cxn>
                    <a:cxn ang="0">
                      <a:pos x="T4" y="T5"/>
                    </a:cxn>
                    <a:cxn ang="0">
                      <a:pos x="T6" y="T7"/>
                    </a:cxn>
                  </a:cxnLst>
                  <a:rect l="0" t="0" r="r" b="b"/>
                  <a:pathLst>
                    <a:path w="76" h="53">
                      <a:moveTo>
                        <a:pt x="76" y="2"/>
                      </a:moveTo>
                      <a:cubicBezTo>
                        <a:pt x="76" y="2"/>
                        <a:pt x="40" y="0"/>
                        <a:pt x="32" y="1"/>
                      </a:cubicBezTo>
                      <a:cubicBezTo>
                        <a:pt x="25" y="3"/>
                        <a:pt x="25" y="5"/>
                        <a:pt x="22" y="7"/>
                      </a:cubicBezTo>
                      <a:cubicBezTo>
                        <a:pt x="19" y="9"/>
                        <a:pt x="0" y="19"/>
                        <a:pt x="9" y="5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74" name="Freeform 397">
                  <a:extLst>
                    <a:ext uri="{FF2B5EF4-FFF2-40B4-BE49-F238E27FC236}">
                      <a16:creationId xmlns:a16="http://schemas.microsoft.com/office/drawing/2014/main" id="{2B5FC726-AAD8-455E-AF7E-77C272D777C5}"/>
                    </a:ext>
                  </a:extLst>
                </p:cNvPr>
                <p:cNvSpPr>
                  <a:spLocks/>
                </p:cNvSpPr>
                <p:nvPr/>
              </p:nvSpPr>
              <p:spPr bwMode="auto">
                <a:xfrm>
                  <a:off x="7927976" y="5213988"/>
                  <a:ext cx="104775" cy="120650"/>
                </a:xfrm>
                <a:custGeom>
                  <a:avLst/>
                  <a:gdLst>
                    <a:gd name="T0" fmla="*/ 70 w 70"/>
                    <a:gd name="T1" fmla="*/ 69 h 81"/>
                    <a:gd name="T2" fmla="*/ 35 w 70"/>
                    <a:gd name="T3" fmla="*/ 58 h 81"/>
                    <a:gd name="T4" fmla="*/ 24 w 70"/>
                    <a:gd name="T5" fmla="*/ 0 h 81"/>
                  </a:gdLst>
                  <a:ahLst/>
                  <a:cxnLst>
                    <a:cxn ang="0">
                      <a:pos x="T0" y="T1"/>
                    </a:cxn>
                    <a:cxn ang="0">
                      <a:pos x="T2" y="T3"/>
                    </a:cxn>
                    <a:cxn ang="0">
                      <a:pos x="T4" y="T5"/>
                    </a:cxn>
                  </a:cxnLst>
                  <a:rect l="0" t="0" r="r" b="b"/>
                  <a:pathLst>
                    <a:path w="70" h="81">
                      <a:moveTo>
                        <a:pt x="70" y="69"/>
                      </a:moveTo>
                      <a:cubicBezTo>
                        <a:pt x="70" y="69"/>
                        <a:pt x="57" y="81"/>
                        <a:pt x="35" y="58"/>
                      </a:cubicBezTo>
                      <a:cubicBezTo>
                        <a:pt x="14" y="36"/>
                        <a:pt x="0" y="20"/>
                        <a:pt x="24"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75" name="Freeform 398">
                  <a:extLst>
                    <a:ext uri="{FF2B5EF4-FFF2-40B4-BE49-F238E27FC236}">
                      <a16:creationId xmlns:a16="http://schemas.microsoft.com/office/drawing/2014/main" id="{E68CE3AF-FD6A-4F5A-B084-A909556E972C}"/>
                    </a:ext>
                  </a:extLst>
                </p:cNvPr>
                <p:cNvSpPr>
                  <a:spLocks/>
                </p:cNvSpPr>
                <p:nvPr/>
              </p:nvSpPr>
              <p:spPr bwMode="auto">
                <a:xfrm>
                  <a:off x="7886701" y="5231451"/>
                  <a:ext cx="66675" cy="34925"/>
                </a:xfrm>
                <a:custGeom>
                  <a:avLst/>
                  <a:gdLst>
                    <a:gd name="T0" fmla="*/ 0 w 44"/>
                    <a:gd name="T1" fmla="*/ 6 h 23"/>
                    <a:gd name="T2" fmla="*/ 44 w 44"/>
                    <a:gd name="T3" fmla="*/ 23 h 23"/>
                  </a:gdLst>
                  <a:ahLst/>
                  <a:cxnLst>
                    <a:cxn ang="0">
                      <a:pos x="T0" y="T1"/>
                    </a:cxn>
                    <a:cxn ang="0">
                      <a:pos x="T2" y="T3"/>
                    </a:cxn>
                  </a:cxnLst>
                  <a:rect l="0" t="0" r="r" b="b"/>
                  <a:pathLst>
                    <a:path w="44" h="23">
                      <a:moveTo>
                        <a:pt x="0" y="6"/>
                      </a:moveTo>
                      <a:cubicBezTo>
                        <a:pt x="0" y="6"/>
                        <a:pt x="27" y="0"/>
                        <a:pt x="44" y="2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76" name="Freeform 399">
                  <a:extLst>
                    <a:ext uri="{FF2B5EF4-FFF2-40B4-BE49-F238E27FC236}">
                      <a16:creationId xmlns:a16="http://schemas.microsoft.com/office/drawing/2014/main" id="{FB733464-AB68-4BD3-953D-AB17C3D04BCD}"/>
                    </a:ext>
                  </a:extLst>
                </p:cNvPr>
                <p:cNvSpPr>
                  <a:spLocks/>
                </p:cNvSpPr>
                <p:nvPr/>
              </p:nvSpPr>
              <p:spPr bwMode="auto">
                <a:xfrm>
                  <a:off x="7691438" y="5212401"/>
                  <a:ext cx="147638" cy="268288"/>
                </a:xfrm>
                <a:custGeom>
                  <a:avLst/>
                  <a:gdLst>
                    <a:gd name="T0" fmla="*/ 0 w 98"/>
                    <a:gd name="T1" fmla="*/ 0 h 179"/>
                    <a:gd name="T2" fmla="*/ 82 w 98"/>
                    <a:gd name="T3" fmla="*/ 98 h 179"/>
                    <a:gd name="T4" fmla="*/ 52 w 98"/>
                    <a:gd name="T5" fmla="*/ 179 h 179"/>
                  </a:gdLst>
                  <a:ahLst/>
                  <a:cxnLst>
                    <a:cxn ang="0">
                      <a:pos x="T0" y="T1"/>
                    </a:cxn>
                    <a:cxn ang="0">
                      <a:pos x="T2" y="T3"/>
                    </a:cxn>
                    <a:cxn ang="0">
                      <a:pos x="T4" y="T5"/>
                    </a:cxn>
                  </a:cxnLst>
                  <a:rect l="0" t="0" r="r" b="b"/>
                  <a:pathLst>
                    <a:path w="98" h="179">
                      <a:moveTo>
                        <a:pt x="0" y="0"/>
                      </a:moveTo>
                      <a:cubicBezTo>
                        <a:pt x="0" y="0"/>
                        <a:pt x="64" y="46"/>
                        <a:pt x="82" y="98"/>
                      </a:cubicBezTo>
                      <a:cubicBezTo>
                        <a:pt x="98" y="141"/>
                        <a:pt x="81" y="145"/>
                        <a:pt x="52" y="17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77" name="Freeform 400">
                  <a:extLst>
                    <a:ext uri="{FF2B5EF4-FFF2-40B4-BE49-F238E27FC236}">
                      <a16:creationId xmlns:a16="http://schemas.microsoft.com/office/drawing/2014/main" id="{150CE488-C77B-4AD5-8BD2-4D6142EE04E1}"/>
                    </a:ext>
                  </a:extLst>
                </p:cNvPr>
                <p:cNvSpPr>
                  <a:spLocks/>
                </p:cNvSpPr>
                <p:nvPr/>
              </p:nvSpPr>
              <p:spPr bwMode="auto">
                <a:xfrm>
                  <a:off x="7823201" y="5388613"/>
                  <a:ext cx="60325" cy="68263"/>
                </a:xfrm>
                <a:custGeom>
                  <a:avLst/>
                  <a:gdLst>
                    <a:gd name="T0" fmla="*/ 0 w 41"/>
                    <a:gd name="T1" fmla="*/ 0 h 45"/>
                    <a:gd name="T2" fmla="*/ 41 w 41"/>
                    <a:gd name="T3" fmla="*/ 45 h 45"/>
                  </a:gdLst>
                  <a:ahLst/>
                  <a:cxnLst>
                    <a:cxn ang="0">
                      <a:pos x="T0" y="T1"/>
                    </a:cxn>
                    <a:cxn ang="0">
                      <a:pos x="T2" y="T3"/>
                    </a:cxn>
                  </a:cxnLst>
                  <a:rect l="0" t="0" r="r" b="b"/>
                  <a:pathLst>
                    <a:path w="41" h="45">
                      <a:moveTo>
                        <a:pt x="0" y="0"/>
                      </a:moveTo>
                      <a:cubicBezTo>
                        <a:pt x="0" y="0"/>
                        <a:pt x="0" y="40"/>
                        <a:pt x="41" y="4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78" name="Line 401">
                  <a:extLst>
                    <a:ext uri="{FF2B5EF4-FFF2-40B4-BE49-F238E27FC236}">
                      <a16:creationId xmlns:a16="http://schemas.microsoft.com/office/drawing/2014/main" id="{F6565390-56DC-4CE4-90E1-228A3DB1CE5C}"/>
                    </a:ext>
                  </a:extLst>
                </p:cNvPr>
                <p:cNvSpPr>
                  <a:spLocks noChangeShapeType="1"/>
                </p:cNvSpPr>
                <p:nvPr/>
              </p:nvSpPr>
              <p:spPr bwMode="auto">
                <a:xfrm flipH="1" flipV="1">
                  <a:off x="7921626" y="5464813"/>
                  <a:ext cx="49213" cy="4763"/>
                </a:xfrm>
                <a:prstGeom prst="line">
                  <a:avLst/>
                </a:prstGeom>
                <a:noFill/>
                <a:ln w="3175"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79" name="Freeform 402">
                  <a:extLst>
                    <a:ext uri="{FF2B5EF4-FFF2-40B4-BE49-F238E27FC236}">
                      <a16:creationId xmlns:a16="http://schemas.microsoft.com/office/drawing/2014/main" id="{BA135596-88DE-44A2-9FA2-32DAE33FDFEF}"/>
                    </a:ext>
                  </a:extLst>
                </p:cNvPr>
                <p:cNvSpPr>
                  <a:spLocks/>
                </p:cNvSpPr>
                <p:nvPr/>
              </p:nvSpPr>
              <p:spPr bwMode="auto">
                <a:xfrm>
                  <a:off x="7726363" y="5536251"/>
                  <a:ext cx="125413" cy="49213"/>
                </a:xfrm>
                <a:custGeom>
                  <a:avLst/>
                  <a:gdLst>
                    <a:gd name="T0" fmla="*/ 83 w 83"/>
                    <a:gd name="T1" fmla="*/ 18 h 33"/>
                    <a:gd name="T2" fmla="*/ 0 w 83"/>
                    <a:gd name="T3" fmla="*/ 33 h 33"/>
                  </a:gdLst>
                  <a:ahLst/>
                  <a:cxnLst>
                    <a:cxn ang="0">
                      <a:pos x="T0" y="T1"/>
                    </a:cxn>
                    <a:cxn ang="0">
                      <a:pos x="T2" y="T3"/>
                    </a:cxn>
                  </a:cxnLst>
                  <a:rect l="0" t="0" r="r" b="b"/>
                  <a:pathLst>
                    <a:path w="83" h="33">
                      <a:moveTo>
                        <a:pt x="83" y="18"/>
                      </a:moveTo>
                      <a:cubicBezTo>
                        <a:pt x="83" y="18"/>
                        <a:pt x="53" y="0"/>
                        <a:pt x="0" y="3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80" name="Freeform 403">
                  <a:extLst>
                    <a:ext uri="{FF2B5EF4-FFF2-40B4-BE49-F238E27FC236}">
                      <a16:creationId xmlns:a16="http://schemas.microsoft.com/office/drawing/2014/main" id="{4671E308-4DFE-49DD-9C02-659A2F0CC333}"/>
                    </a:ext>
                  </a:extLst>
                </p:cNvPr>
                <p:cNvSpPr>
                  <a:spLocks/>
                </p:cNvSpPr>
                <p:nvPr/>
              </p:nvSpPr>
              <p:spPr bwMode="auto">
                <a:xfrm>
                  <a:off x="7637463" y="5317176"/>
                  <a:ext cx="79375" cy="96838"/>
                </a:xfrm>
                <a:custGeom>
                  <a:avLst/>
                  <a:gdLst>
                    <a:gd name="T0" fmla="*/ 52 w 52"/>
                    <a:gd name="T1" fmla="*/ 41 h 65"/>
                    <a:gd name="T2" fmla="*/ 0 w 52"/>
                    <a:gd name="T3" fmla="*/ 65 h 65"/>
                    <a:gd name="T4" fmla="*/ 5 w 52"/>
                    <a:gd name="T5" fmla="*/ 0 h 65"/>
                  </a:gdLst>
                  <a:ahLst/>
                  <a:cxnLst>
                    <a:cxn ang="0">
                      <a:pos x="T0" y="T1"/>
                    </a:cxn>
                    <a:cxn ang="0">
                      <a:pos x="T2" y="T3"/>
                    </a:cxn>
                    <a:cxn ang="0">
                      <a:pos x="T4" y="T5"/>
                    </a:cxn>
                  </a:cxnLst>
                  <a:rect l="0" t="0" r="r" b="b"/>
                  <a:pathLst>
                    <a:path w="52" h="65">
                      <a:moveTo>
                        <a:pt x="52" y="41"/>
                      </a:moveTo>
                      <a:cubicBezTo>
                        <a:pt x="52" y="41"/>
                        <a:pt x="23" y="31"/>
                        <a:pt x="0" y="65"/>
                      </a:cubicBezTo>
                      <a:cubicBezTo>
                        <a:pt x="0" y="65"/>
                        <a:pt x="43" y="24"/>
                        <a:pt x="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81" name="Freeform 404">
                  <a:extLst>
                    <a:ext uri="{FF2B5EF4-FFF2-40B4-BE49-F238E27FC236}">
                      <a16:creationId xmlns:a16="http://schemas.microsoft.com/office/drawing/2014/main" id="{98A2C7C3-7274-432A-9BB1-62936D36C8BC}"/>
                    </a:ext>
                  </a:extLst>
                </p:cNvPr>
                <p:cNvSpPr>
                  <a:spLocks/>
                </p:cNvSpPr>
                <p:nvPr/>
              </p:nvSpPr>
              <p:spPr bwMode="auto">
                <a:xfrm>
                  <a:off x="7505701" y="5306063"/>
                  <a:ext cx="93663" cy="69850"/>
                </a:xfrm>
                <a:custGeom>
                  <a:avLst/>
                  <a:gdLst>
                    <a:gd name="T0" fmla="*/ 62 w 62"/>
                    <a:gd name="T1" fmla="*/ 0 h 46"/>
                    <a:gd name="T2" fmla="*/ 0 w 62"/>
                    <a:gd name="T3" fmla="*/ 46 h 46"/>
                  </a:gdLst>
                  <a:ahLst/>
                  <a:cxnLst>
                    <a:cxn ang="0">
                      <a:pos x="T0" y="T1"/>
                    </a:cxn>
                    <a:cxn ang="0">
                      <a:pos x="T2" y="T3"/>
                    </a:cxn>
                  </a:cxnLst>
                  <a:rect l="0" t="0" r="r" b="b"/>
                  <a:pathLst>
                    <a:path w="62" h="46">
                      <a:moveTo>
                        <a:pt x="62" y="0"/>
                      </a:moveTo>
                      <a:cubicBezTo>
                        <a:pt x="62" y="0"/>
                        <a:pt x="10" y="31"/>
                        <a:pt x="0" y="4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82" name="Freeform 405">
                  <a:extLst>
                    <a:ext uri="{FF2B5EF4-FFF2-40B4-BE49-F238E27FC236}">
                      <a16:creationId xmlns:a16="http://schemas.microsoft.com/office/drawing/2014/main" id="{9550273F-B9B4-4F6D-8105-4E17398900B8}"/>
                    </a:ext>
                  </a:extLst>
                </p:cNvPr>
                <p:cNvSpPr>
                  <a:spLocks/>
                </p:cNvSpPr>
                <p:nvPr/>
              </p:nvSpPr>
              <p:spPr bwMode="auto">
                <a:xfrm>
                  <a:off x="7823201" y="5131438"/>
                  <a:ext cx="192088" cy="46038"/>
                </a:xfrm>
                <a:custGeom>
                  <a:avLst/>
                  <a:gdLst>
                    <a:gd name="T0" fmla="*/ 129 w 129"/>
                    <a:gd name="T1" fmla="*/ 26 h 31"/>
                    <a:gd name="T2" fmla="*/ 90 w 129"/>
                    <a:gd name="T3" fmla="*/ 16 h 31"/>
                    <a:gd name="T4" fmla="*/ 0 w 129"/>
                    <a:gd name="T5" fmla="*/ 2 h 31"/>
                  </a:gdLst>
                  <a:ahLst/>
                  <a:cxnLst>
                    <a:cxn ang="0">
                      <a:pos x="T0" y="T1"/>
                    </a:cxn>
                    <a:cxn ang="0">
                      <a:pos x="T2" y="T3"/>
                    </a:cxn>
                    <a:cxn ang="0">
                      <a:pos x="T4" y="T5"/>
                    </a:cxn>
                  </a:cxnLst>
                  <a:rect l="0" t="0" r="r" b="b"/>
                  <a:pathLst>
                    <a:path w="129" h="31">
                      <a:moveTo>
                        <a:pt x="129" y="26"/>
                      </a:moveTo>
                      <a:cubicBezTo>
                        <a:pt x="129" y="26"/>
                        <a:pt x="120" y="31"/>
                        <a:pt x="90" y="16"/>
                      </a:cubicBezTo>
                      <a:cubicBezTo>
                        <a:pt x="60" y="1"/>
                        <a:pt x="23" y="0"/>
                        <a:pt x="0" y="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83" name="Freeform 406">
                  <a:extLst>
                    <a:ext uri="{FF2B5EF4-FFF2-40B4-BE49-F238E27FC236}">
                      <a16:creationId xmlns:a16="http://schemas.microsoft.com/office/drawing/2014/main" id="{A3B655B9-1F9B-4C53-97CD-8AA219192F60}"/>
                    </a:ext>
                  </a:extLst>
                </p:cNvPr>
                <p:cNvSpPr>
                  <a:spLocks/>
                </p:cNvSpPr>
                <p:nvPr/>
              </p:nvSpPr>
              <p:spPr bwMode="auto">
                <a:xfrm>
                  <a:off x="7353301" y="4882201"/>
                  <a:ext cx="519113" cy="385763"/>
                </a:xfrm>
                <a:custGeom>
                  <a:avLst/>
                  <a:gdLst>
                    <a:gd name="T0" fmla="*/ 346 w 346"/>
                    <a:gd name="T1" fmla="*/ 0 h 257"/>
                    <a:gd name="T2" fmla="*/ 309 w 346"/>
                    <a:gd name="T3" fmla="*/ 17 h 257"/>
                    <a:gd name="T4" fmla="*/ 228 w 346"/>
                    <a:gd name="T5" fmla="*/ 59 h 257"/>
                    <a:gd name="T6" fmla="*/ 153 w 346"/>
                    <a:gd name="T7" fmla="*/ 137 h 257"/>
                    <a:gd name="T8" fmla="*/ 84 w 346"/>
                    <a:gd name="T9" fmla="*/ 195 h 257"/>
                    <a:gd name="T10" fmla="*/ 0 w 346"/>
                    <a:gd name="T11" fmla="*/ 257 h 257"/>
                  </a:gdLst>
                  <a:ahLst/>
                  <a:cxnLst>
                    <a:cxn ang="0">
                      <a:pos x="T0" y="T1"/>
                    </a:cxn>
                    <a:cxn ang="0">
                      <a:pos x="T2" y="T3"/>
                    </a:cxn>
                    <a:cxn ang="0">
                      <a:pos x="T4" y="T5"/>
                    </a:cxn>
                    <a:cxn ang="0">
                      <a:pos x="T6" y="T7"/>
                    </a:cxn>
                    <a:cxn ang="0">
                      <a:pos x="T8" y="T9"/>
                    </a:cxn>
                    <a:cxn ang="0">
                      <a:pos x="T10" y="T11"/>
                    </a:cxn>
                  </a:cxnLst>
                  <a:rect l="0" t="0" r="r" b="b"/>
                  <a:pathLst>
                    <a:path w="346" h="257">
                      <a:moveTo>
                        <a:pt x="346" y="0"/>
                      </a:moveTo>
                      <a:cubicBezTo>
                        <a:pt x="346" y="0"/>
                        <a:pt x="338" y="14"/>
                        <a:pt x="309" y="17"/>
                      </a:cubicBezTo>
                      <a:cubicBezTo>
                        <a:pt x="280" y="21"/>
                        <a:pt x="248" y="37"/>
                        <a:pt x="228" y="59"/>
                      </a:cubicBezTo>
                      <a:cubicBezTo>
                        <a:pt x="208" y="82"/>
                        <a:pt x="179" y="126"/>
                        <a:pt x="153" y="137"/>
                      </a:cubicBezTo>
                      <a:cubicBezTo>
                        <a:pt x="126" y="148"/>
                        <a:pt x="104" y="172"/>
                        <a:pt x="84" y="195"/>
                      </a:cubicBezTo>
                      <a:cubicBezTo>
                        <a:pt x="63" y="218"/>
                        <a:pt x="29" y="252"/>
                        <a:pt x="0" y="25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84" name="Freeform 407">
                  <a:extLst>
                    <a:ext uri="{FF2B5EF4-FFF2-40B4-BE49-F238E27FC236}">
                      <a16:creationId xmlns:a16="http://schemas.microsoft.com/office/drawing/2014/main" id="{ACE59DB2-B9E4-4D4C-A577-23F55983B53C}"/>
                    </a:ext>
                  </a:extLst>
                </p:cNvPr>
                <p:cNvSpPr>
                  <a:spLocks/>
                </p:cNvSpPr>
                <p:nvPr/>
              </p:nvSpPr>
              <p:spPr bwMode="auto">
                <a:xfrm>
                  <a:off x="7556501" y="5090163"/>
                  <a:ext cx="206375" cy="46038"/>
                </a:xfrm>
                <a:custGeom>
                  <a:avLst/>
                  <a:gdLst>
                    <a:gd name="T0" fmla="*/ 137 w 137"/>
                    <a:gd name="T1" fmla="*/ 25 h 31"/>
                    <a:gd name="T2" fmla="*/ 71 w 137"/>
                    <a:gd name="T3" fmla="*/ 16 h 31"/>
                    <a:gd name="T4" fmla="*/ 0 w 137"/>
                    <a:gd name="T5" fmla="*/ 8 h 31"/>
                  </a:gdLst>
                  <a:ahLst/>
                  <a:cxnLst>
                    <a:cxn ang="0">
                      <a:pos x="T0" y="T1"/>
                    </a:cxn>
                    <a:cxn ang="0">
                      <a:pos x="T2" y="T3"/>
                    </a:cxn>
                    <a:cxn ang="0">
                      <a:pos x="T4" y="T5"/>
                    </a:cxn>
                  </a:cxnLst>
                  <a:rect l="0" t="0" r="r" b="b"/>
                  <a:pathLst>
                    <a:path w="137" h="31">
                      <a:moveTo>
                        <a:pt x="137" y="25"/>
                      </a:moveTo>
                      <a:cubicBezTo>
                        <a:pt x="137" y="25"/>
                        <a:pt x="106" y="31"/>
                        <a:pt x="71" y="16"/>
                      </a:cubicBezTo>
                      <a:cubicBezTo>
                        <a:pt x="36" y="0"/>
                        <a:pt x="14" y="3"/>
                        <a:pt x="0" y="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85" name="Freeform 408">
                  <a:extLst>
                    <a:ext uri="{FF2B5EF4-FFF2-40B4-BE49-F238E27FC236}">
                      <a16:creationId xmlns:a16="http://schemas.microsoft.com/office/drawing/2014/main" id="{B82A7508-200E-4B4A-A52D-BD7039319AC6}"/>
                    </a:ext>
                  </a:extLst>
                </p:cNvPr>
                <p:cNvSpPr>
                  <a:spLocks/>
                </p:cNvSpPr>
                <p:nvPr/>
              </p:nvSpPr>
              <p:spPr bwMode="auto">
                <a:xfrm>
                  <a:off x="7823201" y="4909188"/>
                  <a:ext cx="53975" cy="22225"/>
                </a:xfrm>
                <a:custGeom>
                  <a:avLst/>
                  <a:gdLst>
                    <a:gd name="T0" fmla="*/ 36 w 36"/>
                    <a:gd name="T1" fmla="*/ 15 h 15"/>
                    <a:gd name="T2" fmla="*/ 0 w 36"/>
                    <a:gd name="T3" fmla="*/ 0 h 15"/>
                  </a:gdLst>
                  <a:ahLst/>
                  <a:cxnLst>
                    <a:cxn ang="0">
                      <a:pos x="T0" y="T1"/>
                    </a:cxn>
                    <a:cxn ang="0">
                      <a:pos x="T2" y="T3"/>
                    </a:cxn>
                  </a:cxnLst>
                  <a:rect l="0" t="0" r="r" b="b"/>
                  <a:pathLst>
                    <a:path w="36" h="15">
                      <a:moveTo>
                        <a:pt x="36" y="15"/>
                      </a:moveTo>
                      <a:cubicBezTo>
                        <a:pt x="36" y="15"/>
                        <a:pt x="20" y="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86" name="Freeform 409">
                  <a:extLst>
                    <a:ext uri="{FF2B5EF4-FFF2-40B4-BE49-F238E27FC236}">
                      <a16:creationId xmlns:a16="http://schemas.microsoft.com/office/drawing/2014/main" id="{0CC0AFC0-CB01-40F9-9B0D-CC8C02FD1ECC}"/>
                    </a:ext>
                  </a:extLst>
                </p:cNvPr>
                <p:cNvSpPr>
                  <a:spLocks/>
                </p:cNvSpPr>
                <p:nvPr/>
              </p:nvSpPr>
              <p:spPr bwMode="auto">
                <a:xfrm>
                  <a:off x="7781926" y="4671063"/>
                  <a:ext cx="41275" cy="65088"/>
                </a:xfrm>
                <a:custGeom>
                  <a:avLst/>
                  <a:gdLst>
                    <a:gd name="T0" fmla="*/ 27 w 27"/>
                    <a:gd name="T1" fmla="*/ 0 h 44"/>
                    <a:gd name="T2" fmla="*/ 0 w 27"/>
                    <a:gd name="T3" fmla="*/ 44 h 44"/>
                  </a:gdLst>
                  <a:ahLst/>
                  <a:cxnLst>
                    <a:cxn ang="0">
                      <a:pos x="T0" y="T1"/>
                    </a:cxn>
                    <a:cxn ang="0">
                      <a:pos x="T2" y="T3"/>
                    </a:cxn>
                  </a:cxnLst>
                  <a:rect l="0" t="0" r="r" b="b"/>
                  <a:pathLst>
                    <a:path w="27" h="44">
                      <a:moveTo>
                        <a:pt x="27" y="0"/>
                      </a:moveTo>
                      <a:cubicBezTo>
                        <a:pt x="27" y="0"/>
                        <a:pt x="10" y="37"/>
                        <a:pt x="0" y="4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87" name="Freeform 410">
                  <a:extLst>
                    <a:ext uri="{FF2B5EF4-FFF2-40B4-BE49-F238E27FC236}">
                      <a16:creationId xmlns:a16="http://schemas.microsoft.com/office/drawing/2014/main" id="{B52AED68-C4A5-4526-8B48-D9F7CBBEB0B7}"/>
                    </a:ext>
                  </a:extLst>
                </p:cNvPr>
                <p:cNvSpPr>
                  <a:spLocks/>
                </p:cNvSpPr>
                <p:nvPr/>
              </p:nvSpPr>
              <p:spPr bwMode="auto">
                <a:xfrm>
                  <a:off x="7567613" y="4794888"/>
                  <a:ext cx="79375" cy="112713"/>
                </a:xfrm>
                <a:custGeom>
                  <a:avLst/>
                  <a:gdLst>
                    <a:gd name="T0" fmla="*/ 53 w 53"/>
                    <a:gd name="T1" fmla="*/ 16 h 75"/>
                    <a:gd name="T2" fmla="*/ 31 w 53"/>
                    <a:gd name="T3" fmla="*/ 75 h 75"/>
                    <a:gd name="T4" fmla="*/ 0 w 53"/>
                    <a:gd name="T5" fmla="*/ 0 h 75"/>
                  </a:gdLst>
                  <a:ahLst/>
                  <a:cxnLst>
                    <a:cxn ang="0">
                      <a:pos x="T0" y="T1"/>
                    </a:cxn>
                    <a:cxn ang="0">
                      <a:pos x="T2" y="T3"/>
                    </a:cxn>
                    <a:cxn ang="0">
                      <a:pos x="T4" y="T5"/>
                    </a:cxn>
                  </a:cxnLst>
                  <a:rect l="0" t="0" r="r" b="b"/>
                  <a:pathLst>
                    <a:path w="53" h="75">
                      <a:moveTo>
                        <a:pt x="53" y="16"/>
                      </a:moveTo>
                      <a:cubicBezTo>
                        <a:pt x="53" y="16"/>
                        <a:pt x="29" y="26"/>
                        <a:pt x="31" y="75"/>
                      </a:cubicBezTo>
                      <a:cubicBezTo>
                        <a:pt x="31" y="75"/>
                        <a:pt x="41" y="26"/>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88" name="Freeform 411">
                  <a:extLst>
                    <a:ext uri="{FF2B5EF4-FFF2-40B4-BE49-F238E27FC236}">
                      <a16:creationId xmlns:a16="http://schemas.microsoft.com/office/drawing/2014/main" id="{9F750A2E-F958-48F5-8A76-0ADF5BC119E0}"/>
                    </a:ext>
                  </a:extLst>
                </p:cNvPr>
                <p:cNvSpPr>
                  <a:spLocks/>
                </p:cNvSpPr>
                <p:nvPr/>
              </p:nvSpPr>
              <p:spPr bwMode="auto">
                <a:xfrm>
                  <a:off x="7358063" y="4658363"/>
                  <a:ext cx="319088" cy="90488"/>
                </a:xfrm>
                <a:custGeom>
                  <a:avLst/>
                  <a:gdLst>
                    <a:gd name="T0" fmla="*/ 213 w 213"/>
                    <a:gd name="T1" fmla="*/ 0 h 60"/>
                    <a:gd name="T2" fmla="*/ 91 w 213"/>
                    <a:gd name="T3" fmla="*/ 4 h 60"/>
                    <a:gd name="T4" fmla="*/ 50 w 213"/>
                    <a:gd name="T5" fmla="*/ 33 h 60"/>
                    <a:gd name="T6" fmla="*/ 0 w 213"/>
                    <a:gd name="T7" fmla="*/ 32 h 60"/>
                  </a:gdLst>
                  <a:ahLst/>
                  <a:cxnLst>
                    <a:cxn ang="0">
                      <a:pos x="T0" y="T1"/>
                    </a:cxn>
                    <a:cxn ang="0">
                      <a:pos x="T2" y="T3"/>
                    </a:cxn>
                    <a:cxn ang="0">
                      <a:pos x="T4" y="T5"/>
                    </a:cxn>
                    <a:cxn ang="0">
                      <a:pos x="T6" y="T7"/>
                    </a:cxn>
                  </a:cxnLst>
                  <a:rect l="0" t="0" r="r" b="b"/>
                  <a:pathLst>
                    <a:path w="213" h="60">
                      <a:moveTo>
                        <a:pt x="213" y="0"/>
                      </a:moveTo>
                      <a:cubicBezTo>
                        <a:pt x="213" y="0"/>
                        <a:pt x="140" y="60"/>
                        <a:pt x="91" y="4"/>
                      </a:cubicBezTo>
                      <a:cubicBezTo>
                        <a:pt x="91" y="4"/>
                        <a:pt x="96" y="32"/>
                        <a:pt x="50" y="33"/>
                      </a:cubicBezTo>
                      <a:cubicBezTo>
                        <a:pt x="4" y="34"/>
                        <a:pt x="21" y="36"/>
                        <a:pt x="0" y="3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89" name="Freeform 412">
                  <a:extLst>
                    <a:ext uri="{FF2B5EF4-FFF2-40B4-BE49-F238E27FC236}">
                      <a16:creationId xmlns:a16="http://schemas.microsoft.com/office/drawing/2014/main" id="{BEB615FA-520C-43E2-9A24-3F47EB6A0E48}"/>
                    </a:ext>
                  </a:extLst>
                </p:cNvPr>
                <p:cNvSpPr>
                  <a:spLocks/>
                </p:cNvSpPr>
                <p:nvPr/>
              </p:nvSpPr>
              <p:spPr bwMode="auto">
                <a:xfrm>
                  <a:off x="7350126" y="4701226"/>
                  <a:ext cx="101600" cy="268288"/>
                </a:xfrm>
                <a:custGeom>
                  <a:avLst/>
                  <a:gdLst>
                    <a:gd name="T0" fmla="*/ 68 w 68"/>
                    <a:gd name="T1" fmla="*/ 179 h 179"/>
                    <a:gd name="T2" fmla="*/ 12 w 68"/>
                    <a:gd name="T3" fmla="*/ 108 h 179"/>
                    <a:gd name="T4" fmla="*/ 0 w 68"/>
                    <a:gd name="T5" fmla="*/ 0 h 179"/>
                  </a:gdLst>
                  <a:ahLst/>
                  <a:cxnLst>
                    <a:cxn ang="0">
                      <a:pos x="T0" y="T1"/>
                    </a:cxn>
                    <a:cxn ang="0">
                      <a:pos x="T2" y="T3"/>
                    </a:cxn>
                    <a:cxn ang="0">
                      <a:pos x="T4" y="T5"/>
                    </a:cxn>
                  </a:cxnLst>
                  <a:rect l="0" t="0" r="r" b="b"/>
                  <a:pathLst>
                    <a:path w="68" h="179">
                      <a:moveTo>
                        <a:pt x="68" y="179"/>
                      </a:moveTo>
                      <a:cubicBezTo>
                        <a:pt x="68" y="179"/>
                        <a:pt x="60" y="103"/>
                        <a:pt x="12" y="108"/>
                      </a:cubicBezTo>
                      <a:cubicBezTo>
                        <a:pt x="12" y="108"/>
                        <a:pt x="44" y="46"/>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90" name="Freeform 413">
                  <a:extLst>
                    <a:ext uri="{FF2B5EF4-FFF2-40B4-BE49-F238E27FC236}">
                      <a16:creationId xmlns:a16="http://schemas.microsoft.com/office/drawing/2014/main" id="{DB870674-4AED-46D8-90CF-02366F91CD85}"/>
                    </a:ext>
                  </a:extLst>
                </p:cNvPr>
                <p:cNvSpPr>
                  <a:spLocks/>
                </p:cNvSpPr>
                <p:nvPr/>
              </p:nvSpPr>
              <p:spPr bwMode="auto">
                <a:xfrm>
                  <a:off x="7218363" y="4299588"/>
                  <a:ext cx="131763" cy="401638"/>
                </a:xfrm>
                <a:custGeom>
                  <a:avLst/>
                  <a:gdLst>
                    <a:gd name="T0" fmla="*/ 88 w 88"/>
                    <a:gd name="T1" fmla="*/ 268 h 268"/>
                    <a:gd name="T2" fmla="*/ 35 w 88"/>
                    <a:gd name="T3" fmla="*/ 219 h 268"/>
                    <a:gd name="T4" fmla="*/ 6 w 88"/>
                    <a:gd name="T5" fmla="*/ 142 h 268"/>
                    <a:gd name="T6" fmla="*/ 31 w 88"/>
                    <a:gd name="T7" fmla="*/ 85 h 268"/>
                    <a:gd name="T8" fmla="*/ 47 w 88"/>
                    <a:gd name="T9" fmla="*/ 56 h 268"/>
                    <a:gd name="T10" fmla="*/ 65 w 88"/>
                    <a:gd name="T11" fmla="*/ 30 h 268"/>
                    <a:gd name="T12" fmla="*/ 81 w 88"/>
                    <a:gd name="T13" fmla="*/ 0 h 268"/>
                  </a:gdLst>
                  <a:ahLst/>
                  <a:cxnLst>
                    <a:cxn ang="0">
                      <a:pos x="T0" y="T1"/>
                    </a:cxn>
                    <a:cxn ang="0">
                      <a:pos x="T2" y="T3"/>
                    </a:cxn>
                    <a:cxn ang="0">
                      <a:pos x="T4" y="T5"/>
                    </a:cxn>
                    <a:cxn ang="0">
                      <a:pos x="T6" y="T7"/>
                    </a:cxn>
                    <a:cxn ang="0">
                      <a:pos x="T8" y="T9"/>
                    </a:cxn>
                    <a:cxn ang="0">
                      <a:pos x="T10" y="T11"/>
                    </a:cxn>
                    <a:cxn ang="0">
                      <a:pos x="T12" y="T13"/>
                    </a:cxn>
                  </a:cxnLst>
                  <a:rect l="0" t="0" r="r" b="b"/>
                  <a:pathLst>
                    <a:path w="88" h="268">
                      <a:moveTo>
                        <a:pt x="88" y="268"/>
                      </a:moveTo>
                      <a:cubicBezTo>
                        <a:pt x="88" y="268"/>
                        <a:pt x="54" y="230"/>
                        <a:pt x="35" y="219"/>
                      </a:cubicBezTo>
                      <a:cubicBezTo>
                        <a:pt x="17" y="209"/>
                        <a:pt x="0" y="185"/>
                        <a:pt x="6" y="142"/>
                      </a:cubicBezTo>
                      <a:cubicBezTo>
                        <a:pt x="13" y="98"/>
                        <a:pt x="21" y="94"/>
                        <a:pt x="31" y="85"/>
                      </a:cubicBezTo>
                      <a:cubicBezTo>
                        <a:pt x="41" y="75"/>
                        <a:pt x="44" y="69"/>
                        <a:pt x="47" y="56"/>
                      </a:cubicBezTo>
                      <a:cubicBezTo>
                        <a:pt x="51" y="42"/>
                        <a:pt x="58" y="43"/>
                        <a:pt x="65" y="30"/>
                      </a:cubicBezTo>
                      <a:cubicBezTo>
                        <a:pt x="73" y="17"/>
                        <a:pt x="79" y="23"/>
                        <a:pt x="81"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91" name="Freeform 414">
                  <a:extLst>
                    <a:ext uri="{FF2B5EF4-FFF2-40B4-BE49-F238E27FC236}">
                      <a16:creationId xmlns:a16="http://schemas.microsoft.com/office/drawing/2014/main" id="{52888C79-F9A6-4B94-B2D0-A15FABB3378E}"/>
                    </a:ext>
                  </a:extLst>
                </p:cNvPr>
                <p:cNvSpPr>
                  <a:spLocks/>
                </p:cNvSpPr>
                <p:nvPr/>
              </p:nvSpPr>
              <p:spPr bwMode="auto">
                <a:xfrm>
                  <a:off x="7594601" y="4488501"/>
                  <a:ext cx="42863" cy="73025"/>
                </a:xfrm>
                <a:custGeom>
                  <a:avLst/>
                  <a:gdLst>
                    <a:gd name="T0" fmla="*/ 29 w 29"/>
                    <a:gd name="T1" fmla="*/ 0 h 48"/>
                    <a:gd name="T2" fmla="*/ 0 w 29"/>
                    <a:gd name="T3" fmla="*/ 48 h 48"/>
                  </a:gdLst>
                  <a:ahLst/>
                  <a:cxnLst>
                    <a:cxn ang="0">
                      <a:pos x="T0" y="T1"/>
                    </a:cxn>
                    <a:cxn ang="0">
                      <a:pos x="T2" y="T3"/>
                    </a:cxn>
                  </a:cxnLst>
                  <a:rect l="0" t="0" r="r" b="b"/>
                  <a:pathLst>
                    <a:path w="29" h="48">
                      <a:moveTo>
                        <a:pt x="29" y="0"/>
                      </a:moveTo>
                      <a:cubicBezTo>
                        <a:pt x="29" y="0"/>
                        <a:pt x="19" y="33"/>
                        <a:pt x="0" y="4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92" name="Freeform 415">
                  <a:extLst>
                    <a:ext uri="{FF2B5EF4-FFF2-40B4-BE49-F238E27FC236}">
                      <a16:creationId xmlns:a16="http://schemas.microsoft.com/office/drawing/2014/main" id="{870CF369-6DCD-4AED-9392-0386A9F753B2}"/>
                    </a:ext>
                  </a:extLst>
                </p:cNvPr>
                <p:cNvSpPr>
                  <a:spLocks/>
                </p:cNvSpPr>
                <p:nvPr/>
              </p:nvSpPr>
              <p:spPr bwMode="auto">
                <a:xfrm>
                  <a:off x="7291388" y="5004438"/>
                  <a:ext cx="42863" cy="38100"/>
                </a:xfrm>
                <a:custGeom>
                  <a:avLst/>
                  <a:gdLst>
                    <a:gd name="T0" fmla="*/ 0 w 28"/>
                    <a:gd name="T1" fmla="*/ 0 h 25"/>
                    <a:gd name="T2" fmla="*/ 28 w 28"/>
                    <a:gd name="T3" fmla="*/ 5 h 25"/>
                    <a:gd name="T4" fmla="*/ 14 w 28"/>
                    <a:gd name="T5" fmla="*/ 25 h 25"/>
                  </a:gdLst>
                  <a:ahLst/>
                  <a:cxnLst>
                    <a:cxn ang="0">
                      <a:pos x="T0" y="T1"/>
                    </a:cxn>
                    <a:cxn ang="0">
                      <a:pos x="T2" y="T3"/>
                    </a:cxn>
                    <a:cxn ang="0">
                      <a:pos x="T4" y="T5"/>
                    </a:cxn>
                  </a:cxnLst>
                  <a:rect l="0" t="0" r="r" b="b"/>
                  <a:pathLst>
                    <a:path w="28" h="25">
                      <a:moveTo>
                        <a:pt x="0" y="0"/>
                      </a:moveTo>
                      <a:cubicBezTo>
                        <a:pt x="13" y="10"/>
                        <a:pt x="28" y="5"/>
                        <a:pt x="28" y="5"/>
                      </a:cubicBezTo>
                      <a:cubicBezTo>
                        <a:pt x="28" y="5"/>
                        <a:pt x="16" y="11"/>
                        <a:pt x="14" y="2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93" name="Freeform 416">
                  <a:extLst>
                    <a:ext uri="{FF2B5EF4-FFF2-40B4-BE49-F238E27FC236}">
                      <a16:creationId xmlns:a16="http://schemas.microsoft.com/office/drawing/2014/main" id="{F56F8E16-F64C-4A02-B3F3-EB1062B8E022}"/>
                    </a:ext>
                  </a:extLst>
                </p:cNvPr>
                <p:cNvSpPr>
                  <a:spLocks/>
                </p:cNvSpPr>
                <p:nvPr/>
              </p:nvSpPr>
              <p:spPr bwMode="auto">
                <a:xfrm>
                  <a:off x="7099301" y="4704401"/>
                  <a:ext cx="136525" cy="157163"/>
                </a:xfrm>
                <a:custGeom>
                  <a:avLst/>
                  <a:gdLst>
                    <a:gd name="T0" fmla="*/ 60 w 91"/>
                    <a:gd name="T1" fmla="*/ 0 h 104"/>
                    <a:gd name="T2" fmla="*/ 61 w 91"/>
                    <a:gd name="T3" fmla="*/ 62 h 104"/>
                    <a:gd name="T4" fmla="*/ 0 w 91"/>
                    <a:gd name="T5" fmla="*/ 86 h 104"/>
                  </a:gdLst>
                  <a:ahLst/>
                  <a:cxnLst>
                    <a:cxn ang="0">
                      <a:pos x="T0" y="T1"/>
                    </a:cxn>
                    <a:cxn ang="0">
                      <a:pos x="T2" y="T3"/>
                    </a:cxn>
                    <a:cxn ang="0">
                      <a:pos x="T4" y="T5"/>
                    </a:cxn>
                  </a:cxnLst>
                  <a:rect l="0" t="0" r="r" b="b"/>
                  <a:pathLst>
                    <a:path w="91" h="104">
                      <a:moveTo>
                        <a:pt x="60" y="0"/>
                      </a:moveTo>
                      <a:cubicBezTo>
                        <a:pt x="60" y="0"/>
                        <a:pt x="91" y="29"/>
                        <a:pt x="61" y="62"/>
                      </a:cubicBezTo>
                      <a:cubicBezTo>
                        <a:pt x="30" y="95"/>
                        <a:pt x="27" y="104"/>
                        <a:pt x="0" y="8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94" name="Freeform 417">
                  <a:extLst>
                    <a:ext uri="{FF2B5EF4-FFF2-40B4-BE49-F238E27FC236}">
                      <a16:creationId xmlns:a16="http://schemas.microsoft.com/office/drawing/2014/main" id="{BF3EF753-12DB-4E21-A7CD-B8B006E2D4E3}"/>
                    </a:ext>
                  </a:extLst>
                </p:cNvPr>
                <p:cNvSpPr>
                  <a:spLocks/>
                </p:cNvSpPr>
                <p:nvPr/>
              </p:nvSpPr>
              <p:spPr bwMode="auto">
                <a:xfrm>
                  <a:off x="7146926" y="4731388"/>
                  <a:ext cx="130175" cy="147638"/>
                </a:xfrm>
                <a:custGeom>
                  <a:avLst/>
                  <a:gdLst>
                    <a:gd name="T0" fmla="*/ 87 w 87"/>
                    <a:gd name="T1" fmla="*/ 17 h 99"/>
                    <a:gd name="T2" fmla="*/ 31 w 87"/>
                    <a:gd name="T3" fmla="*/ 40 h 99"/>
                    <a:gd name="T4" fmla="*/ 15 w 87"/>
                    <a:gd name="T5" fmla="*/ 99 h 99"/>
                  </a:gdLst>
                  <a:ahLst/>
                  <a:cxnLst>
                    <a:cxn ang="0">
                      <a:pos x="T0" y="T1"/>
                    </a:cxn>
                    <a:cxn ang="0">
                      <a:pos x="T2" y="T3"/>
                    </a:cxn>
                    <a:cxn ang="0">
                      <a:pos x="T4" y="T5"/>
                    </a:cxn>
                  </a:cxnLst>
                  <a:rect l="0" t="0" r="r" b="b"/>
                  <a:pathLst>
                    <a:path w="87" h="99">
                      <a:moveTo>
                        <a:pt x="87" y="17"/>
                      </a:moveTo>
                      <a:cubicBezTo>
                        <a:pt x="87" y="17"/>
                        <a:pt x="63" y="0"/>
                        <a:pt x="31" y="40"/>
                      </a:cubicBezTo>
                      <a:cubicBezTo>
                        <a:pt x="0" y="79"/>
                        <a:pt x="0" y="84"/>
                        <a:pt x="15" y="9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95" name="Freeform 418">
                  <a:extLst>
                    <a:ext uri="{FF2B5EF4-FFF2-40B4-BE49-F238E27FC236}">
                      <a16:creationId xmlns:a16="http://schemas.microsoft.com/office/drawing/2014/main" id="{8BD38ECB-47B0-4D35-993C-6A9C5108B637}"/>
                    </a:ext>
                  </a:extLst>
                </p:cNvPr>
                <p:cNvSpPr>
                  <a:spLocks/>
                </p:cNvSpPr>
                <p:nvPr/>
              </p:nvSpPr>
              <p:spPr bwMode="auto">
                <a:xfrm>
                  <a:off x="6905626" y="4529776"/>
                  <a:ext cx="333375" cy="66675"/>
                </a:xfrm>
                <a:custGeom>
                  <a:avLst/>
                  <a:gdLst>
                    <a:gd name="T0" fmla="*/ 223 w 223"/>
                    <a:gd name="T1" fmla="*/ 44 h 45"/>
                    <a:gd name="T2" fmla="*/ 165 w 223"/>
                    <a:gd name="T3" fmla="*/ 27 h 45"/>
                    <a:gd name="T4" fmla="*/ 0 w 223"/>
                    <a:gd name="T5" fmla="*/ 0 h 45"/>
                  </a:gdLst>
                  <a:ahLst/>
                  <a:cxnLst>
                    <a:cxn ang="0">
                      <a:pos x="T0" y="T1"/>
                    </a:cxn>
                    <a:cxn ang="0">
                      <a:pos x="T2" y="T3"/>
                    </a:cxn>
                    <a:cxn ang="0">
                      <a:pos x="T4" y="T5"/>
                    </a:cxn>
                  </a:cxnLst>
                  <a:rect l="0" t="0" r="r" b="b"/>
                  <a:pathLst>
                    <a:path w="223" h="45">
                      <a:moveTo>
                        <a:pt x="223" y="44"/>
                      </a:moveTo>
                      <a:cubicBezTo>
                        <a:pt x="223" y="44"/>
                        <a:pt x="215" y="23"/>
                        <a:pt x="165" y="27"/>
                      </a:cubicBezTo>
                      <a:cubicBezTo>
                        <a:pt x="115" y="31"/>
                        <a:pt x="75" y="45"/>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96" name="Freeform 419">
                  <a:extLst>
                    <a:ext uri="{FF2B5EF4-FFF2-40B4-BE49-F238E27FC236}">
                      <a16:creationId xmlns:a16="http://schemas.microsoft.com/office/drawing/2014/main" id="{60EAFFF1-74E2-4075-B93D-B08574C0900F}"/>
                    </a:ext>
                  </a:extLst>
                </p:cNvPr>
                <p:cNvSpPr>
                  <a:spLocks/>
                </p:cNvSpPr>
                <p:nvPr/>
              </p:nvSpPr>
              <p:spPr bwMode="auto">
                <a:xfrm>
                  <a:off x="6921501" y="4407538"/>
                  <a:ext cx="93663" cy="166688"/>
                </a:xfrm>
                <a:custGeom>
                  <a:avLst/>
                  <a:gdLst>
                    <a:gd name="T0" fmla="*/ 35 w 62"/>
                    <a:gd name="T1" fmla="*/ 0 h 112"/>
                    <a:gd name="T2" fmla="*/ 39 w 62"/>
                    <a:gd name="T3" fmla="*/ 71 h 112"/>
                    <a:gd name="T4" fmla="*/ 0 w 62"/>
                    <a:gd name="T5" fmla="*/ 87 h 112"/>
                  </a:gdLst>
                  <a:ahLst/>
                  <a:cxnLst>
                    <a:cxn ang="0">
                      <a:pos x="T0" y="T1"/>
                    </a:cxn>
                    <a:cxn ang="0">
                      <a:pos x="T2" y="T3"/>
                    </a:cxn>
                    <a:cxn ang="0">
                      <a:pos x="T4" y="T5"/>
                    </a:cxn>
                  </a:cxnLst>
                  <a:rect l="0" t="0" r="r" b="b"/>
                  <a:pathLst>
                    <a:path w="62" h="112">
                      <a:moveTo>
                        <a:pt x="35" y="0"/>
                      </a:moveTo>
                      <a:cubicBezTo>
                        <a:pt x="35" y="0"/>
                        <a:pt x="62" y="17"/>
                        <a:pt x="39" y="71"/>
                      </a:cubicBezTo>
                      <a:cubicBezTo>
                        <a:pt x="21" y="112"/>
                        <a:pt x="9" y="90"/>
                        <a:pt x="0" y="8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97" name="Freeform 420">
                  <a:extLst>
                    <a:ext uri="{FF2B5EF4-FFF2-40B4-BE49-F238E27FC236}">
                      <a16:creationId xmlns:a16="http://schemas.microsoft.com/office/drawing/2014/main" id="{37764A25-1A37-408C-B3A7-EE0F6A53221A}"/>
                    </a:ext>
                  </a:extLst>
                </p:cNvPr>
                <p:cNvSpPr>
                  <a:spLocks/>
                </p:cNvSpPr>
                <p:nvPr/>
              </p:nvSpPr>
              <p:spPr bwMode="auto">
                <a:xfrm>
                  <a:off x="6972301" y="4434526"/>
                  <a:ext cx="77788" cy="131763"/>
                </a:xfrm>
                <a:custGeom>
                  <a:avLst/>
                  <a:gdLst>
                    <a:gd name="T0" fmla="*/ 52 w 52"/>
                    <a:gd name="T1" fmla="*/ 0 h 87"/>
                    <a:gd name="T2" fmla="*/ 10 w 52"/>
                    <a:gd name="T3" fmla="*/ 36 h 87"/>
                    <a:gd name="T4" fmla="*/ 12 w 52"/>
                    <a:gd name="T5" fmla="*/ 87 h 87"/>
                  </a:gdLst>
                  <a:ahLst/>
                  <a:cxnLst>
                    <a:cxn ang="0">
                      <a:pos x="T0" y="T1"/>
                    </a:cxn>
                    <a:cxn ang="0">
                      <a:pos x="T2" y="T3"/>
                    </a:cxn>
                    <a:cxn ang="0">
                      <a:pos x="T4" y="T5"/>
                    </a:cxn>
                  </a:cxnLst>
                  <a:rect l="0" t="0" r="r" b="b"/>
                  <a:pathLst>
                    <a:path w="52" h="87">
                      <a:moveTo>
                        <a:pt x="52" y="0"/>
                      </a:moveTo>
                      <a:cubicBezTo>
                        <a:pt x="52" y="0"/>
                        <a:pt x="20" y="4"/>
                        <a:pt x="10" y="36"/>
                      </a:cubicBezTo>
                      <a:cubicBezTo>
                        <a:pt x="0" y="68"/>
                        <a:pt x="1" y="81"/>
                        <a:pt x="12" y="8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98" name="Freeform 421">
                  <a:extLst>
                    <a:ext uri="{FF2B5EF4-FFF2-40B4-BE49-F238E27FC236}">
                      <a16:creationId xmlns:a16="http://schemas.microsoft.com/office/drawing/2014/main" id="{BB85F0C8-6173-4851-8550-A97F8DB291E2}"/>
                    </a:ext>
                  </a:extLst>
                </p:cNvPr>
                <p:cNvSpPr>
                  <a:spLocks/>
                </p:cNvSpPr>
                <p:nvPr/>
              </p:nvSpPr>
              <p:spPr bwMode="auto">
                <a:xfrm>
                  <a:off x="7186613" y="4529776"/>
                  <a:ext cx="38100" cy="46038"/>
                </a:xfrm>
                <a:custGeom>
                  <a:avLst/>
                  <a:gdLst>
                    <a:gd name="T0" fmla="*/ 0 w 25"/>
                    <a:gd name="T1" fmla="*/ 26 h 31"/>
                    <a:gd name="T2" fmla="*/ 25 w 25"/>
                    <a:gd name="T3" fmla="*/ 0 h 31"/>
                  </a:gdLst>
                  <a:ahLst/>
                  <a:cxnLst>
                    <a:cxn ang="0">
                      <a:pos x="T0" y="T1"/>
                    </a:cxn>
                    <a:cxn ang="0">
                      <a:pos x="T2" y="T3"/>
                    </a:cxn>
                  </a:cxnLst>
                  <a:rect l="0" t="0" r="r" b="b"/>
                  <a:pathLst>
                    <a:path w="25" h="31">
                      <a:moveTo>
                        <a:pt x="0" y="26"/>
                      </a:moveTo>
                      <a:cubicBezTo>
                        <a:pt x="0" y="26"/>
                        <a:pt x="14" y="31"/>
                        <a:pt x="2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99" name="Freeform 422">
                  <a:extLst>
                    <a:ext uri="{FF2B5EF4-FFF2-40B4-BE49-F238E27FC236}">
                      <a16:creationId xmlns:a16="http://schemas.microsoft.com/office/drawing/2014/main" id="{6A955230-55A7-43CD-B337-21673109CD10}"/>
                    </a:ext>
                  </a:extLst>
                </p:cNvPr>
                <p:cNvSpPr>
                  <a:spLocks/>
                </p:cNvSpPr>
                <p:nvPr/>
              </p:nvSpPr>
              <p:spPr bwMode="auto">
                <a:xfrm>
                  <a:off x="6867526" y="4196401"/>
                  <a:ext cx="61913" cy="282575"/>
                </a:xfrm>
                <a:custGeom>
                  <a:avLst/>
                  <a:gdLst>
                    <a:gd name="T0" fmla="*/ 2 w 41"/>
                    <a:gd name="T1" fmla="*/ 0 h 188"/>
                    <a:gd name="T2" fmla="*/ 0 w 41"/>
                    <a:gd name="T3" fmla="*/ 78 h 188"/>
                    <a:gd name="T4" fmla="*/ 7 w 41"/>
                    <a:gd name="T5" fmla="*/ 188 h 188"/>
                  </a:gdLst>
                  <a:ahLst/>
                  <a:cxnLst>
                    <a:cxn ang="0">
                      <a:pos x="T0" y="T1"/>
                    </a:cxn>
                    <a:cxn ang="0">
                      <a:pos x="T2" y="T3"/>
                    </a:cxn>
                    <a:cxn ang="0">
                      <a:pos x="T4" y="T5"/>
                    </a:cxn>
                  </a:cxnLst>
                  <a:rect l="0" t="0" r="r" b="b"/>
                  <a:pathLst>
                    <a:path w="41" h="188">
                      <a:moveTo>
                        <a:pt x="2" y="0"/>
                      </a:moveTo>
                      <a:cubicBezTo>
                        <a:pt x="2" y="0"/>
                        <a:pt x="41" y="54"/>
                        <a:pt x="0" y="78"/>
                      </a:cubicBezTo>
                      <a:cubicBezTo>
                        <a:pt x="0" y="78"/>
                        <a:pt x="41" y="106"/>
                        <a:pt x="7" y="18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00" name="Freeform 423">
                  <a:extLst>
                    <a:ext uri="{FF2B5EF4-FFF2-40B4-BE49-F238E27FC236}">
                      <a16:creationId xmlns:a16="http://schemas.microsoft.com/office/drawing/2014/main" id="{32ADD220-E37E-44B3-9958-7ED6EBFFB597}"/>
                    </a:ext>
                  </a:extLst>
                </p:cNvPr>
                <p:cNvSpPr>
                  <a:spLocks/>
                </p:cNvSpPr>
                <p:nvPr/>
              </p:nvSpPr>
              <p:spPr bwMode="auto">
                <a:xfrm>
                  <a:off x="7081838" y="4224976"/>
                  <a:ext cx="31750" cy="111125"/>
                </a:xfrm>
                <a:custGeom>
                  <a:avLst/>
                  <a:gdLst>
                    <a:gd name="T0" fmla="*/ 15 w 21"/>
                    <a:gd name="T1" fmla="*/ 0 h 74"/>
                    <a:gd name="T2" fmla="*/ 15 w 21"/>
                    <a:gd name="T3" fmla="*/ 30 h 74"/>
                    <a:gd name="T4" fmla="*/ 10 w 21"/>
                    <a:gd name="T5" fmla="*/ 74 h 74"/>
                  </a:gdLst>
                  <a:ahLst/>
                  <a:cxnLst>
                    <a:cxn ang="0">
                      <a:pos x="T0" y="T1"/>
                    </a:cxn>
                    <a:cxn ang="0">
                      <a:pos x="T2" y="T3"/>
                    </a:cxn>
                    <a:cxn ang="0">
                      <a:pos x="T4" y="T5"/>
                    </a:cxn>
                  </a:cxnLst>
                  <a:rect l="0" t="0" r="r" b="b"/>
                  <a:pathLst>
                    <a:path w="21" h="74">
                      <a:moveTo>
                        <a:pt x="15" y="0"/>
                      </a:moveTo>
                      <a:cubicBezTo>
                        <a:pt x="15" y="0"/>
                        <a:pt x="21" y="18"/>
                        <a:pt x="15" y="30"/>
                      </a:cubicBezTo>
                      <a:cubicBezTo>
                        <a:pt x="9" y="42"/>
                        <a:pt x="0" y="46"/>
                        <a:pt x="10" y="7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01" name="Freeform 424">
                  <a:extLst>
                    <a:ext uri="{FF2B5EF4-FFF2-40B4-BE49-F238E27FC236}">
                      <a16:creationId xmlns:a16="http://schemas.microsoft.com/office/drawing/2014/main" id="{37C4AD27-9894-43F1-939F-749C88C7B3DE}"/>
                    </a:ext>
                  </a:extLst>
                </p:cNvPr>
                <p:cNvSpPr>
                  <a:spLocks/>
                </p:cNvSpPr>
                <p:nvPr/>
              </p:nvSpPr>
              <p:spPr bwMode="auto">
                <a:xfrm>
                  <a:off x="6667501" y="4164651"/>
                  <a:ext cx="25400" cy="25400"/>
                </a:xfrm>
                <a:custGeom>
                  <a:avLst/>
                  <a:gdLst>
                    <a:gd name="T0" fmla="*/ 0 w 18"/>
                    <a:gd name="T1" fmla="*/ 0 h 17"/>
                    <a:gd name="T2" fmla="*/ 18 w 18"/>
                    <a:gd name="T3" fmla="*/ 17 h 17"/>
                  </a:gdLst>
                  <a:ahLst/>
                  <a:cxnLst>
                    <a:cxn ang="0">
                      <a:pos x="T0" y="T1"/>
                    </a:cxn>
                    <a:cxn ang="0">
                      <a:pos x="T2" y="T3"/>
                    </a:cxn>
                  </a:cxnLst>
                  <a:rect l="0" t="0" r="r" b="b"/>
                  <a:pathLst>
                    <a:path w="18" h="17">
                      <a:moveTo>
                        <a:pt x="0" y="0"/>
                      </a:moveTo>
                      <a:cubicBezTo>
                        <a:pt x="0" y="0"/>
                        <a:pt x="9" y="4"/>
                        <a:pt x="18" y="1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02" name="Freeform 425">
                  <a:extLst>
                    <a:ext uri="{FF2B5EF4-FFF2-40B4-BE49-F238E27FC236}">
                      <a16:creationId xmlns:a16="http://schemas.microsoft.com/office/drawing/2014/main" id="{7CA486CE-68C0-48C0-B64C-F3F9A18E7DF9}"/>
                    </a:ext>
                  </a:extLst>
                </p:cNvPr>
                <p:cNvSpPr>
                  <a:spLocks/>
                </p:cNvSpPr>
                <p:nvPr/>
              </p:nvSpPr>
              <p:spPr bwMode="auto">
                <a:xfrm>
                  <a:off x="6505576" y="4177351"/>
                  <a:ext cx="55563" cy="249238"/>
                </a:xfrm>
                <a:custGeom>
                  <a:avLst/>
                  <a:gdLst>
                    <a:gd name="T0" fmla="*/ 0 w 38"/>
                    <a:gd name="T1" fmla="*/ 0 h 166"/>
                    <a:gd name="T2" fmla="*/ 13 w 38"/>
                    <a:gd name="T3" fmla="*/ 43 h 166"/>
                    <a:gd name="T4" fmla="*/ 31 w 38"/>
                    <a:gd name="T5" fmla="*/ 93 h 166"/>
                    <a:gd name="T6" fmla="*/ 29 w 38"/>
                    <a:gd name="T7" fmla="*/ 131 h 166"/>
                    <a:gd name="T8" fmla="*/ 12 w 38"/>
                    <a:gd name="T9" fmla="*/ 166 h 166"/>
                  </a:gdLst>
                  <a:ahLst/>
                  <a:cxnLst>
                    <a:cxn ang="0">
                      <a:pos x="T0" y="T1"/>
                    </a:cxn>
                    <a:cxn ang="0">
                      <a:pos x="T2" y="T3"/>
                    </a:cxn>
                    <a:cxn ang="0">
                      <a:pos x="T4" y="T5"/>
                    </a:cxn>
                    <a:cxn ang="0">
                      <a:pos x="T6" y="T7"/>
                    </a:cxn>
                    <a:cxn ang="0">
                      <a:pos x="T8" y="T9"/>
                    </a:cxn>
                  </a:cxnLst>
                  <a:rect l="0" t="0" r="r" b="b"/>
                  <a:pathLst>
                    <a:path w="38" h="166">
                      <a:moveTo>
                        <a:pt x="0" y="0"/>
                      </a:moveTo>
                      <a:cubicBezTo>
                        <a:pt x="0" y="0"/>
                        <a:pt x="16" y="14"/>
                        <a:pt x="13" y="43"/>
                      </a:cubicBezTo>
                      <a:cubicBezTo>
                        <a:pt x="11" y="72"/>
                        <a:pt x="25" y="71"/>
                        <a:pt x="31" y="93"/>
                      </a:cubicBezTo>
                      <a:cubicBezTo>
                        <a:pt x="38" y="114"/>
                        <a:pt x="34" y="123"/>
                        <a:pt x="29" y="131"/>
                      </a:cubicBezTo>
                      <a:cubicBezTo>
                        <a:pt x="23" y="139"/>
                        <a:pt x="16" y="152"/>
                        <a:pt x="12" y="16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03" name="Freeform 426">
                  <a:extLst>
                    <a:ext uri="{FF2B5EF4-FFF2-40B4-BE49-F238E27FC236}">
                      <a16:creationId xmlns:a16="http://schemas.microsoft.com/office/drawing/2014/main" id="{D5A2B32F-699F-4422-8D24-71499D494A90}"/>
                    </a:ext>
                  </a:extLst>
                </p:cNvPr>
                <p:cNvSpPr>
                  <a:spLocks/>
                </p:cNvSpPr>
                <p:nvPr/>
              </p:nvSpPr>
              <p:spPr bwMode="auto">
                <a:xfrm>
                  <a:off x="6526213" y="4247201"/>
                  <a:ext cx="209550" cy="273050"/>
                </a:xfrm>
                <a:custGeom>
                  <a:avLst/>
                  <a:gdLst>
                    <a:gd name="T0" fmla="*/ 122 w 140"/>
                    <a:gd name="T1" fmla="*/ 0 h 182"/>
                    <a:gd name="T2" fmla="*/ 121 w 140"/>
                    <a:gd name="T3" fmla="*/ 60 h 182"/>
                    <a:gd name="T4" fmla="*/ 136 w 140"/>
                    <a:gd name="T5" fmla="*/ 119 h 182"/>
                    <a:gd name="T6" fmla="*/ 59 w 140"/>
                    <a:gd name="T7" fmla="*/ 177 h 182"/>
                    <a:gd name="T8" fmla="*/ 0 w 140"/>
                    <a:gd name="T9" fmla="*/ 156 h 182"/>
                  </a:gdLst>
                  <a:ahLst/>
                  <a:cxnLst>
                    <a:cxn ang="0">
                      <a:pos x="T0" y="T1"/>
                    </a:cxn>
                    <a:cxn ang="0">
                      <a:pos x="T2" y="T3"/>
                    </a:cxn>
                    <a:cxn ang="0">
                      <a:pos x="T4" y="T5"/>
                    </a:cxn>
                    <a:cxn ang="0">
                      <a:pos x="T6" y="T7"/>
                    </a:cxn>
                    <a:cxn ang="0">
                      <a:pos x="T8" y="T9"/>
                    </a:cxn>
                  </a:cxnLst>
                  <a:rect l="0" t="0" r="r" b="b"/>
                  <a:pathLst>
                    <a:path w="140" h="182">
                      <a:moveTo>
                        <a:pt x="122" y="0"/>
                      </a:moveTo>
                      <a:cubicBezTo>
                        <a:pt x="122" y="0"/>
                        <a:pt x="117" y="44"/>
                        <a:pt x="121" y="60"/>
                      </a:cubicBezTo>
                      <a:cubicBezTo>
                        <a:pt x="125" y="76"/>
                        <a:pt x="140" y="99"/>
                        <a:pt x="136" y="119"/>
                      </a:cubicBezTo>
                      <a:cubicBezTo>
                        <a:pt x="132" y="139"/>
                        <a:pt x="134" y="168"/>
                        <a:pt x="59" y="177"/>
                      </a:cubicBezTo>
                      <a:cubicBezTo>
                        <a:pt x="16" y="182"/>
                        <a:pt x="16" y="177"/>
                        <a:pt x="0" y="15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04" name="Freeform 427">
                  <a:extLst>
                    <a:ext uri="{FF2B5EF4-FFF2-40B4-BE49-F238E27FC236}">
                      <a16:creationId xmlns:a16="http://schemas.microsoft.com/office/drawing/2014/main" id="{A959C4AA-3FD9-40A4-A6BC-BCB9F5E53EBC}"/>
                    </a:ext>
                  </a:extLst>
                </p:cNvPr>
                <p:cNvSpPr>
                  <a:spLocks/>
                </p:cNvSpPr>
                <p:nvPr/>
              </p:nvSpPr>
              <p:spPr bwMode="auto">
                <a:xfrm>
                  <a:off x="6710363" y="4444051"/>
                  <a:ext cx="119063" cy="61913"/>
                </a:xfrm>
                <a:custGeom>
                  <a:avLst/>
                  <a:gdLst>
                    <a:gd name="T0" fmla="*/ 12 w 80"/>
                    <a:gd name="T1" fmla="*/ 0 h 41"/>
                    <a:gd name="T2" fmla="*/ 80 w 80"/>
                    <a:gd name="T3" fmla="*/ 41 h 41"/>
                  </a:gdLst>
                  <a:ahLst/>
                  <a:cxnLst>
                    <a:cxn ang="0">
                      <a:pos x="T0" y="T1"/>
                    </a:cxn>
                    <a:cxn ang="0">
                      <a:pos x="T2" y="T3"/>
                    </a:cxn>
                  </a:cxnLst>
                  <a:rect l="0" t="0" r="r" b="b"/>
                  <a:pathLst>
                    <a:path w="80" h="41">
                      <a:moveTo>
                        <a:pt x="12" y="0"/>
                      </a:moveTo>
                      <a:cubicBezTo>
                        <a:pt x="12" y="0"/>
                        <a:pt x="0" y="36"/>
                        <a:pt x="80" y="4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05" name="Freeform 428">
                  <a:extLst>
                    <a:ext uri="{FF2B5EF4-FFF2-40B4-BE49-F238E27FC236}">
                      <a16:creationId xmlns:a16="http://schemas.microsoft.com/office/drawing/2014/main" id="{4FCD2C48-8900-487E-83B3-D223C01588C8}"/>
                    </a:ext>
                  </a:extLst>
                </p:cNvPr>
                <p:cNvSpPr>
                  <a:spLocks/>
                </p:cNvSpPr>
                <p:nvPr/>
              </p:nvSpPr>
              <p:spPr bwMode="auto">
                <a:xfrm>
                  <a:off x="6764338" y="4490088"/>
                  <a:ext cx="17463" cy="42863"/>
                </a:xfrm>
                <a:custGeom>
                  <a:avLst/>
                  <a:gdLst>
                    <a:gd name="T0" fmla="*/ 0 w 12"/>
                    <a:gd name="T1" fmla="*/ 0 h 28"/>
                    <a:gd name="T2" fmla="*/ 9 w 12"/>
                    <a:gd name="T3" fmla="*/ 28 h 28"/>
                  </a:gdLst>
                  <a:ahLst/>
                  <a:cxnLst>
                    <a:cxn ang="0">
                      <a:pos x="T0" y="T1"/>
                    </a:cxn>
                    <a:cxn ang="0">
                      <a:pos x="T2" y="T3"/>
                    </a:cxn>
                  </a:cxnLst>
                  <a:rect l="0" t="0" r="r" b="b"/>
                  <a:pathLst>
                    <a:path w="12" h="28">
                      <a:moveTo>
                        <a:pt x="0" y="0"/>
                      </a:moveTo>
                      <a:cubicBezTo>
                        <a:pt x="0" y="0"/>
                        <a:pt x="12" y="10"/>
                        <a:pt x="9" y="2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06" name="Freeform 429">
                  <a:extLst>
                    <a:ext uri="{FF2B5EF4-FFF2-40B4-BE49-F238E27FC236}">
                      <a16:creationId xmlns:a16="http://schemas.microsoft.com/office/drawing/2014/main" id="{D20A969D-23B5-4AFA-AC2E-A25533A7630C}"/>
                    </a:ext>
                  </a:extLst>
                </p:cNvPr>
                <p:cNvSpPr>
                  <a:spLocks/>
                </p:cNvSpPr>
                <p:nvPr/>
              </p:nvSpPr>
              <p:spPr bwMode="auto">
                <a:xfrm>
                  <a:off x="6316663" y="4310701"/>
                  <a:ext cx="231775" cy="255588"/>
                </a:xfrm>
                <a:custGeom>
                  <a:avLst/>
                  <a:gdLst>
                    <a:gd name="T0" fmla="*/ 155 w 155"/>
                    <a:gd name="T1" fmla="*/ 132 h 170"/>
                    <a:gd name="T2" fmla="*/ 51 w 155"/>
                    <a:gd name="T3" fmla="*/ 117 h 170"/>
                    <a:gd name="T4" fmla="*/ 33 w 155"/>
                    <a:gd name="T5" fmla="*/ 71 h 170"/>
                    <a:gd name="T6" fmla="*/ 28 w 155"/>
                    <a:gd name="T7" fmla="*/ 46 h 170"/>
                    <a:gd name="T8" fmla="*/ 0 w 155"/>
                    <a:gd name="T9" fmla="*/ 0 h 170"/>
                  </a:gdLst>
                  <a:ahLst/>
                  <a:cxnLst>
                    <a:cxn ang="0">
                      <a:pos x="T0" y="T1"/>
                    </a:cxn>
                    <a:cxn ang="0">
                      <a:pos x="T2" y="T3"/>
                    </a:cxn>
                    <a:cxn ang="0">
                      <a:pos x="T4" y="T5"/>
                    </a:cxn>
                    <a:cxn ang="0">
                      <a:pos x="T6" y="T7"/>
                    </a:cxn>
                    <a:cxn ang="0">
                      <a:pos x="T8" y="T9"/>
                    </a:cxn>
                  </a:cxnLst>
                  <a:rect l="0" t="0" r="r" b="b"/>
                  <a:pathLst>
                    <a:path w="155" h="170">
                      <a:moveTo>
                        <a:pt x="155" y="132"/>
                      </a:moveTo>
                      <a:cubicBezTo>
                        <a:pt x="155" y="132"/>
                        <a:pt x="78" y="170"/>
                        <a:pt x="51" y="117"/>
                      </a:cubicBezTo>
                      <a:cubicBezTo>
                        <a:pt x="24" y="64"/>
                        <a:pt x="37" y="81"/>
                        <a:pt x="33" y="71"/>
                      </a:cubicBezTo>
                      <a:cubicBezTo>
                        <a:pt x="29" y="61"/>
                        <a:pt x="25" y="67"/>
                        <a:pt x="28" y="46"/>
                      </a:cubicBezTo>
                      <a:cubicBezTo>
                        <a:pt x="30" y="24"/>
                        <a:pt x="47" y="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07" name="Freeform 430">
                  <a:extLst>
                    <a:ext uri="{FF2B5EF4-FFF2-40B4-BE49-F238E27FC236}">
                      <a16:creationId xmlns:a16="http://schemas.microsoft.com/office/drawing/2014/main" id="{B2E5C648-BE8D-4EC1-A4C5-ACA7D37780C3}"/>
                    </a:ext>
                  </a:extLst>
                </p:cNvPr>
                <p:cNvSpPr>
                  <a:spLocks/>
                </p:cNvSpPr>
                <p:nvPr/>
              </p:nvSpPr>
              <p:spPr bwMode="auto">
                <a:xfrm>
                  <a:off x="6364288" y="4291651"/>
                  <a:ext cx="36513" cy="36513"/>
                </a:xfrm>
                <a:custGeom>
                  <a:avLst/>
                  <a:gdLst>
                    <a:gd name="T0" fmla="*/ 0 w 25"/>
                    <a:gd name="T1" fmla="*/ 25 h 25"/>
                    <a:gd name="T2" fmla="*/ 25 w 25"/>
                    <a:gd name="T3" fmla="*/ 0 h 25"/>
                  </a:gdLst>
                  <a:ahLst/>
                  <a:cxnLst>
                    <a:cxn ang="0">
                      <a:pos x="T0" y="T1"/>
                    </a:cxn>
                    <a:cxn ang="0">
                      <a:pos x="T2" y="T3"/>
                    </a:cxn>
                  </a:cxnLst>
                  <a:rect l="0" t="0" r="r" b="b"/>
                  <a:pathLst>
                    <a:path w="25" h="25">
                      <a:moveTo>
                        <a:pt x="0" y="25"/>
                      </a:moveTo>
                      <a:cubicBezTo>
                        <a:pt x="0" y="25"/>
                        <a:pt x="1" y="14"/>
                        <a:pt x="2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08" name="Freeform 431">
                  <a:extLst>
                    <a:ext uri="{FF2B5EF4-FFF2-40B4-BE49-F238E27FC236}">
                      <a16:creationId xmlns:a16="http://schemas.microsoft.com/office/drawing/2014/main" id="{F82EB379-7981-4AF4-981F-2F12C908B09B}"/>
                    </a:ext>
                  </a:extLst>
                </p:cNvPr>
                <p:cNvSpPr>
                  <a:spLocks/>
                </p:cNvSpPr>
                <p:nvPr/>
              </p:nvSpPr>
              <p:spPr bwMode="auto">
                <a:xfrm>
                  <a:off x="6342063" y="4207513"/>
                  <a:ext cx="30163" cy="26988"/>
                </a:xfrm>
                <a:custGeom>
                  <a:avLst/>
                  <a:gdLst>
                    <a:gd name="T0" fmla="*/ 0 w 21"/>
                    <a:gd name="T1" fmla="*/ 0 h 18"/>
                    <a:gd name="T2" fmla="*/ 21 w 21"/>
                    <a:gd name="T3" fmla="*/ 18 h 18"/>
                  </a:gdLst>
                  <a:ahLst/>
                  <a:cxnLst>
                    <a:cxn ang="0">
                      <a:pos x="T0" y="T1"/>
                    </a:cxn>
                    <a:cxn ang="0">
                      <a:pos x="T2" y="T3"/>
                    </a:cxn>
                  </a:cxnLst>
                  <a:rect l="0" t="0" r="r" b="b"/>
                  <a:pathLst>
                    <a:path w="21" h="18">
                      <a:moveTo>
                        <a:pt x="0" y="0"/>
                      </a:moveTo>
                      <a:cubicBezTo>
                        <a:pt x="0" y="0"/>
                        <a:pt x="15" y="4"/>
                        <a:pt x="21" y="1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09" name="Freeform 432">
                  <a:extLst>
                    <a:ext uri="{FF2B5EF4-FFF2-40B4-BE49-F238E27FC236}">
                      <a16:creationId xmlns:a16="http://schemas.microsoft.com/office/drawing/2014/main" id="{50D272C2-AC23-4A15-8C94-24FEA7F3641E}"/>
                    </a:ext>
                  </a:extLst>
                </p:cNvPr>
                <p:cNvSpPr>
                  <a:spLocks/>
                </p:cNvSpPr>
                <p:nvPr/>
              </p:nvSpPr>
              <p:spPr bwMode="auto">
                <a:xfrm>
                  <a:off x="6775451" y="4701226"/>
                  <a:ext cx="77788" cy="50800"/>
                </a:xfrm>
                <a:custGeom>
                  <a:avLst/>
                  <a:gdLst>
                    <a:gd name="T0" fmla="*/ 0 w 51"/>
                    <a:gd name="T1" fmla="*/ 24 h 34"/>
                    <a:gd name="T2" fmla="*/ 35 w 51"/>
                    <a:gd name="T3" fmla="*/ 0 h 34"/>
                    <a:gd name="T4" fmla="*/ 51 w 51"/>
                    <a:gd name="T5" fmla="*/ 34 h 34"/>
                  </a:gdLst>
                  <a:ahLst/>
                  <a:cxnLst>
                    <a:cxn ang="0">
                      <a:pos x="T0" y="T1"/>
                    </a:cxn>
                    <a:cxn ang="0">
                      <a:pos x="T2" y="T3"/>
                    </a:cxn>
                    <a:cxn ang="0">
                      <a:pos x="T4" y="T5"/>
                    </a:cxn>
                  </a:cxnLst>
                  <a:rect l="0" t="0" r="r" b="b"/>
                  <a:pathLst>
                    <a:path w="51" h="34">
                      <a:moveTo>
                        <a:pt x="0" y="24"/>
                      </a:moveTo>
                      <a:cubicBezTo>
                        <a:pt x="40" y="20"/>
                        <a:pt x="35" y="0"/>
                        <a:pt x="35" y="0"/>
                      </a:cubicBezTo>
                      <a:cubicBezTo>
                        <a:pt x="35" y="0"/>
                        <a:pt x="28" y="30"/>
                        <a:pt x="51" y="3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10" name="Freeform 433">
                  <a:extLst>
                    <a:ext uri="{FF2B5EF4-FFF2-40B4-BE49-F238E27FC236}">
                      <a16:creationId xmlns:a16="http://schemas.microsoft.com/office/drawing/2014/main" id="{FA8D6AAF-6E80-40FA-87A3-92D9FBA83362}"/>
                    </a:ext>
                  </a:extLst>
                </p:cNvPr>
                <p:cNvSpPr>
                  <a:spLocks/>
                </p:cNvSpPr>
                <p:nvPr/>
              </p:nvSpPr>
              <p:spPr bwMode="auto">
                <a:xfrm>
                  <a:off x="6545263" y="4671063"/>
                  <a:ext cx="90488" cy="55563"/>
                </a:xfrm>
                <a:custGeom>
                  <a:avLst/>
                  <a:gdLst>
                    <a:gd name="T0" fmla="*/ 0 w 60"/>
                    <a:gd name="T1" fmla="*/ 36 h 37"/>
                    <a:gd name="T2" fmla="*/ 27 w 60"/>
                    <a:gd name="T3" fmla="*/ 0 h 37"/>
                    <a:gd name="T4" fmla="*/ 60 w 60"/>
                    <a:gd name="T5" fmla="*/ 37 h 37"/>
                  </a:gdLst>
                  <a:ahLst/>
                  <a:cxnLst>
                    <a:cxn ang="0">
                      <a:pos x="T0" y="T1"/>
                    </a:cxn>
                    <a:cxn ang="0">
                      <a:pos x="T2" y="T3"/>
                    </a:cxn>
                    <a:cxn ang="0">
                      <a:pos x="T4" y="T5"/>
                    </a:cxn>
                  </a:cxnLst>
                  <a:rect l="0" t="0" r="r" b="b"/>
                  <a:pathLst>
                    <a:path w="60" h="37">
                      <a:moveTo>
                        <a:pt x="0" y="36"/>
                      </a:moveTo>
                      <a:cubicBezTo>
                        <a:pt x="35" y="34"/>
                        <a:pt x="27" y="0"/>
                        <a:pt x="27" y="0"/>
                      </a:cubicBezTo>
                      <a:cubicBezTo>
                        <a:pt x="27" y="0"/>
                        <a:pt x="26" y="31"/>
                        <a:pt x="60" y="3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11" name="Freeform 434">
                  <a:extLst>
                    <a:ext uri="{FF2B5EF4-FFF2-40B4-BE49-F238E27FC236}">
                      <a16:creationId xmlns:a16="http://schemas.microsoft.com/office/drawing/2014/main" id="{92B65546-B2BA-4CB1-BD57-8B97C7F92C1F}"/>
                    </a:ext>
                  </a:extLst>
                </p:cNvPr>
                <p:cNvSpPr>
                  <a:spLocks/>
                </p:cNvSpPr>
                <p:nvPr/>
              </p:nvSpPr>
              <p:spPr bwMode="auto">
                <a:xfrm>
                  <a:off x="6172201" y="4353563"/>
                  <a:ext cx="34925" cy="106363"/>
                </a:xfrm>
                <a:custGeom>
                  <a:avLst/>
                  <a:gdLst>
                    <a:gd name="T0" fmla="*/ 23 w 23"/>
                    <a:gd name="T1" fmla="*/ 71 h 71"/>
                    <a:gd name="T2" fmla="*/ 0 w 23"/>
                    <a:gd name="T3" fmla="*/ 0 h 71"/>
                  </a:gdLst>
                  <a:ahLst/>
                  <a:cxnLst>
                    <a:cxn ang="0">
                      <a:pos x="T0" y="T1"/>
                    </a:cxn>
                    <a:cxn ang="0">
                      <a:pos x="T2" y="T3"/>
                    </a:cxn>
                  </a:cxnLst>
                  <a:rect l="0" t="0" r="r" b="b"/>
                  <a:pathLst>
                    <a:path w="23" h="71">
                      <a:moveTo>
                        <a:pt x="23" y="71"/>
                      </a:moveTo>
                      <a:cubicBezTo>
                        <a:pt x="21" y="45"/>
                        <a:pt x="19" y="2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12" name="Freeform 435">
                  <a:extLst>
                    <a:ext uri="{FF2B5EF4-FFF2-40B4-BE49-F238E27FC236}">
                      <a16:creationId xmlns:a16="http://schemas.microsoft.com/office/drawing/2014/main" id="{E06ED4DC-3204-4625-971D-F935E27F365C}"/>
                    </a:ext>
                  </a:extLst>
                </p:cNvPr>
                <p:cNvSpPr>
                  <a:spLocks/>
                </p:cNvSpPr>
                <p:nvPr/>
              </p:nvSpPr>
              <p:spPr bwMode="auto">
                <a:xfrm>
                  <a:off x="6291263" y="4486913"/>
                  <a:ext cx="104775" cy="93663"/>
                </a:xfrm>
                <a:custGeom>
                  <a:avLst/>
                  <a:gdLst>
                    <a:gd name="T0" fmla="*/ 67 w 69"/>
                    <a:gd name="T1" fmla="*/ 0 h 63"/>
                    <a:gd name="T2" fmla="*/ 0 w 69"/>
                    <a:gd name="T3" fmla="*/ 45 h 63"/>
                  </a:gdLst>
                  <a:ahLst/>
                  <a:cxnLst>
                    <a:cxn ang="0">
                      <a:pos x="T0" y="T1"/>
                    </a:cxn>
                    <a:cxn ang="0">
                      <a:pos x="T2" y="T3"/>
                    </a:cxn>
                  </a:cxnLst>
                  <a:rect l="0" t="0" r="r" b="b"/>
                  <a:pathLst>
                    <a:path w="69" h="63">
                      <a:moveTo>
                        <a:pt x="67" y="0"/>
                      </a:moveTo>
                      <a:cubicBezTo>
                        <a:pt x="67" y="0"/>
                        <a:pt x="69" y="63"/>
                        <a:pt x="0" y="4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13" name="Freeform 436">
                  <a:extLst>
                    <a:ext uri="{FF2B5EF4-FFF2-40B4-BE49-F238E27FC236}">
                      <a16:creationId xmlns:a16="http://schemas.microsoft.com/office/drawing/2014/main" id="{29F61369-9FE3-4AB0-8FBF-674AA91A8201}"/>
                    </a:ext>
                  </a:extLst>
                </p:cNvPr>
                <p:cNvSpPr>
                  <a:spLocks/>
                </p:cNvSpPr>
                <p:nvPr/>
              </p:nvSpPr>
              <p:spPr bwMode="auto">
                <a:xfrm>
                  <a:off x="6080126" y="4288476"/>
                  <a:ext cx="20638" cy="69850"/>
                </a:xfrm>
                <a:custGeom>
                  <a:avLst/>
                  <a:gdLst>
                    <a:gd name="T0" fmla="*/ 13 w 13"/>
                    <a:gd name="T1" fmla="*/ 0 h 47"/>
                    <a:gd name="T2" fmla="*/ 0 w 13"/>
                    <a:gd name="T3" fmla="*/ 47 h 47"/>
                  </a:gdLst>
                  <a:ahLst/>
                  <a:cxnLst>
                    <a:cxn ang="0">
                      <a:pos x="T0" y="T1"/>
                    </a:cxn>
                    <a:cxn ang="0">
                      <a:pos x="T2" y="T3"/>
                    </a:cxn>
                  </a:cxnLst>
                  <a:rect l="0" t="0" r="r" b="b"/>
                  <a:pathLst>
                    <a:path w="13" h="47">
                      <a:moveTo>
                        <a:pt x="13" y="0"/>
                      </a:moveTo>
                      <a:cubicBezTo>
                        <a:pt x="13" y="0"/>
                        <a:pt x="0" y="34"/>
                        <a:pt x="0" y="4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14" name="Freeform 437">
                  <a:extLst>
                    <a:ext uri="{FF2B5EF4-FFF2-40B4-BE49-F238E27FC236}">
                      <a16:creationId xmlns:a16="http://schemas.microsoft.com/office/drawing/2014/main" id="{7074A3D3-1978-40E3-BAD4-DEC1AA1893CE}"/>
                    </a:ext>
                  </a:extLst>
                </p:cNvPr>
                <p:cNvSpPr>
                  <a:spLocks/>
                </p:cNvSpPr>
                <p:nvPr/>
              </p:nvSpPr>
              <p:spPr bwMode="auto">
                <a:xfrm>
                  <a:off x="6022976" y="4409126"/>
                  <a:ext cx="274638" cy="187325"/>
                </a:xfrm>
                <a:custGeom>
                  <a:avLst/>
                  <a:gdLst>
                    <a:gd name="T0" fmla="*/ 183 w 183"/>
                    <a:gd name="T1" fmla="*/ 98 h 125"/>
                    <a:gd name="T2" fmla="*/ 142 w 183"/>
                    <a:gd name="T3" fmla="*/ 119 h 125"/>
                    <a:gd name="T4" fmla="*/ 92 w 183"/>
                    <a:gd name="T5" fmla="*/ 93 h 125"/>
                    <a:gd name="T6" fmla="*/ 59 w 183"/>
                    <a:gd name="T7" fmla="*/ 59 h 125"/>
                    <a:gd name="T8" fmla="*/ 49 w 183"/>
                    <a:gd name="T9" fmla="*/ 0 h 125"/>
                    <a:gd name="T10" fmla="*/ 0 w 183"/>
                    <a:gd name="T11" fmla="*/ 30 h 125"/>
                  </a:gdLst>
                  <a:ahLst/>
                  <a:cxnLst>
                    <a:cxn ang="0">
                      <a:pos x="T0" y="T1"/>
                    </a:cxn>
                    <a:cxn ang="0">
                      <a:pos x="T2" y="T3"/>
                    </a:cxn>
                    <a:cxn ang="0">
                      <a:pos x="T4" y="T5"/>
                    </a:cxn>
                    <a:cxn ang="0">
                      <a:pos x="T6" y="T7"/>
                    </a:cxn>
                    <a:cxn ang="0">
                      <a:pos x="T8" y="T9"/>
                    </a:cxn>
                    <a:cxn ang="0">
                      <a:pos x="T10" y="T11"/>
                    </a:cxn>
                  </a:cxnLst>
                  <a:rect l="0" t="0" r="r" b="b"/>
                  <a:pathLst>
                    <a:path w="183" h="125">
                      <a:moveTo>
                        <a:pt x="183" y="98"/>
                      </a:moveTo>
                      <a:cubicBezTo>
                        <a:pt x="180" y="106"/>
                        <a:pt x="174" y="113"/>
                        <a:pt x="142" y="119"/>
                      </a:cubicBezTo>
                      <a:cubicBezTo>
                        <a:pt x="110" y="125"/>
                        <a:pt x="102" y="110"/>
                        <a:pt x="92" y="93"/>
                      </a:cubicBezTo>
                      <a:cubicBezTo>
                        <a:pt x="82" y="76"/>
                        <a:pt x="75" y="80"/>
                        <a:pt x="59" y="59"/>
                      </a:cubicBezTo>
                      <a:cubicBezTo>
                        <a:pt x="42" y="39"/>
                        <a:pt x="49" y="0"/>
                        <a:pt x="49" y="0"/>
                      </a:cubicBezTo>
                      <a:cubicBezTo>
                        <a:pt x="49" y="0"/>
                        <a:pt x="50" y="22"/>
                        <a:pt x="0" y="3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15" name="Freeform 438">
                  <a:extLst>
                    <a:ext uri="{FF2B5EF4-FFF2-40B4-BE49-F238E27FC236}">
                      <a16:creationId xmlns:a16="http://schemas.microsoft.com/office/drawing/2014/main" id="{2DECB10D-16C8-4F75-B9BB-06915DF6CA75}"/>
                    </a:ext>
                  </a:extLst>
                </p:cNvPr>
                <p:cNvSpPr>
                  <a:spLocks/>
                </p:cNvSpPr>
                <p:nvPr/>
              </p:nvSpPr>
              <p:spPr bwMode="auto">
                <a:xfrm>
                  <a:off x="6192838" y="4588513"/>
                  <a:ext cx="42863" cy="34925"/>
                </a:xfrm>
                <a:custGeom>
                  <a:avLst/>
                  <a:gdLst>
                    <a:gd name="T0" fmla="*/ 29 w 29"/>
                    <a:gd name="T1" fmla="*/ 0 h 24"/>
                    <a:gd name="T2" fmla="*/ 0 w 29"/>
                    <a:gd name="T3" fmla="*/ 24 h 24"/>
                  </a:gdLst>
                  <a:ahLst/>
                  <a:cxnLst>
                    <a:cxn ang="0">
                      <a:pos x="T0" y="T1"/>
                    </a:cxn>
                    <a:cxn ang="0">
                      <a:pos x="T2" y="T3"/>
                    </a:cxn>
                  </a:cxnLst>
                  <a:rect l="0" t="0" r="r" b="b"/>
                  <a:pathLst>
                    <a:path w="29" h="24">
                      <a:moveTo>
                        <a:pt x="29" y="0"/>
                      </a:moveTo>
                      <a:cubicBezTo>
                        <a:pt x="29" y="0"/>
                        <a:pt x="7" y="15"/>
                        <a:pt x="0" y="2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16" name="Freeform 439">
                  <a:extLst>
                    <a:ext uri="{FF2B5EF4-FFF2-40B4-BE49-F238E27FC236}">
                      <a16:creationId xmlns:a16="http://schemas.microsoft.com/office/drawing/2014/main" id="{877DE37F-8A80-4928-83F3-DA0B10339124}"/>
                    </a:ext>
                  </a:extLst>
                </p:cNvPr>
                <p:cNvSpPr>
                  <a:spLocks/>
                </p:cNvSpPr>
                <p:nvPr/>
              </p:nvSpPr>
              <p:spPr bwMode="auto">
                <a:xfrm>
                  <a:off x="5926138" y="4402776"/>
                  <a:ext cx="14288" cy="44450"/>
                </a:xfrm>
                <a:custGeom>
                  <a:avLst/>
                  <a:gdLst>
                    <a:gd name="T0" fmla="*/ 0 w 10"/>
                    <a:gd name="T1" fmla="*/ 0 h 30"/>
                    <a:gd name="T2" fmla="*/ 10 w 10"/>
                    <a:gd name="T3" fmla="*/ 30 h 30"/>
                  </a:gdLst>
                  <a:ahLst/>
                  <a:cxnLst>
                    <a:cxn ang="0">
                      <a:pos x="T0" y="T1"/>
                    </a:cxn>
                    <a:cxn ang="0">
                      <a:pos x="T2" y="T3"/>
                    </a:cxn>
                  </a:cxnLst>
                  <a:rect l="0" t="0" r="r" b="b"/>
                  <a:pathLst>
                    <a:path w="10" h="30">
                      <a:moveTo>
                        <a:pt x="0" y="0"/>
                      </a:moveTo>
                      <a:cubicBezTo>
                        <a:pt x="0" y="0"/>
                        <a:pt x="5" y="14"/>
                        <a:pt x="10" y="3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17" name="Freeform 440">
                  <a:extLst>
                    <a:ext uri="{FF2B5EF4-FFF2-40B4-BE49-F238E27FC236}">
                      <a16:creationId xmlns:a16="http://schemas.microsoft.com/office/drawing/2014/main" id="{A366355D-5075-462E-B738-B3D4735FF1D4}"/>
                    </a:ext>
                  </a:extLst>
                </p:cNvPr>
                <p:cNvSpPr>
                  <a:spLocks/>
                </p:cNvSpPr>
                <p:nvPr/>
              </p:nvSpPr>
              <p:spPr bwMode="auto">
                <a:xfrm>
                  <a:off x="6059488" y="4648838"/>
                  <a:ext cx="100013" cy="77788"/>
                </a:xfrm>
                <a:custGeom>
                  <a:avLst/>
                  <a:gdLst>
                    <a:gd name="T0" fmla="*/ 67 w 67"/>
                    <a:gd name="T1" fmla="*/ 0 h 52"/>
                    <a:gd name="T2" fmla="*/ 0 w 67"/>
                    <a:gd name="T3" fmla="*/ 18 h 52"/>
                  </a:gdLst>
                  <a:ahLst/>
                  <a:cxnLst>
                    <a:cxn ang="0">
                      <a:pos x="T0" y="T1"/>
                    </a:cxn>
                    <a:cxn ang="0">
                      <a:pos x="T2" y="T3"/>
                    </a:cxn>
                  </a:cxnLst>
                  <a:rect l="0" t="0" r="r" b="b"/>
                  <a:pathLst>
                    <a:path w="67" h="52">
                      <a:moveTo>
                        <a:pt x="67" y="0"/>
                      </a:moveTo>
                      <a:cubicBezTo>
                        <a:pt x="67" y="0"/>
                        <a:pt x="45" y="52"/>
                        <a:pt x="0" y="1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18" name="Freeform 441">
                  <a:extLst>
                    <a:ext uri="{FF2B5EF4-FFF2-40B4-BE49-F238E27FC236}">
                      <a16:creationId xmlns:a16="http://schemas.microsoft.com/office/drawing/2014/main" id="{5445A408-F80A-4ECC-BCE7-870C4A7A23FE}"/>
                    </a:ext>
                  </a:extLst>
                </p:cNvPr>
                <p:cNvSpPr>
                  <a:spLocks/>
                </p:cNvSpPr>
                <p:nvPr/>
              </p:nvSpPr>
              <p:spPr bwMode="auto">
                <a:xfrm>
                  <a:off x="5886451" y="4498026"/>
                  <a:ext cx="139700" cy="152400"/>
                </a:xfrm>
                <a:custGeom>
                  <a:avLst/>
                  <a:gdLst>
                    <a:gd name="T0" fmla="*/ 93 w 93"/>
                    <a:gd name="T1" fmla="*/ 101 h 101"/>
                    <a:gd name="T2" fmla="*/ 68 w 93"/>
                    <a:gd name="T3" fmla="*/ 0 h 101"/>
                    <a:gd name="T4" fmla="*/ 0 w 93"/>
                    <a:gd name="T5" fmla="*/ 33 h 101"/>
                  </a:gdLst>
                  <a:ahLst/>
                  <a:cxnLst>
                    <a:cxn ang="0">
                      <a:pos x="T0" y="T1"/>
                    </a:cxn>
                    <a:cxn ang="0">
                      <a:pos x="T2" y="T3"/>
                    </a:cxn>
                    <a:cxn ang="0">
                      <a:pos x="T4" y="T5"/>
                    </a:cxn>
                  </a:cxnLst>
                  <a:rect l="0" t="0" r="r" b="b"/>
                  <a:pathLst>
                    <a:path w="93" h="101">
                      <a:moveTo>
                        <a:pt x="93" y="101"/>
                      </a:moveTo>
                      <a:cubicBezTo>
                        <a:pt x="38" y="41"/>
                        <a:pt x="68" y="0"/>
                        <a:pt x="68" y="0"/>
                      </a:cubicBezTo>
                      <a:cubicBezTo>
                        <a:pt x="68" y="0"/>
                        <a:pt x="61" y="29"/>
                        <a:pt x="0" y="3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19" name="Freeform 442">
                  <a:extLst>
                    <a:ext uri="{FF2B5EF4-FFF2-40B4-BE49-F238E27FC236}">
                      <a16:creationId xmlns:a16="http://schemas.microsoft.com/office/drawing/2014/main" id="{DFCF08D7-E3E4-4323-8AE8-F60F8FB8C3E2}"/>
                    </a:ext>
                  </a:extLst>
                </p:cNvPr>
                <p:cNvSpPr>
                  <a:spLocks/>
                </p:cNvSpPr>
                <p:nvPr/>
              </p:nvSpPr>
              <p:spPr bwMode="auto">
                <a:xfrm>
                  <a:off x="5919788" y="4532951"/>
                  <a:ext cx="57150" cy="36513"/>
                </a:xfrm>
                <a:custGeom>
                  <a:avLst/>
                  <a:gdLst>
                    <a:gd name="T0" fmla="*/ 38 w 38"/>
                    <a:gd name="T1" fmla="*/ 25 h 25"/>
                    <a:gd name="T2" fmla="*/ 0 w 38"/>
                    <a:gd name="T3" fmla="*/ 6 h 25"/>
                  </a:gdLst>
                  <a:ahLst/>
                  <a:cxnLst>
                    <a:cxn ang="0">
                      <a:pos x="T0" y="T1"/>
                    </a:cxn>
                    <a:cxn ang="0">
                      <a:pos x="T2" y="T3"/>
                    </a:cxn>
                  </a:cxnLst>
                  <a:rect l="0" t="0" r="r" b="b"/>
                  <a:pathLst>
                    <a:path w="38" h="25">
                      <a:moveTo>
                        <a:pt x="38" y="25"/>
                      </a:moveTo>
                      <a:cubicBezTo>
                        <a:pt x="38" y="25"/>
                        <a:pt x="25" y="0"/>
                        <a:pt x="0" y="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20" name="Freeform 443">
                  <a:extLst>
                    <a:ext uri="{FF2B5EF4-FFF2-40B4-BE49-F238E27FC236}">
                      <a16:creationId xmlns:a16="http://schemas.microsoft.com/office/drawing/2014/main" id="{2320C12B-A514-41A9-8759-64C0B0A01E0C}"/>
                    </a:ext>
                  </a:extLst>
                </p:cNvPr>
                <p:cNvSpPr>
                  <a:spLocks/>
                </p:cNvSpPr>
                <p:nvPr/>
              </p:nvSpPr>
              <p:spPr bwMode="auto">
                <a:xfrm>
                  <a:off x="5859463" y="4693288"/>
                  <a:ext cx="246063" cy="146050"/>
                </a:xfrm>
                <a:custGeom>
                  <a:avLst/>
                  <a:gdLst>
                    <a:gd name="T0" fmla="*/ 165 w 165"/>
                    <a:gd name="T1" fmla="*/ 0 h 97"/>
                    <a:gd name="T2" fmla="*/ 92 w 165"/>
                    <a:gd name="T3" fmla="*/ 92 h 97"/>
                    <a:gd name="T4" fmla="*/ 0 w 165"/>
                    <a:gd name="T5" fmla="*/ 89 h 97"/>
                  </a:gdLst>
                  <a:ahLst/>
                  <a:cxnLst>
                    <a:cxn ang="0">
                      <a:pos x="T0" y="T1"/>
                    </a:cxn>
                    <a:cxn ang="0">
                      <a:pos x="T2" y="T3"/>
                    </a:cxn>
                    <a:cxn ang="0">
                      <a:pos x="T4" y="T5"/>
                    </a:cxn>
                  </a:cxnLst>
                  <a:rect l="0" t="0" r="r" b="b"/>
                  <a:pathLst>
                    <a:path w="165" h="97">
                      <a:moveTo>
                        <a:pt x="165" y="0"/>
                      </a:moveTo>
                      <a:cubicBezTo>
                        <a:pt x="165" y="0"/>
                        <a:pt x="144" y="87"/>
                        <a:pt x="92" y="92"/>
                      </a:cubicBezTo>
                      <a:cubicBezTo>
                        <a:pt x="39" y="97"/>
                        <a:pt x="80" y="69"/>
                        <a:pt x="0" y="8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21" name="Freeform 444">
                  <a:extLst>
                    <a:ext uri="{FF2B5EF4-FFF2-40B4-BE49-F238E27FC236}">
                      <a16:creationId xmlns:a16="http://schemas.microsoft.com/office/drawing/2014/main" id="{3976667B-1BB6-408F-8545-A7DE8EF9F881}"/>
                    </a:ext>
                  </a:extLst>
                </p:cNvPr>
                <p:cNvSpPr>
                  <a:spLocks/>
                </p:cNvSpPr>
                <p:nvPr/>
              </p:nvSpPr>
              <p:spPr bwMode="auto">
                <a:xfrm>
                  <a:off x="5840413" y="4688526"/>
                  <a:ext cx="85725" cy="96838"/>
                </a:xfrm>
                <a:custGeom>
                  <a:avLst/>
                  <a:gdLst>
                    <a:gd name="T0" fmla="*/ 57 w 57"/>
                    <a:gd name="T1" fmla="*/ 0 h 65"/>
                    <a:gd name="T2" fmla="*/ 17 w 57"/>
                    <a:gd name="T3" fmla="*/ 31 h 65"/>
                    <a:gd name="T4" fmla="*/ 0 w 57"/>
                    <a:gd name="T5" fmla="*/ 65 h 65"/>
                  </a:gdLst>
                  <a:ahLst/>
                  <a:cxnLst>
                    <a:cxn ang="0">
                      <a:pos x="T0" y="T1"/>
                    </a:cxn>
                    <a:cxn ang="0">
                      <a:pos x="T2" y="T3"/>
                    </a:cxn>
                    <a:cxn ang="0">
                      <a:pos x="T4" y="T5"/>
                    </a:cxn>
                  </a:cxnLst>
                  <a:rect l="0" t="0" r="r" b="b"/>
                  <a:pathLst>
                    <a:path w="57" h="65">
                      <a:moveTo>
                        <a:pt x="57" y="0"/>
                      </a:moveTo>
                      <a:cubicBezTo>
                        <a:pt x="57" y="0"/>
                        <a:pt x="28" y="7"/>
                        <a:pt x="17" y="31"/>
                      </a:cubicBezTo>
                      <a:cubicBezTo>
                        <a:pt x="5" y="55"/>
                        <a:pt x="10" y="57"/>
                        <a:pt x="0" y="6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22" name="Freeform 445">
                  <a:extLst>
                    <a:ext uri="{FF2B5EF4-FFF2-40B4-BE49-F238E27FC236}">
                      <a16:creationId xmlns:a16="http://schemas.microsoft.com/office/drawing/2014/main" id="{156E7BE6-CBA4-4D77-9DC3-DEE10396B7EF}"/>
                    </a:ext>
                  </a:extLst>
                </p:cNvPr>
                <p:cNvSpPr>
                  <a:spLocks/>
                </p:cNvSpPr>
                <p:nvPr/>
              </p:nvSpPr>
              <p:spPr bwMode="auto">
                <a:xfrm>
                  <a:off x="5681663" y="4715513"/>
                  <a:ext cx="144463" cy="190500"/>
                </a:xfrm>
                <a:custGeom>
                  <a:avLst/>
                  <a:gdLst>
                    <a:gd name="T0" fmla="*/ 0 w 96"/>
                    <a:gd name="T1" fmla="*/ 0 h 127"/>
                    <a:gd name="T2" fmla="*/ 96 w 96"/>
                    <a:gd name="T3" fmla="*/ 74 h 127"/>
                  </a:gdLst>
                  <a:ahLst/>
                  <a:cxnLst>
                    <a:cxn ang="0">
                      <a:pos x="T0" y="T1"/>
                    </a:cxn>
                    <a:cxn ang="0">
                      <a:pos x="T2" y="T3"/>
                    </a:cxn>
                  </a:cxnLst>
                  <a:rect l="0" t="0" r="r" b="b"/>
                  <a:pathLst>
                    <a:path w="96" h="127">
                      <a:moveTo>
                        <a:pt x="0" y="0"/>
                      </a:moveTo>
                      <a:cubicBezTo>
                        <a:pt x="0" y="0"/>
                        <a:pt x="37" y="127"/>
                        <a:pt x="96" y="7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23" name="Freeform 446">
                  <a:extLst>
                    <a:ext uri="{FF2B5EF4-FFF2-40B4-BE49-F238E27FC236}">
                      <a16:creationId xmlns:a16="http://schemas.microsoft.com/office/drawing/2014/main" id="{13A05B65-5E86-458D-A393-2D830D513F4A}"/>
                    </a:ext>
                  </a:extLst>
                </p:cNvPr>
                <p:cNvSpPr>
                  <a:spLocks/>
                </p:cNvSpPr>
                <p:nvPr/>
              </p:nvSpPr>
              <p:spPr bwMode="auto">
                <a:xfrm>
                  <a:off x="5778501" y="4848863"/>
                  <a:ext cx="28575" cy="66675"/>
                </a:xfrm>
                <a:custGeom>
                  <a:avLst/>
                  <a:gdLst>
                    <a:gd name="T0" fmla="*/ 0 w 19"/>
                    <a:gd name="T1" fmla="*/ 0 h 44"/>
                    <a:gd name="T2" fmla="*/ 16 w 19"/>
                    <a:gd name="T3" fmla="*/ 44 h 44"/>
                  </a:gdLst>
                  <a:ahLst/>
                  <a:cxnLst>
                    <a:cxn ang="0">
                      <a:pos x="T0" y="T1"/>
                    </a:cxn>
                    <a:cxn ang="0">
                      <a:pos x="T2" y="T3"/>
                    </a:cxn>
                  </a:cxnLst>
                  <a:rect l="0" t="0" r="r" b="b"/>
                  <a:pathLst>
                    <a:path w="19" h="44">
                      <a:moveTo>
                        <a:pt x="0" y="0"/>
                      </a:moveTo>
                      <a:cubicBezTo>
                        <a:pt x="0" y="0"/>
                        <a:pt x="19" y="20"/>
                        <a:pt x="16" y="4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24" name="Freeform 447">
                  <a:extLst>
                    <a:ext uri="{FF2B5EF4-FFF2-40B4-BE49-F238E27FC236}">
                      <a16:creationId xmlns:a16="http://schemas.microsoft.com/office/drawing/2014/main" id="{3480AF9F-762C-439F-B4D3-F4F7923C4057}"/>
                    </a:ext>
                  </a:extLst>
                </p:cNvPr>
                <p:cNvSpPr>
                  <a:spLocks/>
                </p:cNvSpPr>
                <p:nvPr/>
              </p:nvSpPr>
              <p:spPr bwMode="auto">
                <a:xfrm>
                  <a:off x="6013451" y="4825051"/>
                  <a:ext cx="203200" cy="276225"/>
                </a:xfrm>
                <a:custGeom>
                  <a:avLst/>
                  <a:gdLst>
                    <a:gd name="T0" fmla="*/ 3 w 136"/>
                    <a:gd name="T1" fmla="*/ 0 h 184"/>
                    <a:gd name="T2" fmla="*/ 12 w 136"/>
                    <a:gd name="T3" fmla="*/ 40 h 184"/>
                    <a:gd name="T4" fmla="*/ 13 w 136"/>
                    <a:gd name="T5" fmla="*/ 123 h 184"/>
                    <a:gd name="T6" fmla="*/ 70 w 136"/>
                    <a:gd name="T7" fmla="*/ 165 h 184"/>
                    <a:gd name="T8" fmla="*/ 100 w 136"/>
                    <a:gd name="T9" fmla="*/ 179 h 184"/>
                    <a:gd name="T10" fmla="*/ 136 w 136"/>
                    <a:gd name="T11" fmla="*/ 181 h 184"/>
                  </a:gdLst>
                  <a:ahLst/>
                  <a:cxnLst>
                    <a:cxn ang="0">
                      <a:pos x="T0" y="T1"/>
                    </a:cxn>
                    <a:cxn ang="0">
                      <a:pos x="T2" y="T3"/>
                    </a:cxn>
                    <a:cxn ang="0">
                      <a:pos x="T4" y="T5"/>
                    </a:cxn>
                    <a:cxn ang="0">
                      <a:pos x="T6" y="T7"/>
                    </a:cxn>
                    <a:cxn ang="0">
                      <a:pos x="T8" y="T9"/>
                    </a:cxn>
                    <a:cxn ang="0">
                      <a:pos x="T10" y="T11"/>
                    </a:cxn>
                  </a:cxnLst>
                  <a:rect l="0" t="0" r="r" b="b"/>
                  <a:pathLst>
                    <a:path w="136" h="184">
                      <a:moveTo>
                        <a:pt x="3" y="0"/>
                      </a:moveTo>
                      <a:cubicBezTo>
                        <a:pt x="3" y="0"/>
                        <a:pt x="24" y="4"/>
                        <a:pt x="12" y="40"/>
                      </a:cubicBezTo>
                      <a:cubicBezTo>
                        <a:pt x="0" y="76"/>
                        <a:pt x="4" y="111"/>
                        <a:pt x="13" y="123"/>
                      </a:cubicBezTo>
                      <a:cubicBezTo>
                        <a:pt x="22" y="135"/>
                        <a:pt x="21" y="154"/>
                        <a:pt x="70" y="165"/>
                      </a:cubicBezTo>
                      <a:cubicBezTo>
                        <a:pt x="90" y="170"/>
                        <a:pt x="90" y="175"/>
                        <a:pt x="100" y="179"/>
                      </a:cubicBezTo>
                      <a:cubicBezTo>
                        <a:pt x="111" y="184"/>
                        <a:pt x="99" y="184"/>
                        <a:pt x="136" y="18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25" name="Freeform 448">
                  <a:extLst>
                    <a:ext uri="{FF2B5EF4-FFF2-40B4-BE49-F238E27FC236}">
                      <a16:creationId xmlns:a16="http://schemas.microsoft.com/office/drawing/2014/main" id="{530CAAD0-4A1C-49BA-824F-2F83604C4CC3}"/>
                    </a:ext>
                  </a:extLst>
                </p:cNvPr>
                <p:cNvSpPr>
                  <a:spLocks/>
                </p:cNvSpPr>
                <p:nvPr/>
              </p:nvSpPr>
              <p:spPr bwMode="auto">
                <a:xfrm>
                  <a:off x="5873751" y="4964751"/>
                  <a:ext cx="147638" cy="50800"/>
                </a:xfrm>
                <a:custGeom>
                  <a:avLst/>
                  <a:gdLst>
                    <a:gd name="T0" fmla="*/ 99 w 99"/>
                    <a:gd name="T1" fmla="*/ 0 h 34"/>
                    <a:gd name="T2" fmla="*/ 44 w 99"/>
                    <a:gd name="T3" fmla="*/ 25 h 34"/>
                    <a:gd name="T4" fmla="*/ 0 w 99"/>
                    <a:gd name="T5" fmla="*/ 20 h 34"/>
                  </a:gdLst>
                  <a:ahLst/>
                  <a:cxnLst>
                    <a:cxn ang="0">
                      <a:pos x="T0" y="T1"/>
                    </a:cxn>
                    <a:cxn ang="0">
                      <a:pos x="T2" y="T3"/>
                    </a:cxn>
                    <a:cxn ang="0">
                      <a:pos x="T4" y="T5"/>
                    </a:cxn>
                  </a:cxnLst>
                  <a:rect l="0" t="0" r="r" b="b"/>
                  <a:pathLst>
                    <a:path w="99" h="34">
                      <a:moveTo>
                        <a:pt x="99" y="0"/>
                      </a:moveTo>
                      <a:cubicBezTo>
                        <a:pt x="99" y="0"/>
                        <a:pt x="81" y="34"/>
                        <a:pt x="44" y="25"/>
                      </a:cubicBezTo>
                      <a:cubicBezTo>
                        <a:pt x="6" y="17"/>
                        <a:pt x="8" y="19"/>
                        <a:pt x="0" y="2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26" name="Freeform 449">
                  <a:extLst>
                    <a:ext uri="{FF2B5EF4-FFF2-40B4-BE49-F238E27FC236}">
                      <a16:creationId xmlns:a16="http://schemas.microsoft.com/office/drawing/2014/main" id="{CBEAFF22-ED3C-4909-99BC-B29EC47A44F1}"/>
                    </a:ext>
                  </a:extLst>
                </p:cNvPr>
                <p:cNvSpPr>
                  <a:spLocks/>
                </p:cNvSpPr>
                <p:nvPr/>
              </p:nvSpPr>
              <p:spPr bwMode="auto">
                <a:xfrm>
                  <a:off x="5810251" y="4629788"/>
                  <a:ext cx="82550" cy="79375"/>
                </a:xfrm>
                <a:custGeom>
                  <a:avLst/>
                  <a:gdLst>
                    <a:gd name="T0" fmla="*/ 14 w 55"/>
                    <a:gd name="T1" fmla="*/ 0 h 53"/>
                    <a:gd name="T2" fmla="*/ 55 w 55"/>
                    <a:gd name="T3" fmla="*/ 46 h 53"/>
                  </a:gdLst>
                  <a:ahLst/>
                  <a:cxnLst>
                    <a:cxn ang="0">
                      <a:pos x="T0" y="T1"/>
                    </a:cxn>
                    <a:cxn ang="0">
                      <a:pos x="T2" y="T3"/>
                    </a:cxn>
                  </a:cxnLst>
                  <a:rect l="0" t="0" r="r" b="b"/>
                  <a:pathLst>
                    <a:path w="55" h="53">
                      <a:moveTo>
                        <a:pt x="14" y="0"/>
                      </a:moveTo>
                      <a:cubicBezTo>
                        <a:pt x="14" y="0"/>
                        <a:pt x="0" y="53"/>
                        <a:pt x="55" y="4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27" name="Freeform 450">
                  <a:extLst>
                    <a:ext uri="{FF2B5EF4-FFF2-40B4-BE49-F238E27FC236}">
                      <a16:creationId xmlns:a16="http://schemas.microsoft.com/office/drawing/2014/main" id="{D4BF0A99-3123-4AC8-9A4D-87DA69F21D79}"/>
                    </a:ext>
                  </a:extLst>
                </p:cNvPr>
                <p:cNvSpPr>
                  <a:spLocks/>
                </p:cNvSpPr>
                <p:nvPr/>
              </p:nvSpPr>
              <p:spPr bwMode="auto">
                <a:xfrm>
                  <a:off x="5683251" y="4920301"/>
                  <a:ext cx="490538" cy="241300"/>
                </a:xfrm>
                <a:custGeom>
                  <a:avLst/>
                  <a:gdLst>
                    <a:gd name="T0" fmla="*/ 13 w 327"/>
                    <a:gd name="T1" fmla="*/ 0 h 160"/>
                    <a:gd name="T2" fmla="*/ 50 w 327"/>
                    <a:gd name="T3" fmla="*/ 69 h 160"/>
                    <a:gd name="T4" fmla="*/ 80 w 327"/>
                    <a:gd name="T5" fmla="*/ 100 h 160"/>
                    <a:gd name="T6" fmla="*/ 160 w 327"/>
                    <a:gd name="T7" fmla="*/ 141 h 160"/>
                    <a:gd name="T8" fmla="*/ 231 w 327"/>
                    <a:gd name="T9" fmla="*/ 155 h 160"/>
                    <a:gd name="T10" fmla="*/ 327 w 327"/>
                    <a:gd name="T11" fmla="*/ 152 h 160"/>
                  </a:gdLst>
                  <a:ahLst/>
                  <a:cxnLst>
                    <a:cxn ang="0">
                      <a:pos x="T0" y="T1"/>
                    </a:cxn>
                    <a:cxn ang="0">
                      <a:pos x="T2" y="T3"/>
                    </a:cxn>
                    <a:cxn ang="0">
                      <a:pos x="T4" y="T5"/>
                    </a:cxn>
                    <a:cxn ang="0">
                      <a:pos x="T6" y="T7"/>
                    </a:cxn>
                    <a:cxn ang="0">
                      <a:pos x="T8" y="T9"/>
                    </a:cxn>
                    <a:cxn ang="0">
                      <a:pos x="T10" y="T11"/>
                    </a:cxn>
                  </a:cxnLst>
                  <a:rect l="0" t="0" r="r" b="b"/>
                  <a:pathLst>
                    <a:path w="327" h="160">
                      <a:moveTo>
                        <a:pt x="13" y="0"/>
                      </a:moveTo>
                      <a:cubicBezTo>
                        <a:pt x="13" y="0"/>
                        <a:pt x="0" y="36"/>
                        <a:pt x="50" y="69"/>
                      </a:cubicBezTo>
                      <a:cubicBezTo>
                        <a:pt x="83" y="90"/>
                        <a:pt x="78" y="96"/>
                        <a:pt x="80" y="100"/>
                      </a:cubicBezTo>
                      <a:cubicBezTo>
                        <a:pt x="81" y="103"/>
                        <a:pt x="91" y="130"/>
                        <a:pt x="160" y="141"/>
                      </a:cubicBezTo>
                      <a:cubicBezTo>
                        <a:pt x="229" y="152"/>
                        <a:pt x="209" y="150"/>
                        <a:pt x="231" y="155"/>
                      </a:cubicBezTo>
                      <a:cubicBezTo>
                        <a:pt x="252" y="160"/>
                        <a:pt x="276" y="159"/>
                        <a:pt x="327" y="15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28" name="Freeform 451">
                  <a:extLst>
                    <a:ext uri="{FF2B5EF4-FFF2-40B4-BE49-F238E27FC236}">
                      <a16:creationId xmlns:a16="http://schemas.microsoft.com/office/drawing/2014/main" id="{B87E41E3-4DF9-4FE4-9A02-8176F78AE45D}"/>
                    </a:ext>
                  </a:extLst>
                </p:cNvPr>
                <p:cNvSpPr>
                  <a:spLocks/>
                </p:cNvSpPr>
                <p:nvPr/>
              </p:nvSpPr>
              <p:spPr bwMode="auto">
                <a:xfrm>
                  <a:off x="6337301" y="5136201"/>
                  <a:ext cx="87313" cy="85725"/>
                </a:xfrm>
                <a:custGeom>
                  <a:avLst/>
                  <a:gdLst>
                    <a:gd name="T0" fmla="*/ 0 w 59"/>
                    <a:gd name="T1" fmla="*/ 0 h 58"/>
                    <a:gd name="T2" fmla="*/ 18 w 59"/>
                    <a:gd name="T3" fmla="*/ 58 h 58"/>
                  </a:gdLst>
                  <a:ahLst/>
                  <a:cxnLst>
                    <a:cxn ang="0">
                      <a:pos x="T0" y="T1"/>
                    </a:cxn>
                    <a:cxn ang="0">
                      <a:pos x="T2" y="T3"/>
                    </a:cxn>
                  </a:cxnLst>
                  <a:rect l="0" t="0" r="r" b="b"/>
                  <a:pathLst>
                    <a:path w="59" h="58">
                      <a:moveTo>
                        <a:pt x="0" y="0"/>
                      </a:moveTo>
                      <a:cubicBezTo>
                        <a:pt x="0" y="0"/>
                        <a:pt x="59" y="12"/>
                        <a:pt x="18" y="5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29" name="Freeform 453">
                  <a:extLst>
                    <a:ext uri="{FF2B5EF4-FFF2-40B4-BE49-F238E27FC236}">
                      <a16:creationId xmlns:a16="http://schemas.microsoft.com/office/drawing/2014/main" id="{6D5AF1A0-1959-41C5-A82B-C33E2EFBBF38}"/>
                    </a:ext>
                  </a:extLst>
                </p:cNvPr>
                <p:cNvSpPr>
                  <a:spLocks/>
                </p:cNvSpPr>
                <p:nvPr/>
              </p:nvSpPr>
              <p:spPr bwMode="auto">
                <a:xfrm>
                  <a:off x="5764213" y="5212401"/>
                  <a:ext cx="88900" cy="34925"/>
                </a:xfrm>
                <a:custGeom>
                  <a:avLst/>
                  <a:gdLst>
                    <a:gd name="T0" fmla="*/ 59 w 59"/>
                    <a:gd name="T1" fmla="*/ 0 h 24"/>
                    <a:gd name="T2" fmla="*/ 38 w 59"/>
                    <a:gd name="T3" fmla="*/ 12 h 24"/>
                    <a:gd name="T4" fmla="*/ 0 w 59"/>
                    <a:gd name="T5" fmla="*/ 21 h 24"/>
                  </a:gdLst>
                  <a:ahLst/>
                  <a:cxnLst>
                    <a:cxn ang="0">
                      <a:pos x="T0" y="T1"/>
                    </a:cxn>
                    <a:cxn ang="0">
                      <a:pos x="T2" y="T3"/>
                    </a:cxn>
                    <a:cxn ang="0">
                      <a:pos x="T4" y="T5"/>
                    </a:cxn>
                  </a:cxnLst>
                  <a:rect l="0" t="0" r="r" b="b"/>
                  <a:pathLst>
                    <a:path w="59" h="24">
                      <a:moveTo>
                        <a:pt x="59" y="0"/>
                      </a:moveTo>
                      <a:cubicBezTo>
                        <a:pt x="59" y="0"/>
                        <a:pt x="42" y="7"/>
                        <a:pt x="38" y="12"/>
                      </a:cubicBezTo>
                      <a:cubicBezTo>
                        <a:pt x="35" y="17"/>
                        <a:pt x="40" y="24"/>
                        <a:pt x="0" y="2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30" name="Freeform 454">
                  <a:extLst>
                    <a:ext uri="{FF2B5EF4-FFF2-40B4-BE49-F238E27FC236}">
                      <a16:creationId xmlns:a16="http://schemas.microsoft.com/office/drawing/2014/main" id="{7E428C11-F76D-4FA4-A34B-5D82D0F8508C}"/>
                    </a:ext>
                  </a:extLst>
                </p:cNvPr>
                <p:cNvSpPr>
                  <a:spLocks/>
                </p:cNvSpPr>
                <p:nvPr/>
              </p:nvSpPr>
              <p:spPr bwMode="auto">
                <a:xfrm>
                  <a:off x="5910263" y="5244151"/>
                  <a:ext cx="379413" cy="60325"/>
                </a:xfrm>
                <a:custGeom>
                  <a:avLst/>
                  <a:gdLst>
                    <a:gd name="T0" fmla="*/ 254 w 254"/>
                    <a:gd name="T1" fmla="*/ 16 h 41"/>
                    <a:gd name="T2" fmla="*/ 191 w 254"/>
                    <a:gd name="T3" fmla="*/ 32 h 41"/>
                    <a:gd name="T4" fmla="*/ 125 w 254"/>
                    <a:gd name="T5" fmla="*/ 22 h 41"/>
                    <a:gd name="T6" fmla="*/ 77 w 254"/>
                    <a:gd name="T7" fmla="*/ 27 h 41"/>
                    <a:gd name="T8" fmla="*/ 0 w 254"/>
                    <a:gd name="T9" fmla="*/ 0 h 41"/>
                    <a:gd name="T10" fmla="*/ 5 w 254"/>
                    <a:gd name="T11" fmla="*/ 26 h 41"/>
                  </a:gdLst>
                  <a:ahLst/>
                  <a:cxnLst>
                    <a:cxn ang="0">
                      <a:pos x="T0" y="T1"/>
                    </a:cxn>
                    <a:cxn ang="0">
                      <a:pos x="T2" y="T3"/>
                    </a:cxn>
                    <a:cxn ang="0">
                      <a:pos x="T4" y="T5"/>
                    </a:cxn>
                    <a:cxn ang="0">
                      <a:pos x="T6" y="T7"/>
                    </a:cxn>
                    <a:cxn ang="0">
                      <a:pos x="T8" y="T9"/>
                    </a:cxn>
                    <a:cxn ang="0">
                      <a:pos x="T10" y="T11"/>
                    </a:cxn>
                  </a:cxnLst>
                  <a:rect l="0" t="0" r="r" b="b"/>
                  <a:pathLst>
                    <a:path w="254" h="41">
                      <a:moveTo>
                        <a:pt x="254" y="16"/>
                      </a:moveTo>
                      <a:cubicBezTo>
                        <a:pt x="254" y="16"/>
                        <a:pt x="239" y="37"/>
                        <a:pt x="191" y="32"/>
                      </a:cubicBezTo>
                      <a:cubicBezTo>
                        <a:pt x="144" y="27"/>
                        <a:pt x="141" y="26"/>
                        <a:pt x="125" y="22"/>
                      </a:cubicBezTo>
                      <a:cubicBezTo>
                        <a:pt x="108" y="18"/>
                        <a:pt x="95" y="25"/>
                        <a:pt x="77" y="27"/>
                      </a:cubicBezTo>
                      <a:cubicBezTo>
                        <a:pt x="59" y="29"/>
                        <a:pt x="27" y="41"/>
                        <a:pt x="0" y="0"/>
                      </a:cubicBezTo>
                      <a:cubicBezTo>
                        <a:pt x="0" y="0"/>
                        <a:pt x="8" y="17"/>
                        <a:pt x="5" y="2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31" name="Freeform 455">
                  <a:extLst>
                    <a:ext uri="{FF2B5EF4-FFF2-40B4-BE49-F238E27FC236}">
                      <a16:creationId xmlns:a16="http://schemas.microsoft.com/office/drawing/2014/main" id="{2FE5D556-DDAE-4D8E-B25C-0CDB776C8C8C}"/>
                    </a:ext>
                  </a:extLst>
                </p:cNvPr>
                <p:cNvSpPr>
                  <a:spLocks/>
                </p:cNvSpPr>
                <p:nvPr/>
              </p:nvSpPr>
              <p:spPr bwMode="auto">
                <a:xfrm>
                  <a:off x="6251576" y="5231451"/>
                  <a:ext cx="66675" cy="77788"/>
                </a:xfrm>
                <a:custGeom>
                  <a:avLst/>
                  <a:gdLst>
                    <a:gd name="T0" fmla="*/ 45 w 45"/>
                    <a:gd name="T1" fmla="*/ 0 h 52"/>
                    <a:gd name="T2" fmla="*/ 39 w 45"/>
                    <a:gd name="T3" fmla="*/ 52 h 52"/>
                  </a:gdLst>
                  <a:ahLst/>
                  <a:cxnLst>
                    <a:cxn ang="0">
                      <a:pos x="T0" y="T1"/>
                    </a:cxn>
                    <a:cxn ang="0">
                      <a:pos x="T2" y="T3"/>
                    </a:cxn>
                  </a:cxnLst>
                  <a:rect l="0" t="0" r="r" b="b"/>
                  <a:pathLst>
                    <a:path w="45" h="52">
                      <a:moveTo>
                        <a:pt x="45" y="0"/>
                      </a:moveTo>
                      <a:cubicBezTo>
                        <a:pt x="45" y="0"/>
                        <a:pt x="0" y="29"/>
                        <a:pt x="39" y="5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32" name="Freeform 456">
                  <a:extLst>
                    <a:ext uri="{FF2B5EF4-FFF2-40B4-BE49-F238E27FC236}">
                      <a16:creationId xmlns:a16="http://schemas.microsoft.com/office/drawing/2014/main" id="{062145BA-6FC8-464A-8047-0EE26079122A}"/>
                    </a:ext>
                  </a:extLst>
                </p:cNvPr>
                <p:cNvSpPr>
                  <a:spLocks/>
                </p:cNvSpPr>
                <p:nvPr/>
              </p:nvSpPr>
              <p:spPr bwMode="auto">
                <a:xfrm>
                  <a:off x="6332538" y="4631376"/>
                  <a:ext cx="134938" cy="66675"/>
                </a:xfrm>
                <a:custGeom>
                  <a:avLst/>
                  <a:gdLst>
                    <a:gd name="T0" fmla="*/ 90 w 90"/>
                    <a:gd name="T1" fmla="*/ 0 h 44"/>
                    <a:gd name="T2" fmla="*/ 0 w 90"/>
                    <a:gd name="T3" fmla="*/ 13 h 44"/>
                  </a:gdLst>
                  <a:ahLst/>
                  <a:cxnLst>
                    <a:cxn ang="0">
                      <a:pos x="T0" y="T1"/>
                    </a:cxn>
                    <a:cxn ang="0">
                      <a:pos x="T2" y="T3"/>
                    </a:cxn>
                  </a:cxnLst>
                  <a:rect l="0" t="0" r="r" b="b"/>
                  <a:pathLst>
                    <a:path w="90" h="44">
                      <a:moveTo>
                        <a:pt x="90" y="0"/>
                      </a:moveTo>
                      <a:cubicBezTo>
                        <a:pt x="90" y="0"/>
                        <a:pt x="62" y="44"/>
                        <a:pt x="0" y="1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33" name="Freeform 457">
                  <a:extLst>
                    <a:ext uri="{FF2B5EF4-FFF2-40B4-BE49-F238E27FC236}">
                      <a16:creationId xmlns:a16="http://schemas.microsoft.com/office/drawing/2014/main" id="{287B2228-E17F-448F-AED3-1509ECCCB816}"/>
                    </a:ext>
                  </a:extLst>
                </p:cNvPr>
                <p:cNvSpPr>
                  <a:spLocks/>
                </p:cNvSpPr>
                <p:nvPr/>
              </p:nvSpPr>
              <p:spPr bwMode="auto">
                <a:xfrm>
                  <a:off x="6121401" y="4671063"/>
                  <a:ext cx="263525" cy="114300"/>
                </a:xfrm>
                <a:custGeom>
                  <a:avLst/>
                  <a:gdLst>
                    <a:gd name="T0" fmla="*/ 176 w 176"/>
                    <a:gd name="T1" fmla="*/ 0 h 77"/>
                    <a:gd name="T2" fmla="*/ 91 w 176"/>
                    <a:gd name="T3" fmla="*/ 27 h 77"/>
                    <a:gd name="T4" fmla="*/ 0 w 176"/>
                    <a:gd name="T5" fmla="*/ 75 h 77"/>
                  </a:gdLst>
                  <a:ahLst/>
                  <a:cxnLst>
                    <a:cxn ang="0">
                      <a:pos x="T0" y="T1"/>
                    </a:cxn>
                    <a:cxn ang="0">
                      <a:pos x="T2" y="T3"/>
                    </a:cxn>
                    <a:cxn ang="0">
                      <a:pos x="T4" y="T5"/>
                    </a:cxn>
                  </a:cxnLst>
                  <a:rect l="0" t="0" r="r" b="b"/>
                  <a:pathLst>
                    <a:path w="176" h="77">
                      <a:moveTo>
                        <a:pt x="176" y="0"/>
                      </a:moveTo>
                      <a:cubicBezTo>
                        <a:pt x="176" y="0"/>
                        <a:pt x="109" y="10"/>
                        <a:pt x="91" y="27"/>
                      </a:cubicBezTo>
                      <a:cubicBezTo>
                        <a:pt x="73" y="44"/>
                        <a:pt x="41" y="77"/>
                        <a:pt x="0" y="7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34" name="Freeform 458">
                  <a:extLst>
                    <a:ext uri="{FF2B5EF4-FFF2-40B4-BE49-F238E27FC236}">
                      <a16:creationId xmlns:a16="http://schemas.microsoft.com/office/drawing/2014/main" id="{37A46B41-AE89-4BDF-AEDB-F57E79B4D926}"/>
                    </a:ext>
                  </a:extLst>
                </p:cNvPr>
                <p:cNvSpPr>
                  <a:spLocks/>
                </p:cNvSpPr>
                <p:nvPr/>
              </p:nvSpPr>
              <p:spPr bwMode="auto">
                <a:xfrm>
                  <a:off x="6119813" y="4782188"/>
                  <a:ext cx="34925" cy="111125"/>
                </a:xfrm>
                <a:custGeom>
                  <a:avLst/>
                  <a:gdLst>
                    <a:gd name="T0" fmla="*/ 23 w 23"/>
                    <a:gd name="T1" fmla="*/ 0 h 75"/>
                    <a:gd name="T2" fmla="*/ 5 w 23"/>
                    <a:gd name="T3" fmla="*/ 75 h 75"/>
                  </a:gdLst>
                  <a:ahLst/>
                  <a:cxnLst>
                    <a:cxn ang="0">
                      <a:pos x="T0" y="T1"/>
                    </a:cxn>
                    <a:cxn ang="0">
                      <a:pos x="T2" y="T3"/>
                    </a:cxn>
                  </a:cxnLst>
                  <a:rect l="0" t="0" r="r" b="b"/>
                  <a:pathLst>
                    <a:path w="23" h="75">
                      <a:moveTo>
                        <a:pt x="23" y="0"/>
                      </a:moveTo>
                      <a:cubicBezTo>
                        <a:pt x="23" y="0"/>
                        <a:pt x="0" y="36"/>
                        <a:pt x="5" y="7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35" name="Freeform 460">
                  <a:extLst>
                    <a:ext uri="{FF2B5EF4-FFF2-40B4-BE49-F238E27FC236}">
                      <a16:creationId xmlns:a16="http://schemas.microsoft.com/office/drawing/2014/main" id="{1553926E-F051-4A5B-B487-2A75D9713C40}"/>
                    </a:ext>
                  </a:extLst>
                </p:cNvPr>
                <p:cNvSpPr>
                  <a:spLocks/>
                </p:cNvSpPr>
                <p:nvPr/>
              </p:nvSpPr>
              <p:spPr bwMode="auto">
                <a:xfrm>
                  <a:off x="5859463" y="4702813"/>
                  <a:ext cx="12700" cy="25400"/>
                </a:xfrm>
                <a:custGeom>
                  <a:avLst/>
                  <a:gdLst>
                    <a:gd name="T0" fmla="*/ 0 w 8"/>
                    <a:gd name="T1" fmla="*/ 0 h 17"/>
                    <a:gd name="T2" fmla="*/ 5 w 8"/>
                    <a:gd name="T3" fmla="*/ 17 h 17"/>
                  </a:gdLst>
                  <a:ahLst/>
                  <a:cxnLst>
                    <a:cxn ang="0">
                      <a:pos x="T0" y="T1"/>
                    </a:cxn>
                    <a:cxn ang="0">
                      <a:pos x="T2" y="T3"/>
                    </a:cxn>
                  </a:cxnLst>
                  <a:rect l="0" t="0" r="r" b="b"/>
                  <a:pathLst>
                    <a:path w="8" h="17">
                      <a:moveTo>
                        <a:pt x="0" y="0"/>
                      </a:moveTo>
                      <a:cubicBezTo>
                        <a:pt x="0" y="0"/>
                        <a:pt x="8" y="1"/>
                        <a:pt x="5" y="1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36" name="Freeform: Shape 335">
                  <a:extLst>
                    <a:ext uri="{FF2B5EF4-FFF2-40B4-BE49-F238E27FC236}">
                      <a16:creationId xmlns:a16="http://schemas.microsoft.com/office/drawing/2014/main" id="{A8B1FF73-DC44-440F-8084-BC2C0A97F4AF}"/>
                    </a:ext>
                  </a:extLst>
                </p:cNvPr>
                <p:cNvSpPr/>
                <p:nvPr/>
              </p:nvSpPr>
              <p:spPr>
                <a:xfrm>
                  <a:off x="6442452" y="4917084"/>
                  <a:ext cx="682935" cy="624031"/>
                </a:xfrm>
                <a:custGeom>
                  <a:avLst/>
                  <a:gdLst>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27467 w 695085"/>
                    <a:gd name="connsiteY9" fmla="*/ 290555 h 454927"/>
                    <a:gd name="connsiteX10" fmla="*/ 494129 w 695085"/>
                    <a:gd name="connsiteY10" fmla="*/ 335798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17942 w 695085"/>
                    <a:gd name="connsiteY9" fmla="*/ 273886 h 454927"/>
                    <a:gd name="connsiteX10" fmla="*/ 494129 w 695085"/>
                    <a:gd name="connsiteY10" fmla="*/ 335798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17942 w 695085"/>
                    <a:gd name="connsiteY9" fmla="*/ 273886 h 454927"/>
                    <a:gd name="connsiteX10" fmla="*/ 491748 w 695085"/>
                    <a:gd name="connsiteY10" fmla="*/ 338179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4"/>
                    <a:gd name="connsiteY0" fmla="*/ 235786 h 454927"/>
                    <a:gd name="connsiteX1" fmla="*/ 127417 w 695084"/>
                    <a:gd name="connsiteY1" fmla="*/ 114342 h 454927"/>
                    <a:gd name="connsiteX2" fmla="*/ 236954 w 695084"/>
                    <a:gd name="connsiteY2" fmla="*/ 28617 h 454927"/>
                    <a:gd name="connsiteX3" fmla="*/ 401261 w 695084"/>
                    <a:gd name="connsiteY3" fmla="*/ 42 h 454927"/>
                    <a:gd name="connsiteX4" fmla="*/ 572711 w 695084"/>
                    <a:gd name="connsiteY4" fmla="*/ 33380 h 454927"/>
                    <a:gd name="connsiteX5" fmla="*/ 627479 w 695084"/>
                    <a:gd name="connsiteY5" fmla="*/ 119105 h 454927"/>
                    <a:gd name="connsiteX6" fmla="*/ 677486 w 695084"/>
                    <a:gd name="connsiteY6" fmla="*/ 214355 h 454927"/>
                    <a:gd name="connsiteX7" fmla="*/ 689392 w 695084"/>
                    <a:gd name="connsiteY7" fmla="*/ 269123 h 454927"/>
                    <a:gd name="connsiteX8" fmla="*/ 591761 w 695084"/>
                    <a:gd name="connsiteY8" fmla="*/ 273885 h 454927"/>
                    <a:gd name="connsiteX9" fmla="*/ 517942 w 695084"/>
                    <a:gd name="connsiteY9" fmla="*/ 273886 h 454927"/>
                    <a:gd name="connsiteX10" fmla="*/ 491748 w 695084"/>
                    <a:gd name="connsiteY10" fmla="*/ 338179 h 454927"/>
                    <a:gd name="connsiteX11" fmla="*/ 508417 w 695084"/>
                    <a:gd name="connsiteY11" fmla="*/ 388186 h 454927"/>
                    <a:gd name="connsiteX12" fmla="*/ 384592 w 695084"/>
                    <a:gd name="connsiteY12" fmla="*/ 404855 h 454927"/>
                    <a:gd name="connsiteX13" fmla="*/ 194092 w 695084"/>
                    <a:gd name="connsiteY13" fmla="*/ 416761 h 454927"/>
                    <a:gd name="connsiteX14" fmla="*/ 67886 w 695084"/>
                    <a:gd name="connsiteY14" fmla="*/ 454861 h 454927"/>
                    <a:gd name="connsiteX15" fmla="*/ 1211 w 695084"/>
                    <a:gd name="connsiteY15" fmla="*/ 423905 h 454927"/>
                    <a:gd name="connsiteX16" fmla="*/ 25023 w 695084"/>
                    <a:gd name="connsiteY16" fmla="*/ 352467 h 454927"/>
                    <a:gd name="connsiteX17" fmla="*/ 27404 w 695084"/>
                    <a:gd name="connsiteY17" fmla="*/ 242930 h 454927"/>
                    <a:gd name="connsiteX18" fmla="*/ 86936 w 695084"/>
                    <a:gd name="connsiteY18" fmla="*/ 235786 h 454927"/>
                    <a:gd name="connsiteX0" fmla="*/ 86936 w 682178"/>
                    <a:gd name="connsiteY0" fmla="*/ 235786 h 454927"/>
                    <a:gd name="connsiteX1" fmla="*/ 127417 w 682178"/>
                    <a:gd name="connsiteY1" fmla="*/ 114342 h 454927"/>
                    <a:gd name="connsiteX2" fmla="*/ 236954 w 682178"/>
                    <a:gd name="connsiteY2" fmla="*/ 28617 h 454927"/>
                    <a:gd name="connsiteX3" fmla="*/ 401261 w 682178"/>
                    <a:gd name="connsiteY3" fmla="*/ 42 h 454927"/>
                    <a:gd name="connsiteX4" fmla="*/ 572711 w 682178"/>
                    <a:gd name="connsiteY4" fmla="*/ 33380 h 454927"/>
                    <a:gd name="connsiteX5" fmla="*/ 627479 w 682178"/>
                    <a:gd name="connsiteY5" fmla="*/ 119105 h 454927"/>
                    <a:gd name="connsiteX6" fmla="*/ 677486 w 682178"/>
                    <a:gd name="connsiteY6" fmla="*/ 214355 h 454927"/>
                    <a:gd name="connsiteX7" fmla="*/ 670342 w 682178"/>
                    <a:gd name="connsiteY7" fmla="*/ 285792 h 454927"/>
                    <a:gd name="connsiteX8" fmla="*/ 591761 w 682178"/>
                    <a:gd name="connsiteY8" fmla="*/ 273885 h 454927"/>
                    <a:gd name="connsiteX9" fmla="*/ 517942 w 682178"/>
                    <a:gd name="connsiteY9" fmla="*/ 273886 h 454927"/>
                    <a:gd name="connsiteX10" fmla="*/ 491748 w 682178"/>
                    <a:gd name="connsiteY10" fmla="*/ 338179 h 454927"/>
                    <a:gd name="connsiteX11" fmla="*/ 508417 w 682178"/>
                    <a:gd name="connsiteY11" fmla="*/ 388186 h 454927"/>
                    <a:gd name="connsiteX12" fmla="*/ 384592 w 682178"/>
                    <a:gd name="connsiteY12" fmla="*/ 404855 h 454927"/>
                    <a:gd name="connsiteX13" fmla="*/ 194092 w 682178"/>
                    <a:gd name="connsiteY13" fmla="*/ 416761 h 454927"/>
                    <a:gd name="connsiteX14" fmla="*/ 67886 w 682178"/>
                    <a:gd name="connsiteY14" fmla="*/ 454861 h 454927"/>
                    <a:gd name="connsiteX15" fmla="*/ 1211 w 682178"/>
                    <a:gd name="connsiteY15" fmla="*/ 423905 h 454927"/>
                    <a:gd name="connsiteX16" fmla="*/ 25023 w 682178"/>
                    <a:gd name="connsiteY16" fmla="*/ 352467 h 454927"/>
                    <a:gd name="connsiteX17" fmla="*/ 27404 w 682178"/>
                    <a:gd name="connsiteY17" fmla="*/ 242930 h 454927"/>
                    <a:gd name="connsiteX18" fmla="*/ 86936 w 682178"/>
                    <a:gd name="connsiteY18" fmla="*/ 235786 h 454927"/>
                    <a:gd name="connsiteX0" fmla="*/ 86936 w 682935"/>
                    <a:gd name="connsiteY0" fmla="*/ 235786 h 454927"/>
                    <a:gd name="connsiteX1" fmla="*/ 127417 w 682935"/>
                    <a:gd name="connsiteY1" fmla="*/ 114342 h 454927"/>
                    <a:gd name="connsiteX2" fmla="*/ 236954 w 682935"/>
                    <a:gd name="connsiteY2" fmla="*/ 28617 h 454927"/>
                    <a:gd name="connsiteX3" fmla="*/ 401261 w 682935"/>
                    <a:gd name="connsiteY3" fmla="*/ 42 h 454927"/>
                    <a:gd name="connsiteX4" fmla="*/ 572711 w 682935"/>
                    <a:gd name="connsiteY4" fmla="*/ 33380 h 454927"/>
                    <a:gd name="connsiteX5" fmla="*/ 627479 w 682935"/>
                    <a:gd name="connsiteY5" fmla="*/ 119105 h 454927"/>
                    <a:gd name="connsiteX6" fmla="*/ 677486 w 682935"/>
                    <a:gd name="connsiteY6" fmla="*/ 214355 h 454927"/>
                    <a:gd name="connsiteX7" fmla="*/ 670342 w 682935"/>
                    <a:gd name="connsiteY7" fmla="*/ 285792 h 454927"/>
                    <a:gd name="connsiteX8" fmla="*/ 577473 w 682935"/>
                    <a:gd name="connsiteY8" fmla="*/ 264360 h 454927"/>
                    <a:gd name="connsiteX9" fmla="*/ 517942 w 682935"/>
                    <a:gd name="connsiteY9" fmla="*/ 273886 h 454927"/>
                    <a:gd name="connsiteX10" fmla="*/ 491748 w 682935"/>
                    <a:gd name="connsiteY10" fmla="*/ 338179 h 454927"/>
                    <a:gd name="connsiteX11" fmla="*/ 508417 w 682935"/>
                    <a:gd name="connsiteY11" fmla="*/ 388186 h 454927"/>
                    <a:gd name="connsiteX12" fmla="*/ 384592 w 682935"/>
                    <a:gd name="connsiteY12" fmla="*/ 404855 h 454927"/>
                    <a:gd name="connsiteX13" fmla="*/ 194092 w 682935"/>
                    <a:gd name="connsiteY13" fmla="*/ 416761 h 454927"/>
                    <a:gd name="connsiteX14" fmla="*/ 67886 w 682935"/>
                    <a:gd name="connsiteY14" fmla="*/ 454861 h 454927"/>
                    <a:gd name="connsiteX15" fmla="*/ 1211 w 682935"/>
                    <a:gd name="connsiteY15" fmla="*/ 423905 h 454927"/>
                    <a:gd name="connsiteX16" fmla="*/ 25023 w 682935"/>
                    <a:gd name="connsiteY16" fmla="*/ 352467 h 454927"/>
                    <a:gd name="connsiteX17" fmla="*/ 27404 w 682935"/>
                    <a:gd name="connsiteY17" fmla="*/ 242930 h 454927"/>
                    <a:gd name="connsiteX18" fmla="*/ 86936 w 682935"/>
                    <a:gd name="connsiteY18" fmla="*/ 235786 h 454927"/>
                    <a:gd name="connsiteX0" fmla="*/ 86936 w 682935"/>
                    <a:gd name="connsiteY0" fmla="*/ 235786 h 454927"/>
                    <a:gd name="connsiteX1" fmla="*/ 127417 w 682935"/>
                    <a:gd name="connsiteY1" fmla="*/ 114342 h 454927"/>
                    <a:gd name="connsiteX2" fmla="*/ 236954 w 682935"/>
                    <a:gd name="connsiteY2" fmla="*/ 28617 h 454927"/>
                    <a:gd name="connsiteX3" fmla="*/ 401261 w 682935"/>
                    <a:gd name="connsiteY3" fmla="*/ 42 h 454927"/>
                    <a:gd name="connsiteX4" fmla="*/ 572711 w 682935"/>
                    <a:gd name="connsiteY4" fmla="*/ 33380 h 454927"/>
                    <a:gd name="connsiteX5" fmla="*/ 627479 w 682935"/>
                    <a:gd name="connsiteY5" fmla="*/ 119105 h 454927"/>
                    <a:gd name="connsiteX6" fmla="*/ 677486 w 682935"/>
                    <a:gd name="connsiteY6" fmla="*/ 214355 h 454927"/>
                    <a:gd name="connsiteX7" fmla="*/ 670342 w 682935"/>
                    <a:gd name="connsiteY7" fmla="*/ 285792 h 454927"/>
                    <a:gd name="connsiteX8" fmla="*/ 577473 w 682935"/>
                    <a:gd name="connsiteY8" fmla="*/ 264360 h 454927"/>
                    <a:gd name="connsiteX9" fmla="*/ 517942 w 682935"/>
                    <a:gd name="connsiteY9" fmla="*/ 273886 h 454927"/>
                    <a:gd name="connsiteX10" fmla="*/ 484605 w 682935"/>
                    <a:gd name="connsiteY10" fmla="*/ 333416 h 454927"/>
                    <a:gd name="connsiteX11" fmla="*/ 508417 w 682935"/>
                    <a:gd name="connsiteY11" fmla="*/ 388186 h 454927"/>
                    <a:gd name="connsiteX12" fmla="*/ 384592 w 682935"/>
                    <a:gd name="connsiteY12" fmla="*/ 404855 h 454927"/>
                    <a:gd name="connsiteX13" fmla="*/ 194092 w 682935"/>
                    <a:gd name="connsiteY13" fmla="*/ 416761 h 454927"/>
                    <a:gd name="connsiteX14" fmla="*/ 67886 w 682935"/>
                    <a:gd name="connsiteY14" fmla="*/ 454861 h 454927"/>
                    <a:gd name="connsiteX15" fmla="*/ 1211 w 682935"/>
                    <a:gd name="connsiteY15" fmla="*/ 423905 h 454927"/>
                    <a:gd name="connsiteX16" fmla="*/ 25023 w 682935"/>
                    <a:gd name="connsiteY16" fmla="*/ 352467 h 454927"/>
                    <a:gd name="connsiteX17" fmla="*/ 27404 w 682935"/>
                    <a:gd name="connsiteY17" fmla="*/ 242930 h 454927"/>
                    <a:gd name="connsiteX18" fmla="*/ 86936 w 682935"/>
                    <a:gd name="connsiteY18" fmla="*/ 235786 h 454927"/>
                    <a:gd name="connsiteX0" fmla="*/ 86936 w 682935"/>
                    <a:gd name="connsiteY0" fmla="*/ 235786 h 514451"/>
                    <a:gd name="connsiteX1" fmla="*/ 127417 w 682935"/>
                    <a:gd name="connsiteY1" fmla="*/ 114342 h 514451"/>
                    <a:gd name="connsiteX2" fmla="*/ 236954 w 682935"/>
                    <a:gd name="connsiteY2" fmla="*/ 28617 h 514451"/>
                    <a:gd name="connsiteX3" fmla="*/ 401261 w 682935"/>
                    <a:gd name="connsiteY3" fmla="*/ 42 h 514451"/>
                    <a:gd name="connsiteX4" fmla="*/ 572711 w 682935"/>
                    <a:gd name="connsiteY4" fmla="*/ 33380 h 514451"/>
                    <a:gd name="connsiteX5" fmla="*/ 627479 w 682935"/>
                    <a:gd name="connsiteY5" fmla="*/ 119105 h 514451"/>
                    <a:gd name="connsiteX6" fmla="*/ 677486 w 682935"/>
                    <a:gd name="connsiteY6" fmla="*/ 214355 h 514451"/>
                    <a:gd name="connsiteX7" fmla="*/ 670342 w 682935"/>
                    <a:gd name="connsiteY7" fmla="*/ 285792 h 514451"/>
                    <a:gd name="connsiteX8" fmla="*/ 577473 w 682935"/>
                    <a:gd name="connsiteY8" fmla="*/ 264360 h 514451"/>
                    <a:gd name="connsiteX9" fmla="*/ 517942 w 682935"/>
                    <a:gd name="connsiteY9" fmla="*/ 273886 h 514451"/>
                    <a:gd name="connsiteX10" fmla="*/ 484605 w 682935"/>
                    <a:gd name="connsiteY10" fmla="*/ 333416 h 514451"/>
                    <a:gd name="connsiteX11" fmla="*/ 508417 w 682935"/>
                    <a:gd name="connsiteY11" fmla="*/ 388186 h 514451"/>
                    <a:gd name="connsiteX12" fmla="*/ 529848 w 682935"/>
                    <a:gd name="connsiteY12" fmla="*/ 514392 h 514451"/>
                    <a:gd name="connsiteX13" fmla="*/ 384592 w 682935"/>
                    <a:gd name="connsiteY13" fmla="*/ 404855 h 514451"/>
                    <a:gd name="connsiteX14" fmla="*/ 194092 w 682935"/>
                    <a:gd name="connsiteY14" fmla="*/ 416761 h 514451"/>
                    <a:gd name="connsiteX15" fmla="*/ 67886 w 682935"/>
                    <a:gd name="connsiteY15" fmla="*/ 454861 h 514451"/>
                    <a:gd name="connsiteX16" fmla="*/ 1211 w 682935"/>
                    <a:gd name="connsiteY16" fmla="*/ 423905 h 514451"/>
                    <a:gd name="connsiteX17" fmla="*/ 25023 w 682935"/>
                    <a:gd name="connsiteY17" fmla="*/ 352467 h 514451"/>
                    <a:gd name="connsiteX18" fmla="*/ 27404 w 682935"/>
                    <a:gd name="connsiteY18" fmla="*/ 242930 h 514451"/>
                    <a:gd name="connsiteX19" fmla="*/ 86936 w 682935"/>
                    <a:gd name="connsiteY19" fmla="*/ 235786 h 514451"/>
                    <a:gd name="connsiteX0" fmla="*/ 86936 w 682935"/>
                    <a:gd name="connsiteY0" fmla="*/ 235786 h 540376"/>
                    <a:gd name="connsiteX1" fmla="*/ 127417 w 682935"/>
                    <a:gd name="connsiteY1" fmla="*/ 114342 h 540376"/>
                    <a:gd name="connsiteX2" fmla="*/ 236954 w 682935"/>
                    <a:gd name="connsiteY2" fmla="*/ 28617 h 540376"/>
                    <a:gd name="connsiteX3" fmla="*/ 401261 w 682935"/>
                    <a:gd name="connsiteY3" fmla="*/ 42 h 540376"/>
                    <a:gd name="connsiteX4" fmla="*/ 572711 w 682935"/>
                    <a:gd name="connsiteY4" fmla="*/ 33380 h 540376"/>
                    <a:gd name="connsiteX5" fmla="*/ 627479 w 682935"/>
                    <a:gd name="connsiteY5" fmla="*/ 119105 h 540376"/>
                    <a:gd name="connsiteX6" fmla="*/ 677486 w 682935"/>
                    <a:gd name="connsiteY6" fmla="*/ 214355 h 540376"/>
                    <a:gd name="connsiteX7" fmla="*/ 670342 w 682935"/>
                    <a:gd name="connsiteY7" fmla="*/ 285792 h 540376"/>
                    <a:gd name="connsiteX8" fmla="*/ 577473 w 682935"/>
                    <a:gd name="connsiteY8" fmla="*/ 264360 h 540376"/>
                    <a:gd name="connsiteX9" fmla="*/ 517942 w 682935"/>
                    <a:gd name="connsiteY9" fmla="*/ 273886 h 540376"/>
                    <a:gd name="connsiteX10" fmla="*/ 484605 w 682935"/>
                    <a:gd name="connsiteY10" fmla="*/ 333416 h 540376"/>
                    <a:gd name="connsiteX11" fmla="*/ 508417 w 682935"/>
                    <a:gd name="connsiteY11" fmla="*/ 388186 h 540376"/>
                    <a:gd name="connsiteX12" fmla="*/ 529848 w 682935"/>
                    <a:gd name="connsiteY12" fmla="*/ 514392 h 540376"/>
                    <a:gd name="connsiteX13" fmla="*/ 470317 w 682935"/>
                    <a:gd name="connsiteY13" fmla="*/ 533442 h 540376"/>
                    <a:gd name="connsiteX14" fmla="*/ 384592 w 682935"/>
                    <a:gd name="connsiteY14" fmla="*/ 404855 h 540376"/>
                    <a:gd name="connsiteX15" fmla="*/ 194092 w 682935"/>
                    <a:gd name="connsiteY15" fmla="*/ 416761 h 540376"/>
                    <a:gd name="connsiteX16" fmla="*/ 67886 w 682935"/>
                    <a:gd name="connsiteY16" fmla="*/ 454861 h 540376"/>
                    <a:gd name="connsiteX17" fmla="*/ 1211 w 682935"/>
                    <a:gd name="connsiteY17" fmla="*/ 423905 h 540376"/>
                    <a:gd name="connsiteX18" fmla="*/ 25023 w 682935"/>
                    <a:gd name="connsiteY18" fmla="*/ 352467 h 540376"/>
                    <a:gd name="connsiteX19" fmla="*/ 27404 w 682935"/>
                    <a:gd name="connsiteY19" fmla="*/ 242930 h 540376"/>
                    <a:gd name="connsiteX20" fmla="*/ 86936 w 682935"/>
                    <a:gd name="connsiteY20" fmla="*/ 235786 h 540376"/>
                    <a:gd name="connsiteX0" fmla="*/ 86936 w 682935"/>
                    <a:gd name="connsiteY0" fmla="*/ 235786 h 624031"/>
                    <a:gd name="connsiteX1" fmla="*/ 127417 w 682935"/>
                    <a:gd name="connsiteY1" fmla="*/ 114342 h 624031"/>
                    <a:gd name="connsiteX2" fmla="*/ 236954 w 682935"/>
                    <a:gd name="connsiteY2" fmla="*/ 28617 h 624031"/>
                    <a:gd name="connsiteX3" fmla="*/ 401261 w 682935"/>
                    <a:gd name="connsiteY3" fmla="*/ 42 h 624031"/>
                    <a:gd name="connsiteX4" fmla="*/ 572711 w 682935"/>
                    <a:gd name="connsiteY4" fmla="*/ 33380 h 624031"/>
                    <a:gd name="connsiteX5" fmla="*/ 627479 w 682935"/>
                    <a:gd name="connsiteY5" fmla="*/ 119105 h 624031"/>
                    <a:gd name="connsiteX6" fmla="*/ 677486 w 682935"/>
                    <a:gd name="connsiteY6" fmla="*/ 214355 h 624031"/>
                    <a:gd name="connsiteX7" fmla="*/ 670342 w 682935"/>
                    <a:gd name="connsiteY7" fmla="*/ 285792 h 624031"/>
                    <a:gd name="connsiteX8" fmla="*/ 577473 w 682935"/>
                    <a:gd name="connsiteY8" fmla="*/ 264360 h 624031"/>
                    <a:gd name="connsiteX9" fmla="*/ 517942 w 682935"/>
                    <a:gd name="connsiteY9" fmla="*/ 273886 h 624031"/>
                    <a:gd name="connsiteX10" fmla="*/ 484605 w 682935"/>
                    <a:gd name="connsiteY10" fmla="*/ 333416 h 624031"/>
                    <a:gd name="connsiteX11" fmla="*/ 508417 w 682935"/>
                    <a:gd name="connsiteY11" fmla="*/ 388186 h 624031"/>
                    <a:gd name="connsiteX12" fmla="*/ 529848 w 682935"/>
                    <a:gd name="connsiteY12" fmla="*/ 514392 h 624031"/>
                    <a:gd name="connsiteX13" fmla="*/ 494129 w 682935"/>
                    <a:gd name="connsiteY13" fmla="*/ 623929 h 624031"/>
                    <a:gd name="connsiteX14" fmla="*/ 470317 w 682935"/>
                    <a:gd name="connsiteY14" fmla="*/ 533442 h 624031"/>
                    <a:gd name="connsiteX15" fmla="*/ 384592 w 682935"/>
                    <a:gd name="connsiteY15" fmla="*/ 404855 h 624031"/>
                    <a:gd name="connsiteX16" fmla="*/ 194092 w 682935"/>
                    <a:gd name="connsiteY16" fmla="*/ 416761 h 624031"/>
                    <a:gd name="connsiteX17" fmla="*/ 67886 w 682935"/>
                    <a:gd name="connsiteY17" fmla="*/ 454861 h 624031"/>
                    <a:gd name="connsiteX18" fmla="*/ 1211 w 682935"/>
                    <a:gd name="connsiteY18" fmla="*/ 423905 h 624031"/>
                    <a:gd name="connsiteX19" fmla="*/ 25023 w 682935"/>
                    <a:gd name="connsiteY19" fmla="*/ 352467 h 624031"/>
                    <a:gd name="connsiteX20" fmla="*/ 27404 w 682935"/>
                    <a:gd name="connsiteY20" fmla="*/ 242930 h 624031"/>
                    <a:gd name="connsiteX21" fmla="*/ 86936 w 682935"/>
                    <a:gd name="connsiteY21" fmla="*/ 235786 h 624031"/>
                    <a:gd name="connsiteX0" fmla="*/ 86936 w 682935"/>
                    <a:gd name="connsiteY0" fmla="*/ 235786 h 624031"/>
                    <a:gd name="connsiteX1" fmla="*/ 127417 w 682935"/>
                    <a:gd name="connsiteY1" fmla="*/ 114342 h 624031"/>
                    <a:gd name="connsiteX2" fmla="*/ 236954 w 682935"/>
                    <a:gd name="connsiteY2" fmla="*/ 28617 h 624031"/>
                    <a:gd name="connsiteX3" fmla="*/ 401261 w 682935"/>
                    <a:gd name="connsiteY3" fmla="*/ 42 h 624031"/>
                    <a:gd name="connsiteX4" fmla="*/ 572711 w 682935"/>
                    <a:gd name="connsiteY4" fmla="*/ 33380 h 624031"/>
                    <a:gd name="connsiteX5" fmla="*/ 627479 w 682935"/>
                    <a:gd name="connsiteY5" fmla="*/ 119105 h 624031"/>
                    <a:gd name="connsiteX6" fmla="*/ 677486 w 682935"/>
                    <a:gd name="connsiteY6" fmla="*/ 214355 h 624031"/>
                    <a:gd name="connsiteX7" fmla="*/ 670342 w 682935"/>
                    <a:gd name="connsiteY7" fmla="*/ 285792 h 624031"/>
                    <a:gd name="connsiteX8" fmla="*/ 577473 w 682935"/>
                    <a:gd name="connsiteY8" fmla="*/ 264360 h 624031"/>
                    <a:gd name="connsiteX9" fmla="*/ 517942 w 682935"/>
                    <a:gd name="connsiteY9" fmla="*/ 273886 h 624031"/>
                    <a:gd name="connsiteX10" fmla="*/ 484605 w 682935"/>
                    <a:gd name="connsiteY10" fmla="*/ 333416 h 624031"/>
                    <a:gd name="connsiteX11" fmla="*/ 508417 w 682935"/>
                    <a:gd name="connsiteY11" fmla="*/ 388186 h 624031"/>
                    <a:gd name="connsiteX12" fmla="*/ 536992 w 682935"/>
                    <a:gd name="connsiteY12" fmla="*/ 585829 h 624031"/>
                    <a:gd name="connsiteX13" fmla="*/ 494129 w 682935"/>
                    <a:gd name="connsiteY13" fmla="*/ 623929 h 624031"/>
                    <a:gd name="connsiteX14" fmla="*/ 470317 w 682935"/>
                    <a:gd name="connsiteY14" fmla="*/ 533442 h 624031"/>
                    <a:gd name="connsiteX15" fmla="*/ 384592 w 682935"/>
                    <a:gd name="connsiteY15" fmla="*/ 404855 h 624031"/>
                    <a:gd name="connsiteX16" fmla="*/ 194092 w 682935"/>
                    <a:gd name="connsiteY16" fmla="*/ 416761 h 624031"/>
                    <a:gd name="connsiteX17" fmla="*/ 67886 w 682935"/>
                    <a:gd name="connsiteY17" fmla="*/ 454861 h 624031"/>
                    <a:gd name="connsiteX18" fmla="*/ 1211 w 682935"/>
                    <a:gd name="connsiteY18" fmla="*/ 423905 h 624031"/>
                    <a:gd name="connsiteX19" fmla="*/ 25023 w 682935"/>
                    <a:gd name="connsiteY19" fmla="*/ 352467 h 624031"/>
                    <a:gd name="connsiteX20" fmla="*/ 27404 w 682935"/>
                    <a:gd name="connsiteY20" fmla="*/ 242930 h 624031"/>
                    <a:gd name="connsiteX21" fmla="*/ 86936 w 682935"/>
                    <a:gd name="connsiteY21" fmla="*/ 235786 h 62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82935" h="624031">
                      <a:moveTo>
                        <a:pt x="86936" y="235786"/>
                      </a:moveTo>
                      <a:cubicBezTo>
                        <a:pt x="103605" y="214355"/>
                        <a:pt x="102414" y="148870"/>
                        <a:pt x="127417" y="114342"/>
                      </a:cubicBezTo>
                      <a:cubicBezTo>
                        <a:pt x="152420" y="79814"/>
                        <a:pt x="191313" y="47667"/>
                        <a:pt x="236954" y="28617"/>
                      </a:cubicBezTo>
                      <a:cubicBezTo>
                        <a:pt x="282595" y="9567"/>
                        <a:pt x="345302" y="-752"/>
                        <a:pt x="401261" y="42"/>
                      </a:cubicBezTo>
                      <a:cubicBezTo>
                        <a:pt x="457221" y="836"/>
                        <a:pt x="535008" y="13536"/>
                        <a:pt x="572711" y="33380"/>
                      </a:cubicBezTo>
                      <a:cubicBezTo>
                        <a:pt x="610414" y="53224"/>
                        <a:pt x="610017" y="88943"/>
                        <a:pt x="627479" y="119105"/>
                      </a:cubicBezTo>
                      <a:cubicBezTo>
                        <a:pt x="644941" y="149267"/>
                        <a:pt x="670342" y="186574"/>
                        <a:pt x="677486" y="214355"/>
                      </a:cubicBezTo>
                      <a:cubicBezTo>
                        <a:pt x="684630" y="242136"/>
                        <a:pt x="687011" y="277458"/>
                        <a:pt x="670342" y="285792"/>
                      </a:cubicBezTo>
                      <a:cubicBezTo>
                        <a:pt x="653673" y="294126"/>
                        <a:pt x="602873" y="266344"/>
                        <a:pt x="577473" y="264360"/>
                      </a:cubicBezTo>
                      <a:cubicBezTo>
                        <a:pt x="552073" y="262376"/>
                        <a:pt x="533420" y="262377"/>
                        <a:pt x="517942" y="273886"/>
                      </a:cubicBezTo>
                      <a:cubicBezTo>
                        <a:pt x="502464" y="285395"/>
                        <a:pt x="486192" y="314366"/>
                        <a:pt x="484605" y="333416"/>
                      </a:cubicBezTo>
                      <a:cubicBezTo>
                        <a:pt x="483018" y="352466"/>
                        <a:pt x="499686" y="346117"/>
                        <a:pt x="508417" y="388186"/>
                      </a:cubicBezTo>
                      <a:cubicBezTo>
                        <a:pt x="517148" y="430255"/>
                        <a:pt x="538976" y="560826"/>
                        <a:pt x="536992" y="585829"/>
                      </a:cubicBezTo>
                      <a:cubicBezTo>
                        <a:pt x="535008" y="610832"/>
                        <a:pt x="504051" y="620754"/>
                        <a:pt x="494129" y="623929"/>
                      </a:cubicBezTo>
                      <a:cubicBezTo>
                        <a:pt x="484207" y="627104"/>
                        <a:pt x="488970" y="555667"/>
                        <a:pt x="470317" y="533442"/>
                      </a:cubicBezTo>
                      <a:cubicBezTo>
                        <a:pt x="451664" y="511217"/>
                        <a:pt x="430630" y="424302"/>
                        <a:pt x="384592" y="404855"/>
                      </a:cubicBezTo>
                      <a:cubicBezTo>
                        <a:pt x="338555" y="385408"/>
                        <a:pt x="246876" y="408427"/>
                        <a:pt x="194092" y="416761"/>
                      </a:cubicBezTo>
                      <a:cubicBezTo>
                        <a:pt x="141308" y="425095"/>
                        <a:pt x="100033" y="453670"/>
                        <a:pt x="67886" y="454861"/>
                      </a:cubicBezTo>
                      <a:cubicBezTo>
                        <a:pt x="35739" y="456052"/>
                        <a:pt x="8355" y="440971"/>
                        <a:pt x="1211" y="423905"/>
                      </a:cubicBezTo>
                      <a:cubicBezTo>
                        <a:pt x="-5933" y="406839"/>
                        <a:pt x="20657" y="382630"/>
                        <a:pt x="25023" y="352467"/>
                      </a:cubicBezTo>
                      <a:cubicBezTo>
                        <a:pt x="29388" y="322305"/>
                        <a:pt x="20260" y="265155"/>
                        <a:pt x="27404" y="242930"/>
                      </a:cubicBezTo>
                      <a:cubicBezTo>
                        <a:pt x="34548" y="220705"/>
                        <a:pt x="70267" y="257217"/>
                        <a:pt x="86936" y="235786"/>
                      </a:cubicBezTo>
                      <a:close/>
                    </a:path>
                  </a:pathLst>
                </a:custGeom>
                <a:gradFill>
                  <a:gsLst>
                    <a:gs pos="39000">
                      <a:srgbClr val="E1A4A0"/>
                    </a:gs>
                    <a:gs pos="0">
                      <a:srgbClr val="D9D9D9"/>
                    </a:gs>
                  </a:gsLst>
                  <a:lin ang="16200000" scaled="1"/>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337" name="Freeform 461">
                  <a:extLst>
                    <a:ext uri="{FF2B5EF4-FFF2-40B4-BE49-F238E27FC236}">
                      <a16:creationId xmlns:a16="http://schemas.microsoft.com/office/drawing/2014/main" id="{1A16452A-8CFC-45AE-AE30-028F1A1ED13F}"/>
                    </a:ext>
                  </a:extLst>
                </p:cNvPr>
                <p:cNvSpPr>
                  <a:spLocks/>
                </p:cNvSpPr>
                <p:nvPr/>
              </p:nvSpPr>
              <p:spPr bwMode="auto">
                <a:xfrm>
                  <a:off x="7051676" y="5133026"/>
                  <a:ext cx="206375" cy="171450"/>
                </a:xfrm>
                <a:custGeom>
                  <a:avLst/>
                  <a:gdLst>
                    <a:gd name="T0" fmla="*/ 106 w 137"/>
                    <a:gd name="T1" fmla="*/ 45 h 115"/>
                    <a:gd name="T2" fmla="*/ 123 w 137"/>
                    <a:gd name="T3" fmla="*/ 99 h 115"/>
                    <a:gd name="T4" fmla="*/ 75 w 137"/>
                    <a:gd name="T5" fmla="*/ 109 h 115"/>
                    <a:gd name="T6" fmla="*/ 48 w 137"/>
                    <a:gd name="T7" fmla="*/ 64 h 115"/>
                    <a:gd name="T8" fmla="*/ 14 w 137"/>
                    <a:gd name="T9" fmla="*/ 61 h 115"/>
                    <a:gd name="T10" fmla="*/ 24 w 137"/>
                    <a:gd name="T11" fmla="*/ 3 h 115"/>
                    <a:gd name="T12" fmla="*/ 106 w 137"/>
                    <a:gd name="T13" fmla="*/ 45 h 115"/>
                  </a:gdLst>
                  <a:ahLst/>
                  <a:cxnLst>
                    <a:cxn ang="0">
                      <a:pos x="T0" y="T1"/>
                    </a:cxn>
                    <a:cxn ang="0">
                      <a:pos x="T2" y="T3"/>
                    </a:cxn>
                    <a:cxn ang="0">
                      <a:pos x="T4" y="T5"/>
                    </a:cxn>
                    <a:cxn ang="0">
                      <a:pos x="T6" y="T7"/>
                    </a:cxn>
                    <a:cxn ang="0">
                      <a:pos x="T8" y="T9"/>
                    </a:cxn>
                    <a:cxn ang="0">
                      <a:pos x="T10" y="T11"/>
                    </a:cxn>
                    <a:cxn ang="0">
                      <a:pos x="T12" y="T13"/>
                    </a:cxn>
                  </a:cxnLst>
                  <a:rect l="0" t="0" r="r" b="b"/>
                  <a:pathLst>
                    <a:path w="137" h="115">
                      <a:moveTo>
                        <a:pt x="106" y="45"/>
                      </a:moveTo>
                      <a:cubicBezTo>
                        <a:pt x="106" y="45"/>
                        <a:pt x="137" y="90"/>
                        <a:pt x="123" y="99"/>
                      </a:cubicBezTo>
                      <a:cubicBezTo>
                        <a:pt x="110" y="109"/>
                        <a:pt x="86" y="115"/>
                        <a:pt x="75" y="109"/>
                      </a:cubicBezTo>
                      <a:cubicBezTo>
                        <a:pt x="65" y="103"/>
                        <a:pt x="64" y="63"/>
                        <a:pt x="48" y="64"/>
                      </a:cubicBezTo>
                      <a:cubicBezTo>
                        <a:pt x="32" y="65"/>
                        <a:pt x="17" y="77"/>
                        <a:pt x="14" y="61"/>
                      </a:cubicBezTo>
                      <a:cubicBezTo>
                        <a:pt x="10" y="45"/>
                        <a:pt x="0" y="3"/>
                        <a:pt x="24" y="3"/>
                      </a:cubicBezTo>
                      <a:cubicBezTo>
                        <a:pt x="48" y="3"/>
                        <a:pt x="86" y="0"/>
                        <a:pt x="106" y="45"/>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38" name="Freeform 462">
                  <a:extLst>
                    <a:ext uri="{FF2B5EF4-FFF2-40B4-BE49-F238E27FC236}">
                      <a16:creationId xmlns:a16="http://schemas.microsoft.com/office/drawing/2014/main" id="{E1097F22-C248-48DD-A6DB-1B23C0DEE535}"/>
                    </a:ext>
                  </a:extLst>
                </p:cNvPr>
                <p:cNvSpPr>
                  <a:spLocks/>
                </p:cNvSpPr>
                <p:nvPr/>
              </p:nvSpPr>
              <p:spPr bwMode="auto">
                <a:xfrm>
                  <a:off x="6138863" y="4718688"/>
                  <a:ext cx="1184275" cy="1638300"/>
                </a:xfrm>
                <a:custGeom>
                  <a:avLst/>
                  <a:gdLst>
                    <a:gd name="T0" fmla="*/ 124 w 790"/>
                    <a:gd name="T1" fmla="*/ 240 h 1093"/>
                    <a:gd name="T2" fmla="*/ 210 w 790"/>
                    <a:gd name="T3" fmla="*/ 287 h 1093"/>
                    <a:gd name="T4" fmla="*/ 198 w 790"/>
                    <a:gd name="T5" fmla="*/ 385 h 1093"/>
                    <a:gd name="T6" fmla="*/ 177 w 790"/>
                    <a:gd name="T7" fmla="*/ 435 h 1093"/>
                    <a:gd name="T8" fmla="*/ 208 w 790"/>
                    <a:gd name="T9" fmla="*/ 443 h 1093"/>
                    <a:gd name="T10" fmla="*/ 225 w 790"/>
                    <a:gd name="T11" fmla="*/ 422 h 1093"/>
                    <a:gd name="T12" fmla="*/ 208 w 790"/>
                    <a:gd name="T13" fmla="*/ 494 h 1093"/>
                    <a:gd name="T14" fmla="*/ 199 w 790"/>
                    <a:gd name="T15" fmla="*/ 530 h 1093"/>
                    <a:gd name="T16" fmla="*/ 228 w 790"/>
                    <a:gd name="T17" fmla="*/ 535 h 1093"/>
                    <a:gd name="T18" fmla="*/ 244 w 790"/>
                    <a:gd name="T19" fmla="*/ 480 h 1093"/>
                    <a:gd name="T20" fmla="*/ 285 w 790"/>
                    <a:gd name="T21" fmla="*/ 435 h 1093"/>
                    <a:gd name="T22" fmla="*/ 324 w 790"/>
                    <a:gd name="T23" fmla="*/ 409 h 1093"/>
                    <a:gd name="T24" fmla="*/ 391 w 790"/>
                    <a:gd name="T25" fmla="*/ 399 h 1093"/>
                    <a:gd name="T26" fmla="*/ 415 w 790"/>
                    <a:gd name="T27" fmla="*/ 489 h 1093"/>
                    <a:gd name="T28" fmla="*/ 350 w 790"/>
                    <a:gd name="T29" fmla="*/ 571 h 1093"/>
                    <a:gd name="T30" fmla="*/ 377 w 790"/>
                    <a:gd name="T31" fmla="*/ 724 h 1093"/>
                    <a:gd name="T32" fmla="*/ 467 w 790"/>
                    <a:gd name="T33" fmla="*/ 765 h 1093"/>
                    <a:gd name="T34" fmla="*/ 519 w 790"/>
                    <a:gd name="T35" fmla="*/ 876 h 1093"/>
                    <a:gd name="T36" fmla="*/ 570 w 790"/>
                    <a:gd name="T37" fmla="*/ 950 h 1093"/>
                    <a:gd name="T38" fmla="*/ 604 w 790"/>
                    <a:gd name="T39" fmla="*/ 1093 h 1093"/>
                    <a:gd name="T40" fmla="*/ 649 w 790"/>
                    <a:gd name="T41" fmla="*/ 1082 h 1093"/>
                    <a:gd name="T42" fmla="*/ 623 w 790"/>
                    <a:gd name="T43" fmla="*/ 944 h 1093"/>
                    <a:gd name="T44" fmla="*/ 585 w 790"/>
                    <a:gd name="T45" fmla="*/ 738 h 1093"/>
                    <a:gd name="T46" fmla="*/ 514 w 790"/>
                    <a:gd name="T47" fmla="*/ 460 h 1093"/>
                    <a:gd name="T48" fmla="*/ 461 w 790"/>
                    <a:gd name="T49" fmla="*/ 382 h 1093"/>
                    <a:gd name="T50" fmla="*/ 358 w 790"/>
                    <a:gd name="T51" fmla="*/ 374 h 1093"/>
                    <a:gd name="T52" fmla="*/ 247 w 790"/>
                    <a:gd name="T53" fmla="*/ 420 h 1093"/>
                    <a:gd name="T54" fmla="*/ 220 w 790"/>
                    <a:gd name="T55" fmla="*/ 401 h 1093"/>
                    <a:gd name="T56" fmla="*/ 239 w 790"/>
                    <a:gd name="T57" fmla="*/ 300 h 1093"/>
                    <a:gd name="T58" fmla="*/ 165 w 790"/>
                    <a:gd name="T59" fmla="*/ 191 h 1093"/>
                    <a:gd name="T60" fmla="*/ 286 w 790"/>
                    <a:gd name="T61" fmla="*/ 107 h 1093"/>
                    <a:gd name="T62" fmla="*/ 464 w 790"/>
                    <a:gd name="T63" fmla="*/ 112 h 1093"/>
                    <a:gd name="T64" fmla="*/ 367 w 790"/>
                    <a:gd name="T65" fmla="*/ 132 h 1093"/>
                    <a:gd name="T66" fmla="*/ 271 w 790"/>
                    <a:gd name="T67" fmla="*/ 221 h 1093"/>
                    <a:gd name="T68" fmla="*/ 274 w 790"/>
                    <a:gd name="T69" fmla="*/ 268 h 1093"/>
                    <a:gd name="T70" fmla="*/ 295 w 790"/>
                    <a:gd name="T71" fmla="*/ 240 h 1093"/>
                    <a:gd name="T72" fmla="*/ 317 w 790"/>
                    <a:gd name="T73" fmla="*/ 197 h 1093"/>
                    <a:gd name="T74" fmla="*/ 457 w 790"/>
                    <a:gd name="T75" fmla="*/ 147 h 1093"/>
                    <a:gd name="T76" fmla="*/ 588 w 790"/>
                    <a:gd name="T77" fmla="*/ 188 h 1093"/>
                    <a:gd name="T78" fmla="*/ 647 w 790"/>
                    <a:gd name="T79" fmla="*/ 297 h 1093"/>
                    <a:gd name="T80" fmla="*/ 736 w 790"/>
                    <a:gd name="T81" fmla="*/ 351 h 1093"/>
                    <a:gd name="T82" fmla="*/ 790 w 790"/>
                    <a:gd name="T83" fmla="*/ 258 h 1093"/>
                    <a:gd name="T84" fmla="*/ 683 w 790"/>
                    <a:gd name="T85" fmla="*/ 107 h 1093"/>
                    <a:gd name="T86" fmla="*/ 307 w 790"/>
                    <a:gd name="T87" fmla="*/ 4 h 1093"/>
                    <a:gd name="T88" fmla="*/ 20 w 790"/>
                    <a:gd name="T89" fmla="*/ 120 h 1093"/>
                    <a:gd name="T90" fmla="*/ 124 w 790"/>
                    <a:gd name="T91" fmla="*/ 24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90" h="1093">
                      <a:moveTo>
                        <a:pt x="124" y="240"/>
                      </a:moveTo>
                      <a:cubicBezTo>
                        <a:pt x="179" y="257"/>
                        <a:pt x="203" y="271"/>
                        <a:pt x="210" y="287"/>
                      </a:cubicBezTo>
                      <a:cubicBezTo>
                        <a:pt x="216" y="303"/>
                        <a:pt x="228" y="340"/>
                        <a:pt x="198" y="385"/>
                      </a:cubicBezTo>
                      <a:cubicBezTo>
                        <a:pt x="198" y="385"/>
                        <a:pt x="177" y="427"/>
                        <a:pt x="177" y="435"/>
                      </a:cubicBezTo>
                      <a:cubicBezTo>
                        <a:pt x="177" y="483"/>
                        <a:pt x="204" y="449"/>
                        <a:pt x="208" y="443"/>
                      </a:cubicBezTo>
                      <a:cubicBezTo>
                        <a:pt x="211" y="436"/>
                        <a:pt x="223" y="407"/>
                        <a:pt x="225" y="422"/>
                      </a:cubicBezTo>
                      <a:cubicBezTo>
                        <a:pt x="229" y="454"/>
                        <a:pt x="225" y="468"/>
                        <a:pt x="208" y="494"/>
                      </a:cubicBezTo>
                      <a:cubicBezTo>
                        <a:pt x="191" y="520"/>
                        <a:pt x="199" y="530"/>
                        <a:pt x="199" y="530"/>
                      </a:cubicBezTo>
                      <a:cubicBezTo>
                        <a:pt x="204" y="529"/>
                        <a:pt x="204" y="531"/>
                        <a:pt x="228" y="535"/>
                      </a:cubicBezTo>
                      <a:cubicBezTo>
                        <a:pt x="263" y="540"/>
                        <a:pt x="249" y="501"/>
                        <a:pt x="244" y="480"/>
                      </a:cubicBezTo>
                      <a:cubicBezTo>
                        <a:pt x="239" y="459"/>
                        <a:pt x="256" y="448"/>
                        <a:pt x="285" y="435"/>
                      </a:cubicBezTo>
                      <a:cubicBezTo>
                        <a:pt x="314" y="422"/>
                        <a:pt x="324" y="409"/>
                        <a:pt x="324" y="409"/>
                      </a:cubicBezTo>
                      <a:cubicBezTo>
                        <a:pt x="375" y="446"/>
                        <a:pt x="391" y="399"/>
                        <a:pt x="391" y="399"/>
                      </a:cubicBezTo>
                      <a:cubicBezTo>
                        <a:pt x="417" y="432"/>
                        <a:pt x="415" y="489"/>
                        <a:pt x="415" y="489"/>
                      </a:cubicBezTo>
                      <a:cubicBezTo>
                        <a:pt x="411" y="489"/>
                        <a:pt x="358" y="504"/>
                        <a:pt x="350" y="571"/>
                      </a:cubicBezTo>
                      <a:cubicBezTo>
                        <a:pt x="338" y="666"/>
                        <a:pt x="377" y="724"/>
                        <a:pt x="377" y="724"/>
                      </a:cubicBezTo>
                      <a:cubicBezTo>
                        <a:pt x="403" y="780"/>
                        <a:pt x="467" y="765"/>
                        <a:pt x="467" y="765"/>
                      </a:cubicBezTo>
                      <a:cubicBezTo>
                        <a:pt x="456" y="851"/>
                        <a:pt x="503" y="860"/>
                        <a:pt x="519" y="876"/>
                      </a:cubicBezTo>
                      <a:cubicBezTo>
                        <a:pt x="534" y="892"/>
                        <a:pt x="555" y="915"/>
                        <a:pt x="570" y="950"/>
                      </a:cubicBezTo>
                      <a:cubicBezTo>
                        <a:pt x="585" y="985"/>
                        <a:pt x="604" y="1093"/>
                        <a:pt x="604" y="1093"/>
                      </a:cubicBezTo>
                      <a:cubicBezTo>
                        <a:pt x="604" y="1093"/>
                        <a:pt x="649" y="1083"/>
                        <a:pt x="649" y="1082"/>
                      </a:cubicBezTo>
                      <a:cubicBezTo>
                        <a:pt x="649" y="1080"/>
                        <a:pt x="630" y="992"/>
                        <a:pt x="623" y="944"/>
                      </a:cubicBezTo>
                      <a:cubicBezTo>
                        <a:pt x="616" y="896"/>
                        <a:pt x="608" y="823"/>
                        <a:pt x="585" y="738"/>
                      </a:cubicBezTo>
                      <a:cubicBezTo>
                        <a:pt x="563" y="653"/>
                        <a:pt x="529" y="518"/>
                        <a:pt x="514" y="460"/>
                      </a:cubicBezTo>
                      <a:cubicBezTo>
                        <a:pt x="498" y="403"/>
                        <a:pt x="478" y="391"/>
                        <a:pt x="461" y="382"/>
                      </a:cubicBezTo>
                      <a:cubicBezTo>
                        <a:pt x="444" y="372"/>
                        <a:pt x="421" y="366"/>
                        <a:pt x="358" y="374"/>
                      </a:cubicBezTo>
                      <a:cubicBezTo>
                        <a:pt x="295" y="382"/>
                        <a:pt x="247" y="436"/>
                        <a:pt x="247" y="420"/>
                      </a:cubicBezTo>
                      <a:cubicBezTo>
                        <a:pt x="247" y="404"/>
                        <a:pt x="220" y="401"/>
                        <a:pt x="220" y="401"/>
                      </a:cubicBezTo>
                      <a:cubicBezTo>
                        <a:pt x="223" y="393"/>
                        <a:pt x="249" y="366"/>
                        <a:pt x="239" y="300"/>
                      </a:cubicBezTo>
                      <a:cubicBezTo>
                        <a:pt x="226" y="220"/>
                        <a:pt x="172" y="261"/>
                        <a:pt x="165" y="191"/>
                      </a:cubicBezTo>
                      <a:cubicBezTo>
                        <a:pt x="158" y="120"/>
                        <a:pt x="235" y="115"/>
                        <a:pt x="286" y="107"/>
                      </a:cubicBezTo>
                      <a:cubicBezTo>
                        <a:pt x="323" y="101"/>
                        <a:pt x="402" y="102"/>
                        <a:pt x="464" y="112"/>
                      </a:cubicBezTo>
                      <a:cubicBezTo>
                        <a:pt x="437" y="110"/>
                        <a:pt x="405" y="113"/>
                        <a:pt x="367" y="132"/>
                      </a:cubicBezTo>
                      <a:cubicBezTo>
                        <a:pt x="295" y="166"/>
                        <a:pt x="279" y="205"/>
                        <a:pt x="271" y="221"/>
                      </a:cubicBezTo>
                      <a:cubicBezTo>
                        <a:pt x="263" y="236"/>
                        <a:pt x="254" y="264"/>
                        <a:pt x="274" y="268"/>
                      </a:cubicBezTo>
                      <a:cubicBezTo>
                        <a:pt x="293" y="271"/>
                        <a:pt x="294" y="247"/>
                        <a:pt x="295" y="240"/>
                      </a:cubicBezTo>
                      <a:cubicBezTo>
                        <a:pt x="297" y="233"/>
                        <a:pt x="289" y="223"/>
                        <a:pt x="317" y="197"/>
                      </a:cubicBezTo>
                      <a:cubicBezTo>
                        <a:pt x="345" y="170"/>
                        <a:pt x="380" y="157"/>
                        <a:pt x="457" y="147"/>
                      </a:cubicBezTo>
                      <a:cubicBezTo>
                        <a:pt x="525" y="139"/>
                        <a:pt x="577" y="179"/>
                        <a:pt x="588" y="188"/>
                      </a:cubicBezTo>
                      <a:cubicBezTo>
                        <a:pt x="610" y="220"/>
                        <a:pt x="628" y="260"/>
                        <a:pt x="647" y="297"/>
                      </a:cubicBezTo>
                      <a:cubicBezTo>
                        <a:pt x="681" y="364"/>
                        <a:pt x="736" y="351"/>
                        <a:pt x="736" y="351"/>
                      </a:cubicBezTo>
                      <a:cubicBezTo>
                        <a:pt x="750" y="347"/>
                        <a:pt x="790" y="327"/>
                        <a:pt x="790" y="258"/>
                      </a:cubicBezTo>
                      <a:cubicBezTo>
                        <a:pt x="790" y="189"/>
                        <a:pt x="683" y="107"/>
                        <a:pt x="683" y="107"/>
                      </a:cubicBezTo>
                      <a:cubicBezTo>
                        <a:pt x="594" y="37"/>
                        <a:pt x="444" y="9"/>
                        <a:pt x="307" y="4"/>
                      </a:cubicBezTo>
                      <a:cubicBezTo>
                        <a:pt x="170" y="0"/>
                        <a:pt x="41" y="45"/>
                        <a:pt x="20" y="120"/>
                      </a:cubicBezTo>
                      <a:cubicBezTo>
                        <a:pt x="0" y="196"/>
                        <a:pt x="70" y="224"/>
                        <a:pt x="124" y="240"/>
                      </a:cubicBezTo>
                      <a:close/>
                    </a:path>
                  </a:pathLst>
                </a:custGeom>
                <a:gradFill flip="none" rotWithShape="1">
                  <a:gsLst>
                    <a:gs pos="0">
                      <a:schemeClr val="accent1"/>
                    </a:gs>
                    <a:gs pos="67000">
                      <a:srgbClr val="D37771"/>
                    </a:gs>
                    <a:gs pos="27000">
                      <a:srgbClr val="C44941"/>
                    </a:gs>
                    <a:gs pos="68000">
                      <a:schemeClr val="bg1"/>
                    </a:gs>
                  </a:gsLst>
                  <a:lin ang="16200000" scaled="1"/>
                  <a:tileRect/>
                </a:gra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39" name="Freeform 463">
                  <a:extLst>
                    <a:ext uri="{FF2B5EF4-FFF2-40B4-BE49-F238E27FC236}">
                      <a16:creationId xmlns:a16="http://schemas.microsoft.com/office/drawing/2014/main" id="{E4DD2E6D-C32C-4E16-A255-3965CFB75110}"/>
                    </a:ext>
                  </a:extLst>
                </p:cNvPr>
                <p:cNvSpPr>
                  <a:spLocks/>
                </p:cNvSpPr>
                <p:nvPr/>
              </p:nvSpPr>
              <p:spPr bwMode="auto">
                <a:xfrm>
                  <a:off x="6897688" y="5155251"/>
                  <a:ext cx="211138" cy="558800"/>
                </a:xfrm>
                <a:custGeom>
                  <a:avLst/>
                  <a:gdLst>
                    <a:gd name="T0" fmla="*/ 141 w 141"/>
                    <a:gd name="T1" fmla="*/ 350 h 373"/>
                    <a:gd name="T2" fmla="*/ 80 w 141"/>
                    <a:gd name="T3" fmla="*/ 313 h 373"/>
                    <a:gd name="T4" fmla="*/ 41 w 141"/>
                    <a:gd name="T5" fmla="*/ 207 h 373"/>
                    <a:gd name="T6" fmla="*/ 18 w 141"/>
                    <a:gd name="T7" fmla="*/ 102 h 373"/>
                    <a:gd name="T8" fmla="*/ 31 w 141"/>
                    <a:gd name="T9" fmla="*/ 18 h 373"/>
                    <a:gd name="T10" fmla="*/ 80 w 141"/>
                    <a:gd name="T11" fmla="*/ 10 h 373"/>
                    <a:gd name="T12" fmla="*/ 96 w 141"/>
                    <a:gd name="T13" fmla="*/ 13 h 373"/>
                    <a:gd name="T14" fmla="*/ 120 w 141"/>
                    <a:gd name="T15" fmla="*/ 14 h 373"/>
                    <a:gd name="T16" fmla="*/ 135 w 141"/>
                    <a:gd name="T17" fmla="*/ 50 h 373"/>
                    <a:gd name="T18" fmla="*/ 94 w 141"/>
                    <a:gd name="T19" fmla="*/ 50 h 373"/>
                    <a:gd name="T20" fmla="*/ 84 w 141"/>
                    <a:gd name="T21" fmla="*/ 34 h 373"/>
                    <a:gd name="T22" fmla="*/ 64 w 141"/>
                    <a:gd name="T23" fmla="*/ 31 h 373"/>
                    <a:gd name="T24" fmla="*/ 42 w 141"/>
                    <a:gd name="T25" fmla="*/ 43 h 373"/>
                    <a:gd name="T26" fmla="*/ 33 w 141"/>
                    <a:gd name="T27" fmla="*/ 71 h 373"/>
                    <a:gd name="T28" fmla="*/ 49 w 141"/>
                    <a:gd name="T29" fmla="*/ 94 h 373"/>
                    <a:gd name="T30" fmla="*/ 50 w 141"/>
                    <a:gd name="T31" fmla="*/ 127 h 373"/>
                    <a:gd name="T32" fmla="*/ 73 w 141"/>
                    <a:gd name="T33" fmla="*/ 171 h 373"/>
                    <a:gd name="T34" fmla="*/ 66 w 141"/>
                    <a:gd name="T35" fmla="*/ 223 h 373"/>
                    <a:gd name="T36" fmla="*/ 87 w 141"/>
                    <a:gd name="T37" fmla="*/ 304 h 373"/>
                    <a:gd name="T38" fmla="*/ 141 w 141"/>
                    <a:gd name="T39" fmla="*/ 35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1" h="373">
                      <a:moveTo>
                        <a:pt x="141" y="350"/>
                      </a:moveTo>
                      <a:cubicBezTo>
                        <a:pt x="141" y="350"/>
                        <a:pt x="109" y="373"/>
                        <a:pt x="80" y="313"/>
                      </a:cubicBezTo>
                      <a:cubicBezTo>
                        <a:pt x="51" y="253"/>
                        <a:pt x="46" y="236"/>
                        <a:pt x="41" y="207"/>
                      </a:cubicBezTo>
                      <a:cubicBezTo>
                        <a:pt x="36" y="177"/>
                        <a:pt x="29" y="133"/>
                        <a:pt x="18" y="102"/>
                      </a:cubicBezTo>
                      <a:cubicBezTo>
                        <a:pt x="7" y="71"/>
                        <a:pt x="0" y="46"/>
                        <a:pt x="31" y="18"/>
                      </a:cubicBezTo>
                      <a:cubicBezTo>
                        <a:pt x="50" y="0"/>
                        <a:pt x="77" y="8"/>
                        <a:pt x="80" y="10"/>
                      </a:cubicBezTo>
                      <a:cubicBezTo>
                        <a:pt x="80" y="10"/>
                        <a:pt x="86" y="18"/>
                        <a:pt x="96" y="13"/>
                      </a:cubicBezTo>
                      <a:cubicBezTo>
                        <a:pt x="107" y="8"/>
                        <a:pt x="114" y="9"/>
                        <a:pt x="120" y="14"/>
                      </a:cubicBezTo>
                      <a:cubicBezTo>
                        <a:pt x="120" y="14"/>
                        <a:pt x="141" y="33"/>
                        <a:pt x="135" y="50"/>
                      </a:cubicBezTo>
                      <a:cubicBezTo>
                        <a:pt x="130" y="68"/>
                        <a:pt x="105" y="66"/>
                        <a:pt x="94" y="50"/>
                      </a:cubicBezTo>
                      <a:cubicBezTo>
                        <a:pt x="86" y="38"/>
                        <a:pt x="84" y="34"/>
                        <a:pt x="84" y="34"/>
                      </a:cubicBezTo>
                      <a:cubicBezTo>
                        <a:pt x="84" y="34"/>
                        <a:pt x="70" y="15"/>
                        <a:pt x="64" y="31"/>
                      </a:cubicBezTo>
                      <a:cubicBezTo>
                        <a:pt x="57" y="46"/>
                        <a:pt x="50" y="42"/>
                        <a:pt x="42" y="43"/>
                      </a:cubicBezTo>
                      <a:cubicBezTo>
                        <a:pt x="34" y="43"/>
                        <a:pt x="16" y="53"/>
                        <a:pt x="33" y="71"/>
                      </a:cubicBezTo>
                      <a:cubicBezTo>
                        <a:pt x="39" y="77"/>
                        <a:pt x="50" y="70"/>
                        <a:pt x="49" y="94"/>
                      </a:cubicBezTo>
                      <a:cubicBezTo>
                        <a:pt x="48" y="119"/>
                        <a:pt x="48" y="118"/>
                        <a:pt x="50" y="127"/>
                      </a:cubicBezTo>
                      <a:cubicBezTo>
                        <a:pt x="53" y="136"/>
                        <a:pt x="73" y="148"/>
                        <a:pt x="73" y="171"/>
                      </a:cubicBezTo>
                      <a:cubicBezTo>
                        <a:pt x="72" y="194"/>
                        <a:pt x="66" y="202"/>
                        <a:pt x="66" y="223"/>
                      </a:cubicBezTo>
                      <a:cubicBezTo>
                        <a:pt x="65" y="245"/>
                        <a:pt x="73" y="279"/>
                        <a:pt x="87" y="304"/>
                      </a:cubicBezTo>
                      <a:cubicBezTo>
                        <a:pt x="100" y="329"/>
                        <a:pt x="118" y="348"/>
                        <a:pt x="141" y="350"/>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40" name="Freeform 464">
                  <a:extLst>
                    <a:ext uri="{FF2B5EF4-FFF2-40B4-BE49-F238E27FC236}">
                      <a16:creationId xmlns:a16="http://schemas.microsoft.com/office/drawing/2014/main" id="{ADE57B72-AC87-4089-8B73-867591E4C1F5}"/>
                    </a:ext>
                  </a:extLst>
                </p:cNvPr>
                <p:cNvSpPr>
                  <a:spLocks/>
                </p:cNvSpPr>
                <p:nvPr/>
              </p:nvSpPr>
              <p:spPr bwMode="auto">
                <a:xfrm>
                  <a:off x="7061201" y="5683888"/>
                  <a:ext cx="103188" cy="280988"/>
                </a:xfrm>
                <a:custGeom>
                  <a:avLst/>
                  <a:gdLst>
                    <a:gd name="T0" fmla="*/ 49 w 69"/>
                    <a:gd name="T1" fmla="*/ 15 h 187"/>
                    <a:gd name="T2" fmla="*/ 22 w 69"/>
                    <a:gd name="T3" fmla="*/ 92 h 187"/>
                    <a:gd name="T4" fmla="*/ 42 w 69"/>
                    <a:gd name="T5" fmla="*/ 155 h 187"/>
                    <a:gd name="T6" fmla="*/ 35 w 69"/>
                    <a:gd name="T7" fmla="*/ 164 h 187"/>
                    <a:gd name="T8" fmla="*/ 6 w 69"/>
                    <a:gd name="T9" fmla="*/ 100 h 187"/>
                    <a:gd name="T10" fmla="*/ 17 w 69"/>
                    <a:gd name="T11" fmla="*/ 24 h 187"/>
                    <a:gd name="T12" fmla="*/ 39 w 69"/>
                    <a:gd name="T13" fmla="*/ 5 h 187"/>
                    <a:gd name="T14" fmla="*/ 49 w 69"/>
                    <a:gd name="T15" fmla="*/ 15 h 1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87">
                      <a:moveTo>
                        <a:pt x="49" y="15"/>
                      </a:moveTo>
                      <a:cubicBezTo>
                        <a:pt x="28" y="30"/>
                        <a:pt x="18" y="66"/>
                        <a:pt x="22" y="92"/>
                      </a:cubicBezTo>
                      <a:cubicBezTo>
                        <a:pt x="26" y="118"/>
                        <a:pt x="35" y="144"/>
                        <a:pt x="42" y="155"/>
                      </a:cubicBezTo>
                      <a:cubicBezTo>
                        <a:pt x="50" y="166"/>
                        <a:pt x="53" y="187"/>
                        <a:pt x="35" y="164"/>
                      </a:cubicBezTo>
                      <a:cubicBezTo>
                        <a:pt x="17" y="141"/>
                        <a:pt x="8" y="133"/>
                        <a:pt x="6" y="100"/>
                      </a:cubicBezTo>
                      <a:cubicBezTo>
                        <a:pt x="4" y="67"/>
                        <a:pt x="0" y="38"/>
                        <a:pt x="17" y="24"/>
                      </a:cubicBezTo>
                      <a:cubicBezTo>
                        <a:pt x="34" y="9"/>
                        <a:pt x="23" y="16"/>
                        <a:pt x="39" y="5"/>
                      </a:cubicBezTo>
                      <a:cubicBezTo>
                        <a:pt x="39" y="5"/>
                        <a:pt x="69" y="0"/>
                        <a:pt x="49" y="15"/>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41" name="Freeform 465">
                  <a:extLst>
                    <a:ext uri="{FF2B5EF4-FFF2-40B4-BE49-F238E27FC236}">
                      <a16:creationId xmlns:a16="http://schemas.microsoft.com/office/drawing/2014/main" id="{E2A880D7-E9DE-4169-A731-D45D3947CBA9}"/>
                    </a:ext>
                  </a:extLst>
                </p:cNvPr>
                <p:cNvSpPr>
                  <a:spLocks/>
                </p:cNvSpPr>
                <p:nvPr/>
              </p:nvSpPr>
              <p:spPr bwMode="auto">
                <a:xfrm>
                  <a:off x="7085013" y="5910901"/>
                  <a:ext cx="93663" cy="446088"/>
                </a:xfrm>
                <a:custGeom>
                  <a:avLst/>
                  <a:gdLst>
                    <a:gd name="T0" fmla="*/ 1 w 63"/>
                    <a:gd name="T1" fmla="*/ 32 h 298"/>
                    <a:gd name="T2" fmla="*/ 15 w 63"/>
                    <a:gd name="T3" fmla="*/ 23 h 298"/>
                    <a:gd name="T4" fmla="*/ 28 w 63"/>
                    <a:gd name="T5" fmla="*/ 38 h 298"/>
                    <a:gd name="T6" fmla="*/ 35 w 63"/>
                    <a:gd name="T7" fmla="*/ 88 h 298"/>
                    <a:gd name="T8" fmla="*/ 47 w 63"/>
                    <a:gd name="T9" fmla="*/ 198 h 298"/>
                    <a:gd name="T10" fmla="*/ 63 w 63"/>
                    <a:gd name="T11" fmla="*/ 273 h 298"/>
                    <a:gd name="T12" fmla="*/ 35 w 63"/>
                    <a:gd name="T13" fmla="*/ 282 h 298"/>
                    <a:gd name="T14" fmla="*/ 13 w 63"/>
                    <a:gd name="T15" fmla="*/ 150 h 298"/>
                    <a:gd name="T16" fmla="*/ 1 w 63"/>
                    <a:gd name="T17" fmla="*/ 32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298">
                      <a:moveTo>
                        <a:pt x="1" y="32"/>
                      </a:moveTo>
                      <a:cubicBezTo>
                        <a:pt x="0" y="0"/>
                        <a:pt x="15" y="23"/>
                        <a:pt x="15" y="23"/>
                      </a:cubicBezTo>
                      <a:cubicBezTo>
                        <a:pt x="18" y="30"/>
                        <a:pt x="17" y="26"/>
                        <a:pt x="28" y="38"/>
                      </a:cubicBezTo>
                      <a:cubicBezTo>
                        <a:pt x="39" y="49"/>
                        <a:pt x="34" y="62"/>
                        <a:pt x="35" y="88"/>
                      </a:cubicBezTo>
                      <a:cubicBezTo>
                        <a:pt x="36" y="113"/>
                        <a:pt x="41" y="161"/>
                        <a:pt x="47" y="198"/>
                      </a:cubicBezTo>
                      <a:cubicBezTo>
                        <a:pt x="53" y="235"/>
                        <a:pt x="63" y="273"/>
                        <a:pt x="63" y="273"/>
                      </a:cubicBezTo>
                      <a:cubicBezTo>
                        <a:pt x="63" y="273"/>
                        <a:pt x="38" y="298"/>
                        <a:pt x="35" y="282"/>
                      </a:cubicBezTo>
                      <a:cubicBezTo>
                        <a:pt x="32" y="265"/>
                        <a:pt x="18" y="186"/>
                        <a:pt x="13" y="150"/>
                      </a:cubicBezTo>
                      <a:cubicBezTo>
                        <a:pt x="9" y="115"/>
                        <a:pt x="2" y="63"/>
                        <a:pt x="1" y="32"/>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42" name="Freeform 466">
                  <a:extLst>
                    <a:ext uri="{FF2B5EF4-FFF2-40B4-BE49-F238E27FC236}">
                      <a16:creationId xmlns:a16="http://schemas.microsoft.com/office/drawing/2014/main" id="{03690E22-4361-474D-B85F-6E294306160A}"/>
                    </a:ext>
                  </a:extLst>
                </p:cNvPr>
                <p:cNvSpPr>
                  <a:spLocks/>
                </p:cNvSpPr>
                <p:nvPr/>
              </p:nvSpPr>
              <p:spPr bwMode="auto">
                <a:xfrm>
                  <a:off x="6661151" y="5055238"/>
                  <a:ext cx="136525" cy="69850"/>
                </a:xfrm>
                <a:custGeom>
                  <a:avLst/>
                  <a:gdLst>
                    <a:gd name="T0" fmla="*/ 42 w 91"/>
                    <a:gd name="T1" fmla="*/ 4 h 47"/>
                    <a:gd name="T2" fmla="*/ 86 w 91"/>
                    <a:gd name="T3" fmla="*/ 23 h 47"/>
                    <a:gd name="T4" fmla="*/ 45 w 91"/>
                    <a:gd name="T5" fmla="*/ 46 h 47"/>
                    <a:gd name="T6" fmla="*/ 20 w 91"/>
                    <a:gd name="T7" fmla="*/ 9 h 47"/>
                    <a:gd name="T8" fmla="*/ 42 w 91"/>
                    <a:gd name="T9" fmla="*/ 4 h 47"/>
                  </a:gdLst>
                  <a:ahLst/>
                  <a:cxnLst>
                    <a:cxn ang="0">
                      <a:pos x="T0" y="T1"/>
                    </a:cxn>
                    <a:cxn ang="0">
                      <a:pos x="T2" y="T3"/>
                    </a:cxn>
                    <a:cxn ang="0">
                      <a:pos x="T4" y="T5"/>
                    </a:cxn>
                    <a:cxn ang="0">
                      <a:pos x="T6" y="T7"/>
                    </a:cxn>
                    <a:cxn ang="0">
                      <a:pos x="T8" y="T9"/>
                    </a:cxn>
                  </a:cxnLst>
                  <a:rect l="0" t="0" r="r" b="b"/>
                  <a:pathLst>
                    <a:path w="91" h="47">
                      <a:moveTo>
                        <a:pt x="42" y="4"/>
                      </a:moveTo>
                      <a:cubicBezTo>
                        <a:pt x="42" y="4"/>
                        <a:pt x="91" y="0"/>
                        <a:pt x="86" y="23"/>
                      </a:cubicBezTo>
                      <a:cubicBezTo>
                        <a:pt x="81" y="46"/>
                        <a:pt x="68" y="45"/>
                        <a:pt x="45" y="46"/>
                      </a:cubicBezTo>
                      <a:cubicBezTo>
                        <a:pt x="22" y="47"/>
                        <a:pt x="0" y="33"/>
                        <a:pt x="20" y="9"/>
                      </a:cubicBezTo>
                      <a:cubicBezTo>
                        <a:pt x="26" y="3"/>
                        <a:pt x="37" y="3"/>
                        <a:pt x="42" y="4"/>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43" name="Freeform 467">
                  <a:extLst>
                    <a:ext uri="{FF2B5EF4-FFF2-40B4-BE49-F238E27FC236}">
                      <a16:creationId xmlns:a16="http://schemas.microsoft.com/office/drawing/2014/main" id="{55234D6A-F8F7-4D09-B120-15DC35A16B91}"/>
                    </a:ext>
                  </a:extLst>
                </p:cNvPr>
                <p:cNvSpPr>
                  <a:spLocks/>
                </p:cNvSpPr>
                <p:nvPr/>
              </p:nvSpPr>
              <p:spPr bwMode="auto">
                <a:xfrm>
                  <a:off x="6475413" y="5088576"/>
                  <a:ext cx="50800" cy="101600"/>
                </a:xfrm>
                <a:custGeom>
                  <a:avLst/>
                  <a:gdLst>
                    <a:gd name="T0" fmla="*/ 1 w 34"/>
                    <a:gd name="T1" fmla="*/ 11 h 67"/>
                    <a:gd name="T2" fmla="*/ 18 w 34"/>
                    <a:gd name="T3" fmla="*/ 57 h 67"/>
                    <a:gd name="T4" fmla="*/ 32 w 34"/>
                    <a:gd name="T5" fmla="*/ 51 h 67"/>
                    <a:gd name="T6" fmla="*/ 16 w 34"/>
                    <a:gd name="T7" fmla="*/ 3 h 67"/>
                    <a:gd name="T8" fmla="*/ 1 w 34"/>
                    <a:gd name="T9" fmla="*/ 11 h 67"/>
                  </a:gdLst>
                  <a:ahLst/>
                  <a:cxnLst>
                    <a:cxn ang="0">
                      <a:pos x="T0" y="T1"/>
                    </a:cxn>
                    <a:cxn ang="0">
                      <a:pos x="T2" y="T3"/>
                    </a:cxn>
                    <a:cxn ang="0">
                      <a:pos x="T4" y="T5"/>
                    </a:cxn>
                    <a:cxn ang="0">
                      <a:pos x="T6" y="T7"/>
                    </a:cxn>
                    <a:cxn ang="0">
                      <a:pos x="T8" y="T9"/>
                    </a:cxn>
                  </a:cxnLst>
                  <a:rect l="0" t="0" r="r" b="b"/>
                  <a:pathLst>
                    <a:path w="34" h="67">
                      <a:moveTo>
                        <a:pt x="1" y="11"/>
                      </a:moveTo>
                      <a:cubicBezTo>
                        <a:pt x="1" y="11"/>
                        <a:pt x="18" y="51"/>
                        <a:pt x="18" y="57"/>
                      </a:cubicBezTo>
                      <a:cubicBezTo>
                        <a:pt x="18" y="63"/>
                        <a:pt x="29" y="67"/>
                        <a:pt x="32" y="51"/>
                      </a:cubicBezTo>
                      <a:cubicBezTo>
                        <a:pt x="34" y="35"/>
                        <a:pt x="33" y="5"/>
                        <a:pt x="16" y="3"/>
                      </a:cubicBezTo>
                      <a:cubicBezTo>
                        <a:pt x="0" y="0"/>
                        <a:pt x="1" y="11"/>
                        <a:pt x="1" y="11"/>
                      </a:cubicBezTo>
                      <a:close/>
                    </a:path>
                  </a:pathLst>
                </a:custGeom>
                <a:solidFill>
                  <a:srgbClr val="FEEAD3"/>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44" name="Freeform 468">
                  <a:extLst>
                    <a:ext uri="{FF2B5EF4-FFF2-40B4-BE49-F238E27FC236}">
                      <a16:creationId xmlns:a16="http://schemas.microsoft.com/office/drawing/2014/main" id="{5797C639-A5C4-43D4-B774-D5C8AE9F0347}"/>
                    </a:ext>
                  </a:extLst>
                </p:cNvPr>
                <p:cNvSpPr>
                  <a:spLocks/>
                </p:cNvSpPr>
                <p:nvPr/>
              </p:nvSpPr>
              <p:spPr bwMode="auto">
                <a:xfrm>
                  <a:off x="5624513" y="4150363"/>
                  <a:ext cx="2455863" cy="2206625"/>
                </a:xfrm>
                <a:custGeom>
                  <a:avLst/>
                  <a:gdLst>
                    <a:gd name="T0" fmla="*/ 1624 w 1638"/>
                    <a:gd name="T1" fmla="*/ 609 h 1472"/>
                    <a:gd name="T2" fmla="*/ 1597 w 1638"/>
                    <a:gd name="T3" fmla="*/ 527 h 1472"/>
                    <a:gd name="T4" fmla="*/ 1556 w 1638"/>
                    <a:gd name="T5" fmla="*/ 469 h 1472"/>
                    <a:gd name="T6" fmla="*/ 1527 w 1638"/>
                    <a:gd name="T7" fmla="*/ 400 h 1472"/>
                    <a:gd name="T8" fmla="*/ 1469 w 1638"/>
                    <a:gd name="T9" fmla="*/ 349 h 1472"/>
                    <a:gd name="T10" fmla="*/ 1417 w 1638"/>
                    <a:gd name="T11" fmla="*/ 279 h 1472"/>
                    <a:gd name="T12" fmla="*/ 1310 w 1638"/>
                    <a:gd name="T13" fmla="*/ 185 h 1472"/>
                    <a:gd name="T14" fmla="*/ 1187 w 1638"/>
                    <a:gd name="T15" fmla="*/ 109 h 1472"/>
                    <a:gd name="T16" fmla="*/ 1132 w 1638"/>
                    <a:gd name="T17" fmla="*/ 79 h 1472"/>
                    <a:gd name="T18" fmla="*/ 1025 w 1638"/>
                    <a:gd name="T19" fmla="*/ 39 h 1472"/>
                    <a:gd name="T20" fmla="*/ 953 w 1638"/>
                    <a:gd name="T21" fmla="*/ 31 h 1472"/>
                    <a:gd name="T22" fmla="*/ 830 w 1638"/>
                    <a:gd name="T23" fmla="*/ 31 h 1472"/>
                    <a:gd name="T24" fmla="*/ 712 w 1638"/>
                    <a:gd name="T25" fmla="*/ 5 h 1472"/>
                    <a:gd name="T26" fmla="*/ 587 w 1638"/>
                    <a:gd name="T27" fmla="*/ 18 h 1472"/>
                    <a:gd name="T28" fmla="*/ 475 w 1638"/>
                    <a:gd name="T29" fmla="*/ 39 h 1472"/>
                    <a:gd name="T30" fmla="*/ 321 w 1638"/>
                    <a:gd name="T31" fmla="*/ 82 h 1472"/>
                    <a:gd name="T32" fmla="*/ 225 w 1638"/>
                    <a:gd name="T33" fmla="*/ 132 h 1472"/>
                    <a:gd name="T34" fmla="*/ 164 w 1638"/>
                    <a:gd name="T35" fmla="*/ 180 h 1472"/>
                    <a:gd name="T36" fmla="*/ 67 w 1638"/>
                    <a:gd name="T37" fmla="*/ 300 h 1472"/>
                    <a:gd name="T38" fmla="*/ 34 w 1638"/>
                    <a:gd name="T39" fmla="*/ 377 h 1472"/>
                    <a:gd name="T40" fmla="*/ 5 w 1638"/>
                    <a:gd name="T41" fmla="*/ 472 h 1472"/>
                    <a:gd name="T42" fmla="*/ 19 w 1638"/>
                    <a:gd name="T43" fmla="*/ 617 h 1472"/>
                    <a:gd name="T44" fmla="*/ 89 w 1638"/>
                    <a:gd name="T45" fmla="*/ 729 h 1472"/>
                    <a:gd name="T46" fmla="*/ 198 w 1638"/>
                    <a:gd name="T47" fmla="*/ 808 h 1472"/>
                    <a:gd name="T48" fmla="*/ 362 w 1638"/>
                    <a:gd name="T49" fmla="*/ 827 h 1472"/>
                    <a:gd name="T50" fmla="*/ 414 w 1638"/>
                    <a:gd name="T51" fmla="*/ 909 h 1472"/>
                    <a:gd name="T52" fmla="*/ 453 w 1638"/>
                    <a:gd name="T53" fmla="*/ 952 h 1472"/>
                    <a:gd name="T54" fmla="*/ 616 w 1638"/>
                    <a:gd name="T55" fmla="*/ 987 h 1472"/>
                    <a:gd name="T56" fmla="*/ 691 w 1638"/>
                    <a:gd name="T57" fmla="*/ 978 h 1472"/>
                    <a:gd name="T58" fmla="*/ 810 w 1638"/>
                    <a:gd name="T59" fmla="*/ 1144 h 1472"/>
                    <a:gd name="T60" fmla="*/ 913 w 1638"/>
                    <a:gd name="T61" fmla="*/ 1329 h 1472"/>
                    <a:gd name="T62" fmla="*/ 992 w 1638"/>
                    <a:gd name="T63" fmla="*/ 1461 h 1472"/>
                    <a:gd name="T64" fmla="*/ 1009 w 1638"/>
                    <a:gd name="T65" fmla="*/ 1454 h 1472"/>
                    <a:gd name="T66" fmla="*/ 1037 w 1638"/>
                    <a:gd name="T67" fmla="*/ 1447 h 1472"/>
                    <a:gd name="T68" fmla="*/ 1013 w 1638"/>
                    <a:gd name="T69" fmla="*/ 1313 h 1472"/>
                    <a:gd name="T70" fmla="*/ 1123 w 1638"/>
                    <a:gd name="T71" fmla="*/ 1273 h 1472"/>
                    <a:gd name="T72" fmla="*/ 1194 w 1638"/>
                    <a:gd name="T73" fmla="*/ 1277 h 1472"/>
                    <a:gd name="T74" fmla="*/ 1260 w 1638"/>
                    <a:gd name="T75" fmla="*/ 1269 h 1472"/>
                    <a:gd name="T76" fmla="*/ 1338 w 1638"/>
                    <a:gd name="T77" fmla="*/ 1241 h 1472"/>
                    <a:gd name="T78" fmla="*/ 1379 w 1638"/>
                    <a:gd name="T79" fmla="*/ 1208 h 1472"/>
                    <a:gd name="T80" fmla="*/ 1418 w 1638"/>
                    <a:gd name="T81" fmla="*/ 1151 h 1472"/>
                    <a:gd name="T82" fmla="*/ 1456 w 1638"/>
                    <a:gd name="T83" fmla="*/ 1070 h 1472"/>
                    <a:gd name="T84" fmla="*/ 1469 w 1638"/>
                    <a:gd name="T85" fmla="*/ 999 h 1472"/>
                    <a:gd name="T86" fmla="*/ 1527 w 1638"/>
                    <a:gd name="T87" fmla="*/ 981 h 1472"/>
                    <a:gd name="T88" fmla="*/ 1600 w 1638"/>
                    <a:gd name="T89" fmla="*/ 837 h 1472"/>
                    <a:gd name="T90" fmla="*/ 1631 w 1638"/>
                    <a:gd name="T91" fmla="*/ 732 h 1472"/>
                    <a:gd name="T92" fmla="*/ 1632 w 1638"/>
                    <a:gd name="T93" fmla="*/ 658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38" h="1472">
                      <a:moveTo>
                        <a:pt x="1632" y="658"/>
                      </a:move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351" y="828"/>
                        <a:pt x="357" y="828"/>
                        <a:pt x="362" y="827"/>
                      </a:cubicBezTo>
                      <a:cubicBezTo>
                        <a:pt x="363" y="833"/>
                        <a:pt x="363" y="840"/>
                        <a:pt x="363" y="847"/>
                      </a:cubicBezTo>
                      <a:cubicBezTo>
                        <a:pt x="364" y="880"/>
                        <a:pt x="393" y="900"/>
                        <a:pt x="414" y="909"/>
                      </a:cubicBezTo>
                      <a:cubicBezTo>
                        <a:pt x="435" y="919"/>
                        <a:pt x="434" y="925"/>
                        <a:pt x="434" y="925"/>
                      </a:cubicBezTo>
                      <a:cubicBezTo>
                        <a:pt x="437" y="930"/>
                        <a:pt x="431" y="935"/>
                        <a:pt x="453" y="952"/>
                      </a:cubicBezTo>
                      <a:cubicBezTo>
                        <a:pt x="507" y="993"/>
                        <a:pt x="556" y="987"/>
                        <a:pt x="569" y="985"/>
                      </a:cubicBezTo>
                      <a:cubicBezTo>
                        <a:pt x="582" y="984"/>
                        <a:pt x="598" y="982"/>
                        <a:pt x="616" y="987"/>
                      </a:cubicBezTo>
                      <a:cubicBezTo>
                        <a:pt x="634" y="993"/>
                        <a:pt x="664" y="988"/>
                        <a:pt x="675" y="984"/>
                      </a:cubicBezTo>
                      <a:cubicBezTo>
                        <a:pt x="679" y="982"/>
                        <a:pt x="685" y="980"/>
                        <a:pt x="691" y="978"/>
                      </a:cubicBezTo>
                      <a:cubicBezTo>
                        <a:pt x="688" y="1056"/>
                        <a:pt x="720" y="1103"/>
                        <a:pt x="720" y="1103"/>
                      </a:cubicBezTo>
                      <a:cubicBezTo>
                        <a:pt x="746" y="1159"/>
                        <a:pt x="810" y="1144"/>
                        <a:pt x="810" y="1144"/>
                      </a:cubicBezTo>
                      <a:cubicBezTo>
                        <a:pt x="799" y="1230"/>
                        <a:pt x="846" y="1239"/>
                        <a:pt x="862" y="1255"/>
                      </a:cubicBezTo>
                      <a:cubicBezTo>
                        <a:pt x="877" y="1271"/>
                        <a:pt x="898" y="1294"/>
                        <a:pt x="913" y="1329"/>
                      </a:cubicBezTo>
                      <a:cubicBezTo>
                        <a:pt x="928" y="1364"/>
                        <a:pt x="947" y="1472"/>
                        <a:pt x="947" y="1472"/>
                      </a:cubicBezTo>
                      <a:cubicBezTo>
                        <a:pt x="947" y="1472"/>
                        <a:pt x="992" y="1462"/>
                        <a:pt x="992" y="1461"/>
                      </a:cubicBezTo>
                      <a:cubicBezTo>
                        <a:pt x="992" y="1461"/>
                        <a:pt x="991" y="1460"/>
                        <a:pt x="991" y="1460"/>
                      </a:cubicBezTo>
                      <a:cubicBezTo>
                        <a:pt x="1009" y="1454"/>
                        <a:pt x="1009" y="1454"/>
                        <a:pt x="1009" y="1454"/>
                      </a:cubicBezTo>
                      <a:cubicBezTo>
                        <a:pt x="1009" y="1455"/>
                        <a:pt x="1009" y="1455"/>
                        <a:pt x="1009" y="1456"/>
                      </a:cubicBezTo>
                      <a:cubicBezTo>
                        <a:pt x="1012" y="1472"/>
                        <a:pt x="1037" y="1447"/>
                        <a:pt x="1037" y="1447"/>
                      </a:cubicBezTo>
                      <a:cubicBezTo>
                        <a:pt x="1037" y="1447"/>
                        <a:pt x="1027" y="1409"/>
                        <a:pt x="1021" y="1372"/>
                      </a:cubicBezTo>
                      <a:cubicBezTo>
                        <a:pt x="1018" y="1354"/>
                        <a:pt x="1015" y="1333"/>
                        <a:pt x="1013" y="1313"/>
                      </a:cubicBezTo>
                      <a:cubicBezTo>
                        <a:pt x="1061" y="1301"/>
                        <a:pt x="1081" y="1271"/>
                        <a:pt x="1081" y="1271"/>
                      </a:cubicBezTo>
                      <a:cubicBezTo>
                        <a:pt x="1102" y="1283"/>
                        <a:pt x="1123" y="1273"/>
                        <a:pt x="1123" y="1273"/>
                      </a:cubicBezTo>
                      <a:cubicBezTo>
                        <a:pt x="1137" y="1287"/>
                        <a:pt x="1157" y="1278"/>
                        <a:pt x="1157" y="1278"/>
                      </a:cubicBezTo>
                      <a:cubicBezTo>
                        <a:pt x="1177" y="1292"/>
                        <a:pt x="1194" y="1277"/>
                        <a:pt x="1194" y="1277"/>
                      </a:cubicBezTo>
                      <a:cubicBezTo>
                        <a:pt x="1206" y="1288"/>
                        <a:pt x="1222" y="1277"/>
                        <a:pt x="1222" y="1277"/>
                      </a:cubicBezTo>
                      <a:cubicBezTo>
                        <a:pt x="1247" y="1289"/>
                        <a:pt x="1260" y="1269"/>
                        <a:pt x="1260" y="1269"/>
                      </a:cubicBezTo>
                      <a:cubicBezTo>
                        <a:pt x="1288" y="1276"/>
                        <a:pt x="1286" y="1260"/>
                        <a:pt x="1292" y="1262"/>
                      </a:cubicBezTo>
                      <a:cubicBezTo>
                        <a:pt x="1329" y="1269"/>
                        <a:pt x="1338" y="1241"/>
                        <a:pt x="1338" y="1241"/>
                      </a:cubicBezTo>
                      <a:cubicBezTo>
                        <a:pt x="1364" y="1247"/>
                        <a:pt x="1371" y="1230"/>
                        <a:pt x="1371" y="1222"/>
                      </a:cubicBezTo>
                      <a:cubicBezTo>
                        <a:pt x="1371" y="1214"/>
                        <a:pt x="1379" y="1208"/>
                        <a:pt x="1379" y="1208"/>
                      </a:cubicBezTo>
                      <a:cubicBezTo>
                        <a:pt x="1426" y="1199"/>
                        <a:pt x="1406" y="1180"/>
                        <a:pt x="1412" y="1178"/>
                      </a:cubicBezTo>
                      <a:cubicBezTo>
                        <a:pt x="1430" y="1169"/>
                        <a:pt x="1418" y="1151"/>
                        <a:pt x="1418" y="1151"/>
                      </a:cubicBezTo>
                      <a:cubicBezTo>
                        <a:pt x="1449" y="1141"/>
                        <a:pt x="1439" y="1113"/>
                        <a:pt x="1439" y="1113"/>
                      </a:cubicBezTo>
                      <a:cubicBezTo>
                        <a:pt x="1478" y="1094"/>
                        <a:pt x="1453" y="1073"/>
                        <a:pt x="1456" y="1070"/>
                      </a:cubicBezTo>
                      <a:cubicBezTo>
                        <a:pt x="1485" y="1047"/>
                        <a:pt x="1459" y="1029"/>
                        <a:pt x="1461" y="1028"/>
                      </a:cubicBezTo>
                      <a:cubicBezTo>
                        <a:pt x="1476" y="1019"/>
                        <a:pt x="1469" y="999"/>
                        <a:pt x="1469" y="999"/>
                      </a:cubicBezTo>
                      <a:cubicBezTo>
                        <a:pt x="1468" y="998"/>
                        <a:pt x="1468" y="998"/>
                        <a:pt x="1468" y="998"/>
                      </a:cubicBezTo>
                      <a:cubicBezTo>
                        <a:pt x="1486" y="1001"/>
                        <a:pt x="1507" y="999"/>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lose/>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345" name="Freeform 475">
                  <a:extLst>
                    <a:ext uri="{FF2B5EF4-FFF2-40B4-BE49-F238E27FC236}">
                      <a16:creationId xmlns:a16="http://schemas.microsoft.com/office/drawing/2014/main" id="{B20A7548-1DD0-45AF-A1F7-59C2A0FC00EF}"/>
                    </a:ext>
                  </a:extLst>
                </p:cNvPr>
                <p:cNvSpPr>
                  <a:spLocks/>
                </p:cNvSpPr>
                <p:nvPr/>
              </p:nvSpPr>
              <p:spPr bwMode="auto">
                <a:xfrm>
                  <a:off x="6332538" y="5213988"/>
                  <a:ext cx="95250" cy="80963"/>
                </a:xfrm>
                <a:custGeom>
                  <a:avLst/>
                  <a:gdLst>
                    <a:gd name="T0" fmla="*/ 0 w 60"/>
                    <a:gd name="T1" fmla="*/ 35 h 51"/>
                    <a:gd name="T2" fmla="*/ 53 w 60"/>
                    <a:gd name="T3" fmla="*/ 0 h 51"/>
                    <a:gd name="T4" fmla="*/ 60 w 60"/>
                    <a:gd name="T5" fmla="*/ 51 h 51"/>
                    <a:gd name="T6" fmla="*/ 0 w 60"/>
                    <a:gd name="T7" fmla="*/ 35 h 51"/>
                  </a:gdLst>
                  <a:ahLst/>
                  <a:cxnLst>
                    <a:cxn ang="0">
                      <a:pos x="T0" y="T1"/>
                    </a:cxn>
                    <a:cxn ang="0">
                      <a:pos x="T2" y="T3"/>
                    </a:cxn>
                    <a:cxn ang="0">
                      <a:pos x="T4" y="T5"/>
                    </a:cxn>
                    <a:cxn ang="0">
                      <a:pos x="T6" y="T7"/>
                    </a:cxn>
                  </a:cxnLst>
                  <a:rect l="0" t="0" r="r" b="b"/>
                  <a:pathLst>
                    <a:path w="60" h="51">
                      <a:moveTo>
                        <a:pt x="0" y="35"/>
                      </a:moveTo>
                      <a:lnTo>
                        <a:pt x="53" y="0"/>
                      </a:lnTo>
                      <a:lnTo>
                        <a:pt x="60" y="51"/>
                      </a:lnTo>
                      <a:lnTo>
                        <a:pt x="0" y="35"/>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46" name="Freeform 476">
                  <a:extLst>
                    <a:ext uri="{FF2B5EF4-FFF2-40B4-BE49-F238E27FC236}">
                      <a16:creationId xmlns:a16="http://schemas.microsoft.com/office/drawing/2014/main" id="{362B3091-53A0-4AE5-BB75-594AB360E8E6}"/>
                    </a:ext>
                  </a:extLst>
                </p:cNvPr>
                <p:cNvSpPr>
                  <a:spLocks/>
                </p:cNvSpPr>
                <p:nvPr/>
              </p:nvSpPr>
              <p:spPr bwMode="auto">
                <a:xfrm>
                  <a:off x="6043613" y="4423413"/>
                  <a:ext cx="92075" cy="92075"/>
                </a:xfrm>
                <a:custGeom>
                  <a:avLst/>
                  <a:gdLst>
                    <a:gd name="T0" fmla="*/ 58 w 58"/>
                    <a:gd name="T1" fmla="*/ 0 h 58"/>
                    <a:gd name="T2" fmla="*/ 35 w 58"/>
                    <a:gd name="T3" fmla="*/ 58 h 58"/>
                    <a:gd name="T4" fmla="*/ 0 w 58"/>
                    <a:gd name="T5" fmla="*/ 21 h 58"/>
                    <a:gd name="T6" fmla="*/ 58 w 58"/>
                    <a:gd name="T7" fmla="*/ 0 h 58"/>
                  </a:gdLst>
                  <a:ahLst/>
                  <a:cxnLst>
                    <a:cxn ang="0">
                      <a:pos x="T0" y="T1"/>
                    </a:cxn>
                    <a:cxn ang="0">
                      <a:pos x="T2" y="T3"/>
                    </a:cxn>
                    <a:cxn ang="0">
                      <a:pos x="T4" y="T5"/>
                    </a:cxn>
                    <a:cxn ang="0">
                      <a:pos x="T6" y="T7"/>
                    </a:cxn>
                  </a:cxnLst>
                  <a:rect l="0" t="0" r="r" b="b"/>
                  <a:pathLst>
                    <a:path w="58" h="58">
                      <a:moveTo>
                        <a:pt x="58" y="0"/>
                      </a:moveTo>
                      <a:lnTo>
                        <a:pt x="35" y="58"/>
                      </a:lnTo>
                      <a:lnTo>
                        <a:pt x="0" y="21"/>
                      </a:lnTo>
                      <a:lnTo>
                        <a:pt x="58" y="0"/>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47" name="Freeform 477">
                  <a:extLst>
                    <a:ext uri="{FF2B5EF4-FFF2-40B4-BE49-F238E27FC236}">
                      <a16:creationId xmlns:a16="http://schemas.microsoft.com/office/drawing/2014/main" id="{AE9E17EC-A82D-4339-B4C5-043786772A5F}"/>
                    </a:ext>
                  </a:extLst>
                </p:cNvPr>
                <p:cNvSpPr>
                  <a:spLocks/>
                </p:cNvSpPr>
                <p:nvPr/>
              </p:nvSpPr>
              <p:spPr bwMode="auto">
                <a:xfrm>
                  <a:off x="6415088" y="5163188"/>
                  <a:ext cx="736600" cy="1144588"/>
                </a:xfrm>
                <a:custGeom>
                  <a:avLst/>
                  <a:gdLst>
                    <a:gd name="T0" fmla="*/ 5 w 491"/>
                    <a:gd name="T1" fmla="*/ 75 h 764"/>
                    <a:gd name="T2" fmla="*/ 279 w 491"/>
                    <a:gd name="T3" fmla="*/ 281 h 764"/>
                    <a:gd name="T4" fmla="*/ 428 w 491"/>
                    <a:gd name="T5" fmla="*/ 764 h 764"/>
                    <a:gd name="T6" fmla="*/ 491 w 491"/>
                    <a:gd name="T7" fmla="*/ 748 h 764"/>
                    <a:gd name="T8" fmla="*/ 331 w 491"/>
                    <a:gd name="T9" fmla="*/ 275 h 764"/>
                    <a:gd name="T10" fmla="*/ 0 w 491"/>
                    <a:gd name="T11" fmla="*/ 49 h 764"/>
                    <a:gd name="T12" fmla="*/ 5 w 491"/>
                    <a:gd name="T13" fmla="*/ 75 h 764"/>
                  </a:gdLst>
                  <a:ahLst/>
                  <a:cxnLst>
                    <a:cxn ang="0">
                      <a:pos x="T0" y="T1"/>
                    </a:cxn>
                    <a:cxn ang="0">
                      <a:pos x="T2" y="T3"/>
                    </a:cxn>
                    <a:cxn ang="0">
                      <a:pos x="T4" y="T5"/>
                    </a:cxn>
                    <a:cxn ang="0">
                      <a:pos x="T6" y="T7"/>
                    </a:cxn>
                    <a:cxn ang="0">
                      <a:pos x="T8" y="T9"/>
                    </a:cxn>
                    <a:cxn ang="0">
                      <a:pos x="T10" y="T11"/>
                    </a:cxn>
                    <a:cxn ang="0">
                      <a:pos x="T12" y="T13"/>
                    </a:cxn>
                  </a:cxnLst>
                  <a:rect l="0" t="0" r="r" b="b"/>
                  <a:pathLst>
                    <a:path w="491" h="764">
                      <a:moveTo>
                        <a:pt x="5" y="75"/>
                      </a:moveTo>
                      <a:cubicBezTo>
                        <a:pt x="5" y="75"/>
                        <a:pt x="200" y="33"/>
                        <a:pt x="279" y="281"/>
                      </a:cubicBezTo>
                      <a:cubicBezTo>
                        <a:pt x="405" y="680"/>
                        <a:pt x="428" y="764"/>
                        <a:pt x="428" y="764"/>
                      </a:cubicBezTo>
                      <a:cubicBezTo>
                        <a:pt x="491" y="748"/>
                        <a:pt x="491" y="748"/>
                        <a:pt x="491" y="748"/>
                      </a:cubicBezTo>
                      <a:cubicBezTo>
                        <a:pt x="331" y="275"/>
                        <a:pt x="331" y="275"/>
                        <a:pt x="331" y="275"/>
                      </a:cubicBezTo>
                      <a:cubicBezTo>
                        <a:pt x="331" y="275"/>
                        <a:pt x="259" y="0"/>
                        <a:pt x="0" y="49"/>
                      </a:cubicBezTo>
                      <a:lnTo>
                        <a:pt x="5" y="75"/>
                      </a:lnTo>
                      <a:close/>
                    </a:path>
                  </a:pathLst>
                </a:custGeom>
                <a:solidFill>
                  <a:schemeClr val="accent1"/>
                </a:solidFill>
                <a:ln w="3175">
                  <a:solidFill>
                    <a:schemeClr val="accent1"/>
                  </a:solidFill>
                </a:ln>
              </p:spPr>
              <p:txBody>
                <a:bodyPr vert="horz" wrap="square" lIns="91440" tIns="45720" rIns="91440" bIns="45720" numCol="1" anchor="t" anchorCtr="0" compatLnSpc="1">
                  <a:prstTxWarp prst="textNoShape">
                    <a:avLst/>
                  </a:prstTxWarp>
                </a:bodyPr>
                <a:lstStyle/>
                <a:p>
                  <a:endParaRPr lang="en-GB" sz="1600"/>
                </a:p>
              </p:txBody>
            </p:sp>
            <p:sp>
              <p:nvSpPr>
                <p:cNvPr id="348" name="Freeform 490">
                  <a:extLst>
                    <a:ext uri="{FF2B5EF4-FFF2-40B4-BE49-F238E27FC236}">
                      <a16:creationId xmlns:a16="http://schemas.microsoft.com/office/drawing/2014/main" id="{057B5ADE-D35F-4520-8284-09ADC31A1D66}"/>
                    </a:ext>
                  </a:extLst>
                </p:cNvPr>
                <p:cNvSpPr>
                  <a:spLocks/>
                </p:cNvSpPr>
                <p:nvPr/>
              </p:nvSpPr>
              <p:spPr bwMode="auto">
                <a:xfrm>
                  <a:off x="7526338" y="5421951"/>
                  <a:ext cx="179388" cy="60325"/>
                </a:xfrm>
                <a:custGeom>
                  <a:avLst/>
                  <a:gdLst>
                    <a:gd name="T0" fmla="*/ 0 w 113"/>
                    <a:gd name="T1" fmla="*/ 0 h 38"/>
                    <a:gd name="T2" fmla="*/ 111 w 113"/>
                    <a:gd name="T3" fmla="*/ 6 h 38"/>
                    <a:gd name="T4" fmla="*/ 113 w 113"/>
                    <a:gd name="T5" fmla="*/ 24 h 38"/>
                    <a:gd name="T6" fmla="*/ 18 w 113"/>
                    <a:gd name="T7" fmla="*/ 38 h 38"/>
                    <a:gd name="T8" fmla="*/ 0 w 113"/>
                    <a:gd name="T9" fmla="*/ 0 h 38"/>
                  </a:gdLst>
                  <a:ahLst/>
                  <a:cxnLst>
                    <a:cxn ang="0">
                      <a:pos x="T0" y="T1"/>
                    </a:cxn>
                    <a:cxn ang="0">
                      <a:pos x="T2" y="T3"/>
                    </a:cxn>
                    <a:cxn ang="0">
                      <a:pos x="T4" y="T5"/>
                    </a:cxn>
                    <a:cxn ang="0">
                      <a:pos x="T6" y="T7"/>
                    </a:cxn>
                    <a:cxn ang="0">
                      <a:pos x="T8" y="T9"/>
                    </a:cxn>
                  </a:cxnLst>
                  <a:rect l="0" t="0" r="r" b="b"/>
                  <a:pathLst>
                    <a:path w="113" h="38">
                      <a:moveTo>
                        <a:pt x="0" y="0"/>
                      </a:moveTo>
                      <a:lnTo>
                        <a:pt x="111" y="6"/>
                      </a:lnTo>
                      <a:lnTo>
                        <a:pt x="113" y="24"/>
                      </a:lnTo>
                      <a:lnTo>
                        <a:pt x="18" y="38"/>
                      </a:lnTo>
                      <a:lnTo>
                        <a:pt x="0" y="0"/>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49" name="Freeform 491">
                  <a:extLst>
                    <a:ext uri="{FF2B5EF4-FFF2-40B4-BE49-F238E27FC236}">
                      <a16:creationId xmlns:a16="http://schemas.microsoft.com/office/drawing/2014/main" id="{ACCF1C1F-DA5B-40B5-9707-1419D603138A}"/>
                    </a:ext>
                  </a:extLst>
                </p:cNvPr>
                <p:cNvSpPr>
                  <a:spLocks/>
                </p:cNvSpPr>
                <p:nvPr/>
              </p:nvSpPr>
              <p:spPr bwMode="auto">
                <a:xfrm>
                  <a:off x="7694613" y="5407663"/>
                  <a:ext cx="93663" cy="80963"/>
                </a:xfrm>
                <a:custGeom>
                  <a:avLst/>
                  <a:gdLst>
                    <a:gd name="T0" fmla="*/ 59 w 59"/>
                    <a:gd name="T1" fmla="*/ 23 h 51"/>
                    <a:gd name="T2" fmla="*/ 3 w 59"/>
                    <a:gd name="T3" fmla="*/ 51 h 51"/>
                    <a:gd name="T4" fmla="*/ 0 w 59"/>
                    <a:gd name="T5" fmla="*/ 0 h 51"/>
                    <a:gd name="T6" fmla="*/ 59 w 59"/>
                    <a:gd name="T7" fmla="*/ 23 h 51"/>
                  </a:gdLst>
                  <a:ahLst/>
                  <a:cxnLst>
                    <a:cxn ang="0">
                      <a:pos x="T0" y="T1"/>
                    </a:cxn>
                    <a:cxn ang="0">
                      <a:pos x="T2" y="T3"/>
                    </a:cxn>
                    <a:cxn ang="0">
                      <a:pos x="T4" y="T5"/>
                    </a:cxn>
                    <a:cxn ang="0">
                      <a:pos x="T6" y="T7"/>
                    </a:cxn>
                  </a:cxnLst>
                  <a:rect l="0" t="0" r="r" b="b"/>
                  <a:pathLst>
                    <a:path w="59" h="51">
                      <a:moveTo>
                        <a:pt x="59" y="23"/>
                      </a:moveTo>
                      <a:lnTo>
                        <a:pt x="3" y="51"/>
                      </a:lnTo>
                      <a:lnTo>
                        <a:pt x="0" y="0"/>
                      </a:lnTo>
                      <a:lnTo>
                        <a:pt x="59" y="23"/>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50" name="Freeform 492">
                  <a:extLst>
                    <a:ext uri="{FF2B5EF4-FFF2-40B4-BE49-F238E27FC236}">
                      <a16:creationId xmlns:a16="http://schemas.microsoft.com/office/drawing/2014/main" id="{419F3FA9-E828-4F1E-915D-66F5ECF7B5C3}"/>
                    </a:ext>
                  </a:extLst>
                </p:cNvPr>
                <p:cNvSpPr>
                  <a:spLocks/>
                </p:cNvSpPr>
                <p:nvPr/>
              </p:nvSpPr>
              <p:spPr bwMode="auto">
                <a:xfrm>
                  <a:off x="6575426" y="4498026"/>
                  <a:ext cx="79375" cy="98425"/>
                </a:xfrm>
                <a:custGeom>
                  <a:avLst/>
                  <a:gdLst>
                    <a:gd name="T0" fmla="*/ 13 w 50"/>
                    <a:gd name="T1" fmla="*/ 0 h 62"/>
                    <a:gd name="T2" fmla="*/ 0 w 50"/>
                    <a:gd name="T3" fmla="*/ 62 h 62"/>
                    <a:gd name="T4" fmla="*/ 50 w 50"/>
                    <a:gd name="T5" fmla="*/ 50 h 62"/>
                    <a:gd name="T6" fmla="*/ 13 w 50"/>
                    <a:gd name="T7" fmla="*/ 0 h 62"/>
                  </a:gdLst>
                  <a:ahLst/>
                  <a:cxnLst>
                    <a:cxn ang="0">
                      <a:pos x="T0" y="T1"/>
                    </a:cxn>
                    <a:cxn ang="0">
                      <a:pos x="T2" y="T3"/>
                    </a:cxn>
                    <a:cxn ang="0">
                      <a:pos x="T4" y="T5"/>
                    </a:cxn>
                    <a:cxn ang="0">
                      <a:pos x="T6" y="T7"/>
                    </a:cxn>
                  </a:cxnLst>
                  <a:rect l="0" t="0" r="r" b="b"/>
                  <a:pathLst>
                    <a:path w="50" h="62">
                      <a:moveTo>
                        <a:pt x="13" y="0"/>
                      </a:moveTo>
                      <a:lnTo>
                        <a:pt x="0" y="62"/>
                      </a:lnTo>
                      <a:lnTo>
                        <a:pt x="50" y="50"/>
                      </a:lnTo>
                      <a:lnTo>
                        <a:pt x="13" y="0"/>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51" name="Freeform 493">
                  <a:extLst>
                    <a:ext uri="{FF2B5EF4-FFF2-40B4-BE49-F238E27FC236}">
                      <a16:creationId xmlns:a16="http://schemas.microsoft.com/office/drawing/2014/main" id="{B69447AD-E151-48C1-B40B-CDCD86A5CC2D}"/>
                    </a:ext>
                  </a:extLst>
                </p:cNvPr>
                <p:cNvSpPr>
                  <a:spLocks/>
                </p:cNvSpPr>
                <p:nvPr/>
              </p:nvSpPr>
              <p:spPr bwMode="auto">
                <a:xfrm>
                  <a:off x="7099301" y="4602801"/>
                  <a:ext cx="80963" cy="95250"/>
                </a:xfrm>
                <a:custGeom>
                  <a:avLst/>
                  <a:gdLst>
                    <a:gd name="T0" fmla="*/ 32 w 51"/>
                    <a:gd name="T1" fmla="*/ 0 h 60"/>
                    <a:gd name="T2" fmla="*/ 0 w 51"/>
                    <a:gd name="T3" fmla="*/ 54 h 60"/>
                    <a:gd name="T4" fmla="*/ 51 w 51"/>
                    <a:gd name="T5" fmla="*/ 60 h 60"/>
                    <a:gd name="T6" fmla="*/ 32 w 51"/>
                    <a:gd name="T7" fmla="*/ 0 h 60"/>
                  </a:gdLst>
                  <a:ahLst/>
                  <a:cxnLst>
                    <a:cxn ang="0">
                      <a:pos x="T0" y="T1"/>
                    </a:cxn>
                    <a:cxn ang="0">
                      <a:pos x="T2" y="T3"/>
                    </a:cxn>
                    <a:cxn ang="0">
                      <a:pos x="T4" y="T5"/>
                    </a:cxn>
                    <a:cxn ang="0">
                      <a:pos x="T6" y="T7"/>
                    </a:cxn>
                  </a:cxnLst>
                  <a:rect l="0" t="0" r="r" b="b"/>
                  <a:pathLst>
                    <a:path w="51" h="60">
                      <a:moveTo>
                        <a:pt x="32" y="0"/>
                      </a:moveTo>
                      <a:lnTo>
                        <a:pt x="0" y="54"/>
                      </a:lnTo>
                      <a:lnTo>
                        <a:pt x="51" y="60"/>
                      </a:lnTo>
                      <a:lnTo>
                        <a:pt x="32" y="0"/>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52" name="Freeform 497">
                  <a:extLst>
                    <a:ext uri="{FF2B5EF4-FFF2-40B4-BE49-F238E27FC236}">
                      <a16:creationId xmlns:a16="http://schemas.microsoft.com/office/drawing/2014/main" id="{68EED7E0-899F-4B84-8B34-9FD6DD19E02C}"/>
                    </a:ext>
                  </a:extLst>
                </p:cNvPr>
                <p:cNvSpPr>
                  <a:spLocks/>
                </p:cNvSpPr>
                <p:nvPr/>
              </p:nvSpPr>
              <p:spPr bwMode="auto">
                <a:xfrm>
                  <a:off x="7099301" y="4682176"/>
                  <a:ext cx="127000" cy="250825"/>
                </a:xfrm>
                <a:custGeom>
                  <a:avLst/>
                  <a:gdLst>
                    <a:gd name="T0" fmla="*/ 15 w 84"/>
                    <a:gd name="T1" fmla="*/ 0 h 167"/>
                    <a:gd name="T2" fmla="*/ 4 w 84"/>
                    <a:gd name="T3" fmla="*/ 104 h 167"/>
                    <a:gd name="T4" fmla="*/ 84 w 84"/>
                    <a:gd name="T5" fmla="*/ 167 h 167"/>
                    <a:gd name="T6" fmla="*/ 39 w 84"/>
                    <a:gd name="T7" fmla="*/ 3 h 167"/>
                    <a:gd name="T8" fmla="*/ 15 w 84"/>
                    <a:gd name="T9" fmla="*/ 0 h 167"/>
                  </a:gdLst>
                  <a:ahLst/>
                  <a:cxnLst>
                    <a:cxn ang="0">
                      <a:pos x="T0" y="T1"/>
                    </a:cxn>
                    <a:cxn ang="0">
                      <a:pos x="T2" y="T3"/>
                    </a:cxn>
                    <a:cxn ang="0">
                      <a:pos x="T4" y="T5"/>
                    </a:cxn>
                    <a:cxn ang="0">
                      <a:pos x="T6" y="T7"/>
                    </a:cxn>
                    <a:cxn ang="0">
                      <a:pos x="T8" y="T9"/>
                    </a:cxn>
                  </a:cxnLst>
                  <a:rect l="0" t="0" r="r" b="b"/>
                  <a:pathLst>
                    <a:path w="84" h="167">
                      <a:moveTo>
                        <a:pt x="15" y="0"/>
                      </a:moveTo>
                      <a:cubicBezTo>
                        <a:pt x="15" y="0"/>
                        <a:pt x="0" y="59"/>
                        <a:pt x="4" y="104"/>
                      </a:cubicBezTo>
                      <a:cubicBezTo>
                        <a:pt x="4" y="104"/>
                        <a:pt x="56" y="140"/>
                        <a:pt x="84" y="167"/>
                      </a:cubicBezTo>
                      <a:cubicBezTo>
                        <a:pt x="84" y="167"/>
                        <a:pt x="28" y="81"/>
                        <a:pt x="39" y="3"/>
                      </a:cubicBezTo>
                      <a:lnTo>
                        <a:pt x="15" y="0"/>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53" name="Freeform 498">
                  <a:extLst>
                    <a:ext uri="{FF2B5EF4-FFF2-40B4-BE49-F238E27FC236}">
                      <a16:creationId xmlns:a16="http://schemas.microsoft.com/office/drawing/2014/main" id="{8DF38C06-1F9B-4A6C-AB49-783D5899CBBC}"/>
                    </a:ext>
                  </a:extLst>
                </p:cNvPr>
                <p:cNvSpPr>
                  <a:spLocks/>
                </p:cNvSpPr>
                <p:nvPr/>
              </p:nvSpPr>
              <p:spPr bwMode="auto">
                <a:xfrm>
                  <a:off x="6592888" y="4575813"/>
                  <a:ext cx="141288" cy="155575"/>
                </a:xfrm>
                <a:custGeom>
                  <a:avLst/>
                  <a:gdLst>
                    <a:gd name="T0" fmla="*/ 0 w 94"/>
                    <a:gd name="T1" fmla="*/ 6 h 104"/>
                    <a:gd name="T2" fmla="*/ 34 w 94"/>
                    <a:gd name="T3" fmla="*/ 99 h 104"/>
                    <a:gd name="T4" fmla="*/ 94 w 94"/>
                    <a:gd name="T5" fmla="*/ 104 h 104"/>
                    <a:gd name="T6" fmla="*/ 25 w 94"/>
                    <a:gd name="T7" fmla="*/ 0 h 104"/>
                    <a:gd name="T8" fmla="*/ 0 w 94"/>
                    <a:gd name="T9" fmla="*/ 6 h 104"/>
                  </a:gdLst>
                  <a:ahLst/>
                  <a:cxnLst>
                    <a:cxn ang="0">
                      <a:pos x="T0" y="T1"/>
                    </a:cxn>
                    <a:cxn ang="0">
                      <a:pos x="T2" y="T3"/>
                    </a:cxn>
                    <a:cxn ang="0">
                      <a:pos x="T4" y="T5"/>
                    </a:cxn>
                    <a:cxn ang="0">
                      <a:pos x="T6" y="T7"/>
                    </a:cxn>
                    <a:cxn ang="0">
                      <a:pos x="T8" y="T9"/>
                    </a:cxn>
                  </a:cxnLst>
                  <a:rect l="0" t="0" r="r" b="b"/>
                  <a:pathLst>
                    <a:path w="94" h="104">
                      <a:moveTo>
                        <a:pt x="0" y="6"/>
                      </a:moveTo>
                      <a:cubicBezTo>
                        <a:pt x="0" y="6"/>
                        <a:pt x="9" y="76"/>
                        <a:pt x="34" y="99"/>
                      </a:cubicBezTo>
                      <a:cubicBezTo>
                        <a:pt x="94" y="104"/>
                        <a:pt x="94" y="104"/>
                        <a:pt x="94" y="104"/>
                      </a:cubicBezTo>
                      <a:cubicBezTo>
                        <a:pt x="94" y="104"/>
                        <a:pt x="37" y="48"/>
                        <a:pt x="25" y="0"/>
                      </a:cubicBezTo>
                      <a:lnTo>
                        <a:pt x="0" y="6"/>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54" name="Freeform 499">
                  <a:extLst>
                    <a:ext uri="{FF2B5EF4-FFF2-40B4-BE49-F238E27FC236}">
                      <a16:creationId xmlns:a16="http://schemas.microsoft.com/office/drawing/2014/main" id="{937EBE0E-D021-4C16-88A3-8FB48E6AF474}"/>
                    </a:ext>
                  </a:extLst>
                </p:cNvPr>
                <p:cNvSpPr>
                  <a:spLocks/>
                </p:cNvSpPr>
                <p:nvPr/>
              </p:nvSpPr>
              <p:spPr bwMode="auto">
                <a:xfrm>
                  <a:off x="5786438" y="4471038"/>
                  <a:ext cx="393700" cy="914400"/>
                </a:xfrm>
                <a:custGeom>
                  <a:avLst/>
                  <a:gdLst>
                    <a:gd name="T0" fmla="*/ 182 w 262"/>
                    <a:gd name="T1" fmla="*/ 0 h 610"/>
                    <a:gd name="T2" fmla="*/ 6 w 262"/>
                    <a:gd name="T3" fmla="*/ 274 h 610"/>
                    <a:gd name="T4" fmla="*/ 162 w 262"/>
                    <a:gd name="T5" fmla="*/ 610 h 610"/>
                    <a:gd name="T6" fmla="*/ 262 w 262"/>
                    <a:gd name="T7" fmla="*/ 609 h 610"/>
                    <a:gd name="T8" fmla="*/ 44 w 262"/>
                    <a:gd name="T9" fmla="*/ 276 h 610"/>
                    <a:gd name="T10" fmla="*/ 199 w 262"/>
                    <a:gd name="T11" fmla="*/ 16 h 610"/>
                    <a:gd name="T12" fmla="*/ 182 w 262"/>
                    <a:gd name="T13" fmla="*/ 0 h 610"/>
                  </a:gdLst>
                  <a:ahLst/>
                  <a:cxnLst>
                    <a:cxn ang="0">
                      <a:pos x="T0" y="T1"/>
                    </a:cxn>
                    <a:cxn ang="0">
                      <a:pos x="T2" y="T3"/>
                    </a:cxn>
                    <a:cxn ang="0">
                      <a:pos x="T4" y="T5"/>
                    </a:cxn>
                    <a:cxn ang="0">
                      <a:pos x="T6" y="T7"/>
                    </a:cxn>
                    <a:cxn ang="0">
                      <a:pos x="T8" y="T9"/>
                    </a:cxn>
                    <a:cxn ang="0">
                      <a:pos x="T10" y="T11"/>
                    </a:cxn>
                    <a:cxn ang="0">
                      <a:pos x="T12" y="T13"/>
                    </a:cxn>
                  </a:cxnLst>
                  <a:rect l="0" t="0" r="r" b="b"/>
                  <a:pathLst>
                    <a:path w="262" h="610">
                      <a:moveTo>
                        <a:pt x="182" y="0"/>
                      </a:moveTo>
                      <a:cubicBezTo>
                        <a:pt x="182" y="0"/>
                        <a:pt x="0" y="96"/>
                        <a:pt x="6" y="274"/>
                      </a:cubicBezTo>
                      <a:cubicBezTo>
                        <a:pt x="11" y="453"/>
                        <a:pt x="124" y="580"/>
                        <a:pt x="162" y="610"/>
                      </a:cubicBezTo>
                      <a:cubicBezTo>
                        <a:pt x="262" y="609"/>
                        <a:pt x="262" y="609"/>
                        <a:pt x="262" y="609"/>
                      </a:cubicBezTo>
                      <a:cubicBezTo>
                        <a:pt x="262" y="609"/>
                        <a:pt x="75" y="528"/>
                        <a:pt x="44" y="276"/>
                      </a:cubicBezTo>
                      <a:cubicBezTo>
                        <a:pt x="28" y="121"/>
                        <a:pt x="199" y="16"/>
                        <a:pt x="199" y="16"/>
                      </a:cubicBezTo>
                      <a:lnTo>
                        <a:pt x="182" y="0"/>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55" name="Freeform 500">
                  <a:extLst>
                    <a:ext uri="{FF2B5EF4-FFF2-40B4-BE49-F238E27FC236}">
                      <a16:creationId xmlns:a16="http://schemas.microsoft.com/office/drawing/2014/main" id="{507B838B-4981-4D72-9DB1-B8D7F3133CCF}"/>
                    </a:ext>
                  </a:extLst>
                </p:cNvPr>
                <p:cNvSpPr>
                  <a:spLocks/>
                </p:cNvSpPr>
                <p:nvPr/>
              </p:nvSpPr>
              <p:spPr bwMode="auto">
                <a:xfrm>
                  <a:off x="6262688" y="5436238"/>
                  <a:ext cx="98425" cy="82550"/>
                </a:xfrm>
                <a:custGeom>
                  <a:avLst/>
                  <a:gdLst>
                    <a:gd name="T0" fmla="*/ 0 w 62"/>
                    <a:gd name="T1" fmla="*/ 52 h 52"/>
                    <a:gd name="T2" fmla="*/ 35 w 62"/>
                    <a:gd name="T3" fmla="*/ 0 h 52"/>
                    <a:gd name="T4" fmla="*/ 62 w 62"/>
                    <a:gd name="T5" fmla="*/ 45 h 52"/>
                    <a:gd name="T6" fmla="*/ 0 w 62"/>
                    <a:gd name="T7" fmla="*/ 52 h 52"/>
                  </a:gdLst>
                  <a:ahLst/>
                  <a:cxnLst>
                    <a:cxn ang="0">
                      <a:pos x="T0" y="T1"/>
                    </a:cxn>
                    <a:cxn ang="0">
                      <a:pos x="T2" y="T3"/>
                    </a:cxn>
                    <a:cxn ang="0">
                      <a:pos x="T4" y="T5"/>
                    </a:cxn>
                    <a:cxn ang="0">
                      <a:pos x="T6" y="T7"/>
                    </a:cxn>
                  </a:cxnLst>
                  <a:rect l="0" t="0" r="r" b="b"/>
                  <a:pathLst>
                    <a:path w="62" h="52">
                      <a:moveTo>
                        <a:pt x="0" y="52"/>
                      </a:moveTo>
                      <a:lnTo>
                        <a:pt x="35" y="0"/>
                      </a:lnTo>
                      <a:lnTo>
                        <a:pt x="62" y="45"/>
                      </a:lnTo>
                      <a:lnTo>
                        <a:pt x="0" y="52"/>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356" name="Freeform 501">
                  <a:extLst>
                    <a:ext uri="{FF2B5EF4-FFF2-40B4-BE49-F238E27FC236}">
                      <a16:creationId xmlns:a16="http://schemas.microsoft.com/office/drawing/2014/main" id="{0DD42621-1EE0-4474-A438-52BF3D182E48}"/>
                    </a:ext>
                  </a:extLst>
                </p:cNvPr>
                <p:cNvSpPr>
                  <a:spLocks/>
                </p:cNvSpPr>
                <p:nvPr/>
              </p:nvSpPr>
              <p:spPr bwMode="auto">
                <a:xfrm>
                  <a:off x="6326188" y="5361626"/>
                  <a:ext cx="215900" cy="128588"/>
                </a:xfrm>
                <a:custGeom>
                  <a:avLst/>
                  <a:gdLst>
                    <a:gd name="T0" fmla="*/ 0 w 144"/>
                    <a:gd name="T1" fmla="*/ 66 h 86"/>
                    <a:gd name="T2" fmla="*/ 88 w 144"/>
                    <a:gd name="T3" fmla="*/ 0 h 86"/>
                    <a:gd name="T4" fmla="*/ 144 w 144"/>
                    <a:gd name="T5" fmla="*/ 32 h 86"/>
                    <a:gd name="T6" fmla="*/ 12 w 144"/>
                    <a:gd name="T7" fmla="*/ 86 h 86"/>
                    <a:gd name="T8" fmla="*/ 0 w 144"/>
                    <a:gd name="T9" fmla="*/ 66 h 86"/>
                  </a:gdLst>
                  <a:ahLst/>
                  <a:cxnLst>
                    <a:cxn ang="0">
                      <a:pos x="T0" y="T1"/>
                    </a:cxn>
                    <a:cxn ang="0">
                      <a:pos x="T2" y="T3"/>
                    </a:cxn>
                    <a:cxn ang="0">
                      <a:pos x="T4" y="T5"/>
                    </a:cxn>
                    <a:cxn ang="0">
                      <a:pos x="T6" y="T7"/>
                    </a:cxn>
                    <a:cxn ang="0">
                      <a:pos x="T8" y="T9"/>
                    </a:cxn>
                  </a:cxnLst>
                  <a:rect l="0" t="0" r="r" b="b"/>
                  <a:pathLst>
                    <a:path w="144" h="86">
                      <a:moveTo>
                        <a:pt x="0" y="66"/>
                      </a:moveTo>
                      <a:cubicBezTo>
                        <a:pt x="0" y="66"/>
                        <a:pt x="64" y="39"/>
                        <a:pt x="88" y="0"/>
                      </a:cubicBezTo>
                      <a:cubicBezTo>
                        <a:pt x="144" y="32"/>
                        <a:pt x="144" y="32"/>
                        <a:pt x="144" y="32"/>
                      </a:cubicBezTo>
                      <a:cubicBezTo>
                        <a:pt x="144" y="32"/>
                        <a:pt x="100" y="68"/>
                        <a:pt x="12" y="86"/>
                      </a:cubicBezTo>
                      <a:lnTo>
                        <a:pt x="0" y="66"/>
                      </a:lnTo>
                      <a:close/>
                    </a:path>
                  </a:pathLst>
                </a:custGeom>
                <a:solidFill>
                  <a:schemeClr val="accent1"/>
                </a:solidFill>
                <a:ln w="31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grpSp>
          <p:sp>
            <p:nvSpPr>
              <p:cNvPr id="658" name="Rectangle 657">
                <a:extLst>
                  <a:ext uri="{FF2B5EF4-FFF2-40B4-BE49-F238E27FC236}">
                    <a16:creationId xmlns:a16="http://schemas.microsoft.com/office/drawing/2014/main" id="{07A9FB55-FE86-4BD3-8CC0-EF6D59CC3360}"/>
                  </a:ext>
                </a:extLst>
              </p:cNvPr>
              <p:cNvSpPr/>
              <p:nvPr/>
            </p:nvSpPr>
            <p:spPr>
              <a:xfrm>
                <a:off x="9573941" y="4753729"/>
                <a:ext cx="222977" cy="19389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a:extLst>
                <a:ext uri="{FF2B5EF4-FFF2-40B4-BE49-F238E27FC236}">
                  <a16:creationId xmlns:a16="http://schemas.microsoft.com/office/drawing/2014/main" id="{1A81B9D5-7761-86F9-81D1-0736F346A3E8}"/>
                </a:ext>
              </a:extLst>
            </p:cNvPr>
            <p:cNvGrpSpPr/>
            <p:nvPr/>
          </p:nvGrpSpPr>
          <p:grpSpPr>
            <a:xfrm>
              <a:off x="9061566" y="1376825"/>
              <a:ext cx="1535935" cy="1346931"/>
              <a:chOff x="9359361" y="1299571"/>
              <a:chExt cx="1535935" cy="1346931"/>
            </a:xfrm>
          </p:grpSpPr>
          <p:sp>
            <p:nvSpPr>
              <p:cNvPr id="643" name="Rectangle 642">
                <a:extLst>
                  <a:ext uri="{FF2B5EF4-FFF2-40B4-BE49-F238E27FC236}">
                    <a16:creationId xmlns:a16="http://schemas.microsoft.com/office/drawing/2014/main" id="{F24DB3B0-184A-4E69-9504-AC96F3CEE06E}"/>
                  </a:ext>
                </a:extLst>
              </p:cNvPr>
              <p:cNvSpPr/>
              <p:nvPr/>
            </p:nvSpPr>
            <p:spPr>
              <a:xfrm>
                <a:off x="9359361" y="1299571"/>
                <a:ext cx="1535935" cy="1346931"/>
              </a:xfrm>
              <a:prstGeom prst="rect">
                <a:avLst/>
              </a:prstGeom>
              <a:solidFill>
                <a:schemeClr val="bg1"/>
              </a:solidFill>
              <a:ln w="19050">
                <a:solidFill>
                  <a:schemeClr val="tx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12" name="Group 711">
                <a:extLst>
                  <a:ext uri="{FF2B5EF4-FFF2-40B4-BE49-F238E27FC236}">
                    <a16:creationId xmlns:a16="http://schemas.microsoft.com/office/drawing/2014/main" id="{0048C4F7-2470-46B7-96B3-1C88C6387FDA}"/>
                  </a:ext>
                </a:extLst>
              </p:cNvPr>
              <p:cNvGrpSpPr/>
              <p:nvPr/>
            </p:nvGrpSpPr>
            <p:grpSpPr>
              <a:xfrm>
                <a:off x="9379521" y="1315297"/>
                <a:ext cx="1482142" cy="1198176"/>
                <a:chOff x="7530934" y="5372953"/>
                <a:chExt cx="1482142" cy="1198176"/>
              </a:xfrm>
            </p:grpSpPr>
            <p:sp>
              <p:nvSpPr>
                <p:cNvPr id="713" name="Oval 784">
                  <a:extLst>
                    <a:ext uri="{FF2B5EF4-FFF2-40B4-BE49-F238E27FC236}">
                      <a16:creationId xmlns:a16="http://schemas.microsoft.com/office/drawing/2014/main" id="{263F83CC-E4D9-46C3-9FD7-CE7F06B86DA0}"/>
                    </a:ext>
                  </a:extLst>
                </p:cNvPr>
                <p:cNvSpPr/>
                <p:nvPr/>
              </p:nvSpPr>
              <p:spPr>
                <a:xfrm rot="300574">
                  <a:off x="7530934" y="5372953"/>
                  <a:ext cx="1482142" cy="1048123"/>
                </a:xfrm>
                <a:custGeom>
                  <a:avLst/>
                  <a:gdLst>
                    <a:gd name="connsiteX0" fmla="*/ 0 w 1437652"/>
                    <a:gd name="connsiteY0" fmla="*/ 538117 h 1076233"/>
                    <a:gd name="connsiteX1" fmla="*/ 718826 w 1437652"/>
                    <a:gd name="connsiteY1" fmla="*/ 0 h 1076233"/>
                    <a:gd name="connsiteX2" fmla="*/ 1437652 w 1437652"/>
                    <a:gd name="connsiteY2" fmla="*/ 538117 h 1076233"/>
                    <a:gd name="connsiteX3" fmla="*/ 718826 w 1437652"/>
                    <a:gd name="connsiteY3" fmla="*/ 1076234 h 1076233"/>
                    <a:gd name="connsiteX4" fmla="*/ 0 w 1437652"/>
                    <a:gd name="connsiteY4" fmla="*/ 538117 h 1076233"/>
                    <a:gd name="connsiteX0" fmla="*/ 1 w 1437653"/>
                    <a:gd name="connsiteY0" fmla="*/ 538117 h 1095835"/>
                    <a:gd name="connsiteX1" fmla="*/ 718827 w 1437653"/>
                    <a:gd name="connsiteY1" fmla="*/ 0 h 1095835"/>
                    <a:gd name="connsiteX2" fmla="*/ 1437653 w 1437653"/>
                    <a:gd name="connsiteY2" fmla="*/ 538117 h 1095835"/>
                    <a:gd name="connsiteX3" fmla="*/ 713374 w 1437653"/>
                    <a:gd name="connsiteY3" fmla="*/ 1095835 h 1095835"/>
                    <a:gd name="connsiteX4" fmla="*/ 1 w 1437653"/>
                    <a:gd name="connsiteY4" fmla="*/ 538117 h 1095835"/>
                    <a:gd name="connsiteX0" fmla="*/ 1 w 1438935"/>
                    <a:gd name="connsiteY0" fmla="*/ 538117 h 1131442"/>
                    <a:gd name="connsiteX1" fmla="*/ 718827 w 1438935"/>
                    <a:gd name="connsiteY1" fmla="*/ 0 h 1131442"/>
                    <a:gd name="connsiteX2" fmla="*/ 1437653 w 1438935"/>
                    <a:gd name="connsiteY2" fmla="*/ 538117 h 1131442"/>
                    <a:gd name="connsiteX3" fmla="*/ 885920 w 1438935"/>
                    <a:gd name="connsiteY3" fmla="*/ 1016356 h 1131442"/>
                    <a:gd name="connsiteX4" fmla="*/ 713374 w 1438935"/>
                    <a:gd name="connsiteY4" fmla="*/ 1095835 h 1131442"/>
                    <a:gd name="connsiteX5" fmla="*/ 1 w 1438935"/>
                    <a:gd name="connsiteY5" fmla="*/ 538117 h 1131442"/>
                    <a:gd name="connsiteX0" fmla="*/ 1 w 1448131"/>
                    <a:gd name="connsiteY0" fmla="*/ 515052 h 1133180"/>
                    <a:gd name="connsiteX1" fmla="*/ 728023 w 1448131"/>
                    <a:gd name="connsiteY1" fmla="*/ 32 h 1133180"/>
                    <a:gd name="connsiteX2" fmla="*/ 1446849 w 1448131"/>
                    <a:gd name="connsiteY2" fmla="*/ 538149 h 1133180"/>
                    <a:gd name="connsiteX3" fmla="*/ 895116 w 1448131"/>
                    <a:gd name="connsiteY3" fmla="*/ 1016388 h 1133180"/>
                    <a:gd name="connsiteX4" fmla="*/ 722570 w 1448131"/>
                    <a:gd name="connsiteY4" fmla="*/ 1095867 h 1133180"/>
                    <a:gd name="connsiteX5" fmla="*/ 1 w 1448131"/>
                    <a:gd name="connsiteY5" fmla="*/ 515052 h 1133180"/>
                    <a:gd name="connsiteX0" fmla="*/ 1 w 1448297"/>
                    <a:gd name="connsiteY0" fmla="*/ 515052 h 1115369"/>
                    <a:gd name="connsiteX1" fmla="*/ 728023 w 1448297"/>
                    <a:gd name="connsiteY1" fmla="*/ 32 h 1115369"/>
                    <a:gd name="connsiteX2" fmla="*/ 1446849 w 1448297"/>
                    <a:gd name="connsiteY2" fmla="*/ 538149 h 1115369"/>
                    <a:gd name="connsiteX3" fmla="*/ 950346 w 1448297"/>
                    <a:gd name="connsiteY3" fmla="*/ 937445 h 1115369"/>
                    <a:gd name="connsiteX4" fmla="*/ 722570 w 1448297"/>
                    <a:gd name="connsiteY4" fmla="*/ 1095867 h 1115369"/>
                    <a:gd name="connsiteX5" fmla="*/ 1 w 1448297"/>
                    <a:gd name="connsiteY5" fmla="*/ 515052 h 1115369"/>
                    <a:gd name="connsiteX0" fmla="*/ 1 w 1456200"/>
                    <a:gd name="connsiteY0" fmla="*/ 515052 h 1111478"/>
                    <a:gd name="connsiteX1" fmla="*/ 728023 w 1456200"/>
                    <a:gd name="connsiteY1" fmla="*/ 32 h 1111478"/>
                    <a:gd name="connsiteX2" fmla="*/ 1446849 w 1456200"/>
                    <a:gd name="connsiteY2" fmla="*/ 538149 h 1111478"/>
                    <a:gd name="connsiteX3" fmla="*/ 1151687 w 1456200"/>
                    <a:gd name="connsiteY3" fmla="*/ 943700 h 1111478"/>
                    <a:gd name="connsiteX4" fmla="*/ 950346 w 1456200"/>
                    <a:gd name="connsiteY4" fmla="*/ 937445 h 1111478"/>
                    <a:gd name="connsiteX5" fmla="*/ 722570 w 1456200"/>
                    <a:gd name="connsiteY5" fmla="*/ 1095867 h 1111478"/>
                    <a:gd name="connsiteX6" fmla="*/ 1 w 1456200"/>
                    <a:gd name="connsiteY6" fmla="*/ 515052 h 1111478"/>
                    <a:gd name="connsiteX0" fmla="*/ 1 w 1456200"/>
                    <a:gd name="connsiteY0" fmla="*/ 515052 h 1109690"/>
                    <a:gd name="connsiteX1" fmla="*/ 728023 w 1456200"/>
                    <a:gd name="connsiteY1" fmla="*/ 32 h 1109690"/>
                    <a:gd name="connsiteX2" fmla="*/ 1446849 w 1456200"/>
                    <a:gd name="connsiteY2" fmla="*/ 538149 h 1109690"/>
                    <a:gd name="connsiteX3" fmla="*/ 1151687 w 1456200"/>
                    <a:gd name="connsiteY3" fmla="*/ 943700 h 1109690"/>
                    <a:gd name="connsiteX4" fmla="*/ 939401 w 1456200"/>
                    <a:gd name="connsiteY4" fmla="*/ 921671 h 1109690"/>
                    <a:gd name="connsiteX5" fmla="*/ 722570 w 1456200"/>
                    <a:gd name="connsiteY5" fmla="*/ 1095867 h 1109690"/>
                    <a:gd name="connsiteX6" fmla="*/ 1 w 1456200"/>
                    <a:gd name="connsiteY6" fmla="*/ 515052 h 1109690"/>
                    <a:gd name="connsiteX0" fmla="*/ 1 w 1456200"/>
                    <a:gd name="connsiteY0" fmla="*/ 515053 h 1127304"/>
                    <a:gd name="connsiteX1" fmla="*/ 728023 w 1456200"/>
                    <a:gd name="connsiteY1" fmla="*/ 33 h 1127304"/>
                    <a:gd name="connsiteX2" fmla="*/ 1446849 w 1456200"/>
                    <a:gd name="connsiteY2" fmla="*/ 538150 h 1127304"/>
                    <a:gd name="connsiteX3" fmla="*/ 1151687 w 1456200"/>
                    <a:gd name="connsiteY3" fmla="*/ 943701 h 1127304"/>
                    <a:gd name="connsiteX4" fmla="*/ 939401 w 1456200"/>
                    <a:gd name="connsiteY4" fmla="*/ 921672 h 1127304"/>
                    <a:gd name="connsiteX5" fmla="*/ 728978 w 1456200"/>
                    <a:gd name="connsiteY5" fmla="*/ 1114429 h 1127304"/>
                    <a:gd name="connsiteX6" fmla="*/ 1 w 1456200"/>
                    <a:gd name="connsiteY6" fmla="*/ 515053 h 1127304"/>
                    <a:gd name="connsiteX0" fmla="*/ 15576 w 1471775"/>
                    <a:gd name="connsiteY0" fmla="*/ 515052 h 1116456"/>
                    <a:gd name="connsiteX1" fmla="*/ 743598 w 1471775"/>
                    <a:gd name="connsiteY1" fmla="*/ 32 h 1116456"/>
                    <a:gd name="connsiteX2" fmla="*/ 1462424 w 1471775"/>
                    <a:gd name="connsiteY2" fmla="*/ 538149 h 1116456"/>
                    <a:gd name="connsiteX3" fmla="*/ 1167262 w 1471775"/>
                    <a:gd name="connsiteY3" fmla="*/ 943700 h 1116456"/>
                    <a:gd name="connsiteX4" fmla="*/ 954976 w 1471775"/>
                    <a:gd name="connsiteY4" fmla="*/ 921671 h 1116456"/>
                    <a:gd name="connsiteX5" fmla="*/ 744553 w 1471775"/>
                    <a:gd name="connsiteY5" fmla="*/ 1114428 h 1116456"/>
                    <a:gd name="connsiteX6" fmla="*/ 284489 w 1471775"/>
                    <a:gd name="connsiteY6" fmla="*/ 990006 h 1116456"/>
                    <a:gd name="connsiteX7" fmla="*/ 15576 w 1471775"/>
                    <a:gd name="connsiteY7" fmla="*/ 515052 h 1116456"/>
                    <a:gd name="connsiteX0" fmla="*/ 18098 w 1474297"/>
                    <a:gd name="connsiteY0" fmla="*/ 515052 h 1118616"/>
                    <a:gd name="connsiteX1" fmla="*/ 746120 w 1474297"/>
                    <a:gd name="connsiteY1" fmla="*/ 32 h 1118616"/>
                    <a:gd name="connsiteX2" fmla="*/ 1464946 w 1474297"/>
                    <a:gd name="connsiteY2" fmla="*/ 538149 h 1118616"/>
                    <a:gd name="connsiteX3" fmla="*/ 1169784 w 1474297"/>
                    <a:gd name="connsiteY3" fmla="*/ 943700 h 1118616"/>
                    <a:gd name="connsiteX4" fmla="*/ 957498 w 1474297"/>
                    <a:gd name="connsiteY4" fmla="*/ 921671 h 1118616"/>
                    <a:gd name="connsiteX5" fmla="*/ 747075 w 1474297"/>
                    <a:gd name="connsiteY5" fmla="*/ 1114428 h 1118616"/>
                    <a:gd name="connsiteX6" fmla="*/ 264744 w 1474297"/>
                    <a:gd name="connsiteY6" fmla="*/ 1008691 h 1118616"/>
                    <a:gd name="connsiteX7" fmla="*/ 18098 w 1474297"/>
                    <a:gd name="connsiteY7" fmla="*/ 515052 h 1118616"/>
                    <a:gd name="connsiteX0" fmla="*/ 18098 w 1524782"/>
                    <a:gd name="connsiteY0" fmla="*/ 515032 h 1118596"/>
                    <a:gd name="connsiteX1" fmla="*/ 746120 w 1524782"/>
                    <a:gd name="connsiteY1" fmla="*/ 12 h 1118596"/>
                    <a:gd name="connsiteX2" fmla="*/ 1516717 w 1524782"/>
                    <a:gd name="connsiteY2" fmla="*/ 528811 h 1118596"/>
                    <a:gd name="connsiteX3" fmla="*/ 1169784 w 1524782"/>
                    <a:gd name="connsiteY3" fmla="*/ 943680 h 1118596"/>
                    <a:gd name="connsiteX4" fmla="*/ 957498 w 1524782"/>
                    <a:gd name="connsiteY4" fmla="*/ 921651 h 1118596"/>
                    <a:gd name="connsiteX5" fmla="*/ 747075 w 1524782"/>
                    <a:gd name="connsiteY5" fmla="*/ 1114408 h 1118596"/>
                    <a:gd name="connsiteX6" fmla="*/ 264744 w 1524782"/>
                    <a:gd name="connsiteY6" fmla="*/ 1008671 h 1118596"/>
                    <a:gd name="connsiteX7" fmla="*/ 18098 w 1524782"/>
                    <a:gd name="connsiteY7" fmla="*/ 515032 h 1118596"/>
                    <a:gd name="connsiteX0" fmla="*/ 18098 w 1517136"/>
                    <a:gd name="connsiteY0" fmla="*/ 548750 h 1152314"/>
                    <a:gd name="connsiteX1" fmla="*/ 746120 w 1517136"/>
                    <a:gd name="connsiteY1" fmla="*/ 33730 h 1152314"/>
                    <a:gd name="connsiteX2" fmla="*/ 1212910 w 1517136"/>
                    <a:gd name="connsiteY2" fmla="*/ 105909 h 1152314"/>
                    <a:gd name="connsiteX3" fmla="*/ 1516717 w 1517136"/>
                    <a:gd name="connsiteY3" fmla="*/ 562529 h 1152314"/>
                    <a:gd name="connsiteX4" fmla="*/ 1169784 w 1517136"/>
                    <a:gd name="connsiteY4" fmla="*/ 977398 h 1152314"/>
                    <a:gd name="connsiteX5" fmla="*/ 957498 w 1517136"/>
                    <a:gd name="connsiteY5" fmla="*/ 955369 h 1152314"/>
                    <a:gd name="connsiteX6" fmla="*/ 747075 w 1517136"/>
                    <a:gd name="connsiteY6" fmla="*/ 1148126 h 1152314"/>
                    <a:gd name="connsiteX7" fmla="*/ 264744 w 1517136"/>
                    <a:gd name="connsiteY7" fmla="*/ 1042389 h 1152314"/>
                    <a:gd name="connsiteX8" fmla="*/ 18098 w 1517136"/>
                    <a:gd name="connsiteY8" fmla="*/ 548750 h 1152314"/>
                    <a:gd name="connsiteX0" fmla="*/ 18098 w 1517136"/>
                    <a:gd name="connsiteY0" fmla="*/ 548750 h 1153564"/>
                    <a:gd name="connsiteX1" fmla="*/ 746120 w 1517136"/>
                    <a:gd name="connsiteY1" fmla="*/ 33730 h 1153564"/>
                    <a:gd name="connsiteX2" fmla="*/ 1212910 w 1517136"/>
                    <a:gd name="connsiteY2" fmla="*/ 105909 h 1153564"/>
                    <a:gd name="connsiteX3" fmla="*/ 1516717 w 1517136"/>
                    <a:gd name="connsiteY3" fmla="*/ 562529 h 1153564"/>
                    <a:gd name="connsiteX4" fmla="*/ 1169784 w 1517136"/>
                    <a:gd name="connsiteY4" fmla="*/ 977398 h 1153564"/>
                    <a:gd name="connsiteX5" fmla="*/ 993997 w 1517136"/>
                    <a:gd name="connsiteY5" fmla="*/ 935438 h 1153564"/>
                    <a:gd name="connsiteX6" fmla="*/ 747075 w 1517136"/>
                    <a:gd name="connsiteY6" fmla="*/ 1148126 h 1153564"/>
                    <a:gd name="connsiteX7" fmla="*/ 264744 w 1517136"/>
                    <a:gd name="connsiteY7" fmla="*/ 1042389 h 1153564"/>
                    <a:gd name="connsiteX8" fmla="*/ 18098 w 1517136"/>
                    <a:gd name="connsiteY8" fmla="*/ 548750 h 1153564"/>
                    <a:gd name="connsiteX0" fmla="*/ 18098 w 1517136"/>
                    <a:gd name="connsiteY0" fmla="*/ 548750 h 1148713"/>
                    <a:gd name="connsiteX1" fmla="*/ 746120 w 1517136"/>
                    <a:gd name="connsiteY1" fmla="*/ 33730 h 1148713"/>
                    <a:gd name="connsiteX2" fmla="*/ 1212910 w 1517136"/>
                    <a:gd name="connsiteY2" fmla="*/ 105909 h 1148713"/>
                    <a:gd name="connsiteX3" fmla="*/ 1516717 w 1517136"/>
                    <a:gd name="connsiteY3" fmla="*/ 562529 h 1148713"/>
                    <a:gd name="connsiteX4" fmla="*/ 1169784 w 1517136"/>
                    <a:gd name="connsiteY4" fmla="*/ 977398 h 1148713"/>
                    <a:gd name="connsiteX5" fmla="*/ 993997 w 1517136"/>
                    <a:gd name="connsiteY5" fmla="*/ 935438 h 1148713"/>
                    <a:gd name="connsiteX6" fmla="*/ 920453 w 1517136"/>
                    <a:gd name="connsiteY6" fmla="*/ 1078136 h 1148713"/>
                    <a:gd name="connsiteX7" fmla="*/ 747075 w 1517136"/>
                    <a:gd name="connsiteY7" fmla="*/ 1148126 h 1148713"/>
                    <a:gd name="connsiteX8" fmla="*/ 264744 w 1517136"/>
                    <a:gd name="connsiteY8" fmla="*/ 1042389 h 1148713"/>
                    <a:gd name="connsiteX9" fmla="*/ 18098 w 1517136"/>
                    <a:gd name="connsiteY9" fmla="*/ 548750 h 1148713"/>
                    <a:gd name="connsiteX0" fmla="*/ 18098 w 1517136"/>
                    <a:gd name="connsiteY0" fmla="*/ 548750 h 1148713"/>
                    <a:gd name="connsiteX1" fmla="*/ 746120 w 1517136"/>
                    <a:gd name="connsiteY1" fmla="*/ 33730 h 1148713"/>
                    <a:gd name="connsiteX2" fmla="*/ 1212910 w 1517136"/>
                    <a:gd name="connsiteY2" fmla="*/ 105909 h 1148713"/>
                    <a:gd name="connsiteX3" fmla="*/ 1516717 w 1517136"/>
                    <a:gd name="connsiteY3" fmla="*/ 562529 h 1148713"/>
                    <a:gd name="connsiteX4" fmla="*/ 1169784 w 1517136"/>
                    <a:gd name="connsiteY4" fmla="*/ 977398 h 1148713"/>
                    <a:gd name="connsiteX5" fmla="*/ 985340 w 1517136"/>
                    <a:gd name="connsiteY5" fmla="*/ 945758 h 1148713"/>
                    <a:gd name="connsiteX6" fmla="*/ 920453 w 1517136"/>
                    <a:gd name="connsiteY6" fmla="*/ 1078136 h 1148713"/>
                    <a:gd name="connsiteX7" fmla="*/ 747075 w 1517136"/>
                    <a:gd name="connsiteY7" fmla="*/ 1148126 h 1148713"/>
                    <a:gd name="connsiteX8" fmla="*/ 264744 w 1517136"/>
                    <a:gd name="connsiteY8" fmla="*/ 1042389 h 1148713"/>
                    <a:gd name="connsiteX9" fmla="*/ 18098 w 1517136"/>
                    <a:gd name="connsiteY9" fmla="*/ 548750 h 1148713"/>
                    <a:gd name="connsiteX0" fmla="*/ 18098 w 1517136"/>
                    <a:gd name="connsiteY0" fmla="*/ 548750 h 1148634"/>
                    <a:gd name="connsiteX1" fmla="*/ 746120 w 1517136"/>
                    <a:gd name="connsiteY1" fmla="*/ 33730 h 1148634"/>
                    <a:gd name="connsiteX2" fmla="*/ 1212910 w 1517136"/>
                    <a:gd name="connsiteY2" fmla="*/ 105909 h 1148634"/>
                    <a:gd name="connsiteX3" fmla="*/ 1516717 w 1517136"/>
                    <a:gd name="connsiteY3" fmla="*/ 562529 h 1148634"/>
                    <a:gd name="connsiteX4" fmla="*/ 1169784 w 1517136"/>
                    <a:gd name="connsiteY4" fmla="*/ 977398 h 1148634"/>
                    <a:gd name="connsiteX5" fmla="*/ 985340 w 1517136"/>
                    <a:gd name="connsiteY5" fmla="*/ 945758 h 1148634"/>
                    <a:gd name="connsiteX6" fmla="*/ 915755 w 1517136"/>
                    <a:gd name="connsiteY6" fmla="*/ 997276 h 1148634"/>
                    <a:gd name="connsiteX7" fmla="*/ 920453 w 1517136"/>
                    <a:gd name="connsiteY7" fmla="*/ 1078136 h 1148634"/>
                    <a:gd name="connsiteX8" fmla="*/ 747075 w 1517136"/>
                    <a:gd name="connsiteY8" fmla="*/ 1148126 h 1148634"/>
                    <a:gd name="connsiteX9" fmla="*/ 264744 w 1517136"/>
                    <a:gd name="connsiteY9" fmla="*/ 1042389 h 1148634"/>
                    <a:gd name="connsiteX10" fmla="*/ 18098 w 1517136"/>
                    <a:gd name="connsiteY10" fmla="*/ 548750 h 1148634"/>
                    <a:gd name="connsiteX0" fmla="*/ 18098 w 1517125"/>
                    <a:gd name="connsiteY0" fmla="*/ 548750 h 1148634"/>
                    <a:gd name="connsiteX1" fmla="*/ 746120 w 1517125"/>
                    <a:gd name="connsiteY1" fmla="*/ 33730 h 1148634"/>
                    <a:gd name="connsiteX2" fmla="*/ 1212910 w 1517125"/>
                    <a:gd name="connsiteY2" fmla="*/ 105909 h 1148634"/>
                    <a:gd name="connsiteX3" fmla="*/ 1516717 w 1517125"/>
                    <a:gd name="connsiteY3" fmla="*/ 562529 h 1148634"/>
                    <a:gd name="connsiteX4" fmla="*/ 1169784 w 1517125"/>
                    <a:gd name="connsiteY4" fmla="*/ 977398 h 1148634"/>
                    <a:gd name="connsiteX5" fmla="*/ 1094375 w 1517125"/>
                    <a:gd name="connsiteY5" fmla="*/ 962494 h 1148634"/>
                    <a:gd name="connsiteX6" fmla="*/ 985340 w 1517125"/>
                    <a:gd name="connsiteY6" fmla="*/ 945758 h 1148634"/>
                    <a:gd name="connsiteX7" fmla="*/ 915755 w 1517125"/>
                    <a:gd name="connsiteY7" fmla="*/ 997276 h 1148634"/>
                    <a:gd name="connsiteX8" fmla="*/ 920453 w 1517125"/>
                    <a:gd name="connsiteY8" fmla="*/ 1078136 h 1148634"/>
                    <a:gd name="connsiteX9" fmla="*/ 747075 w 1517125"/>
                    <a:gd name="connsiteY9" fmla="*/ 1148126 h 1148634"/>
                    <a:gd name="connsiteX10" fmla="*/ 264744 w 1517125"/>
                    <a:gd name="connsiteY10" fmla="*/ 1042389 h 1148634"/>
                    <a:gd name="connsiteX11" fmla="*/ 18098 w 1517125"/>
                    <a:gd name="connsiteY11" fmla="*/ 548750 h 1148634"/>
                    <a:gd name="connsiteX0" fmla="*/ 760 w 1499787"/>
                    <a:gd name="connsiteY0" fmla="*/ 522077 h 1121961"/>
                    <a:gd name="connsiteX1" fmla="*/ 320663 w 1499787"/>
                    <a:gd name="connsiteY1" fmla="*/ 160708 h 1121961"/>
                    <a:gd name="connsiteX2" fmla="*/ 728782 w 1499787"/>
                    <a:gd name="connsiteY2" fmla="*/ 7057 h 1121961"/>
                    <a:gd name="connsiteX3" fmla="*/ 1195572 w 1499787"/>
                    <a:gd name="connsiteY3" fmla="*/ 79236 h 1121961"/>
                    <a:gd name="connsiteX4" fmla="*/ 1499379 w 1499787"/>
                    <a:gd name="connsiteY4" fmla="*/ 535856 h 1121961"/>
                    <a:gd name="connsiteX5" fmla="*/ 1152446 w 1499787"/>
                    <a:gd name="connsiteY5" fmla="*/ 950725 h 1121961"/>
                    <a:gd name="connsiteX6" fmla="*/ 1077037 w 1499787"/>
                    <a:gd name="connsiteY6" fmla="*/ 935821 h 1121961"/>
                    <a:gd name="connsiteX7" fmla="*/ 968002 w 1499787"/>
                    <a:gd name="connsiteY7" fmla="*/ 919085 h 1121961"/>
                    <a:gd name="connsiteX8" fmla="*/ 898417 w 1499787"/>
                    <a:gd name="connsiteY8" fmla="*/ 970603 h 1121961"/>
                    <a:gd name="connsiteX9" fmla="*/ 903115 w 1499787"/>
                    <a:gd name="connsiteY9" fmla="*/ 1051463 h 1121961"/>
                    <a:gd name="connsiteX10" fmla="*/ 729737 w 1499787"/>
                    <a:gd name="connsiteY10" fmla="*/ 1121453 h 1121961"/>
                    <a:gd name="connsiteX11" fmla="*/ 247406 w 1499787"/>
                    <a:gd name="connsiteY11" fmla="*/ 1015716 h 1121961"/>
                    <a:gd name="connsiteX12" fmla="*/ 760 w 1499787"/>
                    <a:gd name="connsiteY12" fmla="*/ 522077 h 1121961"/>
                    <a:gd name="connsiteX0" fmla="*/ 871 w 1480713"/>
                    <a:gd name="connsiteY0" fmla="*/ 522786 h 1121961"/>
                    <a:gd name="connsiteX1" fmla="*/ 301589 w 1480713"/>
                    <a:gd name="connsiteY1" fmla="*/ 160708 h 1121961"/>
                    <a:gd name="connsiteX2" fmla="*/ 709708 w 1480713"/>
                    <a:gd name="connsiteY2" fmla="*/ 7057 h 1121961"/>
                    <a:gd name="connsiteX3" fmla="*/ 1176498 w 1480713"/>
                    <a:gd name="connsiteY3" fmla="*/ 79236 h 1121961"/>
                    <a:gd name="connsiteX4" fmla="*/ 1480305 w 1480713"/>
                    <a:gd name="connsiteY4" fmla="*/ 535856 h 1121961"/>
                    <a:gd name="connsiteX5" fmla="*/ 1133372 w 1480713"/>
                    <a:gd name="connsiteY5" fmla="*/ 950725 h 1121961"/>
                    <a:gd name="connsiteX6" fmla="*/ 1057963 w 1480713"/>
                    <a:gd name="connsiteY6" fmla="*/ 935821 h 1121961"/>
                    <a:gd name="connsiteX7" fmla="*/ 948928 w 1480713"/>
                    <a:gd name="connsiteY7" fmla="*/ 919085 h 1121961"/>
                    <a:gd name="connsiteX8" fmla="*/ 879343 w 1480713"/>
                    <a:gd name="connsiteY8" fmla="*/ 970603 h 1121961"/>
                    <a:gd name="connsiteX9" fmla="*/ 884041 w 1480713"/>
                    <a:gd name="connsiteY9" fmla="*/ 1051463 h 1121961"/>
                    <a:gd name="connsiteX10" fmla="*/ 710663 w 1480713"/>
                    <a:gd name="connsiteY10" fmla="*/ 1121453 h 1121961"/>
                    <a:gd name="connsiteX11" fmla="*/ 228332 w 1480713"/>
                    <a:gd name="connsiteY11" fmla="*/ 1015716 h 1121961"/>
                    <a:gd name="connsiteX12" fmla="*/ 871 w 1480713"/>
                    <a:gd name="connsiteY12" fmla="*/ 522786 h 1121961"/>
                    <a:gd name="connsiteX0" fmla="*/ 3446 w 1483288"/>
                    <a:gd name="connsiteY0" fmla="*/ 522786 h 1121699"/>
                    <a:gd name="connsiteX1" fmla="*/ 304164 w 1483288"/>
                    <a:gd name="connsiteY1" fmla="*/ 160708 h 1121699"/>
                    <a:gd name="connsiteX2" fmla="*/ 712283 w 1483288"/>
                    <a:gd name="connsiteY2" fmla="*/ 7057 h 1121699"/>
                    <a:gd name="connsiteX3" fmla="*/ 1179073 w 1483288"/>
                    <a:gd name="connsiteY3" fmla="*/ 79236 h 1121699"/>
                    <a:gd name="connsiteX4" fmla="*/ 1482880 w 1483288"/>
                    <a:gd name="connsiteY4" fmla="*/ 535856 h 1121699"/>
                    <a:gd name="connsiteX5" fmla="*/ 1135947 w 1483288"/>
                    <a:gd name="connsiteY5" fmla="*/ 950725 h 1121699"/>
                    <a:gd name="connsiteX6" fmla="*/ 1060538 w 1483288"/>
                    <a:gd name="connsiteY6" fmla="*/ 935821 h 1121699"/>
                    <a:gd name="connsiteX7" fmla="*/ 951503 w 1483288"/>
                    <a:gd name="connsiteY7" fmla="*/ 919085 h 1121699"/>
                    <a:gd name="connsiteX8" fmla="*/ 881918 w 1483288"/>
                    <a:gd name="connsiteY8" fmla="*/ 970603 h 1121699"/>
                    <a:gd name="connsiteX9" fmla="*/ 886616 w 1483288"/>
                    <a:gd name="connsiteY9" fmla="*/ 1051463 h 1121699"/>
                    <a:gd name="connsiteX10" fmla="*/ 713238 w 1483288"/>
                    <a:gd name="connsiteY10" fmla="*/ 1121453 h 1121699"/>
                    <a:gd name="connsiteX11" fmla="*/ 179344 w 1483288"/>
                    <a:gd name="connsiteY11" fmla="*/ 1027407 h 1121699"/>
                    <a:gd name="connsiteX12" fmla="*/ 3446 w 1483288"/>
                    <a:gd name="connsiteY12" fmla="*/ 522786 h 1121699"/>
                    <a:gd name="connsiteX0" fmla="*/ 3446 w 1483288"/>
                    <a:gd name="connsiteY0" fmla="*/ 480162 h 1079075"/>
                    <a:gd name="connsiteX1" fmla="*/ 304164 w 1483288"/>
                    <a:gd name="connsiteY1" fmla="*/ 118084 h 1079075"/>
                    <a:gd name="connsiteX2" fmla="*/ 751647 w 1483288"/>
                    <a:gd name="connsiteY2" fmla="*/ 58988 h 1079075"/>
                    <a:gd name="connsiteX3" fmla="*/ 1179073 w 1483288"/>
                    <a:gd name="connsiteY3" fmla="*/ 36612 h 1079075"/>
                    <a:gd name="connsiteX4" fmla="*/ 1482880 w 1483288"/>
                    <a:gd name="connsiteY4" fmla="*/ 493232 h 1079075"/>
                    <a:gd name="connsiteX5" fmla="*/ 1135947 w 1483288"/>
                    <a:gd name="connsiteY5" fmla="*/ 908101 h 1079075"/>
                    <a:gd name="connsiteX6" fmla="*/ 1060538 w 1483288"/>
                    <a:gd name="connsiteY6" fmla="*/ 893197 h 1079075"/>
                    <a:gd name="connsiteX7" fmla="*/ 951503 w 1483288"/>
                    <a:gd name="connsiteY7" fmla="*/ 876461 h 1079075"/>
                    <a:gd name="connsiteX8" fmla="*/ 881918 w 1483288"/>
                    <a:gd name="connsiteY8" fmla="*/ 927979 h 1079075"/>
                    <a:gd name="connsiteX9" fmla="*/ 886616 w 1483288"/>
                    <a:gd name="connsiteY9" fmla="*/ 1008839 h 1079075"/>
                    <a:gd name="connsiteX10" fmla="*/ 713238 w 1483288"/>
                    <a:gd name="connsiteY10" fmla="*/ 1078829 h 1079075"/>
                    <a:gd name="connsiteX11" fmla="*/ 179344 w 1483288"/>
                    <a:gd name="connsiteY11" fmla="*/ 984783 h 1079075"/>
                    <a:gd name="connsiteX12" fmla="*/ 3446 w 1483288"/>
                    <a:gd name="connsiteY12" fmla="*/ 480162 h 1079075"/>
                    <a:gd name="connsiteX0" fmla="*/ 3446 w 1483288"/>
                    <a:gd name="connsiteY0" fmla="*/ 448872 h 1047785"/>
                    <a:gd name="connsiteX1" fmla="*/ 304164 w 1483288"/>
                    <a:gd name="connsiteY1" fmla="*/ 86794 h 1047785"/>
                    <a:gd name="connsiteX2" fmla="*/ 751647 w 1483288"/>
                    <a:gd name="connsiteY2" fmla="*/ 27698 h 1047785"/>
                    <a:gd name="connsiteX3" fmla="*/ 1170747 w 1483288"/>
                    <a:gd name="connsiteY3" fmla="*/ 46689 h 1047785"/>
                    <a:gd name="connsiteX4" fmla="*/ 1482880 w 1483288"/>
                    <a:gd name="connsiteY4" fmla="*/ 461942 h 1047785"/>
                    <a:gd name="connsiteX5" fmla="*/ 1135947 w 1483288"/>
                    <a:gd name="connsiteY5" fmla="*/ 876811 h 1047785"/>
                    <a:gd name="connsiteX6" fmla="*/ 1060538 w 1483288"/>
                    <a:gd name="connsiteY6" fmla="*/ 861907 h 1047785"/>
                    <a:gd name="connsiteX7" fmla="*/ 951503 w 1483288"/>
                    <a:gd name="connsiteY7" fmla="*/ 845171 h 1047785"/>
                    <a:gd name="connsiteX8" fmla="*/ 881918 w 1483288"/>
                    <a:gd name="connsiteY8" fmla="*/ 896689 h 1047785"/>
                    <a:gd name="connsiteX9" fmla="*/ 886616 w 1483288"/>
                    <a:gd name="connsiteY9" fmla="*/ 977549 h 1047785"/>
                    <a:gd name="connsiteX10" fmla="*/ 713238 w 1483288"/>
                    <a:gd name="connsiteY10" fmla="*/ 1047539 h 1047785"/>
                    <a:gd name="connsiteX11" fmla="*/ 179344 w 1483288"/>
                    <a:gd name="connsiteY11" fmla="*/ 953493 h 1047785"/>
                    <a:gd name="connsiteX12" fmla="*/ 3446 w 1483288"/>
                    <a:gd name="connsiteY12" fmla="*/ 448872 h 1047785"/>
                    <a:gd name="connsiteX0" fmla="*/ 2300 w 1482142"/>
                    <a:gd name="connsiteY0" fmla="*/ 448872 h 1047785"/>
                    <a:gd name="connsiteX1" fmla="*/ 303018 w 1482142"/>
                    <a:gd name="connsiteY1" fmla="*/ 86794 h 1047785"/>
                    <a:gd name="connsiteX2" fmla="*/ 750501 w 1482142"/>
                    <a:gd name="connsiteY2" fmla="*/ 27698 h 1047785"/>
                    <a:gd name="connsiteX3" fmla="*/ 1169601 w 1482142"/>
                    <a:gd name="connsiteY3" fmla="*/ 46689 h 1047785"/>
                    <a:gd name="connsiteX4" fmla="*/ 1481734 w 1482142"/>
                    <a:gd name="connsiteY4" fmla="*/ 461942 h 1047785"/>
                    <a:gd name="connsiteX5" fmla="*/ 1134801 w 1482142"/>
                    <a:gd name="connsiteY5" fmla="*/ 876811 h 1047785"/>
                    <a:gd name="connsiteX6" fmla="*/ 1059392 w 1482142"/>
                    <a:gd name="connsiteY6" fmla="*/ 861907 h 1047785"/>
                    <a:gd name="connsiteX7" fmla="*/ 950357 w 1482142"/>
                    <a:gd name="connsiteY7" fmla="*/ 845171 h 1047785"/>
                    <a:gd name="connsiteX8" fmla="*/ 880772 w 1482142"/>
                    <a:gd name="connsiteY8" fmla="*/ 896689 h 1047785"/>
                    <a:gd name="connsiteX9" fmla="*/ 885470 w 1482142"/>
                    <a:gd name="connsiteY9" fmla="*/ 977549 h 1047785"/>
                    <a:gd name="connsiteX10" fmla="*/ 712092 w 1482142"/>
                    <a:gd name="connsiteY10" fmla="*/ 1047539 h 1047785"/>
                    <a:gd name="connsiteX11" fmla="*/ 178198 w 1482142"/>
                    <a:gd name="connsiteY11" fmla="*/ 953493 h 1047785"/>
                    <a:gd name="connsiteX12" fmla="*/ 165012 w 1482142"/>
                    <a:gd name="connsiteY12" fmla="*/ 750402 h 1047785"/>
                    <a:gd name="connsiteX13" fmla="*/ 2300 w 1482142"/>
                    <a:gd name="connsiteY13" fmla="*/ 448872 h 1047785"/>
                    <a:gd name="connsiteX0" fmla="*/ 2300 w 1482142"/>
                    <a:gd name="connsiteY0" fmla="*/ 448872 h 1048123"/>
                    <a:gd name="connsiteX1" fmla="*/ 303018 w 1482142"/>
                    <a:gd name="connsiteY1" fmla="*/ 86794 h 1048123"/>
                    <a:gd name="connsiteX2" fmla="*/ 750501 w 1482142"/>
                    <a:gd name="connsiteY2" fmla="*/ 27698 h 1048123"/>
                    <a:gd name="connsiteX3" fmla="*/ 1169601 w 1482142"/>
                    <a:gd name="connsiteY3" fmla="*/ 46689 h 1048123"/>
                    <a:gd name="connsiteX4" fmla="*/ 1481734 w 1482142"/>
                    <a:gd name="connsiteY4" fmla="*/ 461942 h 1048123"/>
                    <a:gd name="connsiteX5" fmla="*/ 1134801 w 1482142"/>
                    <a:gd name="connsiteY5" fmla="*/ 876811 h 1048123"/>
                    <a:gd name="connsiteX6" fmla="*/ 1059392 w 1482142"/>
                    <a:gd name="connsiteY6" fmla="*/ 861907 h 1048123"/>
                    <a:gd name="connsiteX7" fmla="*/ 950357 w 1482142"/>
                    <a:gd name="connsiteY7" fmla="*/ 845171 h 1048123"/>
                    <a:gd name="connsiteX8" fmla="*/ 880772 w 1482142"/>
                    <a:gd name="connsiteY8" fmla="*/ 896689 h 1048123"/>
                    <a:gd name="connsiteX9" fmla="*/ 885470 w 1482142"/>
                    <a:gd name="connsiteY9" fmla="*/ 977549 h 1048123"/>
                    <a:gd name="connsiteX10" fmla="*/ 712092 w 1482142"/>
                    <a:gd name="connsiteY10" fmla="*/ 1047539 h 1048123"/>
                    <a:gd name="connsiteX11" fmla="*/ 523360 w 1482142"/>
                    <a:gd name="connsiteY11" fmla="*/ 938905 h 1048123"/>
                    <a:gd name="connsiteX12" fmla="*/ 178198 w 1482142"/>
                    <a:gd name="connsiteY12" fmla="*/ 953493 h 1048123"/>
                    <a:gd name="connsiteX13" fmla="*/ 165012 w 1482142"/>
                    <a:gd name="connsiteY13" fmla="*/ 750402 h 1048123"/>
                    <a:gd name="connsiteX14" fmla="*/ 2300 w 1482142"/>
                    <a:gd name="connsiteY14" fmla="*/ 448872 h 1048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82142" h="1048123">
                      <a:moveTo>
                        <a:pt x="2300" y="448872"/>
                      </a:moveTo>
                      <a:cubicBezTo>
                        <a:pt x="25301" y="338271"/>
                        <a:pt x="181681" y="172631"/>
                        <a:pt x="303018" y="86794"/>
                      </a:cubicBezTo>
                      <a:cubicBezTo>
                        <a:pt x="424355" y="957"/>
                        <a:pt x="606071" y="34382"/>
                        <a:pt x="750501" y="27698"/>
                      </a:cubicBezTo>
                      <a:cubicBezTo>
                        <a:pt x="894931" y="21014"/>
                        <a:pt x="1041168" y="-41444"/>
                        <a:pt x="1169601" y="46689"/>
                      </a:cubicBezTo>
                      <a:cubicBezTo>
                        <a:pt x="1298034" y="134822"/>
                        <a:pt x="1469091" y="326799"/>
                        <a:pt x="1481734" y="461942"/>
                      </a:cubicBezTo>
                      <a:cubicBezTo>
                        <a:pt x="1494377" y="597085"/>
                        <a:pt x="1209589" y="805781"/>
                        <a:pt x="1134801" y="876811"/>
                      </a:cubicBezTo>
                      <a:cubicBezTo>
                        <a:pt x="1060013" y="947841"/>
                        <a:pt x="1090133" y="867180"/>
                        <a:pt x="1059392" y="861907"/>
                      </a:cubicBezTo>
                      <a:cubicBezTo>
                        <a:pt x="1028651" y="856634"/>
                        <a:pt x="975729" y="843744"/>
                        <a:pt x="950357" y="845171"/>
                      </a:cubicBezTo>
                      <a:cubicBezTo>
                        <a:pt x="924985" y="846598"/>
                        <a:pt x="891586" y="874626"/>
                        <a:pt x="880772" y="896689"/>
                      </a:cubicBezTo>
                      <a:cubicBezTo>
                        <a:pt x="869958" y="918752"/>
                        <a:pt x="920096" y="949446"/>
                        <a:pt x="885470" y="977549"/>
                      </a:cubicBezTo>
                      <a:cubicBezTo>
                        <a:pt x="850844" y="1005652"/>
                        <a:pt x="772444" y="1053980"/>
                        <a:pt x="712092" y="1047539"/>
                      </a:cubicBezTo>
                      <a:cubicBezTo>
                        <a:pt x="651740" y="1041098"/>
                        <a:pt x="612342" y="954579"/>
                        <a:pt x="523360" y="938905"/>
                      </a:cubicBezTo>
                      <a:cubicBezTo>
                        <a:pt x="434378" y="923231"/>
                        <a:pt x="229182" y="998823"/>
                        <a:pt x="178198" y="953493"/>
                      </a:cubicBezTo>
                      <a:cubicBezTo>
                        <a:pt x="127214" y="908163"/>
                        <a:pt x="194328" y="834505"/>
                        <a:pt x="165012" y="750402"/>
                      </a:cubicBezTo>
                      <a:cubicBezTo>
                        <a:pt x="135696" y="666299"/>
                        <a:pt x="-20701" y="559473"/>
                        <a:pt x="2300" y="448872"/>
                      </a:cubicBezTo>
                      <a:close/>
                    </a:path>
                  </a:pathLst>
                </a:cu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4" name="Oval 825">
                  <a:extLst>
                    <a:ext uri="{FF2B5EF4-FFF2-40B4-BE49-F238E27FC236}">
                      <a16:creationId xmlns:a16="http://schemas.microsoft.com/office/drawing/2014/main" id="{D5C3DBA7-8291-49E3-87CB-B7EE6403B531}"/>
                    </a:ext>
                  </a:extLst>
                </p:cNvPr>
                <p:cNvSpPr/>
                <p:nvPr/>
              </p:nvSpPr>
              <p:spPr>
                <a:xfrm>
                  <a:off x="7673886" y="5528665"/>
                  <a:ext cx="453898" cy="476312"/>
                </a:xfrm>
                <a:custGeom>
                  <a:avLst/>
                  <a:gdLst>
                    <a:gd name="connsiteX0" fmla="*/ 0 w 453096"/>
                    <a:gd name="connsiteY0" fmla="*/ 238125 h 476250"/>
                    <a:gd name="connsiteX1" fmla="*/ 226548 w 453096"/>
                    <a:gd name="connsiteY1" fmla="*/ 0 h 476250"/>
                    <a:gd name="connsiteX2" fmla="*/ 453096 w 453096"/>
                    <a:gd name="connsiteY2" fmla="*/ 238125 h 476250"/>
                    <a:gd name="connsiteX3" fmla="*/ 226548 w 453096"/>
                    <a:gd name="connsiteY3" fmla="*/ 476250 h 476250"/>
                    <a:gd name="connsiteX4" fmla="*/ 0 w 453096"/>
                    <a:gd name="connsiteY4" fmla="*/ 238125 h 476250"/>
                    <a:gd name="connsiteX0" fmla="*/ 0 w 456086"/>
                    <a:gd name="connsiteY0" fmla="*/ 238125 h 477812"/>
                    <a:gd name="connsiteX1" fmla="*/ 226548 w 456086"/>
                    <a:gd name="connsiteY1" fmla="*/ 0 h 477812"/>
                    <a:gd name="connsiteX2" fmla="*/ 453096 w 456086"/>
                    <a:gd name="connsiteY2" fmla="*/ 238125 h 477812"/>
                    <a:gd name="connsiteX3" fmla="*/ 261302 w 456086"/>
                    <a:gd name="connsiteY3" fmla="*/ 336292 h 477812"/>
                    <a:gd name="connsiteX4" fmla="*/ 226548 w 456086"/>
                    <a:gd name="connsiteY4" fmla="*/ 476250 h 477812"/>
                    <a:gd name="connsiteX5" fmla="*/ 0 w 456086"/>
                    <a:gd name="connsiteY5" fmla="*/ 238125 h 477812"/>
                    <a:gd name="connsiteX0" fmla="*/ 4948 w 461034"/>
                    <a:gd name="connsiteY0" fmla="*/ 238125 h 476251"/>
                    <a:gd name="connsiteX1" fmla="*/ 231496 w 461034"/>
                    <a:gd name="connsiteY1" fmla="*/ 0 h 476251"/>
                    <a:gd name="connsiteX2" fmla="*/ 458044 w 461034"/>
                    <a:gd name="connsiteY2" fmla="*/ 238125 h 476251"/>
                    <a:gd name="connsiteX3" fmla="*/ 266250 w 461034"/>
                    <a:gd name="connsiteY3" fmla="*/ 336292 h 476251"/>
                    <a:gd name="connsiteX4" fmla="*/ 231496 w 461034"/>
                    <a:gd name="connsiteY4" fmla="*/ 476250 h 476251"/>
                    <a:gd name="connsiteX5" fmla="*/ 87657 w 461034"/>
                    <a:gd name="connsiteY5" fmla="*/ 333911 h 476251"/>
                    <a:gd name="connsiteX6" fmla="*/ 4948 w 461034"/>
                    <a:gd name="connsiteY6" fmla="*/ 238125 h 476251"/>
                    <a:gd name="connsiteX0" fmla="*/ 369 w 456455"/>
                    <a:gd name="connsiteY0" fmla="*/ 240172 h 478298"/>
                    <a:gd name="connsiteX1" fmla="*/ 114034 w 456455"/>
                    <a:gd name="connsiteY1" fmla="*/ 131171 h 478298"/>
                    <a:gd name="connsiteX2" fmla="*/ 226917 w 456455"/>
                    <a:gd name="connsiteY2" fmla="*/ 2047 h 478298"/>
                    <a:gd name="connsiteX3" fmla="*/ 453465 w 456455"/>
                    <a:gd name="connsiteY3" fmla="*/ 240172 h 478298"/>
                    <a:gd name="connsiteX4" fmla="*/ 261671 w 456455"/>
                    <a:gd name="connsiteY4" fmla="*/ 338339 h 478298"/>
                    <a:gd name="connsiteX5" fmla="*/ 226917 w 456455"/>
                    <a:gd name="connsiteY5" fmla="*/ 478297 h 478298"/>
                    <a:gd name="connsiteX6" fmla="*/ 83078 w 456455"/>
                    <a:gd name="connsiteY6" fmla="*/ 335958 h 478298"/>
                    <a:gd name="connsiteX7" fmla="*/ 369 w 456455"/>
                    <a:gd name="connsiteY7" fmla="*/ 240172 h 478298"/>
                    <a:gd name="connsiteX0" fmla="*/ 369 w 454035"/>
                    <a:gd name="connsiteY0" fmla="*/ 238162 h 476288"/>
                    <a:gd name="connsiteX1" fmla="*/ 114034 w 454035"/>
                    <a:gd name="connsiteY1" fmla="*/ 129161 h 476288"/>
                    <a:gd name="connsiteX2" fmla="*/ 226917 w 454035"/>
                    <a:gd name="connsiteY2" fmla="*/ 37 h 476288"/>
                    <a:gd name="connsiteX3" fmla="*/ 283103 w 454035"/>
                    <a:gd name="connsiteY3" fmla="*/ 117255 h 476288"/>
                    <a:gd name="connsiteX4" fmla="*/ 453465 w 454035"/>
                    <a:gd name="connsiteY4" fmla="*/ 238162 h 476288"/>
                    <a:gd name="connsiteX5" fmla="*/ 261671 w 454035"/>
                    <a:gd name="connsiteY5" fmla="*/ 336329 h 476288"/>
                    <a:gd name="connsiteX6" fmla="*/ 226917 w 454035"/>
                    <a:gd name="connsiteY6" fmla="*/ 476287 h 476288"/>
                    <a:gd name="connsiteX7" fmla="*/ 83078 w 454035"/>
                    <a:gd name="connsiteY7" fmla="*/ 333948 h 476288"/>
                    <a:gd name="connsiteX8" fmla="*/ 369 w 454035"/>
                    <a:gd name="connsiteY8" fmla="*/ 238162 h 476288"/>
                    <a:gd name="connsiteX0" fmla="*/ 369 w 453898"/>
                    <a:gd name="connsiteY0" fmla="*/ 238186 h 476312"/>
                    <a:gd name="connsiteX1" fmla="*/ 114034 w 453898"/>
                    <a:gd name="connsiteY1" fmla="*/ 129185 h 476312"/>
                    <a:gd name="connsiteX2" fmla="*/ 226917 w 453898"/>
                    <a:gd name="connsiteY2" fmla="*/ 61 h 476312"/>
                    <a:gd name="connsiteX3" fmla="*/ 235478 w 453898"/>
                    <a:gd name="connsiteY3" fmla="*/ 145854 h 476312"/>
                    <a:gd name="connsiteX4" fmla="*/ 453465 w 453898"/>
                    <a:gd name="connsiteY4" fmla="*/ 238186 h 476312"/>
                    <a:gd name="connsiteX5" fmla="*/ 261671 w 453898"/>
                    <a:gd name="connsiteY5" fmla="*/ 336353 h 476312"/>
                    <a:gd name="connsiteX6" fmla="*/ 226917 w 453898"/>
                    <a:gd name="connsiteY6" fmla="*/ 476311 h 476312"/>
                    <a:gd name="connsiteX7" fmla="*/ 83078 w 453898"/>
                    <a:gd name="connsiteY7" fmla="*/ 333972 h 476312"/>
                    <a:gd name="connsiteX8" fmla="*/ 369 w 453898"/>
                    <a:gd name="connsiteY8" fmla="*/ 238186 h 476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3898" h="476312">
                      <a:moveTo>
                        <a:pt x="369" y="238186"/>
                      </a:moveTo>
                      <a:cubicBezTo>
                        <a:pt x="5528" y="204055"/>
                        <a:pt x="76276" y="168872"/>
                        <a:pt x="114034" y="129185"/>
                      </a:cubicBezTo>
                      <a:cubicBezTo>
                        <a:pt x="151792" y="89498"/>
                        <a:pt x="206676" y="-2717"/>
                        <a:pt x="226917" y="61"/>
                      </a:cubicBezTo>
                      <a:cubicBezTo>
                        <a:pt x="247158" y="2839"/>
                        <a:pt x="197720" y="106167"/>
                        <a:pt x="235478" y="145854"/>
                      </a:cubicBezTo>
                      <a:cubicBezTo>
                        <a:pt x="273236" y="185541"/>
                        <a:pt x="464181" y="195721"/>
                        <a:pt x="453465" y="238186"/>
                      </a:cubicBezTo>
                      <a:cubicBezTo>
                        <a:pt x="442749" y="280651"/>
                        <a:pt x="299429" y="296666"/>
                        <a:pt x="261671" y="336353"/>
                      </a:cubicBezTo>
                      <a:cubicBezTo>
                        <a:pt x="223913" y="376040"/>
                        <a:pt x="256683" y="476708"/>
                        <a:pt x="226917" y="476311"/>
                      </a:cubicBezTo>
                      <a:cubicBezTo>
                        <a:pt x="197152" y="475914"/>
                        <a:pt x="120836" y="373659"/>
                        <a:pt x="83078" y="333972"/>
                      </a:cubicBezTo>
                      <a:cubicBezTo>
                        <a:pt x="45320" y="294285"/>
                        <a:pt x="-4790" y="272317"/>
                        <a:pt x="369" y="238186"/>
                      </a:cubicBezTo>
                      <a:close/>
                    </a:path>
                  </a:pathLst>
                </a:cu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5" name="Freeform 11">
                  <a:extLst>
                    <a:ext uri="{FF2B5EF4-FFF2-40B4-BE49-F238E27FC236}">
                      <a16:creationId xmlns:a16="http://schemas.microsoft.com/office/drawing/2014/main" id="{B33F600B-E26F-4C60-AA74-E1C778A807CD}"/>
                    </a:ext>
                  </a:extLst>
                </p:cNvPr>
                <p:cNvSpPr>
                  <a:spLocks/>
                </p:cNvSpPr>
                <p:nvPr/>
              </p:nvSpPr>
              <p:spPr bwMode="auto">
                <a:xfrm>
                  <a:off x="8568465" y="5863796"/>
                  <a:ext cx="291798" cy="176828"/>
                </a:xfrm>
                <a:custGeom>
                  <a:avLst/>
                  <a:gdLst>
                    <a:gd name="T0" fmla="*/ 1 w 1697"/>
                    <a:gd name="T1" fmla="*/ 375 h 874"/>
                    <a:gd name="T2" fmla="*/ 38 w 1697"/>
                    <a:gd name="T3" fmla="*/ 545 h 874"/>
                    <a:gd name="T4" fmla="*/ 152 w 1697"/>
                    <a:gd name="T5" fmla="*/ 684 h 874"/>
                    <a:gd name="T6" fmla="*/ 304 w 1697"/>
                    <a:gd name="T7" fmla="*/ 729 h 874"/>
                    <a:gd name="T8" fmla="*/ 341 w 1697"/>
                    <a:gd name="T9" fmla="*/ 630 h 874"/>
                    <a:gd name="T10" fmla="*/ 305 w 1697"/>
                    <a:gd name="T11" fmla="*/ 285 h 874"/>
                    <a:gd name="T12" fmla="*/ 342 w 1697"/>
                    <a:gd name="T13" fmla="*/ 208 h 874"/>
                    <a:gd name="T14" fmla="*/ 389 w 1697"/>
                    <a:gd name="T15" fmla="*/ 262 h 874"/>
                    <a:gd name="T16" fmla="*/ 439 w 1697"/>
                    <a:gd name="T17" fmla="*/ 625 h 874"/>
                    <a:gd name="T18" fmla="*/ 498 w 1697"/>
                    <a:gd name="T19" fmla="*/ 808 h 874"/>
                    <a:gd name="T20" fmla="*/ 602 w 1697"/>
                    <a:gd name="T21" fmla="*/ 870 h 874"/>
                    <a:gd name="T22" fmla="*/ 801 w 1697"/>
                    <a:gd name="T23" fmla="*/ 860 h 874"/>
                    <a:gd name="T24" fmla="*/ 782 w 1697"/>
                    <a:gd name="T25" fmla="*/ 379 h 874"/>
                    <a:gd name="T26" fmla="*/ 770 w 1697"/>
                    <a:gd name="T27" fmla="*/ 207 h 874"/>
                    <a:gd name="T28" fmla="*/ 806 w 1697"/>
                    <a:gd name="T29" fmla="*/ 184 h 874"/>
                    <a:gd name="T30" fmla="*/ 862 w 1697"/>
                    <a:gd name="T31" fmla="*/ 321 h 874"/>
                    <a:gd name="T32" fmla="*/ 894 w 1697"/>
                    <a:gd name="T33" fmla="*/ 692 h 874"/>
                    <a:gd name="T34" fmla="*/ 948 w 1697"/>
                    <a:gd name="T35" fmla="*/ 841 h 874"/>
                    <a:gd name="T36" fmla="*/ 1042 w 1697"/>
                    <a:gd name="T37" fmla="*/ 862 h 874"/>
                    <a:gd name="T38" fmla="*/ 1292 w 1697"/>
                    <a:gd name="T39" fmla="*/ 786 h 874"/>
                    <a:gd name="T40" fmla="*/ 1237 w 1697"/>
                    <a:gd name="T41" fmla="*/ 627 h 874"/>
                    <a:gd name="T42" fmla="*/ 1201 w 1697"/>
                    <a:gd name="T43" fmla="*/ 342 h 874"/>
                    <a:gd name="T44" fmla="*/ 1219 w 1697"/>
                    <a:gd name="T45" fmla="*/ 195 h 874"/>
                    <a:gd name="T46" fmla="*/ 1274 w 1697"/>
                    <a:gd name="T47" fmla="*/ 238 h 874"/>
                    <a:gd name="T48" fmla="*/ 1311 w 1697"/>
                    <a:gd name="T49" fmla="*/ 392 h 874"/>
                    <a:gd name="T50" fmla="*/ 1339 w 1697"/>
                    <a:gd name="T51" fmla="*/ 662 h 874"/>
                    <a:gd name="T52" fmla="*/ 1392 w 1697"/>
                    <a:gd name="T53" fmla="*/ 715 h 874"/>
                    <a:gd name="T54" fmla="*/ 1523 w 1697"/>
                    <a:gd name="T55" fmla="*/ 673 h 874"/>
                    <a:gd name="T56" fmla="*/ 1666 w 1697"/>
                    <a:gd name="T57" fmla="*/ 533 h 874"/>
                    <a:gd name="T58" fmla="*/ 1695 w 1697"/>
                    <a:gd name="T59" fmla="*/ 387 h 874"/>
                    <a:gd name="T60" fmla="*/ 1605 w 1697"/>
                    <a:gd name="T61" fmla="*/ 168 h 874"/>
                    <a:gd name="T62" fmla="*/ 1480 w 1697"/>
                    <a:gd name="T63" fmla="*/ 71 h 874"/>
                    <a:gd name="T64" fmla="*/ 1436 w 1697"/>
                    <a:gd name="T65" fmla="*/ 87 h 874"/>
                    <a:gd name="T66" fmla="*/ 1462 w 1697"/>
                    <a:gd name="T67" fmla="*/ 371 h 874"/>
                    <a:gd name="T68" fmla="*/ 1441 w 1697"/>
                    <a:gd name="T69" fmla="*/ 472 h 874"/>
                    <a:gd name="T70" fmla="*/ 1392 w 1697"/>
                    <a:gd name="T71" fmla="*/ 415 h 874"/>
                    <a:gd name="T72" fmla="*/ 1359 w 1697"/>
                    <a:gd name="T73" fmla="*/ 148 h 874"/>
                    <a:gd name="T74" fmla="*/ 1326 w 1697"/>
                    <a:gd name="T75" fmla="*/ 54 h 874"/>
                    <a:gd name="T76" fmla="*/ 1102 w 1697"/>
                    <a:gd name="T77" fmla="*/ 7 h 874"/>
                    <a:gd name="T78" fmla="*/ 1062 w 1697"/>
                    <a:gd name="T79" fmla="*/ 73 h 874"/>
                    <a:gd name="T80" fmla="*/ 1080 w 1697"/>
                    <a:gd name="T81" fmla="*/ 439 h 874"/>
                    <a:gd name="T82" fmla="*/ 1040 w 1697"/>
                    <a:gd name="T83" fmla="*/ 467 h 874"/>
                    <a:gd name="T84" fmla="*/ 987 w 1697"/>
                    <a:gd name="T85" fmla="*/ 364 h 874"/>
                    <a:gd name="T86" fmla="*/ 965 w 1697"/>
                    <a:gd name="T87" fmla="*/ 99 h 874"/>
                    <a:gd name="T88" fmla="*/ 920 w 1697"/>
                    <a:gd name="T89" fmla="*/ 5 h 874"/>
                    <a:gd name="T90" fmla="*/ 638 w 1697"/>
                    <a:gd name="T91" fmla="*/ 7 h 874"/>
                    <a:gd name="T92" fmla="*/ 601 w 1697"/>
                    <a:gd name="T93" fmla="*/ 67 h 874"/>
                    <a:gd name="T94" fmla="*/ 618 w 1697"/>
                    <a:gd name="T95" fmla="*/ 423 h 874"/>
                    <a:gd name="T96" fmla="*/ 587 w 1697"/>
                    <a:gd name="T97" fmla="*/ 471 h 874"/>
                    <a:gd name="T98" fmla="*/ 540 w 1697"/>
                    <a:gd name="T99" fmla="*/ 332 h 874"/>
                    <a:gd name="T100" fmla="*/ 497 w 1697"/>
                    <a:gd name="T101" fmla="*/ 54 h 874"/>
                    <a:gd name="T102" fmla="*/ 350 w 1697"/>
                    <a:gd name="T103" fmla="*/ 52 h 874"/>
                    <a:gd name="T104" fmla="*/ 178 w 1697"/>
                    <a:gd name="T105" fmla="*/ 117 h 874"/>
                    <a:gd name="T106" fmla="*/ 167 w 1697"/>
                    <a:gd name="T107" fmla="*/ 255 h 874"/>
                    <a:gd name="T108" fmla="*/ 158 w 1697"/>
                    <a:gd name="T109" fmla="*/ 409 h 874"/>
                    <a:gd name="T110" fmla="*/ 114 w 1697"/>
                    <a:gd name="T111" fmla="*/ 377 h 874"/>
                    <a:gd name="T112" fmla="*/ 73 w 1697"/>
                    <a:gd name="T113" fmla="*/ 197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97" h="874">
                      <a:moveTo>
                        <a:pt x="58" y="204"/>
                      </a:moveTo>
                      <a:lnTo>
                        <a:pt x="58" y="204"/>
                      </a:lnTo>
                      <a:lnTo>
                        <a:pt x="42" y="236"/>
                      </a:lnTo>
                      <a:lnTo>
                        <a:pt x="30" y="265"/>
                      </a:lnTo>
                      <a:lnTo>
                        <a:pt x="19" y="298"/>
                      </a:lnTo>
                      <a:lnTo>
                        <a:pt x="12" y="316"/>
                      </a:lnTo>
                      <a:lnTo>
                        <a:pt x="8" y="334"/>
                      </a:lnTo>
                      <a:lnTo>
                        <a:pt x="4" y="354"/>
                      </a:lnTo>
                      <a:lnTo>
                        <a:pt x="1" y="375"/>
                      </a:lnTo>
                      <a:lnTo>
                        <a:pt x="0" y="396"/>
                      </a:lnTo>
                      <a:lnTo>
                        <a:pt x="0" y="415"/>
                      </a:lnTo>
                      <a:lnTo>
                        <a:pt x="3" y="436"/>
                      </a:lnTo>
                      <a:lnTo>
                        <a:pt x="6" y="457"/>
                      </a:lnTo>
                      <a:lnTo>
                        <a:pt x="6" y="457"/>
                      </a:lnTo>
                      <a:lnTo>
                        <a:pt x="12" y="477"/>
                      </a:lnTo>
                      <a:lnTo>
                        <a:pt x="20" y="499"/>
                      </a:lnTo>
                      <a:lnTo>
                        <a:pt x="28" y="522"/>
                      </a:lnTo>
                      <a:lnTo>
                        <a:pt x="38" y="545"/>
                      </a:lnTo>
                      <a:lnTo>
                        <a:pt x="49" y="569"/>
                      </a:lnTo>
                      <a:lnTo>
                        <a:pt x="63" y="592"/>
                      </a:lnTo>
                      <a:lnTo>
                        <a:pt x="79" y="614"/>
                      </a:lnTo>
                      <a:lnTo>
                        <a:pt x="97" y="636"/>
                      </a:lnTo>
                      <a:lnTo>
                        <a:pt x="107" y="646"/>
                      </a:lnTo>
                      <a:lnTo>
                        <a:pt x="117" y="657"/>
                      </a:lnTo>
                      <a:lnTo>
                        <a:pt x="128" y="665"/>
                      </a:lnTo>
                      <a:lnTo>
                        <a:pt x="140" y="675"/>
                      </a:lnTo>
                      <a:lnTo>
                        <a:pt x="152" y="684"/>
                      </a:lnTo>
                      <a:lnTo>
                        <a:pt x="166" y="691"/>
                      </a:lnTo>
                      <a:lnTo>
                        <a:pt x="180" y="699"/>
                      </a:lnTo>
                      <a:lnTo>
                        <a:pt x="195" y="706"/>
                      </a:lnTo>
                      <a:lnTo>
                        <a:pt x="211" y="712"/>
                      </a:lnTo>
                      <a:lnTo>
                        <a:pt x="228" y="717"/>
                      </a:lnTo>
                      <a:lnTo>
                        <a:pt x="245" y="722"/>
                      </a:lnTo>
                      <a:lnTo>
                        <a:pt x="264" y="726"/>
                      </a:lnTo>
                      <a:lnTo>
                        <a:pt x="283" y="728"/>
                      </a:lnTo>
                      <a:lnTo>
                        <a:pt x="304" y="729"/>
                      </a:lnTo>
                      <a:lnTo>
                        <a:pt x="325" y="730"/>
                      </a:lnTo>
                      <a:lnTo>
                        <a:pt x="348" y="730"/>
                      </a:lnTo>
                      <a:lnTo>
                        <a:pt x="348" y="730"/>
                      </a:lnTo>
                      <a:lnTo>
                        <a:pt x="348" y="729"/>
                      </a:lnTo>
                      <a:lnTo>
                        <a:pt x="350" y="728"/>
                      </a:lnTo>
                      <a:lnTo>
                        <a:pt x="351" y="722"/>
                      </a:lnTo>
                      <a:lnTo>
                        <a:pt x="350" y="700"/>
                      </a:lnTo>
                      <a:lnTo>
                        <a:pt x="346" y="668"/>
                      </a:lnTo>
                      <a:lnTo>
                        <a:pt x="341" y="630"/>
                      </a:lnTo>
                      <a:lnTo>
                        <a:pt x="328" y="550"/>
                      </a:lnTo>
                      <a:lnTo>
                        <a:pt x="318" y="493"/>
                      </a:lnTo>
                      <a:lnTo>
                        <a:pt x="318" y="493"/>
                      </a:lnTo>
                      <a:lnTo>
                        <a:pt x="314" y="467"/>
                      </a:lnTo>
                      <a:lnTo>
                        <a:pt x="309" y="428"/>
                      </a:lnTo>
                      <a:lnTo>
                        <a:pt x="305" y="381"/>
                      </a:lnTo>
                      <a:lnTo>
                        <a:pt x="304" y="332"/>
                      </a:lnTo>
                      <a:lnTo>
                        <a:pt x="304" y="309"/>
                      </a:lnTo>
                      <a:lnTo>
                        <a:pt x="305" y="285"/>
                      </a:lnTo>
                      <a:lnTo>
                        <a:pt x="308" y="265"/>
                      </a:lnTo>
                      <a:lnTo>
                        <a:pt x="312" y="246"/>
                      </a:lnTo>
                      <a:lnTo>
                        <a:pt x="317" y="230"/>
                      </a:lnTo>
                      <a:lnTo>
                        <a:pt x="319" y="224"/>
                      </a:lnTo>
                      <a:lnTo>
                        <a:pt x="323" y="218"/>
                      </a:lnTo>
                      <a:lnTo>
                        <a:pt x="328" y="214"/>
                      </a:lnTo>
                      <a:lnTo>
                        <a:pt x="331" y="211"/>
                      </a:lnTo>
                      <a:lnTo>
                        <a:pt x="337" y="208"/>
                      </a:lnTo>
                      <a:lnTo>
                        <a:pt x="342" y="208"/>
                      </a:lnTo>
                      <a:lnTo>
                        <a:pt x="342" y="208"/>
                      </a:lnTo>
                      <a:lnTo>
                        <a:pt x="348" y="208"/>
                      </a:lnTo>
                      <a:lnTo>
                        <a:pt x="353" y="209"/>
                      </a:lnTo>
                      <a:lnTo>
                        <a:pt x="358" y="213"/>
                      </a:lnTo>
                      <a:lnTo>
                        <a:pt x="363" y="217"/>
                      </a:lnTo>
                      <a:lnTo>
                        <a:pt x="368" y="222"/>
                      </a:lnTo>
                      <a:lnTo>
                        <a:pt x="373" y="228"/>
                      </a:lnTo>
                      <a:lnTo>
                        <a:pt x="382" y="244"/>
                      </a:lnTo>
                      <a:lnTo>
                        <a:pt x="389" y="262"/>
                      </a:lnTo>
                      <a:lnTo>
                        <a:pt x="395" y="283"/>
                      </a:lnTo>
                      <a:lnTo>
                        <a:pt x="401" y="306"/>
                      </a:lnTo>
                      <a:lnTo>
                        <a:pt x="406" y="332"/>
                      </a:lnTo>
                      <a:lnTo>
                        <a:pt x="415" y="385"/>
                      </a:lnTo>
                      <a:lnTo>
                        <a:pt x="422" y="439"/>
                      </a:lnTo>
                      <a:lnTo>
                        <a:pt x="431" y="532"/>
                      </a:lnTo>
                      <a:lnTo>
                        <a:pt x="431" y="532"/>
                      </a:lnTo>
                      <a:lnTo>
                        <a:pt x="434" y="575"/>
                      </a:lnTo>
                      <a:lnTo>
                        <a:pt x="439" y="625"/>
                      </a:lnTo>
                      <a:lnTo>
                        <a:pt x="443" y="652"/>
                      </a:lnTo>
                      <a:lnTo>
                        <a:pt x="448" y="680"/>
                      </a:lnTo>
                      <a:lnTo>
                        <a:pt x="454" y="708"/>
                      </a:lnTo>
                      <a:lnTo>
                        <a:pt x="462" y="735"/>
                      </a:lnTo>
                      <a:lnTo>
                        <a:pt x="472" y="761"/>
                      </a:lnTo>
                      <a:lnTo>
                        <a:pt x="477" y="773"/>
                      </a:lnTo>
                      <a:lnTo>
                        <a:pt x="485" y="786"/>
                      </a:lnTo>
                      <a:lnTo>
                        <a:pt x="491" y="798"/>
                      </a:lnTo>
                      <a:lnTo>
                        <a:pt x="498" y="808"/>
                      </a:lnTo>
                      <a:lnTo>
                        <a:pt x="507" y="819"/>
                      </a:lnTo>
                      <a:lnTo>
                        <a:pt x="516" y="829"/>
                      </a:lnTo>
                      <a:lnTo>
                        <a:pt x="526" y="837"/>
                      </a:lnTo>
                      <a:lnTo>
                        <a:pt x="536" y="844"/>
                      </a:lnTo>
                      <a:lnTo>
                        <a:pt x="548" y="852"/>
                      </a:lnTo>
                      <a:lnTo>
                        <a:pt x="561" y="858"/>
                      </a:lnTo>
                      <a:lnTo>
                        <a:pt x="573" y="863"/>
                      </a:lnTo>
                      <a:lnTo>
                        <a:pt x="587" y="867"/>
                      </a:lnTo>
                      <a:lnTo>
                        <a:pt x="602" y="870"/>
                      </a:lnTo>
                      <a:lnTo>
                        <a:pt x="618" y="871"/>
                      </a:lnTo>
                      <a:lnTo>
                        <a:pt x="618" y="871"/>
                      </a:lnTo>
                      <a:lnTo>
                        <a:pt x="678" y="874"/>
                      </a:lnTo>
                      <a:lnTo>
                        <a:pt x="726" y="873"/>
                      </a:lnTo>
                      <a:lnTo>
                        <a:pt x="746" y="873"/>
                      </a:lnTo>
                      <a:lnTo>
                        <a:pt x="763" y="870"/>
                      </a:lnTo>
                      <a:lnTo>
                        <a:pt x="778" y="868"/>
                      </a:lnTo>
                      <a:lnTo>
                        <a:pt x="791" y="864"/>
                      </a:lnTo>
                      <a:lnTo>
                        <a:pt x="801" y="860"/>
                      </a:lnTo>
                      <a:lnTo>
                        <a:pt x="809" y="857"/>
                      </a:lnTo>
                      <a:lnTo>
                        <a:pt x="817" y="852"/>
                      </a:lnTo>
                      <a:lnTo>
                        <a:pt x="822" y="846"/>
                      </a:lnTo>
                      <a:lnTo>
                        <a:pt x="825" y="840"/>
                      </a:lnTo>
                      <a:lnTo>
                        <a:pt x="827" y="833"/>
                      </a:lnTo>
                      <a:lnTo>
                        <a:pt x="828" y="826"/>
                      </a:lnTo>
                      <a:lnTo>
                        <a:pt x="828" y="819"/>
                      </a:lnTo>
                      <a:lnTo>
                        <a:pt x="828" y="819"/>
                      </a:lnTo>
                      <a:lnTo>
                        <a:pt x="782" y="379"/>
                      </a:lnTo>
                      <a:lnTo>
                        <a:pt x="782" y="379"/>
                      </a:lnTo>
                      <a:lnTo>
                        <a:pt x="780" y="358"/>
                      </a:lnTo>
                      <a:lnTo>
                        <a:pt x="775" y="330"/>
                      </a:lnTo>
                      <a:lnTo>
                        <a:pt x="770" y="298"/>
                      </a:lnTo>
                      <a:lnTo>
                        <a:pt x="768" y="265"/>
                      </a:lnTo>
                      <a:lnTo>
                        <a:pt x="766" y="249"/>
                      </a:lnTo>
                      <a:lnTo>
                        <a:pt x="766" y="234"/>
                      </a:lnTo>
                      <a:lnTo>
                        <a:pt x="768" y="219"/>
                      </a:lnTo>
                      <a:lnTo>
                        <a:pt x="770" y="207"/>
                      </a:lnTo>
                      <a:lnTo>
                        <a:pt x="774" y="197"/>
                      </a:lnTo>
                      <a:lnTo>
                        <a:pt x="780" y="189"/>
                      </a:lnTo>
                      <a:lnTo>
                        <a:pt x="782" y="186"/>
                      </a:lnTo>
                      <a:lnTo>
                        <a:pt x="786" y="184"/>
                      </a:lnTo>
                      <a:lnTo>
                        <a:pt x="791" y="182"/>
                      </a:lnTo>
                      <a:lnTo>
                        <a:pt x="796" y="182"/>
                      </a:lnTo>
                      <a:lnTo>
                        <a:pt x="796" y="182"/>
                      </a:lnTo>
                      <a:lnTo>
                        <a:pt x="801" y="182"/>
                      </a:lnTo>
                      <a:lnTo>
                        <a:pt x="806" y="184"/>
                      </a:lnTo>
                      <a:lnTo>
                        <a:pt x="811" y="186"/>
                      </a:lnTo>
                      <a:lnTo>
                        <a:pt x="814" y="190"/>
                      </a:lnTo>
                      <a:lnTo>
                        <a:pt x="823" y="200"/>
                      </a:lnTo>
                      <a:lnTo>
                        <a:pt x="831" y="213"/>
                      </a:lnTo>
                      <a:lnTo>
                        <a:pt x="839" y="230"/>
                      </a:lnTo>
                      <a:lnTo>
                        <a:pt x="845" y="250"/>
                      </a:lnTo>
                      <a:lnTo>
                        <a:pt x="852" y="272"/>
                      </a:lnTo>
                      <a:lnTo>
                        <a:pt x="857" y="295"/>
                      </a:lnTo>
                      <a:lnTo>
                        <a:pt x="862" y="321"/>
                      </a:lnTo>
                      <a:lnTo>
                        <a:pt x="867" y="348"/>
                      </a:lnTo>
                      <a:lnTo>
                        <a:pt x="874" y="403"/>
                      </a:lnTo>
                      <a:lnTo>
                        <a:pt x="881" y="460"/>
                      </a:lnTo>
                      <a:lnTo>
                        <a:pt x="885" y="513"/>
                      </a:lnTo>
                      <a:lnTo>
                        <a:pt x="885" y="513"/>
                      </a:lnTo>
                      <a:lnTo>
                        <a:pt x="888" y="570"/>
                      </a:lnTo>
                      <a:lnTo>
                        <a:pt x="889" y="631"/>
                      </a:lnTo>
                      <a:lnTo>
                        <a:pt x="892" y="662"/>
                      </a:lnTo>
                      <a:lnTo>
                        <a:pt x="894" y="692"/>
                      </a:lnTo>
                      <a:lnTo>
                        <a:pt x="898" y="723"/>
                      </a:lnTo>
                      <a:lnTo>
                        <a:pt x="904" y="751"/>
                      </a:lnTo>
                      <a:lnTo>
                        <a:pt x="911" y="778"/>
                      </a:lnTo>
                      <a:lnTo>
                        <a:pt x="916" y="791"/>
                      </a:lnTo>
                      <a:lnTo>
                        <a:pt x="921" y="803"/>
                      </a:lnTo>
                      <a:lnTo>
                        <a:pt x="926" y="813"/>
                      </a:lnTo>
                      <a:lnTo>
                        <a:pt x="933" y="824"/>
                      </a:lnTo>
                      <a:lnTo>
                        <a:pt x="939" y="832"/>
                      </a:lnTo>
                      <a:lnTo>
                        <a:pt x="948" y="841"/>
                      </a:lnTo>
                      <a:lnTo>
                        <a:pt x="957" y="848"/>
                      </a:lnTo>
                      <a:lnTo>
                        <a:pt x="966" y="854"/>
                      </a:lnTo>
                      <a:lnTo>
                        <a:pt x="976" y="858"/>
                      </a:lnTo>
                      <a:lnTo>
                        <a:pt x="987" y="862"/>
                      </a:lnTo>
                      <a:lnTo>
                        <a:pt x="999" y="864"/>
                      </a:lnTo>
                      <a:lnTo>
                        <a:pt x="1013" y="865"/>
                      </a:lnTo>
                      <a:lnTo>
                        <a:pt x="1026" y="864"/>
                      </a:lnTo>
                      <a:lnTo>
                        <a:pt x="1042" y="862"/>
                      </a:lnTo>
                      <a:lnTo>
                        <a:pt x="1042" y="862"/>
                      </a:lnTo>
                      <a:lnTo>
                        <a:pt x="1102" y="849"/>
                      </a:lnTo>
                      <a:lnTo>
                        <a:pt x="1155" y="838"/>
                      </a:lnTo>
                      <a:lnTo>
                        <a:pt x="1201" y="826"/>
                      </a:lnTo>
                      <a:lnTo>
                        <a:pt x="1239" y="814"/>
                      </a:lnTo>
                      <a:lnTo>
                        <a:pt x="1253" y="808"/>
                      </a:lnTo>
                      <a:lnTo>
                        <a:pt x="1267" y="802"/>
                      </a:lnTo>
                      <a:lnTo>
                        <a:pt x="1278" y="797"/>
                      </a:lnTo>
                      <a:lnTo>
                        <a:pt x="1286" y="791"/>
                      </a:lnTo>
                      <a:lnTo>
                        <a:pt x="1292" y="786"/>
                      </a:lnTo>
                      <a:lnTo>
                        <a:pt x="1296" y="779"/>
                      </a:lnTo>
                      <a:lnTo>
                        <a:pt x="1296" y="775"/>
                      </a:lnTo>
                      <a:lnTo>
                        <a:pt x="1295" y="770"/>
                      </a:lnTo>
                      <a:lnTo>
                        <a:pt x="1295" y="770"/>
                      </a:lnTo>
                      <a:lnTo>
                        <a:pt x="1285" y="755"/>
                      </a:lnTo>
                      <a:lnTo>
                        <a:pt x="1273" y="729"/>
                      </a:lnTo>
                      <a:lnTo>
                        <a:pt x="1259" y="695"/>
                      </a:lnTo>
                      <a:lnTo>
                        <a:pt x="1245" y="652"/>
                      </a:lnTo>
                      <a:lnTo>
                        <a:pt x="1237" y="627"/>
                      </a:lnTo>
                      <a:lnTo>
                        <a:pt x="1230" y="602"/>
                      </a:lnTo>
                      <a:lnTo>
                        <a:pt x="1223" y="572"/>
                      </a:lnTo>
                      <a:lnTo>
                        <a:pt x="1216" y="543"/>
                      </a:lnTo>
                      <a:lnTo>
                        <a:pt x="1212" y="511"/>
                      </a:lnTo>
                      <a:lnTo>
                        <a:pt x="1208" y="478"/>
                      </a:lnTo>
                      <a:lnTo>
                        <a:pt x="1204" y="444"/>
                      </a:lnTo>
                      <a:lnTo>
                        <a:pt x="1202" y="408"/>
                      </a:lnTo>
                      <a:lnTo>
                        <a:pt x="1202" y="408"/>
                      </a:lnTo>
                      <a:lnTo>
                        <a:pt x="1201" y="342"/>
                      </a:lnTo>
                      <a:lnTo>
                        <a:pt x="1199" y="292"/>
                      </a:lnTo>
                      <a:lnTo>
                        <a:pt x="1201" y="255"/>
                      </a:lnTo>
                      <a:lnTo>
                        <a:pt x="1202" y="228"/>
                      </a:lnTo>
                      <a:lnTo>
                        <a:pt x="1203" y="218"/>
                      </a:lnTo>
                      <a:lnTo>
                        <a:pt x="1205" y="211"/>
                      </a:lnTo>
                      <a:lnTo>
                        <a:pt x="1208" y="204"/>
                      </a:lnTo>
                      <a:lnTo>
                        <a:pt x="1212" y="200"/>
                      </a:lnTo>
                      <a:lnTo>
                        <a:pt x="1215" y="196"/>
                      </a:lnTo>
                      <a:lnTo>
                        <a:pt x="1219" y="195"/>
                      </a:lnTo>
                      <a:lnTo>
                        <a:pt x="1229" y="191"/>
                      </a:lnTo>
                      <a:lnTo>
                        <a:pt x="1229" y="191"/>
                      </a:lnTo>
                      <a:lnTo>
                        <a:pt x="1235" y="192"/>
                      </a:lnTo>
                      <a:lnTo>
                        <a:pt x="1241" y="195"/>
                      </a:lnTo>
                      <a:lnTo>
                        <a:pt x="1248" y="200"/>
                      </a:lnTo>
                      <a:lnTo>
                        <a:pt x="1254" y="206"/>
                      </a:lnTo>
                      <a:lnTo>
                        <a:pt x="1262" y="216"/>
                      </a:lnTo>
                      <a:lnTo>
                        <a:pt x="1268" y="225"/>
                      </a:lnTo>
                      <a:lnTo>
                        <a:pt x="1274" y="238"/>
                      </a:lnTo>
                      <a:lnTo>
                        <a:pt x="1280" y="251"/>
                      </a:lnTo>
                      <a:lnTo>
                        <a:pt x="1286" y="266"/>
                      </a:lnTo>
                      <a:lnTo>
                        <a:pt x="1292" y="282"/>
                      </a:lnTo>
                      <a:lnTo>
                        <a:pt x="1297" y="299"/>
                      </a:lnTo>
                      <a:lnTo>
                        <a:pt x="1301" y="316"/>
                      </a:lnTo>
                      <a:lnTo>
                        <a:pt x="1305" y="334"/>
                      </a:lnTo>
                      <a:lnTo>
                        <a:pt x="1307" y="354"/>
                      </a:lnTo>
                      <a:lnTo>
                        <a:pt x="1310" y="372"/>
                      </a:lnTo>
                      <a:lnTo>
                        <a:pt x="1311" y="392"/>
                      </a:lnTo>
                      <a:lnTo>
                        <a:pt x="1311" y="392"/>
                      </a:lnTo>
                      <a:lnTo>
                        <a:pt x="1311" y="435"/>
                      </a:lnTo>
                      <a:lnTo>
                        <a:pt x="1313" y="483"/>
                      </a:lnTo>
                      <a:lnTo>
                        <a:pt x="1317" y="532"/>
                      </a:lnTo>
                      <a:lnTo>
                        <a:pt x="1322" y="580"/>
                      </a:lnTo>
                      <a:lnTo>
                        <a:pt x="1326" y="603"/>
                      </a:lnTo>
                      <a:lnTo>
                        <a:pt x="1329" y="625"/>
                      </a:lnTo>
                      <a:lnTo>
                        <a:pt x="1334" y="645"/>
                      </a:lnTo>
                      <a:lnTo>
                        <a:pt x="1339" y="662"/>
                      </a:lnTo>
                      <a:lnTo>
                        <a:pt x="1345" y="678"/>
                      </a:lnTo>
                      <a:lnTo>
                        <a:pt x="1351" y="690"/>
                      </a:lnTo>
                      <a:lnTo>
                        <a:pt x="1359" y="700"/>
                      </a:lnTo>
                      <a:lnTo>
                        <a:pt x="1362" y="703"/>
                      </a:lnTo>
                      <a:lnTo>
                        <a:pt x="1366" y="706"/>
                      </a:lnTo>
                      <a:lnTo>
                        <a:pt x="1366" y="706"/>
                      </a:lnTo>
                      <a:lnTo>
                        <a:pt x="1375" y="710"/>
                      </a:lnTo>
                      <a:lnTo>
                        <a:pt x="1383" y="712"/>
                      </a:lnTo>
                      <a:lnTo>
                        <a:pt x="1392" y="715"/>
                      </a:lnTo>
                      <a:lnTo>
                        <a:pt x="1400" y="716"/>
                      </a:lnTo>
                      <a:lnTo>
                        <a:pt x="1418" y="716"/>
                      </a:lnTo>
                      <a:lnTo>
                        <a:pt x="1436" y="713"/>
                      </a:lnTo>
                      <a:lnTo>
                        <a:pt x="1453" y="708"/>
                      </a:lnTo>
                      <a:lnTo>
                        <a:pt x="1469" y="702"/>
                      </a:lnTo>
                      <a:lnTo>
                        <a:pt x="1485" y="695"/>
                      </a:lnTo>
                      <a:lnTo>
                        <a:pt x="1501" y="686"/>
                      </a:lnTo>
                      <a:lnTo>
                        <a:pt x="1501" y="686"/>
                      </a:lnTo>
                      <a:lnTo>
                        <a:pt x="1523" y="673"/>
                      </a:lnTo>
                      <a:lnTo>
                        <a:pt x="1539" y="663"/>
                      </a:lnTo>
                      <a:lnTo>
                        <a:pt x="1556" y="652"/>
                      </a:lnTo>
                      <a:lnTo>
                        <a:pt x="1576" y="637"/>
                      </a:lnTo>
                      <a:lnTo>
                        <a:pt x="1595" y="621"/>
                      </a:lnTo>
                      <a:lnTo>
                        <a:pt x="1615" y="603"/>
                      </a:lnTo>
                      <a:lnTo>
                        <a:pt x="1633" y="582"/>
                      </a:lnTo>
                      <a:lnTo>
                        <a:pt x="1652" y="559"/>
                      </a:lnTo>
                      <a:lnTo>
                        <a:pt x="1659" y="547"/>
                      </a:lnTo>
                      <a:lnTo>
                        <a:pt x="1666" y="533"/>
                      </a:lnTo>
                      <a:lnTo>
                        <a:pt x="1674" y="520"/>
                      </a:lnTo>
                      <a:lnTo>
                        <a:pt x="1680" y="505"/>
                      </a:lnTo>
                      <a:lnTo>
                        <a:pt x="1685" y="490"/>
                      </a:lnTo>
                      <a:lnTo>
                        <a:pt x="1690" y="474"/>
                      </a:lnTo>
                      <a:lnTo>
                        <a:pt x="1693" y="458"/>
                      </a:lnTo>
                      <a:lnTo>
                        <a:pt x="1696" y="441"/>
                      </a:lnTo>
                      <a:lnTo>
                        <a:pt x="1697" y="424"/>
                      </a:lnTo>
                      <a:lnTo>
                        <a:pt x="1696" y="406"/>
                      </a:lnTo>
                      <a:lnTo>
                        <a:pt x="1695" y="387"/>
                      </a:lnTo>
                      <a:lnTo>
                        <a:pt x="1692" y="368"/>
                      </a:lnTo>
                      <a:lnTo>
                        <a:pt x="1688" y="348"/>
                      </a:lnTo>
                      <a:lnTo>
                        <a:pt x="1682" y="327"/>
                      </a:lnTo>
                      <a:lnTo>
                        <a:pt x="1682" y="327"/>
                      </a:lnTo>
                      <a:lnTo>
                        <a:pt x="1668" y="287"/>
                      </a:lnTo>
                      <a:lnTo>
                        <a:pt x="1653" y="251"/>
                      </a:lnTo>
                      <a:lnTo>
                        <a:pt x="1637" y="220"/>
                      </a:lnTo>
                      <a:lnTo>
                        <a:pt x="1621" y="192"/>
                      </a:lnTo>
                      <a:lnTo>
                        <a:pt x="1605" y="168"/>
                      </a:lnTo>
                      <a:lnTo>
                        <a:pt x="1589" y="147"/>
                      </a:lnTo>
                      <a:lnTo>
                        <a:pt x="1572" y="128"/>
                      </a:lnTo>
                      <a:lnTo>
                        <a:pt x="1556" y="114"/>
                      </a:lnTo>
                      <a:lnTo>
                        <a:pt x="1541" y="102"/>
                      </a:lnTo>
                      <a:lnTo>
                        <a:pt x="1527" y="90"/>
                      </a:lnTo>
                      <a:lnTo>
                        <a:pt x="1513" y="83"/>
                      </a:lnTo>
                      <a:lnTo>
                        <a:pt x="1501" y="77"/>
                      </a:lnTo>
                      <a:lnTo>
                        <a:pt x="1490" y="73"/>
                      </a:lnTo>
                      <a:lnTo>
                        <a:pt x="1480" y="71"/>
                      </a:lnTo>
                      <a:lnTo>
                        <a:pt x="1473" y="70"/>
                      </a:lnTo>
                      <a:lnTo>
                        <a:pt x="1468" y="68"/>
                      </a:lnTo>
                      <a:lnTo>
                        <a:pt x="1468" y="68"/>
                      </a:lnTo>
                      <a:lnTo>
                        <a:pt x="1459" y="70"/>
                      </a:lnTo>
                      <a:lnTo>
                        <a:pt x="1452" y="71"/>
                      </a:lnTo>
                      <a:lnTo>
                        <a:pt x="1445" y="73"/>
                      </a:lnTo>
                      <a:lnTo>
                        <a:pt x="1442" y="76"/>
                      </a:lnTo>
                      <a:lnTo>
                        <a:pt x="1440" y="78"/>
                      </a:lnTo>
                      <a:lnTo>
                        <a:pt x="1436" y="87"/>
                      </a:lnTo>
                      <a:lnTo>
                        <a:pt x="1433" y="99"/>
                      </a:lnTo>
                      <a:lnTo>
                        <a:pt x="1433" y="116"/>
                      </a:lnTo>
                      <a:lnTo>
                        <a:pt x="1435" y="138"/>
                      </a:lnTo>
                      <a:lnTo>
                        <a:pt x="1435" y="138"/>
                      </a:lnTo>
                      <a:lnTo>
                        <a:pt x="1440" y="174"/>
                      </a:lnTo>
                      <a:lnTo>
                        <a:pt x="1446" y="224"/>
                      </a:lnTo>
                      <a:lnTo>
                        <a:pt x="1453" y="282"/>
                      </a:lnTo>
                      <a:lnTo>
                        <a:pt x="1459" y="342"/>
                      </a:lnTo>
                      <a:lnTo>
                        <a:pt x="1462" y="371"/>
                      </a:lnTo>
                      <a:lnTo>
                        <a:pt x="1462" y="397"/>
                      </a:lnTo>
                      <a:lnTo>
                        <a:pt x="1462" y="422"/>
                      </a:lnTo>
                      <a:lnTo>
                        <a:pt x="1459" y="441"/>
                      </a:lnTo>
                      <a:lnTo>
                        <a:pt x="1458" y="450"/>
                      </a:lnTo>
                      <a:lnTo>
                        <a:pt x="1456" y="457"/>
                      </a:lnTo>
                      <a:lnTo>
                        <a:pt x="1453" y="463"/>
                      </a:lnTo>
                      <a:lnTo>
                        <a:pt x="1449" y="467"/>
                      </a:lnTo>
                      <a:lnTo>
                        <a:pt x="1446" y="471"/>
                      </a:lnTo>
                      <a:lnTo>
                        <a:pt x="1441" y="472"/>
                      </a:lnTo>
                      <a:lnTo>
                        <a:pt x="1436" y="472"/>
                      </a:lnTo>
                      <a:lnTo>
                        <a:pt x="1430" y="469"/>
                      </a:lnTo>
                      <a:lnTo>
                        <a:pt x="1430" y="469"/>
                      </a:lnTo>
                      <a:lnTo>
                        <a:pt x="1425" y="466"/>
                      </a:lnTo>
                      <a:lnTo>
                        <a:pt x="1419" y="461"/>
                      </a:lnTo>
                      <a:lnTo>
                        <a:pt x="1414" y="456"/>
                      </a:lnTo>
                      <a:lnTo>
                        <a:pt x="1409" y="448"/>
                      </a:lnTo>
                      <a:lnTo>
                        <a:pt x="1400" y="434"/>
                      </a:lnTo>
                      <a:lnTo>
                        <a:pt x="1392" y="415"/>
                      </a:lnTo>
                      <a:lnTo>
                        <a:pt x="1386" y="395"/>
                      </a:lnTo>
                      <a:lnTo>
                        <a:pt x="1381" y="371"/>
                      </a:lnTo>
                      <a:lnTo>
                        <a:pt x="1376" y="348"/>
                      </a:lnTo>
                      <a:lnTo>
                        <a:pt x="1372" y="323"/>
                      </a:lnTo>
                      <a:lnTo>
                        <a:pt x="1367" y="277"/>
                      </a:lnTo>
                      <a:lnTo>
                        <a:pt x="1364" y="233"/>
                      </a:lnTo>
                      <a:lnTo>
                        <a:pt x="1361" y="180"/>
                      </a:lnTo>
                      <a:lnTo>
                        <a:pt x="1361" y="180"/>
                      </a:lnTo>
                      <a:lnTo>
                        <a:pt x="1359" y="148"/>
                      </a:lnTo>
                      <a:lnTo>
                        <a:pt x="1356" y="128"/>
                      </a:lnTo>
                      <a:lnTo>
                        <a:pt x="1354" y="108"/>
                      </a:lnTo>
                      <a:lnTo>
                        <a:pt x="1350" y="88"/>
                      </a:lnTo>
                      <a:lnTo>
                        <a:pt x="1348" y="79"/>
                      </a:lnTo>
                      <a:lnTo>
                        <a:pt x="1344" y="72"/>
                      </a:lnTo>
                      <a:lnTo>
                        <a:pt x="1340" y="65"/>
                      </a:lnTo>
                      <a:lnTo>
                        <a:pt x="1337" y="60"/>
                      </a:lnTo>
                      <a:lnTo>
                        <a:pt x="1332" y="56"/>
                      </a:lnTo>
                      <a:lnTo>
                        <a:pt x="1326" y="54"/>
                      </a:lnTo>
                      <a:lnTo>
                        <a:pt x="1326" y="54"/>
                      </a:lnTo>
                      <a:lnTo>
                        <a:pt x="1281" y="43"/>
                      </a:lnTo>
                      <a:lnTo>
                        <a:pt x="1214" y="27"/>
                      </a:lnTo>
                      <a:lnTo>
                        <a:pt x="1178" y="18"/>
                      </a:lnTo>
                      <a:lnTo>
                        <a:pt x="1147" y="12"/>
                      </a:lnTo>
                      <a:lnTo>
                        <a:pt x="1120" y="7"/>
                      </a:lnTo>
                      <a:lnTo>
                        <a:pt x="1110" y="7"/>
                      </a:lnTo>
                      <a:lnTo>
                        <a:pt x="1102" y="7"/>
                      </a:lnTo>
                      <a:lnTo>
                        <a:pt x="1102" y="7"/>
                      </a:lnTo>
                      <a:lnTo>
                        <a:pt x="1093" y="10"/>
                      </a:lnTo>
                      <a:lnTo>
                        <a:pt x="1083" y="12"/>
                      </a:lnTo>
                      <a:lnTo>
                        <a:pt x="1075" y="16"/>
                      </a:lnTo>
                      <a:lnTo>
                        <a:pt x="1069" y="22"/>
                      </a:lnTo>
                      <a:lnTo>
                        <a:pt x="1064" y="30"/>
                      </a:lnTo>
                      <a:lnTo>
                        <a:pt x="1062" y="41"/>
                      </a:lnTo>
                      <a:lnTo>
                        <a:pt x="1062" y="56"/>
                      </a:lnTo>
                      <a:lnTo>
                        <a:pt x="1062" y="73"/>
                      </a:lnTo>
                      <a:lnTo>
                        <a:pt x="1062" y="73"/>
                      </a:lnTo>
                      <a:lnTo>
                        <a:pt x="1073" y="158"/>
                      </a:lnTo>
                      <a:lnTo>
                        <a:pt x="1080" y="223"/>
                      </a:lnTo>
                      <a:lnTo>
                        <a:pt x="1085" y="293"/>
                      </a:lnTo>
                      <a:lnTo>
                        <a:pt x="1088" y="327"/>
                      </a:lnTo>
                      <a:lnTo>
                        <a:pt x="1088" y="359"/>
                      </a:lnTo>
                      <a:lnTo>
                        <a:pt x="1086" y="390"/>
                      </a:lnTo>
                      <a:lnTo>
                        <a:pt x="1084" y="417"/>
                      </a:lnTo>
                      <a:lnTo>
                        <a:pt x="1083" y="428"/>
                      </a:lnTo>
                      <a:lnTo>
                        <a:pt x="1080" y="439"/>
                      </a:lnTo>
                      <a:lnTo>
                        <a:pt x="1077" y="447"/>
                      </a:lnTo>
                      <a:lnTo>
                        <a:pt x="1073" y="456"/>
                      </a:lnTo>
                      <a:lnTo>
                        <a:pt x="1069" y="462"/>
                      </a:lnTo>
                      <a:lnTo>
                        <a:pt x="1064" y="466"/>
                      </a:lnTo>
                      <a:lnTo>
                        <a:pt x="1058" y="469"/>
                      </a:lnTo>
                      <a:lnTo>
                        <a:pt x="1052" y="469"/>
                      </a:lnTo>
                      <a:lnTo>
                        <a:pt x="1052" y="469"/>
                      </a:lnTo>
                      <a:lnTo>
                        <a:pt x="1046" y="469"/>
                      </a:lnTo>
                      <a:lnTo>
                        <a:pt x="1040" y="467"/>
                      </a:lnTo>
                      <a:lnTo>
                        <a:pt x="1034" y="464"/>
                      </a:lnTo>
                      <a:lnTo>
                        <a:pt x="1029" y="461"/>
                      </a:lnTo>
                      <a:lnTo>
                        <a:pt x="1024" y="457"/>
                      </a:lnTo>
                      <a:lnTo>
                        <a:pt x="1019" y="451"/>
                      </a:lnTo>
                      <a:lnTo>
                        <a:pt x="1010" y="439"/>
                      </a:lnTo>
                      <a:lnTo>
                        <a:pt x="1003" y="423"/>
                      </a:lnTo>
                      <a:lnTo>
                        <a:pt x="997" y="404"/>
                      </a:lnTo>
                      <a:lnTo>
                        <a:pt x="992" y="385"/>
                      </a:lnTo>
                      <a:lnTo>
                        <a:pt x="987" y="364"/>
                      </a:lnTo>
                      <a:lnTo>
                        <a:pt x="984" y="342"/>
                      </a:lnTo>
                      <a:lnTo>
                        <a:pt x="981" y="319"/>
                      </a:lnTo>
                      <a:lnTo>
                        <a:pt x="976" y="274"/>
                      </a:lnTo>
                      <a:lnTo>
                        <a:pt x="974" y="231"/>
                      </a:lnTo>
                      <a:lnTo>
                        <a:pt x="972" y="196"/>
                      </a:lnTo>
                      <a:lnTo>
                        <a:pt x="972" y="196"/>
                      </a:lnTo>
                      <a:lnTo>
                        <a:pt x="971" y="163"/>
                      </a:lnTo>
                      <a:lnTo>
                        <a:pt x="969" y="131"/>
                      </a:lnTo>
                      <a:lnTo>
                        <a:pt x="965" y="99"/>
                      </a:lnTo>
                      <a:lnTo>
                        <a:pt x="960" y="70"/>
                      </a:lnTo>
                      <a:lnTo>
                        <a:pt x="958" y="56"/>
                      </a:lnTo>
                      <a:lnTo>
                        <a:pt x="954" y="44"/>
                      </a:lnTo>
                      <a:lnTo>
                        <a:pt x="950" y="33"/>
                      </a:lnTo>
                      <a:lnTo>
                        <a:pt x="945" y="24"/>
                      </a:lnTo>
                      <a:lnTo>
                        <a:pt x="941" y="17"/>
                      </a:lnTo>
                      <a:lnTo>
                        <a:pt x="934" y="11"/>
                      </a:lnTo>
                      <a:lnTo>
                        <a:pt x="927" y="7"/>
                      </a:lnTo>
                      <a:lnTo>
                        <a:pt x="920" y="5"/>
                      </a:lnTo>
                      <a:lnTo>
                        <a:pt x="920" y="5"/>
                      </a:lnTo>
                      <a:lnTo>
                        <a:pt x="862" y="2"/>
                      </a:lnTo>
                      <a:lnTo>
                        <a:pt x="819" y="0"/>
                      </a:lnTo>
                      <a:lnTo>
                        <a:pt x="773" y="0"/>
                      </a:lnTo>
                      <a:lnTo>
                        <a:pt x="727" y="0"/>
                      </a:lnTo>
                      <a:lnTo>
                        <a:pt x="684" y="1"/>
                      </a:lnTo>
                      <a:lnTo>
                        <a:pt x="666" y="2"/>
                      </a:lnTo>
                      <a:lnTo>
                        <a:pt x="650" y="5"/>
                      </a:lnTo>
                      <a:lnTo>
                        <a:pt x="638" y="7"/>
                      </a:lnTo>
                      <a:lnTo>
                        <a:pt x="628" y="11"/>
                      </a:lnTo>
                      <a:lnTo>
                        <a:pt x="628" y="11"/>
                      </a:lnTo>
                      <a:lnTo>
                        <a:pt x="614" y="18"/>
                      </a:lnTo>
                      <a:lnTo>
                        <a:pt x="606" y="24"/>
                      </a:lnTo>
                      <a:lnTo>
                        <a:pt x="601" y="29"/>
                      </a:lnTo>
                      <a:lnTo>
                        <a:pt x="599" y="37"/>
                      </a:lnTo>
                      <a:lnTo>
                        <a:pt x="599" y="44"/>
                      </a:lnTo>
                      <a:lnTo>
                        <a:pt x="600" y="55"/>
                      </a:lnTo>
                      <a:lnTo>
                        <a:pt x="601" y="67"/>
                      </a:lnTo>
                      <a:lnTo>
                        <a:pt x="603" y="84"/>
                      </a:lnTo>
                      <a:lnTo>
                        <a:pt x="603" y="84"/>
                      </a:lnTo>
                      <a:lnTo>
                        <a:pt x="612" y="168"/>
                      </a:lnTo>
                      <a:lnTo>
                        <a:pt x="617" y="231"/>
                      </a:lnTo>
                      <a:lnTo>
                        <a:pt x="621" y="301"/>
                      </a:lnTo>
                      <a:lnTo>
                        <a:pt x="622" y="334"/>
                      </a:lnTo>
                      <a:lnTo>
                        <a:pt x="622" y="368"/>
                      </a:lnTo>
                      <a:lnTo>
                        <a:pt x="621" y="397"/>
                      </a:lnTo>
                      <a:lnTo>
                        <a:pt x="618" y="423"/>
                      </a:lnTo>
                      <a:lnTo>
                        <a:pt x="614" y="445"/>
                      </a:lnTo>
                      <a:lnTo>
                        <a:pt x="612" y="453"/>
                      </a:lnTo>
                      <a:lnTo>
                        <a:pt x="610" y="461"/>
                      </a:lnTo>
                      <a:lnTo>
                        <a:pt x="606" y="467"/>
                      </a:lnTo>
                      <a:lnTo>
                        <a:pt x="602" y="471"/>
                      </a:lnTo>
                      <a:lnTo>
                        <a:pt x="599" y="473"/>
                      </a:lnTo>
                      <a:lnTo>
                        <a:pt x="594" y="473"/>
                      </a:lnTo>
                      <a:lnTo>
                        <a:pt x="594" y="473"/>
                      </a:lnTo>
                      <a:lnTo>
                        <a:pt x="587" y="471"/>
                      </a:lnTo>
                      <a:lnTo>
                        <a:pt x="583" y="467"/>
                      </a:lnTo>
                      <a:lnTo>
                        <a:pt x="579" y="462"/>
                      </a:lnTo>
                      <a:lnTo>
                        <a:pt x="574" y="456"/>
                      </a:lnTo>
                      <a:lnTo>
                        <a:pt x="569" y="447"/>
                      </a:lnTo>
                      <a:lnTo>
                        <a:pt x="565" y="439"/>
                      </a:lnTo>
                      <a:lnTo>
                        <a:pt x="558" y="417"/>
                      </a:lnTo>
                      <a:lnTo>
                        <a:pt x="551" y="391"/>
                      </a:lnTo>
                      <a:lnTo>
                        <a:pt x="545" y="363"/>
                      </a:lnTo>
                      <a:lnTo>
                        <a:pt x="540" y="332"/>
                      </a:lnTo>
                      <a:lnTo>
                        <a:pt x="535" y="300"/>
                      </a:lnTo>
                      <a:lnTo>
                        <a:pt x="527" y="235"/>
                      </a:lnTo>
                      <a:lnTo>
                        <a:pt x="521" y="176"/>
                      </a:lnTo>
                      <a:lnTo>
                        <a:pt x="515" y="103"/>
                      </a:lnTo>
                      <a:lnTo>
                        <a:pt x="515" y="103"/>
                      </a:lnTo>
                      <a:lnTo>
                        <a:pt x="513" y="88"/>
                      </a:lnTo>
                      <a:lnTo>
                        <a:pt x="509" y="75"/>
                      </a:lnTo>
                      <a:lnTo>
                        <a:pt x="504" y="62"/>
                      </a:lnTo>
                      <a:lnTo>
                        <a:pt x="497" y="54"/>
                      </a:lnTo>
                      <a:lnTo>
                        <a:pt x="487" y="46"/>
                      </a:lnTo>
                      <a:lnTo>
                        <a:pt x="482" y="43"/>
                      </a:lnTo>
                      <a:lnTo>
                        <a:pt x="477" y="41"/>
                      </a:lnTo>
                      <a:lnTo>
                        <a:pt x="471" y="39"/>
                      </a:lnTo>
                      <a:lnTo>
                        <a:pt x="465" y="39"/>
                      </a:lnTo>
                      <a:lnTo>
                        <a:pt x="451" y="39"/>
                      </a:lnTo>
                      <a:lnTo>
                        <a:pt x="451" y="39"/>
                      </a:lnTo>
                      <a:lnTo>
                        <a:pt x="394" y="46"/>
                      </a:lnTo>
                      <a:lnTo>
                        <a:pt x="350" y="52"/>
                      </a:lnTo>
                      <a:lnTo>
                        <a:pt x="302" y="62"/>
                      </a:lnTo>
                      <a:lnTo>
                        <a:pt x="277" y="68"/>
                      </a:lnTo>
                      <a:lnTo>
                        <a:pt x="255" y="75"/>
                      </a:lnTo>
                      <a:lnTo>
                        <a:pt x="233" y="82"/>
                      </a:lnTo>
                      <a:lnTo>
                        <a:pt x="214" y="90"/>
                      </a:lnTo>
                      <a:lnTo>
                        <a:pt x="198" y="100"/>
                      </a:lnTo>
                      <a:lnTo>
                        <a:pt x="190" y="105"/>
                      </a:lnTo>
                      <a:lnTo>
                        <a:pt x="183" y="111"/>
                      </a:lnTo>
                      <a:lnTo>
                        <a:pt x="178" y="117"/>
                      </a:lnTo>
                      <a:lnTo>
                        <a:pt x="173" y="124"/>
                      </a:lnTo>
                      <a:lnTo>
                        <a:pt x="171" y="130"/>
                      </a:lnTo>
                      <a:lnTo>
                        <a:pt x="168" y="136"/>
                      </a:lnTo>
                      <a:lnTo>
                        <a:pt x="168" y="136"/>
                      </a:lnTo>
                      <a:lnTo>
                        <a:pt x="166" y="152"/>
                      </a:lnTo>
                      <a:lnTo>
                        <a:pt x="165" y="169"/>
                      </a:lnTo>
                      <a:lnTo>
                        <a:pt x="165" y="189"/>
                      </a:lnTo>
                      <a:lnTo>
                        <a:pt x="165" y="209"/>
                      </a:lnTo>
                      <a:lnTo>
                        <a:pt x="167" y="255"/>
                      </a:lnTo>
                      <a:lnTo>
                        <a:pt x="169" y="300"/>
                      </a:lnTo>
                      <a:lnTo>
                        <a:pt x="172" y="342"/>
                      </a:lnTo>
                      <a:lnTo>
                        <a:pt x="172" y="360"/>
                      </a:lnTo>
                      <a:lnTo>
                        <a:pt x="171" y="376"/>
                      </a:lnTo>
                      <a:lnTo>
                        <a:pt x="169" y="390"/>
                      </a:lnTo>
                      <a:lnTo>
                        <a:pt x="166" y="401"/>
                      </a:lnTo>
                      <a:lnTo>
                        <a:pt x="163" y="404"/>
                      </a:lnTo>
                      <a:lnTo>
                        <a:pt x="161" y="407"/>
                      </a:lnTo>
                      <a:lnTo>
                        <a:pt x="158" y="409"/>
                      </a:lnTo>
                      <a:lnTo>
                        <a:pt x="155" y="409"/>
                      </a:lnTo>
                      <a:lnTo>
                        <a:pt x="155" y="409"/>
                      </a:lnTo>
                      <a:lnTo>
                        <a:pt x="147" y="409"/>
                      </a:lnTo>
                      <a:lnTo>
                        <a:pt x="140" y="407"/>
                      </a:lnTo>
                      <a:lnTo>
                        <a:pt x="134" y="403"/>
                      </a:lnTo>
                      <a:lnTo>
                        <a:pt x="129" y="398"/>
                      </a:lnTo>
                      <a:lnTo>
                        <a:pt x="123" y="392"/>
                      </a:lnTo>
                      <a:lnTo>
                        <a:pt x="118" y="385"/>
                      </a:lnTo>
                      <a:lnTo>
                        <a:pt x="114" y="377"/>
                      </a:lnTo>
                      <a:lnTo>
                        <a:pt x="111" y="369"/>
                      </a:lnTo>
                      <a:lnTo>
                        <a:pt x="103" y="348"/>
                      </a:lnTo>
                      <a:lnTo>
                        <a:pt x="97" y="326"/>
                      </a:lnTo>
                      <a:lnTo>
                        <a:pt x="93" y="304"/>
                      </a:lnTo>
                      <a:lnTo>
                        <a:pt x="88" y="281"/>
                      </a:lnTo>
                      <a:lnTo>
                        <a:pt x="82" y="238"/>
                      </a:lnTo>
                      <a:lnTo>
                        <a:pt x="80" y="220"/>
                      </a:lnTo>
                      <a:lnTo>
                        <a:pt x="76" y="206"/>
                      </a:lnTo>
                      <a:lnTo>
                        <a:pt x="73" y="197"/>
                      </a:lnTo>
                      <a:lnTo>
                        <a:pt x="71" y="193"/>
                      </a:lnTo>
                      <a:lnTo>
                        <a:pt x="69" y="192"/>
                      </a:lnTo>
                      <a:lnTo>
                        <a:pt x="66" y="193"/>
                      </a:lnTo>
                      <a:lnTo>
                        <a:pt x="64" y="195"/>
                      </a:lnTo>
                      <a:lnTo>
                        <a:pt x="60" y="200"/>
                      </a:lnTo>
                      <a:lnTo>
                        <a:pt x="58" y="204"/>
                      </a:lnTo>
                      <a:lnTo>
                        <a:pt x="58" y="204"/>
                      </a:lnTo>
                      <a:close/>
                    </a:path>
                  </a:pathLst>
                </a:cu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00">
                    <a:latin typeface="Arial" panose="020B0604020202020204" pitchFamily="34" charset="0"/>
                    <a:cs typeface="Arial" panose="020B0604020202020204" pitchFamily="34" charset="0"/>
                  </a:endParaRPr>
                </a:p>
              </p:txBody>
            </p:sp>
            <p:sp>
              <p:nvSpPr>
                <p:cNvPr id="716" name="Star: 5 Points 715">
                  <a:extLst>
                    <a:ext uri="{FF2B5EF4-FFF2-40B4-BE49-F238E27FC236}">
                      <a16:creationId xmlns:a16="http://schemas.microsoft.com/office/drawing/2014/main" id="{3EAFE277-061A-4AAB-9379-100409503608}"/>
                    </a:ext>
                  </a:extLst>
                </p:cNvPr>
                <p:cNvSpPr/>
                <p:nvPr/>
              </p:nvSpPr>
              <p:spPr>
                <a:xfrm>
                  <a:off x="8316081" y="5642644"/>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7" name="Star: 5 Points 716">
                  <a:extLst>
                    <a:ext uri="{FF2B5EF4-FFF2-40B4-BE49-F238E27FC236}">
                      <a16:creationId xmlns:a16="http://schemas.microsoft.com/office/drawing/2014/main" id="{4AFF3ED2-0E4E-4DCC-9762-F8A513CF769C}"/>
                    </a:ext>
                  </a:extLst>
                </p:cNvPr>
                <p:cNvSpPr/>
                <p:nvPr/>
              </p:nvSpPr>
              <p:spPr>
                <a:xfrm>
                  <a:off x="8418206" y="5573327"/>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8" name="Star: 5 Points 717">
                  <a:extLst>
                    <a:ext uri="{FF2B5EF4-FFF2-40B4-BE49-F238E27FC236}">
                      <a16:creationId xmlns:a16="http://schemas.microsoft.com/office/drawing/2014/main" id="{A49D4687-E0C2-43FE-B213-45C0C0352E03}"/>
                    </a:ext>
                  </a:extLst>
                </p:cNvPr>
                <p:cNvSpPr/>
                <p:nvPr/>
              </p:nvSpPr>
              <p:spPr>
                <a:xfrm>
                  <a:off x="8408850" y="5469485"/>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9" name="Star: 5 Points 718">
                  <a:extLst>
                    <a:ext uri="{FF2B5EF4-FFF2-40B4-BE49-F238E27FC236}">
                      <a16:creationId xmlns:a16="http://schemas.microsoft.com/office/drawing/2014/main" id="{223D0CB2-7FD5-46B5-822D-83C06DB8C1D0}"/>
                    </a:ext>
                  </a:extLst>
                </p:cNvPr>
                <p:cNvSpPr/>
                <p:nvPr/>
              </p:nvSpPr>
              <p:spPr>
                <a:xfrm>
                  <a:off x="8250552" y="5535801"/>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0" name="Star: 5 Points 719">
                  <a:extLst>
                    <a:ext uri="{FF2B5EF4-FFF2-40B4-BE49-F238E27FC236}">
                      <a16:creationId xmlns:a16="http://schemas.microsoft.com/office/drawing/2014/main" id="{DA49D823-2646-4666-9E31-7D01F96FD642}"/>
                    </a:ext>
                  </a:extLst>
                </p:cNvPr>
                <p:cNvSpPr/>
                <p:nvPr/>
              </p:nvSpPr>
              <p:spPr>
                <a:xfrm>
                  <a:off x="8336503" y="5523218"/>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1" name="Star: 5 Points 720">
                  <a:extLst>
                    <a:ext uri="{FF2B5EF4-FFF2-40B4-BE49-F238E27FC236}">
                      <a16:creationId xmlns:a16="http://schemas.microsoft.com/office/drawing/2014/main" id="{A9A1CCD4-7F1C-43A3-BBC7-CE79DD2B23DE}"/>
                    </a:ext>
                  </a:extLst>
                </p:cNvPr>
                <p:cNvSpPr/>
                <p:nvPr/>
              </p:nvSpPr>
              <p:spPr>
                <a:xfrm>
                  <a:off x="8214362" y="5607009"/>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2" name="Star: 5 Points 721">
                  <a:extLst>
                    <a:ext uri="{FF2B5EF4-FFF2-40B4-BE49-F238E27FC236}">
                      <a16:creationId xmlns:a16="http://schemas.microsoft.com/office/drawing/2014/main" id="{A1691D21-8670-4CC9-81C3-68108AD3EE3C}"/>
                    </a:ext>
                  </a:extLst>
                </p:cNvPr>
                <p:cNvSpPr/>
                <p:nvPr/>
              </p:nvSpPr>
              <p:spPr>
                <a:xfrm>
                  <a:off x="8611803" y="6058514"/>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3" name="Star: 5 Points 722">
                  <a:extLst>
                    <a:ext uri="{FF2B5EF4-FFF2-40B4-BE49-F238E27FC236}">
                      <a16:creationId xmlns:a16="http://schemas.microsoft.com/office/drawing/2014/main" id="{BECA3345-FEB7-419B-9ADD-BC4D8948926B}"/>
                    </a:ext>
                  </a:extLst>
                </p:cNvPr>
                <p:cNvSpPr/>
                <p:nvPr/>
              </p:nvSpPr>
              <p:spPr>
                <a:xfrm>
                  <a:off x="8355747" y="5626581"/>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4" name="Star: 5 Points 723">
                  <a:extLst>
                    <a:ext uri="{FF2B5EF4-FFF2-40B4-BE49-F238E27FC236}">
                      <a16:creationId xmlns:a16="http://schemas.microsoft.com/office/drawing/2014/main" id="{11B96E8D-CAA3-491E-B614-CA12D1992A5A}"/>
                    </a:ext>
                  </a:extLst>
                </p:cNvPr>
                <p:cNvSpPr/>
                <p:nvPr/>
              </p:nvSpPr>
              <p:spPr>
                <a:xfrm>
                  <a:off x="8065396" y="5979205"/>
                  <a:ext cx="107103" cy="94715"/>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5" name="Isosceles Triangle 724">
                  <a:extLst>
                    <a:ext uri="{FF2B5EF4-FFF2-40B4-BE49-F238E27FC236}">
                      <a16:creationId xmlns:a16="http://schemas.microsoft.com/office/drawing/2014/main" id="{C967C646-5E18-4E0C-A3E0-9DB8D66FE111}"/>
                    </a:ext>
                  </a:extLst>
                </p:cNvPr>
                <p:cNvSpPr/>
                <p:nvPr/>
              </p:nvSpPr>
              <p:spPr>
                <a:xfrm rot="9643569">
                  <a:off x="8272924" y="5814380"/>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6" name="Isosceles Triangle 725">
                  <a:extLst>
                    <a:ext uri="{FF2B5EF4-FFF2-40B4-BE49-F238E27FC236}">
                      <a16:creationId xmlns:a16="http://schemas.microsoft.com/office/drawing/2014/main" id="{C12F2A48-31AB-4434-B612-2A58CDE5EE9B}"/>
                    </a:ext>
                  </a:extLst>
                </p:cNvPr>
                <p:cNvSpPr/>
                <p:nvPr/>
              </p:nvSpPr>
              <p:spPr>
                <a:xfrm rot="6564162">
                  <a:off x="8333673" y="5843344"/>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7" name="Isosceles Triangle 726">
                  <a:extLst>
                    <a:ext uri="{FF2B5EF4-FFF2-40B4-BE49-F238E27FC236}">
                      <a16:creationId xmlns:a16="http://schemas.microsoft.com/office/drawing/2014/main" id="{D87E20DB-2553-45E2-BC3E-2F4C3D6897EE}"/>
                    </a:ext>
                  </a:extLst>
                </p:cNvPr>
                <p:cNvSpPr/>
                <p:nvPr/>
              </p:nvSpPr>
              <p:spPr>
                <a:xfrm rot="9643569">
                  <a:off x="8607897" y="5614522"/>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8" name="Isosceles Triangle 727">
                  <a:extLst>
                    <a:ext uri="{FF2B5EF4-FFF2-40B4-BE49-F238E27FC236}">
                      <a16:creationId xmlns:a16="http://schemas.microsoft.com/office/drawing/2014/main" id="{D1A41FE4-FB89-4EB5-8359-C8F316F20B85}"/>
                    </a:ext>
                  </a:extLst>
                </p:cNvPr>
                <p:cNvSpPr/>
                <p:nvPr/>
              </p:nvSpPr>
              <p:spPr>
                <a:xfrm rot="6564162">
                  <a:off x="8668646" y="5643486"/>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9" name="Isosceles Triangle 728">
                  <a:extLst>
                    <a:ext uri="{FF2B5EF4-FFF2-40B4-BE49-F238E27FC236}">
                      <a16:creationId xmlns:a16="http://schemas.microsoft.com/office/drawing/2014/main" id="{D8C80CFC-49C8-4EAD-B96D-2F6E9D9BB957}"/>
                    </a:ext>
                  </a:extLst>
                </p:cNvPr>
                <p:cNvSpPr/>
                <p:nvPr/>
              </p:nvSpPr>
              <p:spPr>
                <a:xfrm rot="9643569">
                  <a:off x="8191599" y="5837983"/>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0" name="Isosceles Triangle 729">
                  <a:extLst>
                    <a:ext uri="{FF2B5EF4-FFF2-40B4-BE49-F238E27FC236}">
                      <a16:creationId xmlns:a16="http://schemas.microsoft.com/office/drawing/2014/main" id="{FE6B0569-DA54-4770-930F-3006D11E6576}"/>
                    </a:ext>
                  </a:extLst>
                </p:cNvPr>
                <p:cNvSpPr/>
                <p:nvPr/>
              </p:nvSpPr>
              <p:spPr>
                <a:xfrm rot="6564162">
                  <a:off x="8252348" y="5866947"/>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1" name="Isosceles Triangle 730">
                  <a:extLst>
                    <a:ext uri="{FF2B5EF4-FFF2-40B4-BE49-F238E27FC236}">
                      <a16:creationId xmlns:a16="http://schemas.microsoft.com/office/drawing/2014/main" id="{C6F4C143-1D24-4DFA-B3B3-450E42104552}"/>
                    </a:ext>
                  </a:extLst>
                </p:cNvPr>
                <p:cNvSpPr/>
                <p:nvPr/>
              </p:nvSpPr>
              <p:spPr>
                <a:xfrm rot="9643569">
                  <a:off x="8516431" y="6321518"/>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2" name="Isosceles Triangle 731">
                  <a:extLst>
                    <a:ext uri="{FF2B5EF4-FFF2-40B4-BE49-F238E27FC236}">
                      <a16:creationId xmlns:a16="http://schemas.microsoft.com/office/drawing/2014/main" id="{AEA34CCB-16DA-417F-96E4-2FD95E12CB29}"/>
                    </a:ext>
                  </a:extLst>
                </p:cNvPr>
                <p:cNvSpPr/>
                <p:nvPr/>
              </p:nvSpPr>
              <p:spPr>
                <a:xfrm rot="6564162">
                  <a:off x="8577180" y="6350482"/>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3" name="Isosceles Triangle 732">
                  <a:extLst>
                    <a:ext uri="{FF2B5EF4-FFF2-40B4-BE49-F238E27FC236}">
                      <a16:creationId xmlns:a16="http://schemas.microsoft.com/office/drawing/2014/main" id="{B50BBC2E-D44F-49C4-9103-1384AF0B4581}"/>
                    </a:ext>
                  </a:extLst>
                </p:cNvPr>
                <p:cNvSpPr/>
                <p:nvPr/>
              </p:nvSpPr>
              <p:spPr>
                <a:xfrm rot="7494360">
                  <a:off x="8425930" y="6350645"/>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4" name="Isosceles Triangle 733">
                  <a:extLst>
                    <a:ext uri="{FF2B5EF4-FFF2-40B4-BE49-F238E27FC236}">
                      <a16:creationId xmlns:a16="http://schemas.microsoft.com/office/drawing/2014/main" id="{D4CD8078-0411-4619-B43E-031359FC7112}"/>
                    </a:ext>
                  </a:extLst>
                </p:cNvPr>
                <p:cNvSpPr/>
                <p:nvPr/>
              </p:nvSpPr>
              <p:spPr>
                <a:xfrm rot="6564162">
                  <a:off x="8495855" y="6374085"/>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5" name="Isosceles Triangle 734">
                  <a:extLst>
                    <a:ext uri="{FF2B5EF4-FFF2-40B4-BE49-F238E27FC236}">
                      <a16:creationId xmlns:a16="http://schemas.microsoft.com/office/drawing/2014/main" id="{48893DE5-1FDE-4A16-B370-16912820B481}"/>
                    </a:ext>
                  </a:extLst>
                </p:cNvPr>
                <p:cNvSpPr/>
                <p:nvPr/>
              </p:nvSpPr>
              <p:spPr>
                <a:xfrm rot="6564162">
                  <a:off x="8629526" y="6381106"/>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6" name="Isosceles Triangle 735">
                  <a:extLst>
                    <a:ext uri="{FF2B5EF4-FFF2-40B4-BE49-F238E27FC236}">
                      <a16:creationId xmlns:a16="http://schemas.microsoft.com/office/drawing/2014/main" id="{D8D0682B-EC5F-4F91-9427-82AB89E9FE2E}"/>
                    </a:ext>
                  </a:extLst>
                </p:cNvPr>
                <p:cNvSpPr/>
                <p:nvPr/>
              </p:nvSpPr>
              <p:spPr>
                <a:xfrm rot="6564162">
                  <a:off x="8441099" y="6471738"/>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7" name="Isosceles Triangle 736">
                  <a:extLst>
                    <a:ext uri="{FF2B5EF4-FFF2-40B4-BE49-F238E27FC236}">
                      <a16:creationId xmlns:a16="http://schemas.microsoft.com/office/drawing/2014/main" id="{AFDA5001-5A6F-4E24-BC4D-3D64DF889AD0}"/>
                    </a:ext>
                  </a:extLst>
                </p:cNvPr>
                <p:cNvSpPr/>
                <p:nvPr/>
              </p:nvSpPr>
              <p:spPr>
                <a:xfrm rot="6564162">
                  <a:off x="8624512" y="6451162"/>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8" name="Isosceles Triangle 737">
                  <a:extLst>
                    <a:ext uri="{FF2B5EF4-FFF2-40B4-BE49-F238E27FC236}">
                      <a16:creationId xmlns:a16="http://schemas.microsoft.com/office/drawing/2014/main" id="{1924E9F4-0110-4E4F-BC0E-507AB6B064A5}"/>
                    </a:ext>
                  </a:extLst>
                </p:cNvPr>
                <p:cNvSpPr/>
                <p:nvPr/>
              </p:nvSpPr>
              <p:spPr>
                <a:xfrm rot="9643569">
                  <a:off x="8385318" y="6410036"/>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9" name="Isosceles Triangle 738">
                  <a:extLst>
                    <a:ext uri="{FF2B5EF4-FFF2-40B4-BE49-F238E27FC236}">
                      <a16:creationId xmlns:a16="http://schemas.microsoft.com/office/drawing/2014/main" id="{B6DD6F10-D3A4-4311-890C-9AF05420620A}"/>
                    </a:ext>
                  </a:extLst>
                </p:cNvPr>
                <p:cNvSpPr/>
                <p:nvPr/>
              </p:nvSpPr>
              <p:spPr>
                <a:xfrm rot="6564162">
                  <a:off x="8441098" y="6414905"/>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0" name="Isosceles Triangle 739">
                  <a:extLst>
                    <a:ext uri="{FF2B5EF4-FFF2-40B4-BE49-F238E27FC236}">
                      <a16:creationId xmlns:a16="http://schemas.microsoft.com/office/drawing/2014/main" id="{AC63B07A-519E-4762-A4B8-353992AA1AD5}"/>
                    </a:ext>
                  </a:extLst>
                </p:cNvPr>
                <p:cNvSpPr/>
                <p:nvPr/>
              </p:nvSpPr>
              <p:spPr>
                <a:xfrm rot="6564162">
                  <a:off x="8540898" y="6493097"/>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1" name="Isosceles Triangle 740">
                  <a:extLst>
                    <a:ext uri="{FF2B5EF4-FFF2-40B4-BE49-F238E27FC236}">
                      <a16:creationId xmlns:a16="http://schemas.microsoft.com/office/drawing/2014/main" id="{56D2AD76-AF7E-4F87-A2C0-54703F926309}"/>
                    </a:ext>
                  </a:extLst>
                </p:cNvPr>
                <p:cNvSpPr/>
                <p:nvPr/>
              </p:nvSpPr>
              <p:spPr>
                <a:xfrm rot="15535001">
                  <a:off x="8349756" y="6506584"/>
                  <a:ext cx="64514" cy="6457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grpSp>
        <p:nvGrpSpPr>
          <p:cNvPr id="11" name="Group 10">
            <a:extLst>
              <a:ext uri="{FF2B5EF4-FFF2-40B4-BE49-F238E27FC236}">
                <a16:creationId xmlns:a16="http://schemas.microsoft.com/office/drawing/2014/main" id="{BE1411E3-81D7-34CA-C871-C0908CB3CA10}"/>
              </a:ext>
            </a:extLst>
          </p:cNvPr>
          <p:cNvGrpSpPr/>
          <p:nvPr/>
        </p:nvGrpSpPr>
        <p:grpSpPr>
          <a:xfrm>
            <a:off x="4429296" y="2823729"/>
            <a:ext cx="1566687" cy="1346400"/>
            <a:chOff x="5245352" y="2264902"/>
            <a:chExt cx="1566687" cy="1346400"/>
          </a:xfrm>
        </p:grpSpPr>
        <p:sp>
          <p:nvSpPr>
            <p:cNvPr id="633" name="Rectangle 632">
              <a:extLst>
                <a:ext uri="{FF2B5EF4-FFF2-40B4-BE49-F238E27FC236}">
                  <a16:creationId xmlns:a16="http://schemas.microsoft.com/office/drawing/2014/main" id="{5DD6A805-8F6B-433F-9301-A7810BD2D0FC}"/>
                </a:ext>
              </a:extLst>
            </p:cNvPr>
            <p:cNvSpPr/>
            <p:nvPr/>
          </p:nvSpPr>
          <p:spPr>
            <a:xfrm>
              <a:off x="5245352" y="2264902"/>
              <a:ext cx="1537200" cy="1346400"/>
            </a:xfrm>
            <a:prstGeom prst="rect">
              <a:avLst/>
            </a:prstGeom>
            <a:solidFill>
              <a:schemeClr val="bg1"/>
            </a:solidFill>
            <a:ln w="19050">
              <a:solidFill>
                <a:schemeClr val="tx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42" name="Group 741">
              <a:extLst>
                <a:ext uri="{FF2B5EF4-FFF2-40B4-BE49-F238E27FC236}">
                  <a16:creationId xmlns:a16="http://schemas.microsoft.com/office/drawing/2014/main" id="{5CEE56CC-4DCE-4172-B261-9C13FEC4BEBF}"/>
                </a:ext>
              </a:extLst>
            </p:cNvPr>
            <p:cNvGrpSpPr/>
            <p:nvPr/>
          </p:nvGrpSpPr>
          <p:grpSpPr>
            <a:xfrm>
              <a:off x="5280891" y="2394368"/>
              <a:ext cx="1490185" cy="1103323"/>
              <a:chOff x="3870761" y="4051203"/>
              <a:chExt cx="1490185" cy="1103323"/>
            </a:xfrm>
          </p:grpSpPr>
          <p:sp>
            <p:nvSpPr>
              <p:cNvPr id="743" name="Oval 742">
                <a:extLst>
                  <a:ext uri="{FF2B5EF4-FFF2-40B4-BE49-F238E27FC236}">
                    <a16:creationId xmlns:a16="http://schemas.microsoft.com/office/drawing/2014/main" id="{DA4E409F-DBCD-4C25-A85B-D8A43DE07D6D}"/>
                  </a:ext>
                </a:extLst>
              </p:cNvPr>
              <p:cNvSpPr/>
              <p:nvPr/>
            </p:nvSpPr>
            <p:spPr>
              <a:xfrm rot="1728551">
                <a:off x="3887990" y="4085733"/>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4" name="Oval 743">
                <a:extLst>
                  <a:ext uri="{FF2B5EF4-FFF2-40B4-BE49-F238E27FC236}">
                    <a16:creationId xmlns:a16="http://schemas.microsoft.com/office/drawing/2014/main" id="{441E9A2A-28D2-4B6D-854C-C5E2942EBBF9}"/>
                  </a:ext>
                </a:extLst>
              </p:cNvPr>
              <p:cNvSpPr/>
              <p:nvPr/>
            </p:nvSpPr>
            <p:spPr>
              <a:xfrm>
                <a:off x="4220035" y="4456109"/>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5" name="Oval 744">
                <a:extLst>
                  <a:ext uri="{FF2B5EF4-FFF2-40B4-BE49-F238E27FC236}">
                    <a16:creationId xmlns:a16="http://schemas.microsoft.com/office/drawing/2014/main" id="{BE172D4D-D1DB-41E9-8B44-56C931E73E56}"/>
                  </a:ext>
                </a:extLst>
              </p:cNvPr>
              <p:cNvSpPr/>
              <p:nvPr/>
            </p:nvSpPr>
            <p:spPr>
              <a:xfrm rot="8164085">
                <a:off x="4383673" y="4062557"/>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6" name="Oval 745">
                <a:extLst>
                  <a:ext uri="{FF2B5EF4-FFF2-40B4-BE49-F238E27FC236}">
                    <a16:creationId xmlns:a16="http://schemas.microsoft.com/office/drawing/2014/main" id="{AEE2FA6B-0C82-4212-A3F0-AFC51F054FBC}"/>
                  </a:ext>
                </a:extLst>
              </p:cNvPr>
              <p:cNvSpPr/>
              <p:nvPr/>
            </p:nvSpPr>
            <p:spPr>
              <a:xfrm rot="5186198">
                <a:off x="4536187" y="4741054"/>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7" name="Oval 746">
                <a:extLst>
                  <a:ext uri="{FF2B5EF4-FFF2-40B4-BE49-F238E27FC236}">
                    <a16:creationId xmlns:a16="http://schemas.microsoft.com/office/drawing/2014/main" id="{C9601C53-3ADD-43AA-808B-1976FF1BDFB6}"/>
                  </a:ext>
                </a:extLst>
              </p:cNvPr>
              <p:cNvSpPr/>
              <p:nvPr/>
            </p:nvSpPr>
            <p:spPr>
              <a:xfrm rot="6722785">
                <a:off x="4802430" y="4005818"/>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8" name="Oval 747">
                <a:extLst>
                  <a:ext uri="{FF2B5EF4-FFF2-40B4-BE49-F238E27FC236}">
                    <a16:creationId xmlns:a16="http://schemas.microsoft.com/office/drawing/2014/main" id="{B491A20D-CF30-4499-95DF-3792FE8F87EF}"/>
                  </a:ext>
                </a:extLst>
              </p:cNvPr>
              <p:cNvSpPr/>
              <p:nvPr/>
            </p:nvSpPr>
            <p:spPr>
              <a:xfrm rot="6722785">
                <a:off x="3916146" y="4699416"/>
                <a:ext cx="368087" cy="458857"/>
              </a:xfrm>
              <a:prstGeom prst="ellipse">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9" name="Oval 748">
                <a:extLst>
                  <a:ext uri="{FF2B5EF4-FFF2-40B4-BE49-F238E27FC236}">
                    <a16:creationId xmlns:a16="http://schemas.microsoft.com/office/drawing/2014/main" id="{C90DA829-D76C-45A9-84F9-A50C4330C8C1}"/>
                  </a:ext>
                </a:extLst>
              </p:cNvPr>
              <p:cNvSpPr/>
              <p:nvPr/>
            </p:nvSpPr>
            <p:spPr>
              <a:xfrm rot="4525849">
                <a:off x="4947474" y="4474258"/>
                <a:ext cx="368087" cy="458857"/>
              </a:xfrm>
              <a:prstGeom prst="ellipse">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50" name="Group 749">
                <a:extLst>
                  <a:ext uri="{FF2B5EF4-FFF2-40B4-BE49-F238E27FC236}">
                    <a16:creationId xmlns:a16="http://schemas.microsoft.com/office/drawing/2014/main" id="{0C3E6A71-A559-4946-8B1D-E968AFB8D6FD}"/>
                  </a:ext>
                </a:extLst>
              </p:cNvPr>
              <p:cNvGrpSpPr/>
              <p:nvPr/>
            </p:nvGrpSpPr>
            <p:grpSpPr>
              <a:xfrm>
                <a:off x="5126642" y="4606347"/>
                <a:ext cx="200905" cy="180554"/>
                <a:chOff x="9130859" y="4115381"/>
                <a:chExt cx="1394265" cy="1253031"/>
              </a:xfrm>
            </p:grpSpPr>
            <p:sp>
              <p:nvSpPr>
                <p:cNvPr id="769" name="Oval 768">
                  <a:extLst>
                    <a:ext uri="{FF2B5EF4-FFF2-40B4-BE49-F238E27FC236}">
                      <a16:creationId xmlns:a16="http://schemas.microsoft.com/office/drawing/2014/main" id="{57EB8AC9-15E9-4470-B826-21CE7007C216}"/>
                    </a:ext>
                  </a:extLst>
                </p:cNvPr>
                <p:cNvSpPr/>
                <p:nvPr/>
              </p:nvSpPr>
              <p:spPr>
                <a:xfrm>
                  <a:off x="9130859" y="4191000"/>
                  <a:ext cx="1394265" cy="1177412"/>
                </a:xfrm>
                <a:prstGeom prst="ellipse">
                  <a:avLst/>
                </a:prstGeom>
                <a:solidFill>
                  <a:schemeClr val="accent1">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0" name="Isosceles Triangle 769">
                  <a:extLst>
                    <a:ext uri="{FF2B5EF4-FFF2-40B4-BE49-F238E27FC236}">
                      <a16:creationId xmlns:a16="http://schemas.microsoft.com/office/drawing/2014/main" id="{40776E57-8F68-48E6-9C06-59B361808469}"/>
                    </a:ext>
                  </a:extLst>
                </p:cNvPr>
                <p:cNvSpPr/>
                <p:nvPr/>
              </p:nvSpPr>
              <p:spPr>
                <a:xfrm rot="12823569">
                  <a:off x="9360385" y="4503253"/>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1" name="Isosceles Triangle 770">
                  <a:extLst>
                    <a:ext uri="{FF2B5EF4-FFF2-40B4-BE49-F238E27FC236}">
                      <a16:creationId xmlns:a16="http://schemas.microsoft.com/office/drawing/2014/main" id="{203BB879-574A-404B-A991-DB622D37A5D8}"/>
                    </a:ext>
                  </a:extLst>
                </p:cNvPr>
                <p:cNvSpPr/>
                <p:nvPr/>
              </p:nvSpPr>
              <p:spPr>
                <a:xfrm rot="9643569">
                  <a:off x="9214043" y="4491796"/>
                  <a:ext cx="315306" cy="31561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3" name="Isosceles Triangle 772">
                  <a:extLst>
                    <a:ext uri="{FF2B5EF4-FFF2-40B4-BE49-F238E27FC236}">
                      <a16:creationId xmlns:a16="http://schemas.microsoft.com/office/drawing/2014/main" id="{0F7674B6-D44D-454B-ACFE-7BCF9560081E}"/>
                    </a:ext>
                  </a:extLst>
                </p:cNvPr>
                <p:cNvSpPr/>
                <p:nvPr/>
              </p:nvSpPr>
              <p:spPr>
                <a:xfrm rot="11449406">
                  <a:off x="10005583" y="4793454"/>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4" name="Isosceles Triangle 773">
                  <a:extLst>
                    <a:ext uri="{FF2B5EF4-FFF2-40B4-BE49-F238E27FC236}">
                      <a16:creationId xmlns:a16="http://schemas.microsoft.com/office/drawing/2014/main" id="{8A51AEB3-8B1A-486E-B632-953D41506D7E}"/>
                    </a:ext>
                  </a:extLst>
                </p:cNvPr>
                <p:cNvSpPr/>
                <p:nvPr/>
              </p:nvSpPr>
              <p:spPr>
                <a:xfrm rot="8269406">
                  <a:off x="9856790" y="4833481"/>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5" name="Isosceles Triangle 774">
                  <a:extLst>
                    <a:ext uri="{FF2B5EF4-FFF2-40B4-BE49-F238E27FC236}">
                      <a16:creationId xmlns:a16="http://schemas.microsoft.com/office/drawing/2014/main" id="{02033B6B-6448-41A4-BB10-8EDDEE1375D6}"/>
                    </a:ext>
                  </a:extLst>
                </p:cNvPr>
                <p:cNvSpPr/>
                <p:nvPr/>
              </p:nvSpPr>
              <p:spPr>
                <a:xfrm rot="7664787">
                  <a:off x="10194978" y="4917528"/>
                  <a:ext cx="353865" cy="300282"/>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6" name="Isosceles Triangle 775">
                  <a:extLst>
                    <a:ext uri="{FF2B5EF4-FFF2-40B4-BE49-F238E27FC236}">
                      <a16:creationId xmlns:a16="http://schemas.microsoft.com/office/drawing/2014/main" id="{31141087-7E43-484B-875C-448EB7FE5727}"/>
                    </a:ext>
                  </a:extLst>
                </p:cNvPr>
                <p:cNvSpPr/>
                <p:nvPr/>
              </p:nvSpPr>
              <p:spPr>
                <a:xfrm rot="19573137">
                  <a:off x="9628045" y="4239915"/>
                  <a:ext cx="338197" cy="321415"/>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7" name="Isosceles Triangle 776">
                  <a:extLst>
                    <a:ext uri="{FF2B5EF4-FFF2-40B4-BE49-F238E27FC236}">
                      <a16:creationId xmlns:a16="http://schemas.microsoft.com/office/drawing/2014/main" id="{BF5F1F77-DD59-486E-A378-6CE0D22B8069}"/>
                    </a:ext>
                  </a:extLst>
                </p:cNvPr>
                <p:cNvSpPr/>
                <p:nvPr/>
              </p:nvSpPr>
              <p:spPr>
                <a:xfrm rot="8861041">
                  <a:off x="9496419" y="4328497"/>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8" name="Isosceles Triangle 777">
                  <a:extLst>
                    <a:ext uri="{FF2B5EF4-FFF2-40B4-BE49-F238E27FC236}">
                      <a16:creationId xmlns:a16="http://schemas.microsoft.com/office/drawing/2014/main" id="{4BE06388-CE49-4B96-8F98-45FCFB967594}"/>
                    </a:ext>
                  </a:extLst>
                </p:cNvPr>
                <p:cNvSpPr/>
                <p:nvPr/>
              </p:nvSpPr>
              <p:spPr>
                <a:xfrm rot="19565106">
                  <a:off x="9372501" y="4772266"/>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9" name="Isosceles Triangle 778">
                  <a:extLst>
                    <a:ext uri="{FF2B5EF4-FFF2-40B4-BE49-F238E27FC236}">
                      <a16:creationId xmlns:a16="http://schemas.microsoft.com/office/drawing/2014/main" id="{BB906E75-1305-4DC0-89C7-031855253189}"/>
                    </a:ext>
                  </a:extLst>
                </p:cNvPr>
                <p:cNvSpPr/>
                <p:nvPr/>
              </p:nvSpPr>
              <p:spPr>
                <a:xfrm rot="4950814">
                  <a:off x="9426254" y="4115998"/>
                  <a:ext cx="316015" cy="31478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0" name="Isosceles Triangle 779">
                  <a:extLst>
                    <a:ext uri="{FF2B5EF4-FFF2-40B4-BE49-F238E27FC236}">
                      <a16:creationId xmlns:a16="http://schemas.microsoft.com/office/drawing/2014/main" id="{5FD51C86-65A3-42B5-96F4-D2D2957B489F}"/>
                    </a:ext>
                  </a:extLst>
                </p:cNvPr>
                <p:cNvSpPr/>
                <p:nvPr/>
              </p:nvSpPr>
              <p:spPr>
                <a:xfrm rot="11731700">
                  <a:off x="9944724" y="4461219"/>
                  <a:ext cx="314444" cy="300864"/>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1" name="Isosceles Triangle 780">
                  <a:extLst>
                    <a:ext uri="{FF2B5EF4-FFF2-40B4-BE49-F238E27FC236}">
                      <a16:creationId xmlns:a16="http://schemas.microsoft.com/office/drawing/2014/main" id="{C1DFDC5B-C511-4002-8C29-F6E6AD6E3CE5}"/>
                    </a:ext>
                  </a:extLst>
                </p:cNvPr>
                <p:cNvSpPr/>
                <p:nvPr/>
              </p:nvSpPr>
              <p:spPr>
                <a:xfrm rot="8572478">
                  <a:off x="9799288" y="4494547"/>
                  <a:ext cx="318018" cy="30145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2" name="Isosceles Triangle 781">
                  <a:extLst>
                    <a:ext uri="{FF2B5EF4-FFF2-40B4-BE49-F238E27FC236}">
                      <a16:creationId xmlns:a16="http://schemas.microsoft.com/office/drawing/2014/main" id="{CDE07FEE-8A92-4AF7-AF5D-867989864EE1}"/>
                    </a:ext>
                  </a:extLst>
                </p:cNvPr>
                <p:cNvSpPr/>
                <p:nvPr/>
              </p:nvSpPr>
              <p:spPr>
                <a:xfrm rot="7831021">
                  <a:off x="10104540" y="4578577"/>
                  <a:ext cx="342742" cy="30009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3" name="Isosceles Triangle 782">
                  <a:extLst>
                    <a:ext uri="{FF2B5EF4-FFF2-40B4-BE49-F238E27FC236}">
                      <a16:creationId xmlns:a16="http://schemas.microsoft.com/office/drawing/2014/main" id="{25F246F1-5360-4C1B-8F2D-2426978CD680}"/>
                    </a:ext>
                  </a:extLst>
                </p:cNvPr>
                <p:cNvSpPr/>
                <p:nvPr/>
              </p:nvSpPr>
              <p:spPr>
                <a:xfrm rot="5055762">
                  <a:off x="9798989" y="4964338"/>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4" name="Isosceles Triangle 783">
                  <a:extLst>
                    <a:ext uri="{FF2B5EF4-FFF2-40B4-BE49-F238E27FC236}">
                      <a16:creationId xmlns:a16="http://schemas.microsoft.com/office/drawing/2014/main" id="{BE3079D7-2BB5-4D1C-BDB5-791CC985EAF7}"/>
                    </a:ext>
                  </a:extLst>
                </p:cNvPr>
                <p:cNvSpPr/>
                <p:nvPr/>
              </p:nvSpPr>
              <p:spPr>
                <a:xfrm rot="1367399">
                  <a:off x="9532437" y="4969101"/>
                  <a:ext cx="364315" cy="281005"/>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5" name="Isosceles Triangle 784">
                  <a:extLst>
                    <a:ext uri="{FF2B5EF4-FFF2-40B4-BE49-F238E27FC236}">
                      <a16:creationId xmlns:a16="http://schemas.microsoft.com/office/drawing/2014/main" id="{9BD7A08B-85BC-4FDC-B365-C22343C600BF}"/>
                    </a:ext>
                  </a:extLst>
                </p:cNvPr>
                <p:cNvSpPr/>
                <p:nvPr/>
              </p:nvSpPr>
              <p:spPr>
                <a:xfrm rot="8934642">
                  <a:off x="9516303" y="4686842"/>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6" name="Isosceles Triangle 785">
                  <a:extLst>
                    <a:ext uri="{FF2B5EF4-FFF2-40B4-BE49-F238E27FC236}">
                      <a16:creationId xmlns:a16="http://schemas.microsoft.com/office/drawing/2014/main" id="{B9E86F19-3ECE-4269-80C1-84476C84920E}"/>
                    </a:ext>
                  </a:extLst>
                </p:cNvPr>
                <p:cNvSpPr/>
                <p:nvPr/>
              </p:nvSpPr>
              <p:spPr>
                <a:xfrm rot="12114642">
                  <a:off x="9670016" y="4676175"/>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51" name="Group 750">
                <a:extLst>
                  <a:ext uri="{FF2B5EF4-FFF2-40B4-BE49-F238E27FC236}">
                    <a16:creationId xmlns:a16="http://schemas.microsoft.com/office/drawing/2014/main" id="{E71EA988-132F-4BAC-9B4F-150993FD8919}"/>
                  </a:ext>
                </a:extLst>
              </p:cNvPr>
              <p:cNvGrpSpPr/>
              <p:nvPr/>
            </p:nvGrpSpPr>
            <p:grpSpPr>
              <a:xfrm>
                <a:off x="4083738" y="4849248"/>
                <a:ext cx="200905" cy="180554"/>
                <a:chOff x="9130859" y="4115381"/>
                <a:chExt cx="1394265" cy="1253031"/>
              </a:xfrm>
            </p:grpSpPr>
            <p:sp>
              <p:nvSpPr>
                <p:cNvPr id="752" name="Oval 751">
                  <a:extLst>
                    <a:ext uri="{FF2B5EF4-FFF2-40B4-BE49-F238E27FC236}">
                      <a16:creationId xmlns:a16="http://schemas.microsoft.com/office/drawing/2014/main" id="{DF07C84C-D68C-4DBC-8875-8EFE4D4B4194}"/>
                    </a:ext>
                  </a:extLst>
                </p:cNvPr>
                <p:cNvSpPr/>
                <p:nvPr/>
              </p:nvSpPr>
              <p:spPr>
                <a:xfrm>
                  <a:off x="9130859" y="4191000"/>
                  <a:ext cx="1394265" cy="1177412"/>
                </a:xfrm>
                <a:prstGeom prst="ellipse">
                  <a:avLst/>
                </a:prstGeom>
                <a:solidFill>
                  <a:schemeClr val="accent1">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3" name="Isosceles Triangle 752">
                  <a:extLst>
                    <a:ext uri="{FF2B5EF4-FFF2-40B4-BE49-F238E27FC236}">
                      <a16:creationId xmlns:a16="http://schemas.microsoft.com/office/drawing/2014/main" id="{FBF20C6A-CBD7-4367-ACED-43DA89E88BE6}"/>
                    </a:ext>
                  </a:extLst>
                </p:cNvPr>
                <p:cNvSpPr/>
                <p:nvPr/>
              </p:nvSpPr>
              <p:spPr>
                <a:xfrm rot="12823569">
                  <a:off x="9360385" y="4503253"/>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4" name="Isosceles Triangle 753">
                  <a:extLst>
                    <a:ext uri="{FF2B5EF4-FFF2-40B4-BE49-F238E27FC236}">
                      <a16:creationId xmlns:a16="http://schemas.microsoft.com/office/drawing/2014/main" id="{11666138-A3CE-4E16-A895-D090CE805F31}"/>
                    </a:ext>
                  </a:extLst>
                </p:cNvPr>
                <p:cNvSpPr/>
                <p:nvPr/>
              </p:nvSpPr>
              <p:spPr>
                <a:xfrm rot="9643569">
                  <a:off x="9214043" y="4491796"/>
                  <a:ext cx="315306" cy="31561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5" name="Isosceles Triangle 754">
                  <a:extLst>
                    <a:ext uri="{FF2B5EF4-FFF2-40B4-BE49-F238E27FC236}">
                      <a16:creationId xmlns:a16="http://schemas.microsoft.com/office/drawing/2014/main" id="{5F4549CC-930A-4D40-9AAE-9A195C5CBE76}"/>
                    </a:ext>
                  </a:extLst>
                </p:cNvPr>
                <p:cNvSpPr/>
                <p:nvPr/>
              </p:nvSpPr>
              <p:spPr>
                <a:xfrm rot="11449406">
                  <a:off x="10005583" y="4793454"/>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6" name="Isosceles Triangle 755">
                  <a:extLst>
                    <a:ext uri="{FF2B5EF4-FFF2-40B4-BE49-F238E27FC236}">
                      <a16:creationId xmlns:a16="http://schemas.microsoft.com/office/drawing/2014/main" id="{6FB5122E-0441-40BF-8184-110EDEC3FAF2}"/>
                    </a:ext>
                  </a:extLst>
                </p:cNvPr>
                <p:cNvSpPr/>
                <p:nvPr/>
              </p:nvSpPr>
              <p:spPr>
                <a:xfrm rot="8269406">
                  <a:off x="9856790" y="4833481"/>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7" name="Isosceles Triangle 756">
                  <a:extLst>
                    <a:ext uri="{FF2B5EF4-FFF2-40B4-BE49-F238E27FC236}">
                      <a16:creationId xmlns:a16="http://schemas.microsoft.com/office/drawing/2014/main" id="{A4681531-53BA-4BEC-8326-75690438CFD2}"/>
                    </a:ext>
                  </a:extLst>
                </p:cNvPr>
                <p:cNvSpPr/>
                <p:nvPr/>
              </p:nvSpPr>
              <p:spPr>
                <a:xfrm rot="7664787">
                  <a:off x="10194978" y="4917528"/>
                  <a:ext cx="353865" cy="300282"/>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8" name="Isosceles Triangle 757">
                  <a:extLst>
                    <a:ext uri="{FF2B5EF4-FFF2-40B4-BE49-F238E27FC236}">
                      <a16:creationId xmlns:a16="http://schemas.microsoft.com/office/drawing/2014/main" id="{D0D163BE-C5CE-462D-BC39-D9D4194B8F7D}"/>
                    </a:ext>
                  </a:extLst>
                </p:cNvPr>
                <p:cNvSpPr/>
                <p:nvPr/>
              </p:nvSpPr>
              <p:spPr>
                <a:xfrm rot="19573137">
                  <a:off x="9628045" y="4239915"/>
                  <a:ext cx="338197" cy="321415"/>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9" name="Isosceles Triangle 758">
                  <a:extLst>
                    <a:ext uri="{FF2B5EF4-FFF2-40B4-BE49-F238E27FC236}">
                      <a16:creationId xmlns:a16="http://schemas.microsoft.com/office/drawing/2014/main" id="{9C1EE512-E386-4742-A348-0FDAAB555FCC}"/>
                    </a:ext>
                  </a:extLst>
                </p:cNvPr>
                <p:cNvSpPr/>
                <p:nvPr/>
              </p:nvSpPr>
              <p:spPr>
                <a:xfrm rot="8861041">
                  <a:off x="9496419" y="4328497"/>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0" name="Isosceles Triangle 759">
                  <a:extLst>
                    <a:ext uri="{FF2B5EF4-FFF2-40B4-BE49-F238E27FC236}">
                      <a16:creationId xmlns:a16="http://schemas.microsoft.com/office/drawing/2014/main" id="{F23C2ED3-88AE-4524-B339-9CE4C6DBE3F4}"/>
                    </a:ext>
                  </a:extLst>
                </p:cNvPr>
                <p:cNvSpPr/>
                <p:nvPr/>
              </p:nvSpPr>
              <p:spPr>
                <a:xfrm rot="19565106">
                  <a:off x="9372501" y="4772266"/>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1" name="Isosceles Triangle 760">
                  <a:extLst>
                    <a:ext uri="{FF2B5EF4-FFF2-40B4-BE49-F238E27FC236}">
                      <a16:creationId xmlns:a16="http://schemas.microsoft.com/office/drawing/2014/main" id="{70B58F9C-0743-4B08-B1DA-AC13D8E2CD74}"/>
                    </a:ext>
                  </a:extLst>
                </p:cNvPr>
                <p:cNvSpPr/>
                <p:nvPr/>
              </p:nvSpPr>
              <p:spPr>
                <a:xfrm rot="4950814">
                  <a:off x="9426254" y="4115998"/>
                  <a:ext cx="316015" cy="31478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2" name="Isosceles Triangle 761">
                  <a:extLst>
                    <a:ext uri="{FF2B5EF4-FFF2-40B4-BE49-F238E27FC236}">
                      <a16:creationId xmlns:a16="http://schemas.microsoft.com/office/drawing/2014/main" id="{329F4AB9-E0DB-485F-B20D-54AFFAFBC4B6}"/>
                    </a:ext>
                  </a:extLst>
                </p:cNvPr>
                <p:cNvSpPr/>
                <p:nvPr/>
              </p:nvSpPr>
              <p:spPr>
                <a:xfrm rot="11731700">
                  <a:off x="9944724" y="4461219"/>
                  <a:ext cx="314444" cy="300864"/>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3" name="Isosceles Triangle 762">
                  <a:extLst>
                    <a:ext uri="{FF2B5EF4-FFF2-40B4-BE49-F238E27FC236}">
                      <a16:creationId xmlns:a16="http://schemas.microsoft.com/office/drawing/2014/main" id="{FA016CA1-8544-47A8-9100-4A1B9B300BC2}"/>
                    </a:ext>
                  </a:extLst>
                </p:cNvPr>
                <p:cNvSpPr/>
                <p:nvPr/>
              </p:nvSpPr>
              <p:spPr>
                <a:xfrm rot="8572478">
                  <a:off x="9799288" y="4494547"/>
                  <a:ext cx="318018" cy="30145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4" name="Isosceles Triangle 763">
                  <a:extLst>
                    <a:ext uri="{FF2B5EF4-FFF2-40B4-BE49-F238E27FC236}">
                      <a16:creationId xmlns:a16="http://schemas.microsoft.com/office/drawing/2014/main" id="{8FFC3DAF-0030-4B2F-AACD-537CAFD79585}"/>
                    </a:ext>
                  </a:extLst>
                </p:cNvPr>
                <p:cNvSpPr/>
                <p:nvPr/>
              </p:nvSpPr>
              <p:spPr>
                <a:xfrm rot="7831021">
                  <a:off x="10104540" y="4578577"/>
                  <a:ext cx="342742" cy="30009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5" name="Isosceles Triangle 764">
                  <a:extLst>
                    <a:ext uri="{FF2B5EF4-FFF2-40B4-BE49-F238E27FC236}">
                      <a16:creationId xmlns:a16="http://schemas.microsoft.com/office/drawing/2014/main" id="{4010D3A6-04EB-4731-9185-BAAC53D45FDF}"/>
                    </a:ext>
                  </a:extLst>
                </p:cNvPr>
                <p:cNvSpPr/>
                <p:nvPr/>
              </p:nvSpPr>
              <p:spPr>
                <a:xfrm rot="5055762">
                  <a:off x="9798989" y="4964338"/>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6" name="Isosceles Triangle 765">
                  <a:extLst>
                    <a:ext uri="{FF2B5EF4-FFF2-40B4-BE49-F238E27FC236}">
                      <a16:creationId xmlns:a16="http://schemas.microsoft.com/office/drawing/2014/main" id="{8F112830-25B7-4D60-8B71-7BCE321E1F66}"/>
                    </a:ext>
                  </a:extLst>
                </p:cNvPr>
                <p:cNvSpPr/>
                <p:nvPr/>
              </p:nvSpPr>
              <p:spPr>
                <a:xfrm rot="1367399">
                  <a:off x="9532437" y="4969101"/>
                  <a:ext cx="364315" cy="281005"/>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7" name="Isosceles Triangle 766">
                  <a:extLst>
                    <a:ext uri="{FF2B5EF4-FFF2-40B4-BE49-F238E27FC236}">
                      <a16:creationId xmlns:a16="http://schemas.microsoft.com/office/drawing/2014/main" id="{8B5E669D-5531-43C7-9275-022AF6B13198}"/>
                    </a:ext>
                  </a:extLst>
                </p:cNvPr>
                <p:cNvSpPr/>
                <p:nvPr/>
              </p:nvSpPr>
              <p:spPr>
                <a:xfrm rot="8934642">
                  <a:off x="9516303" y="4686842"/>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8" name="Isosceles Triangle 767">
                  <a:extLst>
                    <a:ext uri="{FF2B5EF4-FFF2-40B4-BE49-F238E27FC236}">
                      <a16:creationId xmlns:a16="http://schemas.microsoft.com/office/drawing/2014/main" id="{2C7DA97A-A515-4EAC-847B-15EBD4F31645}"/>
                    </a:ext>
                  </a:extLst>
                </p:cNvPr>
                <p:cNvSpPr/>
                <p:nvPr/>
              </p:nvSpPr>
              <p:spPr>
                <a:xfrm rot="12114642">
                  <a:off x="9670016" y="4676175"/>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632" name="Rectangle 631">
              <a:extLst>
                <a:ext uri="{FF2B5EF4-FFF2-40B4-BE49-F238E27FC236}">
                  <a16:creationId xmlns:a16="http://schemas.microsoft.com/office/drawing/2014/main" id="{039825D1-38A3-4EEB-89C4-6E06646391C3}"/>
                </a:ext>
              </a:extLst>
            </p:cNvPr>
            <p:cNvSpPr/>
            <p:nvPr/>
          </p:nvSpPr>
          <p:spPr>
            <a:xfrm>
              <a:off x="6286259" y="2819640"/>
              <a:ext cx="525780" cy="457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a:extLst>
              <a:ext uri="{FF2B5EF4-FFF2-40B4-BE49-F238E27FC236}">
                <a16:creationId xmlns:a16="http://schemas.microsoft.com/office/drawing/2014/main" id="{D99B49F5-2F62-E9E0-80E1-770CC250CACE}"/>
              </a:ext>
            </a:extLst>
          </p:cNvPr>
          <p:cNvGrpSpPr/>
          <p:nvPr/>
        </p:nvGrpSpPr>
        <p:grpSpPr>
          <a:xfrm>
            <a:off x="7099908" y="2823729"/>
            <a:ext cx="1572244" cy="1346400"/>
            <a:chOff x="8077596" y="2296359"/>
            <a:chExt cx="1572244" cy="1346400"/>
          </a:xfrm>
        </p:grpSpPr>
        <p:sp>
          <p:nvSpPr>
            <p:cNvPr id="639" name="Rectangle 638">
              <a:extLst>
                <a:ext uri="{FF2B5EF4-FFF2-40B4-BE49-F238E27FC236}">
                  <a16:creationId xmlns:a16="http://schemas.microsoft.com/office/drawing/2014/main" id="{A0A5CBD8-1F34-434A-B2F8-88AE58545043}"/>
                </a:ext>
              </a:extLst>
            </p:cNvPr>
            <p:cNvSpPr/>
            <p:nvPr/>
          </p:nvSpPr>
          <p:spPr>
            <a:xfrm>
              <a:off x="8077596" y="2296359"/>
              <a:ext cx="1537200" cy="1346400"/>
            </a:xfrm>
            <a:prstGeom prst="rect">
              <a:avLst/>
            </a:prstGeom>
            <a:solidFill>
              <a:schemeClr val="bg1"/>
            </a:solidFill>
            <a:ln w="19050">
              <a:solidFill>
                <a:schemeClr val="tx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87" name="Group 786">
              <a:extLst>
                <a:ext uri="{FF2B5EF4-FFF2-40B4-BE49-F238E27FC236}">
                  <a16:creationId xmlns:a16="http://schemas.microsoft.com/office/drawing/2014/main" id="{42B90A18-FDF5-49CB-A996-3454FB0D2A85}"/>
                </a:ext>
              </a:extLst>
            </p:cNvPr>
            <p:cNvGrpSpPr/>
            <p:nvPr/>
          </p:nvGrpSpPr>
          <p:grpSpPr>
            <a:xfrm>
              <a:off x="8094608" y="2408351"/>
              <a:ext cx="1510427" cy="1103323"/>
              <a:chOff x="5656176" y="4065451"/>
              <a:chExt cx="1510427" cy="1103323"/>
            </a:xfrm>
          </p:grpSpPr>
          <p:sp>
            <p:nvSpPr>
              <p:cNvPr id="788" name="Oval 787">
                <a:extLst>
                  <a:ext uri="{FF2B5EF4-FFF2-40B4-BE49-F238E27FC236}">
                    <a16:creationId xmlns:a16="http://schemas.microsoft.com/office/drawing/2014/main" id="{99959809-C79C-4C4C-B7E9-E8004CD9757E}"/>
                  </a:ext>
                </a:extLst>
              </p:cNvPr>
              <p:cNvSpPr/>
              <p:nvPr/>
            </p:nvSpPr>
            <p:spPr>
              <a:xfrm rot="6722785">
                <a:off x="5701561" y="4732528"/>
                <a:ext cx="368087" cy="458857"/>
              </a:xfrm>
              <a:prstGeom prst="ellipse">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9" name="Oval 788">
                <a:extLst>
                  <a:ext uri="{FF2B5EF4-FFF2-40B4-BE49-F238E27FC236}">
                    <a16:creationId xmlns:a16="http://schemas.microsoft.com/office/drawing/2014/main" id="{EB01A0C1-D710-472D-93C5-873C04541E9B}"/>
                  </a:ext>
                </a:extLst>
              </p:cNvPr>
              <p:cNvSpPr/>
              <p:nvPr/>
            </p:nvSpPr>
            <p:spPr>
              <a:xfrm rot="1728551">
                <a:off x="5693647" y="4099981"/>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0" name="Oval 789">
                <a:extLst>
                  <a:ext uri="{FF2B5EF4-FFF2-40B4-BE49-F238E27FC236}">
                    <a16:creationId xmlns:a16="http://schemas.microsoft.com/office/drawing/2014/main" id="{462FE588-623D-4236-8E8C-98EA097DFBCF}"/>
                  </a:ext>
                </a:extLst>
              </p:cNvPr>
              <p:cNvSpPr/>
              <p:nvPr/>
            </p:nvSpPr>
            <p:spPr>
              <a:xfrm>
                <a:off x="5997380" y="4499000"/>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1" name="Oval 790">
                <a:extLst>
                  <a:ext uri="{FF2B5EF4-FFF2-40B4-BE49-F238E27FC236}">
                    <a16:creationId xmlns:a16="http://schemas.microsoft.com/office/drawing/2014/main" id="{D2E2B987-837C-4845-872C-F43926C7BA72}"/>
                  </a:ext>
                </a:extLst>
              </p:cNvPr>
              <p:cNvSpPr/>
              <p:nvPr/>
            </p:nvSpPr>
            <p:spPr>
              <a:xfrm rot="8164085">
                <a:off x="6189330" y="4076805"/>
                <a:ext cx="368087" cy="458857"/>
              </a:xfrm>
              <a:prstGeom prst="ellipse">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2" name="Oval 791">
                <a:extLst>
                  <a:ext uri="{FF2B5EF4-FFF2-40B4-BE49-F238E27FC236}">
                    <a16:creationId xmlns:a16="http://schemas.microsoft.com/office/drawing/2014/main" id="{B682E7A1-46E9-4B86-8A94-A97D9065E5FA}"/>
                  </a:ext>
                </a:extLst>
              </p:cNvPr>
              <p:cNvSpPr/>
              <p:nvPr/>
            </p:nvSpPr>
            <p:spPr>
              <a:xfrm rot="5186198">
                <a:off x="6341844" y="4755302"/>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3" name="Oval 792">
                <a:extLst>
                  <a:ext uri="{FF2B5EF4-FFF2-40B4-BE49-F238E27FC236}">
                    <a16:creationId xmlns:a16="http://schemas.microsoft.com/office/drawing/2014/main" id="{530B3D6C-1960-4288-98C0-9C5E85C9D7FD}"/>
                  </a:ext>
                </a:extLst>
              </p:cNvPr>
              <p:cNvSpPr/>
              <p:nvPr/>
            </p:nvSpPr>
            <p:spPr>
              <a:xfrm rot="6722785">
                <a:off x="6608087" y="4020066"/>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4" name="Oval 793">
                <a:extLst>
                  <a:ext uri="{FF2B5EF4-FFF2-40B4-BE49-F238E27FC236}">
                    <a16:creationId xmlns:a16="http://schemas.microsoft.com/office/drawing/2014/main" id="{927571B5-1D3D-402C-B80F-90AA33888524}"/>
                  </a:ext>
                </a:extLst>
              </p:cNvPr>
              <p:cNvSpPr/>
              <p:nvPr/>
            </p:nvSpPr>
            <p:spPr>
              <a:xfrm rot="4525849">
                <a:off x="6753131" y="4488506"/>
                <a:ext cx="368087" cy="458857"/>
              </a:xfrm>
              <a:prstGeom prst="ellipse">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95" name="Group 794">
                <a:extLst>
                  <a:ext uri="{FF2B5EF4-FFF2-40B4-BE49-F238E27FC236}">
                    <a16:creationId xmlns:a16="http://schemas.microsoft.com/office/drawing/2014/main" id="{E66D3E20-A567-4AD3-9580-6068B5293F23}"/>
                  </a:ext>
                </a:extLst>
              </p:cNvPr>
              <p:cNvGrpSpPr/>
              <p:nvPr/>
            </p:nvGrpSpPr>
            <p:grpSpPr>
              <a:xfrm>
                <a:off x="6932299" y="4620595"/>
                <a:ext cx="200905" cy="180554"/>
                <a:chOff x="9130859" y="4115381"/>
                <a:chExt cx="1394265" cy="1253031"/>
              </a:xfrm>
            </p:grpSpPr>
            <p:sp>
              <p:nvSpPr>
                <p:cNvPr id="833" name="Oval 832">
                  <a:extLst>
                    <a:ext uri="{FF2B5EF4-FFF2-40B4-BE49-F238E27FC236}">
                      <a16:creationId xmlns:a16="http://schemas.microsoft.com/office/drawing/2014/main" id="{5E37853C-548E-40C3-A9FF-73C189EBE739}"/>
                    </a:ext>
                  </a:extLst>
                </p:cNvPr>
                <p:cNvSpPr/>
                <p:nvPr/>
              </p:nvSpPr>
              <p:spPr>
                <a:xfrm>
                  <a:off x="9130859" y="4191000"/>
                  <a:ext cx="1394265" cy="1177412"/>
                </a:xfrm>
                <a:prstGeom prst="ellipse">
                  <a:avLst/>
                </a:prstGeom>
                <a:solidFill>
                  <a:schemeClr val="accent1">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4" name="Isosceles Triangle 833">
                  <a:extLst>
                    <a:ext uri="{FF2B5EF4-FFF2-40B4-BE49-F238E27FC236}">
                      <a16:creationId xmlns:a16="http://schemas.microsoft.com/office/drawing/2014/main" id="{75D85F88-D01D-4D22-9992-187533059A23}"/>
                    </a:ext>
                  </a:extLst>
                </p:cNvPr>
                <p:cNvSpPr/>
                <p:nvPr/>
              </p:nvSpPr>
              <p:spPr>
                <a:xfrm rot="12823569">
                  <a:off x="9360385" y="4503253"/>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5" name="Isosceles Triangle 834">
                  <a:extLst>
                    <a:ext uri="{FF2B5EF4-FFF2-40B4-BE49-F238E27FC236}">
                      <a16:creationId xmlns:a16="http://schemas.microsoft.com/office/drawing/2014/main" id="{47E02241-30C2-49F1-9E89-E17BE9C05297}"/>
                    </a:ext>
                  </a:extLst>
                </p:cNvPr>
                <p:cNvSpPr/>
                <p:nvPr/>
              </p:nvSpPr>
              <p:spPr>
                <a:xfrm rot="9643569">
                  <a:off x="9214043" y="4491796"/>
                  <a:ext cx="315306" cy="31561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6" name="Isosceles Triangle 835">
                  <a:extLst>
                    <a:ext uri="{FF2B5EF4-FFF2-40B4-BE49-F238E27FC236}">
                      <a16:creationId xmlns:a16="http://schemas.microsoft.com/office/drawing/2014/main" id="{EAE2F853-9554-4BC3-BC29-45E0D6D864B2}"/>
                    </a:ext>
                  </a:extLst>
                </p:cNvPr>
                <p:cNvSpPr/>
                <p:nvPr/>
              </p:nvSpPr>
              <p:spPr>
                <a:xfrm rot="11449406">
                  <a:off x="10005583" y="4793454"/>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7" name="Isosceles Triangle 836">
                  <a:extLst>
                    <a:ext uri="{FF2B5EF4-FFF2-40B4-BE49-F238E27FC236}">
                      <a16:creationId xmlns:a16="http://schemas.microsoft.com/office/drawing/2014/main" id="{4424C8F8-0A32-4D53-AC7E-46C48D5294C4}"/>
                    </a:ext>
                  </a:extLst>
                </p:cNvPr>
                <p:cNvSpPr/>
                <p:nvPr/>
              </p:nvSpPr>
              <p:spPr>
                <a:xfrm rot="8269406">
                  <a:off x="9856790" y="4833481"/>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8" name="Isosceles Triangle 837">
                  <a:extLst>
                    <a:ext uri="{FF2B5EF4-FFF2-40B4-BE49-F238E27FC236}">
                      <a16:creationId xmlns:a16="http://schemas.microsoft.com/office/drawing/2014/main" id="{D8046D55-39C4-461E-B44C-B6B8DF1DEEC9}"/>
                    </a:ext>
                  </a:extLst>
                </p:cNvPr>
                <p:cNvSpPr/>
                <p:nvPr/>
              </p:nvSpPr>
              <p:spPr>
                <a:xfrm rot="7664787">
                  <a:off x="10194978" y="4917528"/>
                  <a:ext cx="353865" cy="300282"/>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9" name="Isosceles Triangle 838">
                  <a:extLst>
                    <a:ext uri="{FF2B5EF4-FFF2-40B4-BE49-F238E27FC236}">
                      <a16:creationId xmlns:a16="http://schemas.microsoft.com/office/drawing/2014/main" id="{22C61CC7-086B-4C12-BCCB-BDF045AE53E8}"/>
                    </a:ext>
                  </a:extLst>
                </p:cNvPr>
                <p:cNvSpPr/>
                <p:nvPr/>
              </p:nvSpPr>
              <p:spPr>
                <a:xfrm rot="19573137">
                  <a:off x="9628045" y="4239915"/>
                  <a:ext cx="338197" cy="321415"/>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0" name="Isosceles Triangle 839">
                  <a:extLst>
                    <a:ext uri="{FF2B5EF4-FFF2-40B4-BE49-F238E27FC236}">
                      <a16:creationId xmlns:a16="http://schemas.microsoft.com/office/drawing/2014/main" id="{DCEC2150-CBDE-4F8B-8164-1EE1F3703E94}"/>
                    </a:ext>
                  </a:extLst>
                </p:cNvPr>
                <p:cNvSpPr/>
                <p:nvPr/>
              </p:nvSpPr>
              <p:spPr>
                <a:xfrm rot="8861041">
                  <a:off x="9496419" y="4328497"/>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1" name="Isosceles Triangle 840">
                  <a:extLst>
                    <a:ext uri="{FF2B5EF4-FFF2-40B4-BE49-F238E27FC236}">
                      <a16:creationId xmlns:a16="http://schemas.microsoft.com/office/drawing/2014/main" id="{CB58EF74-D008-4B5C-8B94-5ED736313650}"/>
                    </a:ext>
                  </a:extLst>
                </p:cNvPr>
                <p:cNvSpPr/>
                <p:nvPr/>
              </p:nvSpPr>
              <p:spPr>
                <a:xfrm rot="19565106">
                  <a:off x="9372501" y="4772266"/>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2" name="Isosceles Triangle 841">
                  <a:extLst>
                    <a:ext uri="{FF2B5EF4-FFF2-40B4-BE49-F238E27FC236}">
                      <a16:creationId xmlns:a16="http://schemas.microsoft.com/office/drawing/2014/main" id="{61E6ED5E-B2A1-4B5D-8EBE-477F4FA1F199}"/>
                    </a:ext>
                  </a:extLst>
                </p:cNvPr>
                <p:cNvSpPr/>
                <p:nvPr/>
              </p:nvSpPr>
              <p:spPr>
                <a:xfrm rot="4950814">
                  <a:off x="9426254" y="4115998"/>
                  <a:ext cx="316015" cy="31478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3" name="Isosceles Triangle 842">
                  <a:extLst>
                    <a:ext uri="{FF2B5EF4-FFF2-40B4-BE49-F238E27FC236}">
                      <a16:creationId xmlns:a16="http://schemas.microsoft.com/office/drawing/2014/main" id="{8290FA90-45D2-48F0-983A-7CD1DD8D79B9}"/>
                    </a:ext>
                  </a:extLst>
                </p:cNvPr>
                <p:cNvSpPr/>
                <p:nvPr/>
              </p:nvSpPr>
              <p:spPr>
                <a:xfrm rot="11731700">
                  <a:off x="9944724" y="4461219"/>
                  <a:ext cx="314444" cy="300864"/>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4" name="Isosceles Triangle 843">
                  <a:extLst>
                    <a:ext uri="{FF2B5EF4-FFF2-40B4-BE49-F238E27FC236}">
                      <a16:creationId xmlns:a16="http://schemas.microsoft.com/office/drawing/2014/main" id="{945CF64B-6F14-4CBF-8F60-7A62D112567F}"/>
                    </a:ext>
                  </a:extLst>
                </p:cNvPr>
                <p:cNvSpPr/>
                <p:nvPr/>
              </p:nvSpPr>
              <p:spPr>
                <a:xfrm rot="8572478">
                  <a:off x="9799288" y="4494547"/>
                  <a:ext cx="318018" cy="30145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5" name="Isosceles Triangle 844">
                  <a:extLst>
                    <a:ext uri="{FF2B5EF4-FFF2-40B4-BE49-F238E27FC236}">
                      <a16:creationId xmlns:a16="http://schemas.microsoft.com/office/drawing/2014/main" id="{307C716A-04E9-4FBC-B873-64CD47640FA1}"/>
                    </a:ext>
                  </a:extLst>
                </p:cNvPr>
                <p:cNvSpPr/>
                <p:nvPr/>
              </p:nvSpPr>
              <p:spPr>
                <a:xfrm rot="7831021">
                  <a:off x="10104540" y="4578577"/>
                  <a:ext cx="342742" cy="30009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6" name="Isosceles Triangle 845">
                  <a:extLst>
                    <a:ext uri="{FF2B5EF4-FFF2-40B4-BE49-F238E27FC236}">
                      <a16:creationId xmlns:a16="http://schemas.microsoft.com/office/drawing/2014/main" id="{D93915FF-8B30-43B1-A843-236B41D5931F}"/>
                    </a:ext>
                  </a:extLst>
                </p:cNvPr>
                <p:cNvSpPr/>
                <p:nvPr/>
              </p:nvSpPr>
              <p:spPr>
                <a:xfrm rot="5055762">
                  <a:off x="9798989" y="4964338"/>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7" name="Isosceles Triangle 846">
                  <a:extLst>
                    <a:ext uri="{FF2B5EF4-FFF2-40B4-BE49-F238E27FC236}">
                      <a16:creationId xmlns:a16="http://schemas.microsoft.com/office/drawing/2014/main" id="{331AD13C-30A9-4085-8134-961A80B695F7}"/>
                    </a:ext>
                  </a:extLst>
                </p:cNvPr>
                <p:cNvSpPr/>
                <p:nvPr/>
              </p:nvSpPr>
              <p:spPr>
                <a:xfrm rot="1367399">
                  <a:off x="9532437" y="4969101"/>
                  <a:ext cx="364315" cy="281005"/>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8" name="Isosceles Triangle 847">
                  <a:extLst>
                    <a:ext uri="{FF2B5EF4-FFF2-40B4-BE49-F238E27FC236}">
                      <a16:creationId xmlns:a16="http://schemas.microsoft.com/office/drawing/2014/main" id="{A5699EDE-78DC-4B32-99E0-8934D64D4B90}"/>
                    </a:ext>
                  </a:extLst>
                </p:cNvPr>
                <p:cNvSpPr/>
                <p:nvPr/>
              </p:nvSpPr>
              <p:spPr>
                <a:xfrm rot="8934642">
                  <a:off x="9516303" y="4686842"/>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9" name="Isosceles Triangle 848">
                  <a:extLst>
                    <a:ext uri="{FF2B5EF4-FFF2-40B4-BE49-F238E27FC236}">
                      <a16:creationId xmlns:a16="http://schemas.microsoft.com/office/drawing/2014/main" id="{2ADA6643-D00B-4B9A-B20E-58F691537398}"/>
                    </a:ext>
                  </a:extLst>
                </p:cNvPr>
                <p:cNvSpPr/>
                <p:nvPr/>
              </p:nvSpPr>
              <p:spPr>
                <a:xfrm rot="12114642">
                  <a:off x="9670016" y="4676175"/>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96" name="Isosceles Triangle 795">
                <a:extLst>
                  <a:ext uri="{FF2B5EF4-FFF2-40B4-BE49-F238E27FC236}">
                    <a16:creationId xmlns:a16="http://schemas.microsoft.com/office/drawing/2014/main" id="{7E633006-BB86-4605-804A-D0F644D297E8}"/>
                  </a:ext>
                </a:extLst>
              </p:cNvPr>
              <p:cNvSpPr/>
              <p:nvPr/>
            </p:nvSpPr>
            <p:spPr>
              <a:xfrm rot="12823569">
                <a:off x="5922468" y="4919387"/>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7" name="Isosceles Triangle 796">
                <a:extLst>
                  <a:ext uri="{FF2B5EF4-FFF2-40B4-BE49-F238E27FC236}">
                    <a16:creationId xmlns:a16="http://schemas.microsoft.com/office/drawing/2014/main" id="{62B80D28-FEF7-4C40-AF25-55D3A48E13FF}"/>
                  </a:ext>
                </a:extLst>
              </p:cNvPr>
              <p:cNvSpPr/>
              <p:nvPr/>
            </p:nvSpPr>
            <p:spPr>
              <a:xfrm rot="9643569">
                <a:off x="5894279" y="4889179"/>
                <a:ext cx="45434" cy="45478"/>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8" name="Isosceles Triangle 797">
                <a:extLst>
                  <a:ext uri="{FF2B5EF4-FFF2-40B4-BE49-F238E27FC236}">
                    <a16:creationId xmlns:a16="http://schemas.microsoft.com/office/drawing/2014/main" id="{9E426325-CE0B-41F8-8A54-6945491AFFC8}"/>
                  </a:ext>
                </a:extLst>
              </p:cNvPr>
              <p:cNvSpPr/>
              <p:nvPr/>
            </p:nvSpPr>
            <p:spPr>
              <a:xfrm rot="11449406">
                <a:off x="6015437" y="4961203"/>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9" name="Isosceles Triangle 798">
                <a:extLst>
                  <a:ext uri="{FF2B5EF4-FFF2-40B4-BE49-F238E27FC236}">
                    <a16:creationId xmlns:a16="http://schemas.microsoft.com/office/drawing/2014/main" id="{77A9B153-F32E-42A0-93A7-116AA4C22114}"/>
                  </a:ext>
                </a:extLst>
              </p:cNvPr>
              <p:cNvSpPr/>
              <p:nvPr/>
            </p:nvSpPr>
            <p:spPr>
              <a:xfrm rot="8269406">
                <a:off x="5993997" y="4966971"/>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0" name="Isosceles Triangle 799">
                <a:extLst>
                  <a:ext uri="{FF2B5EF4-FFF2-40B4-BE49-F238E27FC236}">
                    <a16:creationId xmlns:a16="http://schemas.microsoft.com/office/drawing/2014/main" id="{2E04DC10-7BCC-499C-939B-46236E8B4815}"/>
                  </a:ext>
                </a:extLst>
              </p:cNvPr>
              <p:cNvSpPr/>
              <p:nvPr/>
            </p:nvSpPr>
            <p:spPr>
              <a:xfrm rot="7664787">
                <a:off x="6107031" y="5014467"/>
                <a:ext cx="50990" cy="43269"/>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1" name="Isosceles Triangle 800">
                <a:extLst>
                  <a:ext uri="{FF2B5EF4-FFF2-40B4-BE49-F238E27FC236}">
                    <a16:creationId xmlns:a16="http://schemas.microsoft.com/office/drawing/2014/main" id="{7EFDDFE5-A3C0-45C9-B41F-FC9F674172EC}"/>
                  </a:ext>
                </a:extLst>
              </p:cNvPr>
              <p:cNvSpPr/>
              <p:nvPr/>
            </p:nvSpPr>
            <p:spPr>
              <a:xfrm rot="19573137">
                <a:off x="5961036" y="4881442"/>
                <a:ext cx="48732" cy="46314"/>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2" name="Isosceles Triangle 801">
                <a:extLst>
                  <a:ext uri="{FF2B5EF4-FFF2-40B4-BE49-F238E27FC236}">
                    <a16:creationId xmlns:a16="http://schemas.microsoft.com/office/drawing/2014/main" id="{923AADF6-70B4-466A-8FFA-61E5CB738A4E}"/>
                  </a:ext>
                </a:extLst>
              </p:cNvPr>
              <p:cNvSpPr/>
              <p:nvPr/>
            </p:nvSpPr>
            <p:spPr>
              <a:xfrm rot="8861041">
                <a:off x="5937746" y="4874201"/>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3" name="Isosceles Triangle 802">
                <a:extLst>
                  <a:ext uri="{FF2B5EF4-FFF2-40B4-BE49-F238E27FC236}">
                    <a16:creationId xmlns:a16="http://schemas.microsoft.com/office/drawing/2014/main" id="{43F67FD1-08DB-41EB-A862-45CC6E2D11E1}"/>
                  </a:ext>
                </a:extLst>
              </p:cNvPr>
              <p:cNvSpPr/>
              <p:nvPr/>
            </p:nvSpPr>
            <p:spPr>
              <a:xfrm rot="19565106">
                <a:off x="5924214" y="4958150"/>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4" name="Isosceles Triangle 803">
                <a:extLst>
                  <a:ext uri="{FF2B5EF4-FFF2-40B4-BE49-F238E27FC236}">
                    <a16:creationId xmlns:a16="http://schemas.microsoft.com/office/drawing/2014/main" id="{3FB68632-15FB-4419-B91A-A523D6AE9365}"/>
                  </a:ext>
                </a:extLst>
              </p:cNvPr>
              <p:cNvSpPr/>
              <p:nvPr/>
            </p:nvSpPr>
            <p:spPr>
              <a:xfrm rot="4950814">
                <a:off x="5912867" y="4807377"/>
                <a:ext cx="45536" cy="45358"/>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5" name="Isosceles Triangle 804">
                <a:extLst>
                  <a:ext uri="{FF2B5EF4-FFF2-40B4-BE49-F238E27FC236}">
                    <a16:creationId xmlns:a16="http://schemas.microsoft.com/office/drawing/2014/main" id="{CE3C9C09-B1C1-418A-86B5-9819E1251BB4}"/>
                  </a:ext>
                </a:extLst>
              </p:cNvPr>
              <p:cNvSpPr/>
              <p:nvPr/>
            </p:nvSpPr>
            <p:spPr>
              <a:xfrm rot="11731700">
                <a:off x="6006668" y="4913330"/>
                <a:ext cx="45309" cy="43353"/>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6" name="Isosceles Triangle 805">
                <a:extLst>
                  <a:ext uri="{FF2B5EF4-FFF2-40B4-BE49-F238E27FC236}">
                    <a16:creationId xmlns:a16="http://schemas.microsoft.com/office/drawing/2014/main" id="{AB2F8CFF-1851-4234-BC14-E65DA59C2D92}"/>
                  </a:ext>
                </a:extLst>
              </p:cNvPr>
              <p:cNvSpPr/>
              <p:nvPr/>
            </p:nvSpPr>
            <p:spPr>
              <a:xfrm rot="8572478">
                <a:off x="5985710" y="4830091"/>
                <a:ext cx="45824" cy="43437"/>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7" name="Isosceles Triangle 806">
                <a:extLst>
                  <a:ext uri="{FF2B5EF4-FFF2-40B4-BE49-F238E27FC236}">
                    <a16:creationId xmlns:a16="http://schemas.microsoft.com/office/drawing/2014/main" id="{30DE1591-BA7E-4B29-B432-1A3944C10342}"/>
                  </a:ext>
                </a:extLst>
              </p:cNvPr>
              <p:cNvSpPr/>
              <p:nvPr/>
            </p:nvSpPr>
            <p:spPr>
              <a:xfrm rot="7831021">
                <a:off x="6099262" y="4948811"/>
                <a:ext cx="49387" cy="4324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8" name="Isosceles Triangle 807">
                <a:extLst>
                  <a:ext uri="{FF2B5EF4-FFF2-40B4-BE49-F238E27FC236}">
                    <a16:creationId xmlns:a16="http://schemas.microsoft.com/office/drawing/2014/main" id="{E429C994-194A-4DA7-A5B9-B86D114104D2}"/>
                  </a:ext>
                </a:extLst>
              </p:cNvPr>
              <p:cNvSpPr/>
              <p:nvPr/>
            </p:nvSpPr>
            <p:spPr>
              <a:xfrm rot="5055762">
                <a:off x="6050114" y="5026137"/>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9" name="Isosceles Triangle 808">
                <a:extLst>
                  <a:ext uri="{FF2B5EF4-FFF2-40B4-BE49-F238E27FC236}">
                    <a16:creationId xmlns:a16="http://schemas.microsoft.com/office/drawing/2014/main" id="{B59DA0A8-1FFB-40B1-9F58-52E826F6D4EA}"/>
                  </a:ext>
                </a:extLst>
              </p:cNvPr>
              <p:cNvSpPr/>
              <p:nvPr/>
            </p:nvSpPr>
            <p:spPr>
              <a:xfrm rot="1367399">
                <a:off x="5947260" y="4986513"/>
                <a:ext cx="52496" cy="4049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0" name="Isosceles Triangle 809">
                <a:extLst>
                  <a:ext uri="{FF2B5EF4-FFF2-40B4-BE49-F238E27FC236}">
                    <a16:creationId xmlns:a16="http://schemas.microsoft.com/office/drawing/2014/main" id="{05283850-D1F8-42AE-B273-F7E6B0C7D70E}"/>
                  </a:ext>
                </a:extLst>
              </p:cNvPr>
              <p:cNvSpPr/>
              <p:nvPr/>
            </p:nvSpPr>
            <p:spPr>
              <a:xfrm rot="8934642">
                <a:off x="5871021" y="4933890"/>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1" name="Isosceles Triangle 810">
                <a:extLst>
                  <a:ext uri="{FF2B5EF4-FFF2-40B4-BE49-F238E27FC236}">
                    <a16:creationId xmlns:a16="http://schemas.microsoft.com/office/drawing/2014/main" id="{8F8BA72F-6DA4-489C-917B-547BBA375D3D}"/>
                  </a:ext>
                </a:extLst>
              </p:cNvPr>
              <p:cNvSpPr/>
              <p:nvPr/>
            </p:nvSpPr>
            <p:spPr>
              <a:xfrm rot="12114642">
                <a:off x="5967084" y="4944304"/>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12" name="Group 811">
                <a:extLst>
                  <a:ext uri="{FF2B5EF4-FFF2-40B4-BE49-F238E27FC236}">
                    <a16:creationId xmlns:a16="http://schemas.microsoft.com/office/drawing/2014/main" id="{F7E07E7A-C6F2-498A-BDFA-9ACAB48CA73A}"/>
                  </a:ext>
                </a:extLst>
              </p:cNvPr>
              <p:cNvGrpSpPr/>
              <p:nvPr/>
            </p:nvGrpSpPr>
            <p:grpSpPr>
              <a:xfrm>
                <a:off x="6220329" y="4149511"/>
                <a:ext cx="200905" cy="180554"/>
                <a:chOff x="9130859" y="4115381"/>
                <a:chExt cx="1394265" cy="1253031"/>
              </a:xfrm>
            </p:grpSpPr>
            <p:sp>
              <p:nvSpPr>
                <p:cNvPr id="816" name="Oval 815">
                  <a:extLst>
                    <a:ext uri="{FF2B5EF4-FFF2-40B4-BE49-F238E27FC236}">
                      <a16:creationId xmlns:a16="http://schemas.microsoft.com/office/drawing/2014/main" id="{6F37AB7F-97DE-46AF-983D-D84A07EAC527}"/>
                    </a:ext>
                  </a:extLst>
                </p:cNvPr>
                <p:cNvSpPr/>
                <p:nvPr/>
              </p:nvSpPr>
              <p:spPr>
                <a:xfrm>
                  <a:off x="9130859" y="4191000"/>
                  <a:ext cx="1394265" cy="1177412"/>
                </a:xfrm>
                <a:prstGeom prst="ellipse">
                  <a:avLst/>
                </a:prstGeom>
                <a:solidFill>
                  <a:schemeClr val="accent1">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7" name="Isosceles Triangle 816">
                  <a:extLst>
                    <a:ext uri="{FF2B5EF4-FFF2-40B4-BE49-F238E27FC236}">
                      <a16:creationId xmlns:a16="http://schemas.microsoft.com/office/drawing/2014/main" id="{E36FB58D-A315-45EF-8F6E-CF6D81FDFE44}"/>
                    </a:ext>
                  </a:extLst>
                </p:cNvPr>
                <p:cNvSpPr/>
                <p:nvPr/>
              </p:nvSpPr>
              <p:spPr>
                <a:xfrm rot="12823569">
                  <a:off x="9360385" y="4503253"/>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8" name="Isosceles Triangle 817">
                  <a:extLst>
                    <a:ext uri="{FF2B5EF4-FFF2-40B4-BE49-F238E27FC236}">
                      <a16:creationId xmlns:a16="http://schemas.microsoft.com/office/drawing/2014/main" id="{5089A657-5864-4741-84C4-7551728EBC6C}"/>
                    </a:ext>
                  </a:extLst>
                </p:cNvPr>
                <p:cNvSpPr/>
                <p:nvPr/>
              </p:nvSpPr>
              <p:spPr>
                <a:xfrm rot="9643569">
                  <a:off x="9214043" y="4491796"/>
                  <a:ext cx="315306" cy="31561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9" name="Isosceles Triangle 818">
                  <a:extLst>
                    <a:ext uri="{FF2B5EF4-FFF2-40B4-BE49-F238E27FC236}">
                      <a16:creationId xmlns:a16="http://schemas.microsoft.com/office/drawing/2014/main" id="{8CA58345-6B5D-4240-A0D6-57929CCB89BB}"/>
                    </a:ext>
                  </a:extLst>
                </p:cNvPr>
                <p:cNvSpPr/>
                <p:nvPr/>
              </p:nvSpPr>
              <p:spPr>
                <a:xfrm rot="11449406">
                  <a:off x="10005583" y="4793454"/>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0" name="Isosceles Triangle 819">
                  <a:extLst>
                    <a:ext uri="{FF2B5EF4-FFF2-40B4-BE49-F238E27FC236}">
                      <a16:creationId xmlns:a16="http://schemas.microsoft.com/office/drawing/2014/main" id="{D4474236-E825-4C77-8388-6D8D584E9F76}"/>
                    </a:ext>
                  </a:extLst>
                </p:cNvPr>
                <p:cNvSpPr/>
                <p:nvPr/>
              </p:nvSpPr>
              <p:spPr>
                <a:xfrm rot="8269406">
                  <a:off x="9856790" y="4833481"/>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1" name="Isosceles Triangle 820">
                  <a:extLst>
                    <a:ext uri="{FF2B5EF4-FFF2-40B4-BE49-F238E27FC236}">
                      <a16:creationId xmlns:a16="http://schemas.microsoft.com/office/drawing/2014/main" id="{4ECF8336-1FA5-498C-AFD1-A4FBC5DDFF89}"/>
                    </a:ext>
                  </a:extLst>
                </p:cNvPr>
                <p:cNvSpPr/>
                <p:nvPr/>
              </p:nvSpPr>
              <p:spPr>
                <a:xfrm rot="7664787">
                  <a:off x="10194978" y="4917528"/>
                  <a:ext cx="353865" cy="300282"/>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2" name="Isosceles Triangle 821">
                  <a:extLst>
                    <a:ext uri="{FF2B5EF4-FFF2-40B4-BE49-F238E27FC236}">
                      <a16:creationId xmlns:a16="http://schemas.microsoft.com/office/drawing/2014/main" id="{57DD86F3-5082-4CC9-AE1A-DE20354C67B7}"/>
                    </a:ext>
                  </a:extLst>
                </p:cNvPr>
                <p:cNvSpPr/>
                <p:nvPr/>
              </p:nvSpPr>
              <p:spPr>
                <a:xfrm rot="19573137">
                  <a:off x="9628045" y="4239915"/>
                  <a:ext cx="338197" cy="321415"/>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3" name="Isosceles Triangle 822">
                  <a:extLst>
                    <a:ext uri="{FF2B5EF4-FFF2-40B4-BE49-F238E27FC236}">
                      <a16:creationId xmlns:a16="http://schemas.microsoft.com/office/drawing/2014/main" id="{68F146A8-DECE-4CE9-BEBA-9222920DAA94}"/>
                    </a:ext>
                  </a:extLst>
                </p:cNvPr>
                <p:cNvSpPr/>
                <p:nvPr/>
              </p:nvSpPr>
              <p:spPr>
                <a:xfrm rot="8861041">
                  <a:off x="9496419" y="4328497"/>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4" name="Isosceles Triangle 823">
                  <a:extLst>
                    <a:ext uri="{FF2B5EF4-FFF2-40B4-BE49-F238E27FC236}">
                      <a16:creationId xmlns:a16="http://schemas.microsoft.com/office/drawing/2014/main" id="{1A9EC7C2-152B-4934-B6BD-1C8C7EA04D5D}"/>
                    </a:ext>
                  </a:extLst>
                </p:cNvPr>
                <p:cNvSpPr/>
                <p:nvPr/>
              </p:nvSpPr>
              <p:spPr>
                <a:xfrm rot="19565106">
                  <a:off x="9372501" y="4772266"/>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5" name="Isosceles Triangle 824">
                  <a:extLst>
                    <a:ext uri="{FF2B5EF4-FFF2-40B4-BE49-F238E27FC236}">
                      <a16:creationId xmlns:a16="http://schemas.microsoft.com/office/drawing/2014/main" id="{1299B32F-2D94-4B59-B04F-100CFAD181D6}"/>
                    </a:ext>
                  </a:extLst>
                </p:cNvPr>
                <p:cNvSpPr/>
                <p:nvPr/>
              </p:nvSpPr>
              <p:spPr>
                <a:xfrm rot="4950814">
                  <a:off x="9426254" y="4115998"/>
                  <a:ext cx="316015" cy="31478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6" name="Isosceles Triangle 825">
                  <a:extLst>
                    <a:ext uri="{FF2B5EF4-FFF2-40B4-BE49-F238E27FC236}">
                      <a16:creationId xmlns:a16="http://schemas.microsoft.com/office/drawing/2014/main" id="{4A19C339-E3B1-4517-BF4D-0E9450648DE9}"/>
                    </a:ext>
                  </a:extLst>
                </p:cNvPr>
                <p:cNvSpPr/>
                <p:nvPr/>
              </p:nvSpPr>
              <p:spPr>
                <a:xfrm rot="11731700">
                  <a:off x="9944724" y="4461219"/>
                  <a:ext cx="314444" cy="300864"/>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7" name="Isosceles Triangle 826">
                  <a:extLst>
                    <a:ext uri="{FF2B5EF4-FFF2-40B4-BE49-F238E27FC236}">
                      <a16:creationId xmlns:a16="http://schemas.microsoft.com/office/drawing/2014/main" id="{B339F60E-96EF-46D9-B099-FC8E32C0C25B}"/>
                    </a:ext>
                  </a:extLst>
                </p:cNvPr>
                <p:cNvSpPr/>
                <p:nvPr/>
              </p:nvSpPr>
              <p:spPr>
                <a:xfrm rot="8572478">
                  <a:off x="9799288" y="4494547"/>
                  <a:ext cx="318018" cy="30145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8" name="Isosceles Triangle 827">
                  <a:extLst>
                    <a:ext uri="{FF2B5EF4-FFF2-40B4-BE49-F238E27FC236}">
                      <a16:creationId xmlns:a16="http://schemas.microsoft.com/office/drawing/2014/main" id="{99F76F9D-DC81-4F85-872B-B27426CBB4B4}"/>
                    </a:ext>
                  </a:extLst>
                </p:cNvPr>
                <p:cNvSpPr/>
                <p:nvPr/>
              </p:nvSpPr>
              <p:spPr>
                <a:xfrm rot="7831021">
                  <a:off x="10104540" y="4578577"/>
                  <a:ext cx="342742" cy="30009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9" name="Isosceles Triangle 828">
                  <a:extLst>
                    <a:ext uri="{FF2B5EF4-FFF2-40B4-BE49-F238E27FC236}">
                      <a16:creationId xmlns:a16="http://schemas.microsoft.com/office/drawing/2014/main" id="{CE1A9108-5CB1-4AF0-8A5E-0CBA073D7BCF}"/>
                    </a:ext>
                  </a:extLst>
                </p:cNvPr>
                <p:cNvSpPr/>
                <p:nvPr/>
              </p:nvSpPr>
              <p:spPr>
                <a:xfrm rot="5055762">
                  <a:off x="9798989" y="4964338"/>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0" name="Isosceles Triangle 829">
                  <a:extLst>
                    <a:ext uri="{FF2B5EF4-FFF2-40B4-BE49-F238E27FC236}">
                      <a16:creationId xmlns:a16="http://schemas.microsoft.com/office/drawing/2014/main" id="{39A81BFF-4AF4-4F9A-9BE4-DB5108B98959}"/>
                    </a:ext>
                  </a:extLst>
                </p:cNvPr>
                <p:cNvSpPr/>
                <p:nvPr/>
              </p:nvSpPr>
              <p:spPr>
                <a:xfrm rot="1367399">
                  <a:off x="9532437" y="4969101"/>
                  <a:ext cx="364315" cy="281005"/>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1" name="Isosceles Triangle 830">
                  <a:extLst>
                    <a:ext uri="{FF2B5EF4-FFF2-40B4-BE49-F238E27FC236}">
                      <a16:creationId xmlns:a16="http://schemas.microsoft.com/office/drawing/2014/main" id="{71829804-78AE-4286-80FE-987F1A1FA662}"/>
                    </a:ext>
                  </a:extLst>
                </p:cNvPr>
                <p:cNvSpPr/>
                <p:nvPr/>
              </p:nvSpPr>
              <p:spPr>
                <a:xfrm rot="8934642">
                  <a:off x="9516303" y="4686842"/>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2" name="Isosceles Triangle 831">
                  <a:extLst>
                    <a:ext uri="{FF2B5EF4-FFF2-40B4-BE49-F238E27FC236}">
                      <a16:creationId xmlns:a16="http://schemas.microsoft.com/office/drawing/2014/main" id="{17485778-7FCC-4488-9325-CF9970235958}"/>
                    </a:ext>
                  </a:extLst>
                </p:cNvPr>
                <p:cNvSpPr/>
                <p:nvPr/>
              </p:nvSpPr>
              <p:spPr>
                <a:xfrm rot="12114642">
                  <a:off x="9670016" y="4676175"/>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813" name="Isosceles Triangle 812">
                <a:extLst>
                  <a:ext uri="{FF2B5EF4-FFF2-40B4-BE49-F238E27FC236}">
                    <a16:creationId xmlns:a16="http://schemas.microsoft.com/office/drawing/2014/main" id="{EB1B47EA-E9DC-4682-A426-8DE709954381}"/>
                  </a:ext>
                </a:extLst>
              </p:cNvPr>
              <p:cNvSpPr/>
              <p:nvPr/>
            </p:nvSpPr>
            <p:spPr>
              <a:xfrm rot="9643569">
                <a:off x="6513870" y="4587211"/>
                <a:ext cx="45434" cy="45478"/>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4" name="Isosceles Triangle 813">
                <a:extLst>
                  <a:ext uri="{FF2B5EF4-FFF2-40B4-BE49-F238E27FC236}">
                    <a16:creationId xmlns:a16="http://schemas.microsoft.com/office/drawing/2014/main" id="{B24E598D-69D3-4A48-817E-658025710A1E}"/>
                  </a:ext>
                </a:extLst>
              </p:cNvPr>
              <p:cNvSpPr/>
              <p:nvPr/>
            </p:nvSpPr>
            <p:spPr>
              <a:xfrm rot="19573137">
                <a:off x="6573525" y="4550917"/>
                <a:ext cx="48732" cy="46314"/>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5" name="Isosceles Triangle 814">
                <a:extLst>
                  <a:ext uri="{FF2B5EF4-FFF2-40B4-BE49-F238E27FC236}">
                    <a16:creationId xmlns:a16="http://schemas.microsoft.com/office/drawing/2014/main" id="{222BCF41-699D-4251-9C0C-617B31D7FB9F}"/>
                  </a:ext>
                </a:extLst>
              </p:cNvPr>
              <p:cNvSpPr/>
              <p:nvPr/>
            </p:nvSpPr>
            <p:spPr>
              <a:xfrm rot="12114642">
                <a:off x="6579573" y="4613779"/>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38" name="Rectangle 637">
              <a:extLst>
                <a:ext uri="{FF2B5EF4-FFF2-40B4-BE49-F238E27FC236}">
                  <a16:creationId xmlns:a16="http://schemas.microsoft.com/office/drawing/2014/main" id="{B4934022-A6BB-4E2C-A997-0CAB6B5C8756}"/>
                </a:ext>
              </a:extLst>
            </p:cNvPr>
            <p:cNvSpPr/>
            <p:nvPr/>
          </p:nvSpPr>
          <p:spPr>
            <a:xfrm>
              <a:off x="9124060" y="2827284"/>
              <a:ext cx="525780" cy="457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51" name="Rectangle: Rounded Corners 950">
            <a:extLst>
              <a:ext uri="{FF2B5EF4-FFF2-40B4-BE49-F238E27FC236}">
                <a16:creationId xmlns:a16="http://schemas.microsoft.com/office/drawing/2014/main" id="{F6F181CD-049C-4A7A-9B9B-FDE852FC9F49}"/>
              </a:ext>
            </a:extLst>
          </p:cNvPr>
          <p:cNvSpPr/>
          <p:nvPr/>
        </p:nvSpPr>
        <p:spPr>
          <a:xfrm>
            <a:off x="837073" y="5723523"/>
            <a:ext cx="10184107" cy="528280"/>
          </a:xfrm>
          <a:prstGeom prst="roundRect">
            <a:avLst>
              <a:gd name="adj" fmla="val 1989"/>
            </a:avLst>
          </a:prstGeom>
          <a:solidFill>
            <a:srgbClr val="FFFFFF">
              <a:alpha val="50196"/>
            </a:srgbClr>
          </a:solidFill>
          <a:ln w="19050">
            <a:noFill/>
          </a:ln>
        </p:spPr>
        <p:txBody>
          <a:bodyPr wrap="square">
            <a:spAutoFit/>
          </a:bodyPr>
          <a:lstStyle/>
          <a:p>
            <a:pPr algn="ctr">
              <a:spcBef>
                <a:spcPts val="1000"/>
              </a:spcBef>
              <a:buClr>
                <a:schemeClr val="accent1"/>
              </a:buClr>
            </a:pPr>
            <a:r>
              <a:rPr lang="en-GB" sz="1400">
                <a:latin typeface="Arial" panose="020B0604020202020204" pitchFamily="34" charset="0"/>
                <a:cs typeface="Arial" panose="020B0604020202020204" pitchFamily="34" charset="0"/>
              </a:rPr>
              <a:t>The progression of Parkinson’s disease (PD) pathology occurs on a number of levels: within a cell, between nearby cells, </a:t>
            </a:r>
            <a:br>
              <a:rPr lang="en-GB" sz="1400">
                <a:latin typeface="Arial" panose="020B0604020202020204" pitchFamily="34" charset="0"/>
                <a:cs typeface="Arial" panose="020B0604020202020204" pitchFamily="34" charset="0"/>
              </a:rPr>
            </a:br>
            <a:r>
              <a:rPr lang="en-GB" sz="1400">
                <a:latin typeface="Arial" panose="020B0604020202020204" pitchFamily="34" charset="0"/>
                <a:cs typeface="Arial" panose="020B0604020202020204" pitchFamily="34" charset="0"/>
              </a:rPr>
              <a:t>and over longer distances throughout the brain, as well as in tissues and organs outside the brain</a:t>
            </a:r>
          </a:p>
        </p:txBody>
      </p:sp>
      <p:grpSp>
        <p:nvGrpSpPr>
          <p:cNvPr id="8" name="Group 7">
            <a:extLst>
              <a:ext uri="{FF2B5EF4-FFF2-40B4-BE49-F238E27FC236}">
                <a16:creationId xmlns:a16="http://schemas.microsoft.com/office/drawing/2014/main" id="{4BCB5F23-5922-AC73-8FF7-67D51FD87566}"/>
              </a:ext>
            </a:extLst>
          </p:cNvPr>
          <p:cNvGrpSpPr/>
          <p:nvPr/>
        </p:nvGrpSpPr>
        <p:grpSpPr>
          <a:xfrm>
            <a:off x="9776078" y="2823729"/>
            <a:ext cx="1562718" cy="1346400"/>
            <a:chOff x="9959481" y="2702741"/>
            <a:chExt cx="1562718" cy="1346400"/>
          </a:xfrm>
        </p:grpSpPr>
        <p:sp>
          <p:nvSpPr>
            <p:cNvPr id="644" name="Rectangle 643">
              <a:extLst>
                <a:ext uri="{FF2B5EF4-FFF2-40B4-BE49-F238E27FC236}">
                  <a16:creationId xmlns:a16="http://schemas.microsoft.com/office/drawing/2014/main" id="{892DB9A4-6BBC-4F1E-A02D-00C6CA657413}"/>
                </a:ext>
              </a:extLst>
            </p:cNvPr>
            <p:cNvSpPr/>
            <p:nvPr/>
          </p:nvSpPr>
          <p:spPr>
            <a:xfrm>
              <a:off x="9959481" y="2702741"/>
              <a:ext cx="1537200" cy="1346400"/>
            </a:xfrm>
            <a:prstGeom prst="rect">
              <a:avLst/>
            </a:prstGeom>
            <a:solidFill>
              <a:schemeClr val="bg1"/>
            </a:solidFill>
            <a:ln w="19050">
              <a:solidFill>
                <a:schemeClr val="tx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50" name="Group 849">
              <a:extLst>
                <a:ext uri="{FF2B5EF4-FFF2-40B4-BE49-F238E27FC236}">
                  <a16:creationId xmlns:a16="http://schemas.microsoft.com/office/drawing/2014/main" id="{2AD81BFD-D970-43AD-8418-EA6C4EEF4782}"/>
                </a:ext>
              </a:extLst>
            </p:cNvPr>
            <p:cNvGrpSpPr/>
            <p:nvPr/>
          </p:nvGrpSpPr>
          <p:grpSpPr>
            <a:xfrm>
              <a:off x="9998512" y="2827421"/>
              <a:ext cx="1472956" cy="1103323"/>
              <a:chOff x="7550587" y="4055906"/>
              <a:chExt cx="1472956" cy="1103323"/>
            </a:xfrm>
          </p:grpSpPr>
          <p:sp>
            <p:nvSpPr>
              <p:cNvPr id="851" name="Oval 850">
                <a:extLst>
                  <a:ext uri="{FF2B5EF4-FFF2-40B4-BE49-F238E27FC236}">
                    <a16:creationId xmlns:a16="http://schemas.microsoft.com/office/drawing/2014/main" id="{53300063-E083-45D6-887F-8241D0F663B2}"/>
                  </a:ext>
                </a:extLst>
              </p:cNvPr>
              <p:cNvSpPr/>
              <p:nvPr/>
            </p:nvSpPr>
            <p:spPr>
              <a:xfrm rot="1728551">
                <a:off x="7550587" y="4090436"/>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2" name="Oval 851">
                <a:extLst>
                  <a:ext uri="{FF2B5EF4-FFF2-40B4-BE49-F238E27FC236}">
                    <a16:creationId xmlns:a16="http://schemas.microsoft.com/office/drawing/2014/main" id="{29D1F4E0-8CCF-4DBA-AE16-71F2D1DA4F61}"/>
                  </a:ext>
                </a:extLst>
              </p:cNvPr>
              <p:cNvSpPr/>
              <p:nvPr/>
            </p:nvSpPr>
            <p:spPr>
              <a:xfrm>
                <a:off x="7882632" y="4460812"/>
                <a:ext cx="368087" cy="458857"/>
              </a:xfrm>
              <a:prstGeom prst="ellipse">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3" name="Oval 852">
                <a:extLst>
                  <a:ext uri="{FF2B5EF4-FFF2-40B4-BE49-F238E27FC236}">
                    <a16:creationId xmlns:a16="http://schemas.microsoft.com/office/drawing/2014/main" id="{1D6E587F-6806-4BCF-A614-B29E6F53BCD6}"/>
                  </a:ext>
                </a:extLst>
              </p:cNvPr>
              <p:cNvSpPr/>
              <p:nvPr/>
            </p:nvSpPr>
            <p:spPr>
              <a:xfrm rot="8164085">
                <a:off x="8046270" y="4067260"/>
                <a:ext cx="368087" cy="458857"/>
              </a:xfrm>
              <a:prstGeom prst="ellipse">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4" name="Oval 853">
                <a:extLst>
                  <a:ext uri="{FF2B5EF4-FFF2-40B4-BE49-F238E27FC236}">
                    <a16:creationId xmlns:a16="http://schemas.microsoft.com/office/drawing/2014/main" id="{F307972E-D8B0-4CF4-8674-E286D8A6D308}"/>
                  </a:ext>
                </a:extLst>
              </p:cNvPr>
              <p:cNvSpPr/>
              <p:nvPr/>
            </p:nvSpPr>
            <p:spPr>
              <a:xfrm rot="5186198">
                <a:off x="8198784" y="4745757"/>
                <a:ext cx="368087" cy="458857"/>
              </a:xfrm>
              <a:prstGeom prst="ellipse">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5" name="Oval 854">
                <a:extLst>
                  <a:ext uri="{FF2B5EF4-FFF2-40B4-BE49-F238E27FC236}">
                    <a16:creationId xmlns:a16="http://schemas.microsoft.com/office/drawing/2014/main" id="{D0923B13-93CD-46BF-A33C-757379F058C3}"/>
                  </a:ext>
                </a:extLst>
              </p:cNvPr>
              <p:cNvSpPr/>
              <p:nvPr/>
            </p:nvSpPr>
            <p:spPr>
              <a:xfrm rot="6722785">
                <a:off x="8465027" y="4010521"/>
                <a:ext cx="368087" cy="458857"/>
              </a:xfrm>
              <a:prstGeom prst="ellips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6" name="Oval 855">
                <a:extLst>
                  <a:ext uri="{FF2B5EF4-FFF2-40B4-BE49-F238E27FC236}">
                    <a16:creationId xmlns:a16="http://schemas.microsoft.com/office/drawing/2014/main" id="{BE58654E-2AA8-402F-9D95-0549CEBFA3A4}"/>
                  </a:ext>
                </a:extLst>
              </p:cNvPr>
              <p:cNvSpPr/>
              <p:nvPr/>
            </p:nvSpPr>
            <p:spPr>
              <a:xfrm rot="4525849">
                <a:off x="8610071" y="4478961"/>
                <a:ext cx="368087" cy="458857"/>
              </a:xfrm>
              <a:prstGeom prst="ellipse">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7" name="Isosceles Triangle 856">
                <a:extLst>
                  <a:ext uri="{FF2B5EF4-FFF2-40B4-BE49-F238E27FC236}">
                    <a16:creationId xmlns:a16="http://schemas.microsoft.com/office/drawing/2014/main" id="{2F0C9AFC-8C1D-4A40-9E48-6B3A716332D0}"/>
                  </a:ext>
                </a:extLst>
              </p:cNvPr>
              <p:cNvSpPr/>
              <p:nvPr/>
            </p:nvSpPr>
            <p:spPr>
              <a:xfrm rot="12823569">
                <a:off x="8822312" y="4666941"/>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8" name="Isosceles Triangle 857">
                <a:extLst>
                  <a:ext uri="{FF2B5EF4-FFF2-40B4-BE49-F238E27FC236}">
                    <a16:creationId xmlns:a16="http://schemas.microsoft.com/office/drawing/2014/main" id="{039B14BE-03A6-44F7-9F64-4154F864BFBF}"/>
                  </a:ext>
                </a:extLst>
              </p:cNvPr>
              <p:cNvSpPr/>
              <p:nvPr/>
            </p:nvSpPr>
            <p:spPr>
              <a:xfrm rot="9643569">
                <a:off x="8688596" y="4596158"/>
                <a:ext cx="45434" cy="45478"/>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9" name="Isosceles Triangle 858">
                <a:extLst>
                  <a:ext uri="{FF2B5EF4-FFF2-40B4-BE49-F238E27FC236}">
                    <a16:creationId xmlns:a16="http://schemas.microsoft.com/office/drawing/2014/main" id="{33778035-D440-4C5B-BAA1-D4100C00C175}"/>
                  </a:ext>
                </a:extLst>
              </p:cNvPr>
              <p:cNvSpPr/>
              <p:nvPr/>
            </p:nvSpPr>
            <p:spPr>
              <a:xfrm rot="11449406">
                <a:off x="8696213" y="4687195"/>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0" name="Isosceles Triangle 859">
                <a:extLst>
                  <a:ext uri="{FF2B5EF4-FFF2-40B4-BE49-F238E27FC236}">
                    <a16:creationId xmlns:a16="http://schemas.microsoft.com/office/drawing/2014/main" id="{7BAF689A-6583-441D-8647-3152993B5CB6}"/>
                  </a:ext>
                </a:extLst>
              </p:cNvPr>
              <p:cNvSpPr/>
              <p:nvPr/>
            </p:nvSpPr>
            <p:spPr>
              <a:xfrm rot="8269406">
                <a:off x="8767088" y="4753064"/>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1" name="Isosceles Triangle 860">
                <a:extLst>
                  <a:ext uri="{FF2B5EF4-FFF2-40B4-BE49-F238E27FC236}">
                    <a16:creationId xmlns:a16="http://schemas.microsoft.com/office/drawing/2014/main" id="{BA764369-5CC8-4AED-809C-744BDB772EBE}"/>
                  </a:ext>
                </a:extLst>
              </p:cNvPr>
              <p:cNvSpPr/>
              <p:nvPr/>
            </p:nvSpPr>
            <p:spPr>
              <a:xfrm rot="7664787">
                <a:off x="8881845" y="4474396"/>
                <a:ext cx="50990" cy="43269"/>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2" name="Isosceles Triangle 861">
                <a:extLst>
                  <a:ext uri="{FF2B5EF4-FFF2-40B4-BE49-F238E27FC236}">
                    <a16:creationId xmlns:a16="http://schemas.microsoft.com/office/drawing/2014/main" id="{19986A87-F707-47CF-BEFC-2AAAE19D3A7A}"/>
                  </a:ext>
                </a:extLst>
              </p:cNvPr>
              <p:cNvSpPr/>
              <p:nvPr/>
            </p:nvSpPr>
            <p:spPr>
              <a:xfrm rot="19573137">
                <a:off x="8729550" y="4448363"/>
                <a:ext cx="48732" cy="46314"/>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3" name="Isosceles Triangle 862">
                <a:extLst>
                  <a:ext uri="{FF2B5EF4-FFF2-40B4-BE49-F238E27FC236}">
                    <a16:creationId xmlns:a16="http://schemas.microsoft.com/office/drawing/2014/main" id="{2695E5ED-8D0E-4F23-9AE0-3F1A2C10AEC6}"/>
                  </a:ext>
                </a:extLst>
              </p:cNvPr>
              <p:cNvSpPr/>
              <p:nvPr/>
            </p:nvSpPr>
            <p:spPr>
              <a:xfrm rot="8861041">
                <a:off x="8701109" y="4508498"/>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4" name="Isosceles Triangle 863">
                <a:extLst>
                  <a:ext uri="{FF2B5EF4-FFF2-40B4-BE49-F238E27FC236}">
                    <a16:creationId xmlns:a16="http://schemas.microsoft.com/office/drawing/2014/main" id="{55ED4728-20A6-4532-B1E8-A26CFC152A05}"/>
                  </a:ext>
                </a:extLst>
              </p:cNvPr>
              <p:cNvSpPr/>
              <p:nvPr/>
            </p:nvSpPr>
            <p:spPr>
              <a:xfrm rot="19565106">
                <a:off x="8633339" y="4502742"/>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5" name="Isosceles Triangle 864">
                <a:extLst>
                  <a:ext uri="{FF2B5EF4-FFF2-40B4-BE49-F238E27FC236}">
                    <a16:creationId xmlns:a16="http://schemas.microsoft.com/office/drawing/2014/main" id="{87D72BDD-F5DF-4978-8E14-20538DE110F6}"/>
                  </a:ext>
                </a:extLst>
              </p:cNvPr>
              <p:cNvSpPr/>
              <p:nvPr/>
            </p:nvSpPr>
            <p:spPr>
              <a:xfrm rot="4950814">
                <a:off x="8586191" y="4454782"/>
                <a:ext cx="45536" cy="45358"/>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6" name="Isosceles Triangle 865">
                <a:extLst>
                  <a:ext uri="{FF2B5EF4-FFF2-40B4-BE49-F238E27FC236}">
                    <a16:creationId xmlns:a16="http://schemas.microsoft.com/office/drawing/2014/main" id="{AC20F883-61E2-4F40-928F-E2EBF8C27458}"/>
                  </a:ext>
                </a:extLst>
              </p:cNvPr>
              <p:cNvSpPr/>
              <p:nvPr/>
            </p:nvSpPr>
            <p:spPr>
              <a:xfrm rot="11731700">
                <a:off x="8906512" y="4660884"/>
                <a:ext cx="45309" cy="43353"/>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7" name="Isosceles Triangle 866">
                <a:extLst>
                  <a:ext uri="{FF2B5EF4-FFF2-40B4-BE49-F238E27FC236}">
                    <a16:creationId xmlns:a16="http://schemas.microsoft.com/office/drawing/2014/main" id="{56B61DCF-932E-4C03-8A69-111C1A9BD1EF}"/>
                  </a:ext>
                </a:extLst>
              </p:cNvPr>
              <p:cNvSpPr/>
              <p:nvPr/>
            </p:nvSpPr>
            <p:spPr>
              <a:xfrm rot="8572478">
                <a:off x="8736141" y="4537070"/>
                <a:ext cx="45824" cy="43437"/>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8" name="Isosceles Triangle 867">
                <a:extLst>
                  <a:ext uri="{FF2B5EF4-FFF2-40B4-BE49-F238E27FC236}">
                    <a16:creationId xmlns:a16="http://schemas.microsoft.com/office/drawing/2014/main" id="{6BCBDAD9-51AE-4F32-927E-EBE34FC0720D}"/>
                  </a:ext>
                </a:extLst>
              </p:cNvPr>
              <p:cNvSpPr/>
              <p:nvPr/>
            </p:nvSpPr>
            <p:spPr>
              <a:xfrm rot="7831021">
                <a:off x="8641629" y="4639759"/>
                <a:ext cx="49387" cy="4324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9" name="Isosceles Triangle 868">
                <a:extLst>
                  <a:ext uri="{FF2B5EF4-FFF2-40B4-BE49-F238E27FC236}">
                    <a16:creationId xmlns:a16="http://schemas.microsoft.com/office/drawing/2014/main" id="{BA2406A9-4E79-421D-9D1B-A71FC111791B}"/>
                  </a:ext>
                </a:extLst>
              </p:cNvPr>
              <p:cNvSpPr/>
              <p:nvPr/>
            </p:nvSpPr>
            <p:spPr>
              <a:xfrm rot="5055762">
                <a:off x="8711540" y="4640461"/>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0" name="Isosceles Triangle 869">
                <a:extLst>
                  <a:ext uri="{FF2B5EF4-FFF2-40B4-BE49-F238E27FC236}">
                    <a16:creationId xmlns:a16="http://schemas.microsoft.com/office/drawing/2014/main" id="{BEB5EA97-F323-408F-8816-C4CDB914F2D8}"/>
                  </a:ext>
                </a:extLst>
              </p:cNvPr>
              <p:cNvSpPr/>
              <p:nvPr/>
            </p:nvSpPr>
            <p:spPr>
              <a:xfrm rot="1367399">
                <a:off x="8592317" y="4682086"/>
                <a:ext cx="52496" cy="4049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1" name="Isosceles Triangle 870">
                <a:extLst>
                  <a:ext uri="{FF2B5EF4-FFF2-40B4-BE49-F238E27FC236}">
                    <a16:creationId xmlns:a16="http://schemas.microsoft.com/office/drawing/2014/main" id="{D91FE0B9-7041-47C4-B506-66F67C8E9EE0}"/>
                  </a:ext>
                </a:extLst>
              </p:cNvPr>
              <p:cNvSpPr/>
              <p:nvPr/>
            </p:nvSpPr>
            <p:spPr>
              <a:xfrm rot="8934642">
                <a:off x="8649220" y="4581541"/>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2" name="Isosceles Triangle 871">
                <a:extLst>
                  <a:ext uri="{FF2B5EF4-FFF2-40B4-BE49-F238E27FC236}">
                    <a16:creationId xmlns:a16="http://schemas.microsoft.com/office/drawing/2014/main" id="{56BBE1B3-15CA-4DD1-AAC7-B2C9D0EC983E}"/>
                  </a:ext>
                </a:extLst>
              </p:cNvPr>
              <p:cNvSpPr/>
              <p:nvPr/>
            </p:nvSpPr>
            <p:spPr>
              <a:xfrm rot="12114642">
                <a:off x="8834081" y="4519129"/>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3" name="Isosceles Triangle 872">
                <a:extLst>
                  <a:ext uri="{FF2B5EF4-FFF2-40B4-BE49-F238E27FC236}">
                    <a16:creationId xmlns:a16="http://schemas.microsoft.com/office/drawing/2014/main" id="{E8BC2C62-ECD7-41FF-B735-5F8117EAB0D4}"/>
                  </a:ext>
                </a:extLst>
              </p:cNvPr>
              <p:cNvSpPr/>
              <p:nvPr/>
            </p:nvSpPr>
            <p:spPr>
              <a:xfrm rot="12823569">
                <a:off x="7779408" y="4909842"/>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4" name="Isosceles Triangle 873">
                <a:extLst>
                  <a:ext uri="{FF2B5EF4-FFF2-40B4-BE49-F238E27FC236}">
                    <a16:creationId xmlns:a16="http://schemas.microsoft.com/office/drawing/2014/main" id="{C24406CD-7C4B-4A80-A6E0-97259ED812FF}"/>
                  </a:ext>
                </a:extLst>
              </p:cNvPr>
              <p:cNvSpPr/>
              <p:nvPr/>
            </p:nvSpPr>
            <p:spPr>
              <a:xfrm rot="9643569">
                <a:off x="7714466" y="4682087"/>
                <a:ext cx="45434" cy="45478"/>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5" name="Isosceles Triangle 874">
                <a:extLst>
                  <a:ext uri="{FF2B5EF4-FFF2-40B4-BE49-F238E27FC236}">
                    <a16:creationId xmlns:a16="http://schemas.microsoft.com/office/drawing/2014/main" id="{66FFC1DC-1AC6-4684-B40E-BD1C8D8101FC}"/>
                  </a:ext>
                </a:extLst>
              </p:cNvPr>
              <p:cNvSpPr/>
              <p:nvPr/>
            </p:nvSpPr>
            <p:spPr>
              <a:xfrm rot="11449406">
                <a:off x="8320118" y="4646792"/>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6" name="Isosceles Triangle 875">
                <a:extLst>
                  <a:ext uri="{FF2B5EF4-FFF2-40B4-BE49-F238E27FC236}">
                    <a16:creationId xmlns:a16="http://schemas.microsoft.com/office/drawing/2014/main" id="{34826169-D7A3-459B-BF44-3620FB98A243}"/>
                  </a:ext>
                </a:extLst>
              </p:cNvPr>
              <p:cNvSpPr/>
              <p:nvPr/>
            </p:nvSpPr>
            <p:spPr>
              <a:xfrm rot="8269406">
                <a:off x="7913516" y="5019195"/>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7" name="Isosceles Triangle 876">
                <a:extLst>
                  <a:ext uri="{FF2B5EF4-FFF2-40B4-BE49-F238E27FC236}">
                    <a16:creationId xmlns:a16="http://schemas.microsoft.com/office/drawing/2014/main" id="{2DDE503F-A885-4D00-A5F0-75985C2FB9AE}"/>
                  </a:ext>
                </a:extLst>
              </p:cNvPr>
              <p:cNvSpPr/>
              <p:nvPr/>
            </p:nvSpPr>
            <p:spPr>
              <a:xfrm rot="7664787">
                <a:off x="8411712" y="4700056"/>
                <a:ext cx="50990" cy="43269"/>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8" name="Isosceles Triangle 877">
                <a:extLst>
                  <a:ext uri="{FF2B5EF4-FFF2-40B4-BE49-F238E27FC236}">
                    <a16:creationId xmlns:a16="http://schemas.microsoft.com/office/drawing/2014/main" id="{3FD1613A-97C6-4B5F-9B8C-64E33EABCCB7}"/>
                  </a:ext>
                </a:extLst>
              </p:cNvPr>
              <p:cNvSpPr/>
              <p:nvPr/>
            </p:nvSpPr>
            <p:spPr>
              <a:xfrm rot="19573137">
                <a:off x="7781223" y="4674350"/>
                <a:ext cx="48732" cy="46314"/>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9" name="Isosceles Triangle 878">
                <a:extLst>
                  <a:ext uri="{FF2B5EF4-FFF2-40B4-BE49-F238E27FC236}">
                    <a16:creationId xmlns:a16="http://schemas.microsoft.com/office/drawing/2014/main" id="{2DDCA8FA-3B5A-4BCE-B24B-F4E9E37CE89B}"/>
                  </a:ext>
                </a:extLst>
              </p:cNvPr>
              <p:cNvSpPr/>
              <p:nvPr/>
            </p:nvSpPr>
            <p:spPr>
              <a:xfrm rot="8861041">
                <a:off x="7757933" y="4667109"/>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0" name="Isosceles Triangle 879">
                <a:extLst>
                  <a:ext uri="{FF2B5EF4-FFF2-40B4-BE49-F238E27FC236}">
                    <a16:creationId xmlns:a16="http://schemas.microsoft.com/office/drawing/2014/main" id="{9B475548-7F6D-4F40-8057-8EF84355E4FD}"/>
                  </a:ext>
                </a:extLst>
              </p:cNvPr>
              <p:cNvSpPr/>
              <p:nvPr/>
            </p:nvSpPr>
            <p:spPr>
              <a:xfrm rot="19565106">
                <a:off x="7781154" y="4948605"/>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1" name="Isosceles Triangle 880">
                <a:extLst>
                  <a:ext uri="{FF2B5EF4-FFF2-40B4-BE49-F238E27FC236}">
                    <a16:creationId xmlns:a16="http://schemas.microsoft.com/office/drawing/2014/main" id="{D85BA4F3-07B4-4F9A-9D15-07683DEA7CB7}"/>
                  </a:ext>
                </a:extLst>
              </p:cNvPr>
              <p:cNvSpPr/>
              <p:nvPr/>
            </p:nvSpPr>
            <p:spPr>
              <a:xfrm rot="4950814">
                <a:off x="7733054" y="4600285"/>
                <a:ext cx="45536" cy="45358"/>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2" name="Isosceles Triangle 881">
                <a:extLst>
                  <a:ext uri="{FF2B5EF4-FFF2-40B4-BE49-F238E27FC236}">
                    <a16:creationId xmlns:a16="http://schemas.microsoft.com/office/drawing/2014/main" id="{EE0D6363-B339-4A25-8AAE-C9623D27707D}"/>
                  </a:ext>
                </a:extLst>
              </p:cNvPr>
              <p:cNvSpPr/>
              <p:nvPr/>
            </p:nvSpPr>
            <p:spPr>
              <a:xfrm rot="11731700">
                <a:off x="7863608" y="4903785"/>
                <a:ext cx="45309" cy="43353"/>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3" name="Isosceles Triangle 882">
                <a:extLst>
                  <a:ext uri="{FF2B5EF4-FFF2-40B4-BE49-F238E27FC236}">
                    <a16:creationId xmlns:a16="http://schemas.microsoft.com/office/drawing/2014/main" id="{733521B6-380E-4457-B9F1-43977195004D}"/>
                  </a:ext>
                </a:extLst>
              </p:cNvPr>
              <p:cNvSpPr/>
              <p:nvPr/>
            </p:nvSpPr>
            <p:spPr>
              <a:xfrm rot="8572478">
                <a:off x="7805897" y="4622999"/>
                <a:ext cx="45824" cy="43437"/>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4" name="Isosceles Triangle 883">
                <a:extLst>
                  <a:ext uri="{FF2B5EF4-FFF2-40B4-BE49-F238E27FC236}">
                    <a16:creationId xmlns:a16="http://schemas.microsoft.com/office/drawing/2014/main" id="{A7C98475-F3D9-46A3-A6FE-75B2A39F2184}"/>
                  </a:ext>
                </a:extLst>
              </p:cNvPr>
              <p:cNvSpPr/>
              <p:nvPr/>
            </p:nvSpPr>
            <p:spPr>
              <a:xfrm rot="7831021">
                <a:off x="8403943" y="4634400"/>
                <a:ext cx="49387" cy="4324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5" name="Isosceles Triangle 884">
                <a:extLst>
                  <a:ext uri="{FF2B5EF4-FFF2-40B4-BE49-F238E27FC236}">
                    <a16:creationId xmlns:a16="http://schemas.microsoft.com/office/drawing/2014/main" id="{DF0207CF-0502-4226-A1EA-EB1F0C796C8D}"/>
                  </a:ext>
                </a:extLst>
              </p:cNvPr>
              <p:cNvSpPr/>
              <p:nvPr/>
            </p:nvSpPr>
            <p:spPr>
              <a:xfrm rot="5055762">
                <a:off x="8354795" y="4711726"/>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6" name="Isosceles Triangle 885">
                <a:extLst>
                  <a:ext uri="{FF2B5EF4-FFF2-40B4-BE49-F238E27FC236}">
                    <a16:creationId xmlns:a16="http://schemas.microsoft.com/office/drawing/2014/main" id="{949B0B33-CB80-4117-A059-DFCD017A8C04}"/>
                  </a:ext>
                </a:extLst>
              </p:cNvPr>
              <p:cNvSpPr/>
              <p:nvPr/>
            </p:nvSpPr>
            <p:spPr>
              <a:xfrm rot="1367399">
                <a:off x="7866779" y="5038737"/>
                <a:ext cx="52496" cy="4049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7" name="Isosceles Triangle 886">
                <a:extLst>
                  <a:ext uri="{FF2B5EF4-FFF2-40B4-BE49-F238E27FC236}">
                    <a16:creationId xmlns:a16="http://schemas.microsoft.com/office/drawing/2014/main" id="{6446C616-9C92-4F7C-8D50-D9F9826A6A7C}"/>
                  </a:ext>
                </a:extLst>
              </p:cNvPr>
              <p:cNvSpPr/>
              <p:nvPr/>
            </p:nvSpPr>
            <p:spPr>
              <a:xfrm rot="8934642">
                <a:off x="7727961" y="4924345"/>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8" name="Isosceles Triangle 887">
                <a:extLst>
                  <a:ext uri="{FF2B5EF4-FFF2-40B4-BE49-F238E27FC236}">
                    <a16:creationId xmlns:a16="http://schemas.microsoft.com/office/drawing/2014/main" id="{BBE1B381-3A9F-4D7C-BDE4-2C87345253A2}"/>
                  </a:ext>
                </a:extLst>
              </p:cNvPr>
              <p:cNvSpPr/>
              <p:nvPr/>
            </p:nvSpPr>
            <p:spPr>
              <a:xfrm rot="12114642">
                <a:off x="7886603" y="4996528"/>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9" name="Isosceles Triangle 888">
                <a:extLst>
                  <a:ext uri="{FF2B5EF4-FFF2-40B4-BE49-F238E27FC236}">
                    <a16:creationId xmlns:a16="http://schemas.microsoft.com/office/drawing/2014/main" id="{4F9C59E5-F8E9-46AB-B7B4-E05530960DB8}"/>
                  </a:ext>
                </a:extLst>
              </p:cNvPr>
              <p:cNvSpPr/>
              <p:nvPr/>
            </p:nvSpPr>
            <p:spPr>
              <a:xfrm rot="12823569">
                <a:off x="8003275" y="4195857"/>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0" name="Isosceles Triangle 889">
                <a:extLst>
                  <a:ext uri="{FF2B5EF4-FFF2-40B4-BE49-F238E27FC236}">
                    <a16:creationId xmlns:a16="http://schemas.microsoft.com/office/drawing/2014/main" id="{26555418-21F4-4A6F-8AD9-8D3D9BA04C53}"/>
                  </a:ext>
                </a:extLst>
              </p:cNvPr>
              <p:cNvSpPr/>
              <p:nvPr/>
            </p:nvSpPr>
            <p:spPr>
              <a:xfrm rot="9643569">
                <a:off x="8089255" y="4194206"/>
                <a:ext cx="45434" cy="45478"/>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1" name="Isosceles Triangle 890">
                <a:extLst>
                  <a:ext uri="{FF2B5EF4-FFF2-40B4-BE49-F238E27FC236}">
                    <a16:creationId xmlns:a16="http://schemas.microsoft.com/office/drawing/2014/main" id="{4CC18C4D-27C8-4736-B328-34FC0AF985F0}"/>
                  </a:ext>
                </a:extLst>
              </p:cNvPr>
              <p:cNvSpPr/>
              <p:nvPr/>
            </p:nvSpPr>
            <p:spPr>
              <a:xfrm rot="11449406">
                <a:off x="8327484" y="4249638"/>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2" name="Isosceles Triangle 891">
                <a:extLst>
                  <a:ext uri="{FF2B5EF4-FFF2-40B4-BE49-F238E27FC236}">
                    <a16:creationId xmlns:a16="http://schemas.microsoft.com/office/drawing/2014/main" id="{447427FE-AE40-4C41-8817-9F7099E3A39E}"/>
                  </a:ext>
                </a:extLst>
              </p:cNvPr>
              <p:cNvSpPr/>
              <p:nvPr/>
            </p:nvSpPr>
            <p:spPr>
              <a:xfrm rot="8269406">
                <a:off x="8181871" y="4243441"/>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3" name="Isosceles Triangle 892">
                <a:extLst>
                  <a:ext uri="{FF2B5EF4-FFF2-40B4-BE49-F238E27FC236}">
                    <a16:creationId xmlns:a16="http://schemas.microsoft.com/office/drawing/2014/main" id="{0465F29B-E8D4-4C71-B2DD-58BD71655926}"/>
                  </a:ext>
                </a:extLst>
              </p:cNvPr>
              <p:cNvSpPr/>
              <p:nvPr/>
            </p:nvSpPr>
            <p:spPr>
              <a:xfrm rot="7664787">
                <a:off x="8271403" y="4269732"/>
                <a:ext cx="50990" cy="43269"/>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4" name="Isosceles Triangle 893">
                <a:extLst>
                  <a:ext uri="{FF2B5EF4-FFF2-40B4-BE49-F238E27FC236}">
                    <a16:creationId xmlns:a16="http://schemas.microsoft.com/office/drawing/2014/main" id="{0C1DCCAF-770F-4332-AAEB-A6D72C990176}"/>
                  </a:ext>
                </a:extLst>
              </p:cNvPr>
              <p:cNvSpPr/>
              <p:nvPr/>
            </p:nvSpPr>
            <p:spPr>
              <a:xfrm rot="19573137">
                <a:off x="8148910" y="4157912"/>
                <a:ext cx="48732" cy="46314"/>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5" name="Isosceles Triangle 894">
                <a:extLst>
                  <a:ext uri="{FF2B5EF4-FFF2-40B4-BE49-F238E27FC236}">
                    <a16:creationId xmlns:a16="http://schemas.microsoft.com/office/drawing/2014/main" id="{E96359AB-9EB0-4CC7-ACDE-BB129D4C72F8}"/>
                  </a:ext>
                </a:extLst>
              </p:cNvPr>
              <p:cNvSpPr/>
              <p:nvPr/>
            </p:nvSpPr>
            <p:spPr>
              <a:xfrm rot="8861041">
                <a:off x="8089573" y="4113658"/>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6" name="Isosceles Triangle 895">
                <a:extLst>
                  <a:ext uri="{FF2B5EF4-FFF2-40B4-BE49-F238E27FC236}">
                    <a16:creationId xmlns:a16="http://schemas.microsoft.com/office/drawing/2014/main" id="{C682A4E8-026F-4D51-A4BC-0A10503F4327}"/>
                  </a:ext>
                </a:extLst>
              </p:cNvPr>
              <p:cNvSpPr/>
              <p:nvPr/>
            </p:nvSpPr>
            <p:spPr>
              <a:xfrm rot="19565106">
                <a:off x="8112088" y="4234620"/>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7" name="Isosceles Triangle 896">
                <a:extLst>
                  <a:ext uri="{FF2B5EF4-FFF2-40B4-BE49-F238E27FC236}">
                    <a16:creationId xmlns:a16="http://schemas.microsoft.com/office/drawing/2014/main" id="{F5354DA9-8C12-4D0A-9B1B-DC8B02A17D86}"/>
                  </a:ext>
                </a:extLst>
              </p:cNvPr>
              <p:cNvSpPr/>
              <p:nvPr/>
            </p:nvSpPr>
            <p:spPr>
              <a:xfrm rot="4950814">
                <a:off x="8067509" y="4111494"/>
                <a:ext cx="45536" cy="45358"/>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8" name="Isosceles Triangle 897">
                <a:extLst>
                  <a:ext uri="{FF2B5EF4-FFF2-40B4-BE49-F238E27FC236}">
                    <a16:creationId xmlns:a16="http://schemas.microsoft.com/office/drawing/2014/main" id="{2C90D79D-FCCC-46DE-A5FF-CC516109AC3D}"/>
                  </a:ext>
                </a:extLst>
              </p:cNvPr>
              <p:cNvSpPr/>
              <p:nvPr/>
            </p:nvSpPr>
            <p:spPr>
              <a:xfrm rot="11731700">
                <a:off x="8304151" y="4111210"/>
                <a:ext cx="45309" cy="43353"/>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9" name="Isosceles Triangle 898">
                <a:extLst>
                  <a:ext uri="{FF2B5EF4-FFF2-40B4-BE49-F238E27FC236}">
                    <a16:creationId xmlns:a16="http://schemas.microsoft.com/office/drawing/2014/main" id="{2F1A0452-6266-4A6F-B2FF-200F6565082E}"/>
                  </a:ext>
                </a:extLst>
              </p:cNvPr>
              <p:cNvSpPr/>
              <p:nvPr/>
            </p:nvSpPr>
            <p:spPr>
              <a:xfrm rot="8572478">
                <a:off x="8254785" y="4109908"/>
                <a:ext cx="45824" cy="43437"/>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0" name="Isosceles Triangle 899">
                <a:extLst>
                  <a:ext uri="{FF2B5EF4-FFF2-40B4-BE49-F238E27FC236}">
                    <a16:creationId xmlns:a16="http://schemas.microsoft.com/office/drawing/2014/main" id="{7F2D673A-75B3-4D82-A024-78B382868E3B}"/>
                  </a:ext>
                </a:extLst>
              </p:cNvPr>
              <p:cNvSpPr/>
              <p:nvPr/>
            </p:nvSpPr>
            <p:spPr>
              <a:xfrm rot="7831021">
                <a:off x="8333822" y="4138081"/>
                <a:ext cx="49387" cy="4324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1" name="Isosceles Triangle 900">
                <a:extLst>
                  <a:ext uri="{FF2B5EF4-FFF2-40B4-BE49-F238E27FC236}">
                    <a16:creationId xmlns:a16="http://schemas.microsoft.com/office/drawing/2014/main" id="{C2DDBA7E-4FF5-48A0-88B3-AB9957E6CAA1}"/>
                  </a:ext>
                </a:extLst>
              </p:cNvPr>
              <p:cNvSpPr/>
              <p:nvPr/>
            </p:nvSpPr>
            <p:spPr>
              <a:xfrm rot="5055762">
                <a:off x="8054132" y="4321446"/>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2" name="Isosceles Triangle 901">
                <a:extLst>
                  <a:ext uri="{FF2B5EF4-FFF2-40B4-BE49-F238E27FC236}">
                    <a16:creationId xmlns:a16="http://schemas.microsoft.com/office/drawing/2014/main" id="{2F183CF0-F4E4-4FBC-827C-F1F42F955EC8}"/>
                  </a:ext>
                </a:extLst>
              </p:cNvPr>
              <p:cNvSpPr/>
              <p:nvPr/>
            </p:nvSpPr>
            <p:spPr>
              <a:xfrm rot="1367399">
                <a:off x="8285112" y="4279659"/>
                <a:ext cx="52496" cy="4049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3" name="Isosceles Triangle 902">
                <a:extLst>
                  <a:ext uri="{FF2B5EF4-FFF2-40B4-BE49-F238E27FC236}">
                    <a16:creationId xmlns:a16="http://schemas.microsoft.com/office/drawing/2014/main" id="{08A0AA77-8C8E-4BC4-84FA-2503006F38B8}"/>
                  </a:ext>
                </a:extLst>
              </p:cNvPr>
              <p:cNvSpPr/>
              <p:nvPr/>
            </p:nvSpPr>
            <p:spPr>
              <a:xfrm rot="8934642">
                <a:off x="8078311" y="4228232"/>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4" name="Isosceles Triangle 903">
                <a:extLst>
                  <a:ext uri="{FF2B5EF4-FFF2-40B4-BE49-F238E27FC236}">
                    <a16:creationId xmlns:a16="http://schemas.microsoft.com/office/drawing/2014/main" id="{1FA33C02-BBCB-4A48-BF32-0DF7252DD13D}"/>
                  </a:ext>
                </a:extLst>
              </p:cNvPr>
              <p:cNvSpPr/>
              <p:nvPr/>
            </p:nvSpPr>
            <p:spPr>
              <a:xfrm rot="12114642">
                <a:off x="8149662" y="4336377"/>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5" name="Isosceles Triangle 904">
                <a:extLst>
                  <a:ext uri="{FF2B5EF4-FFF2-40B4-BE49-F238E27FC236}">
                    <a16:creationId xmlns:a16="http://schemas.microsoft.com/office/drawing/2014/main" id="{D557D92C-6184-4998-AB4E-02ECAB2EFF6D}"/>
                  </a:ext>
                </a:extLst>
              </p:cNvPr>
              <p:cNvSpPr/>
              <p:nvPr/>
            </p:nvSpPr>
            <p:spPr>
              <a:xfrm rot="9643569">
                <a:off x="8370810" y="4577666"/>
                <a:ext cx="45434" cy="45478"/>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6" name="Isosceles Triangle 905">
                <a:extLst>
                  <a:ext uri="{FF2B5EF4-FFF2-40B4-BE49-F238E27FC236}">
                    <a16:creationId xmlns:a16="http://schemas.microsoft.com/office/drawing/2014/main" id="{8CFB3967-A92D-4FFC-A808-0FF6C9F3CF58}"/>
                  </a:ext>
                </a:extLst>
              </p:cNvPr>
              <p:cNvSpPr/>
              <p:nvPr/>
            </p:nvSpPr>
            <p:spPr>
              <a:xfrm rot="19573137">
                <a:off x="8430465" y="4541372"/>
                <a:ext cx="48732" cy="46314"/>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7" name="Isosceles Triangle 906">
                <a:extLst>
                  <a:ext uri="{FF2B5EF4-FFF2-40B4-BE49-F238E27FC236}">
                    <a16:creationId xmlns:a16="http://schemas.microsoft.com/office/drawing/2014/main" id="{ADBE4446-F865-4CEE-9396-D1DC765CA24B}"/>
                  </a:ext>
                </a:extLst>
              </p:cNvPr>
              <p:cNvSpPr/>
              <p:nvPr/>
            </p:nvSpPr>
            <p:spPr>
              <a:xfrm rot="12114642">
                <a:off x="8436513" y="4604234"/>
                <a:ext cx="46686" cy="4668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08" name="Group 907">
                <a:extLst>
                  <a:ext uri="{FF2B5EF4-FFF2-40B4-BE49-F238E27FC236}">
                    <a16:creationId xmlns:a16="http://schemas.microsoft.com/office/drawing/2014/main" id="{3C9DEEAA-820F-4EE4-8659-C20A4364BFEF}"/>
                  </a:ext>
                </a:extLst>
              </p:cNvPr>
              <p:cNvGrpSpPr/>
              <p:nvPr/>
            </p:nvGrpSpPr>
            <p:grpSpPr>
              <a:xfrm>
                <a:off x="7929360" y="4692005"/>
                <a:ext cx="200905" cy="180554"/>
                <a:chOff x="9130859" y="4115381"/>
                <a:chExt cx="1394265" cy="1253031"/>
              </a:xfrm>
            </p:grpSpPr>
            <p:sp>
              <p:nvSpPr>
                <p:cNvPr id="927" name="Oval 926">
                  <a:extLst>
                    <a:ext uri="{FF2B5EF4-FFF2-40B4-BE49-F238E27FC236}">
                      <a16:creationId xmlns:a16="http://schemas.microsoft.com/office/drawing/2014/main" id="{4E3B7AB6-5F7D-493A-AF0E-2127D98AC820}"/>
                    </a:ext>
                  </a:extLst>
                </p:cNvPr>
                <p:cNvSpPr/>
                <p:nvPr/>
              </p:nvSpPr>
              <p:spPr>
                <a:xfrm>
                  <a:off x="9130859" y="4191000"/>
                  <a:ext cx="1394265" cy="1177412"/>
                </a:xfrm>
                <a:prstGeom prst="ellipse">
                  <a:avLst/>
                </a:prstGeom>
                <a:solidFill>
                  <a:schemeClr val="accent1">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8" name="Isosceles Triangle 927">
                  <a:extLst>
                    <a:ext uri="{FF2B5EF4-FFF2-40B4-BE49-F238E27FC236}">
                      <a16:creationId xmlns:a16="http://schemas.microsoft.com/office/drawing/2014/main" id="{DC936B90-0D88-492C-B334-2CAE208979C6}"/>
                    </a:ext>
                  </a:extLst>
                </p:cNvPr>
                <p:cNvSpPr/>
                <p:nvPr/>
              </p:nvSpPr>
              <p:spPr>
                <a:xfrm rot="12823569">
                  <a:off x="9360385" y="4503253"/>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9" name="Isosceles Triangle 928">
                  <a:extLst>
                    <a:ext uri="{FF2B5EF4-FFF2-40B4-BE49-F238E27FC236}">
                      <a16:creationId xmlns:a16="http://schemas.microsoft.com/office/drawing/2014/main" id="{015317A2-83F2-4776-BA28-A87D284A0417}"/>
                    </a:ext>
                  </a:extLst>
                </p:cNvPr>
                <p:cNvSpPr/>
                <p:nvPr/>
              </p:nvSpPr>
              <p:spPr>
                <a:xfrm rot="9643569">
                  <a:off x="9214043" y="4491796"/>
                  <a:ext cx="315306" cy="31561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0" name="Isosceles Triangle 929">
                  <a:extLst>
                    <a:ext uri="{FF2B5EF4-FFF2-40B4-BE49-F238E27FC236}">
                      <a16:creationId xmlns:a16="http://schemas.microsoft.com/office/drawing/2014/main" id="{233CC68D-4BE1-4F7E-B18E-78D07F4CC2A4}"/>
                    </a:ext>
                  </a:extLst>
                </p:cNvPr>
                <p:cNvSpPr/>
                <p:nvPr/>
              </p:nvSpPr>
              <p:spPr>
                <a:xfrm rot="11449406">
                  <a:off x="10005583" y="4793454"/>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1" name="Isosceles Triangle 930">
                  <a:extLst>
                    <a:ext uri="{FF2B5EF4-FFF2-40B4-BE49-F238E27FC236}">
                      <a16:creationId xmlns:a16="http://schemas.microsoft.com/office/drawing/2014/main" id="{23E1AA75-4A04-43D4-B8FF-3766211A4374}"/>
                    </a:ext>
                  </a:extLst>
                </p:cNvPr>
                <p:cNvSpPr/>
                <p:nvPr/>
              </p:nvSpPr>
              <p:spPr>
                <a:xfrm rot="8269406">
                  <a:off x="9856790" y="4833481"/>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2" name="Isosceles Triangle 931">
                  <a:extLst>
                    <a:ext uri="{FF2B5EF4-FFF2-40B4-BE49-F238E27FC236}">
                      <a16:creationId xmlns:a16="http://schemas.microsoft.com/office/drawing/2014/main" id="{60996F7C-776E-4118-9B6F-97A3C49CE154}"/>
                    </a:ext>
                  </a:extLst>
                </p:cNvPr>
                <p:cNvSpPr/>
                <p:nvPr/>
              </p:nvSpPr>
              <p:spPr>
                <a:xfrm rot="7664787">
                  <a:off x="10194978" y="4917528"/>
                  <a:ext cx="353865" cy="300282"/>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3" name="Isosceles Triangle 932">
                  <a:extLst>
                    <a:ext uri="{FF2B5EF4-FFF2-40B4-BE49-F238E27FC236}">
                      <a16:creationId xmlns:a16="http://schemas.microsoft.com/office/drawing/2014/main" id="{ECA4FDA0-0C91-4EA6-83A9-1CC7B9F19353}"/>
                    </a:ext>
                  </a:extLst>
                </p:cNvPr>
                <p:cNvSpPr/>
                <p:nvPr/>
              </p:nvSpPr>
              <p:spPr>
                <a:xfrm rot="19573137">
                  <a:off x="9628045" y="4239915"/>
                  <a:ext cx="338197" cy="321415"/>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4" name="Isosceles Triangle 933">
                  <a:extLst>
                    <a:ext uri="{FF2B5EF4-FFF2-40B4-BE49-F238E27FC236}">
                      <a16:creationId xmlns:a16="http://schemas.microsoft.com/office/drawing/2014/main" id="{49059C9B-5C81-446A-8F01-C7A17836E8C3}"/>
                    </a:ext>
                  </a:extLst>
                </p:cNvPr>
                <p:cNvSpPr/>
                <p:nvPr/>
              </p:nvSpPr>
              <p:spPr>
                <a:xfrm rot="8861041">
                  <a:off x="9496419" y="4328497"/>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5" name="Isosceles Triangle 934">
                  <a:extLst>
                    <a:ext uri="{FF2B5EF4-FFF2-40B4-BE49-F238E27FC236}">
                      <a16:creationId xmlns:a16="http://schemas.microsoft.com/office/drawing/2014/main" id="{CC53A562-FC87-4CC3-8678-8C4CC376E96C}"/>
                    </a:ext>
                  </a:extLst>
                </p:cNvPr>
                <p:cNvSpPr/>
                <p:nvPr/>
              </p:nvSpPr>
              <p:spPr>
                <a:xfrm rot="19565106">
                  <a:off x="9372501" y="4772266"/>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6" name="Isosceles Triangle 935">
                  <a:extLst>
                    <a:ext uri="{FF2B5EF4-FFF2-40B4-BE49-F238E27FC236}">
                      <a16:creationId xmlns:a16="http://schemas.microsoft.com/office/drawing/2014/main" id="{55545224-846C-4F08-A3BB-50E0148A591C}"/>
                    </a:ext>
                  </a:extLst>
                </p:cNvPr>
                <p:cNvSpPr/>
                <p:nvPr/>
              </p:nvSpPr>
              <p:spPr>
                <a:xfrm rot="4950814">
                  <a:off x="9426254" y="4115998"/>
                  <a:ext cx="316015" cy="31478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7" name="Isosceles Triangle 936">
                  <a:extLst>
                    <a:ext uri="{FF2B5EF4-FFF2-40B4-BE49-F238E27FC236}">
                      <a16:creationId xmlns:a16="http://schemas.microsoft.com/office/drawing/2014/main" id="{AB009774-6B0B-447F-80C4-B2902A89EE40}"/>
                    </a:ext>
                  </a:extLst>
                </p:cNvPr>
                <p:cNvSpPr/>
                <p:nvPr/>
              </p:nvSpPr>
              <p:spPr>
                <a:xfrm rot="11731700">
                  <a:off x="9944724" y="4461219"/>
                  <a:ext cx="314444" cy="300864"/>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8" name="Isosceles Triangle 937">
                  <a:extLst>
                    <a:ext uri="{FF2B5EF4-FFF2-40B4-BE49-F238E27FC236}">
                      <a16:creationId xmlns:a16="http://schemas.microsoft.com/office/drawing/2014/main" id="{6462511A-E609-4336-A024-C080F21894F0}"/>
                    </a:ext>
                  </a:extLst>
                </p:cNvPr>
                <p:cNvSpPr/>
                <p:nvPr/>
              </p:nvSpPr>
              <p:spPr>
                <a:xfrm rot="8572478">
                  <a:off x="9799288" y="4494547"/>
                  <a:ext cx="318018" cy="30145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9" name="Isosceles Triangle 938">
                  <a:extLst>
                    <a:ext uri="{FF2B5EF4-FFF2-40B4-BE49-F238E27FC236}">
                      <a16:creationId xmlns:a16="http://schemas.microsoft.com/office/drawing/2014/main" id="{5BF7833C-4781-402B-A804-2CBFCF8FA7D3}"/>
                    </a:ext>
                  </a:extLst>
                </p:cNvPr>
                <p:cNvSpPr/>
                <p:nvPr/>
              </p:nvSpPr>
              <p:spPr>
                <a:xfrm rot="7831021">
                  <a:off x="10104540" y="4578577"/>
                  <a:ext cx="342742" cy="30009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0" name="Isosceles Triangle 939">
                  <a:extLst>
                    <a:ext uri="{FF2B5EF4-FFF2-40B4-BE49-F238E27FC236}">
                      <a16:creationId xmlns:a16="http://schemas.microsoft.com/office/drawing/2014/main" id="{7EB57DBA-03BC-41A0-8D38-8C046CFA66BD}"/>
                    </a:ext>
                  </a:extLst>
                </p:cNvPr>
                <p:cNvSpPr/>
                <p:nvPr/>
              </p:nvSpPr>
              <p:spPr>
                <a:xfrm rot="5055762">
                  <a:off x="9798989" y="4964338"/>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1" name="Isosceles Triangle 940">
                  <a:extLst>
                    <a:ext uri="{FF2B5EF4-FFF2-40B4-BE49-F238E27FC236}">
                      <a16:creationId xmlns:a16="http://schemas.microsoft.com/office/drawing/2014/main" id="{1DD9A1FE-8FCA-4463-BAE5-147CC28CE8D3}"/>
                    </a:ext>
                  </a:extLst>
                </p:cNvPr>
                <p:cNvSpPr/>
                <p:nvPr/>
              </p:nvSpPr>
              <p:spPr>
                <a:xfrm rot="1367399">
                  <a:off x="9532437" y="4969101"/>
                  <a:ext cx="364315" cy="281005"/>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2" name="Isosceles Triangle 941">
                  <a:extLst>
                    <a:ext uri="{FF2B5EF4-FFF2-40B4-BE49-F238E27FC236}">
                      <a16:creationId xmlns:a16="http://schemas.microsoft.com/office/drawing/2014/main" id="{85C71CA2-12A2-4951-BBAD-DB8B9AA5CBCF}"/>
                    </a:ext>
                  </a:extLst>
                </p:cNvPr>
                <p:cNvSpPr/>
                <p:nvPr/>
              </p:nvSpPr>
              <p:spPr>
                <a:xfrm rot="8934642">
                  <a:off x="9516303" y="4686842"/>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3" name="Isosceles Triangle 942">
                  <a:extLst>
                    <a:ext uri="{FF2B5EF4-FFF2-40B4-BE49-F238E27FC236}">
                      <a16:creationId xmlns:a16="http://schemas.microsoft.com/office/drawing/2014/main" id="{BF8D3372-364E-4617-8FF2-DE187A771B8A}"/>
                    </a:ext>
                  </a:extLst>
                </p:cNvPr>
                <p:cNvSpPr/>
                <p:nvPr/>
              </p:nvSpPr>
              <p:spPr>
                <a:xfrm rot="12114642">
                  <a:off x="9670016" y="4676175"/>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09" name="Group 908">
                <a:extLst>
                  <a:ext uri="{FF2B5EF4-FFF2-40B4-BE49-F238E27FC236}">
                    <a16:creationId xmlns:a16="http://schemas.microsoft.com/office/drawing/2014/main" id="{7EFBEC49-9B70-4CAD-AA83-8C1051D89EEA}"/>
                  </a:ext>
                </a:extLst>
              </p:cNvPr>
              <p:cNvGrpSpPr/>
              <p:nvPr/>
            </p:nvGrpSpPr>
            <p:grpSpPr>
              <a:xfrm>
                <a:off x="8193520" y="4930203"/>
                <a:ext cx="200905" cy="180554"/>
                <a:chOff x="9130859" y="4115381"/>
                <a:chExt cx="1394265" cy="1253031"/>
              </a:xfrm>
            </p:grpSpPr>
            <p:sp>
              <p:nvSpPr>
                <p:cNvPr id="910" name="Oval 909">
                  <a:extLst>
                    <a:ext uri="{FF2B5EF4-FFF2-40B4-BE49-F238E27FC236}">
                      <a16:creationId xmlns:a16="http://schemas.microsoft.com/office/drawing/2014/main" id="{4FFA6D6C-D618-4428-A664-BE8F74F7D82A}"/>
                    </a:ext>
                  </a:extLst>
                </p:cNvPr>
                <p:cNvSpPr/>
                <p:nvPr/>
              </p:nvSpPr>
              <p:spPr>
                <a:xfrm>
                  <a:off x="9130859" y="4191000"/>
                  <a:ext cx="1394265" cy="1177412"/>
                </a:xfrm>
                <a:prstGeom prst="ellipse">
                  <a:avLst/>
                </a:prstGeom>
                <a:solidFill>
                  <a:schemeClr val="accent1">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1" name="Isosceles Triangle 910">
                  <a:extLst>
                    <a:ext uri="{FF2B5EF4-FFF2-40B4-BE49-F238E27FC236}">
                      <a16:creationId xmlns:a16="http://schemas.microsoft.com/office/drawing/2014/main" id="{1411961F-F35F-4693-B1D3-1E55A1541559}"/>
                    </a:ext>
                  </a:extLst>
                </p:cNvPr>
                <p:cNvSpPr/>
                <p:nvPr/>
              </p:nvSpPr>
              <p:spPr>
                <a:xfrm rot="12823569">
                  <a:off x="9360385" y="4503253"/>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2" name="Isosceles Triangle 911">
                  <a:extLst>
                    <a:ext uri="{FF2B5EF4-FFF2-40B4-BE49-F238E27FC236}">
                      <a16:creationId xmlns:a16="http://schemas.microsoft.com/office/drawing/2014/main" id="{1572CEA0-04ED-483A-8A19-8EF9C646570B}"/>
                    </a:ext>
                  </a:extLst>
                </p:cNvPr>
                <p:cNvSpPr/>
                <p:nvPr/>
              </p:nvSpPr>
              <p:spPr>
                <a:xfrm rot="9643569">
                  <a:off x="9214043" y="4491796"/>
                  <a:ext cx="315306" cy="315616"/>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3" name="Isosceles Triangle 912">
                  <a:extLst>
                    <a:ext uri="{FF2B5EF4-FFF2-40B4-BE49-F238E27FC236}">
                      <a16:creationId xmlns:a16="http://schemas.microsoft.com/office/drawing/2014/main" id="{88ECE359-0CD3-404F-AC17-132CBECE9FFF}"/>
                    </a:ext>
                  </a:extLst>
                </p:cNvPr>
                <p:cNvSpPr/>
                <p:nvPr/>
              </p:nvSpPr>
              <p:spPr>
                <a:xfrm rot="11449406">
                  <a:off x="10005583" y="4793454"/>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4" name="Isosceles Triangle 913">
                  <a:extLst>
                    <a:ext uri="{FF2B5EF4-FFF2-40B4-BE49-F238E27FC236}">
                      <a16:creationId xmlns:a16="http://schemas.microsoft.com/office/drawing/2014/main" id="{B5C1B907-1CC2-403F-B044-30F8B05903ED}"/>
                    </a:ext>
                  </a:extLst>
                </p:cNvPr>
                <p:cNvSpPr/>
                <p:nvPr/>
              </p:nvSpPr>
              <p:spPr>
                <a:xfrm rot="8269406">
                  <a:off x="9856790" y="4833481"/>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5" name="Isosceles Triangle 914">
                  <a:extLst>
                    <a:ext uri="{FF2B5EF4-FFF2-40B4-BE49-F238E27FC236}">
                      <a16:creationId xmlns:a16="http://schemas.microsoft.com/office/drawing/2014/main" id="{24E328DA-8F0A-4CF0-8CAE-A78E83D0808C}"/>
                    </a:ext>
                  </a:extLst>
                </p:cNvPr>
                <p:cNvSpPr/>
                <p:nvPr/>
              </p:nvSpPr>
              <p:spPr>
                <a:xfrm rot="7664787">
                  <a:off x="10194978" y="4917528"/>
                  <a:ext cx="353865" cy="300282"/>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6" name="Isosceles Triangle 915">
                  <a:extLst>
                    <a:ext uri="{FF2B5EF4-FFF2-40B4-BE49-F238E27FC236}">
                      <a16:creationId xmlns:a16="http://schemas.microsoft.com/office/drawing/2014/main" id="{E1286EB3-E032-4B12-82E7-F10CB8EFB75A}"/>
                    </a:ext>
                  </a:extLst>
                </p:cNvPr>
                <p:cNvSpPr/>
                <p:nvPr/>
              </p:nvSpPr>
              <p:spPr>
                <a:xfrm rot="19573137">
                  <a:off x="9628045" y="4239915"/>
                  <a:ext cx="338197" cy="321415"/>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7" name="Isosceles Triangle 916">
                  <a:extLst>
                    <a:ext uri="{FF2B5EF4-FFF2-40B4-BE49-F238E27FC236}">
                      <a16:creationId xmlns:a16="http://schemas.microsoft.com/office/drawing/2014/main" id="{81CDDAFE-7043-4028-B0CA-C0CAE3938040}"/>
                    </a:ext>
                  </a:extLst>
                </p:cNvPr>
                <p:cNvSpPr/>
                <p:nvPr/>
              </p:nvSpPr>
              <p:spPr>
                <a:xfrm rot="8861041">
                  <a:off x="9496419" y="4328497"/>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8" name="Isosceles Triangle 917">
                  <a:extLst>
                    <a:ext uri="{FF2B5EF4-FFF2-40B4-BE49-F238E27FC236}">
                      <a16:creationId xmlns:a16="http://schemas.microsoft.com/office/drawing/2014/main" id="{75C8A2F9-114C-4ABA-8FE5-8A42C7DC4332}"/>
                    </a:ext>
                  </a:extLst>
                </p:cNvPr>
                <p:cNvSpPr/>
                <p:nvPr/>
              </p:nvSpPr>
              <p:spPr>
                <a:xfrm rot="19565106">
                  <a:off x="9372501" y="4772266"/>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9" name="Isosceles Triangle 918">
                  <a:extLst>
                    <a:ext uri="{FF2B5EF4-FFF2-40B4-BE49-F238E27FC236}">
                      <a16:creationId xmlns:a16="http://schemas.microsoft.com/office/drawing/2014/main" id="{693CC63D-62F4-45C3-9B36-5DE65F1B1010}"/>
                    </a:ext>
                  </a:extLst>
                </p:cNvPr>
                <p:cNvSpPr/>
                <p:nvPr/>
              </p:nvSpPr>
              <p:spPr>
                <a:xfrm rot="4950814">
                  <a:off x="9426254" y="4115998"/>
                  <a:ext cx="316015" cy="31478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0" name="Isosceles Triangle 919">
                  <a:extLst>
                    <a:ext uri="{FF2B5EF4-FFF2-40B4-BE49-F238E27FC236}">
                      <a16:creationId xmlns:a16="http://schemas.microsoft.com/office/drawing/2014/main" id="{8D5A40C0-65C0-4682-8D90-191EFFB7C2E2}"/>
                    </a:ext>
                  </a:extLst>
                </p:cNvPr>
                <p:cNvSpPr/>
                <p:nvPr/>
              </p:nvSpPr>
              <p:spPr>
                <a:xfrm rot="11731700">
                  <a:off x="9944724" y="4461219"/>
                  <a:ext cx="314444" cy="300864"/>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1" name="Isosceles Triangle 920">
                  <a:extLst>
                    <a:ext uri="{FF2B5EF4-FFF2-40B4-BE49-F238E27FC236}">
                      <a16:creationId xmlns:a16="http://schemas.microsoft.com/office/drawing/2014/main" id="{AD854413-CF88-4FC0-9385-A1CBFDF96105}"/>
                    </a:ext>
                  </a:extLst>
                </p:cNvPr>
                <p:cNvSpPr/>
                <p:nvPr/>
              </p:nvSpPr>
              <p:spPr>
                <a:xfrm rot="8572478">
                  <a:off x="9799288" y="4494547"/>
                  <a:ext cx="318018" cy="30145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2" name="Isosceles Triangle 921">
                  <a:extLst>
                    <a:ext uri="{FF2B5EF4-FFF2-40B4-BE49-F238E27FC236}">
                      <a16:creationId xmlns:a16="http://schemas.microsoft.com/office/drawing/2014/main" id="{95C21C4E-55A7-480E-9F7B-C39B34234785}"/>
                    </a:ext>
                  </a:extLst>
                </p:cNvPr>
                <p:cNvSpPr/>
                <p:nvPr/>
              </p:nvSpPr>
              <p:spPr>
                <a:xfrm rot="7831021">
                  <a:off x="10104540" y="4578577"/>
                  <a:ext cx="342742" cy="300091"/>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3" name="Isosceles Triangle 922">
                  <a:extLst>
                    <a:ext uri="{FF2B5EF4-FFF2-40B4-BE49-F238E27FC236}">
                      <a16:creationId xmlns:a16="http://schemas.microsoft.com/office/drawing/2014/main" id="{2053A10B-7A4B-4A62-BE99-3216C337BF93}"/>
                    </a:ext>
                  </a:extLst>
                </p:cNvPr>
                <p:cNvSpPr/>
                <p:nvPr/>
              </p:nvSpPr>
              <p:spPr>
                <a:xfrm rot="5055762">
                  <a:off x="9798989" y="4964338"/>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4" name="Isosceles Triangle 923">
                  <a:extLst>
                    <a:ext uri="{FF2B5EF4-FFF2-40B4-BE49-F238E27FC236}">
                      <a16:creationId xmlns:a16="http://schemas.microsoft.com/office/drawing/2014/main" id="{AF70F064-ED68-404F-B8B3-821DBB904C66}"/>
                    </a:ext>
                  </a:extLst>
                </p:cNvPr>
                <p:cNvSpPr/>
                <p:nvPr/>
              </p:nvSpPr>
              <p:spPr>
                <a:xfrm rot="1367399">
                  <a:off x="9532437" y="4969101"/>
                  <a:ext cx="364315" cy="281005"/>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5" name="Isosceles Triangle 924">
                  <a:extLst>
                    <a:ext uri="{FF2B5EF4-FFF2-40B4-BE49-F238E27FC236}">
                      <a16:creationId xmlns:a16="http://schemas.microsoft.com/office/drawing/2014/main" id="{44F4336E-B2D7-4703-8705-312B18D63B10}"/>
                    </a:ext>
                  </a:extLst>
                </p:cNvPr>
                <p:cNvSpPr/>
                <p:nvPr/>
              </p:nvSpPr>
              <p:spPr>
                <a:xfrm rot="8934642">
                  <a:off x="9516303" y="4686842"/>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6" name="Isosceles Triangle 925">
                  <a:extLst>
                    <a:ext uri="{FF2B5EF4-FFF2-40B4-BE49-F238E27FC236}">
                      <a16:creationId xmlns:a16="http://schemas.microsoft.com/office/drawing/2014/main" id="{F746F1AA-E643-4B57-9C93-A9414C8E3BEB}"/>
                    </a:ext>
                  </a:extLst>
                </p:cNvPr>
                <p:cNvSpPr/>
                <p:nvPr/>
              </p:nvSpPr>
              <p:spPr>
                <a:xfrm rot="12114642">
                  <a:off x="9670016" y="4676175"/>
                  <a:ext cx="324000" cy="32400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647" name="Rectangle 646">
              <a:extLst>
                <a:ext uri="{FF2B5EF4-FFF2-40B4-BE49-F238E27FC236}">
                  <a16:creationId xmlns:a16="http://schemas.microsoft.com/office/drawing/2014/main" id="{4C72B11A-2855-4518-B613-760D108C7891}"/>
                </a:ext>
              </a:extLst>
            </p:cNvPr>
            <p:cNvSpPr/>
            <p:nvPr/>
          </p:nvSpPr>
          <p:spPr>
            <a:xfrm>
              <a:off x="10996419" y="3238429"/>
              <a:ext cx="525780" cy="457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635" name="Straight Connector 634">
            <a:extLst>
              <a:ext uri="{FF2B5EF4-FFF2-40B4-BE49-F238E27FC236}">
                <a16:creationId xmlns:a16="http://schemas.microsoft.com/office/drawing/2014/main" id="{256F0971-1CE7-40B6-A870-FF220B04723D}"/>
              </a:ext>
            </a:extLst>
          </p:cNvPr>
          <p:cNvCxnSpPr>
            <a:cxnSpLocks/>
          </p:cNvCxnSpPr>
          <p:nvPr/>
        </p:nvCxnSpPr>
        <p:spPr>
          <a:xfrm flipH="1" flipV="1">
            <a:off x="5092700" y="2514600"/>
            <a:ext cx="383583" cy="863867"/>
          </a:xfrm>
          <a:prstGeom prst="line">
            <a:avLst/>
          </a:prstGeom>
          <a:ln w="95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41" name="Straight Connector 640">
            <a:extLst>
              <a:ext uri="{FF2B5EF4-FFF2-40B4-BE49-F238E27FC236}">
                <a16:creationId xmlns:a16="http://schemas.microsoft.com/office/drawing/2014/main" id="{7474F4C9-9B96-4A88-B387-54EE13A5821B}"/>
              </a:ext>
            </a:extLst>
          </p:cNvPr>
          <p:cNvCxnSpPr>
            <a:cxnSpLocks/>
          </p:cNvCxnSpPr>
          <p:nvPr/>
        </p:nvCxnSpPr>
        <p:spPr>
          <a:xfrm flipH="1" flipV="1">
            <a:off x="7753350" y="2546350"/>
            <a:ext cx="405787" cy="806016"/>
          </a:xfrm>
          <a:prstGeom prst="line">
            <a:avLst/>
          </a:prstGeom>
          <a:ln w="95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A1F5A65-E04B-43FB-8E8D-06715B062B42}"/>
              </a:ext>
            </a:extLst>
          </p:cNvPr>
          <p:cNvCxnSpPr>
            <a:cxnSpLocks/>
          </p:cNvCxnSpPr>
          <p:nvPr/>
        </p:nvCxnSpPr>
        <p:spPr>
          <a:xfrm flipH="1" flipV="1">
            <a:off x="10452100" y="2520950"/>
            <a:ext cx="360916" cy="831416"/>
          </a:xfrm>
          <a:prstGeom prst="line">
            <a:avLst/>
          </a:prstGeom>
          <a:ln w="95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55" name="Straight Connector 654">
            <a:extLst>
              <a:ext uri="{FF2B5EF4-FFF2-40B4-BE49-F238E27FC236}">
                <a16:creationId xmlns:a16="http://schemas.microsoft.com/office/drawing/2014/main" id="{00D22F03-69EC-4840-A3BB-463E1B3FBE77}"/>
              </a:ext>
            </a:extLst>
          </p:cNvPr>
          <p:cNvCxnSpPr>
            <a:cxnSpLocks/>
          </p:cNvCxnSpPr>
          <p:nvPr/>
        </p:nvCxnSpPr>
        <p:spPr>
          <a:xfrm flipV="1">
            <a:off x="4635500" y="3987800"/>
            <a:ext cx="393700" cy="787400"/>
          </a:xfrm>
          <a:prstGeom prst="line">
            <a:avLst/>
          </a:prstGeom>
          <a:ln w="95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57" name="Straight Connector 656">
            <a:extLst>
              <a:ext uri="{FF2B5EF4-FFF2-40B4-BE49-F238E27FC236}">
                <a16:creationId xmlns:a16="http://schemas.microsoft.com/office/drawing/2014/main" id="{6A3EFCD6-B572-4186-9F3C-7AAA652F1B56}"/>
              </a:ext>
            </a:extLst>
          </p:cNvPr>
          <p:cNvCxnSpPr>
            <a:cxnSpLocks/>
          </p:cNvCxnSpPr>
          <p:nvPr/>
        </p:nvCxnSpPr>
        <p:spPr>
          <a:xfrm flipV="1">
            <a:off x="7321550" y="3975100"/>
            <a:ext cx="361950" cy="800100"/>
          </a:xfrm>
          <a:prstGeom prst="line">
            <a:avLst/>
          </a:prstGeom>
          <a:ln w="95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59" name="Straight Connector 658">
            <a:extLst>
              <a:ext uri="{FF2B5EF4-FFF2-40B4-BE49-F238E27FC236}">
                <a16:creationId xmlns:a16="http://schemas.microsoft.com/office/drawing/2014/main" id="{E632B786-EF53-4463-92BB-3D55DE93699D}"/>
              </a:ext>
            </a:extLst>
          </p:cNvPr>
          <p:cNvCxnSpPr>
            <a:cxnSpLocks/>
          </p:cNvCxnSpPr>
          <p:nvPr/>
        </p:nvCxnSpPr>
        <p:spPr>
          <a:xfrm flipV="1">
            <a:off x="10007600" y="3975100"/>
            <a:ext cx="330200" cy="781050"/>
          </a:xfrm>
          <a:prstGeom prst="line">
            <a:avLst/>
          </a:prstGeom>
          <a:ln w="95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B4627111-92C0-9303-EFC8-5EC5837DEF17}"/>
              </a:ext>
            </a:extLst>
          </p:cNvPr>
          <p:cNvGrpSpPr/>
          <p:nvPr/>
        </p:nvGrpSpPr>
        <p:grpSpPr>
          <a:xfrm>
            <a:off x="7356196" y="723523"/>
            <a:ext cx="2106132" cy="563798"/>
            <a:chOff x="7248525" y="-752475"/>
            <a:chExt cx="2106132" cy="563798"/>
          </a:xfrm>
        </p:grpSpPr>
        <p:sp>
          <p:nvSpPr>
            <p:cNvPr id="20" name="Rectangle 19">
              <a:extLst>
                <a:ext uri="{FF2B5EF4-FFF2-40B4-BE49-F238E27FC236}">
                  <a16:creationId xmlns:a16="http://schemas.microsoft.com/office/drawing/2014/main" id="{B9FE99B8-E635-AA8A-B685-CD090544E98D}"/>
                </a:ext>
              </a:extLst>
            </p:cNvPr>
            <p:cNvSpPr/>
            <p:nvPr/>
          </p:nvSpPr>
          <p:spPr>
            <a:xfrm>
              <a:off x="7248525" y="-752475"/>
              <a:ext cx="2019300" cy="563798"/>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Star: 5 Points 11">
              <a:extLst>
                <a:ext uri="{FF2B5EF4-FFF2-40B4-BE49-F238E27FC236}">
                  <a16:creationId xmlns:a16="http://schemas.microsoft.com/office/drawing/2014/main" id="{FB92DE29-2005-9486-03A9-F21F165ED1C3}"/>
                </a:ext>
              </a:extLst>
            </p:cNvPr>
            <p:cNvSpPr/>
            <p:nvPr/>
          </p:nvSpPr>
          <p:spPr>
            <a:xfrm>
              <a:off x="7321550" y="-442268"/>
              <a:ext cx="195778" cy="173134"/>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Isosceles Triangle 16">
              <a:extLst>
                <a:ext uri="{FF2B5EF4-FFF2-40B4-BE49-F238E27FC236}">
                  <a16:creationId xmlns:a16="http://schemas.microsoft.com/office/drawing/2014/main" id="{6B179CBD-91E7-26C4-918B-6F83ED3E997F}"/>
                </a:ext>
              </a:extLst>
            </p:cNvPr>
            <p:cNvSpPr/>
            <p:nvPr/>
          </p:nvSpPr>
          <p:spPr>
            <a:xfrm>
              <a:off x="7360476" y="-646930"/>
              <a:ext cx="117926" cy="118040"/>
            </a:xfrm>
            <a:prstGeom prst="triangle">
              <a:avLst/>
            </a:prstGeom>
            <a:solidFill>
              <a:schemeClr val="accent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D15B20C7-C2DE-2964-08C9-65A38DF7FAF0}"/>
                </a:ext>
              </a:extLst>
            </p:cNvPr>
            <p:cNvSpPr txBox="1"/>
            <p:nvPr/>
          </p:nvSpPr>
          <p:spPr>
            <a:xfrm>
              <a:off x="7447086" y="-677179"/>
              <a:ext cx="1561243" cy="215444"/>
            </a:xfrm>
            <a:prstGeom prst="rect">
              <a:avLst/>
            </a:prstGeom>
            <a:noFill/>
          </p:spPr>
          <p:txBody>
            <a:bodyPr wrap="square" rtlCol="0" anchor="ctr">
              <a:spAutoFit/>
            </a:bodyPr>
            <a:lstStyle/>
            <a:p>
              <a:pPr>
                <a:lnSpc>
                  <a:spcPct val="80000"/>
                </a:lnSpc>
              </a:pPr>
              <a:r>
                <a:rPr lang="en-GB" sz="1000" dirty="0"/>
                <a:t>Pathological </a:t>
              </a:r>
              <a:r>
                <a:rPr lang="el-GR" sz="1000" dirty="0"/>
                <a:t>α</a:t>
              </a:r>
              <a:r>
                <a:rPr lang="en-GB" sz="1000" dirty="0"/>
                <a:t>-synuclein </a:t>
              </a:r>
            </a:p>
          </p:txBody>
        </p:sp>
        <p:sp>
          <p:nvSpPr>
            <p:cNvPr id="19" name="TextBox 18">
              <a:extLst>
                <a:ext uri="{FF2B5EF4-FFF2-40B4-BE49-F238E27FC236}">
                  <a16:creationId xmlns:a16="http://schemas.microsoft.com/office/drawing/2014/main" id="{68255CF3-333D-959A-59C9-FF913DD0B231}"/>
                </a:ext>
              </a:extLst>
            </p:cNvPr>
            <p:cNvSpPr txBox="1"/>
            <p:nvPr/>
          </p:nvSpPr>
          <p:spPr>
            <a:xfrm>
              <a:off x="7447086" y="-455364"/>
              <a:ext cx="1907571" cy="215444"/>
            </a:xfrm>
            <a:prstGeom prst="rect">
              <a:avLst/>
            </a:prstGeom>
            <a:noFill/>
          </p:spPr>
          <p:txBody>
            <a:bodyPr wrap="square" rtlCol="0" anchor="ctr">
              <a:spAutoFit/>
            </a:bodyPr>
            <a:lstStyle/>
            <a:p>
              <a:pPr>
                <a:lnSpc>
                  <a:spcPct val="80000"/>
                </a:lnSpc>
              </a:pPr>
              <a:r>
                <a:rPr lang="en-GB" sz="1000" dirty="0"/>
                <a:t>Disease process (e.g., ROS)</a:t>
              </a:r>
            </a:p>
          </p:txBody>
        </p:sp>
      </p:grpSp>
    </p:spTree>
    <p:custDataLst>
      <p:tags r:id="rId1"/>
    </p:custDataLst>
    <p:extLst>
      <p:ext uri="{BB962C8B-B14F-4D97-AF65-F5344CB8AC3E}">
        <p14:creationId xmlns:p14="http://schemas.microsoft.com/office/powerpoint/2010/main" val="347478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B9833F1-65FD-41DD-9144-9A64993D3D1E}"/>
              </a:ext>
            </a:extLst>
          </p:cNvPr>
          <p:cNvSpPr/>
          <p:nvPr/>
        </p:nvSpPr>
        <p:spPr>
          <a:xfrm rot="5400000">
            <a:off x="8293228" y="-330671"/>
            <a:ext cx="1260000" cy="4916863"/>
          </a:xfrm>
          <a:prstGeom prst="rect">
            <a:avLst/>
          </a:prstGeom>
          <a:solidFill>
            <a:schemeClr val="accent2"/>
          </a:solidFill>
          <a:ln w="254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FFFFFF"/>
              </a:solidFill>
              <a:effectLst/>
              <a:uLnTx/>
              <a:uFillTx/>
              <a:latin typeface="Arial"/>
              <a:ea typeface="+mn-ea"/>
              <a:cs typeface="+mn-cs"/>
            </a:endParaRPr>
          </a:p>
        </p:txBody>
      </p:sp>
      <p:sp>
        <p:nvSpPr>
          <p:cNvPr id="21" name="Rectangle 20">
            <a:extLst>
              <a:ext uri="{FF2B5EF4-FFF2-40B4-BE49-F238E27FC236}">
                <a16:creationId xmlns:a16="http://schemas.microsoft.com/office/drawing/2014/main" id="{2A3D7C96-0341-454C-8FBC-8F6425866BE9}"/>
              </a:ext>
            </a:extLst>
          </p:cNvPr>
          <p:cNvSpPr/>
          <p:nvPr/>
        </p:nvSpPr>
        <p:spPr>
          <a:xfrm rot="5400000">
            <a:off x="8293228" y="1945801"/>
            <a:ext cx="1260000" cy="4916863"/>
          </a:xfrm>
          <a:prstGeom prst="rect">
            <a:avLst/>
          </a:prstGeom>
          <a:solidFill>
            <a:schemeClr val="accent2">
              <a:lumMod val="20000"/>
              <a:lumOff val="80000"/>
            </a:schemeClr>
          </a:solidFill>
          <a:ln w="254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FFFFFF"/>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0E233630-EA80-437B-97D8-02A7A4A125A0}"/>
              </a:ext>
            </a:extLst>
          </p:cNvPr>
          <p:cNvSpPr/>
          <p:nvPr/>
        </p:nvSpPr>
        <p:spPr>
          <a:xfrm rot="5400000">
            <a:off x="8293228" y="807565"/>
            <a:ext cx="1260000" cy="4916863"/>
          </a:xfrm>
          <a:prstGeom prst="rect">
            <a:avLst/>
          </a:prstGeom>
          <a:solidFill>
            <a:schemeClr val="accent2">
              <a:lumMod val="60000"/>
              <a:lumOff val="40000"/>
            </a:schemeClr>
          </a:solidFill>
          <a:ln w="254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FFFFFF"/>
              </a:solidFill>
              <a:effectLst/>
              <a:uLnTx/>
              <a:uFillTx/>
              <a:latin typeface="Arial"/>
              <a:ea typeface="+mn-ea"/>
              <a:cs typeface="+mn-cs"/>
            </a:endParaRPr>
          </a:p>
        </p:txBody>
      </p:sp>
      <p:sp>
        <p:nvSpPr>
          <p:cNvPr id="23" name="Rectangle 22">
            <a:extLst>
              <a:ext uri="{FF2B5EF4-FFF2-40B4-BE49-F238E27FC236}">
                <a16:creationId xmlns:a16="http://schemas.microsoft.com/office/drawing/2014/main" id="{8DED4053-4978-4336-ADFD-2B62ACC7FC06}"/>
              </a:ext>
            </a:extLst>
          </p:cNvPr>
          <p:cNvSpPr/>
          <p:nvPr/>
        </p:nvSpPr>
        <p:spPr>
          <a:xfrm rot="5400000">
            <a:off x="8331358" y="3045906"/>
            <a:ext cx="1183740" cy="4916863"/>
          </a:xfrm>
          <a:prstGeom prst="rect">
            <a:avLst/>
          </a:prstGeom>
          <a:solidFill>
            <a:schemeClr val="bg1"/>
          </a:solidFill>
          <a:ln w="254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FFFFFF"/>
              </a:solidFill>
              <a:effectLst/>
              <a:uLnTx/>
              <a:uFillTx/>
              <a:latin typeface="Arial"/>
              <a:ea typeface="+mn-ea"/>
              <a:cs typeface="+mn-cs"/>
            </a:endParaRPr>
          </a:p>
        </p:txBody>
      </p:sp>
      <p:sp>
        <p:nvSpPr>
          <p:cNvPr id="58" name="Rectangle 57">
            <a:extLst>
              <a:ext uri="{FF2B5EF4-FFF2-40B4-BE49-F238E27FC236}">
                <a16:creationId xmlns:a16="http://schemas.microsoft.com/office/drawing/2014/main" id="{051EE7FD-828E-4A35-9A33-200DF39C03E3}"/>
              </a:ext>
            </a:extLst>
          </p:cNvPr>
          <p:cNvSpPr/>
          <p:nvPr/>
        </p:nvSpPr>
        <p:spPr>
          <a:xfrm rot="5400000">
            <a:off x="3288182" y="-392210"/>
            <a:ext cx="1260000" cy="5039937"/>
          </a:xfrm>
          <a:prstGeom prst="rect">
            <a:avLst/>
          </a:prstGeom>
          <a:solidFill>
            <a:schemeClr val="accent5">
              <a:lumMod val="60000"/>
              <a:lumOff val="40000"/>
            </a:schemeClr>
          </a:solidFill>
          <a:ln w="254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FFFFFF"/>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C6CEECF0-8C1A-4EC1-A9EC-3264141F28F8}"/>
              </a:ext>
            </a:extLst>
          </p:cNvPr>
          <p:cNvSpPr>
            <a:spLocks noGrp="1"/>
          </p:cNvSpPr>
          <p:nvPr>
            <p:ph type="body" sz="quarter" idx="17"/>
          </p:nvPr>
        </p:nvSpPr>
        <p:spPr/>
        <p:txBody>
          <a:bodyPr/>
          <a:lstStyle/>
          <a:p>
            <a:r>
              <a:rPr lang="en-GB"/>
              <a:t>Parkinson’s disease – Course, natural history and prognosis</a:t>
            </a:r>
          </a:p>
        </p:txBody>
      </p:sp>
      <p:sp>
        <p:nvSpPr>
          <p:cNvPr id="2" name="Title 1">
            <a:extLst>
              <a:ext uri="{FF2B5EF4-FFF2-40B4-BE49-F238E27FC236}">
                <a16:creationId xmlns:a16="http://schemas.microsoft.com/office/drawing/2014/main" id="{50788FDA-90EA-446C-98F2-C072DAB9916C}"/>
              </a:ext>
            </a:extLst>
          </p:cNvPr>
          <p:cNvSpPr>
            <a:spLocks noGrp="1"/>
          </p:cNvSpPr>
          <p:nvPr>
            <p:ph type="title"/>
          </p:nvPr>
        </p:nvSpPr>
        <p:spPr>
          <a:xfrm>
            <a:off x="539749" y="814386"/>
            <a:ext cx="9937751" cy="332399"/>
          </a:xfrm>
        </p:spPr>
        <p:txBody>
          <a:bodyPr>
            <a:normAutofit fontScale="90000"/>
          </a:bodyPr>
          <a:lstStyle/>
          <a:p>
            <a:r>
              <a:rPr lang="en-GB" dirty="0"/>
              <a:t>Clinical symptoms and time course of Parkinson’s disease progression</a:t>
            </a:r>
          </a:p>
        </p:txBody>
      </p:sp>
      <p:sp>
        <p:nvSpPr>
          <p:cNvPr id="6" name="Text Placeholder 5">
            <a:extLst>
              <a:ext uri="{FF2B5EF4-FFF2-40B4-BE49-F238E27FC236}">
                <a16:creationId xmlns:a16="http://schemas.microsoft.com/office/drawing/2014/main" id="{9479063F-D534-4ECF-9475-471FADDFDED6}"/>
              </a:ext>
            </a:extLst>
          </p:cNvPr>
          <p:cNvSpPr>
            <a:spLocks noGrp="1"/>
          </p:cNvSpPr>
          <p:nvPr>
            <p:ph type="body" sz="quarter" idx="18"/>
          </p:nvPr>
        </p:nvSpPr>
        <p:spPr/>
        <p:txBody>
          <a:bodyPr/>
          <a:lstStyle/>
          <a:p>
            <a:pPr marL="0" indent="0">
              <a:buNone/>
            </a:pPr>
            <a:r>
              <a:rPr lang="en-GB" dirty="0"/>
              <a:t>REM=rapid eye movement; PD=Parkinson’s disease</a:t>
            </a:r>
          </a:p>
          <a:p>
            <a:pPr marL="0" indent="0">
              <a:buNone/>
            </a:pPr>
            <a:endParaRPr lang="en-GB" dirty="0"/>
          </a:p>
          <a:p>
            <a:pPr marL="0" indent="0">
              <a:buNone/>
            </a:pPr>
            <a:r>
              <a:rPr lang="en-GB" dirty="0"/>
              <a:t>Adapted from: </a:t>
            </a:r>
            <a:r>
              <a:rPr lang="en-GB" dirty="0" err="1"/>
              <a:t>Poewe</a:t>
            </a:r>
            <a:r>
              <a:rPr lang="en-GB" dirty="0"/>
              <a:t> et al. Nat Rev Dis Primers 2017;3:17013; </a:t>
            </a:r>
            <a:r>
              <a:rPr lang="en-GB" dirty="0" err="1"/>
              <a:t>Kulisevsky</a:t>
            </a:r>
            <a:r>
              <a:rPr lang="en-GB" dirty="0"/>
              <a:t> et al. </a:t>
            </a:r>
            <a:r>
              <a:rPr lang="en-GB" dirty="0" err="1"/>
              <a:t>Neurologia</a:t>
            </a:r>
            <a:r>
              <a:rPr lang="en-GB" dirty="0"/>
              <a:t> 2013;28(8):503–521; Armstrong &amp; Okun. JAMA 2020;323(6):548–560</a:t>
            </a:r>
          </a:p>
        </p:txBody>
      </p:sp>
      <p:sp>
        <p:nvSpPr>
          <p:cNvPr id="4" name="Slide Number Placeholder 3">
            <a:extLst>
              <a:ext uri="{FF2B5EF4-FFF2-40B4-BE49-F238E27FC236}">
                <a16:creationId xmlns:a16="http://schemas.microsoft.com/office/drawing/2014/main" id="{120644DB-1418-4269-9522-D01122503236}"/>
              </a:ext>
            </a:extLst>
          </p:cNvPr>
          <p:cNvSpPr>
            <a:spLocks noGrp="1"/>
          </p:cNvSpPr>
          <p:nvPr>
            <p:ph type="sldNum" sz="quarter" idx="4"/>
          </p:nvPr>
        </p:nvSpPr>
        <p:spPr/>
        <p:txBody>
          <a:bodyPr/>
          <a:lstStyle/>
          <a:p>
            <a:fld id="{6DBC486D-4FAB-B746-8B02-8D7C842291C6}" type="slidenum">
              <a:rPr lang="en-GB" smtClean="0"/>
              <a:t>4</a:t>
            </a:fld>
            <a:endParaRPr lang="en-GB"/>
          </a:p>
        </p:txBody>
      </p:sp>
      <p:sp>
        <p:nvSpPr>
          <p:cNvPr id="56" name="Rectangle 55">
            <a:extLst>
              <a:ext uri="{FF2B5EF4-FFF2-40B4-BE49-F238E27FC236}">
                <a16:creationId xmlns:a16="http://schemas.microsoft.com/office/drawing/2014/main" id="{EBA95439-124A-43F2-942A-7C21AFC069CB}"/>
              </a:ext>
            </a:extLst>
          </p:cNvPr>
          <p:cNvSpPr/>
          <p:nvPr/>
        </p:nvSpPr>
        <p:spPr>
          <a:xfrm rot="5400000">
            <a:off x="3288182" y="1884262"/>
            <a:ext cx="1260000" cy="5039937"/>
          </a:xfrm>
          <a:prstGeom prst="rect">
            <a:avLst/>
          </a:prstGeom>
          <a:solidFill>
            <a:schemeClr val="accent5">
              <a:lumMod val="20000"/>
              <a:lumOff val="80000"/>
            </a:schemeClr>
          </a:solidFill>
          <a:ln w="254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FFFFFF"/>
              </a:solidFill>
              <a:effectLst/>
              <a:uLnTx/>
              <a:uFillTx/>
              <a:latin typeface="Arial"/>
              <a:ea typeface="+mn-ea"/>
              <a:cs typeface="+mn-cs"/>
            </a:endParaRPr>
          </a:p>
        </p:txBody>
      </p:sp>
      <p:sp>
        <p:nvSpPr>
          <p:cNvPr id="57" name="Rectangle 56">
            <a:extLst>
              <a:ext uri="{FF2B5EF4-FFF2-40B4-BE49-F238E27FC236}">
                <a16:creationId xmlns:a16="http://schemas.microsoft.com/office/drawing/2014/main" id="{54D8AF40-6682-4DD4-A2FE-8E043E2AA876}"/>
              </a:ext>
            </a:extLst>
          </p:cNvPr>
          <p:cNvSpPr/>
          <p:nvPr/>
        </p:nvSpPr>
        <p:spPr>
          <a:xfrm rot="5400000">
            <a:off x="3288182" y="746026"/>
            <a:ext cx="1260000" cy="5039937"/>
          </a:xfrm>
          <a:prstGeom prst="rect">
            <a:avLst/>
          </a:prstGeom>
          <a:solidFill>
            <a:schemeClr val="accent5">
              <a:lumMod val="40000"/>
              <a:lumOff val="60000"/>
            </a:schemeClr>
          </a:solidFill>
          <a:ln w="254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FFFFFF"/>
              </a:solidFill>
              <a:effectLst/>
              <a:uLnTx/>
              <a:uFillTx/>
              <a:latin typeface="Arial"/>
              <a:ea typeface="+mn-ea"/>
              <a:cs typeface="+mn-cs"/>
            </a:endParaRPr>
          </a:p>
        </p:txBody>
      </p:sp>
      <p:sp>
        <p:nvSpPr>
          <p:cNvPr id="62" name="TextBox 61">
            <a:extLst>
              <a:ext uri="{FF2B5EF4-FFF2-40B4-BE49-F238E27FC236}">
                <a16:creationId xmlns:a16="http://schemas.microsoft.com/office/drawing/2014/main" id="{29A820B0-374D-4A8D-A6C7-93D387438BD3}"/>
              </a:ext>
            </a:extLst>
          </p:cNvPr>
          <p:cNvSpPr txBox="1"/>
          <p:nvPr/>
        </p:nvSpPr>
        <p:spPr>
          <a:xfrm rot="16200000">
            <a:off x="458899" y="3035166"/>
            <a:ext cx="1259999"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Arial"/>
              </a:rPr>
              <a:t>Mid-stage </a:t>
            </a:r>
            <a:br>
              <a:rPr kumimoji="0" lang="en-GB" sz="1200" b="1" i="0" u="none" strike="noStrike" kern="0" cap="none" spc="0" normalizeH="0" baseline="0" noProof="0">
                <a:ln>
                  <a:noFill/>
                </a:ln>
                <a:solidFill>
                  <a:prstClr val="black"/>
                </a:solidFill>
                <a:effectLst/>
                <a:uLnTx/>
                <a:uFillTx/>
                <a:latin typeface="Arial"/>
              </a:rPr>
            </a:br>
            <a:r>
              <a:rPr kumimoji="0" lang="en-GB" sz="1200" b="1" i="0" u="none" strike="noStrike" kern="0" cap="none" spc="0" normalizeH="0" baseline="0" noProof="0">
                <a:ln>
                  <a:noFill/>
                </a:ln>
                <a:solidFill>
                  <a:prstClr val="black"/>
                </a:solidFill>
                <a:effectLst/>
                <a:uLnTx/>
                <a:uFillTx/>
                <a:latin typeface="Arial"/>
              </a:rPr>
              <a:t>PD</a:t>
            </a:r>
          </a:p>
        </p:txBody>
      </p:sp>
      <p:sp>
        <p:nvSpPr>
          <p:cNvPr id="63" name="TextBox 62">
            <a:extLst>
              <a:ext uri="{FF2B5EF4-FFF2-40B4-BE49-F238E27FC236}">
                <a16:creationId xmlns:a16="http://schemas.microsoft.com/office/drawing/2014/main" id="{62D55797-291E-4976-AFA7-D8D6CA2A378F}"/>
              </a:ext>
            </a:extLst>
          </p:cNvPr>
          <p:cNvSpPr txBox="1"/>
          <p:nvPr/>
        </p:nvSpPr>
        <p:spPr>
          <a:xfrm rot="16200000">
            <a:off x="519779" y="1836046"/>
            <a:ext cx="1138237"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effectLst/>
                <a:uLnTx/>
                <a:uFillTx/>
                <a:latin typeface="Arial"/>
              </a:rPr>
              <a:t>Late-stage </a:t>
            </a:r>
            <a:br>
              <a:rPr kumimoji="0" lang="en-GB" sz="1200" b="1" i="0" u="none" strike="noStrike" kern="0" cap="none" spc="0" normalizeH="0" baseline="0" noProof="0">
                <a:ln>
                  <a:noFill/>
                </a:ln>
                <a:effectLst/>
                <a:uLnTx/>
                <a:uFillTx/>
                <a:latin typeface="Arial"/>
              </a:rPr>
            </a:br>
            <a:r>
              <a:rPr kumimoji="0" lang="en-GB" sz="1200" b="1" i="0" u="none" strike="noStrike" kern="0" cap="none" spc="0" normalizeH="0" baseline="0" noProof="0">
                <a:ln>
                  <a:noFill/>
                </a:ln>
                <a:effectLst/>
                <a:uLnTx/>
                <a:uFillTx/>
                <a:latin typeface="Arial"/>
              </a:rPr>
              <a:t>PD</a:t>
            </a:r>
          </a:p>
        </p:txBody>
      </p:sp>
      <p:sp>
        <p:nvSpPr>
          <p:cNvPr id="84" name="TextBox 83">
            <a:extLst>
              <a:ext uri="{FF2B5EF4-FFF2-40B4-BE49-F238E27FC236}">
                <a16:creationId xmlns:a16="http://schemas.microsoft.com/office/drawing/2014/main" id="{B6A61C49-84F3-47F0-BD02-D4AA6D79ADB7}"/>
              </a:ext>
            </a:extLst>
          </p:cNvPr>
          <p:cNvSpPr txBox="1"/>
          <p:nvPr/>
        </p:nvSpPr>
        <p:spPr>
          <a:xfrm rot="16200000">
            <a:off x="580665" y="4173401"/>
            <a:ext cx="1016466"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Arial"/>
              </a:rPr>
              <a:t>Early-stage PD</a:t>
            </a:r>
          </a:p>
        </p:txBody>
      </p:sp>
      <p:sp>
        <p:nvSpPr>
          <p:cNvPr id="15" name="Rectangle 14">
            <a:extLst>
              <a:ext uri="{FF2B5EF4-FFF2-40B4-BE49-F238E27FC236}">
                <a16:creationId xmlns:a16="http://schemas.microsoft.com/office/drawing/2014/main" id="{61B86CA7-C5E9-42E2-8AAB-E021C22A0534}"/>
              </a:ext>
            </a:extLst>
          </p:cNvPr>
          <p:cNvSpPr/>
          <p:nvPr/>
        </p:nvSpPr>
        <p:spPr>
          <a:xfrm rot="5400000">
            <a:off x="3335672" y="2975007"/>
            <a:ext cx="1165020" cy="5039937"/>
          </a:xfrm>
          <a:prstGeom prst="rect">
            <a:avLst/>
          </a:prstGeom>
          <a:solidFill>
            <a:schemeClr val="bg1"/>
          </a:solidFill>
          <a:ln w="254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6803CC5B-203C-4A1B-B189-17F43B56B965}"/>
              </a:ext>
            </a:extLst>
          </p:cNvPr>
          <p:cNvSpPr/>
          <p:nvPr/>
        </p:nvSpPr>
        <p:spPr>
          <a:xfrm>
            <a:off x="1644725" y="1565540"/>
            <a:ext cx="4670350" cy="4421336"/>
          </a:xfrm>
          <a:prstGeom prst="rect">
            <a:avLst/>
          </a:prstGeom>
          <a:solidFill>
            <a:schemeClr val="bg1">
              <a:alpha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64D81892-E5AF-49AA-8CCC-2511CACFFC2F}"/>
              </a:ext>
            </a:extLst>
          </p:cNvPr>
          <p:cNvSpPr/>
          <p:nvPr/>
        </p:nvSpPr>
        <p:spPr>
          <a:xfrm>
            <a:off x="6438150" y="1565539"/>
            <a:ext cx="4670350" cy="4421337"/>
          </a:xfrm>
          <a:prstGeom prst="rect">
            <a:avLst/>
          </a:prstGeom>
          <a:solidFill>
            <a:schemeClr val="bg1">
              <a:alpha val="75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TextBox 15">
            <a:extLst>
              <a:ext uri="{FF2B5EF4-FFF2-40B4-BE49-F238E27FC236}">
                <a16:creationId xmlns:a16="http://schemas.microsoft.com/office/drawing/2014/main" id="{D79ACA02-AE54-4A7F-B41C-FF801FCF80C0}"/>
              </a:ext>
            </a:extLst>
          </p:cNvPr>
          <p:cNvSpPr txBox="1"/>
          <p:nvPr/>
        </p:nvSpPr>
        <p:spPr>
          <a:xfrm rot="16200000">
            <a:off x="539899" y="5230634"/>
            <a:ext cx="1097999"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Arial"/>
              </a:rPr>
              <a:t>Prodromal </a:t>
            </a:r>
            <a:br>
              <a:rPr kumimoji="0" lang="en-GB" sz="1200" b="1" i="0" u="none" strike="noStrike" kern="0" cap="none" spc="0" normalizeH="0" baseline="0" noProof="0">
                <a:ln>
                  <a:noFill/>
                </a:ln>
                <a:solidFill>
                  <a:prstClr val="black"/>
                </a:solidFill>
                <a:effectLst/>
                <a:uLnTx/>
                <a:uFillTx/>
                <a:latin typeface="Arial"/>
              </a:rPr>
            </a:br>
            <a:r>
              <a:rPr kumimoji="0" lang="en-GB" sz="1200" b="1" i="0" u="none" strike="noStrike" kern="0" cap="none" spc="0" normalizeH="0" baseline="0" noProof="0">
                <a:ln>
                  <a:noFill/>
                </a:ln>
                <a:solidFill>
                  <a:prstClr val="black"/>
                </a:solidFill>
                <a:effectLst/>
                <a:uLnTx/>
                <a:uFillTx/>
                <a:latin typeface="Arial"/>
              </a:rPr>
              <a:t>PD</a:t>
            </a:r>
          </a:p>
        </p:txBody>
      </p:sp>
      <p:sp>
        <p:nvSpPr>
          <p:cNvPr id="18" name="Arrow: Right 17">
            <a:extLst>
              <a:ext uri="{FF2B5EF4-FFF2-40B4-BE49-F238E27FC236}">
                <a16:creationId xmlns:a16="http://schemas.microsoft.com/office/drawing/2014/main" id="{7384194A-C323-40F4-AB9D-0750A7F240F9}"/>
              </a:ext>
            </a:extLst>
          </p:cNvPr>
          <p:cNvSpPr/>
          <p:nvPr/>
        </p:nvSpPr>
        <p:spPr>
          <a:xfrm rot="16200000">
            <a:off x="3979476" y="3337724"/>
            <a:ext cx="4794279" cy="722685"/>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solidFill>
                <a:schemeClr val="accent1"/>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98C7B6F7-256A-4498-87DC-06BA39D884FF}"/>
              </a:ext>
            </a:extLst>
          </p:cNvPr>
          <p:cNvSpPr txBox="1"/>
          <p:nvPr/>
        </p:nvSpPr>
        <p:spPr>
          <a:xfrm>
            <a:off x="1398213" y="1183449"/>
            <a:ext cx="4983538"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chemeClr val="accent5">
                    <a:lumMod val="75000"/>
                  </a:schemeClr>
                </a:solidFill>
                <a:effectLst/>
                <a:uLnTx/>
                <a:uFillTx/>
                <a:latin typeface="Arial"/>
              </a:rPr>
              <a:t>Motor symptoms</a:t>
            </a:r>
          </a:p>
        </p:txBody>
      </p:sp>
      <p:sp>
        <p:nvSpPr>
          <p:cNvPr id="25" name="TextBox 24">
            <a:extLst>
              <a:ext uri="{FF2B5EF4-FFF2-40B4-BE49-F238E27FC236}">
                <a16:creationId xmlns:a16="http://schemas.microsoft.com/office/drawing/2014/main" id="{1BF0B977-3DAB-4CD2-BCFA-FF7BFE36DA2F}"/>
              </a:ext>
            </a:extLst>
          </p:cNvPr>
          <p:cNvSpPr txBox="1"/>
          <p:nvPr/>
        </p:nvSpPr>
        <p:spPr>
          <a:xfrm>
            <a:off x="6370262" y="1174323"/>
            <a:ext cx="4983538"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chemeClr val="accent2">
                    <a:lumMod val="50000"/>
                  </a:schemeClr>
                </a:solidFill>
                <a:effectLst/>
                <a:uLnTx/>
                <a:uFillTx/>
                <a:latin typeface="Arial"/>
              </a:rPr>
              <a:t>Non-motor symptoms</a:t>
            </a:r>
          </a:p>
        </p:txBody>
      </p:sp>
      <p:sp>
        <p:nvSpPr>
          <p:cNvPr id="29" name="Rounded Rectangle 6">
            <a:extLst>
              <a:ext uri="{FF2B5EF4-FFF2-40B4-BE49-F238E27FC236}">
                <a16:creationId xmlns:a16="http://schemas.microsoft.com/office/drawing/2014/main" id="{F67CEC2C-6212-4A23-A8BB-EBE74CFF494E}"/>
              </a:ext>
            </a:extLst>
          </p:cNvPr>
          <p:cNvSpPr/>
          <p:nvPr/>
        </p:nvSpPr>
        <p:spPr>
          <a:xfrm>
            <a:off x="3375774" y="3050850"/>
            <a:ext cx="1312882" cy="278582"/>
          </a:xfrm>
          <a:prstGeom prst="roundRect">
            <a:avLst/>
          </a:prstGeom>
          <a:noFill/>
          <a:ln w="9525" cap="flat" cmpd="sng" algn="ctr">
            <a:noFill/>
            <a:prstDash val="solid"/>
          </a:ln>
          <a:effectLst/>
        </p:spPr>
        <p:txBody>
          <a:bodyPr wrap="square" lIns="36000" tIns="18000" rIns="36000" bIns="18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effectLst/>
              <a:uLnTx/>
              <a:uFillTx/>
              <a:latin typeface="Arial"/>
              <a:ea typeface="+mn-ea"/>
              <a:cs typeface="Angsana New" panose="02020603050405020304" pitchFamily="18" charset="-34"/>
            </a:endParaRPr>
          </a:p>
        </p:txBody>
      </p:sp>
      <p:sp>
        <p:nvSpPr>
          <p:cNvPr id="30" name="Rounded Rectangle 6">
            <a:extLst>
              <a:ext uri="{FF2B5EF4-FFF2-40B4-BE49-F238E27FC236}">
                <a16:creationId xmlns:a16="http://schemas.microsoft.com/office/drawing/2014/main" id="{BA478EA2-EE64-40C8-9317-19B12958D865}"/>
              </a:ext>
            </a:extLst>
          </p:cNvPr>
          <p:cNvSpPr/>
          <p:nvPr/>
        </p:nvSpPr>
        <p:spPr>
          <a:xfrm>
            <a:off x="1923805" y="3050850"/>
            <a:ext cx="1312882" cy="278582"/>
          </a:xfrm>
          <a:prstGeom prst="roundRect">
            <a:avLst/>
          </a:prstGeom>
          <a:noFill/>
          <a:ln w="9525" cap="flat" cmpd="sng" algn="ctr">
            <a:noFill/>
            <a:prstDash val="solid"/>
          </a:ln>
          <a:effectLst/>
        </p:spPr>
        <p:txBody>
          <a:bodyPr wrap="square" lIns="36000" tIns="18000" rIns="36000" bIns="18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effectLst/>
              <a:uLnTx/>
              <a:uFillTx/>
              <a:latin typeface="Arial"/>
              <a:ea typeface="+mn-ea"/>
              <a:cs typeface="Angsana New" panose="02020603050405020304" pitchFamily="18" charset="-34"/>
            </a:endParaRPr>
          </a:p>
        </p:txBody>
      </p:sp>
      <p:sp>
        <p:nvSpPr>
          <p:cNvPr id="31" name="Rounded Rectangle 6">
            <a:extLst>
              <a:ext uri="{FF2B5EF4-FFF2-40B4-BE49-F238E27FC236}">
                <a16:creationId xmlns:a16="http://schemas.microsoft.com/office/drawing/2014/main" id="{53C044D0-6CE8-43C9-8FE5-1F9925743EB9}"/>
              </a:ext>
            </a:extLst>
          </p:cNvPr>
          <p:cNvSpPr/>
          <p:nvPr/>
        </p:nvSpPr>
        <p:spPr>
          <a:xfrm>
            <a:off x="5346946" y="3061807"/>
            <a:ext cx="77693" cy="256665"/>
          </a:xfrm>
          <a:prstGeom prst="roundRect">
            <a:avLst>
              <a:gd name="adj" fmla="val 11589"/>
            </a:avLst>
          </a:prstGeom>
          <a:noFill/>
          <a:ln w="9525" cap="flat" cmpd="sng" algn="ctr">
            <a:noFill/>
            <a:prstDash val="solid"/>
          </a:ln>
          <a:effectLst/>
        </p:spPr>
        <p:txBody>
          <a:bodyPr wrap="none" lIns="36000" tIns="18000" rIns="36000" bIns="18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effectLst/>
              <a:uLnTx/>
              <a:uFillTx/>
              <a:latin typeface="Arial"/>
              <a:ea typeface="+mn-ea"/>
              <a:cs typeface="Angsana New" panose="02020603050405020304" pitchFamily="18" charset="-34"/>
            </a:endParaRPr>
          </a:p>
        </p:txBody>
      </p:sp>
      <p:sp>
        <p:nvSpPr>
          <p:cNvPr id="49" name="Rounded Rectangle 6">
            <a:extLst>
              <a:ext uri="{FF2B5EF4-FFF2-40B4-BE49-F238E27FC236}">
                <a16:creationId xmlns:a16="http://schemas.microsoft.com/office/drawing/2014/main" id="{60E12900-2A5F-46EC-B946-35BF20CB4F84}"/>
              </a:ext>
            </a:extLst>
          </p:cNvPr>
          <p:cNvSpPr/>
          <p:nvPr/>
        </p:nvSpPr>
        <p:spPr>
          <a:xfrm>
            <a:off x="1794448" y="1691474"/>
            <a:ext cx="4220825" cy="755308"/>
          </a:xfrm>
          <a:prstGeom prst="roundRect">
            <a:avLst/>
          </a:prstGeom>
          <a:noFill/>
          <a:ln w="9525" cap="flat" cmpd="sng" algn="ctr">
            <a:noFill/>
            <a:prstDash val="solid"/>
          </a:ln>
          <a:effectLst/>
        </p:spPr>
        <p:txBody>
          <a:bodyPr wrap="square" lIns="36000" tIns="18000" rIns="36000" bIns="18000" rtlCol="0" anchor="ctr">
            <a:noAutofit/>
          </a:bodyPr>
          <a:lstStyle/>
          <a:p>
            <a:pPr marL="216000" lvl="0" indent="-216000">
              <a:buFont typeface="Arial" panose="020B0604020202020204" pitchFamily="34" charset="0"/>
              <a:buChar char="•"/>
              <a:defRPr/>
            </a:pPr>
            <a:r>
              <a:rPr lang="en-GB" sz="1400" kern="0">
                <a:latin typeface="Arial"/>
                <a:cs typeface="Angsana New" panose="02020603050405020304" pitchFamily="18" charset="-34"/>
              </a:rPr>
              <a:t>Falls</a:t>
            </a:r>
            <a:endParaRPr kumimoji="0" lang="en-GB" sz="1400" b="0" i="0" u="none" strike="noStrike" kern="0" cap="none" spc="0" normalizeH="0" baseline="0" noProof="0">
              <a:ln>
                <a:noFill/>
              </a:ln>
              <a:effectLst/>
              <a:uLnTx/>
              <a:uFillTx/>
              <a:latin typeface="Arial"/>
              <a:ea typeface="+mn-ea"/>
              <a:cs typeface="Angsana New" panose="02020603050405020304" pitchFamily="18" charset="-34"/>
            </a:endParaRPr>
          </a:p>
          <a:p>
            <a:pPr marL="216000" indent="-216000">
              <a:buFont typeface="Arial" panose="020B0604020202020204" pitchFamily="34" charset="0"/>
              <a:buChar char="•"/>
              <a:defRPr/>
            </a:pPr>
            <a:r>
              <a:rPr lang="en-GB" sz="1400" kern="0">
                <a:latin typeface="Arial"/>
                <a:cs typeface="Angsana New" panose="02020603050405020304" pitchFamily="18" charset="-34"/>
              </a:rPr>
              <a:t>Postural instability and gait disorder</a:t>
            </a:r>
          </a:p>
          <a:p>
            <a:pPr marL="216000" indent="-216000">
              <a:buFont typeface="Arial" panose="020B0604020202020204" pitchFamily="34" charset="0"/>
              <a:buChar char="•"/>
              <a:defRPr/>
            </a:pPr>
            <a:r>
              <a:rPr lang="en-GB" sz="1400" kern="0">
                <a:latin typeface="Arial"/>
                <a:cs typeface="Angsana New" panose="02020603050405020304" pitchFamily="18" charset="-34"/>
              </a:rPr>
              <a:t>Dysphagia</a:t>
            </a:r>
          </a:p>
        </p:txBody>
      </p:sp>
      <p:sp>
        <p:nvSpPr>
          <p:cNvPr id="50" name="Rounded Rectangle 6">
            <a:extLst>
              <a:ext uri="{FF2B5EF4-FFF2-40B4-BE49-F238E27FC236}">
                <a16:creationId xmlns:a16="http://schemas.microsoft.com/office/drawing/2014/main" id="{1564722E-F997-48EC-80B3-3B19445D3323}"/>
              </a:ext>
            </a:extLst>
          </p:cNvPr>
          <p:cNvSpPr/>
          <p:nvPr/>
        </p:nvSpPr>
        <p:spPr>
          <a:xfrm>
            <a:off x="1794448" y="2881315"/>
            <a:ext cx="4220825" cy="755308"/>
          </a:xfrm>
          <a:prstGeom prst="roundRect">
            <a:avLst/>
          </a:prstGeom>
          <a:noFill/>
          <a:ln w="9525" cap="flat" cmpd="sng" algn="ctr">
            <a:noFill/>
            <a:prstDash val="solid"/>
          </a:ln>
          <a:effectLst/>
        </p:spPr>
        <p:txBody>
          <a:bodyPr wrap="square" lIns="36000" tIns="18000" rIns="36000" bIns="18000" rtlCol="0" anchor="ctr">
            <a:noAutofit/>
          </a:bodyPr>
          <a:lstStyle/>
          <a:p>
            <a:pPr marL="216000" indent="-216000">
              <a:buFont typeface="Arial" panose="020B0604020202020204" pitchFamily="34" charset="0"/>
              <a:buChar char="•"/>
              <a:defRPr/>
            </a:pPr>
            <a:r>
              <a:rPr lang="en-GB" sz="1400" kern="0">
                <a:latin typeface="Arial"/>
                <a:cs typeface="Angsana New" panose="02020603050405020304" pitchFamily="18" charset="-34"/>
              </a:rPr>
              <a:t>Axial deformities</a:t>
            </a:r>
          </a:p>
          <a:p>
            <a:pPr marL="216000" indent="-216000">
              <a:buFont typeface="Arial" panose="020B0604020202020204" pitchFamily="34" charset="0"/>
              <a:buChar char="•"/>
              <a:defRPr/>
            </a:pPr>
            <a:r>
              <a:rPr lang="en-GB" sz="1400" kern="0">
                <a:latin typeface="Arial"/>
                <a:cs typeface="Angsana New" panose="02020603050405020304" pitchFamily="18" charset="-34"/>
              </a:rPr>
              <a:t>Dyskinesias</a:t>
            </a:r>
          </a:p>
          <a:p>
            <a:pPr marL="216000" indent="-216000">
              <a:buFont typeface="Arial" panose="020B0604020202020204" pitchFamily="34" charset="0"/>
              <a:buChar char="•"/>
              <a:defRPr/>
            </a:pPr>
            <a:r>
              <a:rPr lang="en-GB" sz="1400" kern="0">
                <a:latin typeface="Arial"/>
                <a:cs typeface="Angsana New" panose="02020603050405020304" pitchFamily="18" charset="-34"/>
              </a:rPr>
              <a:t>Fluctuations</a:t>
            </a:r>
          </a:p>
        </p:txBody>
      </p:sp>
      <p:sp>
        <p:nvSpPr>
          <p:cNvPr id="51" name="Rounded Rectangle 6">
            <a:extLst>
              <a:ext uri="{FF2B5EF4-FFF2-40B4-BE49-F238E27FC236}">
                <a16:creationId xmlns:a16="http://schemas.microsoft.com/office/drawing/2014/main" id="{68AE89B7-5D6B-4BDF-AC73-CCC3CED21DCC}"/>
              </a:ext>
            </a:extLst>
          </p:cNvPr>
          <p:cNvSpPr/>
          <p:nvPr/>
        </p:nvSpPr>
        <p:spPr>
          <a:xfrm>
            <a:off x="1794448" y="4026579"/>
            <a:ext cx="4220825" cy="755308"/>
          </a:xfrm>
          <a:prstGeom prst="roundRect">
            <a:avLst/>
          </a:prstGeom>
          <a:noFill/>
          <a:ln w="9525" cap="flat" cmpd="sng" algn="ctr">
            <a:noFill/>
            <a:prstDash val="solid"/>
          </a:ln>
          <a:effectLst/>
        </p:spPr>
        <p:txBody>
          <a:bodyPr wrap="square" lIns="36000" tIns="18000" rIns="36000" bIns="18000" rtlCol="0" anchor="ctr">
            <a:noAutofit/>
          </a:bodyPr>
          <a:lstStyle/>
          <a:p>
            <a:pPr marL="216000" lvl="0" indent="-216000">
              <a:buFont typeface="Arial" panose="020B0604020202020204" pitchFamily="34" charset="0"/>
              <a:buChar char="•"/>
              <a:defRPr/>
            </a:pPr>
            <a:r>
              <a:rPr lang="en-GB" sz="1400" kern="0" dirty="0">
                <a:latin typeface="Arial"/>
                <a:cs typeface="Angsana New" panose="02020603050405020304" pitchFamily="18" charset="-34"/>
              </a:rPr>
              <a:t>Bradykinesia</a:t>
            </a:r>
          </a:p>
          <a:p>
            <a:pPr marL="216000" indent="-216000">
              <a:buFont typeface="Arial" panose="020B0604020202020204" pitchFamily="34" charset="0"/>
              <a:buChar char="•"/>
              <a:defRPr/>
            </a:pPr>
            <a:r>
              <a:rPr lang="en-GB" sz="1400" kern="0" dirty="0">
                <a:latin typeface="Arial"/>
                <a:cs typeface="Angsana New" panose="02020603050405020304" pitchFamily="18" charset="-34"/>
              </a:rPr>
              <a:t>Rigidity</a:t>
            </a:r>
          </a:p>
          <a:p>
            <a:pPr marL="216000" lvl="0" indent="-216000">
              <a:buFont typeface="Arial" panose="020B0604020202020204" pitchFamily="34" charset="0"/>
              <a:buChar char="•"/>
              <a:defRPr/>
            </a:pPr>
            <a:r>
              <a:rPr lang="en-GB" sz="1400" kern="0" dirty="0">
                <a:latin typeface="Arial"/>
                <a:cs typeface="Angsana New" panose="02020603050405020304" pitchFamily="18" charset="-34"/>
              </a:rPr>
              <a:t>Tremor</a:t>
            </a:r>
          </a:p>
        </p:txBody>
      </p:sp>
      <p:sp>
        <p:nvSpPr>
          <p:cNvPr id="52" name="Rounded Rectangle 6">
            <a:extLst>
              <a:ext uri="{FF2B5EF4-FFF2-40B4-BE49-F238E27FC236}">
                <a16:creationId xmlns:a16="http://schemas.microsoft.com/office/drawing/2014/main" id="{EA073E22-4FAB-4313-BCCF-C71B720D7339}"/>
              </a:ext>
            </a:extLst>
          </p:cNvPr>
          <p:cNvSpPr/>
          <p:nvPr/>
        </p:nvSpPr>
        <p:spPr>
          <a:xfrm>
            <a:off x="6808304" y="1744706"/>
            <a:ext cx="4082528" cy="755308"/>
          </a:xfrm>
          <a:prstGeom prst="roundRect">
            <a:avLst/>
          </a:prstGeom>
          <a:noFill/>
          <a:ln w="9525" cap="flat" cmpd="sng" algn="ctr">
            <a:noFill/>
            <a:prstDash val="solid"/>
          </a:ln>
          <a:effectLst/>
        </p:spPr>
        <p:txBody>
          <a:bodyPr wrap="square" lIns="36000" tIns="18000" rIns="36000" bIns="18000" rtlCol="0" anchor="ctr">
            <a:noAutofit/>
          </a:bodyPr>
          <a:lstStyle/>
          <a:p>
            <a:pPr marL="216000" indent="-216000">
              <a:buFont typeface="Arial" panose="020B0604020202020204" pitchFamily="34" charset="0"/>
              <a:buChar char="•"/>
              <a:defRPr/>
            </a:pPr>
            <a:r>
              <a:rPr lang="en-GB" sz="1400" kern="0">
                <a:latin typeface="Arial"/>
                <a:cs typeface="Angsana New" panose="02020603050405020304" pitchFamily="18" charset="-34"/>
              </a:rPr>
              <a:t>Dementia</a:t>
            </a:r>
          </a:p>
          <a:p>
            <a:pPr marL="216000" lvl="0" indent="-216000">
              <a:buFont typeface="Arial" panose="020B0604020202020204" pitchFamily="34" charset="0"/>
              <a:buChar char="•"/>
              <a:defRPr/>
            </a:pPr>
            <a:r>
              <a:rPr lang="en-GB" sz="1400" kern="0">
                <a:latin typeface="Arial"/>
                <a:cs typeface="Angsana New" panose="02020603050405020304" pitchFamily="18" charset="-34"/>
              </a:rPr>
              <a:t>Psychotic symptoms </a:t>
            </a:r>
            <a:br>
              <a:rPr lang="en-GB" sz="1400" kern="0">
                <a:latin typeface="Arial"/>
                <a:cs typeface="Angsana New" panose="02020603050405020304" pitchFamily="18" charset="-34"/>
              </a:rPr>
            </a:br>
            <a:r>
              <a:rPr lang="en-GB" sz="1400" kern="0">
                <a:latin typeface="Arial"/>
                <a:cs typeface="Angsana New" panose="02020603050405020304" pitchFamily="18" charset="-34"/>
              </a:rPr>
              <a:t>(hallucinations and delusions)</a:t>
            </a:r>
          </a:p>
        </p:txBody>
      </p:sp>
      <p:sp>
        <p:nvSpPr>
          <p:cNvPr id="53" name="Rounded Rectangle 6">
            <a:extLst>
              <a:ext uri="{FF2B5EF4-FFF2-40B4-BE49-F238E27FC236}">
                <a16:creationId xmlns:a16="http://schemas.microsoft.com/office/drawing/2014/main" id="{35F258E9-F8FA-44E2-8A02-008F8C13559F}"/>
              </a:ext>
            </a:extLst>
          </p:cNvPr>
          <p:cNvSpPr/>
          <p:nvPr/>
        </p:nvSpPr>
        <p:spPr>
          <a:xfrm>
            <a:off x="6808304" y="2630204"/>
            <a:ext cx="4082528" cy="1249281"/>
          </a:xfrm>
          <a:prstGeom prst="roundRect">
            <a:avLst/>
          </a:prstGeom>
          <a:noFill/>
          <a:ln w="9525" cap="flat" cmpd="sng" algn="ctr">
            <a:noFill/>
            <a:prstDash val="solid"/>
          </a:ln>
          <a:effectLst/>
        </p:spPr>
        <p:txBody>
          <a:bodyPr wrap="square" lIns="36000" tIns="18000" rIns="36000" bIns="18000" rtlCol="0" anchor="ctr">
            <a:noAutofit/>
          </a:bodyPr>
          <a:lstStyle/>
          <a:p>
            <a:pPr marL="216000" indent="-216000">
              <a:buFont typeface="Arial" panose="020B0604020202020204" pitchFamily="34" charset="0"/>
              <a:buChar char="•"/>
              <a:defRPr/>
            </a:pPr>
            <a:r>
              <a:rPr lang="en-GB" sz="1400" kern="0" dirty="0">
                <a:latin typeface="Arial"/>
                <a:cs typeface="Angsana New" panose="02020603050405020304" pitchFamily="18" charset="-34"/>
              </a:rPr>
              <a:t>Orthostatic hypotension</a:t>
            </a:r>
          </a:p>
          <a:p>
            <a:pPr marL="216000" lvl="0" indent="-216000">
              <a:buFont typeface="Arial" panose="020B0604020202020204" pitchFamily="34" charset="0"/>
              <a:buChar char="•"/>
              <a:defRPr/>
            </a:pPr>
            <a:r>
              <a:rPr lang="en-GB" sz="1400" kern="0" dirty="0">
                <a:latin typeface="Arial"/>
                <a:cs typeface="Angsana New" panose="02020603050405020304" pitchFamily="18" charset="-34"/>
              </a:rPr>
              <a:t>Urinary symptoms</a:t>
            </a:r>
          </a:p>
        </p:txBody>
      </p:sp>
      <p:sp>
        <p:nvSpPr>
          <p:cNvPr id="54" name="Rounded Rectangle 6">
            <a:extLst>
              <a:ext uri="{FF2B5EF4-FFF2-40B4-BE49-F238E27FC236}">
                <a16:creationId xmlns:a16="http://schemas.microsoft.com/office/drawing/2014/main" id="{145DA427-DA51-4245-8BEC-DD612F42D443}"/>
              </a:ext>
            </a:extLst>
          </p:cNvPr>
          <p:cNvSpPr/>
          <p:nvPr/>
        </p:nvSpPr>
        <p:spPr>
          <a:xfrm>
            <a:off x="6808304" y="3988818"/>
            <a:ext cx="4082528" cy="792732"/>
          </a:xfrm>
          <a:prstGeom prst="roundRect">
            <a:avLst/>
          </a:prstGeom>
          <a:noFill/>
          <a:ln w="9525" cap="flat" cmpd="sng" algn="ctr">
            <a:noFill/>
            <a:prstDash val="solid"/>
          </a:ln>
          <a:effectLst/>
        </p:spPr>
        <p:txBody>
          <a:bodyPr wrap="square" lIns="36000" tIns="18000" rIns="36000" bIns="18000" numCol="2" rtlCol="0" anchor="ctr">
            <a:noAutofit/>
          </a:bodyPr>
          <a:lstStyle/>
          <a:p>
            <a:pPr marL="216000" indent="-216000">
              <a:buFont typeface="Arial" panose="020B0604020202020204" pitchFamily="34" charset="0"/>
              <a:buChar char="•"/>
              <a:defRPr/>
            </a:pPr>
            <a:r>
              <a:rPr lang="en-GB" sz="1400" kern="0" dirty="0">
                <a:latin typeface="Arial"/>
                <a:cs typeface="Angsana New" panose="02020603050405020304" pitchFamily="18" charset="-34"/>
              </a:rPr>
              <a:t>Apathy</a:t>
            </a:r>
          </a:p>
          <a:p>
            <a:pPr marL="216000" lvl="0" indent="-216000">
              <a:buFont typeface="Arial" panose="020B0604020202020204" pitchFamily="34" charset="0"/>
              <a:buChar char="•"/>
              <a:defRPr/>
            </a:pPr>
            <a:r>
              <a:rPr lang="en-GB" sz="1400" kern="0" dirty="0">
                <a:latin typeface="Arial"/>
                <a:cs typeface="Angsana New" panose="02020603050405020304" pitchFamily="18" charset="-34"/>
              </a:rPr>
              <a:t>Fatigue</a:t>
            </a:r>
          </a:p>
          <a:p>
            <a:pPr marL="216000" lvl="0" indent="-216000">
              <a:buFont typeface="Arial" panose="020B0604020202020204" pitchFamily="34" charset="0"/>
              <a:buChar char="•"/>
              <a:defRPr/>
            </a:pPr>
            <a:endParaRPr lang="en-GB" sz="1400" kern="0" dirty="0">
              <a:latin typeface="Arial"/>
              <a:cs typeface="Angsana New" panose="02020603050405020304" pitchFamily="18" charset="-34"/>
            </a:endParaRPr>
          </a:p>
          <a:p>
            <a:pPr marL="216000" lvl="0" indent="-216000">
              <a:buFont typeface="Arial" panose="020B0604020202020204" pitchFamily="34" charset="0"/>
              <a:buChar char="•"/>
              <a:defRPr/>
            </a:pPr>
            <a:r>
              <a:rPr lang="en-GB" sz="1400" kern="0" dirty="0">
                <a:latin typeface="Arial"/>
                <a:cs typeface="Angsana New" panose="02020603050405020304" pitchFamily="18" charset="-34"/>
              </a:rPr>
              <a:t>Mild cognitive impairment</a:t>
            </a:r>
          </a:p>
          <a:p>
            <a:pPr marL="216000" indent="-216000">
              <a:buFont typeface="Arial" panose="020B0604020202020204" pitchFamily="34" charset="0"/>
              <a:buChar char="•"/>
              <a:defRPr/>
            </a:pPr>
            <a:r>
              <a:rPr lang="en-GB" sz="1400" kern="0" dirty="0">
                <a:latin typeface="Arial"/>
                <a:cs typeface="Angsana New" panose="02020603050405020304" pitchFamily="18" charset="-34"/>
              </a:rPr>
              <a:t>Pain</a:t>
            </a:r>
          </a:p>
        </p:txBody>
      </p:sp>
      <p:sp>
        <p:nvSpPr>
          <p:cNvPr id="55" name="Rounded Rectangle 6">
            <a:extLst>
              <a:ext uri="{FF2B5EF4-FFF2-40B4-BE49-F238E27FC236}">
                <a16:creationId xmlns:a16="http://schemas.microsoft.com/office/drawing/2014/main" id="{6F4582F3-1B19-4F86-8005-D39BB90300C3}"/>
              </a:ext>
            </a:extLst>
          </p:cNvPr>
          <p:cNvSpPr/>
          <p:nvPr/>
        </p:nvSpPr>
        <p:spPr>
          <a:xfrm>
            <a:off x="6808304" y="4845450"/>
            <a:ext cx="4082528" cy="1232034"/>
          </a:xfrm>
          <a:prstGeom prst="roundRect">
            <a:avLst/>
          </a:prstGeom>
          <a:noFill/>
          <a:ln w="9525" cap="flat" cmpd="sng" algn="ctr">
            <a:noFill/>
            <a:prstDash val="solid"/>
          </a:ln>
          <a:effectLst/>
        </p:spPr>
        <p:txBody>
          <a:bodyPr wrap="square" lIns="36000" tIns="18000" rIns="36000" bIns="18000" numCol="2" rtlCol="0" anchor="ctr">
            <a:noAutofit/>
          </a:bodyPr>
          <a:lstStyle/>
          <a:p>
            <a:pPr marL="216000" indent="-216000">
              <a:buFont typeface="Arial" panose="020B0604020202020204" pitchFamily="34" charset="0"/>
              <a:buChar char="•"/>
              <a:defRPr/>
            </a:pPr>
            <a:r>
              <a:rPr lang="en-GB" sz="1400" kern="0" dirty="0">
                <a:latin typeface="Arial"/>
                <a:cs typeface="Angsana New" panose="02020603050405020304" pitchFamily="18" charset="-34"/>
              </a:rPr>
              <a:t>Excessive daytime sleepiness</a:t>
            </a:r>
          </a:p>
          <a:p>
            <a:pPr marL="216000" indent="-216000">
              <a:buFont typeface="Arial" panose="020B0604020202020204" pitchFamily="34" charset="0"/>
              <a:buChar char="•"/>
              <a:defRPr/>
            </a:pPr>
            <a:r>
              <a:rPr lang="en-GB" sz="1400" kern="0" dirty="0">
                <a:latin typeface="Arial"/>
                <a:cs typeface="Angsana New" panose="02020603050405020304" pitchFamily="18" charset="-34"/>
              </a:rPr>
              <a:t>Anxiety</a:t>
            </a:r>
          </a:p>
          <a:p>
            <a:pPr marL="216000" lvl="0" indent="-216000">
              <a:buFont typeface="Arial" panose="020B0604020202020204" pitchFamily="34" charset="0"/>
              <a:buChar char="•"/>
              <a:defRPr/>
            </a:pPr>
            <a:r>
              <a:rPr lang="en-GB" sz="1400" kern="0" dirty="0">
                <a:latin typeface="Arial"/>
                <a:cs typeface="Angsana New" panose="02020603050405020304" pitchFamily="18" charset="-34"/>
              </a:rPr>
              <a:t>Constipation</a:t>
            </a:r>
          </a:p>
          <a:p>
            <a:pPr marL="216000" indent="-216000">
              <a:buFont typeface="Arial" panose="020B0604020202020204" pitchFamily="34" charset="0"/>
              <a:buChar char="•"/>
              <a:defRPr/>
            </a:pPr>
            <a:endParaRPr lang="en-GB" sz="1400" kern="0" dirty="0">
              <a:latin typeface="Arial"/>
              <a:cs typeface="Angsana New" panose="02020603050405020304" pitchFamily="18" charset="-34"/>
            </a:endParaRPr>
          </a:p>
          <a:p>
            <a:pPr marL="216000" indent="-216000">
              <a:buFont typeface="Arial" panose="020B0604020202020204" pitchFamily="34" charset="0"/>
              <a:buChar char="•"/>
              <a:defRPr/>
            </a:pPr>
            <a:r>
              <a:rPr lang="en-GB" sz="1400" kern="0" dirty="0">
                <a:latin typeface="Arial"/>
                <a:cs typeface="Angsana New" panose="02020603050405020304" pitchFamily="18" charset="-34"/>
              </a:rPr>
              <a:t>Hyposmia</a:t>
            </a:r>
          </a:p>
          <a:p>
            <a:pPr marL="216000" indent="-216000">
              <a:buFont typeface="Arial" panose="020B0604020202020204" pitchFamily="34" charset="0"/>
              <a:buChar char="•"/>
              <a:defRPr/>
            </a:pPr>
            <a:r>
              <a:rPr lang="en-GB" sz="1400" kern="0" dirty="0">
                <a:latin typeface="Arial"/>
                <a:cs typeface="Angsana New" panose="02020603050405020304" pitchFamily="18" charset="-34"/>
              </a:rPr>
              <a:t>Depression</a:t>
            </a:r>
          </a:p>
          <a:p>
            <a:pPr marL="216000" indent="-216000">
              <a:buFont typeface="Arial" panose="020B0604020202020204" pitchFamily="34" charset="0"/>
              <a:buChar char="•"/>
              <a:defRPr/>
            </a:pPr>
            <a:r>
              <a:rPr lang="en-GB" sz="1400" kern="0" dirty="0">
                <a:latin typeface="Arial"/>
                <a:cs typeface="Angsana New" panose="02020603050405020304" pitchFamily="18" charset="-34"/>
              </a:rPr>
              <a:t>REM sleep </a:t>
            </a:r>
            <a:br>
              <a:rPr lang="en-GB" sz="1400" kern="0" dirty="0">
                <a:latin typeface="Arial"/>
                <a:cs typeface="Angsana New" panose="02020603050405020304" pitchFamily="18" charset="-34"/>
              </a:rPr>
            </a:br>
            <a:r>
              <a:rPr lang="en-GB" sz="1400" kern="0" dirty="0">
                <a:latin typeface="Arial"/>
                <a:cs typeface="Angsana New" panose="02020603050405020304" pitchFamily="18" charset="-34"/>
              </a:rPr>
              <a:t>behaviour disorder</a:t>
            </a:r>
          </a:p>
        </p:txBody>
      </p:sp>
    </p:spTree>
    <p:custDataLst>
      <p:tags r:id="rId1"/>
    </p:custDataLst>
    <p:extLst>
      <p:ext uri="{BB962C8B-B14F-4D97-AF65-F5344CB8AC3E}">
        <p14:creationId xmlns:p14="http://schemas.microsoft.com/office/powerpoint/2010/main" val="2717484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95B7932-7142-9B5C-1348-25AB5FB6D59D}"/>
              </a:ext>
            </a:extLst>
          </p:cNvPr>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3" name="Title 2">
            <a:extLst>
              <a:ext uri="{FF2B5EF4-FFF2-40B4-BE49-F238E27FC236}">
                <a16:creationId xmlns:a16="http://schemas.microsoft.com/office/drawing/2014/main" id="{F1B4C6C4-AD2B-781F-DE0D-2B879067E024}"/>
              </a:ext>
            </a:extLst>
          </p:cNvPr>
          <p:cNvSpPr>
            <a:spLocks noGrp="1"/>
          </p:cNvSpPr>
          <p:nvPr>
            <p:ph type="title"/>
          </p:nvPr>
        </p:nvSpPr>
        <p:spPr/>
        <p:txBody>
          <a:bodyPr/>
          <a:lstStyle/>
          <a:p>
            <a:r>
              <a:rPr lang="en-GB" sz="2000" dirty="0"/>
              <a:t>The effect of genetic subtypes of Parkinson’s disease on disease course</a:t>
            </a:r>
          </a:p>
        </p:txBody>
      </p:sp>
      <p:sp>
        <p:nvSpPr>
          <p:cNvPr id="14" name="Text Placeholder 13">
            <a:extLst>
              <a:ext uri="{FF2B5EF4-FFF2-40B4-BE49-F238E27FC236}">
                <a16:creationId xmlns:a16="http://schemas.microsoft.com/office/drawing/2014/main" id="{1A9E966A-5FDD-B3C4-1F61-D612C6DEADB2}"/>
              </a:ext>
            </a:extLst>
          </p:cNvPr>
          <p:cNvSpPr>
            <a:spLocks noGrp="1"/>
          </p:cNvSpPr>
          <p:nvPr>
            <p:ph type="body" sz="quarter" idx="18"/>
          </p:nvPr>
        </p:nvSpPr>
        <p:spPr/>
        <p:txBody>
          <a:bodyPr/>
          <a:lstStyle/>
          <a:p>
            <a:r>
              <a:rPr lang="en-GB" i="1"/>
              <a:t>GBA</a:t>
            </a:r>
            <a:r>
              <a:rPr lang="en-GB"/>
              <a:t>=glucocerebrosidase; </a:t>
            </a:r>
            <a:r>
              <a:rPr lang="en-GB" i="1"/>
              <a:t>LRRK2</a:t>
            </a:r>
            <a:r>
              <a:rPr lang="en-GB"/>
              <a:t>=</a:t>
            </a:r>
            <a:r>
              <a:rPr lang="en-US"/>
              <a:t>leucine rich repeat kinase 2; </a:t>
            </a:r>
            <a:r>
              <a:rPr lang="en-GB"/>
              <a:t>PD=Parkinson’s disease</a:t>
            </a:r>
            <a:br>
              <a:rPr lang="en-GB"/>
            </a:br>
            <a:br>
              <a:rPr lang="en-GB"/>
            </a:br>
            <a:r>
              <a:rPr lang="en-GB"/>
              <a:t>1. </a:t>
            </a:r>
            <a:r>
              <a:rPr lang="en-GB" err="1"/>
              <a:t>Senkevich</a:t>
            </a:r>
            <a:r>
              <a:rPr lang="en-GB"/>
              <a:t> et al. Neuropharmacology 2022;202:108822; 2. </a:t>
            </a:r>
            <a:r>
              <a:rPr lang="en-GB" err="1"/>
              <a:t>Sosero</a:t>
            </a:r>
            <a:r>
              <a:rPr lang="en-GB"/>
              <a:t> &amp; Gan-Or. Ann Clin </a:t>
            </a:r>
            <a:r>
              <a:rPr lang="en-GB" err="1"/>
              <a:t>Transl</a:t>
            </a:r>
            <a:r>
              <a:rPr lang="en-GB"/>
              <a:t> </a:t>
            </a:r>
            <a:r>
              <a:rPr lang="en-GB" err="1"/>
              <a:t>Neurol</a:t>
            </a:r>
            <a:r>
              <a:rPr lang="en-GB"/>
              <a:t> 2023;10(6):850–864</a:t>
            </a:r>
          </a:p>
        </p:txBody>
      </p:sp>
      <p:sp>
        <p:nvSpPr>
          <p:cNvPr id="6" name="Slide Number Placeholder 5">
            <a:extLst>
              <a:ext uri="{FF2B5EF4-FFF2-40B4-BE49-F238E27FC236}">
                <a16:creationId xmlns:a16="http://schemas.microsoft.com/office/drawing/2014/main" id="{3AFE7C4E-5AE1-982E-B420-2F45E83AD595}"/>
              </a:ext>
            </a:extLst>
          </p:cNvPr>
          <p:cNvSpPr>
            <a:spLocks noGrp="1"/>
          </p:cNvSpPr>
          <p:nvPr>
            <p:ph type="sldNum" sz="quarter" idx="4"/>
          </p:nvPr>
        </p:nvSpPr>
        <p:spPr/>
        <p:txBody>
          <a:bodyPr/>
          <a:lstStyle/>
          <a:p>
            <a:fld id="{6DBC486D-4FAB-B746-8B02-8D7C842291C6}" type="slidenum">
              <a:rPr lang="en-US" smtClean="0"/>
              <a:pPr/>
              <a:t>5</a:t>
            </a:fld>
            <a:endParaRPr lang="en-US"/>
          </a:p>
        </p:txBody>
      </p:sp>
      <p:graphicFrame>
        <p:nvGraphicFramePr>
          <p:cNvPr id="18" name="Content Placeholder 10">
            <a:extLst>
              <a:ext uri="{FF2B5EF4-FFF2-40B4-BE49-F238E27FC236}">
                <a16:creationId xmlns:a16="http://schemas.microsoft.com/office/drawing/2014/main" id="{A079B282-1937-A2D6-C704-F18ED1CC06B7}"/>
              </a:ext>
            </a:extLst>
          </p:cNvPr>
          <p:cNvGraphicFramePr>
            <a:graphicFrameLocks/>
          </p:cNvGraphicFramePr>
          <p:nvPr>
            <p:extLst>
              <p:ext uri="{D42A27DB-BD31-4B8C-83A1-F6EECF244321}">
                <p14:modId xmlns:p14="http://schemas.microsoft.com/office/powerpoint/2010/main" val="4095255439"/>
              </p:ext>
            </p:extLst>
          </p:nvPr>
        </p:nvGraphicFramePr>
        <p:xfrm>
          <a:off x="3521709" y="1814286"/>
          <a:ext cx="7740000" cy="3718560"/>
        </p:xfrm>
        <a:graphic>
          <a:graphicData uri="http://schemas.openxmlformats.org/drawingml/2006/table">
            <a:tbl>
              <a:tblPr firstRow="1" bandRow="1">
                <a:tableStyleId>{5940675A-B579-460E-94D1-54222C63F5DA}</a:tableStyleId>
              </a:tblPr>
              <a:tblGrid>
                <a:gridCol w="1980000">
                  <a:extLst>
                    <a:ext uri="{9D8B030D-6E8A-4147-A177-3AD203B41FA5}">
                      <a16:colId xmlns:a16="http://schemas.microsoft.com/office/drawing/2014/main" val="3875149724"/>
                    </a:ext>
                  </a:extLst>
                </a:gridCol>
                <a:gridCol w="2880000">
                  <a:extLst>
                    <a:ext uri="{9D8B030D-6E8A-4147-A177-3AD203B41FA5}">
                      <a16:colId xmlns:a16="http://schemas.microsoft.com/office/drawing/2014/main" val="3340142111"/>
                    </a:ext>
                  </a:extLst>
                </a:gridCol>
                <a:gridCol w="2880000">
                  <a:extLst>
                    <a:ext uri="{9D8B030D-6E8A-4147-A177-3AD203B41FA5}">
                      <a16:colId xmlns:a16="http://schemas.microsoft.com/office/drawing/2014/main" val="1752699717"/>
                    </a:ext>
                  </a:extLst>
                </a:gridCol>
              </a:tblGrid>
              <a:tr h="0">
                <a:tc>
                  <a:txBody>
                    <a:bodyPr/>
                    <a:lstStyle/>
                    <a:p>
                      <a:pPr algn="l">
                        <a:spcBef>
                          <a:spcPts val="1000"/>
                        </a:spcBef>
                      </a:pPr>
                      <a:r>
                        <a:rPr lang="en-GB" sz="1400" b="1" i="0">
                          <a:solidFill>
                            <a:schemeClr val="bg1"/>
                          </a:solidFill>
                          <a:latin typeface="+mn-lt"/>
                          <a:cs typeface="Arial" panose="020B0604020202020204" pitchFamily="34" charset="0"/>
                        </a:rPr>
                        <a:t>Characteristic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lgn="l">
                        <a:spcBef>
                          <a:spcPts val="1000"/>
                        </a:spcBef>
                      </a:pPr>
                      <a:r>
                        <a:rPr lang="en-GB" sz="1400" b="1" i="1">
                          <a:solidFill>
                            <a:schemeClr val="bg1"/>
                          </a:solidFill>
                          <a:latin typeface="+mn-lt"/>
                        </a:rPr>
                        <a:t>LRRK2</a:t>
                      </a:r>
                      <a:r>
                        <a:rPr lang="en-GB" sz="1400" b="1">
                          <a:solidFill>
                            <a:schemeClr val="bg1"/>
                          </a:solidFill>
                          <a:latin typeface="+mn-lt"/>
                        </a:rPr>
                        <a:t>-associated PD</a:t>
                      </a:r>
                      <a:endParaRPr lang="en-GB" sz="1400" b="1" i="1">
                        <a:solidFill>
                          <a:schemeClr val="bg1"/>
                        </a:solidFill>
                        <a:latin typeface="+mn-lt"/>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lgn="l">
                        <a:spcBef>
                          <a:spcPts val="1000"/>
                        </a:spcBef>
                      </a:pPr>
                      <a:r>
                        <a:rPr lang="en-GB" sz="1400" b="1" i="1">
                          <a:solidFill>
                            <a:schemeClr val="bg1"/>
                          </a:solidFill>
                          <a:latin typeface="+mn-lt"/>
                        </a:rPr>
                        <a:t>GBA</a:t>
                      </a:r>
                      <a:r>
                        <a:rPr lang="en-GB" sz="1400" b="1">
                          <a:solidFill>
                            <a:schemeClr val="bg1"/>
                          </a:solidFill>
                          <a:latin typeface="+mn-lt"/>
                        </a:rPr>
                        <a:t>-associated PD</a:t>
                      </a:r>
                      <a:endParaRPr lang="en-GB" sz="1400" b="1" i="1">
                        <a:solidFill>
                          <a:schemeClr val="bg1"/>
                        </a:solidFill>
                        <a:latin typeface="+mn-lt"/>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75000"/>
                      </a:schemeClr>
                    </a:solidFill>
                  </a:tcPr>
                </a:tc>
                <a:extLst>
                  <a:ext uri="{0D108BD9-81ED-4DB2-BD59-A6C34878D82A}">
                    <a16:rowId xmlns:a16="http://schemas.microsoft.com/office/drawing/2014/main" val="595855716"/>
                  </a:ext>
                </a:extLst>
              </a:tr>
              <a:tr h="0">
                <a:tc>
                  <a:txBody>
                    <a:bodyPr/>
                    <a:lstStyle/>
                    <a:p>
                      <a:pPr marL="0" indent="0" algn="l">
                        <a:spcBef>
                          <a:spcPts val="1000"/>
                        </a:spcBef>
                        <a:buFont typeface="Arial" panose="020B0604020202020204" pitchFamily="34" charset="0"/>
                        <a:buNone/>
                      </a:pPr>
                      <a:r>
                        <a:rPr lang="en-GB" sz="1400">
                          <a:solidFill>
                            <a:schemeClr val="tx1"/>
                          </a:solidFill>
                          <a:latin typeface="+mn-lt"/>
                          <a:cs typeface="Arial" panose="020B0604020202020204" pitchFamily="34" charset="0"/>
                        </a:rPr>
                        <a:t>Prevalence in PD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indent="0" algn="l">
                        <a:spcBef>
                          <a:spcPts val="1000"/>
                        </a:spcBef>
                        <a:buFont typeface="Arial" panose="020B0604020202020204" pitchFamily="34" charset="0"/>
                        <a:buNone/>
                      </a:pPr>
                      <a:r>
                        <a:rPr lang="en-GB" sz="1400">
                          <a:solidFill>
                            <a:schemeClr val="tx1"/>
                          </a:solidFill>
                          <a:latin typeface="+mn-lt"/>
                          <a:cs typeface="Arial" panose="020B0604020202020204" pitchFamily="34" charset="0"/>
                        </a:rPr>
                        <a:t>0–39%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indent="0" algn="l">
                        <a:spcBef>
                          <a:spcPts val="1000"/>
                        </a:spcBef>
                        <a:buFont typeface="Arial" panose="020B0604020202020204" pitchFamily="34" charset="0"/>
                        <a:buNone/>
                      </a:pPr>
                      <a:r>
                        <a:rPr lang="en-GB" sz="1400" b="0" i="0" u="none" strike="noStrike" kern="1200" baseline="0">
                          <a:solidFill>
                            <a:schemeClr val="tx1"/>
                          </a:solidFill>
                          <a:latin typeface="+mn-lt"/>
                          <a:ea typeface="ＭＳ Ｐゴシック" pitchFamily="34" charset="-128"/>
                          <a:cs typeface="Arial" panose="020B0604020202020204" pitchFamily="34" charset="0"/>
                        </a:rPr>
                        <a:t>5–20%</a:t>
                      </a:r>
                    </a:p>
                  </a:txBody>
                  <a:tcP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1694631"/>
                  </a:ext>
                </a:extLst>
              </a:tr>
              <a:tr h="0">
                <a:tc>
                  <a:txBody>
                    <a:bodyPr/>
                    <a:lstStyle/>
                    <a:p>
                      <a:pPr marL="0" indent="0" algn="l">
                        <a:spcBef>
                          <a:spcPts val="1000"/>
                        </a:spcBef>
                        <a:buFont typeface="Arial" panose="020B0604020202020204" pitchFamily="34" charset="0"/>
                        <a:buNone/>
                      </a:pPr>
                      <a:r>
                        <a:rPr lang="en-GB" sz="1400">
                          <a:solidFill>
                            <a:schemeClr val="tx1"/>
                          </a:solidFill>
                          <a:latin typeface="+mn-lt"/>
                          <a:cs typeface="Arial" panose="020B0604020202020204" pitchFamily="34" charset="0"/>
                        </a:rPr>
                        <a:t>Lewy body pathology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0" indent="0" algn="l">
                        <a:spcBef>
                          <a:spcPts val="1000"/>
                        </a:spcBef>
                        <a:buFont typeface="Arial" panose="020B0604020202020204" pitchFamily="34" charset="0"/>
                        <a:buNone/>
                      </a:pPr>
                      <a:r>
                        <a:rPr lang="en-GB" sz="1400">
                          <a:solidFill>
                            <a:schemeClr val="tx1"/>
                          </a:solidFill>
                          <a:latin typeface="+mn-lt"/>
                          <a:cs typeface="Arial" panose="020B0604020202020204" pitchFamily="34" charset="0"/>
                        </a:rPr>
                        <a:t>Less prevalent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0" indent="0" algn="l">
                        <a:spcBef>
                          <a:spcPts val="1000"/>
                        </a:spcBef>
                        <a:buFont typeface="Arial" panose="020B0604020202020204" pitchFamily="34" charset="0"/>
                        <a:buNone/>
                      </a:pPr>
                      <a:r>
                        <a:rPr lang="en-GB" sz="1400" b="0" i="0" u="none" strike="noStrike" kern="1200" baseline="0">
                          <a:solidFill>
                            <a:schemeClr val="tx1"/>
                          </a:solidFill>
                          <a:latin typeface="+mn-lt"/>
                          <a:ea typeface="ＭＳ Ｐゴシック" pitchFamily="34" charset="-128"/>
                          <a:cs typeface="Arial" panose="020B0604020202020204" pitchFamily="34" charset="0"/>
                        </a:rPr>
                        <a:t>More prevalent</a:t>
                      </a:r>
                    </a:p>
                  </a:txBody>
                  <a:tcP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43884748"/>
                  </a:ext>
                </a:extLst>
              </a:tr>
              <a:tr h="0">
                <a:tc>
                  <a:txBody>
                    <a:bodyPr/>
                    <a:lstStyle/>
                    <a:p>
                      <a:pPr marL="0" indent="0" algn="l">
                        <a:spcBef>
                          <a:spcPts val="1000"/>
                        </a:spcBef>
                        <a:buFont typeface="Arial" panose="020B0604020202020204" pitchFamily="34" charset="0"/>
                        <a:buNone/>
                      </a:pPr>
                      <a:r>
                        <a:rPr lang="en-GB" sz="1400">
                          <a:solidFill>
                            <a:schemeClr val="tx1"/>
                          </a:solidFill>
                          <a:latin typeface="+mn-lt"/>
                          <a:cs typeface="Arial" panose="020B0604020202020204" pitchFamily="34" charset="0"/>
                        </a:rPr>
                        <a:t>Motor symptoms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indent="0" algn="l">
                        <a:spcBef>
                          <a:spcPts val="1000"/>
                        </a:spcBef>
                        <a:buFont typeface="Arial" panose="020B0604020202020204" pitchFamily="34" charset="0"/>
                        <a:buNone/>
                      </a:pPr>
                      <a:r>
                        <a:rPr lang="en-GB" sz="1400">
                          <a:solidFill>
                            <a:schemeClr val="tx1"/>
                          </a:solidFill>
                          <a:latin typeface="+mn-lt"/>
                          <a:cs typeface="Arial" panose="020B0604020202020204" pitchFamily="34" charset="0"/>
                        </a:rPr>
                        <a:t>Comparable or less prevalent motor features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indent="0" algn="l">
                        <a:spcBef>
                          <a:spcPts val="1000"/>
                        </a:spcBef>
                        <a:buFont typeface="Arial" panose="020B0604020202020204" pitchFamily="34" charset="0"/>
                        <a:buNone/>
                      </a:pPr>
                      <a:r>
                        <a:rPr lang="en-GB" sz="1400" b="0" i="0" u="none" strike="noStrike" kern="1200" baseline="0">
                          <a:solidFill>
                            <a:schemeClr val="tx1"/>
                          </a:solidFill>
                          <a:latin typeface="+mn-lt"/>
                          <a:ea typeface="ＭＳ Ｐゴシック" pitchFamily="34" charset="-128"/>
                          <a:cs typeface="Arial" panose="020B0604020202020204" pitchFamily="34" charset="0"/>
                        </a:rPr>
                        <a:t>Comparable motor features but with faster progression, and more frequent dyskinesia and motor fluctuations </a:t>
                      </a:r>
                    </a:p>
                  </a:txBody>
                  <a:tcP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7657158"/>
                  </a:ext>
                </a:extLst>
              </a:tr>
              <a:tr h="0">
                <a:tc>
                  <a:txBody>
                    <a:bodyPr/>
                    <a:lstStyle/>
                    <a:p>
                      <a:pPr marL="0" indent="0" algn="l">
                        <a:spcBef>
                          <a:spcPts val="1000"/>
                        </a:spcBef>
                        <a:buFont typeface="Arial" panose="020B0604020202020204" pitchFamily="34" charset="0"/>
                        <a:buNone/>
                      </a:pPr>
                      <a:r>
                        <a:rPr lang="en-GB" sz="1400">
                          <a:solidFill>
                            <a:schemeClr val="tx1"/>
                          </a:solidFill>
                          <a:latin typeface="+mn-lt"/>
                          <a:cs typeface="Arial" panose="020B0604020202020204" pitchFamily="34" charset="0"/>
                        </a:rPr>
                        <a:t>Cognitive symptoms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0" indent="0" algn="l">
                        <a:spcBef>
                          <a:spcPts val="1000"/>
                        </a:spcBef>
                        <a:buFont typeface="Arial" panose="020B0604020202020204" pitchFamily="34" charset="0"/>
                        <a:buNone/>
                      </a:pPr>
                      <a:r>
                        <a:rPr lang="en-GB" sz="1400">
                          <a:solidFill>
                            <a:schemeClr val="tx1"/>
                          </a:solidFill>
                          <a:latin typeface="+mn-lt"/>
                          <a:cs typeface="Arial" panose="020B0604020202020204" pitchFamily="34" charset="0"/>
                        </a:rPr>
                        <a:t>Less prevalent, less severe, with later onset and less prevalent dementia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0" indent="0" algn="l">
                        <a:spcBef>
                          <a:spcPts val="1000"/>
                        </a:spcBef>
                        <a:buFont typeface="Arial" panose="020B0604020202020204" pitchFamily="34" charset="0"/>
                        <a:buNone/>
                      </a:pPr>
                      <a:r>
                        <a:rPr lang="en-GB" sz="1400" b="0" i="0" u="none" strike="noStrike" kern="1200" baseline="0">
                          <a:solidFill>
                            <a:schemeClr val="tx1"/>
                          </a:solidFill>
                          <a:latin typeface="+mn-lt"/>
                          <a:ea typeface="ＭＳ Ｐゴシック" pitchFamily="34" charset="-128"/>
                          <a:cs typeface="Arial" panose="020B0604020202020204" pitchFamily="34" charset="0"/>
                        </a:rPr>
                        <a:t>More prevalent, more severe, with faster progression and higher frequency of dementia</a:t>
                      </a:r>
                    </a:p>
                  </a:txBody>
                  <a:tcP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901796351"/>
                  </a:ext>
                </a:extLst>
              </a:tr>
              <a:tr h="0">
                <a:tc>
                  <a:txBody>
                    <a:bodyPr/>
                    <a:lstStyle/>
                    <a:p>
                      <a:pPr marL="0" indent="0" algn="l">
                        <a:spcBef>
                          <a:spcPts val="1000"/>
                        </a:spcBef>
                        <a:buFont typeface="Arial" panose="020B0604020202020204" pitchFamily="34" charset="0"/>
                        <a:buNone/>
                      </a:pPr>
                      <a:r>
                        <a:rPr lang="en-GB" sz="1400">
                          <a:solidFill>
                            <a:schemeClr val="tx1"/>
                          </a:solidFill>
                          <a:latin typeface="+mn-lt"/>
                          <a:cs typeface="Arial" panose="020B0604020202020204" pitchFamily="34" charset="0"/>
                        </a:rPr>
                        <a:t>Psychiatric symptoms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indent="0" algn="l">
                        <a:spcBef>
                          <a:spcPts val="1000"/>
                        </a:spcBef>
                        <a:buFont typeface="Arial" panose="020B0604020202020204" pitchFamily="34" charset="0"/>
                        <a:buNone/>
                      </a:pPr>
                      <a:r>
                        <a:rPr lang="en-GB" sz="1400">
                          <a:solidFill>
                            <a:schemeClr val="tx1"/>
                          </a:solidFill>
                          <a:latin typeface="+mn-lt"/>
                          <a:cs typeface="Arial" panose="020B0604020202020204" pitchFamily="34" charset="0"/>
                        </a:rPr>
                        <a:t>Less prevalent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indent="0" algn="l">
                        <a:spcBef>
                          <a:spcPts val="1000"/>
                        </a:spcBef>
                        <a:buFont typeface="Arial" panose="020B0604020202020204" pitchFamily="34" charset="0"/>
                        <a:buNone/>
                      </a:pPr>
                      <a:r>
                        <a:rPr lang="en-GB" sz="1400" b="0" i="0" u="none" strike="noStrike" kern="1200" baseline="0">
                          <a:solidFill>
                            <a:schemeClr val="tx1"/>
                          </a:solidFill>
                          <a:latin typeface="+mn-lt"/>
                          <a:ea typeface="ＭＳ Ｐゴシック" pitchFamily="34" charset="-128"/>
                          <a:cs typeface="Arial" panose="020B0604020202020204" pitchFamily="34" charset="0"/>
                        </a:rPr>
                        <a:t>More prevalent</a:t>
                      </a:r>
                    </a:p>
                  </a:txBody>
                  <a:tcP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97421769"/>
                  </a:ext>
                </a:extLst>
              </a:tr>
              <a:tr h="0">
                <a:tc>
                  <a:txBody>
                    <a:bodyPr/>
                    <a:lstStyle/>
                    <a:p>
                      <a:pPr marL="0" indent="0" algn="l">
                        <a:spcBef>
                          <a:spcPts val="1000"/>
                        </a:spcBef>
                        <a:buFont typeface="Arial" panose="020B0604020202020204" pitchFamily="34" charset="0"/>
                        <a:buNone/>
                      </a:pPr>
                      <a:r>
                        <a:rPr lang="en-GB" sz="1400">
                          <a:solidFill>
                            <a:schemeClr val="tx1"/>
                          </a:solidFill>
                          <a:latin typeface="+mn-lt"/>
                          <a:cs typeface="Arial" panose="020B0604020202020204" pitchFamily="34" charset="0"/>
                        </a:rPr>
                        <a:t>Disease onset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sz="1400" b="0" i="0" u="none" strike="noStrike" kern="1200" baseline="0" dirty="0">
                          <a:solidFill>
                            <a:schemeClr val="tx1"/>
                          </a:solidFill>
                          <a:latin typeface="+mn-lt"/>
                          <a:ea typeface="ＭＳ Ｐゴシック" pitchFamily="34" charset="-128"/>
                          <a:cs typeface="Arial" panose="020B0604020202020204" pitchFamily="34" charset="0"/>
                        </a:rPr>
                        <a:t>Comparable or slightly earlier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0" indent="0" algn="l">
                        <a:spcBef>
                          <a:spcPts val="1000"/>
                        </a:spcBef>
                        <a:buFont typeface="Arial" panose="020B0604020202020204" pitchFamily="34" charset="0"/>
                        <a:buNone/>
                      </a:pPr>
                      <a:r>
                        <a:rPr lang="en-GB" sz="1400" b="0" i="0" u="none" strike="noStrike" kern="1200" baseline="0">
                          <a:solidFill>
                            <a:schemeClr val="tx1"/>
                          </a:solidFill>
                          <a:latin typeface="+mn-lt"/>
                          <a:ea typeface="ＭＳ Ｐゴシック" pitchFamily="34" charset="-128"/>
                          <a:cs typeface="Arial" panose="020B0604020202020204" pitchFamily="34" charset="0"/>
                        </a:rPr>
                        <a:t>Earlier</a:t>
                      </a:r>
                    </a:p>
                  </a:txBody>
                  <a:tcP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483181547"/>
                  </a:ext>
                </a:extLst>
              </a:tr>
              <a:tr h="0">
                <a:tc>
                  <a:txBody>
                    <a:bodyPr/>
                    <a:lstStyle/>
                    <a:p>
                      <a:pPr marL="0" indent="0" algn="l">
                        <a:spcBef>
                          <a:spcPts val="1000"/>
                        </a:spcBef>
                        <a:buFont typeface="Arial" panose="020B0604020202020204" pitchFamily="34" charset="0"/>
                        <a:buNone/>
                      </a:pPr>
                      <a:r>
                        <a:rPr lang="en-GB" sz="1400">
                          <a:solidFill>
                            <a:schemeClr val="tx1"/>
                          </a:solidFill>
                          <a:latin typeface="+mn-lt"/>
                          <a:cs typeface="Arial" panose="020B0604020202020204" pitchFamily="34" charset="0"/>
                        </a:rPr>
                        <a:t>Overall disease progression</a:t>
                      </a:r>
                    </a:p>
                  </a:txBody>
                  <a:tcP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spcBef>
                          <a:spcPts val="1000"/>
                        </a:spcBef>
                        <a:buFont typeface="Arial" panose="020B0604020202020204" pitchFamily="34" charset="0"/>
                        <a:buNone/>
                      </a:pPr>
                      <a:r>
                        <a:rPr lang="en-GB" sz="1400">
                          <a:solidFill>
                            <a:schemeClr val="tx1"/>
                          </a:solidFill>
                          <a:latin typeface="+mn-lt"/>
                          <a:cs typeface="Arial" panose="020B0604020202020204" pitchFamily="34" charset="0"/>
                        </a:rPr>
                        <a:t>Slower</a:t>
                      </a:r>
                    </a:p>
                  </a:txBody>
                  <a:tcP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spcBef>
                          <a:spcPts val="1000"/>
                        </a:spcBef>
                        <a:buFont typeface="Arial" panose="020B0604020202020204" pitchFamily="34" charset="0"/>
                        <a:buNone/>
                      </a:pPr>
                      <a:r>
                        <a:rPr lang="en-GB" sz="1400" b="0" i="0" u="none" strike="noStrike" kern="1200" baseline="0" dirty="0">
                          <a:solidFill>
                            <a:schemeClr val="tx1"/>
                          </a:solidFill>
                          <a:latin typeface="+mn-lt"/>
                          <a:ea typeface="ＭＳ Ｐゴシック" pitchFamily="34" charset="-128"/>
                          <a:cs typeface="Arial" panose="020B0604020202020204" pitchFamily="34" charset="0"/>
                        </a:rPr>
                        <a:t>Faster</a:t>
                      </a:r>
                    </a:p>
                  </a:txBody>
                  <a:tcPr horzOverflow="overflow">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27125570"/>
                  </a:ext>
                </a:extLst>
              </a:tr>
            </a:tbl>
          </a:graphicData>
        </a:graphic>
      </p:graphicFrame>
      <p:sp>
        <p:nvSpPr>
          <p:cNvPr id="21" name="Content Placeholder 20">
            <a:extLst>
              <a:ext uri="{FF2B5EF4-FFF2-40B4-BE49-F238E27FC236}">
                <a16:creationId xmlns:a16="http://schemas.microsoft.com/office/drawing/2014/main" id="{1061F9A2-1F1D-7365-A267-D7DD6EC96270}"/>
              </a:ext>
            </a:extLst>
          </p:cNvPr>
          <p:cNvSpPr>
            <a:spLocks noGrp="1"/>
          </p:cNvSpPr>
          <p:nvPr>
            <p:ph sz="half" idx="21"/>
          </p:nvPr>
        </p:nvSpPr>
        <p:spPr/>
        <p:txBody>
          <a:bodyPr/>
          <a:lstStyle/>
          <a:p>
            <a:pPr marL="0" indent="0">
              <a:buNone/>
            </a:pPr>
            <a:r>
              <a:rPr lang="en-GB" dirty="0"/>
              <a:t>As several different genes have been linked to PD, the disease is known to have a genetic component</a:t>
            </a:r>
            <a:r>
              <a:rPr lang="en-GB" baseline="30000" dirty="0"/>
              <a:t>1,2</a:t>
            </a:r>
            <a:endParaRPr lang="en-GB" dirty="0"/>
          </a:p>
          <a:p>
            <a:pPr marL="0" indent="0">
              <a:buNone/>
            </a:pPr>
            <a:r>
              <a:rPr lang="en-GB" dirty="0"/>
              <a:t>Mutations in </a:t>
            </a:r>
            <a:r>
              <a:rPr lang="en-GB" i="1" dirty="0"/>
              <a:t>LRRK2</a:t>
            </a:r>
            <a:r>
              <a:rPr lang="en-GB" dirty="0"/>
              <a:t> and </a:t>
            </a:r>
            <a:r>
              <a:rPr lang="en-GB" i="1" dirty="0"/>
              <a:t>GBA</a:t>
            </a:r>
            <a:r>
              <a:rPr lang="en-GB" dirty="0"/>
              <a:t> are the most common genetic causes of PD, and people with these forms of PD tend to experience a disease with a different course compared with those with sporadic PD</a:t>
            </a:r>
            <a:r>
              <a:rPr lang="en-GB" baseline="30000" dirty="0"/>
              <a:t>1</a:t>
            </a:r>
            <a:endParaRPr lang="en-GB" dirty="0"/>
          </a:p>
        </p:txBody>
      </p:sp>
      <p:sp>
        <p:nvSpPr>
          <p:cNvPr id="22" name="TextBox 21">
            <a:extLst>
              <a:ext uri="{FF2B5EF4-FFF2-40B4-BE49-F238E27FC236}">
                <a16:creationId xmlns:a16="http://schemas.microsoft.com/office/drawing/2014/main" id="{3354F847-0A19-F58F-E294-8CC41E3A1A96}"/>
              </a:ext>
            </a:extLst>
          </p:cNvPr>
          <p:cNvSpPr txBox="1"/>
          <p:nvPr/>
        </p:nvSpPr>
        <p:spPr>
          <a:xfrm>
            <a:off x="4430002" y="1445014"/>
            <a:ext cx="5923416" cy="307777"/>
          </a:xfrm>
          <a:prstGeom prst="rect">
            <a:avLst/>
          </a:prstGeom>
          <a:noFill/>
        </p:spPr>
        <p:txBody>
          <a:bodyPr wrap="none" rtlCol="0">
            <a:spAutoFit/>
          </a:bodyPr>
          <a:lstStyle/>
          <a:p>
            <a:pPr algn="ctr"/>
            <a:r>
              <a:rPr lang="en-GB" sz="1400" b="1">
                <a:solidFill>
                  <a:schemeClr val="accent5">
                    <a:lumMod val="50000"/>
                  </a:schemeClr>
                </a:solidFill>
              </a:rPr>
              <a:t>Comparison of </a:t>
            </a:r>
            <a:r>
              <a:rPr lang="en-GB" sz="1400" b="1" i="1">
                <a:solidFill>
                  <a:schemeClr val="accent5">
                    <a:lumMod val="50000"/>
                  </a:schemeClr>
                </a:solidFill>
              </a:rPr>
              <a:t>LRRK2-</a:t>
            </a:r>
            <a:r>
              <a:rPr lang="en-GB" sz="1400" b="1">
                <a:solidFill>
                  <a:schemeClr val="accent5">
                    <a:lumMod val="50000"/>
                  </a:schemeClr>
                </a:solidFill>
              </a:rPr>
              <a:t> and </a:t>
            </a:r>
            <a:r>
              <a:rPr lang="en-GB" sz="1400" b="1" i="1">
                <a:solidFill>
                  <a:schemeClr val="accent5">
                    <a:lumMod val="50000"/>
                  </a:schemeClr>
                </a:solidFill>
              </a:rPr>
              <a:t>GBA</a:t>
            </a:r>
            <a:r>
              <a:rPr lang="en-GB" sz="1400" b="1">
                <a:solidFill>
                  <a:schemeClr val="accent5">
                    <a:lumMod val="50000"/>
                  </a:schemeClr>
                </a:solidFill>
              </a:rPr>
              <a:t>-associated PD with sporadic PD</a:t>
            </a:r>
            <a:r>
              <a:rPr lang="en-GB" sz="1400" b="1" baseline="30000">
                <a:solidFill>
                  <a:schemeClr val="accent5">
                    <a:lumMod val="50000"/>
                  </a:schemeClr>
                </a:solidFill>
              </a:rPr>
              <a:t>1,2</a:t>
            </a:r>
            <a:endParaRPr lang="en-GB" sz="1400" b="1">
              <a:solidFill>
                <a:schemeClr val="accent5">
                  <a:lumMod val="50000"/>
                </a:schemeClr>
              </a:solidFill>
            </a:endParaRPr>
          </a:p>
        </p:txBody>
      </p:sp>
    </p:spTree>
    <p:extLst>
      <p:ext uri="{BB962C8B-B14F-4D97-AF65-F5344CB8AC3E}">
        <p14:creationId xmlns:p14="http://schemas.microsoft.com/office/powerpoint/2010/main" val="1004024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medical information&#10;&#10;Description automatically generated">
            <a:extLst>
              <a:ext uri="{FF2B5EF4-FFF2-40B4-BE49-F238E27FC236}">
                <a16:creationId xmlns:a16="http://schemas.microsoft.com/office/drawing/2014/main" id="{C9F7704F-A730-692B-8C12-3BFAD3B28EC6}"/>
              </a:ext>
            </a:extLst>
          </p:cNvPr>
          <p:cNvPicPr>
            <a:picLocks noChangeAspect="1"/>
          </p:cNvPicPr>
          <p:nvPr/>
        </p:nvPicPr>
        <p:blipFill>
          <a:blip r:embed="rId4"/>
          <a:srcRect l="32451" t="29367" r="9400" b="10195"/>
          <a:stretch/>
        </p:blipFill>
        <p:spPr>
          <a:xfrm>
            <a:off x="3251075" y="1313004"/>
            <a:ext cx="8670925" cy="5287025"/>
          </a:xfrm>
          <a:prstGeom prst="rect">
            <a:avLst/>
          </a:prstGeom>
        </p:spPr>
      </p:pic>
      <p:sp>
        <p:nvSpPr>
          <p:cNvPr id="229" name="Text Placeholder 228"/>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226" name="Title 225"/>
          <p:cNvSpPr>
            <a:spLocks noGrp="1"/>
          </p:cNvSpPr>
          <p:nvPr>
            <p:ph type="title"/>
          </p:nvPr>
        </p:nvSpPr>
        <p:spPr/>
        <p:txBody>
          <a:bodyPr/>
          <a:lstStyle/>
          <a:p>
            <a:r>
              <a:rPr lang="en-GB" sz="2200" dirty="0"/>
              <a:t>Thresholds for the appearance of Parkinson’s disease symptoms</a:t>
            </a:r>
          </a:p>
        </p:txBody>
      </p:sp>
      <p:sp>
        <p:nvSpPr>
          <p:cNvPr id="5" name="Content Placeholder 4">
            <a:extLst>
              <a:ext uri="{FF2B5EF4-FFF2-40B4-BE49-F238E27FC236}">
                <a16:creationId xmlns:a16="http://schemas.microsoft.com/office/drawing/2014/main" id="{2259AE5E-2EF0-56E6-EC4E-AE5CE58951C0}"/>
              </a:ext>
            </a:extLst>
          </p:cNvPr>
          <p:cNvSpPr>
            <a:spLocks noGrp="1"/>
          </p:cNvSpPr>
          <p:nvPr>
            <p:ph sz="half" idx="21"/>
          </p:nvPr>
        </p:nvSpPr>
        <p:spPr/>
        <p:txBody>
          <a:bodyPr/>
          <a:lstStyle/>
          <a:p>
            <a:r>
              <a:rPr lang="en-US" dirty="0"/>
              <a:t>PD is hypothesized to progress in six neuropathological stages; all of the affected neurons eventually develop Lewy pathology, but, despite the presence of inclusion bodies, some neurons survive for a long period of time</a:t>
            </a:r>
            <a:endParaRPr lang="en-US" baseline="30000" dirty="0"/>
          </a:p>
        </p:txBody>
      </p:sp>
      <p:sp>
        <p:nvSpPr>
          <p:cNvPr id="2" name="Text Placeholder 1">
            <a:extLst>
              <a:ext uri="{FF2B5EF4-FFF2-40B4-BE49-F238E27FC236}">
                <a16:creationId xmlns:a16="http://schemas.microsoft.com/office/drawing/2014/main" id="{0F6FBFC2-A421-4EC2-B603-7E9B1872B130}"/>
              </a:ext>
            </a:extLst>
          </p:cNvPr>
          <p:cNvSpPr>
            <a:spLocks noGrp="1"/>
          </p:cNvSpPr>
          <p:nvPr>
            <p:ph type="body" sz="quarter" idx="18"/>
          </p:nvPr>
        </p:nvSpPr>
        <p:spPr/>
        <p:txBody>
          <a:bodyPr/>
          <a:lstStyle/>
          <a:p>
            <a:pPr marL="0" indent="0">
              <a:buNone/>
            </a:pPr>
            <a:r>
              <a:rPr lang="en-GB" dirty="0"/>
              <a:t>PD=Parkinson’s disease</a:t>
            </a:r>
          </a:p>
          <a:p>
            <a:pPr marL="0" indent="0">
              <a:buNone/>
            </a:pPr>
            <a:endParaRPr lang="en-GB" dirty="0"/>
          </a:p>
          <a:p>
            <a:pPr marL="0" indent="0">
              <a:buNone/>
            </a:pPr>
            <a:r>
              <a:rPr lang="en-GB" dirty="0"/>
              <a:t>Adapted from: </a:t>
            </a:r>
            <a:r>
              <a:rPr lang="en-GB" dirty="0" err="1"/>
              <a:t>Braak</a:t>
            </a:r>
            <a:r>
              <a:rPr lang="en-GB" dirty="0"/>
              <a:t> et al. Cell Tissue Res 2004;318(1):121–134; </a:t>
            </a:r>
            <a:br>
              <a:rPr lang="en-GB" dirty="0"/>
            </a:br>
            <a:r>
              <a:rPr lang="en-GB" dirty="0"/>
              <a:t>Halliday et al. Pathology of Parkinson’s disease. In: Wolters &amp; Baumann (eds). Parkinson Disease and Other Movement Disorders. 2014</a:t>
            </a:r>
          </a:p>
        </p:txBody>
      </p:sp>
      <p:sp>
        <p:nvSpPr>
          <p:cNvPr id="4" name="Slide Number Placeholder 3"/>
          <p:cNvSpPr>
            <a:spLocks noGrp="1"/>
          </p:cNvSpPr>
          <p:nvPr>
            <p:ph type="sldNum" sz="quarter" idx="4"/>
          </p:nvPr>
        </p:nvSpPr>
        <p:spPr/>
        <p:txBody>
          <a:bodyPr/>
          <a:lstStyle/>
          <a:p>
            <a:fld id="{6DBC486D-4FAB-B746-8B02-8D7C842291C6}" type="slidenum">
              <a:rPr lang="en-GB" smtClean="0"/>
              <a:pPr/>
              <a:t>6</a:t>
            </a:fld>
            <a:endParaRPr lang="en-GB"/>
          </a:p>
        </p:txBody>
      </p:sp>
    </p:spTree>
    <p:custDataLst>
      <p:tags r:id="rId1"/>
    </p:custDataLst>
    <p:extLst>
      <p:ext uri="{BB962C8B-B14F-4D97-AF65-F5344CB8AC3E}">
        <p14:creationId xmlns:p14="http://schemas.microsoft.com/office/powerpoint/2010/main" val="3323753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2" name="Title 1"/>
          <p:cNvSpPr>
            <a:spLocks noGrp="1"/>
          </p:cNvSpPr>
          <p:nvPr>
            <p:ph type="title"/>
          </p:nvPr>
        </p:nvSpPr>
        <p:spPr/>
        <p:txBody>
          <a:bodyPr/>
          <a:lstStyle/>
          <a:p>
            <a:r>
              <a:rPr lang="en-GB"/>
              <a:t>The therapeutic benefits of modifying the disease course</a:t>
            </a:r>
          </a:p>
        </p:txBody>
      </p:sp>
      <p:sp>
        <p:nvSpPr>
          <p:cNvPr id="42" name="Content Placeholder 41"/>
          <p:cNvSpPr>
            <a:spLocks noGrp="1"/>
          </p:cNvSpPr>
          <p:nvPr>
            <p:ph idx="20"/>
          </p:nvPr>
        </p:nvSpPr>
        <p:spPr/>
        <p:txBody>
          <a:bodyPr>
            <a:normAutofit/>
          </a:bodyPr>
          <a:lstStyle/>
          <a:p>
            <a:r>
              <a:rPr lang="en-GB" sz="2000" dirty="0"/>
              <a:t>There is an unmet need for PD therapies which modify the disease course</a:t>
            </a:r>
            <a:r>
              <a:rPr lang="en-GB" sz="2000" baseline="30000" dirty="0"/>
              <a:t>1,2</a:t>
            </a:r>
          </a:p>
          <a:p>
            <a:r>
              <a:rPr lang="en-GB" sz="2000" dirty="0"/>
              <a:t>No drug has yet been proven to be neuroprotective in PD, although several drug candidates have been tested in clinical trials</a:t>
            </a:r>
            <a:r>
              <a:rPr lang="en-GB" sz="2000" baseline="30000" dirty="0"/>
              <a:t>1-4</a:t>
            </a:r>
          </a:p>
          <a:p>
            <a:r>
              <a:rPr lang="en-GB" sz="2000" dirty="0"/>
              <a:t>Such a strategy will only be successful if degeneration is ameliorated in multiple neurotransmitter systems, preventing the progression of both motor and non-motor features</a:t>
            </a:r>
            <a:r>
              <a:rPr lang="en-GB" sz="2000" baseline="30000" dirty="0"/>
              <a:t>1</a:t>
            </a:r>
          </a:p>
        </p:txBody>
      </p:sp>
      <p:sp>
        <p:nvSpPr>
          <p:cNvPr id="50" name="Content Placeholder 49"/>
          <p:cNvSpPr>
            <a:spLocks noGrp="1"/>
          </p:cNvSpPr>
          <p:nvPr>
            <p:ph idx="21"/>
          </p:nvPr>
        </p:nvSpPr>
        <p:spPr/>
        <p:txBody>
          <a:bodyPr>
            <a:normAutofit/>
          </a:bodyPr>
          <a:lstStyle/>
          <a:p>
            <a:pPr marL="0" indent="0" algn="ctr">
              <a:buNone/>
            </a:pPr>
            <a:r>
              <a:rPr lang="en-GB" sz="1600" b="1" dirty="0">
                <a:solidFill>
                  <a:schemeClr val="accent2">
                    <a:lumMod val="50000"/>
                  </a:schemeClr>
                </a:solidFill>
              </a:rPr>
              <a:t>Disease modification in PD</a:t>
            </a:r>
            <a:r>
              <a:rPr lang="en-GB" sz="1600" b="1" baseline="30000" dirty="0">
                <a:solidFill>
                  <a:schemeClr val="accent2">
                    <a:lumMod val="50000"/>
                  </a:schemeClr>
                </a:solidFill>
              </a:rPr>
              <a:t>1,2</a:t>
            </a:r>
          </a:p>
        </p:txBody>
      </p:sp>
      <p:sp>
        <p:nvSpPr>
          <p:cNvPr id="3" name="Text Placeholder 2">
            <a:extLst>
              <a:ext uri="{FF2B5EF4-FFF2-40B4-BE49-F238E27FC236}">
                <a16:creationId xmlns:a16="http://schemas.microsoft.com/office/drawing/2014/main" id="{2E5102A3-409F-4B95-9DD5-0E6D3A2C10CD}"/>
              </a:ext>
            </a:extLst>
          </p:cNvPr>
          <p:cNvSpPr>
            <a:spLocks noGrp="1"/>
          </p:cNvSpPr>
          <p:nvPr>
            <p:ph type="body" sz="quarter" idx="18"/>
          </p:nvPr>
        </p:nvSpPr>
        <p:spPr/>
        <p:txBody>
          <a:bodyPr/>
          <a:lstStyle/>
          <a:p>
            <a:r>
              <a:rPr lang="en-GB"/>
              <a:t>PD=Parkinson’s disease</a:t>
            </a:r>
          </a:p>
          <a:p>
            <a:endParaRPr lang="en-GB"/>
          </a:p>
          <a:p>
            <a:r>
              <a:rPr lang="en-GB"/>
              <a:t>1. </a:t>
            </a:r>
            <a:r>
              <a:rPr lang="en-GB" err="1"/>
              <a:t>Schapira</a:t>
            </a:r>
            <a:r>
              <a:rPr lang="en-GB"/>
              <a:t> et al. Nat Rev Drug Discovery 2006;5</a:t>
            </a:r>
            <a:r>
              <a:rPr lang="en-GB">
                <a:sym typeface="Wingdings" panose="05000000000000000000" pitchFamily="2" charset="2"/>
              </a:rPr>
              <a:t>(10):</a:t>
            </a:r>
            <a:r>
              <a:rPr lang="en-GB"/>
              <a:t>845–854; 2. </a:t>
            </a:r>
            <a:r>
              <a:rPr lang="en-GB" err="1"/>
              <a:t>Athauda</a:t>
            </a:r>
            <a:r>
              <a:rPr lang="en-GB"/>
              <a:t> &amp; </a:t>
            </a:r>
            <a:r>
              <a:rPr lang="en-GB" err="1"/>
              <a:t>Foltynie</a:t>
            </a:r>
            <a:r>
              <a:rPr lang="en-GB"/>
              <a:t>. Nat Rev </a:t>
            </a:r>
            <a:r>
              <a:rPr lang="en-GB" err="1"/>
              <a:t>Neurol</a:t>
            </a:r>
            <a:r>
              <a:rPr lang="en-GB"/>
              <a:t> 2015;11(1):25–40;</a:t>
            </a:r>
            <a:br>
              <a:rPr lang="en-GB"/>
            </a:br>
            <a:r>
              <a:rPr lang="en-GB"/>
              <a:t>3. </a:t>
            </a:r>
            <a:r>
              <a:rPr lang="en-GB" err="1"/>
              <a:t>McFarthing</a:t>
            </a:r>
            <a:r>
              <a:rPr lang="en-GB"/>
              <a:t> et al. J </a:t>
            </a:r>
            <a:r>
              <a:rPr lang="en-GB" err="1"/>
              <a:t>Parkinsons</a:t>
            </a:r>
            <a:r>
              <a:rPr lang="en-GB"/>
              <a:t> Dis 2023;13(4):427–439; 4. Stoker &amp; Barker. F1000Res 2020;9:F1000</a:t>
            </a:r>
          </a:p>
        </p:txBody>
      </p:sp>
      <p:sp>
        <p:nvSpPr>
          <p:cNvPr id="4" name="Slide Number Placeholder 3"/>
          <p:cNvSpPr>
            <a:spLocks noGrp="1"/>
          </p:cNvSpPr>
          <p:nvPr>
            <p:ph type="sldNum" sz="quarter" idx="4"/>
          </p:nvPr>
        </p:nvSpPr>
        <p:spPr/>
        <p:txBody>
          <a:bodyPr/>
          <a:lstStyle/>
          <a:p>
            <a:fld id="{6DBC486D-4FAB-B746-8B02-8D7C842291C6}" type="slidenum">
              <a:rPr lang="en-GB" smtClean="0"/>
              <a:pPr/>
              <a:t>7</a:t>
            </a:fld>
            <a:endParaRPr lang="en-GB"/>
          </a:p>
        </p:txBody>
      </p:sp>
      <p:sp>
        <p:nvSpPr>
          <p:cNvPr id="9" name="Text Box 8"/>
          <p:cNvSpPr txBox="1">
            <a:spLocks noChangeArrowheads="1"/>
          </p:cNvSpPr>
          <p:nvPr/>
        </p:nvSpPr>
        <p:spPr bwMode="auto">
          <a:xfrm>
            <a:off x="10662532" y="1659627"/>
            <a:ext cx="61921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spcBef>
                <a:spcPct val="50000"/>
              </a:spcBef>
              <a:defRPr/>
            </a:pPr>
            <a:r>
              <a:rPr lang="en-GB" sz="1200">
                <a:latin typeface="Arial" panose="020B0604020202020204" pitchFamily="34" charset="0"/>
                <a:cs typeface="Arial" panose="020B0604020202020204" pitchFamily="34" charset="0"/>
              </a:rPr>
              <a:t>Death</a:t>
            </a:r>
          </a:p>
        </p:txBody>
      </p:sp>
      <p:sp>
        <p:nvSpPr>
          <p:cNvPr id="10" name="Text Box 9"/>
          <p:cNvSpPr txBox="1">
            <a:spLocks noChangeArrowheads="1"/>
          </p:cNvSpPr>
          <p:nvPr/>
        </p:nvSpPr>
        <p:spPr bwMode="auto">
          <a:xfrm>
            <a:off x="7251253" y="3837139"/>
            <a:ext cx="1830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ctr" eaLnBrk="1" hangingPunct="1">
              <a:spcBef>
                <a:spcPct val="50000"/>
              </a:spcBef>
              <a:defRPr/>
            </a:pPr>
            <a:r>
              <a:rPr lang="en-GB" sz="1200">
                <a:latin typeface="Arial" panose="020B0604020202020204" pitchFamily="34" charset="0"/>
                <a:cs typeface="Arial" panose="020B0604020202020204" pitchFamily="34" charset="0"/>
              </a:rPr>
              <a:t>Troublesome motor complications and dyskinesias</a:t>
            </a:r>
          </a:p>
        </p:txBody>
      </p:sp>
      <p:sp>
        <p:nvSpPr>
          <p:cNvPr id="11" name="Text Box 12"/>
          <p:cNvSpPr txBox="1">
            <a:spLocks noChangeArrowheads="1"/>
          </p:cNvSpPr>
          <p:nvPr/>
        </p:nvSpPr>
        <p:spPr bwMode="auto">
          <a:xfrm>
            <a:off x="9081921" y="3882518"/>
            <a:ext cx="586322" cy="240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l" eaLnBrk="1" hangingPunct="1">
              <a:lnSpc>
                <a:spcPct val="80000"/>
              </a:lnSpc>
              <a:spcBef>
                <a:spcPct val="50000"/>
              </a:spcBef>
              <a:defRPr/>
            </a:pPr>
            <a:r>
              <a:rPr lang="en-GB" sz="1200">
                <a:latin typeface="Arial" panose="020B0604020202020204" pitchFamily="34" charset="0"/>
                <a:cs typeface="Arial" panose="020B0604020202020204" pitchFamily="34" charset="0"/>
              </a:rPr>
              <a:t>Falls</a:t>
            </a:r>
          </a:p>
        </p:txBody>
      </p:sp>
      <p:sp>
        <p:nvSpPr>
          <p:cNvPr id="12" name="Text Box 14"/>
          <p:cNvSpPr txBox="1">
            <a:spLocks noChangeArrowheads="1"/>
          </p:cNvSpPr>
          <p:nvPr/>
        </p:nvSpPr>
        <p:spPr bwMode="auto">
          <a:xfrm rot="16200000">
            <a:off x="4305296" y="3592195"/>
            <a:ext cx="37815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ctr" eaLnBrk="1" hangingPunct="1">
              <a:spcBef>
                <a:spcPct val="50000"/>
              </a:spcBef>
              <a:defRPr/>
            </a:pPr>
            <a:r>
              <a:rPr lang="en-GB" b="1">
                <a:solidFill>
                  <a:schemeClr val="tx2"/>
                </a:solidFill>
                <a:latin typeface="Arial" panose="020B0604020202020204" pitchFamily="34" charset="0"/>
                <a:cs typeface="Arial" panose="020B0604020202020204" pitchFamily="34" charset="0"/>
              </a:rPr>
              <a:t>Disability</a:t>
            </a:r>
          </a:p>
        </p:txBody>
      </p:sp>
      <p:sp>
        <p:nvSpPr>
          <p:cNvPr id="13" name="Text Box 15"/>
          <p:cNvSpPr txBox="1">
            <a:spLocks noChangeArrowheads="1"/>
          </p:cNvSpPr>
          <p:nvPr/>
        </p:nvSpPr>
        <p:spPr bwMode="auto">
          <a:xfrm>
            <a:off x="6414794" y="5717668"/>
            <a:ext cx="48457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ctr" eaLnBrk="1" hangingPunct="1">
              <a:spcBef>
                <a:spcPct val="50000"/>
              </a:spcBef>
              <a:defRPr/>
            </a:pPr>
            <a:r>
              <a:rPr lang="en-GB" b="1">
                <a:solidFill>
                  <a:schemeClr val="tx2"/>
                </a:solidFill>
                <a:latin typeface="Arial" panose="020B0604020202020204" pitchFamily="34" charset="0"/>
                <a:cs typeface="Arial" panose="020B0604020202020204" pitchFamily="34" charset="0"/>
              </a:rPr>
              <a:t>Age</a:t>
            </a:r>
          </a:p>
        </p:txBody>
      </p:sp>
      <p:sp>
        <p:nvSpPr>
          <p:cNvPr id="21" name="Forma livre 37"/>
          <p:cNvSpPr/>
          <p:nvPr/>
        </p:nvSpPr>
        <p:spPr>
          <a:xfrm>
            <a:off x="6464226" y="2041949"/>
            <a:ext cx="4402145" cy="3546175"/>
          </a:xfrm>
          <a:custGeom>
            <a:avLst/>
            <a:gdLst>
              <a:gd name="connsiteX0" fmla="*/ 0 w 5372100"/>
              <a:gd name="connsiteY0" fmla="*/ 3337560 h 3337560"/>
              <a:gd name="connsiteX1" fmla="*/ 845820 w 5372100"/>
              <a:gd name="connsiteY1" fmla="*/ 2651760 h 3337560"/>
              <a:gd name="connsiteX2" fmla="*/ 4114800 w 5372100"/>
              <a:gd name="connsiteY2" fmla="*/ 1965960 h 3337560"/>
              <a:gd name="connsiteX3" fmla="*/ 5372100 w 5372100"/>
              <a:gd name="connsiteY3" fmla="*/ 0 h 3337560"/>
            </a:gdLst>
            <a:ahLst/>
            <a:cxnLst>
              <a:cxn ang="0">
                <a:pos x="connsiteX0" y="connsiteY0"/>
              </a:cxn>
              <a:cxn ang="0">
                <a:pos x="connsiteX1" y="connsiteY1"/>
              </a:cxn>
              <a:cxn ang="0">
                <a:pos x="connsiteX2" y="connsiteY2"/>
              </a:cxn>
              <a:cxn ang="0">
                <a:pos x="connsiteX3" y="connsiteY3"/>
              </a:cxn>
            </a:cxnLst>
            <a:rect l="l" t="t" r="r" b="b"/>
            <a:pathLst>
              <a:path w="5372100" h="3337560">
                <a:moveTo>
                  <a:pt x="0" y="3337560"/>
                </a:moveTo>
                <a:cubicBezTo>
                  <a:pt x="80010" y="3108960"/>
                  <a:pt x="160020" y="2880360"/>
                  <a:pt x="845820" y="2651760"/>
                </a:cubicBezTo>
                <a:cubicBezTo>
                  <a:pt x="1531620" y="2423160"/>
                  <a:pt x="3360420" y="2407920"/>
                  <a:pt x="4114800" y="1965960"/>
                </a:cubicBezTo>
                <a:cubicBezTo>
                  <a:pt x="4869180" y="1524000"/>
                  <a:pt x="5120640" y="762000"/>
                  <a:pt x="5372100" y="0"/>
                </a:cubicBezTo>
              </a:path>
            </a:pathLst>
          </a:cu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fontAlgn="auto">
              <a:spcBef>
                <a:spcPts val="0"/>
              </a:spcBef>
              <a:spcAft>
                <a:spcPts val="0"/>
              </a:spcAft>
              <a:defRPr/>
            </a:pPr>
            <a:endParaRPr lang="pt-PT" sz="1800">
              <a:solidFill>
                <a:prstClr val="black"/>
              </a:solidFill>
              <a:latin typeface="Arial" panose="020B0604020202020204" pitchFamily="34" charset="0"/>
              <a:cs typeface="Arial" panose="020B0604020202020204" pitchFamily="34" charset="0"/>
            </a:endParaRPr>
          </a:p>
        </p:txBody>
      </p:sp>
      <p:sp>
        <p:nvSpPr>
          <p:cNvPr id="22" name="Text Box 11"/>
          <p:cNvSpPr txBox="1">
            <a:spLocks noChangeArrowheads="1"/>
          </p:cNvSpPr>
          <p:nvPr/>
        </p:nvSpPr>
        <p:spPr bwMode="auto">
          <a:xfrm>
            <a:off x="9612486" y="2141485"/>
            <a:ext cx="117743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l" eaLnBrk="1" hangingPunct="1">
              <a:spcBef>
                <a:spcPct val="50000"/>
              </a:spcBef>
              <a:defRPr/>
            </a:pPr>
            <a:r>
              <a:rPr lang="en-GB" sz="1200" dirty="0">
                <a:latin typeface="Arial" panose="020B0604020202020204" pitchFamily="34" charset="0"/>
                <a:cs typeface="Arial" panose="020B0604020202020204" pitchFamily="34" charset="0"/>
              </a:rPr>
              <a:t>Nursing home</a:t>
            </a:r>
          </a:p>
        </p:txBody>
      </p:sp>
      <p:sp>
        <p:nvSpPr>
          <p:cNvPr id="23" name="Text Box 12"/>
          <p:cNvSpPr txBox="1">
            <a:spLocks noChangeArrowheads="1"/>
          </p:cNvSpPr>
          <p:nvPr/>
        </p:nvSpPr>
        <p:spPr bwMode="auto">
          <a:xfrm>
            <a:off x="9729203" y="2517697"/>
            <a:ext cx="854977" cy="240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l" eaLnBrk="1" hangingPunct="1">
              <a:lnSpc>
                <a:spcPct val="80000"/>
              </a:lnSpc>
              <a:spcBef>
                <a:spcPct val="50000"/>
              </a:spcBef>
              <a:defRPr/>
            </a:pPr>
            <a:r>
              <a:rPr lang="en-GB" sz="1200">
                <a:latin typeface="Arial" panose="020B0604020202020204" pitchFamily="34" charset="0"/>
                <a:cs typeface="Arial" panose="020B0604020202020204" pitchFamily="34" charset="0"/>
              </a:rPr>
              <a:t>Fractures</a:t>
            </a:r>
          </a:p>
        </p:txBody>
      </p:sp>
      <p:sp>
        <p:nvSpPr>
          <p:cNvPr id="24" name="Text Box 12"/>
          <p:cNvSpPr txBox="1">
            <a:spLocks noChangeArrowheads="1"/>
          </p:cNvSpPr>
          <p:nvPr/>
        </p:nvSpPr>
        <p:spPr bwMode="auto">
          <a:xfrm>
            <a:off x="9125220" y="3551857"/>
            <a:ext cx="940800" cy="240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l" eaLnBrk="1" hangingPunct="1">
              <a:lnSpc>
                <a:spcPct val="80000"/>
              </a:lnSpc>
              <a:spcBef>
                <a:spcPct val="50000"/>
              </a:spcBef>
              <a:defRPr/>
            </a:pPr>
            <a:r>
              <a:rPr lang="en-GB" sz="1200">
                <a:latin typeface="Arial" panose="020B0604020202020204" pitchFamily="34" charset="0"/>
                <a:cs typeface="Arial" panose="020B0604020202020204" pitchFamily="34" charset="0"/>
              </a:rPr>
              <a:t>Dysphagia</a:t>
            </a:r>
          </a:p>
        </p:txBody>
      </p:sp>
      <p:sp>
        <p:nvSpPr>
          <p:cNvPr id="25" name="Text Box 12"/>
          <p:cNvSpPr txBox="1">
            <a:spLocks noChangeArrowheads="1"/>
          </p:cNvSpPr>
          <p:nvPr/>
        </p:nvSpPr>
        <p:spPr bwMode="auto">
          <a:xfrm>
            <a:off x="9252696" y="3222883"/>
            <a:ext cx="1148604" cy="240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l" eaLnBrk="1" hangingPunct="1">
              <a:lnSpc>
                <a:spcPct val="80000"/>
              </a:lnSpc>
              <a:spcBef>
                <a:spcPct val="50000"/>
              </a:spcBef>
              <a:defRPr/>
            </a:pPr>
            <a:r>
              <a:rPr lang="en-GB" sz="1200">
                <a:latin typeface="Arial" panose="020B0604020202020204" pitchFamily="34" charset="0"/>
                <a:cs typeface="Arial" panose="020B0604020202020204" pitchFamily="34" charset="0"/>
              </a:rPr>
              <a:t>Hypotension</a:t>
            </a:r>
          </a:p>
        </p:txBody>
      </p:sp>
      <p:sp>
        <p:nvSpPr>
          <p:cNvPr id="28" name="Forma livre 28"/>
          <p:cNvSpPr/>
          <p:nvPr/>
        </p:nvSpPr>
        <p:spPr>
          <a:xfrm>
            <a:off x="6436900" y="2041949"/>
            <a:ext cx="4895182" cy="3605430"/>
          </a:xfrm>
          <a:custGeom>
            <a:avLst/>
            <a:gdLst>
              <a:gd name="connsiteX0" fmla="*/ 0 w 5372100"/>
              <a:gd name="connsiteY0" fmla="*/ 3337560 h 3337560"/>
              <a:gd name="connsiteX1" fmla="*/ 845820 w 5372100"/>
              <a:gd name="connsiteY1" fmla="*/ 2651760 h 3337560"/>
              <a:gd name="connsiteX2" fmla="*/ 4114800 w 5372100"/>
              <a:gd name="connsiteY2" fmla="*/ 1965960 h 3337560"/>
              <a:gd name="connsiteX3" fmla="*/ 5372100 w 5372100"/>
              <a:gd name="connsiteY3" fmla="*/ 0 h 3337560"/>
              <a:gd name="connsiteX0" fmla="*/ 0 w 5361750"/>
              <a:gd name="connsiteY0" fmla="*/ 3307180 h 3307180"/>
              <a:gd name="connsiteX1" fmla="*/ 835470 w 5361750"/>
              <a:gd name="connsiteY1" fmla="*/ 2651760 h 3307180"/>
              <a:gd name="connsiteX2" fmla="*/ 4104450 w 5361750"/>
              <a:gd name="connsiteY2" fmla="*/ 1965960 h 3307180"/>
              <a:gd name="connsiteX3" fmla="*/ 5361750 w 5361750"/>
              <a:gd name="connsiteY3" fmla="*/ 0 h 3307180"/>
              <a:gd name="connsiteX0" fmla="*/ 0 w 5347949"/>
              <a:gd name="connsiteY0" fmla="*/ 3285480 h 3285480"/>
              <a:gd name="connsiteX1" fmla="*/ 821669 w 5347949"/>
              <a:gd name="connsiteY1" fmla="*/ 2651760 h 3285480"/>
              <a:gd name="connsiteX2" fmla="*/ 4090649 w 5347949"/>
              <a:gd name="connsiteY2" fmla="*/ 1965960 h 3285480"/>
              <a:gd name="connsiteX3" fmla="*/ 5347949 w 5347949"/>
              <a:gd name="connsiteY3" fmla="*/ 0 h 3285480"/>
            </a:gdLst>
            <a:ahLst/>
            <a:cxnLst>
              <a:cxn ang="0">
                <a:pos x="connsiteX0" y="connsiteY0"/>
              </a:cxn>
              <a:cxn ang="0">
                <a:pos x="connsiteX1" y="connsiteY1"/>
              </a:cxn>
              <a:cxn ang="0">
                <a:pos x="connsiteX2" y="connsiteY2"/>
              </a:cxn>
              <a:cxn ang="0">
                <a:pos x="connsiteX3" y="connsiteY3"/>
              </a:cxn>
            </a:cxnLst>
            <a:rect l="l" t="t" r="r" b="b"/>
            <a:pathLst>
              <a:path w="5347949" h="3285480">
                <a:moveTo>
                  <a:pt x="0" y="3285480"/>
                </a:moveTo>
                <a:cubicBezTo>
                  <a:pt x="80010" y="3056880"/>
                  <a:pt x="139894" y="2871680"/>
                  <a:pt x="821669" y="2651760"/>
                </a:cubicBezTo>
                <a:cubicBezTo>
                  <a:pt x="1503444" y="2431840"/>
                  <a:pt x="3336269" y="2407920"/>
                  <a:pt x="4090649" y="1965960"/>
                </a:cubicBezTo>
                <a:cubicBezTo>
                  <a:pt x="4845029" y="1524000"/>
                  <a:pt x="5096489" y="762000"/>
                  <a:pt x="5347949" y="0"/>
                </a:cubicBezTo>
              </a:path>
            </a:pathLst>
          </a:custGeom>
          <a:ln w="28575">
            <a:solidFill>
              <a:schemeClr val="accent1"/>
            </a:solidFill>
            <a:prstDash val="sysDash"/>
          </a:ln>
        </p:spPr>
        <p:style>
          <a:lnRef idx="1">
            <a:schemeClr val="accent1"/>
          </a:lnRef>
          <a:fillRef idx="0">
            <a:schemeClr val="accent1"/>
          </a:fillRef>
          <a:effectRef idx="0">
            <a:schemeClr val="accent1"/>
          </a:effectRef>
          <a:fontRef idx="minor">
            <a:schemeClr val="tx1"/>
          </a:fontRef>
        </p:style>
        <p:txBody>
          <a:bodyPr anchor="ctr"/>
          <a:lstStyle/>
          <a:p>
            <a:pPr fontAlgn="auto">
              <a:spcBef>
                <a:spcPts val="0"/>
              </a:spcBef>
              <a:spcAft>
                <a:spcPts val="0"/>
              </a:spcAft>
              <a:defRPr/>
            </a:pPr>
            <a:endParaRPr lang="pt-PT" sz="1800">
              <a:solidFill>
                <a:prstClr val="black"/>
              </a:solidFill>
              <a:latin typeface="Arial" panose="020B0604020202020204" pitchFamily="34" charset="0"/>
              <a:cs typeface="Arial" panose="020B0604020202020204" pitchFamily="34" charset="0"/>
            </a:endParaRPr>
          </a:p>
        </p:txBody>
      </p:sp>
      <p:sp>
        <p:nvSpPr>
          <p:cNvPr id="31" name="Line 13"/>
          <p:cNvSpPr>
            <a:spLocks noChangeShapeType="1"/>
          </p:cNvSpPr>
          <p:nvPr/>
        </p:nvSpPr>
        <p:spPr bwMode="auto">
          <a:xfrm flipV="1">
            <a:off x="6421297" y="1870710"/>
            <a:ext cx="0" cy="3802380"/>
          </a:xfrm>
          <a:prstGeom prst="line">
            <a:avLst/>
          </a:prstGeom>
          <a:noFill/>
          <a:ln w="19050">
            <a:solidFill>
              <a:schemeClr val="tx2"/>
            </a:solidFill>
            <a:round/>
            <a:headEnd/>
            <a:tailEnd type="triangle" w="lg" len="lg"/>
          </a:ln>
          <a:extLst>
            <a:ext uri="{909E8E84-426E-40DD-AFC4-6F175D3DCCD1}">
              <a14:hiddenFill xmlns:a14="http://schemas.microsoft.com/office/drawing/2010/main">
                <a:noFill/>
              </a14:hiddenFill>
            </a:ext>
          </a:extLst>
        </p:spPr>
        <p:txBody>
          <a:bodyPr wrap="none"/>
          <a:lstStyle/>
          <a:p>
            <a:pPr>
              <a:defRPr/>
            </a:pPr>
            <a:endParaRPr lang="en-GB">
              <a:latin typeface="Arial" panose="020B0604020202020204" pitchFamily="34" charset="0"/>
              <a:cs typeface="Arial" panose="020B0604020202020204" pitchFamily="34" charset="0"/>
            </a:endParaRPr>
          </a:p>
        </p:txBody>
      </p:sp>
      <p:sp>
        <p:nvSpPr>
          <p:cNvPr id="32" name="Line 5"/>
          <p:cNvSpPr>
            <a:spLocks noChangeShapeType="1"/>
          </p:cNvSpPr>
          <p:nvPr/>
        </p:nvSpPr>
        <p:spPr bwMode="auto">
          <a:xfrm>
            <a:off x="6421297" y="5656995"/>
            <a:ext cx="4980956" cy="0"/>
          </a:xfrm>
          <a:prstGeom prst="line">
            <a:avLst/>
          </a:prstGeom>
          <a:noFill/>
          <a:ln w="19050">
            <a:solidFill>
              <a:schemeClr val="tx2"/>
            </a:solidFill>
            <a:round/>
            <a:headEnd/>
            <a:tailEnd type="triangle" w="lg" len="lg"/>
          </a:ln>
          <a:extLst>
            <a:ext uri="{909E8E84-426E-40DD-AFC4-6F175D3DCCD1}">
              <a14:hiddenFill xmlns:a14="http://schemas.microsoft.com/office/drawing/2010/main">
                <a:noFill/>
              </a14:hiddenFill>
            </a:ext>
          </a:extLst>
        </p:spPr>
        <p:txBody>
          <a:bodyPr/>
          <a:lstStyle/>
          <a:p>
            <a:pPr>
              <a:defRPr/>
            </a:pPr>
            <a:endParaRPr lang="en-GB">
              <a:latin typeface="Arial" panose="020B0604020202020204" pitchFamily="34" charset="0"/>
              <a:cs typeface="Arial" panose="020B0604020202020204" pitchFamily="34" charset="0"/>
            </a:endParaRPr>
          </a:p>
        </p:txBody>
      </p:sp>
      <p:sp>
        <p:nvSpPr>
          <p:cNvPr id="33" name="Text Box 12"/>
          <p:cNvSpPr txBox="1">
            <a:spLocks noChangeArrowheads="1"/>
          </p:cNvSpPr>
          <p:nvPr/>
        </p:nvSpPr>
        <p:spPr bwMode="auto">
          <a:xfrm>
            <a:off x="9712542" y="4742027"/>
            <a:ext cx="1752194" cy="240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l" eaLnBrk="1" hangingPunct="1">
              <a:lnSpc>
                <a:spcPct val="80000"/>
              </a:lnSpc>
              <a:spcBef>
                <a:spcPct val="50000"/>
              </a:spcBef>
              <a:defRPr/>
            </a:pPr>
            <a:r>
              <a:rPr lang="en-GB" sz="1200" b="1">
                <a:solidFill>
                  <a:schemeClr val="accent1"/>
                </a:solidFill>
                <a:latin typeface="Arial" panose="020B0604020202020204" pitchFamily="34" charset="0"/>
                <a:cs typeface="Arial" panose="020B0604020202020204" pitchFamily="34" charset="0"/>
              </a:rPr>
              <a:t>Disease modification</a:t>
            </a:r>
          </a:p>
        </p:txBody>
      </p:sp>
      <p:sp>
        <p:nvSpPr>
          <p:cNvPr id="34" name="Text Box 11"/>
          <p:cNvSpPr txBox="1">
            <a:spLocks noChangeArrowheads="1"/>
          </p:cNvSpPr>
          <p:nvPr/>
        </p:nvSpPr>
        <p:spPr bwMode="auto">
          <a:xfrm>
            <a:off x="9294867" y="2846671"/>
            <a:ext cx="117988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l" eaLnBrk="1" hangingPunct="1">
              <a:spcBef>
                <a:spcPct val="50000"/>
              </a:spcBef>
              <a:defRPr/>
            </a:pPr>
            <a:r>
              <a:rPr lang="en-GB" sz="1200">
                <a:latin typeface="Arial" panose="020B0604020202020204" pitchFamily="34" charset="0"/>
                <a:cs typeface="Arial" panose="020B0604020202020204" pitchFamily="34" charset="0"/>
              </a:rPr>
              <a:t>Hallucinations</a:t>
            </a:r>
          </a:p>
        </p:txBody>
      </p:sp>
      <p:cxnSp>
        <p:nvCxnSpPr>
          <p:cNvPr id="45" name="Straight Arrow Connector 44"/>
          <p:cNvCxnSpPr/>
          <p:nvPr/>
        </p:nvCxnSpPr>
        <p:spPr>
          <a:xfrm flipH="1" flipV="1">
            <a:off x="10380868" y="4168795"/>
            <a:ext cx="187776" cy="541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937626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2" name="Title 1"/>
          <p:cNvSpPr>
            <a:spLocks noGrp="1"/>
          </p:cNvSpPr>
          <p:nvPr>
            <p:ph type="title"/>
          </p:nvPr>
        </p:nvSpPr>
        <p:spPr/>
        <p:txBody>
          <a:bodyPr>
            <a:normAutofit/>
          </a:bodyPr>
          <a:lstStyle/>
          <a:p>
            <a:r>
              <a:rPr lang="en-GB"/>
              <a:t>Change in levodopa response over time – ‘wearing-off’</a:t>
            </a:r>
          </a:p>
        </p:txBody>
      </p:sp>
      <p:sp>
        <p:nvSpPr>
          <p:cNvPr id="10" name="Text Placeholder 9">
            <a:extLst>
              <a:ext uri="{FF2B5EF4-FFF2-40B4-BE49-F238E27FC236}">
                <a16:creationId xmlns:a16="http://schemas.microsoft.com/office/drawing/2014/main" id="{D9AD62FF-9893-4755-AFB4-EDF54E870216}"/>
              </a:ext>
            </a:extLst>
          </p:cNvPr>
          <p:cNvSpPr>
            <a:spLocks noGrp="1"/>
          </p:cNvSpPr>
          <p:nvPr>
            <p:ph type="body" sz="quarter" idx="18"/>
          </p:nvPr>
        </p:nvSpPr>
        <p:spPr/>
        <p:txBody>
          <a:bodyPr/>
          <a:lstStyle/>
          <a:p>
            <a:pPr marL="0" indent="0">
              <a:buNone/>
            </a:pPr>
            <a:r>
              <a:rPr lang="en-GB" baseline="30000" dirty="0"/>
              <a:t>a </a:t>
            </a:r>
            <a:r>
              <a:rPr lang="en-GB" dirty="0"/>
              <a:t>The window of good treatment response narrows as patients with PD progress to the more advanced stages</a:t>
            </a:r>
          </a:p>
          <a:p>
            <a:pPr marL="0" indent="0">
              <a:buNone/>
            </a:pPr>
            <a:r>
              <a:rPr lang="en-GB" dirty="0"/>
              <a:t>PD=Parkinson’s disease</a:t>
            </a:r>
          </a:p>
          <a:p>
            <a:pPr marL="0" indent="0">
              <a:buNone/>
            </a:pPr>
            <a:endParaRPr lang="en-GB" dirty="0"/>
          </a:p>
          <a:p>
            <a:pPr marL="0" indent="0">
              <a:buNone/>
            </a:pPr>
            <a:r>
              <a:rPr lang="en-GB" dirty="0"/>
              <a:t>Adapted from: </a:t>
            </a:r>
            <a:r>
              <a:rPr lang="en-GB" dirty="0" err="1"/>
              <a:t>Obeso</a:t>
            </a:r>
            <a:r>
              <a:rPr lang="en-GB" dirty="0"/>
              <a:t> et al. Neurology 2000;55(4 </a:t>
            </a:r>
            <a:r>
              <a:rPr lang="en-GB" dirty="0" err="1"/>
              <a:t>Suppl</a:t>
            </a:r>
            <a:r>
              <a:rPr lang="en-GB" dirty="0"/>
              <a:t>):S13; </a:t>
            </a:r>
            <a:r>
              <a:rPr lang="en-GB" dirty="0" err="1"/>
              <a:t>Schapira</a:t>
            </a:r>
            <a:r>
              <a:rPr lang="en-GB" dirty="0"/>
              <a:t> et al. </a:t>
            </a:r>
            <a:r>
              <a:rPr lang="en-GB" dirty="0" err="1"/>
              <a:t>Eur</a:t>
            </a:r>
            <a:r>
              <a:rPr lang="en-GB" dirty="0"/>
              <a:t> J </a:t>
            </a:r>
            <a:r>
              <a:rPr lang="en-GB" dirty="0" err="1"/>
              <a:t>Neurol</a:t>
            </a:r>
            <a:r>
              <a:rPr lang="en-GB" dirty="0"/>
              <a:t> 2009;16(9):982–989</a:t>
            </a:r>
          </a:p>
        </p:txBody>
      </p:sp>
      <p:sp>
        <p:nvSpPr>
          <p:cNvPr id="4" name="Slide Number Placeholder 3"/>
          <p:cNvSpPr>
            <a:spLocks noGrp="1"/>
          </p:cNvSpPr>
          <p:nvPr>
            <p:ph type="sldNum" sz="quarter" idx="4"/>
          </p:nvPr>
        </p:nvSpPr>
        <p:spPr/>
        <p:txBody>
          <a:bodyPr/>
          <a:lstStyle/>
          <a:p>
            <a:fld id="{6DBC486D-4FAB-B746-8B02-8D7C842291C6}" type="slidenum">
              <a:rPr lang="en-GB" smtClean="0"/>
              <a:t>8</a:t>
            </a:fld>
            <a:endParaRPr lang="en-GB"/>
          </a:p>
        </p:txBody>
      </p:sp>
      <p:sp>
        <p:nvSpPr>
          <p:cNvPr id="14" name="Rectangle: Rounded Corners 13"/>
          <p:cNvSpPr/>
          <p:nvPr/>
        </p:nvSpPr>
        <p:spPr>
          <a:xfrm>
            <a:off x="7486650" y="2489410"/>
            <a:ext cx="3867150" cy="3205936"/>
          </a:xfrm>
          <a:prstGeom prst="roundRect">
            <a:avLst>
              <a:gd name="adj" fmla="val 1989"/>
            </a:avLst>
          </a:prstGeom>
          <a:noFill/>
          <a:ln w="19050">
            <a:solidFill>
              <a:schemeClr val="accent1"/>
            </a:solidFill>
          </a:ln>
        </p:spPr>
        <p:txBody>
          <a:bodyPr wrap="square">
            <a:spAutoFit/>
          </a:bodyPr>
          <a:lstStyle/>
          <a:p>
            <a:pPr marL="266700" indent="-266700">
              <a:spcBef>
                <a:spcPts val="1000"/>
              </a:spcBef>
              <a:buClr>
                <a:schemeClr val="accent1"/>
              </a:buClr>
              <a:buFont typeface="Arial" panose="020B0604020202020204" pitchFamily="34" charset="0"/>
              <a:buChar char="•"/>
            </a:pPr>
            <a:r>
              <a:rPr lang="en-GB" sz="1600" dirty="0">
                <a:latin typeface="Arial" panose="020B0604020202020204" pitchFamily="34" charset="0"/>
                <a:cs typeface="Arial" panose="020B0604020202020204" pitchFamily="34" charset="0"/>
              </a:rPr>
              <a:t>After years of treatment, levodopa therapy can be complicated by the development of motor complications, which include dyskinesias and motor fluctuations</a:t>
            </a:r>
          </a:p>
          <a:p>
            <a:pPr marL="266700" indent="-266700">
              <a:spcBef>
                <a:spcPts val="1000"/>
              </a:spcBef>
              <a:buClr>
                <a:schemeClr val="accent1"/>
              </a:buClr>
              <a:buFont typeface="Arial" panose="020B0604020202020204" pitchFamily="34" charset="0"/>
              <a:buChar char="•"/>
            </a:pPr>
            <a:r>
              <a:rPr lang="en-GB" sz="1600" dirty="0">
                <a:latin typeface="Arial" panose="020B0604020202020204" pitchFamily="34" charset="0"/>
                <a:cs typeface="Arial" panose="020B0604020202020204" pitchFamily="34" charset="0"/>
              </a:rPr>
              <a:t>The initial long duration response to a dose of levodopa (gold line on graph) becomes progressively shorter, and periods in which the patient responds to the drug become complicated by involuntary dyskinetic movements</a:t>
            </a:r>
            <a:endParaRPr lang="en-GB" sz="1600" baseline="30000" dirty="0">
              <a:latin typeface="Arial" panose="020B0604020202020204" pitchFamily="34" charset="0"/>
              <a:cs typeface="Arial" panose="020B0604020202020204" pitchFamily="34" charset="0"/>
            </a:endParaRPr>
          </a:p>
        </p:txBody>
      </p:sp>
      <p:sp>
        <p:nvSpPr>
          <p:cNvPr id="47" name="Rectangle 46"/>
          <p:cNvSpPr/>
          <p:nvPr/>
        </p:nvSpPr>
        <p:spPr>
          <a:xfrm>
            <a:off x="1488991" y="3795084"/>
            <a:ext cx="5141903" cy="1317697"/>
          </a:xfrm>
          <a:prstGeom prst="rect">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p:cNvSpPr/>
          <p:nvPr/>
        </p:nvSpPr>
        <p:spPr>
          <a:xfrm>
            <a:off x="1488991" y="2636896"/>
            <a:ext cx="5141903" cy="469441"/>
          </a:xfrm>
          <a:prstGeom prst="rect">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traight Connector 4"/>
          <p:cNvCxnSpPr>
            <a:cxnSpLocks/>
          </p:cNvCxnSpPr>
          <p:nvPr/>
        </p:nvCxnSpPr>
        <p:spPr>
          <a:xfrm>
            <a:off x="1488991" y="2629270"/>
            <a:ext cx="0" cy="255807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cxnSpLocks/>
          </p:cNvCxnSpPr>
          <p:nvPr/>
        </p:nvCxnSpPr>
        <p:spPr>
          <a:xfrm flipH="1">
            <a:off x="1418422" y="5106664"/>
            <a:ext cx="521247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488991" y="5450978"/>
            <a:ext cx="5141903" cy="338554"/>
          </a:xfrm>
          <a:prstGeom prst="rect">
            <a:avLst/>
          </a:prstGeom>
          <a:noFill/>
        </p:spPr>
        <p:txBody>
          <a:bodyPr wrap="square" rtlCol="0">
            <a:spAutoFit/>
          </a:bodyPr>
          <a:lstStyle/>
          <a:p>
            <a:pPr algn="ctr"/>
            <a:r>
              <a:rPr lang="en-GB" sz="1600" b="1">
                <a:solidFill>
                  <a:schemeClr val="tx2"/>
                </a:solidFill>
                <a:latin typeface="Arial" panose="020B0604020202020204" pitchFamily="34" charset="0"/>
                <a:cs typeface="Arial" panose="020B0604020202020204" pitchFamily="34" charset="0"/>
              </a:rPr>
              <a:t>Time (hours)</a:t>
            </a:r>
          </a:p>
        </p:txBody>
      </p:sp>
      <p:sp>
        <p:nvSpPr>
          <p:cNvPr id="36" name="TextBox 35"/>
          <p:cNvSpPr txBox="1"/>
          <p:nvPr/>
        </p:nvSpPr>
        <p:spPr>
          <a:xfrm>
            <a:off x="3360375" y="5173629"/>
            <a:ext cx="266503" cy="338554"/>
          </a:xfrm>
          <a:prstGeom prst="rect">
            <a:avLst/>
          </a:prstGeom>
          <a:noFill/>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2</a:t>
            </a:r>
          </a:p>
        </p:txBody>
      </p:sp>
      <p:cxnSp>
        <p:nvCxnSpPr>
          <p:cNvPr id="37" name="Straight Connector 36"/>
          <p:cNvCxnSpPr>
            <a:cxnSpLocks/>
          </p:cNvCxnSpPr>
          <p:nvPr/>
        </p:nvCxnSpPr>
        <p:spPr>
          <a:xfrm>
            <a:off x="3493627" y="5112780"/>
            <a:ext cx="0" cy="59705"/>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cxnSpLocks/>
          </p:cNvCxnSpPr>
          <p:nvPr/>
        </p:nvCxnSpPr>
        <p:spPr>
          <a:xfrm>
            <a:off x="4754807" y="5112780"/>
            <a:ext cx="0" cy="59705"/>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cxnSpLocks/>
          </p:cNvCxnSpPr>
          <p:nvPr/>
        </p:nvCxnSpPr>
        <p:spPr>
          <a:xfrm>
            <a:off x="5956755" y="5112780"/>
            <a:ext cx="0" cy="59705"/>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621555" y="5173629"/>
            <a:ext cx="266503" cy="338554"/>
          </a:xfrm>
          <a:prstGeom prst="rect">
            <a:avLst/>
          </a:prstGeom>
          <a:noFill/>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4</a:t>
            </a:r>
          </a:p>
        </p:txBody>
      </p:sp>
      <p:sp>
        <p:nvSpPr>
          <p:cNvPr id="41" name="TextBox 40"/>
          <p:cNvSpPr txBox="1"/>
          <p:nvPr/>
        </p:nvSpPr>
        <p:spPr>
          <a:xfrm>
            <a:off x="5823503" y="5173629"/>
            <a:ext cx="266503" cy="338554"/>
          </a:xfrm>
          <a:prstGeom prst="rect">
            <a:avLst/>
          </a:prstGeom>
          <a:noFill/>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6</a:t>
            </a:r>
          </a:p>
        </p:txBody>
      </p:sp>
      <p:sp>
        <p:nvSpPr>
          <p:cNvPr id="42" name="TextBox 41"/>
          <p:cNvSpPr txBox="1"/>
          <p:nvPr/>
        </p:nvSpPr>
        <p:spPr>
          <a:xfrm>
            <a:off x="1488991" y="5450978"/>
            <a:ext cx="1584528" cy="338554"/>
          </a:xfrm>
          <a:prstGeom prst="rect">
            <a:avLst/>
          </a:prstGeom>
          <a:noFill/>
        </p:spPr>
        <p:txBody>
          <a:bodyPr wrap="square" rtlCol="0">
            <a:spAutoFit/>
          </a:bodyPr>
          <a:lstStyle/>
          <a:p>
            <a:r>
              <a:rPr lang="en-GB" sz="1600">
                <a:solidFill>
                  <a:schemeClr val="tx2"/>
                </a:solidFill>
                <a:latin typeface="Arial" panose="020B0604020202020204" pitchFamily="34" charset="0"/>
                <a:cs typeface="Arial" panose="020B0604020202020204" pitchFamily="34" charset="0"/>
              </a:rPr>
              <a:t>Levodopa dose</a:t>
            </a:r>
          </a:p>
        </p:txBody>
      </p:sp>
      <p:cxnSp>
        <p:nvCxnSpPr>
          <p:cNvPr id="44" name="Straight Arrow Connector 43"/>
          <p:cNvCxnSpPr>
            <a:cxnSpLocks/>
          </p:cNvCxnSpPr>
          <p:nvPr/>
        </p:nvCxnSpPr>
        <p:spPr>
          <a:xfrm flipV="1">
            <a:off x="1624052" y="5112780"/>
            <a:ext cx="0" cy="2717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rot="16200000">
            <a:off x="204" y="3701749"/>
            <a:ext cx="2483511" cy="338554"/>
          </a:xfrm>
          <a:prstGeom prst="rect">
            <a:avLst/>
          </a:prstGeom>
          <a:noFill/>
        </p:spPr>
        <p:txBody>
          <a:bodyPr wrap="square" rtlCol="0">
            <a:spAutoFit/>
          </a:bodyPr>
          <a:lstStyle/>
          <a:p>
            <a:pPr algn="ctr"/>
            <a:r>
              <a:rPr lang="en-GB" sz="1600" b="1">
                <a:solidFill>
                  <a:schemeClr val="tx2"/>
                </a:solidFill>
                <a:latin typeface="Arial" panose="020B0604020202020204" pitchFamily="34" charset="0"/>
                <a:cs typeface="Arial" panose="020B0604020202020204" pitchFamily="34" charset="0"/>
              </a:rPr>
              <a:t>Clinical effect</a:t>
            </a:r>
          </a:p>
        </p:txBody>
      </p:sp>
      <p:sp>
        <p:nvSpPr>
          <p:cNvPr id="49" name="Freeform: Shape 48"/>
          <p:cNvSpPr/>
          <p:nvPr/>
        </p:nvSpPr>
        <p:spPr>
          <a:xfrm>
            <a:off x="1515906" y="3197267"/>
            <a:ext cx="5102012" cy="771299"/>
          </a:xfrm>
          <a:custGeom>
            <a:avLst/>
            <a:gdLst>
              <a:gd name="connsiteX0" fmla="*/ 0 w 6197119"/>
              <a:gd name="connsiteY0" fmla="*/ 927236 h 927236"/>
              <a:gd name="connsiteX1" fmla="*/ 364027 w 6197119"/>
              <a:gd name="connsiteY1" fmla="*/ 896900 h 927236"/>
              <a:gd name="connsiteX2" fmla="*/ 940402 w 6197119"/>
              <a:gd name="connsiteY2" fmla="*/ 784225 h 927236"/>
              <a:gd name="connsiteX3" fmla="*/ 1542779 w 6197119"/>
              <a:gd name="connsiteY3" fmla="*/ 597879 h 927236"/>
              <a:gd name="connsiteX4" fmla="*/ 2305502 w 6197119"/>
              <a:gd name="connsiteY4" fmla="*/ 337860 h 927236"/>
              <a:gd name="connsiteX5" fmla="*/ 2881877 w 6197119"/>
              <a:gd name="connsiteY5" fmla="*/ 108176 h 927236"/>
              <a:gd name="connsiteX6" fmla="*/ 3501589 w 6197119"/>
              <a:gd name="connsiteY6" fmla="*/ 8502 h 927236"/>
              <a:gd name="connsiteX7" fmla="*/ 4012959 w 6197119"/>
              <a:gd name="connsiteY7" fmla="*/ 17170 h 927236"/>
              <a:gd name="connsiteX8" fmla="*/ 4563333 w 6197119"/>
              <a:gd name="connsiteY8" fmla="*/ 112510 h 927236"/>
              <a:gd name="connsiteX9" fmla="*/ 5174377 w 6197119"/>
              <a:gd name="connsiteY9" fmla="*/ 290189 h 927236"/>
              <a:gd name="connsiteX10" fmla="*/ 5724751 w 6197119"/>
              <a:gd name="connsiteY10" fmla="*/ 511206 h 927236"/>
              <a:gd name="connsiteX11" fmla="*/ 6197119 w 6197119"/>
              <a:gd name="connsiteY11" fmla="*/ 706220 h 927236"/>
              <a:gd name="connsiteX0" fmla="*/ 0 w 6197119"/>
              <a:gd name="connsiteY0" fmla="*/ 927236 h 927236"/>
              <a:gd name="connsiteX1" fmla="*/ 364027 w 6197119"/>
              <a:gd name="connsiteY1" fmla="*/ 896900 h 927236"/>
              <a:gd name="connsiteX2" fmla="*/ 949070 w 6197119"/>
              <a:gd name="connsiteY2" fmla="*/ 779891 h 927236"/>
              <a:gd name="connsiteX3" fmla="*/ 1542779 w 6197119"/>
              <a:gd name="connsiteY3" fmla="*/ 597879 h 927236"/>
              <a:gd name="connsiteX4" fmla="*/ 2305502 w 6197119"/>
              <a:gd name="connsiteY4" fmla="*/ 337860 h 927236"/>
              <a:gd name="connsiteX5" fmla="*/ 2881877 w 6197119"/>
              <a:gd name="connsiteY5" fmla="*/ 108176 h 927236"/>
              <a:gd name="connsiteX6" fmla="*/ 3501589 w 6197119"/>
              <a:gd name="connsiteY6" fmla="*/ 8502 h 927236"/>
              <a:gd name="connsiteX7" fmla="*/ 4012959 w 6197119"/>
              <a:gd name="connsiteY7" fmla="*/ 17170 h 927236"/>
              <a:gd name="connsiteX8" fmla="*/ 4563333 w 6197119"/>
              <a:gd name="connsiteY8" fmla="*/ 112510 h 927236"/>
              <a:gd name="connsiteX9" fmla="*/ 5174377 w 6197119"/>
              <a:gd name="connsiteY9" fmla="*/ 290189 h 927236"/>
              <a:gd name="connsiteX10" fmla="*/ 5724751 w 6197119"/>
              <a:gd name="connsiteY10" fmla="*/ 511206 h 927236"/>
              <a:gd name="connsiteX11" fmla="*/ 6197119 w 6197119"/>
              <a:gd name="connsiteY11" fmla="*/ 706220 h 927236"/>
              <a:gd name="connsiteX0" fmla="*/ 0 w 6197119"/>
              <a:gd name="connsiteY0" fmla="*/ 926922 h 926922"/>
              <a:gd name="connsiteX1" fmla="*/ 364027 w 6197119"/>
              <a:gd name="connsiteY1" fmla="*/ 896586 h 926922"/>
              <a:gd name="connsiteX2" fmla="*/ 949070 w 6197119"/>
              <a:gd name="connsiteY2" fmla="*/ 779577 h 926922"/>
              <a:gd name="connsiteX3" fmla="*/ 1542779 w 6197119"/>
              <a:gd name="connsiteY3" fmla="*/ 597565 h 926922"/>
              <a:gd name="connsiteX4" fmla="*/ 2305502 w 6197119"/>
              <a:gd name="connsiteY4" fmla="*/ 337546 h 926922"/>
              <a:gd name="connsiteX5" fmla="*/ 2899212 w 6197119"/>
              <a:gd name="connsiteY5" fmla="*/ 103529 h 926922"/>
              <a:gd name="connsiteX6" fmla="*/ 3501589 w 6197119"/>
              <a:gd name="connsiteY6" fmla="*/ 8188 h 926922"/>
              <a:gd name="connsiteX7" fmla="*/ 4012959 w 6197119"/>
              <a:gd name="connsiteY7" fmla="*/ 16856 h 926922"/>
              <a:gd name="connsiteX8" fmla="*/ 4563333 w 6197119"/>
              <a:gd name="connsiteY8" fmla="*/ 112196 h 926922"/>
              <a:gd name="connsiteX9" fmla="*/ 5174377 w 6197119"/>
              <a:gd name="connsiteY9" fmla="*/ 289875 h 926922"/>
              <a:gd name="connsiteX10" fmla="*/ 5724751 w 6197119"/>
              <a:gd name="connsiteY10" fmla="*/ 510892 h 926922"/>
              <a:gd name="connsiteX11" fmla="*/ 6197119 w 6197119"/>
              <a:gd name="connsiteY11" fmla="*/ 705906 h 926922"/>
              <a:gd name="connsiteX0" fmla="*/ 0 w 6197119"/>
              <a:gd name="connsiteY0" fmla="*/ 930132 h 930132"/>
              <a:gd name="connsiteX1" fmla="*/ 364027 w 6197119"/>
              <a:gd name="connsiteY1" fmla="*/ 899796 h 930132"/>
              <a:gd name="connsiteX2" fmla="*/ 949070 w 6197119"/>
              <a:gd name="connsiteY2" fmla="*/ 782787 h 930132"/>
              <a:gd name="connsiteX3" fmla="*/ 1542779 w 6197119"/>
              <a:gd name="connsiteY3" fmla="*/ 600775 h 930132"/>
              <a:gd name="connsiteX4" fmla="*/ 2305502 w 6197119"/>
              <a:gd name="connsiteY4" fmla="*/ 340756 h 930132"/>
              <a:gd name="connsiteX5" fmla="*/ 2899212 w 6197119"/>
              <a:gd name="connsiteY5" fmla="*/ 106739 h 930132"/>
              <a:gd name="connsiteX6" fmla="*/ 3514590 w 6197119"/>
              <a:gd name="connsiteY6" fmla="*/ 7064 h 930132"/>
              <a:gd name="connsiteX7" fmla="*/ 4012959 w 6197119"/>
              <a:gd name="connsiteY7" fmla="*/ 20066 h 930132"/>
              <a:gd name="connsiteX8" fmla="*/ 4563333 w 6197119"/>
              <a:gd name="connsiteY8" fmla="*/ 115406 h 930132"/>
              <a:gd name="connsiteX9" fmla="*/ 5174377 w 6197119"/>
              <a:gd name="connsiteY9" fmla="*/ 293085 h 930132"/>
              <a:gd name="connsiteX10" fmla="*/ 5724751 w 6197119"/>
              <a:gd name="connsiteY10" fmla="*/ 514102 h 930132"/>
              <a:gd name="connsiteX11" fmla="*/ 6197119 w 6197119"/>
              <a:gd name="connsiteY11" fmla="*/ 709116 h 930132"/>
              <a:gd name="connsiteX0" fmla="*/ 0 w 6152669"/>
              <a:gd name="connsiteY0" fmla="*/ 930132 h 930132"/>
              <a:gd name="connsiteX1" fmla="*/ 364027 w 6152669"/>
              <a:gd name="connsiteY1" fmla="*/ 899796 h 930132"/>
              <a:gd name="connsiteX2" fmla="*/ 949070 w 6152669"/>
              <a:gd name="connsiteY2" fmla="*/ 782787 h 930132"/>
              <a:gd name="connsiteX3" fmla="*/ 1542779 w 6152669"/>
              <a:gd name="connsiteY3" fmla="*/ 600775 h 930132"/>
              <a:gd name="connsiteX4" fmla="*/ 2305502 w 6152669"/>
              <a:gd name="connsiteY4" fmla="*/ 340756 h 930132"/>
              <a:gd name="connsiteX5" fmla="*/ 2899212 w 6152669"/>
              <a:gd name="connsiteY5" fmla="*/ 106739 h 930132"/>
              <a:gd name="connsiteX6" fmla="*/ 3514590 w 6152669"/>
              <a:gd name="connsiteY6" fmla="*/ 7064 h 930132"/>
              <a:gd name="connsiteX7" fmla="*/ 4012959 w 6152669"/>
              <a:gd name="connsiteY7" fmla="*/ 20066 h 930132"/>
              <a:gd name="connsiteX8" fmla="*/ 4563333 w 6152669"/>
              <a:gd name="connsiteY8" fmla="*/ 115406 h 930132"/>
              <a:gd name="connsiteX9" fmla="*/ 5174377 w 6152669"/>
              <a:gd name="connsiteY9" fmla="*/ 293085 h 930132"/>
              <a:gd name="connsiteX10" fmla="*/ 5724751 w 6152669"/>
              <a:gd name="connsiteY10" fmla="*/ 514102 h 930132"/>
              <a:gd name="connsiteX11" fmla="*/ 6152669 w 6152669"/>
              <a:gd name="connsiteY11" fmla="*/ 709116 h 930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52669" h="930132">
                <a:moveTo>
                  <a:pt x="0" y="930132"/>
                </a:moveTo>
                <a:cubicBezTo>
                  <a:pt x="103646" y="926881"/>
                  <a:pt x="205849" y="924354"/>
                  <a:pt x="364027" y="899796"/>
                </a:cubicBezTo>
                <a:cubicBezTo>
                  <a:pt x="522205" y="875239"/>
                  <a:pt x="752611" y="832624"/>
                  <a:pt x="949070" y="782787"/>
                </a:cubicBezTo>
                <a:cubicBezTo>
                  <a:pt x="1145529" y="732950"/>
                  <a:pt x="1316707" y="674447"/>
                  <a:pt x="1542779" y="600775"/>
                </a:cubicBezTo>
                <a:cubicBezTo>
                  <a:pt x="1768851" y="527103"/>
                  <a:pt x="2079430" y="423095"/>
                  <a:pt x="2305502" y="340756"/>
                </a:cubicBezTo>
                <a:cubicBezTo>
                  <a:pt x="2531574" y="258417"/>
                  <a:pt x="2697697" y="162354"/>
                  <a:pt x="2899212" y="106739"/>
                </a:cubicBezTo>
                <a:cubicBezTo>
                  <a:pt x="3100727" y="51124"/>
                  <a:pt x="3328965" y="21510"/>
                  <a:pt x="3514590" y="7064"/>
                </a:cubicBezTo>
                <a:cubicBezTo>
                  <a:pt x="3700215" y="-7382"/>
                  <a:pt x="3838169" y="2009"/>
                  <a:pt x="4012959" y="20066"/>
                </a:cubicBezTo>
                <a:cubicBezTo>
                  <a:pt x="4187750" y="38123"/>
                  <a:pt x="4369763" y="69903"/>
                  <a:pt x="4563333" y="115406"/>
                </a:cubicBezTo>
                <a:cubicBezTo>
                  <a:pt x="4756903" y="160909"/>
                  <a:pt x="4980807" y="226636"/>
                  <a:pt x="5174377" y="293085"/>
                </a:cubicBezTo>
                <a:cubicBezTo>
                  <a:pt x="5367947" y="359534"/>
                  <a:pt x="5561702" y="444764"/>
                  <a:pt x="5724751" y="514102"/>
                </a:cubicBezTo>
                <a:cubicBezTo>
                  <a:pt x="5887800" y="583440"/>
                  <a:pt x="6010030" y="644111"/>
                  <a:pt x="6152669" y="709116"/>
                </a:cubicBezTo>
              </a:path>
            </a:pathLst>
          </a:custGeom>
          <a:noFill/>
          <a:ln w="19050">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Freeform: Shape 49"/>
          <p:cNvSpPr/>
          <p:nvPr/>
        </p:nvSpPr>
        <p:spPr>
          <a:xfrm>
            <a:off x="1494344" y="2910222"/>
            <a:ext cx="5127841" cy="1493171"/>
          </a:xfrm>
          <a:custGeom>
            <a:avLst/>
            <a:gdLst>
              <a:gd name="connsiteX0" fmla="*/ 0 w 6171117"/>
              <a:gd name="connsiteY0" fmla="*/ 1800659 h 1800659"/>
              <a:gd name="connsiteX1" fmla="*/ 320690 w 6171117"/>
              <a:gd name="connsiteY1" fmla="*/ 1722654 h 1800659"/>
              <a:gd name="connsiteX2" fmla="*/ 598044 w 6171117"/>
              <a:gd name="connsiteY2" fmla="*/ 1588311 h 1800659"/>
              <a:gd name="connsiteX3" fmla="*/ 871064 w 6171117"/>
              <a:gd name="connsiteY3" fmla="*/ 1328292 h 1800659"/>
              <a:gd name="connsiteX4" fmla="*/ 1157085 w 6171117"/>
              <a:gd name="connsiteY4" fmla="*/ 838589 h 1800659"/>
              <a:gd name="connsiteX5" fmla="*/ 1438772 w 6171117"/>
              <a:gd name="connsiteY5" fmla="*/ 379223 h 1800659"/>
              <a:gd name="connsiteX6" fmla="*/ 1737794 w 6171117"/>
              <a:gd name="connsiteY6" fmla="*/ 93202 h 1800659"/>
              <a:gd name="connsiteX7" fmla="*/ 2041149 w 6171117"/>
              <a:gd name="connsiteY7" fmla="*/ 2195 h 1800659"/>
              <a:gd name="connsiteX8" fmla="*/ 2370506 w 6171117"/>
              <a:gd name="connsiteY8" fmla="*/ 166874 h 1800659"/>
              <a:gd name="connsiteX9" fmla="*/ 2647860 w 6171117"/>
              <a:gd name="connsiteY9" fmla="*/ 522233 h 1800659"/>
              <a:gd name="connsiteX10" fmla="*/ 2912213 w 6171117"/>
              <a:gd name="connsiteY10" fmla="*/ 907928 h 1800659"/>
              <a:gd name="connsiteX11" fmla="*/ 3141896 w 6171117"/>
              <a:gd name="connsiteY11" fmla="*/ 1215617 h 1800659"/>
              <a:gd name="connsiteX12" fmla="*/ 3458252 w 6171117"/>
              <a:gd name="connsiteY12" fmla="*/ 1445300 h 1800659"/>
              <a:gd name="connsiteX13" fmla="*/ 3965289 w 6171117"/>
              <a:gd name="connsiteY13" fmla="*/ 1575310 h 1800659"/>
              <a:gd name="connsiteX14" fmla="*/ 4493995 w 6171117"/>
              <a:gd name="connsiteY14" fmla="*/ 1596978 h 1800659"/>
              <a:gd name="connsiteX15" fmla="*/ 5226381 w 6171117"/>
              <a:gd name="connsiteY15" fmla="*/ 1609979 h 1800659"/>
              <a:gd name="connsiteX16" fmla="*/ 5889430 w 6171117"/>
              <a:gd name="connsiteY16" fmla="*/ 1592644 h 1800659"/>
              <a:gd name="connsiteX17" fmla="*/ 6171117 w 6171117"/>
              <a:gd name="connsiteY17" fmla="*/ 1575310 h 1800659"/>
              <a:gd name="connsiteX0" fmla="*/ 0 w 6171117"/>
              <a:gd name="connsiteY0" fmla="*/ 1800659 h 1800659"/>
              <a:gd name="connsiteX1" fmla="*/ 320690 w 6171117"/>
              <a:gd name="connsiteY1" fmla="*/ 1722654 h 1800659"/>
              <a:gd name="connsiteX2" fmla="*/ 598044 w 6171117"/>
              <a:gd name="connsiteY2" fmla="*/ 1588311 h 1800659"/>
              <a:gd name="connsiteX3" fmla="*/ 884064 w 6171117"/>
              <a:gd name="connsiteY3" fmla="*/ 1328292 h 1800659"/>
              <a:gd name="connsiteX4" fmla="*/ 1157085 w 6171117"/>
              <a:gd name="connsiteY4" fmla="*/ 838589 h 1800659"/>
              <a:gd name="connsiteX5" fmla="*/ 1438772 w 6171117"/>
              <a:gd name="connsiteY5" fmla="*/ 379223 h 1800659"/>
              <a:gd name="connsiteX6" fmla="*/ 1737794 w 6171117"/>
              <a:gd name="connsiteY6" fmla="*/ 93202 h 1800659"/>
              <a:gd name="connsiteX7" fmla="*/ 2041149 w 6171117"/>
              <a:gd name="connsiteY7" fmla="*/ 2195 h 1800659"/>
              <a:gd name="connsiteX8" fmla="*/ 2370506 w 6171117"/>
              <a:gd name="connsiteY8" fmla="*/ 166874 h 1800659"/>
              <a:gd name="connsiteX9" fmla="*/ 2647860 w 6171117"/>
              <a:gd name="connsiteY9" fmla="*/ 522233 h 1800659"/>
              <a:gd name="connsiteX10" fmla="*/ 2912213 w 6171117"/>
              <a:gd name="connsiteY10" fmla="*/ 907928 h 1800659"/>
              <a:gd name="connsiteX11" fmla="*/ 3141896 w 6171117"/>
              <a:gd name="connsiteY11" fmla="*/ 1215617 h 1800659"/>
              <a:gd name="connsiteX12" fmla="*/ 3458252 w 6171117"/>
              <a:gd name="connsiteY12" fmla="*/ 1445300 h 1800659"/>
              <a:gd name="connsiteX13" fmla="*/ 3965289 w 6171117"/>
              <a:gd name="connsiteY13" fmla="*/ 1575310 h 1800659"/>
              <a:gd name="connsiteX14" fmla="*/ 4493995 w 6171117"/>
              <a:gd name="connsiteY14" fmla="*/ 1596978 h 1800659"/>
              <a:gd name="connsiteX15" fmla="*/ 5226381 w 6171117"/>
              <a:gd name="connsiteY15" fmla="*/ 1609979 h 1800659"/>
              <a:gd name="connsiteX16" fmla="*/ 5889430 w 6171117"/>
              <a:gd name="connsiteY16" fmla="*/ 1592644 h 1800659"/>
              <a:gd name="connsiteX17" fmla="*/ 6171117 w 6171117"/>
              <a:gd name="connsiteY17" fmla="*/ 1575310 h 1800659"/>
              <a:gd name="connsiteX0" fmla="*/ 0 w 6171117"/>
              <a:gd name="connsiteY0" fmla="*/ 1800659 h 1800659"/>
              <a:gd name="connsiteX1" fmla="*/ 320690 w 6171117"/>
              <a:gd name="connsiteY1" fmla="*/ 1722654 h 1800659"/>
              <a:gd name="connsiteX2" fmla="*/ 598044 w 6171117"/>
              <a:gd name="connsiteY2" fmla="*/ 1588311 h 1800659"/>
              <a:gd name="connsiteX3" fmla="*/ 884064 w 6171117"/>
              <a:gd name="connsiteY3" fmla="*/ 1328292 h 1800659"/>
              <a:gd name="connsiteX4" fmla="*/ 1157085 w 6171117"/>
              <a:gd name="connsiteY4" fmla="*/ 838589 h 1800659"/>
              <a:gd name="connsiteX5" fmla="*/ 1438772 w 6171117"/>
              <a:gd name="connsiteY5" fmla="*/ 379223 h 1800659"/>
              <a:gd name="connsiteX6" fmla="*/ 1737794 w 6171117"/>
              <a:gd name="connsiteY6" fmla="*/ 93202 h 1800659"/>
              <a:gd name="connsiteX7" fmla="*/ 2041149 w 6171117"/>
              <a:gd name="connsiteY7" fmla="*/ 2195 h 1800659"/>
              <a:gd name="connsiteX8" fmla="*/ 2370506 w 6171117"/>
              <a:gd name="connsiteY8" fmla="*/ 166874 h 1800659"/>
              <a:gd name="connsiteX9" fmla="*/ 2647860 w 6171117"/>
              <a:gd name="connsiteY9" fmla="*/ 522233 h 1800659"/>
              <a:gd name="connsiteX10" fmla="*/ 2912213 w 6171117"/>
              <a:gd name="connsiteY10" fmla="*/ 907928 h 1800659"/>
              <a:gd name="connsiteX11" fmla="*/ 3141896 w 6171117"/>
              <a:gd name="connsiteY11" fmla="*/ 1215617 h 1800659"/>
              <a:gd name="connsiteX12" fmla="*/ 3458252 w 6171117"/>
              <a:gd name="connsiteY12" fmla="*/ 1445300 h 1800659"/>
              <a:gd name="connsiteX13" fmla="*/ 3965289 w 6171117"/>
              <a:gd name="connsiteY13" fmla="*/ 1575310 h 1800659"/>
              <a:gd name="connsiteX14" fmla="*/ 4493995 w 6171117"/>
              <a:gd name="connsiteY14" fmla="*/ 1596978 h 1800659"/>
              <a:gd name="connsiteX15" fmla="*/ 5226381 w 6171117"/>
              <a:gd name="connsiteY15" fmla="*/ 1609979 h 1800659"/>
              <a:gd name="connsiteX16" fmla="*/ 5889430 w 6171117"/>
              <a:gd name="connsiteY16" fmla="*/ 1592644 h 1800659"/>
              <a:gd name="connsiteX17" fmla="*/ 6171117 w 6171117"/>
              <a:gd name="connsiteY17" fmla="*/ 1575310 h 1800659"/>
              <a:gd name="connsiteX0" fmla="*/ 0 w 6171117"/>
              <a:gd name="connsiteY0" fmla="*/ 1800659 h 1800659"/>
              <a:gd name="connsiteX1" fmla="*/ 320690 w 6171117"/>
              <a:gd name="connsiteY1" fmla="*/ 1722654 h 1800659"/>
              <a:gd name="connsiteX2" fmla="*/ 598044 w 6171117"/>
              <a:gd name="connsiteY2" fmla="*/ 1588311 h 1800659"/>
              <a:gd name="connsiteX3" fmla="*/ 884064 w 6171117"/>
              <a:gd name="connsiteY3" fmla="*/ 1328292 h 1800659"/>
              <a:gd name="connsiteX4" fmla="*/ 1157085 w 6171117"/>
              <a:gd name="connsiteY4" fmla="*/ 838589 h 1800659"/>
              <a:gd name="connsiteX5" fmla="*/ 1438772 w 6171117"/>
              <a:gd name="connsiteY5" fmla="*/ 379223 h 1800659"/>
              <a:gd name="connsiteX6" fmla="*/ 1737794 w 6171117"/>
              <a:gd name="connsiteY6" fmla="*/ 93202 h 1800659"/>
              <a:gd name="connsiteX7" fmla="*/ 2041149 w 6171117"/>
              <a:gd name="connsiteY7" fmla="*/ 2195 h 1800659"/>
              <a:gd name="connsiteX8" fmla="*/ 2370506 w 6171117"/>
              <a:gd name="connsiteY8" fmla="*/ 166874 h 1800659"/>
              <a:gd name="connsiteX9" fmla="*/ 2647860 w 6171117"/>
              <a:gd name="connsiteY9" fmla="*/ 522233 h 1800659"/>
              <a:gd name="connsiteX10" fmla="*/ 2903546 w 6171117"/>
              <a:gd name="connsiteY10" fmla="*/ 890593 h 1800659"/>
              <a:gd name="connsiteX11" fmla="*/ 3141896 w 6171117"/>
              <a:gd name="connsiteY11" fmla="*/ 1215617 h 1800659"/>
              <a:gd name="connsiteX12" fmla="*/ 3458252 w 6171117"/>
              <a:gd name="connsiteY12" fmla="*/ 1445300 h 1800659"/>
              <a:gd name="connsiteX13" fmla="*/ 3965289 w 6171117"/>
              <a:gd name="connsiteY13" fmla="*/ 1575310 h 1800659"/>
              <a:gd name="connsiteX14" fmla="*/ 4493995 w 6171117"/>
              <a:gd name="connsiteY14" fmla="*/ 1596978 h 1800659"/>
              <a:gd name="connsiteX15" fmla="*/ 5226381 w 6171117"/>
              <a:gd name="connsiteY15" fmla="*/ 1609979 h 1800659"/>
              <a:gd name="connsiteX16" fmla="*/ 5889430 w 6171117"/>
              <a:gd name="connsiteY16" fmla="*/ 1592644 h 1800659"/>
              <a:gd name="connsiteX17" fmla="*/ 6171117 w 6171117"/>
              <a:gd name="connsiteY17" fmla="*/ 1575310 h 1800659"/>
              <a:gd name="connsiteX0" fmla="*/ 0 w 6183817"/>
              <a:gd name="connsiteY0" fmla="*/ 1800659 h 1800659"/>
              <a:gd name="connsiteX1" fmla="*/ 320690 w 6183817"/>
              <a:gd name="connsiteY1" fmla="*/ 1722654 h 1800659"/>
              <a:gd name="connsiteX2" fmla="*/ 598044 w 6183817"/>
              <a:gd name="connsiteY2" fmla="*/ 1588311 h 1800659"/>
              <a:gd name="connsiteX3" fmla="*/ 884064 w 6183817"/>
              <a:gd name="connsiteY3" fmla="*/ 1328292 h 1800659"/>
              <a:gd name="connsiteX4" fmla="*/ 1157085 w 6183817"/>
              <a:gd name="connsiteY4" fmla="*/ 838589 h 1800659"/>
              <a:gd name="connsiteX5" fmla="*/ 1438772 w 6183817"/>
              <a:gd name="connsiteY5" fmla="*/ 379223 h 1800659"/>
              <a:gd name="connsiteX6" fmla="*/ 1737794 w 6183817"/>
              <a:gd name="connsiteY6" fmla="*/ 93202 h 1800659"/>
              <a:gd name="connsiteX7" fmla="*/ 2041149 w 6183817"/>
              <a:gd name="connsiteY7" fmla="*/ 2195 h 1800659"/>
              <a:gd name="connsiteX8" fmla="*/ 2370506 w 6183817"/>
              <a:gd name="connsiteY8" fmla="*/ 166874 h 1800659"/>
              <a:gd name="connsiteX9" fmla="*/ 2647860 w 6183817"/>
              <a:gd name="connsiteY9" fmla="*/ 522233 h 1800659"/>
              <a:gd name="connsiteX10" fmla="*/ 2903546 w 6183817"/>
              <a:gd name="connsiteY10" fmla="*/ 890593 h 1800659"/>
              <a:gd name="connsiteX11" fmla="*/ 3141896 w 6183817"/>
              <a:gd name="connsiteY11" fmla="*/ 1215617 h 1800659"/>
              <a:gd name="connsiteX12" fmla="*/ 3458252 w 6183817"/>
              <a:gd name="connsiteY12" fmla="*/ 1445300 h 1800659"/>
              <a:gd name="connsiteX13" fmla="*/ 3965289 w 6183817"/>
              <a:gd name="connsiteY13" fmla="*/ 1575310 h 1800659"/>
              <a:gd name="connsiteX14" fmla="*/ 4493995 w 6183817"/>
              <a:gd name="connsiteY14" fmla="*/ 1596978 h 1800659"/>
              <a:gd name="connsiteX15" fmla="*/ 5226381 w 6183817"/>
              <a:gd name="connsiteY15" fmla="*/ 1609979 h 1800659"/>
              <a:gd name="connsiteX16" fmla="*/ 5889430 w 6183817"/>
              <a:gd name="connsiteY16" fmla="*/ 1592644 h 1800659"/>
              <a:gd name="connsiteX17" fmla="*/ 6183817 w 6183817"/>
              <a:gd name="connsiteY17" fmla="*/ 1575310 h 180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83817" h="1800659">
                <a:moveTo>
                  <a:pt x="0" y="1800659"/>
                </a:moveTo>
                <a:cubicBezTo>
                  <a:pt x="110508" y="1779352"/>
                  <a:pt x="221016" y="1758045"/>
                  <a:pt x="320690" y="1722654"/>
                </a:cubicBezTo>
                <a:cubicBezTo>
                  <a:pt x="420364" y="1687263"/>
                  <a:pt x="504148" y="1654038"/>
                  <a:pt x="598044" y="1588311"/>
                </a:cubicBezTo>
                <a:cubicBezTo>
                  <a:pt x="691940" y="1522584"/>
                  <a:pt x="790891" y="1453246"/>
                  <a:pt x="884064" y="1328292"/>
                </a:cubicBezTo>
                <a:cubicBezTo>
                  <a:pt x="977238" y="1203338"/>
                  <a:pt x="1064634" y="996767"/>
                  <a:pt x="1157085" y="838589"/>
                </a:cubicBezTo>
                <a:cubicBezTo>
                  <a:pt x="1249536" y="680411"/>
                  <a:pt x="1341987" y="503454"/>
                  <a:pt x="1438772" y="379223"/>
                </a:cubicBezTo>
                <a:cubicBezTo>
                  <a:pt x="1535557" y="254992"/>
                  <a:pt x="1637398" y="156040"/>
                  <a:pt x="1737794" y="93202"/>
                </a:cubicBezTo>
                <a:cubicBezTo>
                  <a:pt x="1838190" y="30364"/>
                  <a:pt x="1935697" y="-10084"/>
                  <a:pt x="2041149" y="2195"/>
                </a:cubicBezTo>
                <a:cubicBezTo>
                  <a:pt x="2146601" y="14474"/>
                  <a:pt x="2269388" y="80201"/>
                  <a:pt x="2370506" y="166874"/>
                </a:cubicBezTo>
                <a:cubicBezTo>
                  <a:pt x="2471624" y="253547"/>
                  <a:pt x="2559020" y="401613"/>
                  <a:pt x="2647860" y="522233"/>
                </a:cubicBezTo>
                <a:cubicBezTo>
                  <a:pt x="2736700" y="642853"/>
                  <a:pt x="2821207" y="775029"/>
                  <a:pt x="2903546" y="890593"/>
                </a:cubicBezTo>
                <a:cubicBezTo>
                  <a:pt x="2985885" y="1006157"/>
                  <a:pt x="3049445" y="1123166"/>
                  <a:pt x="3141896" y="1215617"/>
                </a:cubicBezTo>
                <a:cubicBezTo>
                  <a:pt x="3234347" y="1308068"/>
                  <a:pt x="3321020" y="1385351"/>
                  <a:pt x="3458252" y="1445300"/>
                </a:cubicBezTo>
                <a:cubicBezTo>
                  <a:pt x="3595484" y="1505249"/>
                  <a:pt x="3792665" y="1550030"/>
                  <a:pt x="3965289" y="1575310"/>
                </a:cubicBezTo>
                <a:cubicBezTo>
                  <a:pt x="4137913" y="1600590"/>
                  <a:pt x="4493995" y="1596978"/>
                  <a:pt x="4493995" y="1596978"/>
                </a:cubicBezTo>
                <a:lnTo>
                  <a:pt x="5226381" y="1609979"/>
                </a:lnTo>
                <a:cubicBezTo>
                  <a:pt x="5458953" y="1609257"/>
                  <a:pt x="5729857" y="1598422"/>
                  <a:pt x="5889430" y="1592644"/>
                </a:cubicBezTo>
                <a:cubicBezTo>
                  <a:pt x="6049003" y="1586866"/>
                  <a:pt x="6121701" y="1581088"/>
                  <a:pt x="6183817" y="1575310"/>
                </a:cubicBezTo>
              </a:path>
            </a:pathLst>
          </a:custGeom>
          <a:noFill/>
          <a:ln w="19050">
            <a:solidFill>
              <a:schemeClr val="accent5">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Freeform: Shape 50"/>
          <p:cNvSpPr/>
          <p:nvPr/>
        </p:nvSpPr>
        <p:spPr>
          <a:xfrm>
            <a:off x="1497464" y="2865498"/>
            <a:ext cx="5122048" cy="2031311"/>
          </a:xfrm>
          <a:custGeom>
            <a:avLst/>
            <a:gdLst>
              <a:gd name="connsiteX0" fmla="*/ 0 w 6222076"/>
              <a:gd name="connsiteY0" fmla="*/ 2358335 h 2454577"/>
              <a:gd name="connsiteX1" fmla="*/ 261851 w 6222076"/>
              <a:gd name="connsiteY1" fmla="*/ 2441462 h 2454577"/>
              <a:gd name="connsiteX2" fmla="*/ 440574 w 6222076"/>
              <a:gd name="connsiteY2" fmla="*/ 2441462 h 2454577"/>
              <a:gd name="connsiteX3" fmla="*/ 698269 w 6222076"/>
              <a:gd name="connsiteY3" fmla="*/ 2316771 h 2454577"/>
              <a:gd name="connsiteX4" fmla="*/ 943494 w 6222076"/>
              <a:gd name="connsiteY4" fmla="*/ 1946855 h 2454577"/>
              <a:gd name="connsiteX5" fmla="*/ 1088967 w 6222076"/>
              <a:gd name="connsiteY5" fmla="*/ 1489655 h 2454577"/>
              <a:gd name="connsiteX6" fmla="*/ 1242752 w 6222076"/>
              <a:gd name="connsiteY6" fmla="*/ 808011 h 2454577"/>
              <a:gd name="connsiteX7" fmla="*/ 1359131 w 6222076"/>
              <a:gd name="connsiteY7" fmla="*/ 400688 h 2454577"/>
              <a:gd name="connsiteX8" fmla="*/ 1550323 w 6222076"/>
              <a:gd name="connsiteY8" fmla="*/ 47397 h 2454577"/>
              <a:gd name="connsiteX9" fmla="*/ 1650076 w 6222076"/>
              <a:gd name="connsiteY9" fmla="*/ 5833 h 2454577"/>
              <a:gd name="connsiteX10" fmla="*/ 1770611 w 6222076"/>
              <a:gd name="connsiteY10" fmla="*/ 68178 h 2454577"/>
              <a:gd name="connsiteX11" fmla="*/ 1870363 w 6222076"/>
              <a:gd name="connsiteY11" fmla="*/ 242746 h 2454577"/>
              <a:gd name="connsiteX12" fmla="*/ 2007523 w 6222076"/>
              <a:gd name="connsiteY12" fmla="*/ 687477 h 2454577"/>
              <a:gd name="connsiteX13" fmla="*/ 2103120 w 6222076"/>
              <a:gd name="connsiteY13" fmla="*/ 1074018 h 2454577"/>
              <a:gd name="connsiteX14" fmla="*/ 2194560 w 6222076"/>
              <a:gd name="connsiteY14" fmla="*/ 1552000 h 2454577"/>
              <a:gd name="connsiteX15" fmla="*/ 2281843 w 6222076"/>
              <a:gd name="connsiteY15" fmla="*/ 1988418 h 2454577"/>
              <a:gd name="connsiteX16" fmla="*/ 2369127 w 6222076"/>
              <a:gd name="connsiteY16" fmla="*/ 2237800 h 2454577"/>
              <a:gd name="connsiteX17" fmla="*/ 2614352 w 6222076"/>
              <a:gd name="connsiteY17" fmla="*/ 2399898 h 2454577"/>
              <a:gd name="connsiteX18" fmla="*/ 2930236 w 6222076"/>
              <a:gd name="connsiteY18" fmla="*/ 2295989 h 2454577"/>
              <a:gd name="connsiteX19" fmla="*/ 3200400 w 6222076"/>
              <a:gd name="connsiteY19" fmla="*/ 2142204 h 2454577"/>
              <a:gd name="connsiteX20" fmla="*/ 3690851 w 6222076"/>
              <a:gd name="connsiteY20" fmla="*/ 2009200 h 2454577"/>
              <a:gd name="connsiteX21" fmla="*/ 4484716 w 6222076"/>
              <a:gd name="connsiteY21" fmla="*/ 1921917 h 2454577"/>
              <a:gd name="connsiteX22" fmla="*/ 5224549 w 6222076"/>
              <a:gd name="connsiteY22" fmla="*/ 1921917 h 2454577"/>
              <a:gd name="connsiteX23" fmla="*/ 5881254 w 6222076"/>
              <a:gd name="connsiteY23" fmla="*/ 1934386 h 2454577"/>
              <a:gd name="connsiteX24" fmla="*/ 6222076 w 6222076"/>
              <a:gd name="connsiteY24" fmla="*/ 1946855 h 2454577"/>
              <a:gd name="connsiteX0" fmla="*/ 0 w 6222076"/>
              <a:gd name="connsiteY0" fmla="*/ 2353507 h 2449749"/>
              <a:gd name="connsiteX1" fmla="*/ 261851 w 6222076"/>
              <a:gd name="connsiteY1" fmla="*/ 2436634 h 2449749"/>
              <a:gd name="connsiteX2" fmla="*/ 440574 w 6222076"/>
              <a:gd name="connsiteY2" fmla="*/ 2436634 h 2449749"/>
              <a:gd name="connsiteX3" fmla="*/ 698269 w 6222076"/>
              <a:gd name="connsiteY3" fmla="*/ 2311943 h 2449749"/>
              <a:gd name="connsiteX4" fmla="*/ 943494 w 6222076"/>
              <a:gd name="connsiteY4" fmla="*/ 1942027 h 2449749"/>
              <a:gd name="connsiteX5" fmla="*/ 1088967 w 6222076"/>
              <a:gd name="connsiteY5" fmla="*/ 1484827 h 2449749"/>
              <a:gd name="connsiteX6" fmla="*/ 1242752 w 6222076"/>
              <a:gd name="connsiteY6" fmla="*/ 803183 h 2449749"/>
              <a:gd name="connsiteX7" fmla="*/ 1359131 w 6222076"/>
              <a:gd name="connsiteY7" fmla="*/ 395860 h 2449749"/>
              <a:gd name="connsiteX8" fmla="*/ 1512915 w 6222076"/>
              <a:gd name="connsiteY8" fmla="*/ 104914 h 2449749"/>
              <a:gd name="connsiteX9" fmla="*/ 1650076 w 6222076"/>
              <a:gd name="connsiteY9" fmla="*/ 1005 h 2449749"/>
              <a:gd name="connsiteX10" fmla="*/ 1770611 w 6222076"/>
              <a:gd name="connsiteY10" fmla="*/ 63350 h 2449749"/>
              <a:gd name="connsiteX11" fmla="*/ 1870363 w 6222076"/>
              <a:gd name="connsiteY11" fmla="*/ 237918 h 2449749"/>
              <a:gd name="connsiteX12" fmla="*/ 2007523 w 6222076"/>
              <a:gd name="connsiteY12" fmla="*/ 682649 h 2449749"/>
              <a:gd name="connsiteX13" fmla="*/ 2103120 w 6222076"/>
              <a:gd name="connsiteY13" fmla="*/ 1069190 h 2449749"/>
              <a:gd name="connsiteX14" fmla="*/ 2194560 w 6222076"/>
              <a:gd name="connsiteY14" fmla="*/ 1547172 h 2449749"/>
              <a:gd name="connsiteX15" fmla="*/ 2281843 w 6222076"/>
              <a:gd name="connsiteY15" fmla="*/ 1983590 h 2449749"/>
              <a:gd name="connsiteX16" fmla="*/ 2369127 w 6222076"/>
              <a:gd name="connsiteY16" fmla="*/ 2232972 h 2449749"/>
              <a:gd name="connsiteX17" fmla="*/ 2614352 w 6222076"/>
              <a:gd name="connsiteY17" fmla="*/ 2395070 h 2449749"/>
              <a:gd name="connsiteX18" fmla="*/ 2930236 w 6222076"/>
              <a:gd name="connsiteY18" fmla="*/ 2291161 h 2449749"/>
              <a:gd name="connsiteX19" fmla="*/ 3200400 w 6222076"/>
              <a:gd name="connsiteY19" fmla="*/ 2137376 h 2449749"/>
              <a:gd name="connsiteX20" fmla="*/ 3690851 w 6222076"/>
              <a:gd name="connsiteY20" fmla="*/ 2004372 h 2449749"/>
              <a:gd name="connsiteX21" fmla="*/ 4484716 w 6222076"/>
              <a:gd name="connsiteY21" fmla="*/ 1917089 h 2449749"/>
              <a:gd name="connsiteX22" fmla="*/ 5224549 w 6222076"/>
              <a:gd name="connsiteY22" fmla="*/ 1917089 h 2449749"/>
              <a:gd name="connsiteX23" fmla="*/ 5881254 w 6222076"/>
              <a:gd name="connsiteY23" fmla="*/ 1929558 h 2449749"/>
              <a:gd name="connsiteX24" fmla="*/ 6222076 w 6222076"/>
              <a:gd name="connsiteY24" fmla="*/ 1942027 h 2449749"/>
              <a:gd name="connsiteX0" fmla="*/ 0 w 6222076"/>
              <a:gd name="connsiteY0" fmla="*/ 2353194 h 2449436"/>
              <a:gd name="connsiteX1" fmla="*/ 261851 w 6222076"/>
              <a:gd name="connsiteY1" fmla="*/ 2436321 h 2449436"/>
              <a:gd name="connsiteX2" fmla="*/ 440574 w 6222076"/>
              <a:gd name="connsiteY2" fmla="*/ 2436321 h 2449436"/>
              <a:gd name="connsiteX3" fmla="*/ 698269 w 6222076"/>
              <a:gd name="connsiteY3" fmla="*/ 2311630 h 2449436"/>
              <a:gd name="connsiteX4" fmla="*/ 943494 w 6222076"/>
              <a:gd name="connsiteY4" fmla="*/ 1941714 h 2449436"/>
              <a:gd name="connsiteX5" fmla="*/ 1088967 w 6222076"/>
              <a:gd name="connsiteY5" fmla="*/ 1484514 h 2449436"/>
              <a:gd name="connsiteX6" fmla="*/ 1242752 w 6222076"/>
              <a:gd name="connsiteY6" fmla="*/ 802870 h 2449436"/>
              <a:gd name="connsiteX7" fmla="*/ 1359131 w 6222076"/>
              <a:gd name="connsiteY7" fmla="*/ 395547 h 2449436"/>
              <a:gd name="connsiteX8" fmla="*/ 1500446 w 6222076"/>
              <a:gd name="connsiteY8" fmla="*/ 96288 h 2449436"/>
              <a:gd name="connsiteX9" fmla="*/ 1650076 w 6222076"/>
              <a:gd name="connsiteY9" fmla="*/ 692 h 2449436"/>
              <a:gd name="connsiteX10" fmla="*/ 1770611 w 6222076"/>
              <a:gd name="connsiteY10" fmla="*/ 63037 h 2449436"/>
              <a:gd name="connsiteX11" fmla="*/ 1870363 w 6222076"/>
              <a:gd name="connsiteY11" fmla="*/ 237605 h 2449436"/>
              <a:gd name="connsiteX12" fmla="*/ 2007523 w 6222076"/>
              <a:gd name="connsiteY12" fmla="*/ 682336 h 2449436"/>
              <a:gd name="connsiteX13" fmla="*/ 2103120 w 6222076"/>
              <a:gd name="connsiteY13" fmla="*/ 1068877 h 2449436"/>
              <a:gd name="connsiteX14" fmla="*/ 2194560 w 6222076"/>
              <a:gd name="connsiteY14" fmla="*/ 1546859 h 2449436"/>
              <a:gd name="connsiteX15" fmla="*/ 2281843 w 6222076"/>
              <a:gd name="connsiteY15" fmla="*/ 1983277 h 2449436"/>
              <a:gd name="connsiteX16" fmla="*/ 2369127 w 6222076"/>
              <a:gd name="connsiteY16" fmla="*/ 2232659 h 2449436"/>
              <a:gd name="connsiteX17" fmla="*/ 2614352 w 6222076"/>
              <a:gd name="connsiteY17" fmla="*/ 2394757 h 2449436"/>
              <a:gd name="connsiteX18" fmla="*/ 2930236 w 6222076"/>
              <a:gd name="connsiteY18" fmla="*/ 2290848 h 2449436"/>
              <a:gd name="connsiteX19" fmla="*/ 3200400 w 6222076"/>
              <a:gd name="connsiteY19" fmla="*/ 2137063 h 2449436"/>
              <a:gd name="connsiteX20" fmla="*/ 3690851 w 6222076"/>
              <a:gd name="connsiteY20" fmla="*/ 2004059 h 2449436"/>
              <a:gd name="connsiteX21" fmla="*/ 4484716 w 6222076"/>
              <a:gd name="connsiteY21" fmla="*/ 1916776 h 2449436"/>
              <a:gd name="connsiteX22" fmla="*/ 5224549 w 6222076"/>
              <a:gd name="connsiteY22" fmla="*/ 1916776 h 2449436"/>
              <a:gd name="connsiteX23" fmla="*/ 5881254 w 6222076"/>
              <a:gd name="connsiteY23" fmla="*/ 1929245 h 2449436"/>
              <a:gd name="connsiteX24" fmla="*/ 6222076 w 6222076"/>
              <a:gd name="connsiteY24" fmla="*/ 1941714 h 2449436"/>
              <a:gd name="connsiteX0" fmla="*/ 0 w 6222076"/>
              <a:gd name="connsiteY0" fmla="*/ 2353194 h 2449436"/>
              <a:gd name="connsiteX1" fmla="*/ 261851 w 6222076"/>
              <a:gd name="connsiteY1" fmla="*/ 2436321 h 2449436"/>
              <a:gd name="connsiteX2" fmla="*/ 440574 w 6222076"/>
              <a:gd name="connsiteY2" fmla="*/ 2436321 h 2449436"/>
              <a:gd name="connsiteX3" fmla="*/ 698269 w 6222076"/>
              <a:gd name="connsiteY3" fmla="*/ 2311630 h 2449436"/>
              <a:gd name="connsiteX4" fmla="*/ 943494 w 6222076"/>
              <a:gd name="connsiteY4" fmla="*/ 1941714 h 2449436"/>
              <a:gd name="connsiteX5" fmla="*/ 1088967 w 6222076"/>
              <a:gd name="connsiteY5" fmla="*/ 1484514 h 2449436"/>
              <a:gd name="connsiteX6" fmla="*/ 1242752 w 6222076"/>
              <a:gd name="connsiteY6" fmla="*/ 802870 h 2449436"/>
              <a:gd name="connsiteX7" fmla="*/ 1359131 w 6222076"/>
              <a:gd name="connsiteY7" fmla="*/ 391390 h 2449436"/>
              <a:gd name="connsiteX8" fmla="*/ 1500446 w 6222076"/>
              <a:gd name="connsiteY8" fmla="*/ 96288 h 2449436"/>
              <a:gd name="connsiteX9" fmla="*/ 1650076 w 6222076"/>
              <a:gd name="connsiteY9" fmla="*/ 692 h 2449436"/>
              <a:gd name="connsiteX10" fmla="*/ 1770611 w 6222076"/>
              <a:gd name="connsiteY10" fmla="*/ 63037 h 2449436"/>
              <a:gd name="connsiteX11" fmla="*/ 1870363 w 6222076"/>
              <a:gd name="connsiteY11" fmla="*/ 237605 h 2449436"/>
              <a:gd name="connsiteX12" fmla="*/ 2007523 w 6222076"/>
              <a:gd name="connsiteY12" fmla="*/ 682336 h 2449436"/>
              <a:gd name="connsiteX13" fmla="*/ 2103120 w 6222076"/>
              <a:gd name="connsiteY13" fmla="*/ 1068877 h 2449436"/>
              <a:gd name="connsiteX14" fmla="*/ 2194560 w 6222076"/>
              <a:gd name="connsiteY14" fmla="*/ 1546859 h 2449436"/>
              <a:gd name="connsiteX15" fmla="*/ 2281843 w 6222076"/>
              <a:gd name="connsiteY15" fmla="*/ 1983277 h 2449436"/>
              <a:gd name="connsiteX16" fmla="*/ 2369127 w 6222076"/>
              <a:gd name="connsiteY16" fmla="*/ 2232659 h 2449436"/>
              <a:gd name="connsiteX17" fmla="*/ 2614352 w 6222076"/>
              <a:gd name="connsiteY17" fmla="*/ 2394757 h 2449436"/>
              <a:gd name="connsiteX18" fmla="*/ 2930236 w 6222076"/>
              <a:gd name="connsiteY18" fmla="*/ 2290848 h 2449436"/>
              <a:gd name="connsiteX19" fmla="*/ 3200400 w 6222076"/>
              <a:gd name="connsiteY19" fmla="*/ 2137063 h 2449436"/>
              <a:gd name="connsiteX20" fmla="*/ 3690851 w 6222076"/>
              <a:gd name="connsiteY20" fmla="*/ 2004059 h 2449436"/>
              <a:gd name="connsiteX21" fmla="*/ 4484716 w 6222076"/>
              <a:gd name="connsiteY21" fmla="*/ 1916776 h 2449436"/>
              <a:gd name="connsiteX22" fmla="*/ 5224549 w 6222076"/>
              <a:gd name="connsiteY22" fmla="*/ 1916776 h 2449436"/>
              <a:gd name="connsiteX23" fmla="*/ 5881254 w 6222076"/>
              <a:gd name="connsiteY23" fmla="*/ 1929245 h 2449436"/>
              <a:gd name="connsiteX24" fmla="*/ 6222076 w 6222076"/>
              <a:gd name="connsiteY24" fmla="*/ 1941714 h 2449436"/>
              <a:gd name="connsiteX0" fmla="*/ 0 w 6222076"/>
              <a:gd name="connsiteY0" fmla="*/ 2353194 h 2449436"/>
              <a:gd name="connsiteX1" fmla="*/ 261851 w 6222076"/>
              <a:gd name="connsiteY1" fmla="*/ 2436321 h 2449436"/>
              <a:gd name="connsiteX2" fmla="*/ 440574 w 6222076"/>
              <a:gd name="connsiteY2" fmla="*/ 2436321 h 2449436"/>
              <a:gd name="connsiteX3" fmla="*/ 698269 w 6222076"/>
              <a:gd name="connsiteY3" fmla="*/ 2311630 h 2449436"/>
              <a:gd name="connsiteX4" fmla="*/ 943494 w 6222076"/>
              <a:gd name="connsiteY4" fmla="*/ 1941714 h 2449436"/>
              <a:gd name="connsiteX5" fmla="*/ 1088967 w 6222076"/>
              <a:gd name="connsiteY5" fmla="*/ 1484514 h 2449436"/>
              <a:gd name="connsiteX6" fmla="*/ 1242752 w 6222076"/>
              <a:gd name="connsiteY6" fmla="*/ 802870 h 2449436"/>
              <a:gd name="connsiteX7" fmla="*/ 1359131 w 6222076"/>
              <a:gd name="connsiteY7" fmla="*/ 391390 h 2449436"/>
              <a:gd name="connsiteX8" fmla="*/ 1500446 w 6222076"/>
              <a:gd name="connsiteY8" fmla="*/ 96288 h 2449436"/>
              <a:gd name="connsiteX9" fmla="*/ 1650076 w 6222076"/>
              <a:gd name="connsiteY9" fmla="*/ 692 h 2449436"/>
              <a:gd name="connsiteX10" fmla="*/ 1770611 w 6222076"/>
              <a:gd name="connsiteY10" fmla="*/ 63037 h 2449436"/>
              <a:gd name="connsiteX11" fmla="*/ 1870363 w 6222076"/>
              <a:gd name="connsiteY11" fmla="*/ 237605 h 2449436"/>
              <a:gd name="connsiteX12" fmla="*/ 2007523 w 6222076"/>
              <a:gd name="connsiteY12" fmla="*/ 682336 h 2449436"/>
              <a:gd name="connsiteX13" fmla="*/ 2103120 w 6222076"/>
              <a:gd name="connsiteY13" fmla="*/ 1068877 h 2449436"/>
              <a:gd name="connsiteX14" fmla="*/ 2194560 w 6222076"/>
              <a:gd name="connsiteY14" fmla="*/ 1546859 h 2449436"/>
              <a:gd name="connsiteX15" fmla="*/ 2281843 w 6222076"/>
              <a:gd name="connsiteY15" fmla="*/ 1983277 h 2449436"/>
              <a:gd name="connsiteX16" fmla="*/ 2369127 w 6222076"/>
              <a:gd name="connsiteY16" fmla="*/ 2232659 h 2449436"/>
              <a:gd name="connsiteX17" fmla="*/ 2614352 w 6222076"/>
              <a:gd name="connsiteY17" fmla="*/ 2394757 h 2449436"/>
              <a:gd name="connsiteX18" fmla="*/ 2930236 w 6222076"/>
              <a:gd name="connsiteY18" fmla="*/ 2290848 h 2449436"/>
              <a:gd name="connsiteX19" fmla="*/ 3200400 w 6222076"/>
              <a:gd name="connsiteY19" fmla="*/ 2137063 h 2449436"/>
              <a:gd name="connsiteX20" fmla="*/ 3690851 w 6222076"/>
              <a:gd name="connsiteY20" fmla="*/ 2004059 h 2449436"/>
              <a:gd name="connsiteX21" fmla="*/ 4484716 w 6222076"/>
              <a:gd name="connsiteY21" fmla="*/ 1916776 h 2449436"/>
              <a:gd name="connsiteX22" fmla="*/ 5224549 w 6222076"/>
              <a:gd name="connsiteY22" fmla="*/ 1916776 h 2449436"/>
              <a:gd name="connsiteX23" fmla="*/ 5881254 w 6222076"/>
              <a:gd name="connsiteY23" fmla="*/ 1929245 h 2449436"/>
              <a:gd name="connsiteX24" fmla="*/ 6222076 w 6222076"/>
              <a:gd name="connsiteY24" fmla="*/ 1941714 h 2449436"/>
              <a:gd name="connsiteX0" fmla="*/ 0 w 6222076"/>
              <a:gd name="connsiteY0" fmla="*/ 2353194 h 2449436"/>
              <a:gd name="connsiteX1" fmla="*/ 261851 w 6222076"/>
              <a:gd name="connsiteY1" fmla="*/ 2436321 h 2449436"/>
              <a:gd name="connsiteX2" fmla="*/ 440574 w 6222076"/>
              <a:gd name="connsiteY2" fmla="*/ 2436321 h 2449436"/>
              <a:gd name="connsiteX3" fmla="*/ 698269 w 6222076"/>
              <a:gd name="connsiteY3" fmla="*/ 2311630 h 2449436"/>
              <a:gd name="connsiteX4" fmla="*/ 943494 w 6222076"/>
              <a:gd name="connsiteY4" fmla="*/ 1941714 h 2449436"/>
              <a:gd name="connsiteX5" fmla="*/ 1088967 w 6222076"/>
              <a:gd name="connsiteY5" fmla="*/ 1484514 h 2449436"/>
              <a:gd name="connsiteX6" fmla="*/ 1242752 w 6222076"/>
              <a:gd name="connsiteY6" fmla="*/ 802870 h 2449436"/>
              <a:gd name="connsiteX7" fmla="*/ 1359131 w 6222076"/>
              <a:gd name="connsiteY7" fmla="*/ 391390 h 2449436"/>
              <a:gd name="connsiteX8" fmla="*/ 1500446 w 6222076"/>
              <a:gd name="connsiteY8" fmla="*/ 96288 h 2449436"/>
              <a:gd name="connsiteX9" fmla="*/ 1650076 w 6222076"/>
              <a:gd name="connsiteY9" fmla="*/ 692 h 2449436"/>
              <a:gd name="connsiteX10" fmla="*/ 1770611 w 6222076"/>
              <a:gd name="connsiteY10" fmla="*/ 63037 h 2449436"/>
              <a:gd name="connsiteX11" fmla="*/ 1870363 w 6222076"/>
              <a:gd name="connsiteY11" fmla="*/ 237605 h 2449436"/>
              <a:gd name="connsiteX12" fmla="*/ 2007523 w 6222076"/>
              <a:gd name="connsiteY12" fmla="*/ 682336 h 2449436"/>
              <a:gd name="connsiteX13" fmla="*/ 2103120 w 6222076"/>
              <a:gd name="connsiteY13" fmla="*/ 1068877 h 2449436"/>
              <a:gd name="connsiteX14" fmla="*/ 2194560 w 6222076"/>
              <a:gd name="connsiteY14" fmla="*/ 1546859 h 2449436"/>
              <a:gd name="connsiteX15" fmla="*/ 2281843 w 6222076"/>
              <a:gd name="connsiteY15" fmla="*/ 1983277 h 2449436"/>
              <a:gd name="connsiteX16" fmla="*/ 2369127 w 6222076"/>
              <a:gd name="connsiteY16" fmla="*/ 2232659 h 2449436"/>
              <a:gd name="connsiteX17" fmla="*/ 2614352 w 6222076"/>
              <a:gd name="connsiteY17" fmla="*/ 2394757 h 2449436"/>
              <a:gd name="connsiteX18" fmla="*/ 2930236 w 6222076"/>
              <a:gd name="connsiteY18" fmla="*/ 2290848 h 2449436"/>
              <a:gd name="connsiteX19" fmla="*/ 3200400 w 6222076"/>
              <a:gd name="connsiteY19" fmla="*/ 2137063 h 2449436"/>
              <a:gd name="connsiteX20" fmla="*/ 3690851 w 6222076"/>
              <a:gd name="connsiteY20" fmla="*/ 2004059 h 2449436"/>
              <a:gd name="connsiteX21" fmla="*/ 4484716 w 6222076"/>
              <a:gd name="connsiteY21" fmla="*/ 1916776 h 2449436"/>
              <a:gd name="connsiteX22" fmla="*/ 5224549 w 6222076"/>
              <a:gd name="connsiteY22" fmla="*/ 1916776 h 2449436"/>
              <a:gd name="connsiteX23" fmla="*/ 5881254 w 6222076"/>
              <a:gd name="connsiteY23" fmla="*/ 1929245 h 2449436"/>
              <a:gd name="connsiteX24" fmla="*/ 6222076 w 6222076"/>
              <a:gd name="connsiteY24" fmla="*/ 1941714 h 2449436"/>
              <a:gd name="connsiteX0" fmla="*/ 0 w 6222076"/>
              <a:gd name="connsiteY0" fmla="*/ 2353194 h 2449436"/>
              <a:gd name="connsiteX1" fmla="*/ 261851 w 6222076"/>
              <a:gd name="connsiteY1" fmla="*/ 2436321 h 2449436"/>
              <a:gd name="connsiteX2" fmla="*/ 440574 w 6222076"/>
              <a:gd name="connsiteY2" fmla="*/ 2436321 h 2449436"/>
              <a:gd name="connsiteX3" fmla="*/ 698269 w 6222076"/>
              <a:gd name="connsiteY3" fmla="*/ 2311630 h 2449436"/>
              <a:gd name="connsiteX4" fmla="*/ 943494 w 6222076"/>
              <a:gd name="connsiteY4" fmla="*/ 1941714 h 2449436"/>
              <a:gd name="connsiteX5" fmla="*/ 1088967 w 6222076"/>
              <a:gd name="connsiteY5" fmla="*/ 1484514 h 2449436"/>
              <a:gd name="connsiteX6" fmla="*/ 1242752 w 6222076"/>
              <a:gd name="connsiteY6" fmla="*/ 802870 h 2449436"/>
              <a:gd name="connsiteX7" fmla="*/ 1359131 w 6222076"/>
              <a:gd name="connsiteY7" fmla="*/ 391390 h 2449436"/>
              <a:gd name="connsiteX8" fmla="*/ 1500446 w 6222076"/>
              <a:gd name="connsiteY8" fmla="*/ 96288 h 2449436"/>
              <a:gd name="connsiteX9" fmla="*/ 1641764 w 6222076"/>
              <a:gd name="connsiteY9" fmla="*/ 692 h 2449436"/>
              <a:gd name="connsiteX10" fmla="*/ 1770611 w 6222076"/>
              <a:gd name="connsiteY10" fmla="*/ 63037 h 2449436"/>
              <a:gd name="connsiteX11" fmla="*/ 1870363 w 6222076"/>
              <a:gd name="connsiteY11" fmla="*/ 237605 h 2449436"/>
              <a:gd name="connsiteX12" fmla="*/ 2007523 w 6222076"/>
              <a:gd name="connsiteY12" fmla="*/ 682336 h 2449436"/>
              <a:gd name="connsiteX13" fmla="*/ 2103120 w 6222076"/>
              <a:gd name="connsiteY13" fmla="*/ 1068877 h 2449436"/>
              <a:gd name="connsiteX14" fmla="*/ 2194560 w 6222076"/>
              <a:gd name="connsiteY14" fmla="*/ 1546859 h 2449436"/>
              <a:gd name="connsiteX15" fmla="*/ 2281843 w 6222076"/>
              <a:gd name="connsiteY15" fmla="*/ 1983277 h 2449436"/>
              <a:gd name="connsiteX16" fmla="*/ 2369127 w 6222076"/>
              <a:gd name="connsiteY16" fmla="*/ 2232659 h 2449436"/>
              <a:gd name="connsiteX17" fmla="*/ 2614352 w 6222076"/>
              <a:gd name="connsiteY17" fmla="*/ 2394757 h 2449436"/>
              <a:gd name="connsiteX18" fmla="*/ 2930236 w 6222076"/>
              <a:gd name="connsiteY18" fmla="*/ 2290848 h 2449436"/>
              <a:gd name="connsiteX19" fmla="*/ 3200400 w 6222076"/>
              <a:gd name="connsiteY19" fmla="*/ 2137063 h 2449436"/>
              <a:gd name="connsiteX20" fmla="*/ 3690851 w 6222076"/>
              <a:gd name="connsiteY20" fmla="*/ 2004059 h 2449436"/>
              <a:gd name="connsiteX21" fmla="*/ 4484716 w 6222076"/>
              <a:gd name="connsiteY21" fmla="*/ 1916776 h 2449436"/>
              <a:gd name="connsiteX22" fmla="*/ 5224549 w 6222076"/>
              <a:gd name="connsiteY22" fmla="*/ 1916776 h 2449436"/>
              <a:gd name="connsiteX23" fmla="*/ 5881254 w 6222076"/>
              <a:gd name="connsiteY23" fmla="*/ 1929245 h 2449436"/>
              <a:gd name="connsiteX24" fmla="*/ 6222076 w 6222076"/>
              <a:gd name="connsiteY24" fmla="*/ 1941714 h 2449436"/>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91145 w 6222076"/>
              <a:gd name="connsiteY11" fmla="*/ 283508 h 2449619"/>
              <a:gd name="connsiteX12" fmla="*/ 2007523 w 6222076"/>
              <a:gd name="connsiteY12" fmla="*/ 682519 h 2449619"/>
              <a:gd name="connsiteX13" fmla="*/ 2103120 w 6222076"/>
              <a:gd name="connsiteY13" fmla="*/ 1069060 h 2449619"/>
              <a:gd name="connsiteX14" fmla="*/ 2194560 w 6222076"/>
              <a:gd name="connsiteY14" fmla="*/ 1547042 h 2449619"/>
              <a:gd name="connsiteX15" fmla="*/ 2281843 w 6222076"/>
              <a:gd name="connsiteY15" fmla="*/ 1983460 h 2449619"/>
              <a:gd name="connsiteX16" fmla="*/ 2369127 w 6222076"/>
              <a:gd name="connsiteY16" fmla="*/ 2232842 h 2449619"/>
              <a:gd name="connsiteX17" fmla="*/ 2614352 w 6222076"/>
              <a:gd name="connsiteY17" fmla="*/ 2394940 h 2449619"/>
              <a:gd name="connsiteX18" fmla="*/ 2930236 w 6222076"/>
              <a:gd name="connsiteY18" fmla="*/ 2291031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103120 w 6222076"/>
              <a:gd name="connsiteY13" fmla="*/ 1069060 h 2449619"/>
              <a:gd name="connsiteX14" fmla="*/ 2194560 w 6222076"/>
              <a:gd name="connsiteY14" fmla="*/ 1547042 h 2449619"/>
              <a:gd name="connsiteX15" fmla="*/ 2281843 w 6222076"/>
              <a:gd name="connsiteY15" fmla="*/ 1983460 h 2449619"/>
              <a:gd name="connsiteX16" fmla="*/ 2369127 w 6222076"/>
              <a:gd name="connsiteY16" fmla="*/ 2232842 h 2449619"/>
              <a:gd name="connsiteX17" fmla="*/ 2614352 w 6222076"/>
              <a:gd name="connsiteY17" fmla="*/ 2394940 h 2449619"/>
              <a:gd name="connsiteX18" fmla="*/ 2930236 w 6222076"/>
              <a:gd name="connsiteY18" fmla="*/ 2291031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47042 h 2449619"/>
              <a:gd name="connsiteX15" fmla="*/ 2281843 w 6222076"/>
              <a:gd name="connsiteY15" fmla="*/ 1983460 h 2449619"/>
              <a:gd name="connsiteX16" fmla="*/ 2369127 w 6222076"/>
              <a:gd name="connsiteY16" fmla="*/ 2232842 h 2449619"/>
              <a:gd name="connsiteX17" fmla="*/ 2614352 w 6222076"/>
              <a:gd name="connsiteY17" fmla="*/ 2394940 h 2449619"/>
              <a:gd name="connsiteX18" fmla="*/ 2930236 w 6222076"/>
              <a:gd name="connsiteY18" fmla="*/ 2291031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81843 w 6222076"/>
              <a:gd name="connsiteY15" fmla="*/ 1983460 h 2449619"/>
              <a:gd name="connsiteX16" fmla="*/ 2369127 w 6222076"/>
              <a:gd name="connsiteY16" fmla="*/ 2232842 h 2449619"/>
              <a:gd name="connsiteX17" fmla="*/ 2614352 w 6222076"/>
              <a:gd name="connsiteY17" fmla="*/ 2394940 h 2449619"/>
              <a:gd name="connsiteX18" fmla="*/ 2930236 w 6222076"/>
              <a:gd name="connsiteY18" fmla="*/ 2291031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61062 w 6222076"/>
              <a:gd name="connsiteY15" fmla="*/ 1966834 h 2449619"/>
              <a:gd name="connsiteX16" fmla="*/ 2369127 w 6222076"/>
              <a:gd name="connsiteY16" fmla="*/ 2232842 h 2449619"/>
              <a:gd name="connsiteX17" fmla="*/ 2614352 w 6222076"/>
              <a:gd name="connsiteY17" fmla="*/ 2394940 h 2449619"/>
              <a:gd name="connsiteX18" fmla="*/ 2930236 w 6222076"/>
              <a:gd name="connsiteY18" fmla="*/ 2291031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69375 w 6222076"/>
              <a:gd name="connsiteY15" fmla="*/ 1958521 h 2449619"/>
              <a:gd name="connsiteX16" fmla="*/ 2369127 w 6222076"/>
              <a:gd name="connsiteY16" fmla="*/ 2232842 h 2449619"/>
              <a:gd name="connsiteX17" fmla="*/ 2614352 w 6222076"/>
              <a:gd name="connsiteY17" fmla="*/ 2394940 h 2449619"/>
              <a:gd name="connsiteX18" fmla="*/ 2930236 w 6222076"/>
              <a:gd name="connsiteY18" fmla="*/ 2291031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65219 w 6222076"/>
              <a:gd name="connsiteY15" fmla="*/ 1958521 h 2449619"/>
              <a:gd name="connsiteX16" fmla="*/ 2369127 w 6222076"/>
              <a:gd name="connsiteY16" fmla="*/ 2232842 h 2449619"/>
              <a:gd name="connsiteX17" fmla="*/ 2614352 w 6222076"/>
              <a:gd name="connsiteY17" fmla="*/ 2394940 h 2449619"/>
              <a:gd name="connsiteX18" fmla="*/ 2930236 w 6222076"/>
              <a:gd name="connsiteY18" fmla="*/ 2291031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73531 w 6222076"/>
              <a:gd name="connsiteY15" fmla="*/ 1950208 h 2449619"/>
              <a:gd name="connsiteX16" fmla="*/ 2369127 w 6222076"/>
              <a:gd name="connsiteY16" fmla="*/ 2232842 h 2449619"/>
              <a:gd name="connsiteX17" fmla="*/ 2614352 w 6222076"/>
              <a:gd name="connsiteY17" fmla="*/ 2394940 h 2449619"/>
              <a:gd name="connsiteX18" fmla="*/ 2930236 w 6222076"/>
              <a:gd name="connsiteY18" fmla="*/ 2291031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69375 w 6222076"/>
              <a:gd name="connsiteY15" fmla="*/ 1950208 h 2449619"/>
              <a:gd name="connsiteX16" fmla="*/ 2369127 w 6222076"/>
              <a:gd name="connsiteY16" fmla="*/ 2232842 h 2449619"/>
              <a:gd name="connsiteX17" fmla="*/ 2614352 w 6222076"/>
              <a:gd name="connsiteY17" fmla="*/ 2394940 h 2449619"/>
              <a:gd name="connsiteX18" fmla="*/ 2930236 w 6222076"/>
              <a:gd name="connsiteY18" fmla="*/ 2291031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69375 w 6222076"/>
              <a:gd name="connsiteY15" fmla="*/ 1950208 h 2449619"/>
              <a:gd name="connsiteX16" fmla="*/ 2381596 w 6222076"/>
              <a:gd name="connsiteY16" fmla="*/ 2249467 h 2449619"/>
              <a:gd name="connsiteX17" fmla="*/ 2614352 w 6222076"/>
              <a:gd name="connsiteY17" fmla="*/ 2394940 h 2449619"/>
              <a:gd name="connsiteX18" fmla="*/ 2930236 w 6222076"/>
              <a:gd name="connsiteY18" fmla="*/ 2291031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69375 w 6222076"/>
              <a:gd name="connsiteY15" fmla="*/ 1950208 h 2449619"/>
              <a:gd name="connsiteX16" fmla="*/ 2381596 w 6222076"/>
              <a:gd name="connsiteY16" fmla="*/ 2249467 h 2449619"/>
              <a:gd name="connsiteX17" fmla="*/ 2614352 w 6222076"/>
              <a:gd name="connsiteY17" fmla="*/ 2394940 h 2449619"/>
              <a:gd name="connsiteX18" fmla="*/ 2930236 w 6222076"/>
              <a:gd name="connsiteY18" fmla="*/ 2291031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69375 w 6222076"/>
              <a:gd name="connsiteY15" fmla="*/ 1950208 h 2449619"/>
              <a:gd name="connsiteX16" fmla="*/ 2381596 w 6222076"/>
              <a:gd name="connsiteY16" fmla="*/ 2249467 h 2449619"/>
              <a:gd name="connsiteX17" fmla="*/ 2614352 w 6222076"/>
              <a:gd name="connsiteY17" fmla="*/ 2394940 h 2449619"/>
              <a:gd name="connsiteX18" fmla="*/ 2942706 w 6222076"/>
              <a:gd name="connsiteY18" fmla="*/ 2274406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69375 w 6222076"/>
              <a:gd name="connsiteY15" fmla="*/ 1950208 h 2449619"/>
              <a:gd name="connsiteX16" fmla="*/ 2381596 w 6222076"/>
              <a:gd name="connsiteY16" fmla="*/ 2249467 h 2449619"/>
              <a:gd name="connsiteX17" fmla="*/ 2614352 w 6222076"/>
              <a:gd name="connsiteY17" fmla="*/ 2394940 h 2449619"/>
              <a:gd name="connsiteX18" fmla="*/ 2913611 w 6222076"/>
              <a:gd name="connsiteY18" fmla="*/ 2311813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69375 w 6222076"/>
              <a:gd name="connsiteY15" fmla="*/ 1950208 h 2449619"/>
              <a:gd name="connsiteX16" fmla="*/ 2381596 w 6222076"/>
              <a:gd name="connsiteY16" fmla="*/ 2249467 h 2449619"/>
              <a:gd name="connsiteX17" fmla="*/ 2614352 w 6222076"/>
              <a:gd name="connsiteY17" fmla="*/ 2394940 h 2449619"/>
              <a:gd name="connsiteX18" fmla="*/ 2921923 w 6222076"/>
              <a:gd name="connsiteY18" fmla="*/ 2303500 h 2449619"/>
              <a:gd name="connsiteX19" fmla="*/ 3200400 w 6222076"/>
              <a:gd name="connsiteY19" fmla="*/ 2137246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69375 w 6222076"/>
              <a:gd name="connsiteY15" fmla="*/ 1950208 h 2449619"/>
              <a:gd name="connsiteX16" fmla="*/ 2381596 w 6222076"/>
              <a:gd name="connsiteY16" fmla="*/ 2249467 h 2449619"/>
              <a:gd name="connsiteX17" fmla="*/ 2614352 w 6222076"/>
              <a:gd name="connsiteY17" fmla="*/ 2394940 h 2449619"/>
              <a:gd name="connsiteX18" fmla="*/ 2921923 w 6222076"/>
              <a:gd name="connsiteY18" fmla="*/ 2303500 h 2449619"/>
              <a:gd name="connsiteX19" fmla="*/ 3225339 w 6222076"/>
              <a:gd name="connsiteY19" fmla="*/ 2124777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69375 w 6222076"/>
              <a:gd name="connsiteY15" fmla="*/ 1950208 h 2449619"/>
              <a:gd name="connsiteX16" fmla="*/ 2381596 w 6222076"/>
              <a:gd name="connsiteY16" fmla="*/ 2249467 h 2449619"/>
              <a:gd name="connsiteX17" fmla="*/ 2614352 w 6222076"/>
              <a:gd name="connsiteY17" fmla="*/ 2394940 h 2449619"/>
              <a:gd name="connsiteX18" fmla="*/ 2921923 w 6222076"/>
              <a:gd name="connsiteY18" fmla="*/ 2303500 h 2449619"/>
              <a:gd name="connsiteX19" fmla="*/ 3217027 w 6222076"/>
              <a:gd name="connsiteY19" fmla="*/ 2120620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222076"/>
              <a:gd name="connsiteY0" fmla="*/ 2353377 h 2449619"/>
              <a:gd name="connsiteX1" fmla="*/ 261851 w 6222076"/>
              <a:gd name="connsiteY1" fmla="*/ 2436504 h 2449619"/>
              <a:gd name="connsiteX2" fmla="*/ 440574 w 6222076"/>
              <a:gd name="connsiteY2" fmla="*/ 2436504 h 2449619"/>
              <a:gd name="connsiteX3" fmla="*/ 698269 w 6222076"/>
              <a:gd name="connsiteY3" fmla="*/ 2311813 h 2449619"/>
              <a:gd name="connsiteX4" fmla="*/ 943494 w 6222076"/>
              <a:gd name="connsiteY4" fmla="*/ 1941897 h 2449619"/>
              <a:gd name="connsiteX5" fmla="*/ 1088967 w 6222076"/>
              <a:gd name="connsiteY5" fmla="*/ 1484697 h 2449619"/>
              <a:gd name="connsiteX6" fmla="*/ 1242752 w 6222076"/>
              <a:gd name="connsiteY6" fmla="*/ 803053 h 2449619"/>
              <a:gd name="connsiteX7" fmla="*/ 1359131 w 6222076"/>
              <a:gd name="connsiteY7" fmla="*/ 391573 h 2449619"/>
              <a:gd name="connsiteX8" fmla="*/ 1500446 w 6222076"/>
              <a:gd name="connsiteY8" fmla="*/ 96471 h 2449619"/>
              <a:gd name="connsiteX9" fmla="*/ 1641764 w 6222076"/>
              <a:gd name="connsiteY9" fmla="*/ 875 h 2449619"/>
              <a:gd name="connsiteX10" fmla="*/ 1770611 w 6222076"/>
              <a:gd name="connsiteY10" fmla="*/ 63220 h 2449619"/>
              <a:gd name="connsiteX11" fmla="*/ 1886989 w 6222076"/>
              <a:gd name="connsiteY11" fmla="*/ 283508 h 2449619"/>
              <a:gd name="connsiteX12" fmla="*/ 2007523 w 6222076"/>
              <a:gd name="connsiteY12" fmla="*/ 682519 h 2449619"/>
              <a:gd name="connsiteX13" fmla="*/ 2098963 w 6222076"/>
              <a:gd name="connsiteY13" fmla="*/ 1069060 h 2449619"/>
              <a:gd name="connsiteX14" fmla="*/ 2194560 w 6222076"/>
              <a:gd name="connsiteY14" fmla="*/ 1559511 h 2449619"/>
              <a:gd name="connsiteX15" fmla="*/ 2269375 w 6222076"/>
              <a:gd name="connsiteY15" fmla="*/ 1950208 h 2449619"/>
              <a:gd name="connsiteX16" fmla="*/ 2381596 w 6222076"/>
              <a:gd name="connsiteY16" fmla="*/ 2249467 h 2449619"/>
              <a:gd name="connsiteX17" fmla="*/ 2614352 w 6222076"/>
              <a:gd name="connsiteY17" fmla="*/ 2394940 h 2449619"/>
              <a:gd name="connsiteX18" fmla="*/ 2921923 w 6222076"/>
              <a:gd name="connsiteY18" fmla="*/ 2303500 h 2449619"/>
              <a:gd name="connsiteX19" fmla="*/ 3225340 w 6222076"/>
              <a:gd name="connsiteY19" fmla="*/ 2128933 h 2449619"/>
              <a:gd name="connsiteX20" fmla="*/ 3690851 w 6222076"/>
              <a:gd name="connsiteY20" fmla="*/ 2004242 h 2449619"/>
              <a:gd name="connsiteX21" fmla="*/ 4484716 w 6222076"/>
              <a:gd name="connsiteY21" fmla="*/ 1916959 h 2449619"/>
              <a:gd name="connsiteX22" fmla="*/ 5224549 w 6222076"/>
              <a:gd name="connsiteY22" fmla="*/ 1916959 h 2449619"/>
              <a:gd name="connsiteX23" fmla="*/ 5881254 w 6222076"/>
              <a:gd name="connsiteY23" fmla="*/ 1929428 h 2449619"/>
              <a:gd name="connsiteX24" fmla="*/ 6222076 w 6222076"/>
              <a:gd name="connsiteY24" fmla="*/ 1941897 h 2449619"/>
              <a:gd name="connsiteX0" fmla="*/ 0 w 6176832"/>
              <a:gd name="connsiteY0" fmla="*/ 2353377 h 2449619"/>
              <a:gd name="connsiteX1" fmla="*/ 261851 w 6176832"/>
              <a:gd name="connsiteY1" fmla="*/ 2436504 h 2449619"/>
              <a:gd name="connsiteX2" fmla="*/ 440574 w 6176832"/>
              <a:gd name="connsiteY2" fmla="*/ 2436504 h 2449619"/>
              <a:gd name="connsiteX3" fmla="*/ 698269 w 6176832"/>
              <a:gd name="connsiteY3" fmla="*/ 2311813 h 2449619"/>
              <a:gd name="connsiteX4" fmla="*/ 943494 w 6176832"/>
              <a:gd name="connsiteY4" fmla="*/ 1941897 h 2449619"/>
              <a:gd name="connsiteX5" fmla="*/ 1088967 w 6176832"/>
              <a:gd name="connsiteY5" fmla="*/ 1484697 h 2449619"/>
              <a:gd name="connsiteX6" fmla="*/ 1242752 w 6176832"/>
              <a:gd name="connsiteY6" fmla="*/ 803053 h 2449619"/>
              <a:gd name="connsiteX7" fmla="*/ 1359131 w 6176832"/>
              <a:gd name="connsiteY7" fmla="*/ 391573 h 2449619"/>
              <a:gd name="connsiteX8" fmla="*/ 1500446 w 6176832"/>
              <a:gd name="connsiteY8" fmla="*/ 96471 h 2449619"/>
              <a:gd name="connsiteX9" fmla="*/ 1641764 w 6176832"/>
              <a:gd name="connsiteY9" fmla="*/ 875 h 2449619"/>
              <a:gd name="connsiteX10" fmla="*/ 1770611 w 6176832"/>
              <a:gd name="connsiteY10" fmla="*/ 63220 h 2449619"/>
              <a:gd name="connsiteX11" fmla="*/ 1886989 w 6176832"/>
              <a:gd name="connsiteY11" fmla="*/ 283508 h 2449619"/>
              <a:gd name="connsiteX12" fmla="*/ 2007523 w 6176832"/>
              <a:gd name="connsiteY12" fmla="*/ 682519 h 2449619"/>
              <a:gd name="connsiteX13" fmla="*/ 2098963 w 6176832"/>
              <a:gd name="connsiteY13" fmla="*/ 1069060 h 2449619"/>
              <a:gd name="connsiteX14" fmla="*/ 2194560 w 6176832"/>
              <a:gd name="connsiteY14" fmla="*/ 1559511 h 2449619"/>
              <a:gd name="connsiteX15" fmla="*/ 2269375 w 6176832"/>
              <a:gd name="connsiteY15" fmla="*/ 1950208 h 2449619"/>
              <a:gd name="connsiteX16" fmla="*/ 2381596 w 6176832"/>
              <a:gd name="connsiteY16" fmla="*/ 2249467 h 2449619"/>
              <a:gd name="connsiteX17" fmla="*/ 2614352 w 6176832"/>
              <a:gd name="connsiteY17" fmla="*/ 2394940 h 2449619"/>
              <a:gd name="connsiteX18" fmla="*/ 2921923 w 6176832"/>
              <a:gd name="connsiteY18" fmla="*/ 2303500 h 2449619"/>
              <a:gd name="connsiteX19" fmla="*/ 3225340 w 6176832"/>
              <a:gd name="connsiteY19" fmla="*/ 2128933 h 2449619"/>
              <a:gd name="connsiteX20" fmla="*/ 3690851 w 6176832"/>
              <a:gd name="connsiteY20" fmla="*/ 2004242 h 2449619"/>
              <a:gd name="connsiteX21" fmla="*/ 4484716 w 6176832"/>
              <a:gd name="connsiteY21" fmla="*/ 1916959 h 2449619"/>
              <a:gd name="connsiteX22" fmla="*/ 5224549 w 6176832"/>
              <a:gd name="connsiteY22" fmla="*/ 1916959 h 2449619"/>
              <a:gd name="connsiteX23" fmla="*/ 5881254 w 6176832"/>
              <a:gd name="connsiteY23" fmla="*/ 1929428 h 2449619"/>
              <a:gd name="connsiteX24" fmla="*/ 6176832 w 6176832"/>
              <a:gd name="connsiteY24" fmla="*/ 1937135 h 2449619"/>
              <a:gd name="connsiteX0" fmla="*/ 0 w 6176832"/>
              <a:gd name="connsiteY0" fmla="*/ 2353377 h 2449619"/>
              <a:gd name="connsiteX1" fmla="*/ 261851 w 6176832"/>
              <a:gd name="connsiteY1" fmla="*/ 2436504 h 2449619"/>
              <a:gd name="connsiteX2" fmla="*/ 440574 w 6176832"/>
              <a:gd name="connsiteY2" fmla="*/ 2436504 h 2449619"/>
              <a:gd name="connsiteX3" fmla="*/ 698269 w 6176832"/>
              <a:gd name="connsiteY3" fmla="*/ 2311813 h 2449619"/>
              <a:gd name="connsiteX4" fmla="*/ 943494 w 6176832"/>
              <a:gd name="connsiteY4" fmla="*/ 1941897 h 2449619"/>
              <a:gd name="connsiteX5" fmla="*/ 1088967 w 6176832"/>
              <a:gd name="connsiteY5" fmla="*/ 1484697 h 2449619"/>
              <a:gd name="connsiteX6" fmla="*/ 1242752 w 6176832"/>
              <a:gd name="connsiteY6" fmla="*/ 803053 h 2449619"/>
              <a:gd name="connsiteX7" fmla="*/ 1359131 w 6176832"/>
              <a:gd name="connsiteY7" fmla="*/ 391573 h 2449619"/>
              <a:gd name="connsiteX8" fmla="*/ 1500446 w 6176832"/>
              <a:gd name="connsiteY8" fmla="*/ 96471 h 2449619"/>
              <a:gd name="connsiteX9" fmla="*/ 1641764 w 6176832"/>
              <a:gd name="connsiteY9" fmla="*/ 875 h 2449619"/>
              <a:gd name="connsiteX10" fmla="*/ 1770611 w 6176832"/>
              <a:gd name="connsiteY10" fmla="*/ 63220 h 2449619"/>
              <a:gd name="connsiteX11" fmla="*/ 1886989 w 6176832"/>
              <a:gd name="connsiteY11" fmla="*/ 283508 h 2449619"/>
              <a:gd name="connsiteX12" fmla="*/ 2007523 w 6176832"/>
              <a:gd name="connsiteY12" fmla="*/ 682519 h 2449619"/>
              <a:gd name="connsiteX13" fmla="*/ 2098963 w 6176832"/>
              <a:gd name="connsiteY13" fmla="*/ 1069060 h 2449619"/>
              <a:gd name="connsiteX14" fmla="*/ 2194560 w 6176832"/>
              <a:gd name="connsiteY14" fmla="*/ 1559511 h 2449619"/>
              <a:gd name="connsiteX15" fmla="*/ 2269375 w 6176832"/>
              <a:gd name="connsiteY15" fmla="*/ 1950208 h 2449619"/>
              <a:gd name="connsiteX16" fmla="*/ 2381596 w 6176832"/>
              <a:gd name="connsiteY16" fmla="*/ 2249467 h 2449619"/>
              <a:gd name="connsiteX17" fmla="*/ 2614352 w 6176832"/>
              <a:gd name="connsiteY17" fmla="*/ 2394940 h 2449619"/>
              <a:gd name="connsiteX18" fmla="*/ 2921923 w 6176832"/>
              <a:gd name="connsiteY18" fmla="*/ 2303500 h 2449619"/>
              <a:gd name="connsiteX19" fmla="*/ 3225340 w 6176832"/>
              <a:gd name="connsiteY19" fmla="*/ 2128933 h 2449619"/>
              <a:gd name="connsiteX20" fmla="*/ 3690851 w 6176832"/>
              <a:gd name="connsiteY20" fmla="*/ 2004242 h 2449619"/>
              <a:gd name="connsiteX21" fmla="*/ 4484716 w 6176832"/>
              <a:gd name="connsiteY21" fmla="*/ 1916959 h 2449619"/>
              <a:gd name="connsiteX22" fmla="*/ 5224549 w 6176832"/>
              <a:gd name="connsiteY22" fmla="*/ 1916959 h 2449619"/>
              <a:gd name="connsiteX23" fmla="*/ 5881254 w 6176832"/>
              <a:gd name="connsiteY23" fmla="*/ 1929428 h 2449619"/>
              <a:gd name="connsiteX24" fmla="*/ 6176832 w 6176832"/>
              <a:gd name="connsiteY24" fmla="*/ 1937135 h 2449619"/>
              <a:gd name="connsiteX0" fmla="*/ 0 w 6176832"/>
              <a:gd name="connsiteY0" fmla="*/ 2353377 h 2449619"/>
              <a:gd name="connsiteX1" fmla="*/ 261851 w 6176832"/>
              <a:gd name="connsiteY1" fmla="*/ 2436504 h 2449619"/>
              <a:gd name="connsiteX2" fmla="*/ 440574 w 6176832"/>
              <a:gd name="connsiteY2" fmla="*/ 2436504 h 2449619"/>
              <a:gd name="connsiteX3" fmla="*/ 698269 w 6176832"/>
              <a:gd name="connsiteY3" fmla="*/ 2311813 h 2449619"/>
              <a:gd name="connsiteX4" fmla="*/ 943494 w 6176832"/>
              <a:gd name="connsiteY4" fmla="*/ 1941897 h 2449619"/>
              <a:gd name="connsiteX5" fmla="*/ 1088967 w 6176832"/>
              <a:gd name="connsiteY5" fmla="*/ 1484697 h 2449619"/>
              <a:gd name="connsiteX6" fmla="*/ 1242752 w 6176832"/>
              <a:gd name="connsiteY6" fmla="*/ 803053 h 2449619"/>
              <a:gd name="connsiteX7" fmla="*/ 1359131 w 6176832"/>
              <a:gd name="connsiteY7" fmla="*/ 391573 h 2449619"/>
              <a:gd name="connsiteX8" fmla="*/ 1500446 w 6176832"/>
              <a:gd name="connsiteY8" fmla="*/ 96471 h 2449619"/>
              <a:gd name="connsiteX9" fmla="*/ 1641764 w 6176832"/>
              <a:gd name="connsiteY9" fmla="*/ 875 h 2449619"/>
              <a:gd name="connsiteX10" fmla="*/ 1770611 w 6176832"/>
              <a:gd name="connsiteY10" fmla="*/ 63220 h 2449619"/>
              <a:gd name="connsiteX11" fmla="*/ 1886989 w 6176832"/>
              <a:gd name="connsiteY11" fmla="*/ 283508 h 2449619"/>
              <a:gd name="connsiteX12" fmla="*/ 2007523 w 6176832"/>
              <a:gd name="connsiteY12" fmla="*/ 682519 h 2449619"/>
              <a:gd name="connsiteX13" fmla="*/ 2098963 w 6176832"/>
              <a:gd name="connsiteY13" fmla="*/ 1069060 h 2449619"/>
              <a:gd name="connsiteX14" fmla="*/ 2194560 w 6176832"/>
              <a:gd name="connsiteY14" fmla="*/ 1559511 h 2449619"/>
              <a:gd name="connsiteX15" fmla="*/ 2269375 w 6176832"/>
              <a:gd name="connsiteY15" fmla="*/ 1950208 h 2449619"/>
              <a:gd name="connsiteX16" fmla="*/ 2381596 w 6176832"/>
              <a:gd name="connsiteY16" fmla="*/ 2249467 h 2449619"/>
              <a:gd name="connsiteX17" fmla="*/ 2614352 w 6176832"/>
              <a:gd name="connsiteY17" fmla="*/ 2394940 h 2449619"/>
              <a:gd name="connsiteX18" fmla="*/ 2921923 w 6176832"/>
              <a:gd name="connsiteY18" fmla="*/ 2303500 h 2449619"/>
              <a:gd name="connsiteX19" fmla="*/ 3241215 w 6176832"/>
              <a:gd name="connsiteY19" fmla="*/ 2103533 h 2449619"/>
              <a:gd name="connsiteX20" fmla="*/ 3690851 w 6176832"/>
              <a:gd name="connsiteY20" fmla="*/ 2004242 h 2449619"/>
              <a:gd name="connsiteX21" fmla="*/ 4484716 w 6176832"/>
              <a:gd name="connsiteY21" fmla="*/ 1916959 h 2449619"/>
              <a:gd name="connsiteX22" fmla="*/ 5224549 w 6176832"/>
              <a:gd name="connsiteY22" fmla="*/ 1916959 h 2449619"/>
              <a:gd name="connsiteX23" fmla="*/ 5881254 w 6176832"/>
              <a:gd name="connsiteY23" fmla="*/ 1929428 h 2449619"/>
              <a:gd name="connsiteX24" fmla="*/ 6176832 w 6176832"/>
              <a:gd name="connsiteY24" fmla="*/ 1937135 h 2449619"/>
              <a:gd name="connsiteX0" fmla="*/ 0 w 6176832"/>
              <a:gd name="connsiteY0" fmla="*/ 2353377 h 2449619"/>
              <a:gd name="connsiteX1" fmla="*/ 261851 w 6176832"/>
              <a:gd name="connsiteY1" fmla="*/ 2436504 h 2449619"/>
              <a:gd name="connsiteX2" fmla="*/ 440574 w 6176832"/>
              <a:gd name="connsiteY2" fmla="*/ 2436504 h 2449619"/>
              <a:gd name="connsiteX3" fmla="*/ 698269 w 6176832"/>
              <a:gd name="connsiteY3" fmla="*/ 2311813 h 2449619"/>
              <a:gd name="connsiteX4" fmla="*/ 943494 w 6176832"/>
              <a:gd name="connsiteY4" fmla="*/ 1941897 h 2449619"/>
              <a:gd name="connsiteX5" fmla="*/ 1088967 w 6176832"/>
              <a:gd name="connsiteY5" fmla="*/ 1484697 h 2449619"/>
              <a:gd name="connsiteX6" fmla="*/ 1242752 w 6176832"/>
              <a:gd name="connsiteY6" fmla="*/ 803053 h 2449619"/>
              <a:gd name="connsiteX7" fmla="*/ 1359131 w 6176832"/>
              <a:gd name="connsiteY7" fmla="*/ 391573 h 2449619"/>
              <a:gd name="connsiteX8" fmla="*/ 1500446 w 6176832"/>
              <a:gd name="connsiteY8" fmla="*/ 96471 h 2449619"/>
              <a:gd name="connsiteX9" fmla="*/ 1641764 w 6176832"/>
              <a:gd name="connsiteY9" fmla="*/ 875 h 2449619"/>
              <a:gd name="connsiteX10" fmla="*/ 1770611 w 6176832"/>
              <a:gd name="connsiteY10" fmla="*/ 63220 h 2449619"/>
              <a:gd name="connsiteX11" fmla="*/ 1886989 w 6176832"/>
              <a:gd name="connsiteY11" fmla="*/ 283508 h 2449619"/>
              <a:gd name="connsiteX12" fmla="*/ 2007523 w 6176832"/>
              <a:gd name="connsiteY12" fmla="*/ 682519 h 2449619"/>
              <a:gd name="connsiteX13" fmla="*/ 2098963 w 6176832"/>
              <a:gd name="connsiteY13" fmla="*/ 1069060 h 2449619"/>
              <a:gd name="connsiteX14" fmla="*/ 2194560 w 6176832"/>
              <a:gd name="connsiteY14" fmla="*/ 1559511 h 2449619"/>
              <a:gd name="connsiteX15" fmla="*/ 2269375 w 6176832"/>
              <a:gd name="connsiteY15" fmla="*/ 1950208 h 2449619"/>
              <a:gd name="connsiteX16" fmla="*/ 2381596 w 6176832"/>
              <a:gd name="connsiteY16" fmla="*/ 2249467 h 2449619"/>
              <a:gd name="connsiteX17" fmla="*/ 2614352 w 6176832"/>
              <a:gd name="connsiteY17" fmla="*/ 2394940 h 2449619"/>
              <a:gd name="connsiteX18" fmla="*/ 2921923 w 6176832"/>
              <a:gd name="connsiteY18" fmla="*/ 2303500 h 2449619"/>
              <a:gd name="connsiteX19" fmla="*/ 3241215 w 6176832"/>
              <a:gd name="connsiteY19" fmla="*/ 2103533 h 2449619"/>
              <a:gd name="connsiteX20" fmla="*/ 3700376 w 6176832"/>
              <a:gd name="connsiteY20" fmla="*/ 1991542 h 2449619"/>
              <a:gd name="connsiteX21" fmla="*/ 4484716 w 6176832"/>
              <a:gd name="connsiteY21" fmla="*/ 1916959 h 2449619"/>
              <a:gd name="connsiteX22" fmla="*/ 5224549 w 6176832"/>
              <a:gd name="connsiteY22" fmla="*/ 1916959 h 2449619"/>
              <a:gd name="connsiteX23" fmla="*/ 5881254 w 6176832"/>
              <a:gd name="connsiteY23" fmla="*/ 1929428 h 2449619"/>
              <a:gd name="connsiteX24" fmla="*/ 6176832 w 6176832"/>
              <a:gd name="connsiteY24" fmla="*/ 1937135 h 2449619"/>
              <a:gd name="connsiteX0" fmla="*/ 0 w 6176832"/>
              <a:gd name="connsiteY0" fmla="*/ 2353377 h 2449619"/>
              <a:gd name="connsiteX1" fmla="*/ 261851 w 6176832"/>
              <a:gd name="connsiteY1" fmla="*/ 2436504 h 2449619"/>
              <a:gd name="connsiteX2" fmla="*/ 440574 w 6176832"/>
              <a:gd name="connsiteY2" fmla="*/ 2436504 h 2449619"/>
              <a:gd name="connsiteX3" fmla="*/ 698269 w 6176832"/>
              <a:gd name="connsiteY3" fmla="*/ 2311813 h 2449619"/>
              <a:gd name="connsiteX4" fmla="*/ 943494 w 6176832"/>
              <a:gd name="connsiteY4" fmla="*/ 1941897 h 2449619"/>
              <a:gd name="connsiteX5" fmla="*/ 1088967 w 6176832"/>
              <a:gd name="connsiteY5" fmla="*/ 1484697 h 2449619"/>
              <a:gd name="connsiteX6" fmla="*/ 1242752 w 6176832"/>
              <a:gd name="connsiteY6" fmla="*/ 803053 h 2449619"/>
              <a:gd name="connsiteX7" fmla="*/ 1359131 w 6176832"/>
              <a:gd name="connsiteY7" fmla="*/ 391573 h 2449619"/>
              <a:gd name="connsiteX8" fmla="*/ 1500446 w 6176832"/>
              <a:gd name="connsiteY8" fmla="*/ 96471 h 2449619"/>
              <a:gd name="connsiteX9" fmla="*/ 1641764 w 6176832"/>
              <a:gd name="connsiteY9" fmla="*/ 875 h 2449619"/>
              <a:gd name="connsiteX10" fmla="*/ 1770611 w 6176832"/>
              <a:gd name="connsiteY10" fmla="*/ 63220 h 2449619"/>
              <a:gd name="connsiteX11" fmla="*/ 1886989 w 6176832"/>
              <a:gd name="connsiteY11" fmla="*/ 283508 h 2449619"/>
              <a:gd name="connsiteX12" fmla="*/ 2007523 w 6176832"/>
              <a:gd name="connsiteY12" fmla="*/ 682519 h 2449619"/>
              <a:gd name="connsiteX13" fmla="*/ 2098963 w 6176832"/>
              <a:gd name="connsiteY13" fmla="*/ 1069060 h 2449619"/>
              <a:gd name="connsiteX14" fmla="*/ 2194560 w 6176832"/>
              <a:gd name="connsiteY14" fmla="*/ 1559511 h 2449619"/>
              <a:gd name="connsiteX15" fmla="*/ 2269375 w 6176832"/>
              <a:gd name="connsiteY15" fmla="*/ 1950208 h 2449619"/>
              <a:gd name="connsiteX16" fmla="*/ 2381596 w 6176832"/>
              <a:gd name="connsiteY16" fmla="*/ 2249467 h 2449619"/>
              <a:gd name="connsiteX17" fmla="*/ 2614352 w 6176832"/>
              <a:gd name="connsiteY17" fmla="*/ 2394940 h 2449619"/>
              <a:gd name="connsiteX18" fmla="*/ 2902873 w 6176832"/>
              <a:gd name="connsiteY18" fmla="*/ 2316200 h 2449619"/>
              <a:gd name="connsiteX19" fmla="*/ 3241215 w 6176832"/>
              <a:gd name="connsiteY19" fmla="*/ 2103533 h 2449619"/>
              <a:gd name="connsiteX20" fmla="*/ 3700376 w 6176832"/>
              <a:gd name="connsiteY20" fmla="*/ 1991542 h 2449619"/>
              <a:gd name="connsiteX21" fmla="*/ 4484716 w 6176832"/>
              <a:gd name="connsiteY21" fmla="*/ 1916959 h 2449619"/>
              <a:gd name="connsiteX22" fmla="*/ 5224549 w 6176832"/>
              <a:gd name="connsiteY22" fmla="*/ 1916959 h 2449619"/>
              <a:gd name="connsiteX23" fmla="*/ 5881254 w 6176832"/>
              <a:gd name="connsiteY23" fmla="*/ 1929428 h 2449619"/>
              <a:gd name="connsiteX24" fmla="*/ 6176832 w 6176832"/>
              <a:gd name="connsiteY24" fmla="*/ 1937135 h 2449619"/>
              <a:gd name="connsiteX0" fmla="*/ 0 w 6176832"/>
              <a:gd name="connsiteY0" fmla="*/ 2353377 h 2449619"/>
              <a:gd name="connsiteX1" fmla="*/ 261851 w 6176832"/>
              <a:gd name="connsiteY1" fmla="*/ 2436504 h 2449619"/>
              <a:gd name="connsiteX2" fmla="*/ 440574 w 6176832"/>
              <a:gd name="connsiteY2" fmla="*/ 2436504 h 2449619"/>
              <a:gd name="connsiteX3" fmla="*/ 698269 w 6176832"/>
              <a:gd name="connsiteY3" fmla="*/ 2311813 h 2449619"/>
              <a:gd name="connsiteX4" fmla="*/ 943494 w 6176832"/>
              <a:gd name="connsiteY4" fmla="*/ 1941897 h 2449619"/>
              <a:gd name="connsiteX5" fmla="*/ 1088967 w 6176832"/>
              <a:gd name="connsiteY5" fmla="*/ 1484697 h 2449619"/>
              <a:gd name="connsiteX6" fmla="*/ 1242752 w 6176832"/>
              <a:gd name="connsiteY6" fmla="*/ 803053 h 2449619"/>
              <a:gd name="connsiteX7" fmla="*/ 1359131 w 6176832"/>
              <a:gd name="connsiteY7" fmla="*/ 391573 h 2449619"/>
              <a:gd name="connsiteX8" fmla="*/ 1500446 w 6176832"/>
              <a:gd name="connsiteY8" fmla="*/ 96471 h 2449619"/>
              <a:gd name="connsiteX9" fmla="*/ 1641764 w 6176832"/>
              <a:gd name="connsiteY9" fmla="*/ 875 h 2449619"/>
              <a:gd name="connsiteX10" fmla="*/ 1770611 w 6176832"/>
              <a:gd name="connsiteY10" fmla="*/ 63220 h 2449619"/>
              <a:gd name="connsiteX11" fmla="*/ 1886989 w 6176832"/>
              <a:gd name="connsiteY11" fmla="*/ 283508 h 2449619"/>
              <a:gd name="connsiteX12" fmla="*/ 2007523 w 6176832"/>
              <a:gd name="connsiteY12" fmla="*/ 682519 h 2449619"/>
              <a:gd name="connsiteX13" fmla="*/ 2098963 w 6176832"/>
              <a:gd name="connsiteY13" fmla="*/ 1069060 h 2449619"/>
              <a:gd name="connsiteX14" fmla="*/ 2194560 w 6176832"/>
              <a:gd name="connsiteY14" fmla="*/ 1559511 h 2449619"/>
              <a:gd name="connsiteX15" fmla="*/ 2269375 w 6176832"/>
              <a:gd name="connsiteY15" fmla="*/ 1950208 h 2449619"/>
              <a:gd name="connsiteX16" fmla="*/ 2381596 w 6176832"/>
              <a:gd name="connsiteY16" fmla="*/ 2249467 h 2449619"/>
              <a:gd name="connsiteX17" fmla="*/ 2614352 w 6176832"/>
              <a:gd name="connsiteY17" fmla="*/ 2394940 h 2449619"/>
              <a:gd name="connsiteX18" fmla="*/ 2886998 w 6176832"/>
              <a:gd name="connsiteY18" fmla="*/ 2316200 h 2449619"/>
              <a:gd name="connsiteX19" fmla="*/ 3241215 w 6176832"/>
              <a:gd name="connsiteY19" fmla="*/ 2103533 h 2449619"/>
              <a:gd name="connsiteX20" fmla="*/ 3700376 w 6176832"/>
              <a:gd name="connsiteY20" fmla="*/ 1991542 h 2449619"/>
              <a:gd name="connsiteX21" fmla="*/ 4484716 w 6176832"/>
              <a:gd name="connsiteY21" fmla="*/ 1916959 h 2449619"/>
              <a:gd name="connsiteX22" fmla="*/ 5224549 w 6176832"/>
              <a:gd name="connsiteY22" fmla="*/ 1916959 h 2449619"/>
              <a:gd name="connsiteX23" fmla="*/ 5881254 w 6176832"/>
              <a:gd name="connsiteY23" fmla="*/ 1929428 h 2449619"/>
              <a:gd name="connsiteX24" fmla="*/ 6176832 w 6176832"/>
              <a:gd name="connsiteY24" fmla="*/ 1937135 h 2449619"/>
              <a:gd name="connsiteX0" fmla="*/ 0 w 6176832"/>
              <a:gd name="connsiteY0" fmla="*/ 2353377 h 2449619"/>
              <a:gd name="connsiteX1" fmla="*/ 261851 w 6176832"/>
              <a:gd name="connsiteY1" fmla="*/ 2436504 h 2449619"/>
              <a:gd name="connsiteX2" fmla="*/ 440574 w 6176832"/>
              <a:gd name="connsiteY2" fmla="*/ 2436504 h 2449619"/>
              <a:gd name="connsiteX3" fmla="*/ 698269 w 6176832"/>
              <a:gd name="connsiteY3" fmla="*/ 2311813 h 2449619"/>
              <a:gd name="connsiteX4" fmla="*/ 943494 w 6176832"/>
              <a:gd name="connsiteY4" fmla="*/ 1941897 h 2449619"/>
              <a:gd name="connsiteX5" fmla="*/ 1088967 w 6176832"/>
              <a:gd name="connsiteY5" fmla="*/ 1484697 h 2449619"/>
              <a:gd name="connsiteX6" fmla="*/ 1242752 w 6176832"/>
              <a:gd name="connsiteY6" fmla="*/ 803053 h 2449619"/>
              <a:gd name="connsiteX7" fmla="*/ 1359131 w 6176832"/>
              <a:gd name="connsiteY7" fmla="*/ 391573 h 2449619"/>
              <a:gd name="connsiteX8" fmla="*/ 1500446 w 6176832"/>
              <a:gd name="connsiteY8" fmla="*/ 96471 h 2449619"/>
              <a:gd name="connsiteX9" fmla="*/ 1641764 w 6176832"/>
              <a:gd name="connsiteY9" fmla="*/ 875 h 2449619"/>
              <a:gd name="connsiteX10" fmla="*/ 1770611 w 6176832"/>
              <a:gd name="connsiteY10" fmla="*/ 63220 h 2449619"/>
              <a:gd name="connsiteX11" fmla="*/ 1886989 w 6176832"/>
              <a:gd name="connsiteY11" fmla="*/ 283508 h 2449619"/>
              <a:gd name="connsiteX12" fmla="*/ 2007523 w 6176832"/>
              <a:gd name="connsiteY12" fmla="*/ 682519 h 2449619"/>
              <a:gd name="connsiteX13" fmla="*/ 2098963 w 6176832"/>
              <a:gd name="connsiteY13" fmla="*/ 1069060 h 2449619"/>
              <a:gd name="connsiteX14" fmla="*/ 2194560 w 6176832"/>
              <a:gd name="connsiteY14" fmla="*/ 1559511 h 2449619"/>
              <a:gd name="connsiteX15" fmla="*/ 2269375 w 6176832"/>
              <a:gd name="connsiteY15" fmla="*/ 1950208 h 2449619"/>
              <a:gd name="connsiteX16" fmla="*/ 2381596 w 6176832"/>
              <a:gd name="connsiteY16" fmla="*/ 2249467 h 2449619"/>
              <a:gd name="connsiteX17" fmla="*/ 2614352 w 6176832"/>
              <a:gd name="connsiteY17" fmla="*/ 2394940 h 2449619"/>
              <a:gd name="connsiteX18" fmla="*/ 2886998 w 6176832"/>
              <a:gd name="connsiteY18" fmla="*/ 2325725 h 2449619"/>
              <a:gd name="connsiteX19" fmla="*/ 3241215 w 6176832"/>
              <a:gd name="connsiteY19" fmla="*/ 2103533 h 2449619"/>
              <a:gd name="connsiteX20" fmla="*/ 3700376 w 6176832"/>
              <a:gd name="connsiteY20" fmla="*/ 1991542 h 2449619"/>
              <a:gd name="connsiteX21" fmla="*/ 4484716 w 6176832"/>
              <a:gd name="connsiteY21" fmla="*/ 1916959 h 2449619"/>
              <a:gd name="connsiteX22" fmla="*/ 5224549 w 6176832"/>
              <a:gd name="connsiteY22" fmla="*/ 1916959 h 2449619"/>
              <a:gd name="connsiteX23" fmla="*/ 5881254 w 6176832"/>
              <a:gd name="connsiteY23" fmla="*/ 1929428 h 2449619"/>
              <a:gd name="connsiteX24" fmla="*/ 6176832 w 6176832"/>
              <a:gd name="connsiteY24" fmla="*/ 1937135 h 2449619"/>
              <a:gd name="connsiteX0" fmla="*/ 0 w 6176832"/>
              <a:gd name="connsiteY0" fmla="*/ 2353377 h 2449619"/>
              <a:gd name="connsiteX1" fmla="*/ 261851 w 6176832"/>
              <a:gd name="connsiteY1" fmla="*/ 2436504 h 2449619"/>
              <a:gd name="connsiteX2" fmla="*/ 440574 w 6176832"/>
              <a:gd name="connsiteY2" fmla="*/ 2436504 h 2449619"/>
              <a:gd name="connsiteX3" fmla="*/ 698269 w 6176832"/>
              <a:gd name="connsiteY3" fmla="*/ 2311813 h 2449619"/>
              <a:gd name="connsiteX4" fmla="*/ 943494 w 6176832"/>
              <a:gd name="connsiteY4" fmla="*/ 1941897 h 2449619"/>
              <a:gd name="connsiteX5" fmla="*/ 1088967 w 6176832"/>
              <a:gd name="connsiteY5" fmla="*/ 1484697 h 2449619"/>
              <a:gd name="connsiteX6" fmla="*/ 1242752 w 6176832"/>
              <a:gd name="connsiteY6" fmla="*/ 803053 h 2449619"/>
              <a:gd name="connsiteX7" fmla="*/ 1359131 w 6176832"/>
              <a:gd name="connsiteY7" fmla="*/ 391573 h 2449619"/>
              <a:gd name="connsiteX8" fmla="*/ 1500446 w 6176832"/>
              <a:gd name="connsiteY8" fmla="*/ 96471 h 2449619"/>
              <a:gd name="connsiteX9" fmla="*/ 1641764 w 6176832"/>
              <a:gd name="connsiteY9" fmla="*/ 875 h 2449619"/>
              <a:gd name="connsiteX10" fmla="*/ 1770611 w 6176832"/>
              <a:gd name="connsiteY10" fmla="*/ 63220 h 2449619"/>
              <a:gd name="connsiteX11" fmla="*/ 1886989 w 6176832"/>
              <a:gd name="connsiteY11" fmla="*/ 283508 h 2449619"/>
              <a:gd name="connsiteX12" fmla="*/ 2007523 w 6176832"/>
              <a:gd name="connsiteY12" fmla="*/ 682519 h 2449619"/>
              <a:gd name="connsiteX13" fmla="*/ 2098963 w 6176832"/>
              <a:gd name="connsiteY13" fmla="*/ 1069060 h 2449619"/>
              <a:gd name="connsiteX14" fmla="*/ 2194560 w 6176832"/>
              <a:gd name="connsiteY14" fmla="*/ 1559511 h 2449619"/>
              <a:gd name="connsiteX15" fmla="*/ 2269375 w 6176832"/>
              <a:gd name="connsiteY15" fmla="*/ 1950208 h 2449619"/>
              <a:gd name="connsiteX16" fmla="*/ 2381596 w 6176832"/>
              <a:gd name="connsiteY16" fmla="*/ 2249467 h 2449619"/>
              <a:gd name="connsiteX17" fmla="*/ 2614352 w 6176832"/>
              <a:gd name="connsiteY17" fmla="*/ 2394940 h 2449619"/>
              <a:gd name="connsiteX18" fmla="*/ 2864773 w 6176832"/>
              <a:gd name="connsiteY18" fmla="*/ 2332075 h 2449619"/>
              <a:gd name="connsiteX19" fmla="*/ 3241215 w 6176832"/>
              <a:gd name="connsiteY19" fmla="*/ 2103533 h 2449619"/>
              <a:gd name="connsiteX20" fmla="*/ 3700376 w 6176832"/>
              <a:gd name="connsiteY20" fmla="*/ 1991542 h 2449619"/>
              <a:gd name="connsiteX21" fmla="*/ 4484716 w 6176832"/>
              <a:gd name="connsiteY21" fmla="*/ 1916959 h 2449619"/>
              <a:gd name="connsiteX22" fmla="*/ 5224549 w 6176832"/>
              <a:gd name="connsiteY22" fmla="*/ 1916959 h 2449619"/>
              <a:gd name="connsiteX23" fmla="*/ 5881254 w 6176832"/>
              <a:gd name="connsiteY23" fmla="*/ 1929428 h 2449619"/>
              <a:gd name="connsiteX24" fmla="*/ 6176832 w 6176832"/>
              <a:gd name="connsiteY24" fmla="*/ 1937135 h 2449619"/>
              <a:gd name="connsiteX0" fmla="*/ 0 w 6176832"/>
              <a:gd name="connsiteY0" fmla="*/ 2353377 h 2449619"/>
              <a:gd name="connsiteX1" fmla="*/ 261851 w 6176832"/>
              <a:gd name="connsiteY1" fmla="*/ 2436504 h 2449619"/>
              <a:gd name="connsiteX2" fmla="*/ 440574 w 6176832"/>
              <a:gd name="connsiteY2" fmla="*/ 2436504 h 2449619"/>
              <a:gd name="connsiteX3" fmla="*/ 698269 w 6176832"/>
              <a:gd name="connsiteY3" fmla="*/ 2311813 h 2449619"/>
              <a:gd name="connsiteX4" fmla="*/ 943494 w 6176832"/>
              <a:gd name="connsiteY4" fmla="*/ 1941897 h 2449619"/>
              <a:gd name="connsiteX5" fmla="*/ 1088967 w 6176832"/>
              <a:gd name="connsiteY5" fmla="*/ 1484697 h 2449619"/>
              <a:gd name="connsiteX6" fmla="*/ 1242752 w 6176832"/>
              <a:gd name="connsiteY6" fmla="*/ 803053 h 2449619"/>
              <a:gd name="connsiteX7" fmla="*/ 1359131 w 6176832"/>
              <a:gd name="connsiteY7" fmla="*/ 391573 h 2449619"/>
              <a:gd name="connsiteX8" fmla="*/ 1500446 w 6176832"/>
              <a:gd name="connsiteY8" fmla="*/ 96471 h 2449619"/>
              <a:gd name="connsiteX9" fmla="*/ 1641764 w 6176832"/>
              <a:gd name="connsiteY9" fmla="*/ 875 h 2449619"/>
              <a:gd name="connsiteX10" fmla="*/ 1770611 w 6176832"/>
              <a:gd name="connsiteY10" fmla="*/ 63220 h 2449619"/>
              <a:gd name="connsiteX11" fmla="*/ 1886989 w 6176832"/>
              <a:gd name="connsiteY11" fmla="*/ 283508 h 2449619"/>
              <a:gd name="connsiteX12" fmla="*/ 2007523 w 6176832"/>
              <a:gd name="connsiteY12" fmla="*/ 682519 h 2449619"/>
              <a:gd name="connsiteX13" fmla="*/ 2098963 w 6176832"/>
              <a:gd name="connsiteY13" fmla="*/ 1069060 h 2449619"/>
              <a:gd name="connsiteX14" fmla="*/ 2194560 w 6176832"/>
              <a:gd name="connsiteY14" fmla="*/ 1559511 h 2449619"/>
              <a:gd name="connsiteX15" fmla="*/ 2269375 w 6176832"/>
              <a:gd name="connsiteY15" fmla="*/ 1950208 h 2449619"/>
              <a:gd name="connsiteX16" fmla="*/ 2381596 w 6176832"/>
              <a:gd name="connsiteY16" fmla="*/ 2249467 h 2449619"/>
              <a:gd name="connsiteX17" fmla="*/ 2614352 w 6176832"/>
              <a:gd name="connsiteY17" fmla="*/ 2394940 h 2449619"/>
              <a:gd name="connsiteX18" fmla="*/ 2871123 w 6176832"/>
              <a:gd name="connsiteY18" fmla="*/ 2316200 h 2449619"/>
              <a:gd name="connsiteX19" fmla="*/ 3241215 w 6176832"/>
              <a:gd name="connsiteY19" fmla="*/ 2103533 h 2449619"/>
              <a:gd name="connsiteX20" fmla="*/ 3700376 w 6176832"/>
              <a:gd name="connsiteY20" fmla="*/ 1991542 h 2449619"/>
              <a:gd name="connsiteX21" fmla="*/ 4484716 w 6176832"/>
              <a:gd name="connsiteY21" fmla="*/ 1916959 h 2449619"/>
              <a:gd name="connsiteX22" fmla="*/ 5224549 w 6176832"/>
              <a:gd name="connsiteY22" fmla="*/ 1916959 h 2449619"/>
              <a:gd name="connsiteX23" fmla="*/ 5881254 w 6176832"/>
              <a:gd name="connsiteY23" fmla="*/ 1929428 h 2449619"/>
              <a:gd name="connsiteX24" fmla="*/ 6176832 w 6176832"/>
              <a:gd name="connsiteY24" fmla="*/ 1937135 h 2449619"/>
              <a:gd name="connsiteX0" fmla="*/ 0 w 6176832"/>
              <a:gd name="connsiteY0" fmla="*/ 2353377 h 2449619"/>
              <a:gd name="connsiteX1" fmla="*/ 261851 w 6176832"/>
              <a:gd name="connsiteY1" fmla="*/ 2436504 h 2449619"/>
              <a:gd name="connsiteX2" fmla="*/ 440574 w 6176832"/>
              <a:gd name="connsiteY2" fmla="*/ 2436504 h 2449619"/>
              <a:gd name="connsiteX3" fmla="*/ 698269 w 6176832"/>
              <a:gd name="connsiteY3" fmla="*/ 2311813 h 2449619"/>
              <a:gd name="connsiteX4" fmla="*/ 943494 w 6176832"/>
              <a:gd name="connsiteY4" fmla="*/ 1941897 h 2449619"/>
              <a:gd name="connsiteX5" fmla="*/ 1088967 w 6176832"/>
              <a:gd name="connsiteY5" fmla="*/ 1484697 h 2449619"/>
              <a:gd name="connsiteX6" fmla="*/ 1242752 w 6176832"/>
              <a:gd name="connsiteY6" fmla="*/ 803053 h 2449619"/>
              <a:gd name="connsiteX7" fmla="*/ 1359131 w 6176832"/>
              <a:gd name="connsiteY7" fmla="*/ 391573 h 2449619"/>
              <a:gd name="connsiteX8" fmla="*/ 1500446 w 6176832"/>
              <a:gd name="connsiteY8" fmla="*/ 96471 h 2449619"/>
              <a:gd name="connsiteX9" fmla="*/ 1641764 w 6176832"/>
              <a:gd name="connsiteY9" fmla="*/ 875 h 2449619"/>
              <a:gd name="connsiteX10" fmla="*/ 1770611 w 6176832"/>
              <a:gd name="connsiteY10" fmla="*/ 63220 h 2449619"/>
              <a:gd name="connsiteX11" fmla="*/ 1886989 w 6176832"/>
              <a:gd name="connsiteY11" fmla="*/ 283508 h 2449619"/>
              <a:gd name="connsiteX12" fmla="*/ 2007523 w 6176832"/>
              <a:gd name="connsiteY12" fmla="*/ 682519 h 2449619"/>
              <a:gd name="connsiteX13" fmla="*/ 2098963 w 6176832"/>
              <a:gd name="connsiteY13" fmla="*/ 1069060 h 2449619"/>
              <a:gd name="connsiteX14" fmla="*/ 2194560 w 6176832"/>
              <a:gd name="connsiteY14" fmla="*/ 1559511 h 2449619"/>
              <a:gd name="connsiteX15" fmla="*/ 2269375 w 6176832"/>
              <a:gd name="connsiteY15" fmla="*/ 1950208 h 2449619"/>
              <a:gd name="connsiteX16" fmla="*/ 2381596 w 6176832"/>
              <a:gd name="connsiteY16" fmla="*/ 2249467 h 2449619"/>
              <a:gd name="connsiteX17" fmla="*/ 2614352 w 6176832"/>
              <a:gd name="connsiteY17" fmla="*/ 2394940 h 2449619"/>
              <a:gd name="connsiteX18" fmla="*/ 2883823 w 6176832"/>
              <a:gd name="connsiteY18" fmla="*/ 2325725 h 2449619"/>
              <a:gd name="connsiteX19" fmla="*/ 3241215 w 6176832"/>
              <a:gd name="connsiteY19" fmla="*/ 2103533 h 2449619"/>
              <a:gd name="connsiteX20" fmla="*/ 3700376 w 6176832"/>
              <a:gd name="connsiteY20" fmla="*/ 1991542 h 2449619"/>
              <a:gd name="connsiteX21" fmla="*/ 4484716 w 6176832"/>
              <a:gd name="connsiteY21" fmla="*/ 1916959 h 2449619"/>
              <a:gd name="connsiteX22" fmla="*/ 5224549 w 6176832"/>
              <a:gd name="connsiteY22" fmla="*/ 1916959 h 2449619"/>
              <a:gd name="connsiteX23" fmla="*/ 5881254 w 6176832"/>
              <a:gd name="connsiteY23" fmla="*/ 1929428 h 2449619"/>
              <a:gd name="connsiteX24" fmla="*/ 6176832 w 6176832"/>
              <a:gd name="connsiteY24" fmla="*/ 1937135 h 244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176832" h="2449619">
                <a:moveTo>
                  <a:pt x="0" y="2353377"/>
                </a:moveTo>
                <a:cubicBezTo>
                  <a:pt x="94211" y="2388013"/>
                  <a:pt x="188422" y="2422650"/>
                  <a:pt x="261851" y="2436504"/>
                </a:cubicBezTo>
                <a:cubicBezTo>
                  <a:pt x="335280" y="2450358"/>
                  <a:pt x="367838" y="2457286"/>
                  <a:pt x="440574" y="2436504"/>
                </a:cubicBezTo>
                <a:cubicBezTo>
                  <a:pt x="513310" y="2415722"/>
                  <a:pt x="614449" y="2394247"/>
                  <a:pt x="698269" y="2311813"/>
                </a:cubicBezTo>
                <a:cubicBezTo>
                  <a:pt x="782089" y="2229379"/>
                  <a:pt x="878378" y="2079750"/>
                  <a:pt x="943494" y="1941897"/>
                </a:cubicBezTo>
                <a:cubicBezTo>
                  <a:pt x="1008610" y="1804044"/>
                  <a:pt x="1039091" y="1674504"/>
                  <a:pt x="1088967" y="1484697"/>
                </a:cubicBezTo>
                <a:cubicBezTo>
                  <a:pt x="1138843" y="1294890"/>
                  <a:pt x="1197725" y="985240"/>
                  <a:pt x="1242752" y="803053"/>
                </a:cubicBezTo>
                <a:cubicBezTo>
                  <a:pt x="1287779" y="620866"/>
                  <a:pt x="1316182" y="509337"/>
                  <a:pt x="1359131" y="391573"/>
                </a:cubicBezTo>
                <a:cubicBezTo>
                  <a:pt x="1402080" y="273809"/>
                  <a:pt x="1453341" y="161587"/>
                  <a:pt x="1500446" y="96471"/>
                </a:cubicBezTo>
                <a:cubicBezTo>
                  <a:pt x="1547551" y="31355"/>
                  <a:pt x="1596737" y="6417"/>
                  <a:pt x="1641764" y="875"/>
                </a:cubicBezTo>
                <a:cubicBezTo>
                  <a:pt x="1686792" y="-4667"/>
                  <a:pt x="1729740" y="16115"/>
                  <a:pt x="1770611" y="63220"/>
                </a:cubicBezTo>
                <a:cubicBezTo>
                  <a:pt x="1811482" y="110326"/>
                  <a:pt x="1847504" y="180292"/>
                  <a:pt x="1886989" y="283508"/>
                </a:cubicBezTo>
                <a:cubicBezTo>
                  <a:pt x="1926474" y="386724"/>
                  <a:pt x="1972194" y="551594"/>
                  <a:pt x="2007523" y="682519"/>
                </a:cubicBezTo>
                <a:cubicBezTo>
                  <a:pt x="2042852" y="813444"/>
                  <a:pt x="2067790" y="922895"/>
                  <a:pt x="2098963" y="1069060"/>
                </a:cubicBezTo>
                <a:cubicBezTo>
                  <a:pt x="2130136" y="1215225"/>
                  <a:pt x="2166158" y="1412653"/>
                  <a:pt x="2194560" y="1559511"/>
                </a:cubicBezTo>
                <a:cubicBezTo>
                  <a:pt x="2222962" y="1706369"/>
                  <a:pt x="2238202" y="1835215"/>
                  <a:pt x="2269375" y="1950208"/>
                </a:cubicBezTo>
                <a:cubicBezTo>
                  <a:pt x="2300548" y="2065201"/>
                  <a:pt x="2324100" y="2175345"/>
                  <a:pt x="2381596" y="2249467"/>
                </a:cubicBezTo>
                <a:cubicBezTo>
                  <a:pt x="2439092" y="2323589"/>
                  <a:pt x="2530648" y="2382230"/>
                  <a:pt x="2614352" y="2394940"/>
                </a:cubicBezTo>
                <a:cubicBezTo>
                  <a:pt x="2698056" y="2407650"/>
                  <a:pt x="2779346" y="2374293"/>
                  <a:pt x="2883823" y="2325725"/>
                </a:cubicBezTo>
                <a:cubicBezTo>
                  <a:pt x="2988300" y="2277157"/>
                  <a:pt x="3105123" y="2159230"/>
                  <a:pt x="3241215" y="2103533"/>
                </a:cubicBezTo>
                <a:cubicBezTo>
                  <a:pt x="3377307" y="2047836"/>
                  <a:pt x="3493126" y="2022638"/>
                  <a:pt x="3700376" y="1991542"/>
                </a:cubicBezTo>
                <a:cubicBezTo>
                  <a:pt x="3907626" y="1960446"/>
                  <a:pt x="4230687" y="1929389"/>
                  <a:pt x="4484716" y="1916959"/>
                </a:cubicBezTo>
                <a:cubicBezTo>
                  <a:pt x="4738745" y="1904529"/>
                  <a:pt x="4991793" y="1914881"/>
                  <a:pt x="5224549" y="1916959"/>
                </a:cubicBezTo>
                <a:cubicBezTo>
                  <a:pt x="5457305" y="1919037"/>
                  <a:pt x="5722540" y="1926065"/>
                  <a:pt x="5881254" y="1929428"/>
                </a:cubicBezTo>
                <a:lnTo>
                  <a:pt x="6176832" y="1937135"/>
                </a:lnTo>
              </a:path>
            </a:pathLst>
          </a:custGeom>
          <a:noFill/>
          <a:ln w="1905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1" name="Group 60"/>
          <p:cNvGrpSpPr/>
          <p:nvPr/>
        </p:nvGrpSpPr>
        <p:grpSpPr>
          <a:xfrm>
            <a:off x="7927394" y="1430462"/>
            <a:ext cx="2698630" cy="830997"/>
            <a:chOff x="6879644" y="1430462"/>
            <a:chExt cx="2698630" cy="830997"/>
          </a:xfrm>
        </p:grpSpPr>
        <p:cxnSp>
          <p:nvCxnSpPr>
            <p:cNvPr id="54" name="Straight Connector 53"/>
            <p:cNvCxnSpPr>
              <a:cxnSpLocks/>
            </p:cNvCxnSpPr>
            <p:nvPr/>
          </p:nvCxnSpPr>
          <p:spPr>
            <a:xfrm>
              <a:off x="6879644" y="1606092"/>
              <a:ext cx="2000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7115146" y="1430462"/>
              <a:ext cx="2463128" cy="830997"/>
            </a:xfrm>
            <a:prstGeom prst="rect">
              <a:avLst/>
            </a:prstGeom>
            <a:noFill/>
          </p:spPr>
          <p:txBody>
            <a:bodyPr wrap="square" rtlCol="0">
              <a:spAutoFit/>
            </a:bodyPr>
            <a:lstStyle/>
            <a:p>
              <a:r>
                <a:rPr lang="en-GB" sz="1600" b="1" dirty="0">
                  <a:solidFill>
                    <a:schemeClr val="accent1"/>
                  </a:solidFill>
                  <a:latin typeface="Arial" panose="020B0604020202020204" pitchFamily="34" charset="0"/>
                  <a:cs typeface="Arial" panose="020B0604020202020204" pitchFamily="34" charset="0"/>
                </a:rPr>
                <a:t>Advanced PD</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(short duration </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of clinical response)</a:t>
              </a:r>
            </a:p>
          </p:txBody>
        </p:sp>
      </p:grpSp>
      <p:grpSp>
        <p:nvGrpSpPr>
          <p:cNvPr id="62" name="Group 61"/>
          <p:cNvGrpSpPr/>
          <p:nvPr/>
        </p:nvGrpSpPr>
        <p:grpSpPr>
          <a:xfrm>
            <a:off x="4747202" y="1430462"/>
            <a:ext cx="2698630" cy="830997"/>
            <a:chOff x="3932265" y="1449836"/>
            <a:chExt cx="2698630" cy="830997"/>
          </a:xfrm>
        </p:grpSpPr>
        <p:cxnSp>
          <p:nvCxnSpPr>
            <p:cNvPr id="57" name="Straight Connector 56"/>
            <p:cNvCxnSpPr>
              <a:cxnSpLocks/>
            </p:cNvCxnSpPr>
            <p:nvPr/>
          </p:nvCxnSpPr>
          <p:spPr>
            <a:xfrm>
              <a:off x="3932265" y="1625466"/>
              <a:ext cx="200025" cy="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4167767" y="1449836"/>
              <a:ext cx="2463128" cy="830997"/>
            </a:xfrm>
            <a:prstGeom prst="rect">
              <a:avLst/>
            </a:prstGeom>
            <a:noFill/>
          </p:spPr>
          <p:txBody>
            <a:bodyPr wrap="square" rtlCol="0">
              <a:spAutoFit/>
            </a:bodyPr>
            <a:lstStyle/>
            <a:p>
              <a:r>
                <a:rPr lang="en-GB" sz="1600" b="1" dirty="0">
                  <a:solidFill>
                    <a:schemeClr val="accent5">
                      <a:lumMod val="75000"/>
                    </a:schemeClr>
                  </a:solidFill>
                  <a:latin typeface="Arial" panose="020B0604020202020204" pitchFamily="34" charset="0"/>
                  <a:cs typeface="Arial" panose="020B0604020202020204" pitchFamily="34" charset="0"/>
                </a:rPr>
                <a:t>Moderate PD</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(diminished duration </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of clinical response)</a:t>
              </a:r>
            </a:p>
          </p:txBody>
        </p:sp>
      </p:grpSp>
      <p:grpSp>
        <p:nvGrpSpPr>
          <p:cNvPr id="63" name="Group 62"/>
          <p:cNvGrpSpPr/>
          <p:nvPr/>
        </p:nvGrpSpPr>
        <p:grpSpPr>
          <a:xfrm>
            <a:off x="1318261" y="1430462"/>
            <a:ext cx="2947378" cy="830997"/>
            <a:chOff x="984886" y="1506990"/>
            <a:chExt cx="2947378" cy="830997"/>
          </a:xfrm>
        </p:grpSpPr>
        <p:cxnSp>
          <p:nvCxnSpPr>
            <p:cNvPr id="59" name="Straight Connector 58"/>
            <p:cNvCxnSpPr>
              <a:cxnSpLocks/>
            </p:cNvCxnSpPr>
            <p:nvPr/>
          </p:nvCxnSpPr>
          <p:spPr>
            <a:xfrm>
              <a:off x="984886" y="1682620"/>
              <a:ext cx="20002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1220387" y="1506990"/>
              <a:ext cx="2711877" cy="830997"/>
            </a:xfrm>
            <a:prstGeom prst="rect">
              <a:avLst/>
            </a:prstGeom>
            <a:noFill/>
          </p:spPr>
          <p:txBody>
            <a:bodyPr wrap="square" rtlCol="0">
              <a:spAutoFit/>
            </a:bodyPr>
            <a:lstStyle/>
            <a:p>
              <a:r>
                <a:rPr lang="en-GB" sz="1600" b="1" dirty="0">
                  <a:solidFill>
                    <a:schemeClr val="accent2">
                      <a:lumMod val="75000"/>
                    </a:schemeClr>
                  </a:solidFill>
                  <a:latin typeface="Arial" panose="020B0604020202020204" pitchFamily="34" charset="0"/>
                  <a:cs typeface="Arial" panose="020B0604020202020204" pitchFamily="34" charset="0"/>
                </a:rPr>
                <a:t>Early PD</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(smooth, extended duration of clinical response)</a:t>
              </a:r>
            </a:p>
          </p:txBody>
        </p:sp>
      </p:grpSp>
      <p:grpSp>
        <p:nvGrpSpPr>
          <p:cNvPr id="68" name="Group 67"/>
          <p:cNvGrpSpPr/>
          <p:nvPr/>
        </p:nvGrpSpPr>
        <p:grpSpPr>
          <a:xfrm rot="5400000">
            <a:off x="6332402" y="3416952"/>
            <a:ext cx="695070" cy="61200"/>
            <a:chOff x="3564966" y="40482"/>
            <a:chExt cx="1542021" cy="61200"/>
          </a:xfrm>
        </p:grpSpPr>
        <p:cxnSp>
          <p:nvCxnSpPr>
            <p:cNvPr id="65" name="Straight Connector 64"/>
            <p:cNvCxnSpPr/>
            <p:nvPr/>
          </p:nvCxnSpPr>
          <p:spPr>
            <a:xfrm>
              <a:off x="3564966" y="40482"/>
              <a:ext cx="1542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a:cxnSpLocks/>
            </p:cNvCxnSpPr>
            <p:nvPr/>
          </p:nvCxnSpPr>
          <p:spPr>
            <a:xfrm rot="5400000">
              <a:off x="3534366" y="71082"/>
              <a:ext cx="61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a:cxnSpLocks/>
            </p:cNvCxnSpPr>
            <p:nvPr/>
          </p:nvCxnSpPr>
          <p:spPr>
            <a:xfrm rot="5400000">
              <a:off x="5076387" y="71082"/>
              <a:ext cx="61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TextBox 68"/>
          <p:cNvSpPr txBox="1"/>
          <p:nvPr/>
        </p:nvSpPr>
        <p:spPr>
          <a:xfrm>
            <a:off x="6679937" y="3126592"/>
            <a:ext cx="765895" cy="707886"/>
          </a:xfrm>
          <a:prstGeom prst="rect">
            <a:avLst/>
          </a:prstGeom>
          <a:noFill/>
        </p:spPr>
        <p:txBody>
          <a:bodyPr wrap="square" rtlCol="0">
            <a:spAutoFit/>
          </a:bodyPr>
          <a:lstStyle/>
          <a:p>
            <a:r>
              <a:rPr lang="en-GB" sz="1000">
                <a:latin typeface="Arial" panose="020B0604020202020204" pitchFamily="34" charset="0"/>
                <a:cs typeface="Arial" panose="020B0604020202020204" pitchFamily="34" charset="0"/>
              </a:rPr>
              <a:t>Window of good treatment </a:t>
            </a:r>
            <a:r>
              <a:rPr lang="en-GB" sz="1000" err="1">
                <a:latin typeface="Arial" panose="020B0604020202020204" pitchFamily="34" charset="0"/>
                <a:cs typeface="Arial" panose="020B0604020202020204" pitchFamily="34" charset="0"/>
              </a:rPr>
              <a:t>response</a:t>
            </a:r>
            <a:r>
              <a:rPr lang="en-GB" sz="1000" baseline="30000" err="1">
                <a:latin typeface="Arial" panose="020B0604020202020204" pitchFamily="34" charset="0"/>
                <a:cs typeface="Arial" panose="020B0604020202020204" pitchFamily="34" charset="0"/>
              </a:rPr>
              <a:t>a</a:t>
            </a:r>
            <a:r>
              <a:rPr lang="en-GB" sz="1000">
                <a:latin typeface="Arial" panose="020B0604020202020204" pitchFamily="34" charset="0"/>
                <a:cs typeface="Arial" panose="020B0604020202020204" pitchFamily="34" charset="0"/>
              </a:rPr>
              <a:t> </a:t>
            </a:r>
          </a:p>
        </p:txBody>
      </p:sp>
    </p:spTree>
    <p:custDataLst>
      <p:tags r:id="rId1"/>
    </p:custDataLst>
    <p:extLst>
      <p:ext uri="{BB962C8B-B14F-4D97-AF65-F5344CB8AC3E}">
        <p14:creationId xmlns:p14="http://schemas.microsoft.com/office/powerpoint/2010/main" val="2248459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767B89C-8E95-4CCA-A531-FF0A2C8F3DE7}"/>
              </a:ext>
            </a:extLst>
          </p:cNvPr>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2" name="Title 1"/>
          <p:cNvSpPr>
            <a:spLocks noGrp="1"/>
          </p:cNvSpPr>
          <p:nvPr>
            <p:ph type="title"/>
          </p:nvPr>
        </p:nvSpPr>
        <p:spPr/>
        <p:txBody>
          <a:bodyPr/>
          <a:lstStyle/>
          <a:p>
            <a:r>
              <a:rPr lang="en-US"/>
              <a:t>Definitions of terms used in Parkinson’s disease</a:t>
            </a:r>
          </a:p>
        </p:txBody>
      </p:sp>
      <p:sp>
        <p:nvSpPr>
          <p:cNvPr id="9" name="Content Placeholder 8">
            <a:extLst>
              <a:ext uri="{FF2B5EF4-FFF2-40B4-BE49-F238E27FC236}">
                <a16:creationId xmlns:a16="http://schemas.microsoft.com/office/drawing/2014/main" id="{529A2E1F-21F3-4CC0-A0A7-6620EF22DAFA}"/>
              </a:ext>
            </a:extLst>
          </p:cNvPr>
          <p:cNvSpPr>
            <a:spLocks noGrp="1"/>
          </p:cNvSpPr>
          <p:nvPr>
            <p:ph idx="19"/>
          </p:nvPr>
        </p:nvSpPr>
        <p:spPr/>
        <p:txBody>
          <a:bodyPr>
            <a:normAutofit fontScale="85000" lnSpcReduction="10000"/>
          </a:bodyPr>
          <a:lstStyle/>
          <a:p>
            <a:pPr marL="0" indent="0">
              <a:buNone/>
            </a:pPr>
            <a:r>
              <a:rPr lang="en-US" sz="1600" b="1" dirty="0">
                <a:solidFill>
                  <a:schemeClr val="tx1"/>
                </a:solidFill>
              </a:rPr>
              <a:t>ON/OFF</a:t>
            </a:r>
          </a:p>
          <a:p>
            <a:r>
              <a:rPr lang="en-US" sz="1600" dirty="0">
                <a:solidFill>
                  <a:schemeClr val="tx1"/>
                </a:solidFill>
              </a:rPr>
              <a:t>ON time – period of relatively good motor symptom control, when medication seems to be working well</a:t>
            </a:r>
            <a:r>
              <a:rPr lang="en-US" sz="1600" baseline="30000" dirty="0">
                <a:solidFill>
                  <a:schemeClr val="tx1"/>
                </a:solidFill>
              </a:rPr>
              <a:t>1</a:t>
            </a:r>
            <a:endParaRPr lang="en-US" sz="1600" dirty="0">
              <a:solidFill>
                <a:schemeClr val="tx1"/>
              </a:solidFill>
            </a:endParaRPr>
          </a:p>
          <a:p>
            <a:r>
              <a:rPr lang="en-US" sz="1600" dirty="0">
                <a:solidFill>
                  <a:schemeClr val="tx1"/>
                </a:solidFill>
              </a:rPr>
              <a:t>OFF time – period of relatively poor motor symptom control</a:t>
            </a:r>
            <a:r>
              <a:rPr lang="en-US" sz="1600" baseline="30000" dirty="0">
                <a:solidFill>
                  <a:schemeClr val="tx1"/>
                </a:solidFill>
              </a:rPr>
              <a:t>1</a:t>
            </a:r>
            <a:endParaRPr lang="en-US" sz="1600" dirty="0">
              <a:solidFill>
                <a:schemeClr val="tx1"/>
              </a:solidFill>
            </a:endParaRPr>
          </a:p>
          <a:p>
            <a:pPr marL="0" indent="0">
              <a:buNone/>
            </a:pPr>
            <a:r>
              <a:rPr lang="en-US" sz="1600" b="1" dirty="0">
                <a:solidFill>
                  <a:schemeClr val="tx1"/>
                </a:solidFill>
              </a:rPr>
              <a:t>Wearing off</a:t>
            </a:r>
          </a:p>
          <a:p>
            <a:r>
              <a:rPr lang="en-US" sz="1600" dirty="0">
                <a:solidFill>
                  <a:schemeClr val="tx1"/>
                </a:solidFill>
              </a:rPr>
              <a:t>Generally, the first motor complication is predictable wearing off – recurrence of motor and non-motor symptoms preceding scheduled doses of levodopa</a:t>
            </a:r>
            <a:r>
              <a:rPr lang="en-US" sz="1600" baseline="30000" dirty="0">
                <a:solidFill>
                  <a:schemeClr val="tx1"/>
                </a:solidFill>
              </a:rPr>
              <a:t>2,3</a:t>
            </a:r>
            <a:endParaRPr lang="en-US" sz="1600" dirty="0">
              <a:solidFill>
                <a:schemeClr val="tx1"/>
              </a:solidFill>
            </a:endParaRPr>
          </a:p>
          <a:p>
            <a:r>
              <a:rPr lang="en-US" sz="1600" dirty="0">
                <a:solidFill>
                  <a:schemeClr val="tx1"/>
                </a:solidFill>
              </a:rPr>
              <a:t>Patients typically report a predictable return of motor or non-motor symptoms occurring before their next scheduled medication dose, these symptoms then improve 15–45 minutes after the next dose of medication</a:t>
            </a:r>
            <a:r>
              <a:rPr lang="en-US" sz="1600" baseline="30000" dirty="0">
                <a:solidFill>
                  <a:schemeClr val="tx1"/>
                </a:solidFill>
              </a:rPr>
              <a:t>3</a:t>
            </a:r>
            <a:endParaRPr lang="en-US" sz="1600" dirty="0">
              <a:solidFill>
                <a:schemeClr val="tx1"/>
              </a:solidFill>
            </a:endParaRPr>
          </a:p>
          <a:p>
            <a:pPr marL="0" indent="0">
              <a:buNone/>
            </a:pPr>
            <a:r>
              <a:rPr lang="en-US" sz="1600" b="1" dirty="0">
                <a:solidFill>
                  <a:schemeClr val="tx1"/>
                </a:solidFill>
              </a:rPr>
              <a:t>Dyskinesia</a:t>
            </a:r>
          </a:p>
          <a:p>
            <a:r>
              <a:rPr lang="en-US" sz="1600" dirty="0">
                <a:solidFill>
                  <a:schemeClr val="tx1"/>
                </a:solidFill>
              </a:rPr>
              <a:t>Dyskinesia refers to a broad clinical spectrum of different types of involuntary movements ranging from chorea affecting limbs and trunk, slow dystonic movements, fixed dystonic postures, or (more rarely) myoclonus or ballism</a:t>
            </a:r>
            <a:r>
              <a:rPr lang="en-US" sz="1600" baseline="30000" dirty="0">
                <a:solidFill>
                  <a:schemeClr val="tx1"/>
                </a:solidFill>
              </a:rPr>
              <a:t>4</a:t>
            </a:r>
          </a:p>
          <a:p>
            <a:r>
              <a:rPr lang="en-US" sz="1600" dirty="0">
                <a:solidFill>
                  <a:schemeClr val="tx1"/>
                </a:solidFill>
              </a:rPr>
              <a:t>Troublesome dyskinesias have been defined as those that are painful, impair balance, or are excessive to the point of causing impairment in coordination or general function</a:t>
            </a:r>
            <a:r>
              <a:rPr lang="en-US" sz="1600" baseline="30000" dirty="0">
                <a:solidFill>
                  <a:schemeClr val="tx1"/>
                </a:solidFill>
              </a:rPr>
              <a:t>5</a:t>
            </a:r>
            <a:endParaRPr lang="en-US" sz="1600" dirty="0">
              <a:solidFill>
                <a:schemeClr val="tx1"/>
              </a:solidFill>
            </a:endParaRPr>
          </a:p>
          <a:p>
            <a:endParaRPr lang="en-GB" sz="1600" dirty="0">
              <a:solidFill>
                <a:schemeClr val="tx1"/>
              </a:solidFill>
            </a:endParaRPr>
          </a:p>
          <a:p>
            <a:endParaRPr lang="en-GB" sz="1600" dirty="0">
              <a:solidFill>
                <a:schemeClr val="tx1"/>
              </a:solidFill>
            </a:endParaRPr>
          </a:p>
        </p:txBody>
      </p:sp>
      <p:sp>
        <p:nvSpPr>
          <p:cNvPr id="4" name="Text Placeholder 3">
            <a:extLst>
              <a:ext uri="{FF2B5EF4-FFF2-40B4-BE49-F238E27FC236}">
                <a16:creationId xmlns:a16="http://schemas.microsoft.com/office/drawing/2014/main" id="{71ED69D5-5A31-4663-8458-34D95670B756}"/>
              </a:ext>
            </a:extLst>
          </p:cNvPr>
          <p:cNvSpPr>
            <a:spLocks noGrp="1"/>
          </p:cNvSpPr>
          <p:nvPr>
            <p:ph type="body" sz="quarter" idx="18"/>
          </p:nvPr>
        </p:nvSpPr>
        <p:spPr/>
        <p:txBody>
          <a:bodyPr/>
          <a:lstStyle/>
          <a:p>
            <a:r>
              <a:rPr lang="da-DK" dirty="0"/>
              <a:t>1. Kalia &amp; Lang. Lancet 2015;386:896–912; 2. </a:t>
            </a:r>
            <a:r>
              <a:rPr lang="en-GB" dirty="0"/>
              <a:t>Stacy et al. Mov </a:t>
            </a:r>
            <a:r>
              <a:rPr lang="en-GB" dirty="0" err="1"/>
              <a:t>Disord</a:t>
            </a:r>
            <a:r>
              <a:rPr lang="en-GB" dirty="0"/>
              <a:t> 2005;20(6):726–733; 3. Stacy &amp; Hauser. J Neural </a:t>
            </a:r>
            <a:r>
              <a:rPr lang="en-GB" dirty="0" err="1"/>
              <a:t>Transm</a:t>
            </a:r>
            <a:r>
              <a:rPr lang="en-GB" dirty="0"/>
              <a:t> 2007;114:211–217; </a:t>
            </a:r>
          </a:p>
          <a:p>
            <a:pPr marL="0" indent="0">
              <a:buNone/>
            </a:pPr>
            <a:r>
              <a:rPr lang="en-GB" dirty="0"/>
              <a:t>4. </a:t>
            </a:r>
            <a:r>
              <a:rPr lang="en-US" dirty="0" err="1"/>
              <a:t>Hametner</a:t>
            </a:r>
            <a:r>
              <a:rPr lang="en-US" dirty="0"/>
              <a:t> </a:t>
            </a:r>
            <a:r>
              <a:rPr lang="en-GB" dirty="0"/>
              <a:t>et al. </a:t>
            </a:r>
            <a:r>
              <a:rPr lang="en-US" dirty="0"/>
              <a:t>J Neurol 2010;257(Suppl 2):S268–275; 5. Parkinson Study Group. </a:t>
            </a:r>
            <a:r>
              <a:rPr lang="de-DE" dirty="0"/>
              <a:t>Arch Neurol 2005;62(2):241–248</a:t>
            </a:r>
            <a:endParaRPr lang="da-DK" dirty="0"/>
          </a:p>
        </p:txBody>
      </p:sp>
      <p:sp>
        <p:nvSpPr>
          <p:cNvPr id="3" name="Slide Number Placeholder 2"/>
          <p:cNvSpPr>
            <a:spLocks noGrp="1"/>
          </p:cNvSpPr>
          <p:nvPr>
            <p:ph type="sldNum" sz="quarter" idx="4"/>
          </p:nvPr>
        </p:nvSpPr>
        <p:spPr/>
        <p:txBody>
          <a:bodyPr/>
          <a:lstStyle/>
          <a:p>
            <a:fld id="{D959737C-41B5-4E6D-9B94-89B7A0F5A903}" type="slidenum">
              <a:rPr lang="en-US" smtClean="0"/>
              <a:pPr/>
              <a:t>9</a:t>
            </a:fld>
            <a:endParaRPr lang="en-US"/>
          </a:p>
        </p:txBody>
      </p:sp>
    </p:spTree>
    <p:custDataLst>
      <p:tags r:id="rId1"/>
    </p:custDataLst>
    <p:extLst>
      <p:ext uri="{BB962C8B-B14F-4D97-AF65-F5344CB8AC3E}">
        <p14:creationId xmlns:p14="http://schemas.microsoft.com/office/powerpoint/2010/main" val="2044385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7"/>
          </p:nvPr>
        </p:nvSpPr>
        <p:spPr/>
        <p:txBody>
          <a:bodyPr/>
          <a:lstStyle/>
          <a:p>
            <a:r>
              <a:rPr lang="en-GB"/>
              <a:t>Parkinson’s disease – Course, natural history and prognosis</a:t>
            </a:r>
          </a:p>
        </p:txBody>
      </p:sp>
      <p:sp>
        <p:nvSpPr>
          <p:cNvPr id="335874" name="Rectangle 2"/>
          <p:cNvSpPr>
            <a:spLocks noGrp="1" noChangeArrowheads="1"/>
          </p:cNvSpPr>
          <p:nvPr>
            <p:ph type="title"/>
          </p:nvPr>
        </p:nvSpPr>
        <p:spPr/>
        <p:txBody>
          <a:bodyPr/>
          <a:lstStyle/>
          <a:p>
            <a:r>
              <a:rPr lang="en-GB"/>
              <a:t>Drug-induced dyskinesias in Parkinson’s disease</a:t>
            </a:r>
          </a:p>
        </p:txBody>
      </p:sp>
      <p:sp>
        <p:nvSpPr>
          <p:cNvPr id="5" name="Content Placeholder 4"/>
          <p:cNvSpPr>
            <a:spLocks noGrp="1"/>
          </p:cNvSpPr>
          <p:nvPr>
            <p:ph idx="19"/>
          </p:nvPr>
        </p:nvSpPr>
        <p:spPr/>
        <p:txBody>
          <a:bodyPr>
            <a:noAutofit/>
          </a:bodyPr>
          <a:lstStyle/>
          <a:p>
            <a:pPr marL="0" indent="0">
              <a:buNone/>
            </a:pPr>
            <a:r>
              <a:rPr lang="en-GB" b="1">
                <a:solidFill>
                  <a:schemeClr val="tx1"/>
                </a:solidFill>
              </a:rPr>
              <a:t>ON-period dyskinesias (‘</a:t>
            </a:r>
            <a:r>
              <a:rPr lang="en-GB" b="1" err="1">
                <a:solidFill>
                  <a:schemeClr val="tx1"/>
                </a:solidFill>
              </a:rPr>
              <a:t>interdose</a:t>
            </a:r>
            <a:r>
              <a:rPr lang="en-GB" b="1">
                <a:solidFill>
                  <a:schemeClr val="tx1"/>
                </a:solidFill>
              </a:rPr>
              <a:t>’)</a:t>
            </a:r>
            <a:r>
              <a:rPr lang="en-GB" b="1" baseline="30000">
                <a:solidFill>
                  <a:schemeClr val="tx1"/>
                </a:solidFill>
              </a:rPr>
              <a:t>1</a:t>
            </a:r>
            <a:endParaRPr lang="en-GB" b="1">
              <a:solidFill>
                <a:schemeClr val="tx1"/>
              </a:solidFill>
            </a:endParaRPr>
          </a:p>
          <a:p>
            <a:r>
              <a:rPr lang="en-GB">
                <a:solidFill>
                  <a:schemeClr val="tx1"/>
                </a:solidFill>
              </a:rPr>
              <a:t>Phasic (</a:t>
            </a:r>
            <a:r>
              <a:rPr lang="en-GB" err="1">
                <a:solidFill>
                  <a:schemeClr val="tx1"/>
                </a:solidFill>
              </a:rPr>
              <a:t>choreic</a:t>
            </a:r>
            <a:r>
              <a:rPr lang="en-GB">
                <a:solidFill>
                  <a:schemeClr val="tx1"/>
                </a:solidFill>
              </a:rPr>
              <a:t>) limb movements</a:t>
            </a:r>
          </a:p>
          <a:p>
            <a:r>
              <a:rPr lang="en-GB">
                <a:solidFill>
                  <a:schemeClr val="tx1"/>
                </a:solidFill>
              </a:rPr>
              <a:t>Dystonic </a:t>
            </a:r>
            <a:r>
              <a:rPr lang="en-GB" err="1">
                <a:solidFill>
                  <a:schemeClr val="tx1"/>
                </a:solidFill>
              </a:rPr>
              <a:t>cranio</a:t>
            </a:r>
            <a:r>
              <a:rPr lang="en-GB">
                <a:solidFill>
                  <a:schemeClr val="tx1"/>
                </a:solidFill>
              </a:rPr>
              <a:t>–cervical movements</a:t>
            </a:r>
          </a:p>
          <a:p>
            <a:r>
              <a:rPr lang="en-GB">
                <a:solidFill>
                  <a:schemeClr val="tx1"/>
                </a:solidFill>
              </a:rPr>
              <a:t>More pronounced on side initially affected by PD</a:t>
            </a:r>
          </a:p>
          <a:p>
            <a:pPr marL="0" indent="0">
              <a:buNone/>
            </a:pPr>
            <a:r>
              <a:rPr lang="en-GB" b="1">
                <a:solidFill>
                  <a:schemeClr val="tx1"/>
                </a:solidFill>
              </a:rPr>
              <a:t>Biphasic dyskinesias</a:t>
            </a:r>
            <a:r>
              <a:rPr lang="en-GB" b="1" baseline="30000">
                <a:solidFill>
                  <a:schemeClr val="tx1"/>
                </a:solidFill>
              </a:rPr>
              <a:t>1</a:t>
            </a:r>
            <a:r>
              <a:rPr lang="en-GB" b="1">
                <a:solidFill>
                  <a:schemeClr val="tx1"/>
                </a:solidFill>
              </a:rPr>
              <a:t> </a:t>
            </a:r>
          </a:p>
          <a:p>
            <a:r>
              <a:rPr lang="en-GB">
                <a:solidFill>
                  <a:schemeClr val="tx1"/>
                </a:solidFill>
              </a:rPr>
              <a:t>At onset or wearing-off (or both) of clinical benefits of a dose of levodopa</a:t>
            </a:r>
          </a:p>
          <a:p>
            <a:r>
              <a:rPr lang="en-GB">
                <a:solidFill>
                  <a:schemeClr val="tx1"/>
                </a:solidFill>
              </a:rPr>
              <a:t>Mix of phasic and dystonic movements (‘mobile dystonia’)</a:t>
            </a:r>
          </a:p>
          <a:p>
            <a:pPr marL="0" indent="0">
              <a:buNone/>
            </a:pPr>
            <a:r>
              <a:rPr lang="en-GB" b="1">
                <a:solidFill>
                  <a:schemeClr val="tx1"/>
                </a:solidFill>
              </a:rPr>
              <a:t>OFF-period dystonia</a:t>
            </a:r>
            <a:r>
              <a:rPr lang="en-GB" b="1" baseline="30000">
                <a:solidFill>
                  <a:schemeClr val="tx1"/>
                </a:solidFill>
              </a:rPr>
              <a:t>1</a:t>
            </a:r>
            <a:endParaRPr lang="en-GB" b="1">
              <a:solidFill>
                <a:schemeClr val="tx1"/>
              </a:solidFill>
            </a:endParaRPr>
          </a:p>
          <a:p>
            <a:r>
              <a:rPr lang="en-GB">
                <a:solidFill>
                  <a:schemeClr val="tx1"/>
                </a:solidFill>
              </a:rPr>
              <a:t>Most often distal limb (feet)</a:t>
            </a:r>
          </a:p>
          <a:p>
            <a:r>
              <a:rPr lang="en-GB">
                <a:solidFill>
                  <a:schemeClr val="tx1"/>
                </a:solidFill>
              </a:rPr>
              <a:t>Painful</a:t>
            </a:r>
          </a:p>
        </p:txBody>
      </p:sp>
      <p:sp>
        <p:nvSpPr>
          <p:cNvPr id="3" name="Text Placeholder 2">
            <a:extLst>
              <a:ext uri="{FF2B5EF4-FFF2-40B4-BE49-F238E27FC236}">
                <a16:creationId xmlns:a16="http://schemas.microsoft.com/office/drawing/2014/main" id="{88067741-7486-4705-BB25-EE14BCC29E55}"/>
              </a:ext>
            </a:extLst>
          </p:cNvPr>
          <p:cNvSpPr>
            <a:spLocks noGrp="1"/>
          </p:cNvSpPr>
          <p:nvPr>
            <p:ph type="body" sz="quarter" idx="18"/>
          </p:nvPr>
        </p:nvSpPr>
        <p:spPr/>
        <p:txBody>
          <a:bodyPr/>
          <a:lstStyle/>
          <a:p>
            <a:r>
              <a:rPr lang="en-GB"/>
              <a:t>PD=Parkinson’s disease</a:t>
            </a:r>
          </a:p>
          <a:p>
            <a:endParaRPr lang="en-GB"/>
          </a:p>
          <a:p>
            <a:r>
              <a:rPr lang="en-GB" err="1"/>
              <a:t>Hametner</a:t>
            </a:r>
            <a:r>
              <a:rPr lang="en-GB"/>
              <a:t> et al. J </a:t>
            </a:r>
            <a:r>
              <a:rPr lang="en-GB" err="1"/>
              <a:t>Neurol</a:t>
            </a:r>
            <a:r>
              <a:rPr lang="en-GB"/>
              <a:t> 2010;257(</a:t>
            </a:r>
            <a:r>
              <a:rPr lang="en-GB" err="1"/>
              <a:t>Suppl</a:t>
            </a:r>
            <a:r>
              <a:rPr lang="en-GB"/>
              <a:t> 2):S268–275</a:t>
            </a:r>
          </a:p>
        </p:txBody>
      </p:sp>
      <p:sp>
        <p:nvSpPr>
          <p:cNvPr id="2" name="Slide Number Placeholder 1"/>
          <p:cNvSpPr>
            <a:spLocks noGrp="1"/>
          </p:cNvSpPr>
          <p:nvPr>
            <p:ph type="sldNum" sz="quarter" idx="4"/>
          </p:nvPr>
        </p:nvSpPr>
        <p:spPr/>
        <p:txBody>
          <a:bodyPr/>
          <a:lstStyle/>
          <a:p>
            <a:fld id="{0DCC500D-E7AC-C246-AD96-DFF42DA57FE2}" type="slidenum">
              <a:rPr lang="en-GB" smtClean="0"/>
              <a:pPr/>
              <a:t>10</a:t>
            </a:fld>
            <a:endParaRPr lang="en-GB"/>
          </a:p>
        </p:txBody>
      </p:sp>
    </p:spTree>
    <p:custDataLst>
      <p:tags r:id="rId1"/>
    </p:custDataLst>
    <p:extLst>
      <p:ext uri="{BB962C8B-B14F-4D97-AF65-F5344CB8AC3E}">
        <p14:creationId xmlns:p14="http://schemas.microsoft.com/office/powerpoint/2010/main" val="4036860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7"/>
          </p:nvPr>
        </p:nvSpPr>
        <p:spPr>
          <a:effectLst/>
        </p:spPr>
        <p:txBody>
          <a:bodyPr/>
          <a:lstStyle/>
          <a:p>
            <a:r>
              <a:rPr lang="en-GB"/>
              <a:t>Parkinson’s disease – </a:t>
            </a:r>
            <a:r>
              <a:rPr lang="en-US"/>
              <a:t>Course, natural history and prognosis</a:t>
            </a:r>
            <a:endParaRPr lang="en-GB"/>
          </a:p>
        </p:txBody>
      </p:sp>
      <p:sp>
        <p:nvSpPr>
          <p:cNvPr id="7" name="Title 6"/>
          <p:cNvSpPr>
            <a:spLocks noGrp="1"/>
          </p:cNvSpPr>
          <p:nvPr>
            <p:ph type="title"/>
          </p:nvPr>
        </p:nvSpPr>
        <p:spPr>
          <a:xfrm>
            <a:off x="539749" y="814386"/>
            <a:ext cx="10015609" cy="332399"/>
          </a:xfrm>
          <a:effectLst/>
        </p:spPr>
        <p:txBody>
          <a:bodyPr/>
          <a:lstStyle/>
          <a:p>
            <a:r>
              <a:rPr lang="en-GB" sz="2000"/>
              <a:t>Relationship between levodopa administration and motor fluctuations</a:t>
            </a:r>
          </a:p>
        </p:txBody>
      </p:sp>
      <p:sp>
        <p:nvSpPr>
          <p:cNvPr id="5" name="Text Placeholder 4">
            <a:extLst>
              <a:ext uri="{FF2B5EF4-FFF2-40B4-BE49-F238E27FC236}">
                <a16:creationId xmlns:a16="http://schemas.microsoft.com/office/drawing/2014/main" id="{0C160679-0255-436B-9582-DA5044C4EA34}"/>
              </a:ext>
            </a:extLst>
          </p:cNvPr>
          <p:cNvSpPr>
            <a:spLocks noGrp="1"/>
          </p:cNvSpPr>
          <p:nvPr>
            <p:ph type="body" sz="quarter" idx="18"/>
          </p:nvPr>
        </p:nvSpPr>
        <p:spPr/>
        <p:txBody>
          <a:bodyPr/>
          <a:lstStyle/>
          <a:p>
            <a:r>
              <a:rPr lang="en-US" dirty="0"/>
              <a:t>Adapted from: Stacy. Neurol Clin 2009;27:605–631; </a:t>
            </a:r>
            <a:r>
              <a:rPr lang="en-US" dirty="0" err="1"/>
              <a:t>Chapuis</a:t>
            </a:r>
            <a:r>
              <a:rPr lang="en-US" dirty="0"/>
              <a:t> et al. Mov </a:t>
            </a:r>
            <a:r>
              <a:rPr lang="en-US" dirty="0" err="1"/>
              <a:t>Disord</a:t>
            </a:r>
            <a:r>
              <a:rPr lang="en-US" dirty="0"/>
              <a:t> 2005;20(2):224–230; </a:t>
            </a:r>
            <a:r>
              <a:rPr lang="en-US" dirty="0" err="1"/>
              <a:t>Olanow</a:t>
            </a:r>
            <a:r>
              <a:rPr lang="en-US" dirty="0"/>
              <a:t> &amp; </a:t>
            </a:r>
            <a:r>
              <a:rPr lang="en-US" dirty="0" err="1"/>
              <a:t>Stocchi</a:t>
            </a:r>
            <a:r>
              <a:rPr lang="en-US" dirty="0"/>
              <a:t>. Mov </a:t>
            </a:r>
            <a:r>
              <a:rPr lang="en-US" dirty="0" err="1"/>
              <a:t>Disord</a:t>
            </a:r>
            <a:r>
              <a:rPr lang="en-US" dirty="0"/>
              <a:t> 2018;33(6):859–866</a:t>
            </a:r>
          </a:p>
        </p:txBody>
      </p:sp>
      <p:sp>
        <p:nvSpPr>
          <p:cNvPr id="4" name="Slide Number Placeholder 3"/>
          <p:cNvSpPr>
            <a:spLocks noGrp="1"/>
          </p:cNvSpPr>
          <p:nvPr>
            <p:ph type="sldNum" sz="quarter" idx="4"/>
          </p:nvPr>
        </p:nvSpPr>
        <p:spPr>
          <a:effectLst/>
        </p:spPr>
        <p:txBody>
          <a:bodyPr/>
          <a:lstStyle/>
          <a:p>
            <a:fld id="{6DBC486D-4FAB-B746-8B02-8D7C842291C6}" type="slidenum">
              <a:rPr lang="en-GB" smtClean="0"/>
              <a:t>11</a:t>
            </a:fld>
            <a:endParaRPr lang="en-GB"/>
          </a:p>
        </p:txBody>
      </p:sp>
      <p:sp>
        <p:nvSpPr>
          <p:cNvPr id="98" name="Rectangle 97"/>
          <p:cNvSpPr>
            <a:spLocks noChangeArrowheads="1"/>
          </p:cNvSpPr>
          <p:nvPr/>
        </p:nvSpPr>
        <p:spPr bwMode="auto">
          <a:xfrm>
            <a:off x="1940118" y="3288500"/>
            <a:ext cx="6255807" cy="782637"/>
          </a:xfrm>
          <a:prstGeom prst="rect">
            <a:avLst/>
          </a:prstGeom>
          <a:gradFill flip="none" rotWithShape="1">
            <a:gsLst>
              <a:gs pos="0">
                <a:schemeClr val="accent5">
                  <a:lumMod val="60000"/>
                  <a:lumOff val="40000"/>
                </a:schemeClr>
              </a:gs>
              <a:gs pos="50000">
                <a:srgbClr val="D6E0EA"/>
              </a:gs>
              <a:gs pos="100000">
                <a:srgbClr val="F2F5F8"/>
              </a:gs>
            </a:gsLst>
            <a:lin ang="16200000" scaled="1"/>
            <a:tileRect/>
          </a:gradFill>
          <a:ln>
            <a:noFill/>
          </a:ln>
        </p:spPr>
        <p:txBody>
          <a:bodyPr/>
          <a:lstStyle>
            <a:lvl1pPr marL="385763" indent="-385763"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385763" marR="0" lvl="0" indent="-385763" defTabSz="914400" eaLnBrk="1" fontAlgn="base" latinLnBrk="0" hangingPunct="1">
              <a:lnSpc>
                <a:spcPct val="100000"/>
              </a:lnSpc>
              <a:spcBef>
                <a:spcPct val="0"/>
              </a:spcBef>
              <a:spcAft>
                <a:spcPct val="0"/>
              </a:spcAft>
              <a:buClrTx/>
              <a:buSzTx/>
              <a:buFontTx/>
              <a:buNone/>
              <a:tabLst/>
              <a:defRPr/>
            </a:pPr>
            <a:endParaRPr kumimoji="0" lang="en-GB" altLang="en-US" sz="1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99" name="Rectangle 98"/>
          <p:cNvSpPr>
            <a:spLocks noChangeArrowheads="1"/>
          </p:cNvSpPr>
          <p:nvPr/>
        </p:nvSpPr>
        <p:spPr bwMode="auto">
          <a:xfrm>
            <a:off x="1940118" y="1910549"/>
            <a:ext cx="6255807" cy="633413"/>
          </a:xfrm>
          <a:prstGeom prst="rect">
            <a:avLst/>
          </a:prstGeom>
          <a:gradFill flip="none" rotWithShape="1">
            <a:gsLst>
              <a:gs pos="0">
                <a:schemeClr val="accent2">
                  <a:lumMod val="20000"/>
                  <a:lumOff val="80000"/>
                </a:schemeClr>
              </a:gs>
              <a:gs pos="62000">
                <a:schemeClr val="accent2">
                  <a:lumMod val="20000"/>
                  <a:lumOff val="80000"/>
                </a:schemeClr>
              </a:gs>
              <a:gs pos="100000">
                <a:schemeClr val="accent2">
                  <a:lumMod val="40000"/>
                  <a:lumOff val="60000"/>
                </a:schemeClr>
              </a:gs>
            </a:gsLst>
            <a:lin ang="16200000" scaled="1"/>
            <a:tileRect/>
          </a:gradFill>
          <a:ln>
            <a:noFill/>
          </a:ln>
        </p:spPr>
        <p:txBody>
          <a:bodyPr/>
          <a:lstStyle>
            <a:lvl1pPr marL="385763" indent="-385763"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385763" marR="0" lvl="0" indent="-385763" defTabSz="914400" eaLnBrk="1" fontAlgn="base" latinLnBrk="0" hangingPunct="1">
              <a:lnSpc>
                <a:spcPct val="100000"/>
              </a:lnSpc>
              <a:spcBef>
                <a:spcPct val="0"/>
              </a:spcBef>
              <a:spcAft>
                <a:spcPct val="0"/>
              </a:spcAft>
              <a:buClrTx/>
              <a:buSzTx/>
              <a:buFontTx/>
              <a:buNone/>
              <a:tabLst/>
              <a:defRPr/>
            </a:pPr>
            <a:endParaRPr kumimoji="0" lang="en-GB" altLang="en-US" sz="1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0" name="Line 7"/>
          <p:cNvSpPr>
            <a:spLocks noChangeShapeType="1"/>
          </p:cNvSpPr>
          <p:nvPr/>
        </p:nvSpPr>
        <p:spPr bwMode="auto">
          <a:xfrm rot="16200000" flipH="1">
            <a:off x="6260659" y="-1007787"/>
            <a:ext cx="0" cy="8589397"/>
          </a:xfrm>
          <a:prstGeom prst="line">
            <a:avLst/>
          </a:prstGeom>
          <a:noFill/>
          <a:ln w="1905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005875"/>
                  </a:outerShdw>
                </a:effectLst>
              </a14:hiddenEffects>
            </a:ext>
          </a:extLst>
        </p:spPr>
        <p:txBody>
          <a:bodyPr wrap="none" anchor="ctr"/>
          <a:lstStyle/>
          <a:p>
            <a:pPr fontAlgn="base">
              <a:spcBef>
                <a:spcPct val="0"/>
              </a:spcBef>
              <a:spcAft>
                <a:spcPct val="0"/>
              </a:spcAft>
              <a:defRPr/>
            </a:pPr>
            <a:endParaRPr lang="en-GB" sz="1400" kern="0">
              <a:solidFill>
                <a:srgbClr val="000000"/>
              </a:solidFill>
              <a:latin typeface="Arial"/>
              <a:cs typeface="Arial" panose="020B0604020202020204" pitchFamily="34" charset="0"/>
            </a:endParaRPr>
          </a:p>
        </p:txBody>
      </p:sp>
      <p:sp>
        <p:nvSpPr>
          <p:cNvPr id="101" name="Line 8"/>
          <p:cNvSpPr>
            <a:spLocks noChangeShapeType="1"/>
          </p:cNvSpPr>
          <p:nvPr/>
        </p:nvSpPr>
        <p:spPr bwMode="auto">
          <a:xfrm rot="16200000">
            <a:off x="6270597" y="-1757501"/>
            <a:ext cx="0" cy="8609276"/>
          </a:xfrm>
          <a:prstGeom prst="line">
            <a:avLst/>
          </a:prstGeom>
          <a:noFill/>
          <a:ln w="1905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005875"/>
                  </a:outerShdw>
                </a:effectLst>
              </a14:hiddenEffects>
            </a:ext>
          </a:extLst>
        </p:spPr>
        <p:txBody>
          <a:bodyPr wrap="none" anchor="ctr"/>
          <a:lstStyle/>
          <a:p>
            <a:pPr fontAlgn="base">
              <a:spcBef>
                <a:spcPct val="0"/>
              </a:spcBef>
              <a:spcAft>
                <a:spcPct val="0"/>
              </a:spcAft>
              <a:defRPr/>
            </a:pPr>
            <a:endParaRPr lang="en-GB" sz="1400" kern="0">
              <a:solidFill>
                <a:srgbClr val="000000"/>
              </a:solidFill>
              <a:latin typeface="Arial"/>
              <a:cs typeface="Arial" panose="020B0604020202020204" pitchFamily="34" charset="0"/>
            </a:endParaRPr>
          </a:p>
        </p:txBody>
      </p:sp>
      <p:sp>
        <p:nvSpPr>
          <p:cNvPr id="104" name="Text Box 18"/>
          <p:cNvSpPr txBox="1">
            <a:spLocks noChangeArrowheads="1"/>
          </p:cNvSpPr>
          <p:nvPr/>
        </p:nvSpPr>
        <p:spPr bwMode="auto">
          <a:xfrm>
            <a:off x="2957760" y="4133050"/>
            <a:ext cx="1159292" cy="52322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spAutoFit/>
          </a:bodyPr>
          <a:lstStyle>
            <a:lvl1pPr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Wearing-off/</a:t>
            </a:r>
            <a:b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br>
            <a: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delayed ON</a:t>
            </a:r>
            <a:endParaRPr kumimoji="0" lang="en-US"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5" name="Line 13"/>
          <p:cNvSpPr>
            <a:spLocks noChangeShapeType="1"/>
          </p:cNvSpPr>
          <p:nvPr/>
        </p:nvSpPr>
        <p:spPr bwMode="auto">
          <a:xfrm flipV="1">
            <a:off x="1961812" y="4979900"/>
            <a:ext cx="0" cy="288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nchor="ctr"/>
          <a:lstStyle/>
          <a:p>
            <a:pPr fontAlgn="base">
              <a:spcBef>
                <a:spcPct val="0"/>
              </a:spcBef>
              <a:spcAft>
                <a:spcPct val="0"/>
              </a:spcAft>
              <a:defRPr/>
            </a:pPr>
            <a:endParaRPr lang="en-GB" sz="1400" kern="0">
              <a:solidFill>
                <a:srgbClr val="000000"/>
              </a:solidFill>
              <a:latin typeface="Arial"/>
              <a:cs typeface="Arial" panose="020B0604020202020204" pitchFamily="34" charset="0"/>
            </a:endParaRPr>
          </a:p>
        </p:txBody>
      </p:sp>
      <p:sp>
        <p:nvSpPr>
          <p:cNvPr id="106" name="Text Box 25"/>
          <p:cNvSpPr txBox="1">
            <a:spLocks noChangeArrowheads="1"/>
          </p:cNvSpPr>
          <p:nvPr/>
        </p:nvSpPr>
        <p:spPr bwMode="auto">
          <a:xfrm>
            <a:off x="1293187" y="5316438"/>
            <a:ext cx="1348447" cy="566309"/>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spAutoFit/>
          </a:bodyPr>
          <a:lstStyle>
            <a:lvl1pPr marL="385763" indent="-385763"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385763" marR="0" lvl="0" indent="-385763" algn="ctr" defTabSz="914400" eaLnBrk="1" fontAlgn="base" latinLnBrk="0" hangingPunct="1">
              <a:lnSpc>
                <a:spcPct val="100000"/>
              </a:lnSpc>
              <a:spcBef>
                <a:spcPct val="20000"/>
              </a:spcBef>
              <a:spcAft>
                <a:spcPct val="0"/>
              </a:spcAft>
              <a:buClrTx/>
              <a:buSzTx/>
              <a:buFontTx/>
              <a:buNone/>
              <a:tabLst/>
              <a:defRPr/>
            </a:pPr>
            <a:r>
              <a:rPr kumimoji="0" lang="en-GB" altLang="en-US" i="0" u="none" strike="noStrike" kern="0" cap="none" spc="0" normalizeH="0" baseline="0" noProof="0">
                <a:ln>
                  <a:noFill/>
                </a:ln>
                <a:solidFill>
                  <a:srgbClr val="000000"/>
                </a:solidFill>
                <a:effectLst/>
                <a:uLnTx/>
                <a:uFillTx/>
              </a:rPr>
              <a:t>8 a.m.</a:t>
            </a:r>
          </a:p>
          <a:p>
            <a:pPr marL="385763" marR="0" lvl="0" indent="-385763" algn="ctr" defTabSz="914400" eaLnBrk="1" fontAlgn="base" latinLnBrk="0" hangingPunct="1">
              <a:lnSpc>
                <a:spcPct val="100000"/>
              </a:lnSpc>
              <a:spcBef>
                <a:spcPct val="20000"/>
              </a:spcBef>
              <a:spcAft>
                <a:spcPct val="0"/>
              </a:spcAft>
              <a:buClrTx/>
              <a:buSzTx/>
              <a:buFontTx/>
              <a:buNone/>
              <a:tabLst/>
              <a:defRPr/>
            </a:pPr>
            <a:r>
              <a:rPr lang="en-GB" altLang="en-US" kern="0">
                <a:solidFill>
                  <a:srgbClr val="000000"/>
                </a:solidFill>
              </a:rPr>
              <a:t>levodopa dose</a:t>
            </a:r>
            <a:endParaRPr kumimoji="0" lang="en-US" altLang="en-US" i="0" u="none" strike="noStrike" kern="0" cap="none" spc="0" normalizeH="0" baseline="0" noProof="0">
              <a:ln>
                <a:noFill/>
              </a:ln>
              <a:solidFill>
                <a:srgbClr val="000000"/>
              </a:solidFill>
              <a:effectLst/>
              <a:uLnTx/>
              <a:uFillTx/>
            </a:endParaRPr>
          </a:p>
        </p:txBody>
      </p:sp>
      <p:sp>
        <p:nvSpPr>
          <p:cNvPr id="107" name="Text Box 29"/>
          <p:cNvSpPr txBox="1">
            <a:spLocks noChangeArrowheads="1"/>
          </p:cNvSpPr>
          <p:nvPr/>
        </p:nvSpPr>
        <p:spPr bwMode="auto">
          <a:xfrm rot="16200000">
            <a:off x="231198" y="3207775"/>
            <a:ext cx="2961165" cy="36671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lstStyle>
            <a:lvl1pPr marL="385763" indent="-385763"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385763" marR="0" lvl="0" indent="-385763" algn="ctr" defTabSz="914400" eaLnBrk="1" fontAlgn="base" latinLnBrk="0" hangingPunct="1">
              <a:lnSpc>
                <a:spcPct val="100000"/>
              </a:lnSpc>
              <a:spcBef>
                <a:spcPct val="20000"/>
              </a:spcBef>
              <a:spcAft>
                <a:spcPct val="0"/>
              </a:spcAft>
              <a:buClrTx/>
              <a:buSzTx/>
              <a:buFontTx/>
              <a:buNone/>
              <a:tabLst/>
              <a:defRPr/>
            </a:pPr>
            <a:r>
              <a:rPr kumimoji="0" lang="en-GB" altLang="en-US" sz="1400" b="1" i="0" u="none" strike="noStrike" kern="0" cap="none" spc="0" normalizeH="0" baseline="0" noProof="0">
                <a:ln>
                  <a:noFill/>
                </a:ln>
                <a:solidFill>
                  <a:schemeClr val="tx2"/>
                </a:solidFill>
                <a:effectLst/>
                <a:uLnTx/>
                <a:uFillTx/>
                <a:latin typeface="Arial" panose="020B0604020202020204" pitchFamily="34" charset="0"/>
                <a:cs typeface="Arial" panose="020B0604020202020204" pitchFamily="34" charset="0"/>
              </a:rPr>
              <a:t>Clinical response</a:t>
            </a:r>
            <a:endParaRPr kumimoji="0" lang="en-US" altLang="en-US" sz="1400" b="1" i="0" u="none" strike="noStrike" kern="0" cap="none" spc="0" normalizeH="0" baseline="0" noProof="0">
              <a:ln>
                <a:noFill/>
              </a:ln>
              <a:solidFill>
                <a:schemeClr val="tx2"/>
              </a:solidFill>
              <a:effectLst/>
              <a:uLnTx/>
              <a:uFillTx/>
              <a:latin typeface="Arial" panose="020B0604020202020204" pitchFamily="34" charset="0"/>
              <a:cs typeface="Arial" panose="020B0604020202020204" pitchFamily="34" charset="0"/>
            </a:endParaRPr>
          </a:p>
        </p:txBody>
      </p:sp>
      <p:sp>
        <p:nvSpPr>
          <p:cNvPr id="117" name="Freeform 63"/>
          <p:cNvSpPr>
            <a:spLocks/>
          </p:cNvSpPr>
          <p:nvPr/>
        </p:nvSpPr>
        <p:spPr bwMode="auto">
          <a:xfrm>
            <a:off x="1964987" y="2296312"/>
            <a:ext cx="1125538" cy="1768475"/>
          </a:xfrm>
          <a:custGeom>
            <a:avLst/>
            <a:gdLst>
              <a:gd name="T0" fmla="*/ 0 w 680"/>
              <a:gd name="T1" fmla="*/ 2147483647 h 975"/>
              <a:gd name="T2" fmla="*/ 2147483647 w 680"/>
              <a:gd name="T3" fmla="*/ 2147483647 h 975"/>
              <a:gd name="T4" fmla="*/ 2147483647 w 680"/>
              <a:gd name="T5" fmla="*/ 2147483647 h 975"/>
              <a:gd name="T6" fmla="*/ 0 60000 65536"/>
              <a:gd name="T7" fmla="*/ 0 60000 65536"/>
              <a:gd name="T8" fmla="*/ 0 60000 65536"/>
              <a:gd name="connsiteX0" fmla="*/ 0 w 10431"/>
              <a:gd name="connsiteY0" fmla="*/ 11430 h 11430"/>
              <a:gd name="connsiteX1" fmla="*/ 3755 w 10431"/>
              <a:gd name="connsiteY1" fmla="*/ 1459 h 11430"/>
              <a:gd name="connsiteX2" fmla="*/ 10431 w 10431"/>
              <a:gd name="connsiteY2" fmla="*/ 64 h 11430"/>
            </a:gdLst>
            <a:ahLst/>
            <a:cxnLst>
              <a:cxn ang="0">
                <a:pos x="connsiteX0" y="connsiteY0"/>
              </a:cxn>
              <a:cxn ang="0">
                <a:pos x="connsiteX1" y="connsiteY1"/>
              </a:cxn>
              <a:cxn ang="0">
                <a:pos x="connsiteX2" y="connsiteY2"/>
              </a:cxn>
            </a:cxnLst>
            <a:rect l="l" t="t" r="r" b="b"/>
            <a:pathLst>
              <a:path w="10431" h="11430">
                <a:moveTo>
                  <a:pt x="0" y="11430"/>
                </a:moveTo>
                <a:cubicBezTo>
                  <a:pt x="824" y="8056"/>
                  <a:pt x="2093" y="3090"/>
                  <a:pt x="3755" y="1459"/>
                </a:cubicBezTo>
                <a:cubicBezTo>
                  <a:pt x="5416" y="-172"/>
                  <a:pt x="7916" y="-59"/>
                  <a:pt x="10431" y="64"/>
                </a:cubicBezTo>
              </a:path>
            </a:pathLst>
          </a:custGeom>
          <a:noFill/>
          <a:ln w="57150" cap="flat" cmpd="sng">
            <a:solidFill>
              <a:schemeClr val="tx1"/>
            </a:solidFill>
            <a:prstDash val="solid"/>
            <a:round/>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rgbClr val="8C6900"/>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Arial"/>
              <a:cs typeface="Arial" panose="020B0604020202020204" pitchFamily="34" charset="0"/>
            </a:endParaRPr>
          </a:p>
        </p:txBody>
      </p:sp>
      <p:sp>
        <p:nvSpPr>
          <p:cNvPr id="118" name="Freeform 94"/>
          <p:cNvSpPr>
            <a:spLocks/>
          </p:cNvSpPr>
          <p:nvPr/>
        </p:nvSpPr>
        <p:spPr bwMode="auto">
          <a:xfrm>
            <a:off x="3703300" y="2269325"/>
            <a:ext cx="1071562" cy="1471612"/>
          </a:xfrm>
          <a:custGeom>
            <a:avLst/>
            <a:gdLst>
              <a:gd name="T0" fmla="*/ 0 w 680"/>
              <a:gd name="T1" fmla="*/ 2147483647 h 975"/>
              <a:gd name="T2" fmla="*/ 2147483647 w 680"/>
              <a:gd name="T3" fmla="*/ 2147483647 h 975"/>
              <a:gd name="T4" fmla="*/ 2147483647 w 680"/>
              <a:gd name="T5" fmla="*/ 2147483647 h 975"/>
              <a:gd name="T6" fmla="*/ 0 60000 65536"/>
              <a:gd name="T7" fmla="*/ 0 60000 65536"/>
              <a:gd name="T8" fmla="*/ 0 60000 65536"/>
            </a:gdLst>
            <a:ahLst/>
            <a:cxnLst>
              <a:cxn ang="T6">
                <a:pos x="T0" y="T1"/>
              </a:cxn>
              <a:cxn ang="T7">
                <a:pos x="T2" y="T3"/>
              </a:cxn>
              <a:cxn ang="T8">
                <a:pos x="T4" y="T5"/>
              </a:cxn>
            </a:cxnLst>
            <a:rect l="0" t="0" r="r" b="b"/>
            <a:pathLst>
              <a:path w="680" h="975">
                <a:moveTo>
                  <a:pt x="0" y="975"/>
                </a:moveTo>
                <a:cubicBezTo>
                  <a:pt x="56" y="646"/>
                  <a:pt x="113" y="318"/>
                  <a:pt x="226" y="159"/>
                </a:cubicBezTo>
                <a:cubicBezTo>
                  <a:pt x="339" y="0"/>
                  <a:pt x="509" y="11"/>
                  <a:pt x="680" y="23"/>
                </a:cubicBezTo>
              </a:path>
            </a:pathLst>
          </a:custGeom>
          <a:noFill/>
          <a:ln w="57150" cap="flat" cmpd="sng">
            <a:solidFill>
              <a:schemeClr val="tx1"/>
            </a:solidFill>
            <a:prstDash val="solid"/>
            <a:round/>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rgbClr val="8C6900"/>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Arial"/>
              <a:cs typeface="Arial" panose="020B0604020202020204" pitchFamily="34" charset="0"/>
            </a:endParaRPr>
          </a:p>
        </p:txBody>
      </p:sp>
      <p:sp>
        <p:nvSpPr>
          <p:cNvPr id="119" name="Freeform 96"/>
          <p:cNvSpPr>
            <a:spLocks/>
          </p:cNvSpPr>
          <p:nvPr/>
        </p:nvSpPr>
        <p:spPr bwMode="auto">
          <a:xfrm>
            <a:off x="3076237" y="2288375"/>
            <a:ext cx="653285" cy="1471612"/>
          </a:xfrm>
          <a:custGeom>
            <a:avLst/>
            <a:gdLst>
              <a:gd name="T0" fmla="*/ 0 w 407"/>
              <a:gd name="T1" fmla="*/ 0 h 927"/>
              <a:gd name="T2" fmla="*/ 2147483647 w 407"/>
              <a:gd name="T3" fmla="*/ 2147483647 h 927"/>
              <a:gd name="T4" fmla="*/ 2147483647 w 407"/>
              <a:gd name="T5" fmla="*/ 2147483647 h 927"/>
              <a:gd name="T6" fmla="*/ 2147483647 w 407"/>
              <a:gd name="T7" fmla="*/ 2147483647 h 927"/>
              <a:gd name="T8" fmla="*/ 2147483647 w 407"/>
              <a:gd name="T9" fmla="*/ 2147483647 h 927"/>
              <a:gd name="T10" fmla="*/ 2147483647 w 407"/>
              <a:gd name="T11" fmla="*/ 2147483647 h 927"/>
              <a:gd name="T12" fmla="*/ 0 60000 65536"/>
              <a:gd name="T13" fmla="*/ 0 60000 65536"/>
              <a:gd name="T14" fmla="*/ 0 60000 65536"/>
              <a:gd name="T15" fmla="*/ 0 60000 65536"/>
              <a:gd name="T16" fmla="*/ 0 60000 65536"/>
              <a:gd name="T17" fmla="*/ 0 60000 65536"/>
              <a:gd name="connsiteX0" fmla="*/ 0 w 10111"/>
              <a:gd name="connsiteY0" fmla="*/ 0 h 10000"/>
              <a:gd name="connsiteX1" fmla="*/ 1106 w 10111"/>
              <a:gd name="connsiteY1" fmla="*/ 3916 h 10000"/>
              <a:gd name="connsiteX2" fmla="*/ 2211 w 10111"/>
              <a:gd name="connsiteY2" fmla="*/ 6365 h 10000"/>
              <a:gd name="connsiteX3" fmla="*/ 4447 w 10111"/>
              <a:gd name="connsiteY3" fmla="*/ 8317 h 10000"/>
              <a:gd name="connsiteX4" fmla="*/ 6806 w 10111"/>
              <a:gd name="connsiteY4" fmla="*/ 9622 h 10000"/>
              <a:gd name="connsiteX5" fmla="*/ 10111 w 10111"/>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11" h="10000">
                <a:moveTo>
                  <a:pt x="0" y="0"/>
                </a:moveTo>
                <a:cubicBezTo>
                  <a:pt x="369" y="1424"/>
                  <a:pt x="737" y="2859"/>
                  <a:pt x="1106" y="3916"/>
                </a:cubicBezTo>
                <a:cubicBezTo>
                  <a:pt x="1474" y="4973"/>
                  <a:pt x="1646" y="5631"/>
                  <a:pt x="2211" y="6365"/>
                </a:cubicBezTo>
                <a:cubicBezTo>
                  <a:pt x="2776" y="7098"/>
                  <a:pt x="3686" y="7778"/>
                  <a:pt x="4447" y="8317"/>
                </a:cubicBezTo>
                <a:cubicBezTo>
                  <a:pt x="5209" y="8857"/>
                  <a:pt x="5872" y="9342"/>
                  <a:pt x="6806" y="9622"/>
                </a:cubicBezTo>
                <a:cubicBezTo>
                  <a:pt x="7740" y="9903"/>
                  <a:pt x="9570" y="9968"/>
                  <a:pt x="10111" y="10000"/>
                </a:cubicBezTo>
              </a:path>
            </a:pathLst>
          </a:custGeom>
          <a:noFill/>
          <a:ln w="57150" cap="flat" cmpd="sng">
            <a:solidFill>
              <a:schemeClr val="tx1"/>
            </a:solidFill>
            <a:prstDash val="solid"/>
            <a:round/>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rgbClr val="8C6900"/>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Arial"/>
              <a:cs typeface="Arial" panose="020B0604020202020204" pitchFamily="34" charset="0"/>
            </a:endParaRPr>
          </a:p>
        </p:txBody>
      </p:sp>
      <p:sp>
        <p:nvSpPr>
          <p:cNvPr id="120" name="Freeform 97"/>
          <p:cNvSpPr>
            <a:spLocks/>
          </p:cNvSpPr>
          <p:nvPr/>
        </p:nvSpPr>
        <p:spPr bwMode="auto">
          <a:xfrm>
            <a:off x="4763750" y="2288375"/>
            <a:ext cx="648503" cy="1471612"/>
          </a:xfrm>
          <a:custGeom>
            <a:avLst/>
            <a:gdLst>
              <a:gd name="T0" fmla="*/ 0 w 407"/>
              <a:gd name="T1" fmla="*/ 0 h 927"/>
              <a:gd name="T2" fmla="*/ 2147483647 w 407"/>
              <a:gd name="T3" fmla="*/ 2147483647 h 927"/>
              <a:gd name="T4" fmla="*/ 2147483647 w 407"/>
              <a:gd name="T5" fmla="*/ 2147483647 h 927"/>
              <a:gd name="T6" fmla="*/ 2147483647 w 407"/>
              <a:gd name="T7" fmla="*/ 2147483647 h 927"/>
              <a:gd name="T8" fmla="*/ 2147483647 w 407"/>
              <a:gd name="T9" fmla="*/ 2147483647 h 927"/>
              <a:gd name="T10" fmla="*/ 2147483647 w 407"/>
              <a:gd name="T11" fmla="*/ 2147483647 h 927"/>
              <a:gd name="T12" fmla="*/ 0 60000 65536"/>
              <a:gd name="T13" fmla="*/ 0 60000 65536"/>
              <a:gd name="T14" fmla="*/ 0 60000 65536"/>
              <a:gd name="T15" fmla="*/ 0 60000 65536"/>
              <a:gd name="T16" fmla="*/ 0 60000 65536"/>
              <a:gd name="T17" fmla="*/ 0 60000 65536"/>
              <a:gd name="connsiteX0" fmla="*/ 0 w 10037"/>
              <a:gd name="connsiteY0" fmla="*/ 0 h 10000"/>
              <a:gd name="connsiteX1" fmla="*/ 1106 w 10037"/>
              <a:gd name="connsiteY1" fmla="*/ 3916 h 10000"/>
              <a:gd name="connsiteX2" fmla="*/ 2211 w 10037"/>
              <a:gd name="connsiteY2" fmla="*/ 6365 h 10000"/>
              <a:gd name="connsiteX3" fmla="*/ 4447 w 10037"/>
              <a:gd name="connsiteY3" fmla="*/ 8317 h 10000"/>
              <a:gd name="connsiteX4" fmla="*/ 6806 w 10037"/>
              <a:gd name="connsiteY4" fmla="*/ 9622 h 10000"/>
              <a:gd name="connsiteX5" fmla="*/ 10037 w 10037"/>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7" h="10000">
                <a:moveTo>
                  <a:pt x="0" y="0"/>
                </a:moveTo>
                <a:cubicBezTo>
                  <a:pt x="369" y="1424"/>
                  <a:pt x="737" y="2859"/>
                  <a:pt x="1106" y="3916"/>
                </a:cubicBezTo>
                <a:cubicBezTo>
                  <a:pt x="1474" y="4973"/>
                  <a:pt x="1646" y="5631"/>
                  <a:pt x="2211" y="6365"/>
                </a:cubicBezTo>
                <a:cubicBezTo>
                  <a:pt x="2776" y="7098"/>
                  <a:pt x="3686" y="7778"/>
                  <a:pt x="4447" y="8317"/>
                </a:cubicBezTo>
                <a:cubicBezTo>
                  <a:pt x="5209" y="8857"/>
                  <a:pt x="5872" y="9342"/>
                  <a:pt x="6806" y="9622"/>
                </a:cubicBezTo>
                <a:cubicBezTo>
                  <a:pt x="7740" y="9903"/>
                  <a:pt x="9496" y="9968"/>
                  <a:pt x="10037" y="10000"/>
                </a:cubicBezTo>
              </a:path>
            </a:pathLst>
          </a:custGeom>
          <a:noFill/>
          <a:ln w="57150" cap="flat" cmpd="sng">
            <a:solidFill>
              <a:schemeClr val="tx1"/>
            </a:solidFill>
            <a:prstDash val="solid"/>
            <a:round/>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rgbClr val="8C6900"/>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Arial"/>
              <a:cs typeface="Arial" panose="020B0604020202020204" pitchFamily="34" charset="0"/>
            </a:endParaRPr>
          </a:p>
        </p:txBody>
      </p:sp>
      <p:sp>
        <p:nvSpPr>
          <p:cNvPr id="121" name="Freeform 101"/>
          <p:cNvSpPr>
            <a:spLocks/>
          </p:cNvSpPr>
          <p:nvPr/>
        </p:nvSpPr>
        <p:spPr bwMode="auto">
          <a:xfrm>
            <a:off x="6440150" y="2291550"/>
            <a:ext cx="1755775" cy="1779587"/>
          </a:xfrm>
          <a:custGeom>
            <a:avLst/>
            <a:gdLst>
              <a:gd name="T0" fmla="*/ 0 w 1195"/>
              <a:gd name="T1" fmla="*/ 0 h 1052"/>
              <a:gd name="T2" fmla="*/ 2147483647 w 1195"/>
              <a:gd name="T3" fmla="*/ 2147483647 h 1052"/>
              <a:gd name="T4" fmla="*/ 2147483647 w 1195"/>
              <a:gd name="T5" fmla="*/ 2147483647 h 1052"/>
              <a:gd name="T6" fmla="*/ 2147483647 w 1195"/>
              <a:gd name="T7" fmla="*/ 2147483647 h 1052"/>
              <a:gd name="T8" fmla="*/ 2147483647 w 1195"/>
              <a:gd name="T9" fmla="*/ 2147483647 h 1052"/>
              <a:gd name="T10" fmla="*/ 2147483647 w 1195"/>
              <a:gd name="T11" fmla="*/ 2147483647 h 1052"/>
              <a:gd name="T12" fmla="*/ 2147483647 w 1195"/>
              <a:gd name="T13" fmla="*/ 2147483647 h 1052"/>
              <a:gd name="T14" fmla="*/ 2147483647 w 1195"/>
              <a:gd name="T15" fmla="*/ 2147483647 h 1052"/>
              <a:gd name="T16" fmla="*/ 2147483647 w 1195"/>
              <a:gd name="T17" fmla="*/ 2147483647 h 10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connsiteX0" fmla="*/ 0 w 10462"/>
              <a:gd name="connsiteY0" fmla="*/ 0 h 10480"/>
              <a:gd name="connsiteX1" fmla="*/ 385 w 10462"/>
              <a:gd name="connsiteY1" fmla="*/ 2586 h 10480"/>
              <a:gd name="connsiteX2" fmla="*/ 1138 w 10462"/>
              <a:gd name="connsiteY2" fmla="*/ 4743 h 10480"/>
              <a:gd name="connsiteX3" fmla="*/ 2343 w 10462"/>
              <a:gd name="connsiteY3" fmla="*/ 6530 h 10480"/>
              <a:gd name="connsiteX4" fmla="*/ 4033 w 10462"/>
              <a:gd name="connsiteY4" fmla="*/ 8108 h 10480"/>
              <a:gd name="connsiteX5" fmla="*/ 6025 w 10462"/>
              <a:gd name="connsiteY5" fmla="*/ 9240 h 10480"/>
              <a:gd name="connsiteX6" fmla="*/ 7766 w 10462"/>
              <a:gd name="connsiteY6" fmla="*/ 9810 h 10480"/>
              <a:gd name="connsiteX7" fmla="*/ 8753 w 10462"/>
              <a:gd name="connsiteY7" fmla="*/ 9971 h 10480"/>
              <a:gd name="connsiteX8" fmla="*/ 10462 w 10462"/>
              <a:gd name="connsiteY8" fmla="*/ 10480 h 10480"/>
              <a:gd name="connsiteX0" fmla="*/ 0 w 10462"/>
              <a:gd name="connsiteY0" fmla="*/ 0 h 10480"/>
              <a:gd name="connsiteX1" fmla="*/ 385 w 10462"/>
              <a:gd name="connsiteY1" fmla="*/ 2586 h 10480"/>
              <a:gd name="connsiteX2" fmla="*/ 1138 w 10462"/>
              <a:gd name="connsiteY2" fmla="*/ 4743 h 10480"/>
              <a:gd name="connsiteX3" fmla="*/ 2343 w 10462"/>
              <a:gd name="connsiteY3" fmla="*/ 6530 h 10480"/>
              <a:gd name="connsiteX4" fmla="*/ 4033 w 10462"/>
              <a:gd name="connsiteY4" fmla="*/ 8108 h 10480"/>
              <a:gd name="connsiteX5" fmla="*/ 6025 w 10462"/>
              <a:gd name="connsiteY5" fmla="*/ 9240 h 10480"/>
              <a:gd name="connsiteX6" fmla="*/ 7766 w 10462"/>
              <a:gd name="connsiteY6" fmla="*/ 9810 h 10480"/>
              <a:gd name="connsiteX7" fmla="*/ 8753 w 10462"/>
              <a:gd name="connsiteY7" fmla="*/ 10295 h 10480"/>
              <a:gd name="connsiteX8" fmla="*/ 10462 w 10462"/>
              <a:gd name="connsiteY8" fmla="*/ 10480 h 10480"/>
              <a:gd name="connsiteX0" fmla="*/ 0 w 10462"/>
              <a:gd name="connsiteY0" fmla="*/ 0 h 10480"/>
              <a:gd name="connsiteX1" fmla="*/ 385 w 10462"/>
              <a:gd name="connsiteY1" fmla="*/ 2586 h 10480"/>
              <a:gd name="connsiteX2" fmla="*/ 1138 w 10462"/>
              <a:gd name="connsiteY2" fmla="*/ 4743 h 10480"/>
              <a:gd name="connsiteX3" fmla="*/ 2343 w 10462"/>
              <a:gd name="connsiteY3" fmla="*/ 6530 h 10480"/>
              <a:gd name="connsiteX4" fmla="*/ 4033 w 10462"/>
              <a:gd name="connsiteY4" fmla="*/ 8108 h 10480"/>
              <a:gd name="connsiteX5" fmla="*/ 6025 w 10462"/>
              <a:gd name="connsiteY5" fmla="*/ 9240 h 10480"/>
              <a:gd name="connsiteX6" fmla="*/ 7720 w 10462"/>
              <a:gd name="connsiteY6" fmla="*/ 10041 h 10480"/>
              <a:gd name="connsiteX7" fmla="*/ 8753 w 10462"/>
              <a:gd name="connsiteY7" fmla="*/ 10295 h 10480"/>
              <a:gd name="connsiteX8" fmla="*/ 10462 w 10462"/>
              <a:gd name="connsiteY8" fmla="*/ 10480 h 10480"/>
              <a:gd name="connsiteX0" fmla="*/ 0 w 10462"/>
              <a:gd name="connsiteY0" fmla="*/ 0 h 10480"/>
              <a:gd name="connsiteX1" fmla="*/ 385 w 10462"/>
              <a:gd name="connsiteY1" fmla="*/ 2586 h 10480"/>
              <a:gd name="connsiteX2" fmla="*/ 1138 w 10462"/>
              <a:gd name="connsiteY2" fmla="*/ 4743 h 10480"/>
              <a:gd name="connsiteX3" fmla="*/ 2343 w 10462"/>
              <a:gd name="connsiteY3" fmla="*/ 6530 h 10480"/>
              <a:gd name="connsiteX4" fmla="*/ 4033 w 10462"/>
              <a:gd name="connsiteY4" fmla="*/ 8108 h 10480"/>
              <a:gd name="connsiteX5" fmla="*/ 6025 w 10462"/>
              <a:gd name="connsiteY5" fmla="*/ 9425 h 10480"/>
              <a:gd name="connsiteX6" fmla="*/ 7720 w 10462"/>
              <a:gd name="connsiteY6" fmla="*/ 10041 h 10480"/>
              <a:gd name="connsiteX7" fmla="*/ 8753 w 10462"/>
              <a:gd name="connsiteY7" fmla="*/ 10295 h 10480"/>
              <a:gd name="connsiteX8" fmla="*/ 10462 w 10462"/>
              <a:gd name="connsiteY8" fmla="*/ 10480 h 10480"/>
              <a:gd name="connsiteX0" fmla="*/ 0 w 10462"/>
              <a:gd name="connsiteY0" fmla="*/ 0 h 10480"/>
              <a:gd name="connsiteX1" fmla="*/ 385 w 10462"/>
              <a:gd name="connsiteY1" fmla="*/ 2586 h 10480"/>
              <a:gd name="connsiteX2" fmla="*/ 1138 w 10462"/>
              <a:gd name="connsiteY2" fmla="*/ 4743 h 10480"/>
              <a:gd name="connsiteX3" fmla="*/ 2343 w 10462"/>
              <a:gd name="connsiteY3" fmla="*/ 6530 h 10480"/>
              <a:gd name="connsiteX4" fmla="*/ 4033 w 10462"/>
              <a:gd name="connsiteY4" fmla="*/ 8108 h 10480"/>
              <a:gd name="connsiteX5" fmla="*/ 6025 w 10462"/>
              <a:gd name="connsiteY5" fmla="*/ 9425 h 10480"/>
              <a:gd name="connsiteX6" fmla="*/ 7720 w 10462"/>
              <a:gd name="connsiteY6" fmla="*/ 10180 h 10480"/>
              <a:gd name="connsiteX7" fmla="*/ 8753 w 10462"/>
              <a:gd name="connsiteY7" fmla="*/ 10295 h 10480"/>
              <a:gd name="connsiteX8" fmla="*/ 10462 w 10462"/>
              <a:gd name="connsiteY8" fmla="*/ 10480 h 10480"/>
              <a:gd name="connsiteX0" fmla="*/ 0 w 10462"/>
              <a:gd name="connsiteY0" fmla="*/ 0 h 10495"/>
              <a:gd name="connsiteX1" fmla="*/ 385 w 10462"/>
              <a:gd name="connsiteY1" fmla="*/ 2586 h 10495"/>
              <a:gd name="connsiteX2" fmla="*/ 1138 w 10462"/>
              <a:gd name="connsiteY2" fmla="*/ 4743 h 10495"/>
              <a:gd name="connsiteX3" fmla="*/ 2343 w 10462"/>
              <a:gd name="connsiteY3" fmla="*/ 6530 h 10495"/>
              <a:gd name="connsiteX4" fmla="*/ 4033 w 10462"/>
              <a:gd name="connsiteY4" fmla="*/ 8108 h 10495"/>
              <a:gd name="connsiteX5" fmla="*/ 6025 w 10462"/>
              <a:gd name="connsiteY5" fmla="*/ 9425 h 10495"/>
              <a:gd name="connsiteX6" fmla="*/ 7720 w 10462"/>
              <a:gd name="connsiteY6" fmla="*/ 10180 h 10495"/>
              <a:gd name="connsiteX7" fmla="*/ 8892 w 10462"/>
              <a:gd name="connsiteY7" fmla="*/ 10480 h 10495"/>
              <a:gd name="connsiteX8" fmla="*/ 10462 w 10462"/>
              <a:gd name="connsiteY8" fmla="*/ 10480 h 10495"/>
              <a:gd name="connsiteX0" fmla="*/ 0 w 10462"/>
              <a:gd name="connsiteY0" fmla="*/ 0 h 10619"/>
              <a:gd name="connsiteX1" fmla="*/ 385 w 10462"/>
              <a:gd name="connsiteY1" fmla="*/ 2586 h 10619"/>
              <a:gd name="connsiteX2" fmla="*/ 1138 w 10462"/>
              <a:gd name="connsiteY2" fmla="*/ 4743 h 10619"/>
              <a:gd name="connsiteX3" fmla="*/ 2343 w 10462"/>
              <a:gd name="connsiteY3" fmla="*/ 6530 h 10619"/>
              <a:gd name="connsiteX4" fmla="*/ 4033 w 10462"/>
              <a:gd name="connsiteY4" fmla="*/ 8108 h 10619"/>
              <a:gd name="connsiteX5" fmla="*/ 6025 w 10462"/>
              <a:gd name="connsiteY5" fmla="*/ 9425 h 10619"/>
              <a:gd name="connsiteX6" fmla="*/ 7720 w 10462"/>
              <a:gd name="connsiteY6" fmla="*/ 10180 h 10619"/>
              <a:gd name="connsiteX7" fmla="*/ 8892 w 10462"/>
              <a:gd name="connsiteY7" fmla="*/ 10480 h 10619"/>
              <a:gd name="connsiteX8" fmla="*/ 10462 w 10462"/>
              <a:gd name="connsiteY8" fmla="*/ 10619 h 10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62" h="10619">
                <a:moveTo>
                  <a:pt x="0" y="0"/>
                </a:moveTo>
                <a:cubicBezTo>
                  <a:pt x="92" y="894"/>
                  <a:pt x="192" y="1797"/>
                  <a:pt x="385" y="2586"/>
                </a:cubicBezTo>
                <a:cubicBezTo>
                  <a:pt x="577" y="3375"/>
                  <a:pt x="812" y="4087"/>
                  <a:pt x="1138" y="4743"/>
                </a:cubicBezTo>
                <a:cubicBezTo>
                  <a:pt x="1464" y="5399"/>
                  <a:pt x="1858" y="5970"/>
                  <a:pt x="2343" y="6530"/>
                </a:cubicBezTo>
                <a:cubicBezTo>
                  <a:pt x="2828" y="7091"/>
                  <a:pt x="3419" y="7626"/>
                  <a:pt x="4033" y="8108"/>
                </a:cubicBezTo>
                <a:cubicBezTo>
                  <a:pt x="4647" y="8590"/>
                  <a:pt x="5411" y="9080"/>
                  <a:pt x="6025" y="9425"/>
                </a:cubicBezTo>
                <a:cubicBezTo>
                  <a:pt x="6640" y="9770"/>
                  <a:pt x="7242" y="10004"/>
                  <a:pt x="7720" y="10180"/>
                </a:cubicBezTo>
                <a:cubicBezTo>
                  <a:pt x="8198" y="10356"/>
                  <a:pt x="8524" y="10452"/>
                  <a:pt x="8892" y="10480"/>
                </a:cubicBezTo>
                <a:cubicBezTo>
                  <a:pt x="9260" y="10509"/>
                  <a:pt x="10018" y="10629"/>
                  <a:pt x="10462" y="10619"/>
                </a:cubicBezTo>
              </a:path>
            </a:pathLst>
          </a:custGeom>
          <a:noFill/>
          <a:ln w="57150" cap="flat" cmpd="sng">
            <a:solidFill>
              <a:schemeClr val="tx1"/>
            </a:solidFill>
            <a:prstDash val="solid"/>
            <a:round/>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rgbClr val="8C6900"/>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Arial"/>
              <a:cs typeface="Arial" panose="020B0604020202020204" pitchFamily="34" charset="0"/>
            </a:endParaRPr>
          </a:p>
        </p:txBody>
      </p:sp>
      <p:sp>
        <p:nvSpPr>
          <p:cNvPr id="122" name="Freeform 102"/>
          <p:cNvSpPr>
            <a:spLocks/>
          </p:cNvSpPr>
          <p:nvPr/>
        </p:nvSpPr>
        <p:spPr bwMode="auto">
          <a:xfrm>
            <a:off x="5389225" y="2269325"/>
            <a:ext cx="1071562" cy="1471612"/>
          </a:xfrm>
          <a:custGeom>
            <a:avLst/>
            <a:gdLst>
              <a:gd name="T0" fmla="*/ 0 w 680"/>
              <a:gd name="T1" fmla="*/ 2147483647 h 975"/>
              <a:gd name="T2" fmla="*/ 2147483647 w 680"/>
              <a:gd name="T3" fmla="*/ 2147483647 h 975"/>
              <a:gd name="T4" fmla="*/ 2147483647 w 680"/>
              <a:gd name="T5" fmla="*/ 2147483647 h 975"/>
              <a:gd name="T6" fmla="*/ 0 60000 65536"/>
              <a:gd name="T7" fmla="*/ 0 60000 65536"/>
              <a:gd name="T8" fmla="*/ 0 60000 65536"/>
            </a:gdLst>
            <a:ahLst/>
            <a:cxnLst>
              <a:cxn ang="T6">
                <a:pos x="T0" y="T1"/>
              </a:cxn>
              <a:cxn ang="T7">
                <a:pos x="T2" y="T3"/>
              </a:cxn>
              <a:cxn ang="T8">
                <a:pos x="T4" y="T5"/>
              </a:cxn>
            </a:cxnLst>
            <a:rect l="0" t="0" r="r" b="b"/>
            <a:pathLst>
              <a:path w="680" h="975">
                <a:moveTo>
                  <a:pt x="0" y="975"/>
                </a:moveTo>
                <a:cubicBezTo>
                  <a:pt x="56" y="646"/>
                  <a:pt x="113" y="318"/>
                  <a:pt x="226" y="159"/>
                </a:cubicBezTo>
                <a:cubicBezTo>
                  <a:pt x="339" y="0"/>
                  <a:pt x="509" y="11"/>
                  <a:pt x="680" y="23"/>
                </a:cubicBezTo>
              </a:path>
            </a:pathLst>
          </a:custGeom>
          <a:noFill/>
          <a:ln w="57150" cap="flat" cmpd="sng">
            <a:solidFill>
              <a:schemeClr val="tx1"/>
            </a:solidFill>
            <a:prstDash val="solid"/>
            <a:round/>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rgbClr val="8C6900"/>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Arial"/>
              <a:cs typeface="Arial" panose="020B0604020202020204" pitchFamily="34" charset="0"/>
            </a:endParaRPr>
          </a:p>
        </p:txBody>
      </p:sp>
      <p:sp>
        <p:nvSpPr>
          <p:cNvPr id="123" name="Line 14"/>
          <p:cNvSpPr>
            <a:spLocks noChangeShapeType="1"/>
          </p:cNvSpPr>
          <p:nvPr/>
        </p:nvSpPr>
        <p:spPr bwMode="auto">
          <a:xfrm flipV="1">
            <a:off x="3658850" y="4979900"/>
            <a:ext cx="0" cy="288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nchor="ctr"/>
          <a:lstStyle/>
          <a:p>
            <a:pPr fontAlgn="base">
              <a:spcBef>
                <a:spcPct val="0"/>
              </a:spcBef>
              <a:spcAft>
                <a:spcPct val="0"/>
              </a:spcAft>
              <a:defRPr/>
            </a:pPr>
            <a:endParaRPr lang="en-GB" sz="1400" kern="0">
              <a:solidFill>
                <a:srgbClr val="000000"/>
              </a:solidFill>
              <a:latin typeface="Arial"/>
              <a:cs typeface="Arial" panose="020B0604020202020204" pitchFamily="34" charset="0"/>
            </a:endParaRPr>
          </a:p>
        </p:txBody>
      </p:sp>
      <p:sp>
        <p:nvSpPr>
          <p:cNvPr id="125" name="Line 15"/>
          <p:cNvSpPr>
            <a:spLocks noChangeShapeType="1"/>
          </p:cNvSpPr>
          <p:nvPr/>
        </p:nvSpPr>
        <p:spPr bwMode="auto">
          <a:xfrm flipV="1">
            <a:off x="5335250" y="4979900"/>
            <a:ext cx="0" cy="288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nchor="ctr"/>
          <a:lstStyle/>
          <a:p>
            <a:pPr fontAlgn="base">
              <a:spcBef>
                <a:spcPct val="0"/>
              </a:spcBef>
              <a:spcAft>
                <a:spcPct val="0"/>
              </a:spcAft>
              <a:defRPr/>
            </a:pPr>
            <a:endParaRPr lang="en-GB" sz="1400" kern="0">
              <a:solidFill>
                <a:srgbClr val="000000"/>
              </a:solidFill>
              <a:latin typeface="Arial"/>
              <a:cs typeface="Arial" panose="020B0604020202020204" pitchFamily="34" charset="0"/>
            </a:endParaRPr>
          </a:p>
        </p:txBody>
      </p:sp>
      <p:sp>
        <p:nvSpPr>
          <p:cNvPr id="126" name="Text Box 105"/>
          <p:cNvSpPr txBox="1">
            <a:spLocks noChangeArrowheads="1"/>
          </p:cNvSpPr>
          <p:nvPr/>
        </p:nvSpPr>
        <p:spPr bwMode="auto">
          <a:xfrm>
            <a:off x="6503371" y="5306925"/>
            <a:ext cx="681597" cy="30777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spAutoFit/>
          </a:bodyPr>
          <a:lstStyle>
            <a:lvl1pPr marL="385763" indent="-385763"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385763" marR="0" lvl="0" indent="-385763" algn="ctr" defTabSz="914400" eaLnBrk="1" fontAlgn="base" latinLnBrk="0" hangingPunct="1">
              <a:lnSpc>
                <a:spcPct val="100000"/>
              </a:lnSpc>
              <a:spcBef>
                <a:spcPct val="20000"/>
              </a:spcBef>
              <a:spcAft>
                <a:spcPct val="0"/>
              </a:spcAft>
              <a:buClrTx/>
              <a:buSzTx/>
              <a:buFontTx/>
              <a:buNone/>
              <a:tabLst/>
              <a:defRPr/>
            </a:pPr>
            <a:r>
              <a:rPr kumimoji="0" lang="en-GB" altLang="en-US"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2 a.m.</a:t>
            </a:r>
            <a:endParaRPr kumimoji="0" lang="en-US" altLang="en-US"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27" name="Line 17"/>
          <p:cNvSpPr>
            <a:spLocks noChangeShapeType="1"/>
          </p:cNvSpPr>
          <p:nvPr/>
        </p:nvSpPr>
        <p:spPr bwMode="auto">
          <a:xfrm flipV="1">
            <a:off x="8138775" y="4979900"/>
            <a:ext cx="0" cy="288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nchor="ctr"/>
          <a:lstStyle/>
          <a:p>
            <a:pPr fontAlgn="base">
              <a:spcBef>
                <a:spcPct val="0"/>
              </a:spcBef>
              <a:spcAft>
                <a:spcPct val="0"/>
              </a:spcAft>
              <a:defRPr/>
            </a:pPr>
            <a:endParaRPr lang="en-GB" sz="1400" kern="0">
              <a:solidFill>
                <a:srgbClr val="000000"/>
              </a:solidFill>
              <a:latin typeface="Arial"/>
              <a:cs typeface="Arial" panose="020B0604020202020204" pitchFamily="34" charset="0"/>
            </a:endParaRPr>
          </a:p>
        </p:txBody>
      </p:sp>
      <p:sp>
        <p:nvSpPr>
          <p:cNvPr id="128" name="Text Box 109"/>
          <p:cNvSpPr txBox="1">
            <a:spLocks noChangeArrowheads="1"/>
          </p:cNvSpPr>
          <p:nvPr/>
        </p:nvSpPr>
        <p:spPr bwMode="auto">
          <a:xfrm>
            <a:off x="4657972" y="4133050"/>
            <a:ext cx="1159292" cy="52322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spAutoFit/>
          </a:bodyPr>
          <a:lstStyle>
            <a:lvl1pPr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Wearing-off/</a:t>
            </a:r>
            <a:b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br>
            <a: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delayed ON</a:t>
            </a:r>
            <a:endParaRPr kumimoji="0" lang="en-US"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29" name="Text Box 103"/>
          <p:cNvSpPr txBox="1">
            <a:spLocks noChangeArrowheads="1"/>
          </p:cNvSpPr>
          <p:nvPr/>
        </p:nvSpPr>
        <p:spPr bwMode="auto">
          <a:xfrm>
            <a:off x="2985221" y="5316450"/>
            <a:ext cx="1348447" cy="566309"/>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spAutoFit/>
          </a:bodyPr>
          <a:lstStyle>
            <a:lvl1pPr marL="385763" indent="-385763"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385763" marR="0" lvl="0" indent="-385763" algn="ctr" defTabSz="914400" eaLnBrk="1" fontAlgn="base" latinLnBrk="0" hangingPunct="1">
              <a:lnSpc>
                <a:spcPct val="100000"/>
              </a:lnSpc>
              <a:spcBef>
                <a:spcPct val="20000"/>
              </a:spcBef>
              <a:spcAft>
                <a:spcPct val="0"/>
              </a:spcAft>
              <a:buClrTx/>
              <a:buSzTx/>
              <a:buFontTx/>
              <a:buNone/>
              <a:tabLst/>
              <a:defRPr/>
            </a:pPr>
            <a:r>
              <a:rPr kumimoji="0" lang="en-GB" altLang="en-US" i="0" u="none" strike="noStrike" kern="0" cap="none" spc="0" normalizeH="0" baseline="0" noProof="0">
                <a:ln>
                  <a:noFill/>
                </a:ln>
                <a:solidFill>
                  <a:srgbClr val="000000"/>
                </a:solidFill>
                <a:effectLst/>
                <a:uLnTx/>
                <a:uFillTx/>
              </a:rPr>
              <a:t>2 p.m.</a:t>
            </a:r>
          </a:p>
          <a:p>
            <a:pPr marL="385763" marR="0" lvl="0" indent="-385763" algn="ctr" defTabSz="914400" eaLnBrk="1" fontAlgn="base" latinLnBrk="0" hangingPunct="1">
              <a:lnSpc>
                <a:spcPct val="100000"/>
              </a:lnSpc>
              <a:spcBef>
                <a:spcPct val="20000"/>
              </a:spcBef>
              <a:spcAft>
                <a:spcPct val="0"/>
              </a:spcAft>
              <a:buClrTx/>
              <a:buSzTx/>
              <a:buFontTx/>
              <a:buNone/>
              <a:tabLst/>
              <a:defRPr/>
            </a:pPr>
            <a:r>
              <a:rPr lang="en-GB" altLang="en-US" kern="0">
                <a:solidFill>
                  <a:srgbClr val="000000"/>
                </a:solidFill>
              </a:rPr>
              <a:t>levodopa dose</a:t>
            </a:r>
            <a:endParaRPr kumimoji="0" lang="en-US" altLang="en-US" i="0" u="none" strike="noStrike" kern="0" cap="none" spc="0" normalizeH="0" baseline="0" noProof="0">
              <a:ln>
                <a:noFill/>
              </a:ln>
              <a:solidFill>
                <a:srgbClr val="000000"/>
              </a:solidFill>
              <a:effectLst/>
              <a:uLnTx/>
              <a:uFillTx/>
            </a:endParaRPr>
          </a:p>
        </p:txBody>
      </p:sp>
      <p:sp>
        <p:nvSpPr>
          <p:cNvPr id="130" name="Text Box 104"/>
          <p:cNvSpPr txBox="1">
            <a:spLocks noChangeArrowheads="1"/>
          </p:cNvSpPr>
          <p:nvPr/>
        </p:nvSpPr>
        <p:spPr bwMode="auto">
          <a:xfrm>
            <a:off x="4665334" y="5316450"/>
            <a:ext cx="1348447" cy="566309"/>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spAutoFit/>
          </a:bodyPr>
          <a:lstStyle>
            <a:lvl1pPr marL="385763" indent="-385763"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385763" marR="0" lvl="0" indent="-385763" algn="ctr" defTabSz="914400" eaLnBrk="1" fontAlgn="base" latinLnBrk="0" hangingPunct="1">
              <a:lnSpc>
                <a:spcPct val="100000"/>
              </a:lnSpc>
              <a:spcBef>
                <a:spcPct val="20000"/>
              </a:spcBef>
              <a:spcAft>
                <a:spcPct val="0"/>
              </a:spcAft>
              <a:buClrTx/>
              <a:buSzTx/>
              <a:buFontTx/>
              <a:buNone/>
              <a:tabLst/>
              <a:defRPr/>
            </a:pPr>
            <a:r>
              <a:rPr kumimoji="0" lang="en-GB" altLang="en-US" i="0" u="none" strike="noStrike" kern="0" cap="none" spc="0" normalizeH="0" baseline="0" noProof="0">
                <a:ln>
                  <a:noFill/>
                </a:ln>
                <a:solidFill>
                  <a:srgbClr val="000000"/>
                </a:solidFill>
                <a:effectLst/>
                <a:uLnTx/>
                <a:uFillTx/>
              </a:rPr>
              <a:t>8 p.m.</a:t>
            </a:r>
          </a:p>
          <a:p>
            <a:pPr marL="385763" marR="0" lvl="0" indent="-385763" algn="ctr" defTabSz="914400" eaLnBrk="1" fontAlgn="base" latinLnBrk="0" hangingPunct="1">
              <a:lnSpc>
                <a:spcPct val="100000"/>
              </a:lnSpc>
              <a:spcBef>
                <a:spcPct val="20000"/>
              </a:spcBef>
              <a:spcAft>
                <a:spcPct val="0"/>
              </a:spcAft>
              <a:buClrTx/>
              <a:buSzTx/>
              <a:buFontTx/>
              <a:buNone/>
              <a:tabLst/>
              <a:defRPr/>
            </a:pPr>
            <a:r>
              <a:rPr lang="en-GB" altLang="en-US" kern="0">
                <a:solidFill>
                  <a:srgbClr val="000000"/>
                </a:solidFill>
              </a:rPr>
              <a:t>levodopa dose</a:t>
            </a:r>
            <a:endParaRPr kumimoji="0" lang="en-US" altLang="en-US" i="0" u="none" strike="noStrike" kern="0" cap="none" spc="0" normalizeH="0" baseline="0" noProof="0">
              <a:ln>
                <a:noFill/>
              </a:ln>
              <a:solidFill>
                <a:srgbClr val="000000"/>
              </a:solidFill>
              <a:effectLst/>
              <a:uLnTx/>
              <a:uFillTx/>
            </a:endParaRPr>
          </a:p>
        </p:txBody>
      </p:sp>
      <p:sp>
        <p:nvSpPr>
          <p:cNvPr id="131" name="Text Box 23"/>
          <p:cNvSpPr txBox="1">
            <a:spLocks noChangeArrowheads="1"/>
          </p:cNvSpPr>
          <p:nvPr/>
        </p:nvSpPr>
        <p:spPr bwMode="auto">
          <a:xfrm>
            <a:off x="8876949" y="5309902"/>
            <a:ext cx="598488" cy="3048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lstStyle>
            <a:lvl1pPr marL="385763" indent="-385763"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385763" marR="0" lvl="0" indent="-385763" algn="ctr" defTabSz="914400" eaLnBrk="1" fontAlgn="base" latinLnBrk="0" hangingPunct="1">
              <a:lnSpc>
                <a:spcPct val="100000"/>
              </a:lnSpc>
              <a:spcBef>
                <a:spcPct val="20000"/>
              </a:spcBef>
              <a:spcAft>
                <a:spcPct val="0"/>
              </a:spcAft>
              <a:buClrTx/>
              <a:buSzTx/>
              <a:buFontTx/>
              <a:buNone/>
              <a:tabLst/>
              <a:defRPr/>
            </a:pPr>
            <a:r>
              <a:rPr kumimoji="0" lang="en-GB" altLang="en-US" sz="1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Time</a:t>
            </a: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nvGrpSpPr>
          <p:cNvPr id="132" name="Group 131"/>
          <p:cNvGrpSpPr/>
          <p:nvPr/>
        </p:nvGrpSpPr>
        <p:grpSpPr>
          <a:xfrm>
            <a:off x="8979814" y="4884650"/>
            <a:ext cx="390526" cy="376238"/>
            <a:chOff x="8979814" y="4840591"/>
            <a:chExt cx="390526" cy="376238"/>
          </a:xfrm>
        </p:grpSpPr>
        <p:sp>
          <p:nvSpPr>
            <p:cNvPr id="133" name="Oval 20"/>
            <p:cNvSpPr>
              <a:spLocks noChangeArrowheads="1"/>
            </p:cNvSpPr>
            <p:nvPr/>
          </p:nvSpPr>
          <p:spPr bwMode="auto">
            <a:xfrm>
              <a:off x="8979814" y="4840591"/>
              <a:ext cx="390526" cy="376238"/>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lvl1pPr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34" name="Line 21"/>
            <p:cNvSpPr>
              <a:spLocks noChangeShapeType="1"/>
            </p:cNvSpPr>
            <p:nvPr/>
          </p:nvSpPr>
          <p:spPr bwMode="auto">
            <a:xfrm>
              <a:off x="9170314" y="4899329"/>
              <a:ext cx="0" cy="1444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Arial"/>
                <a:cs typeface="Arial" panose="020B0604020202020204" pitchFamily="34" charset="0"/>
              </a:endParaRPr>
            </a:p>
          </p:txBody>
        </p:sp>
        <p:sp>
          <p:nvSpPr>
            <p:cNvPr id="135" name="Line 22"/>
            <p:cNvSpPr>
              <a:spLocks noChangeShapeType="1"/>
            </p:cNvSpPr>
            <p:nvPr/>
          </p:nvSpPr>
          <p:spPr bwMode="auto">
            <a:xfrm rot="16200000">
              <a:off x="9239953" y="4974735"/>
              <a:ext cx="0" cy="1444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Arial"/>
                <a:cs typeface="Arial" panose="020B0604020202020204" pitchFamily="34" charset="0"/>
              </a:endParaRPr>
            </a:p>
          </p:txBody>
        </p:sp>
      </p:grpSp>
      <p:sp>
        <p:nvSpPr>
          <p:cNvPr id="136" name="Text Box 106"/>
          <p:cNvSpPr txBox="1">
            <a:spLocks noChangeArrowheads="1"/>
          </p:cNvSpPr>
          <p:nvPr/>
        </p:nvSpPr>
        <p:spPr bwMode="auto">
          <a:xfrm>
            <a:off x="7469959" y="5316450"/>
            <a:ext cx="1348447" cy="566309"/>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spAutoFit/>
          </a:bodyPr>
          <a:lstStyle>
            <a:lvl1pPr marL="385763" indent="-385763"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385763" marR="0" lvl="0" indent="-385763" algn="ctr" defTabSz="914400" eaLnBrk="1" fontAlgn="base" latinLnBrk="0" hangingPunct="1">
              <a:lnSpc>
                <a:spcPct val="100000"/>
              </a:lnSpc>
              <a:spcBef>
                <a:spcPct val="20000"/>
              </a:spcBef>
              <a:spcAft>
                <a:spcPct val="0"/>
              </a:spcAft>
              <a:buClrTx/>
              <a:buSzTx/>
              <a:buFontTx/>
              <a:buNone/>
              <a:tabLst/>
              <a:defRPr/>
            </a:pPr>
            <a:r>
              <a:rPr kumimoji="0" lang="en-GB" altLang="en-US" i="0" u="none" strike="noStrike" kern="0" cap="none" spc="0" normalizeH="0" baseline="0" noProof="0">
                <a:ln>
                  <a:noFill/>
                </a:ln>
                <a:solidFill>
                  <a:srgbClr val="000000"/>
                </a:solidFill>
                <a:effectLst/>
                <a:uLnTx/>
                <a:uFillTx/>
              </a:rPr>
              <a:t>8 a.m.</a:t>
            </a:r>
          </a:p>
          <a:p>
            <a:pPr marL="385763" marR="0" lvl="0" indent="-385763" algn="ctr" defTabSz="914400" eaLnBrk="1" fontAlgn="base" latinLnBrk="0" hangingPunct="1">
              <a:lnSpc>
                <a:spcPct val="100000"/>
              </a:lnSpc>
              <a:spcBef>
                <a:spcPct val="20000"/>
              </a:spcBef>
              <a:spcAft>
                <a:spcPct val="0"/>
              </a:spcAft>
              <a:buClrTx/>
              <a:buSzTx/>
              <a:buFontTx/>
              <a:buNone/>
              <a:tabLst/>
              <a:defRPr/>
            </a:pPr>
            <a:r>
              <a:rPr lang="en-GB" altLang="en-US" kern="0">
                <a:solidFill>
                  <a:srgbClr val="000000"/>
                </a:solidFill>
              </a:rPr>
              <a:t>levodopa dose</a:t>
            </a:r>
            <a:endParaRPr kumimoji="0" lang="en-US" altLang="en-US" i="0" u="none" strike="noStrike" kern="0" cap="none" spc="0" normalizeH="0" baseline="0" noProof="0">
              <a:ln>
                <a:noFill/>
              </a:ln>
              <a:solidFill>
                <a:srgbClr val="000000"/>
              </a:solidFill>
              <a:effectLst/>
              <a:uLnTx/>
              <a:uFillTx/>
            </a:endParaRPr>
          </a:p>
        </p:txBody>
      </p:sp>
      <p:sp>
        <p:nvSpPr>
          <p:cNvPr id="137" name="Rounded Rectangle 124"/>
          <p:cNvSpPr/>
          <p:nvPr/>
        </p:nvSpPr>
        <p:spPr bwMode="auto">
          <a:xfrm rot="10800000" flipV="1">
            <a:off x="8409046" y="2187709"/>
            <a:ext cx="1727751" cy="275947"/>
          </a:xfrm>
          <a:prstGeom prst="rect">
            <a:avLst/>
          </a:prstGeom>
          <a:noFill/>
          <a:ln w="3175">
            <a:noFill/>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95000"/>
              </a:lnSpc>
              <a:spcBef>
                <a:spcPct val="0"/>
              </a:spcBef>
              <a:spcAft>
                <a:spcPct val="0"/>
              </a:spcAft>
              <a:buClrTx/>
              <a:buSzTx/>
              <a:buFont typeface="Wingdings" pitchFamily="2" charset="2"/>
              <a:buNone/>
              <a:tabLst/>
              <a:defRPr/>
            </a:pPr>
            <a:endParaRPr kumimoji="0" lang="en-US" sz="1050" b="1" i="0" u="none" strike="noStrike" kern="0" cap="none" spc="0" normalizeH="0" baseline="0" noProof="0">
              <a:ln>
                <a:noFill/>
              </a:ln>
              <a:uLnTx/>
              <a:uFillTx/>
              <a:latin typeface="Arial"/>
            </a:endParaRPr>
          </a:p>
        </p:txBody>
      </p:sp>
      <p:sp>
        <p:nvSpPr>
          <p:cNvPr id="138" name="Rounded Rectangle 125"/>
          <p:cNvSpPr/>
          <p:nvPr/>
        </p:nvSpPr>
        <p:spPr bwMode="auto">
          <a:xfrm rot="10800000" flipV="1">
            <a:off x="8409046" y="2752123"/>
            <a:ext cx="1727751" cy="275947"/>
          </a:xfrm>
          <a:prstGeom prst="rect">
            <a:avLst/>
          </a:prstGeom>
          <a:noFill/>
          <a:ln w="3175">
            <a:noFill/>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95000"/>
              </a:lnSpc>
              <a:spcBef>
                <a:spcPct val="0"/>
              </a:spcBef>
              <a:spcAft>
                <a:spcPct val="0"/>
              </a:spcAft>
              <a:buClrTx/>
              <a:buSzTx/>
              <a:buFont typeface="Wingdings" pitchFamily="2" charset="2"/>
              <a:buNone/>
              <a:tabLst/>
              <a:defRPr/>
            </a:pPr>
            <a:endParaRPr kumimoji="0" lang="en-US" sz="1050" b="1" i="0" u="none" strike="noStrike" kern="0" cap="none" spc="0" normalizeH="0" baseline="0" noProof="0">
              <a:ln>
                <a:noFill/>
              </a:ln>
              <a:uLnTx/>
              <a:uFillTx/>
              <a:latin typeface="Arial"/>
            </a:endParaRPr>
          </a:p>
        </p:txBody>
      </p:sp>
      <p:sp>
        <p:nvSpPr>
          <p:cNvPr id="163" name="Rounded Rectangle 126"/>
          <p:cNvSpPr/>
          <p:nvPr/>
        </p:nvSpPr>
        <p:spPr bwMode="auto">
          <a:xfrm rot="10800000" flipV="1">
            <a:off x="8409046" y="3328187"/>
            <a:ext cx="1785365" cy="275947"/>
          </a:xfrm>
          <a:prstGeom prst="rect">
            <a:avLst/>
          </a:prstGeom>
          <a:noFill/>
          <a:ln w="3175">
            <a:noFill/>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050" b="1" i="0" u="none" strike="noStrike" kern="0" cap="none" spc="0" normalizeH="0" baseline="0" noProof="0">
              <a:ln>
                <a:noFill/>
              </a:ln>
              <a:uLnTx/>
              <a:uFillTx/>
              <a:latin typeface="Arial"/>
            </a:endParaRPr>
          </a:p>
        </p:txBody>
      </p:sp>
      <p:grpSp>
        <p:nvGrpSpPr>
          <p:cNvPr id="164" name="Group 163"/>
          <p:cNvGrpSpPr>
            <a:grpSpLocks/>
          </p:cNvGrpSpPr>
          <p:nvPr/>
        </p:nvGrpSpPr>
        <p:grpSpPr bwMode="auto">
          <a:xfrm>
            <a:off x="2678070" y="1548796"/>
            <a:ext cx="3013873" cy="307777"/>
            <a:chOff x="971632" y="1833084"/>
            <a:chExt cx="3012880" cy="306876"/>
          </a:xfrm>
        </p:grpSpPr>
        <p:sp>
          <p:nvSpPr>
            <p:cNvPr id="165" name="Rectangle 14"/>
            <p:cNvSpPr>
              <a:spLocks noChangeArrowheads="1"/>
            </p:cNvSpPr>
            <p:nvPr/>
          </p:nvSpPr>
          <p:spPr bwMode="auto">
            <a:xfrm>
              <a:off x="1243959" y="1833084"/>
              <a:ext cx="2740553" cy="30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20000"/>
                </a:spcBef>
                <a:spcAft>
                  <a:spcPct val="0"/>
                </a:spcAft>
                <a:buClrTx/>
                <a:buSzTx/>
                <a:buFontTx/>
                <a:buNone/>
                <a:tabLst/>
                <a:defRPr/>
              </a:pPr>
              <a: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Blood concentration of levodopa</a:t>
              </a:r>
              <a:endParaRPr kumimoji="0" lang="en-US"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cxnSp>
          <p:nvCxnSpPr>
            <p:cNvPr id="166" name="Straight Connector 165"/>
            <p:cNvCxnSpPr/>
            <p:nvPr/>
          </p:nvCxnSpPr>
          <p:spPr bwMode="auto">
            <a:xfrm>
              <a:off x="971632" y="1987233"/>
              <a:ext cx="287243" cy="0"/>
            </a:xfrm>
            <a:prstGeom prst="line">
              <a:avLst/>
            </a:prstGeom>
            <a:noFill/>
            <a:ln w="571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chemeClr val="hlink">
                        <a:gamma/>
                        <a:shade val="60000"/>
                        <a:invGamma/>
                      </a:schemeClr>
                    </a:outerShdw>
                  </a:effectLst>
                </a14:hiddenEffects>
              </a:ext>
            </a:extLst>
          </p:spPr>
        </p:cxnSp>
      </p:grpSp>
      <p:sp>
        <p:nvSpPr>
          <p:cNvPr id="167" name="Left-Right Arrow 130"/>
          <p:cNvSpPr>
            <a:spLocks noChangeArrowheads="1"/>
          </p:cNvSpPr>
          <p:nvPr/>
        </p:nvSpPr>
        <p:spPr bwMode="auto">
          <a:xfrm>
            <a:off x="3350875" y="3315487"/>
            <a:ext cx="360362" cy="611386"/>
          </a:xfrm>
          <a:prstGeom prst="leftRightArrow">
            <a:avLst>
              <a:gd name="adj1" fmla="val 50000"/>
              <a:gd name="adj2" fmla="val 49890"/>
            </a:avLst>
          </a:prstGeom>
          <a:solidFill>
            <a:schemeClr val="bg1"/>
          </a:solidFill>
          <a:ln w="9525" algn="ctr">
            <a:noFill/>
            <a:round/>
            <a:headEnd/>
            <a:tailEnd/>
          </a:ln>
        </p:spPr>
        <p:txBody>
          <a:bodyPr>
            <a:spAutoFit/>
          </a:bodyPr>
          <a:lstStyle>
            <a:lvl1pPr marL="385763" indent="-385763"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385763" marR="0" lvl="0" indent="-385763" defTabSz="914400" eaLnBrk="0" fontAlgn="base" latinLnBrk="0" hangingPunct="0">
              <a:lnSpc>
                <a:spcPct val="100000"/>
              </a:lnSpc>
              <a:spcBef>
                <a:spcPct val="50000"/>
              </a:spcBef>
              <a:spcAft>
                <a:spcPct val="0"/>
              </a:spcAft>
              <a:buClr>
                <a:srgbClr val="E75200"/>
              </a:buClr>
              <a:buSzTx/>
              <a:buFont typeface="Wingdings" panose="05000000000000000000" pitchFamily="2" charset="2"/>
              <a:buNone/>
              <a:tabLst/>
              <a:defRPr/>
            </a:pPr>
            <a:endParaRPr kumimoji="0" lang="en-GB" altLang="en-US" sz="1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68" name="Left-Right Arrow 131"/>
          <p:cNvSpPr>
            <a:spLocks noChangeArrowheads="1"/>
          </p:cNvSpPr>
          <p:nvPr/>
        </p:nvSpPr>
        <p:spPr bwMode="auto">
          <a:xfrm>
            <a:off x="5039182" y="3315487"/>
            <a:ext cx="360362" cy="611386"/>
          </a:xfrm>
          <a:prstGeom prst="leftRightArrow">
            <a:avLst>
              <a:gd name="adj1" fmla="val 50000"/>
              <a:gd name="adj2" fmla="val 49890"/>
            </a:avLst>
          </a:prstGeom>
          <a:solidFill>
            <a:schemeClr val="bg1"/>
          </a:solidFill>
          <a:ln w="9525" algn="ctr">
            <a:noFill/>
            <a:round/>
            <a:headEnd/>
            <a:tailEnd/>
          </a:ln>
        </p:spPr>
        <p:txBody>
          <a:bodyPr>
            <a:spAutoFit/>
          </a:bodyPr>
          <a:lstStyle>
            <a:lvl1pPr marL="385763" indent="-385763"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385763" marR="0" lvl="0" indent="-385763" defTabSz="914400" eaLnBrk="0" fontAlgn="base" latinLnBrk="0" hangingPunct="0">
              <a:lnSpc>
                <a:spcPct val="100000"/>
              </a:lnSpc>
              <a:spcBef>
                <a:spcPct val="50000"/>
              </a:spcBef>
              <a:spcAft>
                <a:spcPct val="0"/>
              </a:spcAft>
              <a:buClr>
                <a:srgbClr val="E75200"/>
              </a:buClr>
              <a:buSzTx/>
              <a:buFont typeface="Wingdings" panose="05000000000000000000" pitchFamily="2" charset="2"/>
              <a:buNone/>
              <a:tabLst/>
              <a:defRPr/>
            </a:pPr>
            <a:endParaRPr kumimoji="0" lang="en-GB" altLang="en-US" sz="1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69" name="Text Box 107"/>
          <p:cNvSpPr txBox="1">
            <a:spLocks noChangeArrowheads="1"/>
          </p:cNvSpPr>
          <p:nvPr/>
        </p:nvSpPr>
        <p:spPr bwMode="auto">
          <a:xfrm>
            <a:off x="6616542" y="4133050"/>
            <a:ext cx="1000594" cy="52322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spAutoFit/>
          </a:bodyPr>
          <a:lstStyle>
            <a:lvl1pPr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Nocturnal </a:t>
            </a:r>
            <a:b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br>
            <a: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akinesia</a:t>
            </a:r>
            <a:endParaRPr kumimoji="0" lang="en-US"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70" name="Left-Right Arrow 133"/>
          <p:cNvSpPr>
            <a:spLocks noChangeArrowheads="1"/>
          </p:cNvSpPr>
          <p:nvPr/>
        </p:nvSpPr>
        <p:spPr bwMode="auto">
          <a:xfrm>
            <a:off x="6941344" y="3315487"/>
            <a:ext cx="540206" cy="611386"/>
          </a:xfrm>
          <a:prstGeom prst="leftRightArrow">
            <a:avLst>
              <a:gd name="adj1" fmla="val 50000"/>
              <a:gd name="adj2" fmla="val 49863"/>
            </a:avLst>
          </a:prstGeom>
          <a:solidFill>
            <a:schemeClr val="bg1"/>
          </a:solidFill>
          <a:ln w="9525" algn="ctr">
            <a:noFill/>
            <a:round/>
            <a:headEnd/>
            <a:tailEnd/>
          </a:ln>
        </p:spPr>
        <p:txBody>
          <a:bodyPr wrap="square">
            <a:spAutoFit/>
          </a:bodyPr>
          <a:lstStyle>
            <a:lvl1pPr marL="385763" indent="-385763"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385763" marR="0" lvl="0" indent="-385763" defTabSz="914400" eaLnBrk="0" fontAlgn="base" latinLnBrk="0" hangingPunct="0">
              <a:lnSpc>
                <a:spcPct val="100000"/>
              </a:lnSpc>
              <a:spcBef>
                <a:spcPct val="50000"/>
              </a:spcBef>
              <a:spcAft>
                <a:spcPct val="0"/>
              </a:spcAft>
              <a:buClr>
                <a:srgbClr val="E75200"/>
              </a:buClr>
              <a:buSzTx/>
              <a:buFont typeface="Wingdings" panose="05000000000000000000" pitchFamily="2" charset="2"/>
              <a:buNone/>
              <a:tabLst/>
              <a:defRPr/>
            </a:pPr>
            <a:endParaRPr kumimoji="0" lang="en-GB" altLang="en-US" sz="1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71" name="Text Box 111"/>
          <p:cNvSpPr txBox="1">
            <a:spLocks noChangeArrowheads="1"/>
          </p:cNvSpPr>
          <p:nvPr/>
        </p:nvSpPr>
        <p:spPr bwMode="auto">
          <a:xfrm>
            <a:off x="7580287" y="4133050"/>
            <a:ext cx="841897" cy="738664"/>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17961" dir="13500000" algn="ctr" rotWithShape="0">
                    <a:srgbClr val="8C6900"/>
                  </a:outerShdw>
                </a:effectLst>
              </a14:hiddenEffects>
            </a:ext>
          </a:extLst>
        </p:spPr>
        <p:txBody>
          <a:bodyPr wrap="none">
            <a:spAutoFit/>
          </a:bodyPr>
          <a:lstStyle>
            <a:lvl1pPr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Early </a:t>
            </a:r>
            <a:b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br>
            <a: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morning</a:t>
            </a:r>
            <a:b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br>
            <a:r>
              <a:rPr kumimoji="0" lang="en-GB"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akinesia</a:t>
            </a:r>
            <a:endParaRPr kumimoji="0" lang="en-US" altLang="en-US"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72" name="Left-Right Arrow 135"/>
          <p:cNvSpPr>
            <a:spLocks noChangeArrowheads="1"/>
          </p:cNvSpPr>
          <p:nvPr/>
        </p:nvSpPr>
        <p:spPr bwMode="auto">
          <a:xfrm>
            <a:off x="7586325" y="3315487"/>
            <a:ext cx="600075" cy="611386"/>
          </a:xfrm>
          <a:prstGeom prst="leftRightArrow">
            <a:avLst>
              <a:gd name="adj1" fmla="val 50000"/>
              <a:gd name="adj2" fmla="val 49817"/>
            </a:avLst>
          </a:prstGeom>
          <a:solidFill>
            <a:schemeClr val="bg1"/>
          </a:solidFill>
          <a:ln w="9525" algn="ctr">
            <a:noFill/>
            <a:round/>
            <a:headEnd/>
            <a:tailEnd/>
          </a:ln>
        </p:spPr>
        <p:txBody>
          <a:bodyPr wrap="square">
            <a:spAutoFit/>
          </a:bodyPr>
          <a:lstStyle>
            <a:lvl1pPr marL="385763" indent="-385763" eaLnBrk="0" hangingPunct="0">
              <a:defRPr sz="1400">
                <a:solidFill>
                  <a:schemeClr val="tx1"/>
                </a:solidFill>
                <a:latin typeface="Arial" panose="020B0604020202020204" pitchFamily="34" charset="0"/>
                <a:cs typeface="Arial" panose="020B0604020202020204" pitchFamily="34" charset="0"/>
              </a:defRPr>
            </a:lvl1pPr>
            <a:lvl2pPr marL="742950" indent="-285750" eaLnBrk="0" hangingPunct="0">
              <a:defRPr sz="1400">
                <a:solidFill>
                  <a:schemeClr val="tx1"/>
                </a:solidFill>
                <a:latin typeface="Arial" panose="020B0604020202020204" pitchFamily="34" charset="0"/>
                <a:cs typeface="Arial" panose="020B0604020202020204" pitchFamily="34" charset="0"/>
              </a:defRPr>
            </a:lvl2pPr>
            <a:lvl3pPr marL="1143000" indent="-228600" eaLnBrk="0" hangingPunct="0">
              <a:defRPr sz="1400">
                <a:solidFill>
                  <a:schemeClr val="tx1"/>
                </a:solidFill>
                <a:latin typeface="Arial" panose="020B0604020202020204" pitchFamily="34" charset="0"/>
                <a:cs typeface="Arial" panose="020B0604020202020204" pitchFamily="34" charset="0"/>
              </a:defRPr>
            </a:lvl3pPr>
            <a:lvl4pPr marL="1600200" indent="-228600" eaLnBrk="0" hangingPunct="0">
              <a:defRPr sz="1400">
                <a:solidFill>
                  <a:schemeClr val="tx1"/>
                </a:solidFill>
                <a:latin typeface="Arial" panose="020B0604020202020204" pitchFamily="34" charset="0"/>
                <a:cs typeface="Arial" panose="020B0604020202020204" pitchFamily="34" charset="0"/>
              </a:defRPr>
            </a:lvl4pPr>
            <a:lvl5pPr marL="2057400" indent="-228600" eaLnBrk="0" hangingPunct="0">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cs typeface="Arial" panose="020B0604020202020204" pitchFamily="34" charset="0"/>
              </a:defRPr>
            </a:lvl9pPr>
          </a:lstStyle>
          <a:p>
            <a:pPr marL="385763" marR="0" lvl="0" indent="-385763" defTabSz="914400" eaLnBrk="0" fontAlgn="base" latinLnBrk="0" hangingPunct="0">
              <a:lnSpc>
                <a:spcPct val="100000"/>
              </a:lnSpc>
              <a:spcBef>
                <a:spcPct val="50000"/>
              </a:spcBef>
              <a:spcAft>
                <a:spcPct val="0"/>
              </a:spcAft>
              <a:buClr>
                <a:srgbClr val="E75200"/>
              </a:buClr>
              <a:buSzTx/>
              <a:buFont typeface="Wingdings" panose="05000000000000000000" pitchFamily="2" charset="2"/>
              <a:buNone/>
              <a:tabLst/>
              <a:defRPr/>
            </a:pPr>
            <a:endParaRPr kumimoji="0" lang="en-GB" altLang="en-US" sz="1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73" name="Line 6"/>
          <p:cNvSpPr>
            <a:spLocks noChangeShapeType="1"/>
          </p:cNvSpPr>
          <p:nvPr/>
        </p:nvSpPr>
        <p:spPr bwMode="auto">
          <a:xfrm rot="16200000">
            <a:off x="5149911" y="1657201"/>
            <a:ext cx="0" cy="6461245"/>
          </a:xfrm>
          <a:prstGeom prst="line">
            <a:avLst/>
          </a:prstGeom>
          <a:noFill/>
          <a:ln w="19050">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p>
            <a:pPr fontAlgn="base">
              <a:spcBef>
                <a:spcPct val="0"/>
              </a:spcBef>
              <a:spcAft>
                <a:spcPct val="0"/>
              </a:spcAft>
              <a:defRPr/>
            </a:pPr>
            <a:endParaRPr lang="en-GB" sz="1400" kern="0">
              <a:solidFill>
                <a:srgbClr val="000000"/>
              </a:solidFill>
              <a:latin typeface="Arial"/>
              <a:cs typeface="Arial" panose="020B0604020202020204" pitchFamily="34" charset="0"/>
            </a:endParaRPr>
          </a:p>
        </p:txBody>
      </p:sp>
      <p:sp>
        <p:nvSpPr>
          <p:cNvPr id="174" name="Rectangle 173"/>
          <p:cNvSpPr/>
          <p:nvPr/>
        </p:nvSpPr>
        <p:spPr>
          <a:xfrm>
            <a:off x="8294539" y="2048445"/>
            <a:ext cx="1975221" cy="338554"/>
          </a:xfrm>
          <a:prstGeom prst="rect">
            <a:avLst/>
          </a:prstGeom>
        </p:spPr>
        <p:txBody>
          <a:bodyPr wrap="none">
            <a:spAutoFit/>
          </a:bodyPr>
          <a:lstStyle/>
          <a:p>
            <a:r>
              <a:rPr lang="en-GB" sz="1600" b="1">
                <a:solidFill>
                  <a:schemeClr val="accent2">
                    <a:lumMod val="50000"/>
                  </a:schemeClr>
                </a:solidFill>
                <a:latin typeface="Arial" panose="020B0604020202020204" pitchFamily="34" charset="0"/>
                <a:cs typeface="Arial" panose="020B0604020202020204" pitchFamily="34" charset="0"/>
              </a:rPr>
              <a:t>Risk of dyskinesia</a:t>
            </a:r>
          </a:p>
        </p:txBody>
      </p:sp>
      <p:sp>
        <p:nvSpPr>
          <p:cNvPr id="175" name="Rectangle 174"/>
          <p:cNvSpPr/>
          <p:nvPr/>
        </p:nvSpPr>
        <p:spPr>
          <a:xfrm>
            <a:off x="8294539" y="2744005"/>
            <a:ext cx="2250937" cy="338554"/>
          </a:xfrm>
          <a:prstGeom prst="rect">
            <a:avLst/>
          </a:prstGeom>
        </p:spPr>
        <p:txBody>
          <a:bodyPr wrap="none">
            <a:spAutoFit/>
          </a:bodyPr>
          <a:lstStyle/>
          <a:p>
            <a:r>
              <a:rPr lang="en-GB" sz="1600">
                <a:latin typeface="Arial" panose="020B0604020202020204" pitchFamily="34" charset="0"/>
                <a:cs typeface="Arial" panose="020B0604020202020204" pitchFamily="34" charset="0"/>
              </a:rPr>
              <a:t>Good symptom control</a:t>
            </a:r>
          </a:p>
        </p:txBody>
      </p:sp>
      <p:sp>
        <p:nvSpPr>
          <p:cNvPr id="176" name="Rectangle 175"/>
          <p:cNvSpPr/>
          <p:nvPr/>
        </p:nvSpPr>
        <p:spPr>
          <a:xfrm>
            <a:off x="8294539" y="3511209"/>
            <a:ext cx="1736373" cy="338554"/>
          </a:xfrm>
          <a:prstGeom prst="rect">
            <a:avLst/>
          </a:prstGeom>
        </p:spPr>
        <p:txBody>
          <a:bodyPr wrap="none">
            <a:spAutoFit/>
          </a:bodyPr>
          <a:lstStyle/>
          <a:p>
            <a:r>
              <a:rPr lang="en-GB" sz="1600" b="1">
                <a:solidFill>
                  <a:schemeClr val="accent5">
                    <a:lumMod val="75000"/>
                  </a:schemeClr>
                </a:solidFill>
                <a:latin typeface="Arial" panose="020B0604020202020204" pitchFamily="34" charset="0"/>
                <a:cs typeface="Arial" panose="020B0604020202020204" pitchFamily="34" charset="0"/>
              </a:rPr>
              <a:t>Risk of akinesia</a:t>
            </a:r>
          </a:p>
        </p:txBody>
      </p:sp>
      <p:sp>
        <p:nvSpPr>
          <p:cNvPr id="177" name="Line 5"/>
          <p:cNvSpPr>
            <a:spLocks noChangeShapeType="1"/>
          </p:cNvSpPr>
          <p:nvPr/>
        </p:nvSpPr>
        <p:spPr bwMode="auto">
          <a:xfrm flipV="1">
            <a:off x="1931332" y="1727683"/>
            <a:ext cx="0" cy="3172153"/>
          </a:xfrm>
          <a:prstGeom prst="line">
            <a:avLst/>
          </a:prstGeom>
          <a:noFill/>
          <a:ln w="19050">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p>
            <a:pPr fontAlgn="base">
              <a:spcBef>
                <a:spcPct val="0"/>
              </a:spcBef>
              <a:spcAft>
                <a:spcPct val="0"/>
              </a:spcAft>
              <a:defRPr/>
            </a:pPr>
            <a:endParaRPr lang="en-GB" sz="1400" kern="0">
              <a:solidFill>
                <a:srgbClr val="000000"/>
              </a:solidFill>
              <a:latin typeface="Arial"/>
              <a:cs typeface="Arial" panose="020B0604020202020204" pitchFamily="34" charset="0"/>
            </a:endParaRPr>
          </a:p>
        </p:txBody>
      </p:sp>
    </p:spTree>
    <p:custDataLst>
      <p:tags r:id="rId1"/>
    </p:custDataLst>
    <p:extLst>
      <p:ext uri="{BB962C8B-B14F-4D97-AF65-F5344CB8AC3E}">
        <p14:creationId xmlns:p14="http://schemas.microsoft.com/office/powerpoint/2010/main" val="318269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wipe(down)">
                                      <p:cBhvr>
                                        <p:cTn id="7" dur="500"/>
                                        <p:tgtEl>
                                          <p:spTgt spid="105"/>
                                        </p:tgtEl>
                                      </p:cBhvr>
                                    </p:animEffect>
                                  </p:childTnLst>
                                </p:cTn>
                              </p:par>
                              <p:par>
                                <p:cTn id="8" presetID="1" presetClass="entr" presetSubtype="0" fill="hold" nodeType="withEffect">
                                  <p:stCondLst>
                                    <p:cond delay="0"/>
                                  </p:stCondLst>
                                  <p:childTnLst>
                                    <p:set>
                                      <p:cBhvr>
                                        <p:cTn id="9" dur="1" fill="hold">
                                          <p:stCondLst>
                                            <p:cond delay="0"/>
                                          </p:stCondLst>
                                        </p:cTn>
                                        <p:tgtEl>
                                          <p:spTgt spid="164"/>
                                        </p:tgtEl>
                                        <p:attrNameLst>
                                          <p:attrName>style.visibility</p:attrName>
                                        </p:attrNameLst>
                                      </p:cBhvr>
                                      <p:to>
                                        <p:strVal val="visible"/>
                                      </p:to>
                                    </p:set>
                                  </p:childTnLst>
                                </p:cTn>
                              </p:par>
                              <p:par>
                                <p:cTn id="10" presetID="22" presetClass="entr" presetSubtype="4" fill="hold" nodeType="withEffect">
                                  <p:stCondLst>
                                    <p:cond delay="500"/>
                                  </p:stCondLst>
                                  <p:childTnLst>
                                    <p:set>
                                      <p:cBhvr>
                                        <p:cTn id="11" dur="1" fill="hold">
                                          <p:stCondLst>
                                            <p:cond delay="0"/>
                                          </p:stCondLst>
                                        </p:cTn>
                                        <p:tgtEl>
                                          <p:spTgt spid="117"/>
                                        </p:tgtEl>
                                        <p:attrNameLst>
                                          <p:attrName>style.visibility</p:attrName>
                                        </p:attrNameLst>
                                      </p:cBhvr>
                                      <p:to>
                                        <p:strVal val="visible"/>
                                      </p:to>
                                    </p:set>
                                    <p:animEffect transition="in" filter="wipe(down)">
                                      <p:cBhvr>
                                        <p:cTn id="12" dur="5000"/>
                                        <p:tgtEl>
                                          <p:spTgt spid="117"/>
                                        </p:tgtEl>
                                      </p:cBhvr>
                                    </p:animEffect>
                                  </p:childTnLst>
                                </p:cTn>
                              </p:par>
                              <p:par>
                                <p:cTn id="13" presetID="22" presetClass="entr" presetSubtype="4" fill="hold" grpId="0" nodeType="withEffect">
                                  <p:stCondLst>
                                    <p:cond delay="4500"/>
                                  </p:stCondLst>
                                  <p:childTnLst>
                                    <p:set>
                                      <p:cBhvr>
                                        <p:cTn id="14" dur="1" fill="hold">
                                          <p:stCondLst>
                                            <p:cond delay="0"/>
                                          </p:stCondLst>
                                        </p:cTn>
                                        <p:tgtEl>
                                          <p:spTgt spid="99"/>
                                        </p:tgtEl>
                                        <p:attrNameLst>
                                          <p:attrName>style.visibility</p:attrName>
                                        </p:attrNameLst>
                                      </p:cBhvr>
                                      <p:to>
                                        <p:strVal val="visible"/>
                                      </p:to>
                                    </p:set>
                                    <p:animEffect transition="in" filter="wipe(down)">
                                      <p:cBhvr>
                                        <p:cTn id="15" dur="450"/>
                                        <p:tgtEl>
                                          <p:spTgt spid="99"/>
                                        </p:tgtEl>
                                      </p:cBhvr>
                                    </p:animEffect>
                                  </p:childTnLst>
                                </p:cTn>
                              </p:par>
                            </p:childTnLst>
                          </p:cTn>
                        </p:par>
                        <p:par>
                          <p:cTn id="16" fill="hold">
                            <p:stCondLst>
                              <p:cond delay="5500"/>
                            </p:stCondLst>
                            <p:childTnLst>
                              <p:par>
                                <p:cTn id="17" presetID="22" presetClass="entr" presetSubtype="1" fill="hold" nodeType="afterEffect">
                                  <p:stCondLst>
                                    <p:cond delay="0"/>
                                  </p:stCondLst>
                                  <p:childTnLst>
                                    <p:set>
                                      <p:cBhvr>
                                        <p:cTn id="18" dur="1" fill="hold">
                                          <p:stCondLst>
                                            <p:cond delay="0"/>
                                          </p:stCondLst>
                                        </p:cTn>
                                        <p:tgtEl>
                                          <p:spTgt spid="119"/>
                                        </p:tgtEl>
                                        <p:attrNameLst>
                                          <p:attrName>style.visibility</p:attrName>
                                        </p:attrNameLst>
                                      </p:cBhvr>
                                      <p:to>
                                        <p:strVal val="visible"/>
                                      </p:to>
                                    </p:set>
                                    <p:animEffect transition="in" filter="wipe(up)">
                                      <p:cBhvr>
                                        <p:cTn id="19" dur="5000"/>
                                        <p:tgtEl>
                                          <p:spTgt spid="119"/>
                                        </p:tgtEl>
                                      </p:cBhvr>
                                    </p:animEffect>
                                  </p:childTnLst>
                                </p:cTn>
                              </p:par>
                              <p:par>
                                <p:cTn id="20" presetID="1" presetClass="exit" presetSubtype="0" fill="hold" grpId="1" nodeType="withEffect">
                                  <p:stCondLst>
                                    <p:cond delay="500"/>
                                  </p:stCondLst>
                                  <p:childTnLst>
                                    <p:set>
                                      <p:cBhvr>
                                        <p:cTn id="21" dur="1" fill="hold">
                                          <p:stCondLst>
                                            <p:cond delay="0"/>
                                          </p:stCondLst>
                                        </p:cTn>
                                        <p:tgtEl>
                                          <p:spTgt spid="99"/>
                                        </p:tgtEl>
                                        <p:attrNameLst>
                                          <p:attrName>style.visibility</p:attrName>
                                        </p:attrNameLst>
                                      </p:cBhvr>
                                      <p:to>
                                        <p:strVal val="hidden"/>
                                      </p:to>
                                    </p:set>
                                  </p:childTnLst>
                                </p:cTn>
                              </p:par>
                              <p:par>
                                <p:cTn id="22" presetID="22" presetClass="entr" presetSubtype="1" fill="hold" grpId="0" nodeType="withEffect">
                                  <p:stCondLst>
                                    <p:cond delay="3000"/>
                                  </p:stCondLst>
                                  <p:childTnLst>
                                    <p:set>
                                      <p:cBhvr>
                                        <p:cTn id="23" dur="1" fill="hold">
                                          <p:stCondLst>
                                            <p:cond delay="0"/>
                                          </p:stCondLst>
                                        </p:cTn>
                                        <p:tgtEl>
                                          <p:spTgt spid="98"/>
                                        </p:tgtEl>
                                        <p:attrNameLst>
                                          <p:attrName>style.visibility</p:attrName>
                                        </p:attrNameLst>
                                      </p:cBhvr>
                                      <p:to>
                                        <p:strVal val="visible"/>
                                      </p:to>
                                    </p:set>
                                    <p:animEffect transition="in" filter="wipe(up)">
                                      <p:cBhvr>
                                        <p:cTn id="24" dur="1550"/>
                                        <p:tgtEl>
                                          <p:spTgt spid="98"/>
                                        </p:tgtEl>
                                      </p:cBhvr>
                                    </p:animEffect>
                                  </p:childTnLst>
                                </p:cTn>
                              </p:par>
                            </p:childTnLst>
                          </p:cTn>
                        </p:par>
                        <p:par>
                          <p:cTn id="25" fill="hold">
                            <p:stCondLst>
                              <p:cond delay="10500"/>
                            </p:stCondLst>
                            <p:childTnLst>
                              <p:par>
                                <p:cTn id="26" presetID="22" presetClass="entr" presetSubtype="4" fill="hold" grpId="0" nodeType="afterEffect">
                                  <p:stCondLst>
                                    <p:cond delay="0"/>
                                  </p:stCondLst>
                                  <p:childTnLst>
                                    <p:set>
                                      <p:cBhvr>
                                        <p:cTn id="27" dur="1" fill="hold">
                                          <p:stCondLst>
                                            <p:cond delay="0"/>
                                          </p:stCondLst>
                                        </p:cTn>
                                        <p:tgtEl>
                                          <p:spTgt spid="123"/>
                                        </p:tgtEl>
                                        <p:attrNameLst>
                                          <p:attrName>style.visibility</p:attrName>
                                        </p:attrNameLst>
                                      </p:cBhvr>
                                      <p:to>
                                        <p:strVal val="visible"/>
                                      </p:to>
                                    </p:set>
                                    <p:animEffect transition="in" filter="wipe(down)">
                                      <p:cBhvr>
                                        <p:cTn id="28" dur="500"/>
                                        <p:tgtEl>
                                          <p:spTgt spid="123"/>
                                        </p:tgtEl>
                                      </p:cBhvr>
                                    </p:animEffect>
                                  </p:childTnLst>
                                </p:cTn>
                              </p:par>
                            </p:childTnLst>
                          </p:cTn>
                        </p:par>
                        <p:par>
                          <p:cTn id="29" fill="hold">
                            <p:stCondLst>
                              <p:cond delay="11000"/>
                            </p:stCondLst>
                            <p:childTnLst>
                              <p:par>
                                <p:cTn id="30" presetID="22" presetClass="entr" presetSubtype="4" fill="hold" nodeType="afterEffect">
                                  <p:stCondLst>
                                    <p:cond delay="500"/>
                                  </p:stCondLst>
                                  <p:childTnLst>
                                    <p:set>
                                      <p:cBhvr>
                                        <p:cTn id="31" dur="1" fill="hold">
                                          <p:stCondLst>
                                            <p:cond delay="0"/>
                                          </p:stCondLst>
                                        </p:cTn>
                                        <p:tgtEl>
                                          <p:spTgt spid="118"/>
                                        </p:tgtEl>
                                        <p:attrNameLst>
                                          <p:attrName>style.visibility</p:attrName>
                                        </p:attrNameLst>
                                      </p:cBhvr>
                                      <p:to>
                                        <p:strVal val="visible"/>
                                      </p:to>
                                    </p:set>
                                    <p:animEffect transition="in" filter="wipe(down)">
                                      <p:cBhvr>
                                        <p:cTn id="32" dur="5000"/>
                                        <p:tgtEl>
                                          <p:spTgt spid="118"/>
                                        </p:tgtEl>
                                      </p:cBhvr>
                                    </p:animEffect>
                                  </p:childTnLst>
                                </p:cTn>
                              </p:par>
                              <p:par>
                                <p:cTn id="33" presetID="1" presetClass="exit" presetSubtype="0" fill="hold" grpId="1" nodeType="withEffect">
                                  <p:stCondLst>
                                    <p:cond delay="2000"/>
                                  </p:stCondLst>
                                  <p:childTnLst>
                                    <p:set>
                                      <p:cBhvr>
                                        <p:cTn id="34" dur="1" fill="hold">
                                          <p:stCondLst>
                                            <p:cond delay="0"/>
                                          </p:stCondLst>
                                        </p:cTn>
                                        <p:tgtEl>
                                          <p:spTgt spid="98"/>
                                        </p:tgtEl>
                                        <p:attrNameLst>
                                          <p:attrName>style.visibility</p:attrName>
                                        </p:attrNameLst>
                                      </p:cBhvr>
                                      <p:to>
                                        <p:strVal val="hidden"/>
                                      </p:to>
                                    </p:set>
                                  </p:childTnLst>
                                </p:cTn>
                              </p:par>
                              <p:par>
                                <p:cTn id="35" presetID="22" presetClass="entr" presetSubtype="8" fill="hold" grpId="0" nodeType="withEffect">
                                  <p:stCondLst>
                                    <p:cond delay="2500"/>
                                  </p:stCondLst>
                                  <p:childTnLst>
                                    <p:set>
                                      <p:cBhvr>
                                        <p:cTn id="36" dur="1" fill="hold">
                                          <p:stCondLst>
                                            <p:cond delay="0"/>
                                          </p:stCondLst>
                                        </p:cTn>
                                        <p:tgtEl>
                                          <p:spTgt spid="167"/>
                                        </p:tgtEl>
                                        <p:attrNameLst>
                                          <p:attrName>style.visibility</p:attrName>
                                        </p:attrNameLst>
                                      </p:cBhvr>
                                      <p:to>
                                        <p:strVal val="visible"/>
                                      </p:to>
                                    </p:set>
                                    <p:animEffect transition="in" filter="wipe(left)">
                                      <p:cBhvr>
                                        <p:cTn id="37" dur="500"/>
                                        <p:tgtEl>
                                          <p:spTgt spid="167"/>
                                        </p:tgtEl>
                                      </p:cBhvr>
                                    </p:animEffect>
                                  </p:childTnLst>
                                </p:cTn>
                              </p:par>
                              <p:par>
                                <p:cTn id="38" presetID="1" presetClass="entr" presetSubtype="0" fill="hold" grpId="0" nodeType="withEffect">
                                  <p:stCondLst>
                                    <p:cond delay="2500"/>
                                  </p:stCondLst>
                                  <p:childTnLst>
                                    <p:set>
                                      <p:cBhvr>
                                        <p:cTn id="39" dur="1" fill="hold">
                                          <p:stCondLst>
                                            <p:cond delay="0"/>
                                          </p:stCondLst>
                                        </p:cTn>
                                        <p:tgtEl>
                                          <p:spTgt spid="104"/>
                                        </p:tgtEl>
                                        <p:attrNameLst>
                                          <p:attrName>style.visibility</p:attrName>
                                        </p:attrNameLst>
                                      </p:cBhvr>
                                      <p:to>
                                        <p:strVal val="visible"/>
                                      </p:to>
                                    </p:set>
                                  </p:childTnLst>
                                </p:cTn>
                              </p:par>
                              <p:par>
                                <p:cTn id="40" presetID="22" presetClass="entr" presetSubtype="4" fill="hold" grpId="2" nodeType="withEffect">
                                  <p:stCondLst>
                                    <p:cond delay="4500"/>
                                  </p:stCondLst>
                                  <p:childTnLst>
                                    <p:set>
                                      <p:cBhvr>
                                        <p:cTn id="41" dur="1" fill="hold">
                                          <p:stCondLst>
                                            <p:cond delay="0"/>
                                          </p:stCondLst>
                                        </p:cTn>
                                        <p:tgtEl>
                                          <p:spTgt spid="99"/>
                                        </p:tgtEl>
                                        <p:attrNameLst>
                                          <p:attrName>style.visibility</p:attrName>
                                        </p:attrNameLst>
                                      </p:cBhvr>
                                      <p:to>
                                        <p:strVal val="visible"/>
                                      </p:to>
                                    </p:set>
                                    <p:animEffect transition="in" filter="wipe(down)">
                                      <p:cBhvr>
                                        <p:cTn id="42" dur="450"/>
                                        <p:tgtEl>
                                          <p:spTgt spid="99"/>
                                        </p:tgtEl>
                                      </p:cBhvr>
                                    </p:animEffect>
                                  </p:childTnLst>
                                </p:cTn>
                              </p:par>
                            </p:childTnLst>
                          </p:cTn>
                        </p:par>
                        <p:par>
                          <p:cTn id="43" fill="hold">
                            <p:stCondLst>
                              <p:cond delay="16500"/>
                            </p:stCondLst>
                            <p:childTnLst>
                              <p:par>
                                <p:cTn id="44" presetID="22" presetClass="entr" presetSubtype="1" fill="hold" nodeType="afterEffect">
                                  <p:stCondLst>
                                    <p:cond delay="0"/>
                                  </p:stCondLst>
                                  <p:childTnLst>
                                    <p:set>
                                      <p:cBhvr>
                                        <p:cTn id="45" dur="1" fill="hold">
                                          <p:stCondLst>
                                            <p:cond delay="0"/>
                                          </p:stCondLst>
                                        </p:cTn>
                                        <p:tgtEl>
                                          <p:spTgt spid="120"/>
                                        </p:tgtEl>
                                        <p:attrNameLst>
                                          <p:attrName>style.visibility</p:attrName>
                                        </p:attrNameLst>
                                      </p:cBhvr>
                                      <p:to>
                                        <p:strVal val="visible"/>
                                      </p:to>
                                    </p:set>
                                    <p:animEffect transition="in" filter="wipe(up)">
                                      <p:cBhvr>
                                        <p:cTn id="46" dur="5000"/>
                                        <p:tgtEl>
                                          <p:spTgt spid="120"/>
                                        </p:tgtEl>
                                      </p:cBhvr>
                                    </p:animEffect>
                                  </p:childTnLst>
                                </p:cTn>
                              </p:par>
                              <p:par>
                                <p:cTn id="47" presetID="1" presetClass="exit" presetSubtype="0" fill="hold" grpId="3" nodeType="withEffect">
                                  <p:stCondLst>
                                    <p:cond delay="500"/>
                                  </p:stCondLst>
                                  <p:childTnLst>
                                    <p:set>
                                      <p:cBhvr>
                                        <p:cTn id="48" dur="1" fill="hold">
                                          <p:stCondLst>
                                            <p:cond delay="0"/>
                                          </p:stCondLst>
                                        </p:cTn>
                                        <p:tgtEl>
                                          <p:spTgt spid="99"/>
                                        </p:tgtEl>
                                        <p:attrNameLst>
                                          <p:attrName>style.visibility</p:attrName>
                                        </p:attrNameLst>
                                      </p:cBhvr>
                                      <p:to>
                                        <p:strVal val="hidden"/>
                                      </p:to>
                                    </p:set>
                                  </p:childTnLst>
                                </p:cTn>
                              </p:par>
                              <p:par>
                                <p:cTn id="49" presetID="22" presetClass="entr" presetSubtype="1" fill="hold" grpId="2" nodeType="withEffect">
                                  <p:stCondLst>
                                    <p:cond delay="3000"/>
                                  </p:stCondLst>
                                  <p:childTnLst>
                                    <p:set>
                                      <p:cBhvr>
                                        <p:cTn id="50" dur="1" fill="hold">
                                          <p:stCondLst>
                                            <p:cond delay="0"/>
                                          </p:stCondLst>
                                        </p:cTn>
                                        <p:tgtEl>
                                          <p:spTgt spid="98"/>
                                        </p:tgtEl>
                                        <p:attrNameLst>
                                          <p:attrName>style.visibility</p:attrName>
                                        </p:attrNameLst>
                                      </p:cBhvr>
                                      <p:to>
                                        <p:strVal val="visible"/>
                                      </p:to>
                                    </p:set>
                                    <p:animEffect transition="in" filter="wipe(up)">
                                      <p:cBhvr>
                                        <p:cTn id="51" dur="1500"/>
                                        <p:tgtEl>
                                          <p:spTgt spid="98"/>
                                        </p:tgtEl>
                                      </p:cBhvr>
                                    </p:animEffect>
                                  </p:childTnLst>
                                </p:cTn>
                              </p:par>
                            </p:childTnLst>
                          </p:cTn>
                        </p:par>
                        <p:par>
                          <p:cTn id="52" fill="hold">
                            <p:stCondLst>
                              <p:cond delay="21500"/>
                            </p:stCondLst>
                            <p:childTnLst>
                              <p:par>
                                <p:cTn id="53" presetID="22" presetClass="entr" presetSubtype="4" fill="hold" grpId="0" nodeType="afterEffect">
                                  <p:stCondLst>
                                    <p:cond delay="0"/>
                                  </p:stCondLst>
                                  <p:childTnLst>
                                    <p:set>
                                      <p:cBhvr>
                                        <p:cTn id="54" dur="1" fill="hold">
                                          <p:stCondLst>
                                            <p:cond delay="0"/>
                                          </p:stCondLst>
                                        </p:cTn>
                                        <p:tgtEl>
                                          <p:spTgt spid="125"/>
                                        </p:tgtEl>
                                        <p:attrNameLst>
                                          <p:attrName>style.visibility</p:attrName>
                                        </p:attrNameLst>
                                      </p:cBhvr>
                                      <p:to>
                                        <p:strVal val="visible"/>
                                      </p:to>
                                    </p:set>
                                    <p:animEffect transition="in" filter="wipe(down)">
                                      <p:cBhvr>
                                        <p:cTn id="55" dur="500"/>
                                        <p:tgtEl>
                                          <p:spTgt spid="125"/>
                                        </p:tgtEl>
                                      </p:cBhvr>
                                    </p:animEffect>
                                  </p:childTnLst>
                                </p:cTn>
                              </p:par>
                            </p:childTnLst>
                          </p:cTn>
                        </p:par>
                        <p:par>
                          <p:cTn id="56" fill="hold">
                            <p:stCondLst>
                              <p:cond delay="22000"/>
                            </p:stCondLst>
                            <p:childTnLst>
                              <p:par>
                                <p:cTn id="57" presetID="22" presetClass="entr" presetSubtype="4" fill="hold" nodeType="afterEffect">
                                  <p:stCondLst>
                                    <p:cond delay="0"/>
                                  </p:stCondLst>
                                  <p:childTnLst>
                                    <p:set>
                                      <p:cBhvr>
                                        <p:cTn id="58" dur="1" fill="hold">
                                          <p:stCondLst>
                                            <p:cond delay="0"/>
                                          </p:stCondLst>
                                        </p:cTn>
                                        <p:tgtEl>
                                          <p:spTgt spid="122"/>
                                        </p:tgtEl>
                                        <p:attrNameLst>
                                          <p:attrName>style.visibility</p:attrName>
                                        </p:attrNameLst>
                                      </p:cBhvr>
                                      <p:to>
                                        <p:strVal val="visible"/>
                                      </p:to>
                                    </p:set>
                                    <p:animEffect transition="in" filter="wipe(down)">
                                      <p:cBhvr>
                                        <p:cTn id="59" dur="5000"/>
                                        <p:tgtEl>
                                          <p:spTgt spid="122"/>
                                        </p:tgtEl>
                                      </p:cBhvr>
                                    </p:animEffect>
                                  </p:childTnLst>
                                </p:cTn>
                              </p:par>
                              <p:par>
                                <p:cTn id="60" presetID="1" presetClass="exit" presetSubtype="0" fill="hold" grpId="3" nodeType="withEffect">
                                  <p:stCondLst>
                                    <p:cond delay="2000"/>
                                  </p:stCondLst>
                                  <p:childTnLst>
                                    <p:set>
                                      <p:cBhvr>
                                        <p:cTn id="61" dur="1" fill="hold">
                                          <p:stCondLst>
                                            <p:cond delay="0"/>
                                          </p:stCondLst>
                                        </p:cTn>
                                        <p:tgtEl>
                                          <p:spTgt spid="98"/>
                                        </p:tgtEl>
                                        <p:attrNameLst>
                                          <p:attrName>style.visibility</p:attrName>
                                        </p:attrNameLst>
                                      </p:cBhvr>
                                      <p:to>
                                        <p:strVal val="hidden"/>
                                      </p:to>
                                    </p:set>
                                  </p:childTnLst>
                                </p:cTn>
                              </p:par>
                              <p:par>
                                <p:cTn id="62" presetID="1" presetClass="entr" presetSubtype="0" fill="hold" grpId="0" nodeType="withEffect">
                                  <p:stCondLst>
                                    <p:cond delay="2500"/>
                                  </p:stCondLst>
                                  <p:childTnLst>
                                    <p:set>
                                      <p:cBhvr>
                                        <p:cTn id="63" dur="1" fill="hold">
                                          <p:stCondLst>
                                            <p:cond delay="0"/>
                                          </p:stCondLst>
                                        </p:cTn>
                                        <p:tgtEl>
                                          <p:spTgt spid="128"/>
                                        </p:tgtEl>
                                        <p:attrNameLst>
                                          <p:attrName>style.visibility</p:attrName>
                                        </p:attrNameLst>
                                      </p:cBhvr>
                                      <p:to>
                                        <p:strVal val="visible"/>
                                      </p:to>
                                    </p:set>
                                  </p:childTnLst>
                                </p:cTn>
                              </p:par>
                              <p:par>
                                <p:cTn id="64" presetID="22" presetClass="entr" presetSubtype="8" fill="hold" grpId="0" nodeType="withEffect">
                                  <p:stCondLst>
                                    <p:cond delay="2500"/>
                                  </p:stCondLst>
                                  <p:childTnLst>
                                    <p:set>
                                      <p:cBhvr>
                                        <p:cTn id="65" dur="1" fill="hold">
                                          <p:stCondLst>
                                            <p:cond delay="0"/>
                                          </p:stCondLst>
                                        </p:cTn>
                                        <p:tgtEl>
                                          <p:spTgt spid="168"/>
                                        </p:tgtEl>
                                        <p:attrNameLst>
                                          <p:attrName>style.visibility</p:attrName>
                                        </p:attrNameLst>
                                      </p:cBhvr>
                                      <p:to>
                                        <p:strVal val="visible"/>
                                      </p:to>
                                    </p:set>
                                    <p:animEffect transition="in" filter="wipe(left)">
                                      <p:cBhvr>
                                        <p:cTn id="66" dur="500"/>
                                        <p:tgtEl>
                                          <p:spTgt spid="168"/>
                                        </p:tgtEl>
                                      </p:cBhvr>
                                    </p:animEffect>
                                  </p:childTnLst>
                                </p:cTn>
                              </p:par>
                              <p:par>
                                <p:cTn id="67" presetID="22" presetClass="entr" presetSubtype="4" fill="hold" grpId="4" nodeType="withEffect">
                                  <p:stCondLst>
                                    <p:cond delay="3500"/>
                                  </p:stCondLst>
                                  <p:childTnLst>
                                    <p:set>
                                      <p:cBhvr>
                                        <p:cTn id="68" dur="1" fill="hold">
                                          <p:stCondLst>
                                            <p:cond delay="0"/>
                                          </p:stCondLst>
                                        </p:cTn>
                                        <p:tgtEl>
                                          <p:spTgt spid="99"/>
                                        </p:tgtEl>
                                        <p:attrNameLst>
                                          <p:attrName>style.visibility</p:attrName>
                                        </p:attrNameLst>
                                      </p:cBhvr>
                                      <p:to>
                                        <p:strVal val="visible"/>
                                      </p:to>
                                    </p:set>
                                    <p:animEffect transition="in" filter="wipe(down)">
                                      <p:cBhvr>
                                        <p:cTn id="69" dur="1000"/>
                                        <p:tgtEl>
                                          <p:spTgt spid="9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121"/>
                                        </p:tgtEl>
                                        <p:attrNameLst>
                                          <p:attrName>style.visibility</p:attrName>
                                        </p:attrNameLst>
                                      </p:cBhvr>
                                      <p:to>
                                        <p:strVal val="visible"/>
                                      </p:to>
                                    </p:set>
                                    <p:animEffect transition="in" filter="wipe(up)">
                                      <p:cBhvr>
                                        <p:cTn id="74" dur="7000"/>
                                        <p:tgtEl>
                                          <p:spTgt spid="121"/>
                                        </p:tgtEl>
                                      </p:cBhvr>
                                    </p:animEffect>
                                  </p:childTnLst>
                                </p:cTn>
                              </p:par>
                              <p:par>
                                <p:cTn id="75" presetID="1" presetClass="exit" presetSubtype="0" fill="hold" grpId="5" nodeType="withEffect">
                                  <p:stCondLst>
                                    <p:cond delay="1000"/>
                                  </p:stCondLst>
                                  <p:childTnLst>
                                    <p:set>
                                      <p:cBhvr>
                                        <p:cTn id="76" dur="1" fill="hold">
                                          <p:stCondLst>
                                            <p:cond delay="0"/>
                                          </p:stCondLst>
                                        </p:cTn>
                                        <p:tgtEl>
                                          <p:spTgt spid="99"/>
                                        </p:tgtEl>
                                        <p:attrNameLst>
                                          <p:attrName>style.visibility</p:attrName>
                                        </p:attrNameLst>
                                      </p:cBhvr>
                                      <p:to>
                                        <p:strVal val="hidden"/>
                                      </p:to>
                                    </p:set>
                                  </p:childTnLst>
                                </p:cTn>
                              </p:par>
                              <p:par>
                                <p:cTn id="77" presetID="22" presetClass="entr" presetSubtype="1" fill="hold" grpId="4" nodeType="withEffect">
                                  <p:stCondLst>
                                    <p:cond delay="3500"/>
                                  </p:stCondLst>
                                  <p:childTnLst>
                                    <p:set>
                                      <p:cBhvr>
                                        <p:cTn id="78" dur="1" fill="hold">
                                          <p:stCondLst>
                                            <p:cond delay="0"/>
                                          </p:stCondLst>
                                        </p:cTn>
                                        <p:tgtEl>
                                          <p:spTgt spid="98"/>
                                        </p:tgtEl>
                                        <p:attrNameLst>
                                          <p:attrName>style.visibility</p:attrName>
                                        </p:attrNameLst>
                                      </p:cBhvr>
                                      <p:to>
                                        <p:strVal val="visible"/>
                                      </p:to>
                                    </p:set>
                                    <p:animEffect transition="in" filter="wipe(up)">
                                      <p:cBhvr>
                                        <p:cTn id="79" dur="1250"/>
                                        <p:tgtEl>
                                          <p:spTgt spid="98"/>
                                        </p:tgtEl>
                                      </p:cBhvr>
                                    </p:animEffect>
                                  </p:childTnLst>
                                </p:cTn>
                              </p:par>
                              <p:par>
                                <p:cTn id="80" presetID="1" presetClass="entr" presetSubtype="0" fill="hold" grpId="0" nodeType="withEffect">
                                  <p:stCondLst>
                                    <p:cond delay="4000"/>
                                  </p:stCondLst>
                                  <p:childTnLst>
                                    <p:set>
                                      <p:cBhvr>
                                        <p:cTn id="81" dur="1" fill="hold">
                                          <p:stCondLst>
                                            <p:cond delay="0"/>
                                          </p:stCondLst>
                                        </p:cTn>
                                        <p:tgtEl>
                                          <p:spTgt spid="126"/>
                                        </p:tgtEl>
                                        <p:attrNameLst>
                                          <p:attrName>style.visibility</p:attrName>
                                        </p:attrNameLst>
                                      </p:cBhvr>
                                      <p:to>
                                        <p:strVal val="visible"/>
                                      </p:to>
                                    </p:set>
                                  </p:childTnLst>
                                </p:cTn>
                              </p:par>
                              <p:par>
                                <p:cTn id="82" presetID="9" presetClass="exit" presetSubtype="0" fill="hold" grpId="1" nodeType="withEffect">
                                  <p:stCondLst>
                                    <p:cond delay="4500"/>
                                  </p:stCondLst>
                                  <p:childTnLst>
                                    <p:animEffect transition="out" filter="dissolve">
                                      <p:cBhvr>
                                        <p:cTn id="83" dur="2000"/>
                                        <p:tgtEl>
                                          <p:spTgt spid="126"/>
                                        </p:tgtEl>
                                      </p:cBhvr>
                                    </p:animEffect>
                                    <p:set>
                                      <p:cBhvr>
                                        <p:cTn id="84" dur="1" fill="hold">
                                          <p:stCondLst>
                                            <p:cond delay="1999"/>
                                          </p:stCondLst>
                                        </p:cTn>
                                        <p:tgtEl>
                                          <p:spTgt spid="126"/>
                                        </p:tgtEl>
                                        <p:attrNameLst>
                                          <p:attrName>style.visibility</p:attrName>
                                        </p:attrNameLst>
                                      </p:cBhvr>
                                      <p:to>
                                        <p:strVal val="hidden"/>
                                      </p:to>
                                    </p:set>
                                  </p:childTnLst>
                                </p:cTn>
                              </p:par>
                              <p:par>
                                <p:cTn id="85" presetID="1" presetClass="entr" presetSubtype="0" fill="hold" grpId="0" nodeType="withEffect">
                                  <p:stCondLst>
                                    <p:cond delay="4500"/>
                                  </p:stCondLst>
                                  <p:childTnLst>
                                    <p:set>
                                      <p:cBhvr>
                                        <p:cTn id="86" dur="1" fill="hold">
                                          <p:stCondLst>
                                            <p:cond delay="0"/>
                                          </p:stCondLst>
                                        </p:cTn>
                                        <p:tgtEl>
                                          <p:spTgt spid="169"/>
                                        </p:tgtEl>
                                        <p:attrNameLst>
                                          <p:attrName>style.visibility</p:attrName>
                                        </p:attrNameLst>
                                      </p:cBhvr>
                                      <p:to>
                                        <p:strVal val="visible"/>
                                      </p:to>
                                    </p:set>
                                  </p:childTnLst>
                                </p:cTn>
                              </p:par>
                              <p:par>
                                <p:cTn id="87" presetID="22" presetClass="entr" presetSubtype="8" fill="hold" grpId="0" nodeType="withEffect">
                                  <p:stCondLst>
                                    <p:cond delay="4500"/>
                                  </p:stCondLst>
                                  <p:childTnLst>
                                    <p:set>
                                      <p:cBhvr>
                                        <p:cTn id="88" dur="1" fill="hold">
                                          <p:stCondLst>
                                            <p:cond delay="0"/>
                                          </p:stCondLst>
                                        </p:cTn>
                                        <p:tgtEl>
                                          <p:spTgt spid="170"/>
                                        </p:tgtEl>
                                        <p:attrNameLst>
                                          <p:attrName>style.visibility</p:attrName>
                                        </p:attrNameLst>
                                      </p:cBhvr>
                                      <p:to>
                                        <p:strVal val="visible"/>
                                      </p:to>
                                    </p:set>
                                    <p:animEffect transition="in" filter="wipe(left)">
                                      <p:cBhvr>
                                        <p:cTn id="89" dur="500"/>
                                        <p:tgtEl>
                                          <p:spTgt spid="170"/>
                                        </p:tgtEl>
                                      </p:cBhvr>
                                    </p:animEffect>
                                  </p:childTnLst>
                                </p:cTn>
                              </p:par>
                            </p:childTnLst>
                          </p:cTn>
                        </p:par>
                        <p:par>
                          <p:cTn id="90" fill="hold">
                            <p:stCondLst>
                              <p:cond delay="7000"/>
                            </p:stCondLst>
                            <p:childTnLst>
                              <p:par>
                                <p:cTn id="91" presetID="1" presetClass="entr" presetSubtype="0" fill="hold" grpId="0" nodeType="afterEffect">
                                  <p:stCondLst>
                                    <p:cond delay="0"/>
                                  </p:stCondLst>
                                  <p:childTnLst>
                                    <p:set>
                                      <p:cBhvr>
                                        <p:cTn id="92" dur="1" fill="hold">
                                          <p:stCondLst>
                                            <p:cond delay="0"/>
                                          </p:stCondLst>
                                        </p:cTn>
                                        <p:tgtEl>
                                          <p:spTgt spid="171"/>
                                        </p:tgtEl>
                                        <p:attrNameLst>
                                          <p:attrName>style.visibility</p:attrName>
                                        </p:attrNameLst>
                                      </p:cBhvr>
                                      <p:to>
                                        <p:strVal val="visible"/>
                                      </p:to>
                                    </p:set>
                                  </p:childTnLst>
                                </p:cTn>
                              </p:par>
                            </p:childTnLst>
                          </p:cTn>
                        </p:par>
                        <p:par>
                          <p:cTn id="93" fill="hold">
                            <p:stCondLst>
                              <p:cond delay="7000"/>
                            </p:stCondLst>
                            <p:childTnLst>
                              <p:par>
                                <p:cTn id="94" presetID="22" presetClass="entr" presetSubtype="8" fill="hold" grpId="0" nodeType="afterEffect">
                                  <p:stCondLst>
                                    <p:cond delay="0"/>
                                  </p:stCondLst>
                                  <p:childTnLst>
                                    <p:set>
                                      <p:cBhvr>
                                        <p:cTn id="95" dur="1" fill="hold">
                                          <p:stCondLst>
                                            <p:cond delay="0"/>
                                          </p:stCondLst>
                                        </p:cTn>
                                        <p:tgtEl>
                                          <p:spTgt spid="172"/>
                                        </p:tgtEl>
                                        <p:attrNameLst>
                                          <p:attrName>style.visibility</p:attrName>
                                        </p:attrNameLst>
                                      </p:cBhvr>
                                      <p:to>
                                        <p:strVal val="visible"/>
                                      </p:to>
                                    </p:set>
                                    <p:animEffect transition="in" filter="wipe(left)">
                                      <p:cBhvr>
                                        <p:cTn id="96" dur="500"/>
                                        <p:tgtEl>
                                          <p:spTgt spid="172"/>
                                        </p:tgtEl>
                                      </p:cBhvr>
                                    </p:animEffect>
                                  </p:childTnLst>
                                </p:cTn>
                              </p:par>
                              <p:par>
                                <p:cTn id="97" presetID="22" presetClass="entr" presetSubtype="4" fill="hold" grpId="0" nodeType="withEffect">
                                  <p:stCondLst>
                                    <p:cond delay="2000"/>
                                  </p:stCondLst>
                                  <p:childTnLst>
                                    <p:set>
                                      <p:cBhvr>
                                        <p:cTn id="98" dur="1" fill="hold">
                                          <p:stCondLst>
                                            <p:cond delay="0"/>
                                          </p:stCondLst>
                                        </p:cTn>
                                        <p:tgtEl>
                                          <p:spTgt spid="127"/>
                                        </p:tgtEl>
                                        <p:attrNameLst>
                                          <p:attrName>style.visibility</p:attrName>
                                        </p:attrNameLst>
                                      </p:cBhvr>
                                      <p:to>
                                        <p:strVal val="visible"/>
                                      </p:to>
                                    </p:set>
                                    <p:animEffect transition="in" filter="wipe(down)">
                                      <p:cBhvr>
                                        <p:cTn id="99"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p:bldP spid="98" grpId="1" animBg="1"/>
      <p:bldP spid="98" grpId="2" animBg="1"/>
      <p:bldP spid="98" grpId="3" animBg="1"/>
      <p:bldP spid="98" grpId="4" animBg="1"/>
      <p:bldP spid="99" grpId="0" animBg="1"/>
      <p:bldP spid="99" grpId="1" animBg="1"/>
      <p:bldP spid="99" grpId="2" animBg="1"/>
      <p:bldP spid="99" grpId="3" animBg="1"/>
      <p:bldP spid="99" grpId="4" animBg="1"/>
      <p:bldP spid="99" grpId="5" animBg="1"/>
      <p:bldP spid="104" grpId="0"/>
      <p:bldP spid="105" grpId="0" animBg="1"/>
      <p:bldP spid="123" grpId="0" animBg="1"/>
      <p:bldP spid="125" grpId="0" animBg="1"/>
      <p:bldP spid="126" grpId="0"/>
      <p:bldP spid="126" grpId="1"/>
      <p:bldP spid="127" grpId="0" animBg="1"/>
      <p:bldP spid="128" grpId="0"/>
      <p:bldP spid="167" grpId="0" animBg="1"/>
      <p:bldP spid="168" grpId="0" animBg="1"/>
      <p:bldP spid="169" grpId="0"/>
      <p:bldP spid="170" grpId="0" animBg="1"/>
      <p:bldP spid="171" grpId="0"/>
      <p:bldP spid="17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Prodromal Parkinson’s disease </a:t>
            </a:r>
          </a:p>
        </p:txBody>
      </p:sp>
      <p:sp>
        <p:nvSpPr>
          <p:cNvPr id="5" name="Text Placeholder 4">
            <a:extLst>
              <a:ext uri="{FF2B5EF4-FFF2-40B4-BE49-F238E27FC236}">
                <a16:creationId xmlns:a16="http://schemas.microsoft.com/office/drawing/2014/main" id="{A5428AA0-2C07-4EAD-906F-08FE15BC670E}"/>
              </a:ext>
            </a:extLst>
          </p:cNvPr>
          <p:cNvSpPr>
            <a:spLocks noGrp="1"/>
          </p:cNvSpPr>
          <p:nvPr>
            <p:ph type="body" idx="1"/>
          </p:nvPr>
        </p:nvSpPr>
        <p:spPr/>
        <p:txBody>
          <a:bodyPr/>
          <a:lstStyle/>
          <a:p>
            <a:endParaRPr lang="da-DK"/>
          </a:p>
        </p:txBody>
      </p:sp>
    </p:spTree>
    <p:custDataLst>
      <p:tags r:id="rId1"/>
    </p:custDataLst>
    <p:extLst>
      <p:ext uri="{BB962C8B-B14F-4D97-AF65-F5344CB8AC3E}">
        <p14:creationId xmlns:p14="http://schemas.microsoft.com/office/powerpoint/2010/main" val="3481500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2" name="Title 1"/>
          <p:cNvSpPr>
            <a:spLocks noGrp="1"/>
          </p:cNvSpPr>
          <p:nvPr>
            <p:ph type="title"/>
          </p:nvPr>
        </p:nvSpPr>
        <p:spPr/>
        <p:txBody>
          <a:bodyPr/>
          <a:lstStyle/>
          <a:p>
            <a:r>
              <a:rPr lang="en-GB"/>
              <a:t>MDS research criteria for prodromal Parkinson’s disease</a:t>
            </a:r>
          </a:p>
        </p:txBody>
      </p:sp>
      <p:sp>
        <p:nvSpPr>
          <p:cNvPr id="6" name="Content Placeholder 5"/>
          <p:cNvSpPr>
            <a:spLocks noGrp="1"/>
          </p:cNvSpPr>
          <p:nvPr>
            <p:ph idx="20"/>
          </p:nvPr>
        </p:nvSpPr>
        <p:spPr/>
        <p:txBody>
          <a:bodyPr>
            <a:noAutofit/>
          </a:bodyPr>
          <a:lstStyle/>
          <a:p>
            <a:r>
              <a:rPr lang="en-GB" dirty="0"/>
              <a:t>The probability of having prodromal PD is estimated based on age (i.e., the prior probability)</a:t>
            </a:r>
            <a:r>
              <a:rPr lang="en-GB" baseline="30000" dirty="0"/>
              <a:t>1,2</a:t>
            </a:r>
            <a:endParaRPr lang="en-GB" dirty="0"/>
          </a:p>
          <a:p>
            <a:r>
              <a:rPr lang="en-GB" dirty="0"/>
              <a:t>Diagnostic information is obtained on as many variables as possible. These can include:</a:t>
            </a:r>
            <a:r>
              <a:rPr lang="en-GB" baseline="30000" dirty="0"/>
              <a:t>1,2</a:t>
            </a:r>
            <a:endParaRPr lang="en-GB" dirty="0"/>
          </a:p>
          <a:p>
            <a:pPr lvl="1"/>
            <a:r>
              <a:rPr lang="en-GB" dirty="0"/>
              <a:t>Environmental risk variables </a:t>
            </a:r>
            <a:br>
              <a:rPr lang="en-GB" dirty="0"/>
            </a:br>
            <a:r>
              <a:rPr lang="en-GB" dirty="0"/>
              <a:t>(e.g., sex, smoking, caffeine use)</a:t>
            </a:r>
          </a:p>
          <a:p>
            <a:pPr lvl="1"/>
            <a:r>
              <a:rPr lang="en-GB" dirty="0"/>
              <a:t>Genetic risk variables </a:t>
            </a:r>
            <a:br>
              <a:rPr lang="en-GB" dirty="0"/>
            </a:br>
            <a:r>
              <a:rPr lang="en-GB" dirty="0"/>
              <a:t>(from family history or results of genetic testing)</a:t>
            </a:r>
          </a:p>
          <a:p>
            <a:pPr lvl="1"/>
            <a:r>
              <a:rPr lang="en-GB" dirty="0"/>
              <a:t>Physiological risk variables</a:t>
            </a:r>
            <a:br>
              <a:rPr lang="en-GB" dirty="0"/>
            </a:br>
            <a:r>
              <a:rPr lang="en-GB" dirty="0"/>
              <a:t>(e.g., constipation, hyposmia, motor testing)</a:t>
            </a:r>
          </a:p>
          <a:p>
            <a:pPr lvl="1"/>
            <a:r>
              <a:rPr lang="en-GB" dirty="0"/>
              <a:t>Cognitive risk variables</a:t>
            </a:r>
            <a:br>
              <a:rPr lang="en-GB" dirty="0"/>
            </a:br>
            <a:r>
              <a:rPr lang="en-GB" dirty="0"/>
              <a:t>(e.g., depression, global cognitive deficit)</a:t>
            </a:r>
          </a:p>
          <a:p>
            <a:pPr lvl="1"/>
            <a:r>
              <a:rPr lang="en-GB" dirty="0"/>
              <a:t>Biomarker testing </a:t>
            </a:r>
            <a:br>
              <a:rPr lang="en-GB" dirty="0"/>
            </a:br>
            <a:r>
              <a:rPr lang="en-GB" dirty="0"/>
              <a:t>(e.g., dopaminergic imaging)</a:t>
            </a:r>
          </a:p>
        </p:txBody>
      </p:sp>
      <p:sp>
        <p:nvSpPr>
          <p:cNvPr id="7" name="Content Placeholder 6"/>
          <p:cNvSpPr>
            <a:spLocks noGrp="1"/>
          </p:cNvSpPr>
          <p:nvPr>
            <p:ph idx="21"/>
          </p:nvPr>
        </p:nvSpPr>
        <p:spPr/>
        <p:txBody>
          <a:bodyPr>
            <a:noAutofit/>
          </a:bodyPr>
          <a:lstStyle/>
          <a:p>
            <a:pPr marL="180975" indent="0">
              <a:buNone/>
            </a:pPr>
            <a:r>
              <a:rPr lang="en-GB" dirty="0">
                <a:solidFill>
                  <a:schemeClr val="tx1"/>
                </a:solidFill>
              </a:rPr>
              <a:t>The diagnostic strength of each variable is expressed as a likelihood ratio; positive test results increase the disease probability (ratio &gt;1), and negative test results decrease the disease probability (ratio &lt;1)</a:t>
            </a:r>
            <a:r>
              <a:rPr lang="en-GB" baseline="30000" dirty="0">
                <a:solidFill>
                  <a:schemeClr val="tx1"/>
                </a:solidFill>
              </a:rPr>
              <a:t>1,2</a:t>
            </a:r>
            <a:endParaRPr lang="en-GB" dirty="0">
              <a:solidFill>
                <a:schemeClr val="tx1"/>
              </a:solidFill>
            </a:endParaRPr>
          </a:p>
          <a:p>
            <a:r>
              <a:rPr lang="en-GB" dirty="0">
                <a:solidFill>
                  <a:schemeClr val="tx1"/>
                </a:solidFill>
              </a:rPr>
              <a:t>Once all information has been collected, all likelihood ratios are multiplied by each other. The total likelihood ratio for an individual patient is then compared with the threshold required to give more than an 80% probability of having prodromal PD (this ranges from likelihood ratio 95–1,000, depending on age)</a:t>
            </a:r>
            <a:r>
              <a:rPr lang="en-GB" baseline="30000" dirty="0">
                <a:solidFill>
                  <a:schemeClr val="tx1"/>
                </a:solidFill>
              </a:rPr>
              <a:t>1,2</a:t>
            </a:r>
            <a:endParaRPr lang="en-GB" dirty="0">
              <a:solidFill>
                <a:schemeClr val="tx1"/>
              </a:solidFill>
            </a:endParaRPr>
          </a:p>
          <a:p>
            <a:pPr marL="180975" indent="0">
              <a:buNone/>
            </a:pPr>
            <a:r>
              <a:rPr lang="en-GB" b="1" dirty="0">
                <a:solidFill>
                  <a:schemeClr val="tx1"/>
                </a:solidFill>
              </a:rPr>
              <a:t>If this threshold is met, probable prodromal PD is diagnosed</a:t>
            </a:r>
            <a:r>
              <a:rPr lang="en-GB" b="1" baseline="30000" dirty="0">
                <a:solidFill>
                  <a:schemeClr val="tx1"/>
                </a:solidFill>
              </a:rPr>
              <a:t>1,2</a:t>
            </a:r>
            <a:endParaRPr lang="en-GB" baseline="30000" dirty="0">
              <a:solidFill>
                <a:schemeClr val="tx1"/>
              </a:solidFill>
            </a:endParaRPr>
          </a:p>
        </p:txBody>
      </p:sp>
      <p:sp>
        <p:nvSpPr>
          <p:cNvPr id="3" name="Text Placeholder 2">
            <a:extLst>
              <a:ext uri="{FF2B5EF4-FFF2-40B4-BE49-F238E27FC236}">
                <a16:creationId xmlns:a16="http://schemas.microsoft.com/office/drawing/2014/main" id="{1B81655F-B06E-4E25-ACBC-3A06F2695C3A}"/>
              </a:ext>
            </a:extLst>
          </p:cNvPr>
          <p:cNvSpPr>
            <a:spLocks noGrp="1"/>
          </p:cNvSpPr>
          <p:nvPr>
            <p:ph type="body" sz="quarter" idx="18"/>
          </p:nvPr>
        </p:nvSpPr>
        <p:spPr/>
        <p:txBody>
          <a:bodyPr/>
          <a:lstStyle/>
          <a:p>
            <a:r>
              <a:rPr lang="en-GB" dirty="0"/>
              <a:t>MDS=Movement Disorder Society; PD=Parkinson’s disease</a:t>
            </a:r>
          </a:p>
          <a:p>
            <a:endParaRPr lang="en-GB" dirty="0"/>
          </a:p>
          <a:p>
            <a:r>
              <a:rPr lang="en-GB" dirty="0"/>
              <a:t>1. Berg et al. Mov </a:t>
            </a:r>
            <a:r>
              <a:rPr lang="en-GB" dirty="0" err="1"/>
              <a:t>Disord</a:t>
            </a:r>
            <a:r>
              <a:rPr lang="en-GB" dirty="0"/>
              <a:t> 2015;30(12):1600–1611; 2. </a:t>
            </a:r>
            <a:r>
              <a:rPr lang="en-GB" dirty="0" err="1"/>
              <a:t>Heinzel</a:t>
            </a:r>
            <a:r>
              <a:rPr lang="en-GB" dirty="0"/>
              <a:t> et al. Mov </a:t>
            </a:r>
            <a:r>
              <a:rPr lang="en-GB" dirty="0" err="1"/>
              <a:t>Disord</a:t>
            </a:r>
            <a:r>
              <a:rPr lang="en-GB" dirty="0"/>
              <a:t> 2019;34(10):1464–1470</a:t>
            </a:r>
          </a:p>
        </p:txBody>
      </p:sp>
      <p:sp>
        <p:nvSpPr>
          <p:cNvPr id="4" name="Slide Number Placeholder 3"/>
          <p:cNvSpPr>
            <a:spLocks noGrp="1"/>
          </p:cNvSpPr>
          <p:nvPr>
            <p:ph type="sldNum" sz="quarter" idx="4"/>
          </p:nvPr>
        </p:nvSpPr>
        <p:spPr/>
        <p:txBody>
          <a:bodyPr/>
          <a:lstStyle/>
          <a:p>
            <a:fld id="{6DBC486D-4FAB-B746-8B02-8D7C842291C6}" type="slidenum">
              <a:rPr lang="en-GB" smtClean="0"/>
              <a:t>13</a:t>
            </a:fld>
            <a:endParaRPr lang="en-GB"/>
          </a:p>
        </p:txBody>
      </p:sp>
      <p:sp>
        <p:nvSpPr>
          <p:cNvPr id="8" name="Rectangle: Rounded Corners 7"/>
          <p:cNvSpPr/>
          <p:nvPr/>
        </p:nvSpPr>
        <p:spPr>
          <a:xfrm>
            <a:off x="838714" y="5334139"/>
            <a:ext cx="10515086" cy="613053"/>
          </a:xfrm>
          <a:prstGeom prst="roundRect">
            <a:avLst>
              <a:gd name="adj" fmla="val 8392"/>
            </a:avLst>
          </a:prstGeom>
          <a:solidFill>
            <a:srgbClr val="D9D1CC"/>
          </a:solidFill>
          <a:ln w="19050">
            <a:noFill/>
          </a:ln>
        </p:spPr>
        <p:txBody>
          <a:bodyPr wrap="square">
            <a:spAutoFit/>
          </a:bodyPr>
          <a:lstStyle/>
          <a:p>
            <a:pPr algn="ctr"/>
            <a:r>
              <a:rPr lang="en-GB" sz="1600">
                <a:latin typeface="Arial" panose="020B0604020202020204" pitchFamily="34" charset="0"/>
                <a:cs typeface="Arial" panose="020B0604020202020204" pitchFamily="34" charset="0"/>
              </a:rPr>
              <a:t>Prodromal PD refers to the stage wherein early signs or symptoms of neurodegeneration are present, but classic clinical diagnosis based on fully evolved motor parkinsonism is not yet possible</a:t>
            </a:r>
            <a:r>
              <a:rPr lang="en-GB" sz="1600" baseline="30000">
                <a:latin typeface="Arial" panose="020B0604020202020204" pitchFamily="34" charset="0"/>
                <a:cs typeface="Arial" panose="020B0604020202020204" pitchFamily="34" charset="0"/>
              </a:rPr>
              <a:t>1,2</a:t>
            </a:r>
            <a:endParaRPr lang="en-GB" sz="160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718489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7E5728E-F26A-8B0E-0917-C19B043F7BCD}"/>
              </a:ext>
            </a:extLst>
          </p:cNvPr>
          <p:cNvSpPr>
            <a:spLocks noGrp="1"/>
          </p:cNvSpPr>
          <p:nvPr>
            <p:ph sz="half" idx="1"/>
          </p:nvPr>
        </p:nvSpPr>
        <p:spPr>
          <a:solidFill>
            <a:srgbClr val="D9D1CC"/>
          </a:solidFill>
        </p:spPr>
        <p:txBody>
          <a:bodyPr/>
          <a:lstStyle/>
          <a:p>
            <a:pPr marL="0" indent="0">
              <a:buNone/>
            </a:pPr>
            <a:r>
              <a:rPr lang="en-GB"/>
              <a:t>This study examined the medical records of </a:t>
            </a:r>
            <a:r>
              <a:rPr lang="en-US"/>
              <a:t>8,166 people with PD and 46,755 controls, analyzing the presence of various symptoms before the diagnosis of PD</a:t>
            </a:r>
            <a:endParaRPr lang="en-GB"/>
          </a:p>
        </p:txBody>
      </p:sp>
      <p:sp>
        <p:nvSpPr>
          <p:cNvPr id="5" name="Text Placeholder 4">
            <a:extLst>
              <a:ext uri="{FF2B5EF4-FFF2-40B4-BE49-F238E27FC236}">
                <a16:creationId xmlns:a16="http://schemas.microsoft.com/office/drawing/2014/main" id="{F8777482-6E19-1A9F-603F-211539E4748E}"/>
              </a:ext>
            </a:extLst>
          </p:cNvPr>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3" name="Title 2">
            <a:extLst>
              <a:ext uri="{FF2B5EF4-FFF2-40B4-BE49-F238E27FC236}">
                <a16:creationId xmlns:a16="http://schemas.microsoft.com/office/drawing/2014/main" id="{B0D83A88-D5A2-C8CC-65DD-590BEF1B236D}"/>
              </a:ext>
            </a:extLst>
          </p:cNvPr>
          <p:cNvSpPr>
            <a:spLocks noGrp="1"/>
          </p:cNvSpPr>
          <p:nvPr>
            <p:ph type="title"/>
          </p:nvPr>
        </p:nvSpPr>
        <p:spPr/>
        <p:txBody>
          <a:bodyPr/>
          <a:lstStyle/>
          <a:p>
            <a:r>
              <a:rPr lang="en-GB"/>
              <a:t>Symptoms of prodromal Parkinson’s disease</a:t>
            </a:r>
          </a:p>
        </p:txBody>
      </p:sp>
      <p:sp>
        <p:nvSpPr>
          <p:cNvPr id="16" name="Text Placeholder 15">
            <a:extLst>
              <a:ext uri="{FF2B5EF4-FFF2-40B4-BE49-F238E27FC236}">
                <a16:creationId xmlns:a16="http://schemas.microsoft.com/office/drawing/2014/main" id="{375FD895-8943-B694-6614-51D5A16BA7F7}"/>
              </a:ext>
            </a:extLst>
          </p:cNvPr>
          <p:cNvSpPr>
            <a:spLocks noGrp="1"/>
          </p:cNvSpPr>
          <p:nvPr>
            <p:ph type="body" sz="quarter" idx="18"/>
          </p:nvPr>
        </p:nvSpPr>
        <p:spPr/>
        <p:txBody>
          <a:bodyPr/>
          <a:lstStyle/>
          <a:p>
            <a:r>
              <a:rPr lang="en-GB" dirty="0"/>
              <a:t>PD=Parkinson’s disease</a:t>
            </a:r>
          </a:p>
          <a:p>
            <a:endParaRPr lang="en-GB" dirty="0"/>
          </a:p>
          <a:p>
            <a:r>
              <a:rPr lang="en-GB" dirty="0"/>
              <a:t>Schrag et al. </a:t>
            </a:r>
            <a:r>
              <a:rPr lang="fr-FR" dirty="0"/>
              <a:t>Lancet </a:t>
            </a:r>
            <a:r>
              <a:rPr lang="fr-FR" dirty="0" err="1"/>
              <a:t>Neurol</a:t>
            </a:r>
            <a:r>
              <a:rPr lang="fr-FR" dirty="0"/>
              <a:t> 2015;14(1):57–64</a:t>
            </a:r>
            <a:endParaRPr lang="en-GB" dirty="0"/>
          </a:p>
        </p:txBody>
      </p:sp>
      <p:sp>
        <p:nvSpPr>
          <p:cNvPr id="7" name="Slide Number Placeholder 6">
            <a:extLst>
              <a:ext uri="{FF2B5EF4-FFF2-40B4-BE49-F238E27FC236}">
                <a16:creationId xmlns:a16="http://schemas.microsoft.com/office/drawing/2014/main" id="{742E1D67-AC20-68CA-CCD5-05F0DB9DF06F}"/>
              </a:ext>
            </a:extLst>
          </p:cNvPr>
          <p:cNvSpPr>
            <a:spLocks noGrp="1"/>
          </p:cNvSpPr>
          <p:nvPr>
            <p:ph type="sldNum" sz="quarter" idx="4"/>
          </p:nvPr>
        </p:nvSpPr>
        <p:spPr/>
        <p:txBody>
          <a:bodyPr/>
          <a:lstStyle/>
          <a:p>
            <a:fld id="{6DBC486D-4FAB-B746-8B02-8D7C842291C6}" type="slidenum">
              <a:rPr lang="en-US" smtClean="0"/>
              <a:pPr/>
              <a:t>14</a:t>
            </a:fld>
            <a:endParaRPr lang="en-US"/>
          </a:p>
        </p:txBody>
      </p:sp>
      <p:sp>
        <p:nvSpPr>
          <p:cNvPr id="18" name="TextBox 17">
            <a:extLst>
              <a:ext uri="{FF2B5EF4-FFF2-40B4-BE49-F238E27FC236}">
                <a16:creationId xmlns:a16="http://schemas.microsoft.com/office/drawing/2014/main" id="{EEB17DC0-C77E-3E0B-B082-5AEE26B2BB7F}"/>
              </a:ext>
            </a:extLst>
          </p:cNvPr>
          <p:cNvSpPr txBox="1"/>
          <p:nvPr/>
        </p:nvSpPr>
        <p:spPr>
          <a:xfrm>
            <a:off x="539750" y="1293880"/>
            <a:ext cx="8064000" cy="307777"/>
          </a:xfrm>
          <a:prstGeom prst="rect">
            <a:avLst/>
          </a:prstGeom>
          <a:noFill/>
        </p:spPr>
        <p:txBody>
          <a:bodyPr wrap="square" rtlCol="0">
            <a:spAutoFit/>
          </a:bodyPr>
          <a:lstStyle/>
          <a:p>
            <a:pPr algn="ctr"/>
            <a:r>
              <a:rPr lang="en-US" sz="1400" b="1" dirty="0">
                <a:solidFill>
                  <a:schemeClr val="accent5">
                    <a:lumMod val="50000"/>
                  </a:schemeClr>
                </a:solidFill>
              </a:rPr>
              <a:t>Risk ratios of symptoms of people with PD at 2, 5, and 10 years before diagnosis</a:t>
            </a:r>
            <a:endParaRPr lang="en-GB" sz="1400" b="1" baseline="30000" dirty="0">
              <a:solidFill>
                <a:schemeClr val="accent5">
                  <a:lumMod val="50000"/>
                </a:schemeClr>
              </a:solidFill>
            </a:endParaRPr>
          </a:p>
        </p:txBody>
      </p:sp>
      <p:graphicFrame>
        <p:nvGraphicFramePr>
          <p:cNvPr id="2" name="Table 1">
            <a:extLst>
              <a:ext uri="{FF2B5EF4-FFF2-40B4-BE49-F238E27FC236}">
                <a16:creationId xmlns:a16="http://schemas.microsoft.com/office/drawing/2014/main" id="{ADDBEE38-D354-AB45-2DB7-8BC27383D43A}"/>
              </a:ext>
            </a:extLst>
          </p:cNvPr>
          <p:cNvGraphicFramePr>
            <a:graphicFrameLocks noGrp="1"/>
          </p:cNvGraphicFramePr>
          <p:nvPr>
            <p:extLst>
              <p:ext uri="{D42A27DB-BD31-4B8C-83A1-F6EECF244321}">
                <p14:modId xmlns:p14="http://schemas.microsoft.com/office/powerpoint/2010/main" val="3577342765"/>
              </p:ext>
            </p:extLst>
          </p:nvPr>
        </p:nvGraphicFramePr>
        <p:xfrm>
          <a:off x="539749" y="1608874"/>
          <a:ext cx="8064000" cy="4401696"/>
        </p:xfrm>
        <a:graphic>
          <a:graphicData uri="http://schemas.openxmlformats.org/drawingml/2006/table">
            <a:tbl>
              <a:tblPr/>
              <a:tblGrid>
                <a:gridCol w="2124000">
                  <a:extLst>
                    <a:ext uri="{9D8B030D-6E8A-4147-A177-3AD203B41FA5}">
                      <a16:colId xmlns:a16="http://schemas.microsoft.com/office/drawing/2014/main" val="429127758"/>
                    </a:ext>
                  </a:extLst>
                </a:gridCol>
                <a:gridCol w="1980000">
                  <a:extLst>
                    <a:ext uri="{9D8B030D-6E8A-4147-A177-3AD203B41FA5}">
                      <a16:colId xmlns:a16="http://schemas.microsoft.com/office/drawing/2014/main" val="1250626903"/>
                    </a:ext>
                  </a:extLst>
                </a:gridCol>
                <a:gridCol w="1980000">
                  <a:extLst>
                    <a:ext uri="{9D8B030D-6E8A-4147-A177-3AD203B41FA5}">
                      <a16:colId xmlns:a16="http://schemas.microsoft.com/office/drawing/2014/main" val="2850729016"/>
                    </a:ext>
                  </a:extLst>
                </a:gridCol>
                <a:gridCol w="1980000">
                  <a:extLst>
                    <a:ext uri="{9D8B030D-6E8A-4147-A177-3AD203B41FA5}">
                      <a16:colId xmlns:a16="http://schemas.microsoft.com/office/drawing/2014/main" val="2014081728"/>
                    </a:ext>
                  </a:extLst>
                </a:gridCol>
              </a:tblGrid>
              <a:tr h="223891">
                <a:tc>
                  <a:txBody>
                    <a:bodyPr/>
                    <a:lstStyle/>
                    <a:p>
                      <a:pPr algn="l" fontAlgn="ctr"/>
                      <a:endParaRPr lang="en-GB" sz="1400">
                        <a:solidFill>
                          <a:schemeClr val="bg1"/>
                        </a:solidFill>
                        <a:effectLst/>
                      </a:endParaRPr>
                    </a:p>
                  </a:txBody>
                  <a:tcPr marL="61745" marR="61745" marT="30873" marB="3087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400" b="1" dirty="0">
                          <a:solidFill>
                            <a:schemeClr val="bg1"/>
                          </a:solidFill>
                          <a:effectLst/>
                        </a:rPr>
                        <a:t>At 2 years</a:t>
                      </a:r>
                      <a:endParaRPr lang="en-GB" sz="1400" dirty="0">
                        <a:solidFill>
                          <a:schemeClr val="bg1"/>
                        </a:solidFill>
                        <a:effectLst/>
                      </a:endParaRPr>
                    </a:p>
                  </a:txBody>
                  <a:tcPr marL="61745" marR="61745" marT="30873" marB="3087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400" b="1">
                          <a:solidFill>
                            <a:schemeClr val="bg1"/>
                          </a:solidFill>
                          <a:effectLst/>
                        </a:rPr>
                        <a:t>At 5 years</a:t>
                      </a:r>
                      <a:endParaRPr lang="en-GB" sz="1400">
                        <a:solidFill>
                          <a:schemeClr val="bg1"/>
                        </a:solidFill>
                        <a:effectLst/>
                      </a:endParaRPr>
                    </a:p>
                  </a:txBody>
                  <a:tcPr marL="61745" marR="61745" marT="30873" marB="3087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1">
                          <a:solidFill>
                            <a:schemeClr val="bg1"/>
                          </a:solidFill>
                          <a:effectLst/>
                        </a:rPr>
                        <a:t>At 10 years</a:t>
                      </a:r>
                      <a:endParaRPr lang="en-GB" sz="1400">
                        <a:solidFill>
                          <a:schemeClr val="bg1"/>
                        </a:solidFill>
                        <a:effectLst/>
                      </a:endParaRPr>
                    </a:p>
                  </a:txBody>
                  <a:tcPr marL="61745" marR="61745" marT="30873" marB="30873">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5">
                        <a:lumMod val="75000"/>
                      </a:schemeClr>
                    </a:solidFill>
                  </a:tcPr>
                </a:tc>
                <a:extLst>
                  <a:ext uri="{0D108BD9-81ED-4DB2-BD59-A6C34878D82A}">
                    <a16:rowId xmlns:a16="http://schemas.microsoft.com/office/drawing/2014/main" val="369134703"/>
                  </a:ext>
                </a:extLst>
              </a:tr>
              <a:tr h="223891">
                <a:tc>
                  <a:txBody>
                    <a:bodyPr/>
                    <a:lstStyle/>
                    <a:p>
                      <a:pPr algn="l"/>
                      <a:r>
                        <a:rPr lang="en-GB" sz="1400" b="0">
                          <a:effectLst/>
                        </a:rPr>
                        <a:t>Tremor</a:t>
                      </a:r>
                    </a:p>
                  </a:txBody>
                  <a:tcPr marL="61745" marR="61745" marT="30873" marB="30873"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r>
                        <a:rPr lang="en-GB" sz="1400" b="0">
                          <a:effectLst/>
                        </a:rPr>
                        <a:t>32.54 (24.94–42.90)</a:t>
                      </a:r>
                    </a:p>
                  </a:txBody>
                  <a:tcPr marL="61745" marR="61745" marT="30873" marB="30873"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r>
                        <a:rPr lang="en-GB" sz="1400" b="0">
                          <a:effectLst/>
                        </a:rPr>
                        <a:t>13.70 (7.82–24.31)</a:t>
                      </a:r>
                    </a:p>
                  </a:txBody>
                  <a:tcPr marL="61745" marR="61745" marT="30873" marB="30873"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r>
                        <a:rPr lang="en-GB" sz="1400" b="0">
                          <a:effectLst/>
                        </a:rPr>
                        <a:t>7.59 (1.11–44.83)</a:t>
                      </a:r>
                    </a:p>
                  </a:txBody>
                  <a:tcPr marL="61745" marR="61745" marT="30873" marB="30873" anchor="ctr">
                    <a:lnL>
                      <a:noFill/>
                    </a:lnL>
                    <a:lnR>
                      <a:noFill/>
                    </a:lnR>
                    <a:lnT w="12700" cmpd="sng">
                      <a:noFill/>
                      <a:prstDash val="soli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152538829"/>
                  </a:ext>
                </a:extLst>
              </a:tr>
              <a:tr h="223891">
                <a:tc>
                  <a:txBody>
                    <a:bodyPr/>
                    <a:lstStyle/>
                    <a:p>
                      <a:pPr algn="l"/>
                      <a:r>
                        <a:rPr lang="en-GB" sz="1400" b="0">
                          <a:effectLst/>
                        </a:rPr>
                        <a:t>Constipation</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2.44 (2.29–2.59)</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2.24 (2.04–2.46)</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2.01 (1.62–2.49)</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91611355"/>
                  </a:ext>
                </a:extLst>
              </a:tr>
              <a:tr h="223891">
                <a:tc>
                  <a:txBody>
                    <a:bodyPr/>
                    <a:lstStyle/>
                    <a:p>
                      <a:pPr algn="l"/>
                      <a:r>
                        <a:rPr lang="en-GB" sz="1400" b="0">
                          <a:effectLst/>
                        </a:rPr>
                        <a:t>Fatigue</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1.79 (1.55–2.06)</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1.56 (1.27–1.91)</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1.52 (0.96–2.32)</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25522602"/>
                  </a:ext>
                </a:extLst>
              </a:tr>
              <a:tr h="223891">
                <a:tc>
                  <a:txBody>
                    <a:bodyPr/>
                    <a:lstStyle/>
                    <a:p>
                      <a:pPr algn="l"/>
                      <a:r>
                        <a:rPr lang="en-GB" sz="1400" b="0">
                          <a:effectLst/>
                        </a:rPr>
                        <a:t>Dizziness</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1.80 (1.58–2.05)</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1.99 (1.67–2.37)</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1.30 (0.85–1.92)</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222067235"/>
                  </a:ext>
                </a:extLst>
              </a:tr>
              <a:tr h="223891">
                <a:tc>
                  <a:txBody>
                    <a:bodyPr/>
                    <a:lstStyle/>
                    <a:p>
                      <a:pPr algn="l"/>
                      <a:r>
                        <a:rPr lang="en-GB" sz="1400" b="0">
                          <a:effectLst/>
                        </a:rPr>
                        <a:t>Depression</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2.15 (1.85–2.49)</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1.76 (1.41–2.17)</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2.00 (0.19–12.21)</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068790278"/>
                  </a:ext>
                </a:extLst>
              </a:tr>
              <a:tr h="223891">
                <a:tc>
                  <a:txBody>
                    <a:bodyPr/>
                    <a:lstStyle/>
                    <a:p>
                      <a:pPr algn="l"/>
                      <a:r>
                        <a:rPr lang="en-GB" sz="1400" b="0">
                          <a:effectLst/>
                        </a:rPr>
                        <a:t>Shoulder pain/stiffness</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1.35 (1.17–1.56)</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1.11 (0.91–1.35)</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1.24 (0.85–1.79)</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76444597"/>
                  </a:ext>
                </a:extLst>
              </a:tr>
              <a:tr h="223891">
                <a:tc>
                  <a:txBody>
                    <a:bodyPr/>
                    <a:lstStyle/>
                    <a:p>
                      <a:pPr algn="l"/>
                      <a:r>
                        <a:rPr lang="en-GB" sz="1400" b="0">
                          <a:effectLst/>
                        </a:rPr>
                        <a:t>Anxiety</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1.89 (1.58–2.25)</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1.41 (1.09–1.79)</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1.39 (0.86–2.16)</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94256881"/>
                  </a:ext>
                </a:extLst>
              </a:tr>
              <a:tr h="223891">
                <a:tc>
                  <a:txBody>
                    <a:bodyPr/>
                    <a:lstStyle/>
                    <a:p>
                      <a:pPr algn="l"/>
                      <a:r>
                        <a:rPr lang="en-GB" sz="1400" b="0">
                          <a:effectLst/>
                        </a:rPr>
                        <a:t>Neck pain or stiffness</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1.01 (0.83–1.23)</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1.18 (0.94–1.47)</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0.98 (0.65–1.42)</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71235372"/>
                  </a:ext>
                </a:extLst>
              </a:tr>
              <a:tr h="223891">
                <a:tc>
                  <a:txBody>
                    <a:bodyPr/>
                    <a:lstStyle/>
                    <a:p>
                      <a:pPr algn="l"/>
                      <a:r>
                        <a:rPr lang="en-GB" sz="1400" b="0">
                          <a:effectLst/>
                        </a:rPr>
                        <a:t>Urinary dysfunction</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2.27 (1.80–2.85)</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1.96 (1.34–2.80)</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1.92 (0.84–4.06)</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488928903"/>
                  </a:ext>
                </a:extLst>
              </a:tr>
              <a:tr h="223891">
                <a:tc>
                  <a:txBody>
                    <a:bodyPr/>
                    <a:lstStyle/>
                    <a:p>
                      <a:pPr algn="l"/>
                      <a:r>
                        <a:rPr lang="en-GB" sz="1400" b="0">
                          <a:effectLst/>
                        </a:rPr>
                        <a:t>Erectile dysfunction</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1.30 (1.06–1.57)</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1.30 (1.11–1.51)</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1.00 (0.56–1.69)</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552590957"/>
                  </a:ext>
                </a:extLst>
              </a:tr>
              <a:tr h="223891">
                <a:tc>
                  <a:txBody>
                    <a:bodyPr/>
                    <a:lstStyle/>
                    <a:p>
                      <a:pPr algn="l"/>
                      <a:r>
                        <a:rPr lang="en-GB" sz="1400" b="0">
                          <a:effectLst/>
                        </a:rPr>
                        <a:t>Insomnia</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1.38 (1.11–1.70)</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1.18 (0.86–1.58)</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1.46 (0.82–2.48)</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498470777"/>
                  </a:ext>
                </a:extLst>
              </a:tr>
              <a:tr h="223891">
                <a:tc>
                  <a:txBody>
                    <a:bodyPr/>
                    <a:lstStyle/>
                    <a:p>
                      <a:pPr algn="l"/>
                      <a:r>
                        <a:rPr lang="en-GB" sz="1400" b="0">
                          <a:effectLst/>
                        </a:rPr>
                        <a:t>Balance impairments</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2.43 (1.69–3.44)</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2.19 (1.09–4.16)</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0.67 (0.02–5.00)</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481753859"/>
                  </a:ext>
                </a:extLst>
              </a:tr>
              <a:tr h="223891">
                <a:tc>
                  <a:txBody>
                    <a:bodyPr/>
                    <a:lstStyle/>
                    <a:p>
                      <a:pPr algn="l"/>
                      <a:r>
                        <a:rPr lang="en-GB" sz="1400" b="0">
                          <a:effectLst/>
                        </a:rPr>
                        <a:t>Hypotension</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3.03 (2.18–4.18)</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3.23 (1.85–5.52)</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GB" sz="1400" b="0">
                          <a:effectLst/>
                        </a:rPr>
                        <a:t>1.37 (0.25–5.08)</a:t>
                      </a:r>
                    </a:p>
                  </a:txBody>
                  <a:tcPr marL="61745" marR="61745" marT="30873" marB="30873"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18128257"/>
                  </a:ext>
                </a:extLst>
              </a:tr>
              <a:tr h="223891">
                <a:tc>
                  <a:txBody>
                    <a:bodyPr/>
                    <a:lstStyle/>
                    <a:p>
                      <a:pPr algn="l"/>
                      <a:r>
                        <a:rPr lang="en-GB" sz="1400" b="0">
                          <a:effectLst/>
                        </a:rPr>
                        <a:t>Memory problems</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2.13 (1.44–3.11)</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0.87 (0.26–2.24)</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400" b="0">
                          <a:effectLst/>
                        </a:rPr>
                        <a:t>3.46 (0.29–30.20)</a:t>
                      </a:r>
                    </a:p>
                  </a:txBody>
                  <a:tcPr marL="61745" marR="61745" marT="30873" marB="30873" anchor="ctr">
                    <a:lnL>
                      <a:noFill/>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82009457"/>
                  </a:ext>
                </a:extLst>
              </a:tr>
              <a:tr h="223891">
                <a:tc>
                  <a:txBody>
                    <a:bodyPr/>
                    <a:lstStyle/>
                    <a:p>
                      <a:pPr algn="l"/>
                      <a:r>
                        <a:rPr lang="en-GB" sz="1400" b="0">
                          <a:effectLst/>
                        </a:rPr>
                        <a:t>Rigidity</a:t>
                      </a:r>
                    </a:p>
                  </a:txBody>
                  <a:tcPr marL="61745" marR="61745" marT="30873" marB="30873" anchor="ctr">
                    <a:lnL>
                      <a:noFill/>
                    </a:lnL>
                    <a:lnR>
                      <a:noFill/>
                    </a:lnR>
                    <a:lnT>
                      <a:noFill/>
                    </a:lnT>
                    <a:lnB w="1905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a:effectLst/>
                        </a:rPr>
                        <a:t>2.63 (1.11–5.79)</a:t>
                      </a:r>
                    </a:p>
                  </a:txBody>
                  <a:tcPr marL="61745" marR="61745" marT="30873" marB="30873" anchor="ctr">
                    <a:lnL>
                      <a:noFill/>
                    </a:lnL>
                    <a:lnR>
                      <a:noFill/>
                    </a:lnR>
                    <a:lnT>
                      <a:noFill/>
                    </a:lnT>
                    <a:lnB w="1905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a:effectLst/>
                        </a:rPr>
                        <a:t>1.39 (0.25–5.15)</a:t>
                      </a:r>
                    </a:p>
                  </a:txBody>
                  <a:tcPr marL="61745" marR="61745" marT="30873" marB="30873" anchor="ctr">
                    <a:lnL>
                      <a:noFill/>
                    </a:lnL>
                    <a:lnR>
                      <a:noFill/>
                    </a:lnR>
                    <a:lnT>
                      <a:noFill/>
                    </a:lnT>
                    <a:lnB w="1905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effectLst/>
                        </a:rPr>
                        <a:t>–</a:t>
                      </a:r>
                    </a:p>
                  </a:txBody>
                  <a:tcPr marL="61745" marR="61745" marT="30873" marB="30873" anchor="ctr">
                    <a:lnL>
                      <a:noFill/>
                    </a:lnL>
                    <a:lnR>
                      <a:noFill/>
                    </a:lnR>
                    <a:lnT>
                      <a:noFill/>
                    </a:lnT>
                    <a:lnB w="1905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0167943"/>
                  </a:ext>
                </a:extLst>
              </a:tr>
            </a:tbl>
          </a:graphicData>
        </a:graphic>
      </p:graphicFrame>
      <p:sp>
        <p:nvSpPr>
          <p:cNvPr id="10" name="TextBox 7">
            <a:extLst>
              <a:ext uri="{FF2B5EF4-FFF2-40B4-BE49-F238E27FC236}">
                <a16:creationId xmlns:a16="http://schemas.microsoft.com/office/drawing/2014/main" id="{8B386418-588F-7D83-4F72-5E2F81C92AAD}"/>
              </a:ext>
            </a:extLst>
          </p:cNvPr>
          <p:cNvSpPr txBox="1"/>
          <p:nvPr/>
        </p:nvSpPr>
        <p:spPr>
          <a:xfrm>
            <a:off x="2204581" y="6061516"/>
            <a:ext cx="6588690" cy="369332"/>
          </a:xfrm>
          <a:prstGeom prst="rect">
            <a:avLst/>
          </a:prstGeom>
          <a:noFill/>
        </p:spPr>
        <p:txBody>
          <a:bodyPr wrap="square">
            <a:spAutoFit/>
          </a:bodyPr>
          <a:lstStyle/>
          <a:p>
            <a:pPr fontAlgn="base"/>
            <a:r>
              <a:rPr lang="en-US" sz="900" kern="1200" dirty="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This work is adapted from ‘</a:t>
            </a:r>
            <a:r>
              <a:rPr lang="en-US" sz="900" dirty="0" err="1"/>
              <a:t>Prediagnostic</a:t>
            </a:r>
            <a:r>
              <a:rPr lang="en-US" sz="900" dirty="0"/>
              <a:t> presentations of Parkinson’s disease in primary care: a case-control study</a:t>
            </a:r>
            <a:r>
              <a:rPr lang="en-US" sz="900" kern="1200" dirty="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 by Schrag et al., used under CC-BY. This work is licensed under Creative Commons license CC-BY-SA by The Lundbeck Foundation.</a:t>
            </a:r>
            <a:endParaRPr lang="en-GB" sz="9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72683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5"/>
          <p:cNvSpPr>
            <a:spLocks/>
          </p:cNvSpPr>
          <p:nvPr/>
        </p:nvSpPr>
        <p:spPr bwMode="auto">
          <a:xfrm>
            <a:off x="2224088" y="1868488"/>
            <a:ext cx="2497138" cy="4170362"/>
          </a:xfrm>
          <a:custGeom>
            <a:avLst/>
            <a:gdLst>
              <a:gd name="T0" fmla="*/ 172 w 1471"/>
              <a:gd name="T1" fmla="*/ 1623 h 2458"/>
              <a:gd name="T2" fmla="*/ 289 w 1471"/>
              <a:gd name="T3" fmla="*/ 1346 h 2458"/>
              <a:gd name="T4" fmla="*/ 376 w 1471"/>
              <a:gd name="T5" fmla="*/ 1735 h 2458"/>
              <a:gd name="T6" fmla="*/ 358 w 1471"/>
              <a:gd name="T7" fmla="*/ 1930 h 2458"/>
              <a:gd name="T8" fmla="*/ 324 w 1471"/>
              <a:gd name="T9" fmla="*/ 2076 h 2458"/>
              <a:gd name="T10" fmla="*/ 294 w 1471"/>
              <a:gd name="T11" fmla="*/ 2230 h 2458"/>
              <a:gd name="T12" fmla="*/ 287 w 1471"/>
              <a:gd name="T13" fmla="*/ 2458 h 2458"/>
              <a:gd name="T14" fmla="*/ 1185 w 1471"/>
              <a:gd name="T15" fmla="*/ 2458 h 2458"/>
              <a:gd name="T16" fmla="*/ 1177 w 1471"/>
              <a:gd name="T17" fmla="*/ 2230 h 2458"/>
              <a:gd name="T18" fmla="*/ 1147 w 1471"/>
              <a:gd name="T19" fmla="*/ 2076 h 2458"/>
              <a:gd name="T20" fmla="*/ 1113 w 1471"/>
              <a:gd name="T21" fmla="*/ 1930 h 2458"/>
              <a:gd name="T22" fmla="*/ 1096 w 1471"/>
              <a:gd name="T23" fmla="*/ 1735 h 2458"/>
              <a:gd name="T24" fmla="*/ 1182 w 1471"/>
              <a:gd name="T25" fmla="*/ 1346 h 2458"/>
              <a:gd name="T26" fmla="*/ 1299 w 1471"/>
              <a:gd name="T27" fmla="*/ 1623 h 2458"/>
              <a:gd name="T28" fmla="*/ 1471 w 1471"/>
              <a:gd name="T29" fmla="*/ 1517 h 2458"/>
              <a:gd name="T30" fmla="*/ 1376 w 1471"/>
              <a:gd name="T31" fmla="*/ 1310 h 2458"/>
              <a:gd name="T32" fmla="*/ 1337 w 1471"/>
              <a:gd name="T33" fmla="*/ 979 h 2458"/>
              <a:gd name="T34" fmla="*/ 1192 w 1471"/>
              <a:gd name="T35" fmla="*/ 869 h 2458"/>
              <a:gd name="T36" fmla="*/ 1022 w 1471"/>
              <a:gd name="T37" fmla="*/ 785 h 2458"/>
              <a:gd name="T38" fmla="*/ 915 w 1471"/>
              <a:gd name="T39" fmla="*/ 723 h 2458"/>
              <a:gd name="T40" fmla="*/ 884 w 1471"/>
              <a:gd name="T41" fmla="*/ 494 h 2458"/>
              <a:gd name="T42" fmla="*/ 943 w 1471"/>
              <a:gd name="T43" fmla="*/ 224 h 2458"/>
              <a:gd name="T44" fmla="*/ 706 w 1471"/>
              <a:gd name="T45" fmla="*/ 1 h 2458"/>
              <a:gd name="T46" fmla="*/ 425 w 1471"/>
              <a:gd name="T47" fmla="*/ 151 h 2458"/>
              <a:gd name="T48" fmla="*/ 399 w 1471"/>
              <a:gd name="T49" fmla="*/ 257 h 2458"/>
              <a:gd name="T50" fmla="*/ 394 w 1471"/>
              <a:gd name="T51" fmla="*/ 305 h 2458"/>
              <a:gd name="T52" fmla="*/ 351 w 1471"/>
              <a:gd name="T53" fmla="*/ 392 h 2458"/>
              <a:gd name="T54" fmla="*/ 353 w 1471"/>
              <a:gd name="T55" fmla="*/ 440 h 2458"/>
              <a:gd name="T56" fmla="*/ 382 w 1471"/>
              <a:gd name="T57" fmla="*/ 458 h 2458"/>
              <a:gd name="T58" fmla="*/ 377 w 1471"/>
              <a:gd name="T59" fmla="*/ 485 h 2458"/>
              <a:gd name="T60" fmla="*/ 405 w 1471"/>
              <a:gd name="T61" fmla="*/ 494 h 2458"/>
              <a:gd name="T62" fmla="*/ 405 w 1471"/>
              <a:gd name="T63" fmla="*/ 511 h 2458"/>
              <a:gd name="T64" fmla="*/ 377 w 1471"/>
              <a:gd name="T65" fmla="*/ 521 h 2458"/>
              <a:gd name="T66" fmla="*/ 398 w 1471"/>
              <a:gd name="T67" fmla="*/ 560 h 2458"/>
              <a:gd name="T68" fmla="*/ 405 w 1471"/>
              <a:gd name="T69" fmla="*/ 658 h 2458"/>
              <a:gd name="T70" fmla="*/ 539 w 1471"/>
              <a:gd name="T71" fmla="*/ 675 h 2458"/>
              <a:gd name="T72" fmla="*/ 557 w 1471"/>
              <a:gd name="T73" fmla="*/ 723 h 2458"/>
              <a:gd name="T74" fmla="*/ 449 w 1471"/>
              <a:gd name="T75" fmla="*/ 785 h 2458"/>
              <a:gd name="T76" fmla="*/ 279 w 1471"/>
              <a:gd name="T77" fmla="*/ 869 h 2458"/>
              <a:gd name="T78" fmla="*/ 134 w 1471"/>
              <a:gd name="T79" fmla="*/ 979 h 2458"/>
              <a:gd name="T80" fmla="*/ 95 w 1471"/>
              <a:gd name="T81" fmla="*/ 1310 h 2458"/>
              <a:gd name="T82" fmla="*/ 0 w 1471"/>
              <a:gd name="T83" fmla="*/ 1517 h 2458"/>
              <a:gd name="T84" fmla="*/ 172 w 1471"/>
              <a:gd name="T85" fmla="*/ 1623 h 2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71" h="2458">
                <a:moveTo>
                  <a:pt x="172" y="1623"/>
                </a:moveTo>
                <a:cubicBezTo>
                  <a:pt x="192" y="1591"/>
                  <a:pt x="270" y="1420"/>
                  <a:pt x="289" y="1346"/>
                </a:cubicBezTo>
                <a:cubicBezTo>
                  <a:pt x="289" y="1346"/>
                  <a:pt x="386" y="1670"/>
                  <a:pt x="376" y="1735"/>
                </a:cubicBezTo>
                <a:cubicBezTo>
                  <a:pt x="365" y="1800"/>
                  <a:pt x="358" y="1906"/>
                  <a:pt x="358" y="1930"/>
                </a:cubicBezTo>
                <a:cubicBezTo>
                  <a:pt x="358" y="1954"/>
                  <a:pt x="324" y="2056"/>
                  <a:pt x="324" y="2076"/>
                </a:cubicBezTo>
                <a:cubicBezTo>
                  <a:pt x="324" y="2096"/>
                  <a:pt x="296" y="2189"/>
                  <a:pt x="294" y="2230"/>
                </a:cubicBezTo>
                <a:cubicBezTo>
                  <a:pt x="293" y="2261"/>
                  <a:pt x="292" y="2369"/>
                  <a:pt x="287" y="2458"/>
                </a:cubicBezTo>
                <a:cubicBezTo>
                  <a:pt x="1185" y="2458"/>
                  <a:pt x="1185" y="2458"/>
                  <a:pt x="1185" y="2458"/>
                </a:cubicBezTo>
                <a:cubicBezTo>
                  <a:pt x="1179" y="2369"/>
                  <a:pt x="1178" y="2261"/>
                  <a:pt x="1177" y="2230"/>
                </a:cubicBezTo>
                <a:cubicBezTo>
                  <a:pt x="1175" y="2189"/>
                  <a:pt x="1147" y="2096"/>
                  <a:pt x="1147" y="2076"/>
                </a:cubicBezTo>
                <a:cubicBezTo>
                  <a:pt x="1147" y="2056"/>
                  <a:pt x="1113" y="1954"/>
                  <a:pt x="1113" y="1930"/>
                </a:cubicBezTo>
                <a:cubicBezTo>
                  <a:pt x="1113" y="1906"/>
                  <a:pt x="1106" y="1800"/>
                  <a:pt x="1096" y="1735"/>
                </a:cubicBezTo>
                <a:cubicBezTo>
                  <a:pt x="1085" y="1670"/>
                  <a:pt x="1182" y="1346"/>
                  <a:pt x="1182" y="1346"/>
                </a:cubicBezTo>
                <a:cubicBezTo>
                  <a:pt x="1201" y="1420"/>
                  <a:pt x="1279" y="1591"/>
                  <a:pt x="1299" y="1623"/>
                </a:cubicBezTo>
                <a:cubicBezTo>
                  <a:pt x="1471" y="1517"/>
                  <a:pt x="1471" y="1517"/>
                  <a:pt x="1471" y="1517"/>
                </a:cubicBezTo>
                <a:cubicBezTo>
                  <a:pt x="1442" y="1404"/>
                  <a:pt x="1376" y="1310"/>
                  <a:pt x="1376" y="1310"/>
                </a:cubicBezTo>
                <a:cubicBezTo>
                  <a:pt x="1406" y="1180"/>
                  <a:pt x="1351" y="1045"/>
                  <a:pt x="1337" y="979"/>
                </a:cubicBezTo>
                <a:cubicBezTo>
                  <a:pt x="1323" y="913"/>
                  <a:pt x="1192" y="869"/>
                  <a:pt x="1192" y="869"/>
                </a:cubicBezTo>
                <a:cubicBezTo>
                  <a:pt x="1164" y="846"/>
                  <a:pt x="1053" y="797"/>
                  <a:pt x="1022" y="785"/>
                </a:cubicBezTo>
                <a:cubicBezTo>
                  <a:pt x="991" y="773"/>
                  <a:pt x="929" y="752"/>
                  <a:pt x="915" y="723"/>
                </a:cubicBezTo>
                <a:cubicBezTo>
                  <a:pt x="871" y="632"/>
                  <a:pt x="879" y="545"/>
                  <a:pt x="884" y="494"/>
                </a:cubicBezTo>
                <a:cubicBezTo>
                  <a:pt x="889" y="431"/>
                  <a:pt x="941" y="379"/>
                  <a:pt x="943" y="224"/>
                </a:cubicBezTo>
                <a:cubicBezTo>
                  <a:pt x="946" y="68"/>
                  <a:pt x="814" y="2"/>
                  <a:pt x="706" y="1"/>
                </a:cubicBezTo>
                <a:cubicBezTo>
                  <a:pt x="580" y="0"/>
                  <a:pt x="454" y="33"/>
                  <a:pt x="425" y="151"/>
                </a:cubicBezTo>
                <a:cubicBezTo>
                  <a:pt x="414" y="194"/>
                  <a:pt x="406" y="240"/>
                  <a:pt x="399" y="257"/>
                </a:cubicBezTo>
                <a:cubicBezTo>
                  <a:pt x="392" y="274"/>
                  <a:pt x="387" y="282"/>
                  <a:pt x="394" y="305"/>
                </a:cubicBezTo>
                <a:cubicBezTo>
                  <a:pt x="401" y="327"/>
                  <a:pt x="369" y="373"/>
                  <a:pt x="351" y="392"/>
                </a:cubicBezTo>
                <a:cubicBezTo>
                  <a:pt x="333" y="411"/>
                  <a:pt x="333" y="433"/>
                  <a:pt x="353" y="440"/>
                </a:cubicBezTo>
                <a:cubicBezTo>
                  <a:pt x="372" y="447"/>
                  <a:pt x="384" y="449"/>
                  <a:pt x="382" y="458"/>
                </a:cubicBezTo>
                <a:cubicBezTo>
                  <a:pt x="380" y="468"/>
                  <a:pt x="371" y="480"/>
                  <a:pt x="377" y="485"/>
                </a:cubicBezTo>
                <a:cubicBezTo>
                  <a:pt x="381" y="488"/>
                  <a:pt x="407" y="484"/>
                  <a:pt x="405" y="494"/>
                </a:cubicBezTo>
                <a:cubicBezTo>
                  <a:pt x="405" y="511"/>
                  <a:pt x="405" y="511"/>
                  <a:pt x="405" y="511"/>
                </a:cubicBezTo>
                <a:cubicBezTo>
                  <a:pt x="405" y="511"/>
                  <a:pt x="372" y="515"/>
                  <a:pt x="377" y="521"/>
                </a:cubicBezTo>
                <a:cubicBezTo>
                  <a:pt x="382" y="528"/>
                  <a:pt x="401" y="551"/>
                  <a:pt x="398" y="560"/>
                </a:cubicBezTo>
                <a:cubicBezTo>
                  <a:pt x="394" y="570"/>
                  <a:pt x="375" y="645"/>
                  <a:pt x="405" y="658"/>
                </a:cubicBezTo>
                <a:cubicBezTo>
                  <a:pt x="435" y="671"/>
                  <a:pt x="523" y="665"/>
                  <a:pt x="539" y="675"/>
                </a:cubicBezTo>
                <a:cubicBezTo>
                  <a:pt x="554" y="684"/>
                  <a:pt x="571" y="693"/>
                  <a:pt x="557" y="723"/>
                </a:cubicBezTo>
                <a:cubicBezTo>
                  <a:pt x="542" y="752"/>
                  <a:pt x="480" y="773"/>
                  <a:pt x="449" y="785"/>
                </a:cubicBezTo>
                <a:cubicBezTo>
                  <a:pt x="418" y="797"/>
                  <a:pt x="308" y="846"/>
                  <a:pt x="279" y="869"/>
                </a:cubicBezTo>
                <a:cubicBezTo>
                  <a:pt x="279" y="869"/>
                  <a:pt x="148" y="913"/>
                  <a:pt x="134" y="979"/>
                </a:cubicBezTo>
                <a:cubicBezTo>
                  <a:pt x="120" y="1045"/>
                  <a:pt x="65" y="1180"/>
                  <a:pt x="95" y="1310"/>
                </a:cubicBezTo>
                <a:cubicBezTo>
                  <a:pt x="95" y="1310"/>
                  <a:pt x="29" y="1404"/>
                  <a:pt x="0" y="1517"/>
                </a:cubicBezTo>
                <a:cubicBezTo>
                  <a:pt x="172" y="1623"/>
                  <a:pt x="172" y="1623"/>
                  <a:pt x="172" y="1623"/>
                </a:cubicBezTo>
              </a:path>
            </a:pathLst>
          </a:custGeom>
          <a:solidFill>
            <a:schemeClr val="accent2">
              <a:lumMod val="20000"/>
              <a:lumOff val="80000"/>
            </a:schemeClr>
          </a:solidFill>
          <a:ln>
            <a:solidFill>
              <a:schemeClr val="accent2"/>
            </a:solidFill>
          </a:ln>
        </p:spPr>
        <p:txBody>
          <a:bodyPr vert="horz" wrap="square" lIns="91440" tIns="45720" rIns="91440" bIns="45720" numCol="1" anchor="t" anchorCtr="0" compatLnSpc="1">
            <a:prstTxWarp prst="textNoShape">
              <a:avLst/>
            </a:prstTxWarp>
          </a:bodyPr>
          <a:lstStyle/>
          <a:p>
            <a:endParaRPr lang="en-GB"/>
          </a:p>
        </p:txBody>
      </p:sp>
      <p:sp>
        <p:nvSpPr>
          <p:cNvPr id="15" name="AutoShape 3"/>
          <p:cNvSpPr>
            <a:spLocks noChangeAspect="1" noChangeArrowheads="1" noTextEdit="1"/>
          </p:cNvSpPr>
          <p:nvPr/>
        </p:nvSpPr>
        <p:spPr bwMode="auto">
          <a:xfrm>
            <a:off x="1852613" y="1865313"/>
            <a:ext cx="2873375"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cxnSp>
        <p:nvCxnSpPr>
          <p:cNvPr id="20" name="Straight Connector 19"/>
          <p:cNvCxnSpPr/>
          <p:nvPr/>
        </p:nvCxnSpPr>
        <p:spPr>
          <a:xfrm>
            <a:off x="4415110" y="2171700"/>
            <a:ext cx="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772895" y="3178568"/>
            <a:ext cx="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Freeform 6"/>
          <p:cNvSpPr>
            <a:spLocks/>
          </p:cNvSpPr>
          <p:nvPr/>
        </p:nvSpPr>
        <p:spPr bwMode="auto">
          <a:xfrm>
            <a:off x="2219326" y="1865313"/>
            <a:ext cx="2506663" cy="4176712"/>
          </a:xfrm>
          <a:custGeom>
            <a:avLst/>
            <a:gdLst>
              <a:gd name="T0" fmla="*/ 292 w 1477"/>
              <a:gd name="T1" fmla="*/ 1348 h 2462"/>
              <a:gd name="T2" fmla="*/ 376 w 1477"/>
              <a:gd name="T3" fmla="*/ 1736 h 2462"/>
              <a:gd name="T4" fmla="*/ 357 w 1477"/>
              <a:gd name="T5" fmla="*/ 1944 h 2462"/>
              <a:gd name="T6" fmla="*/ 317 w 1477"/>
              <a:gd name="T7" fmla="*/ 2119 h 2462"/>
              <a:gd name="T8" fmla="*/ 1190 w 1477"/>
              <a:gd name="T9" fmla="*/ 2459 h 2462"/>
              <a:gd name="T10" fmla="*/ 1152 w 1477"/>
              <a:gd name="T11" fmla="*/ 2078 h 2462"/>
              <a:gd name="T12" fmla="*/ 1118 w 1477"/>
              <a:gd name="T13" fmla="*/ 1932 h 2462"/>
              <a:gd name="T14" fmla="*/ 1104 w 1477"/>
              <a:gd name="T15" fmla="*/ 1684 h 2462"/>
              <a:gd name="T16" fmla="*/ 1182 w 1477"/>
              <a:gd name="T17" fmla="*/ 1349 h 2462"/>
              <a:gd name="T18" fmla="*/ 1476 w 1477"/>
              <a:gd name="T19" fmla="*/ 1519 h 2462"/>
              <a:gd name="T20" fmla="*/ 1343 w 1477"/>
              <a:gd name="T21" fmla="*/ 981 h 2462"/>
              <a:gd name="T22" fmla="*/ 1182 w 1477"/>
              <a:gd name="T23" fmla="*/ 859 h 2462"/>
              <a:gd name="T24" fmla="*/ 889 w 1477"/>
              <a:gd name="T25" fmla="*/ 497 h 2462"/>
              <a:gd name="T26" fmla="*/ 709 w 1477"/>
              <a:gd name="T27" fmla="*/ 0 h 2462"/>
              <a:gd name="T28" fmla="*/ 400 w 1477"/>
              <a:gd name="T29" fmla="*/ 258 h 2462"/>
              <a:gd name="T30" fmla="*/ 352 w 1477"/>
              <a:gd name="T31" fmla="*/ 392 h 2462"/>
              <a:gd name="T32" fmla="*/ 382 w 1477"/>
              <a:gd name="T33" fmla="*/ 457 h 2462"/>
              <a:gd name="T34" fmla="*/ 379 w 1477"/>
              <a:gd name="T35" fmla="*/ 489 h 2462"/>
              <a:gd name="T36" fmla="*/ 405 w 1477"/>
              <a:gd name="T37" fmla="*/ 495 h 2462"/>
              <a:gd name="T38" fmla="*/ 393 w 1477"/>
              <a:gd name="T39" fmla="*/ 512 h 2462"/>
              <a:gd name="T40" fmla="*/ 378 w 1477"/>
              <a:gd name="T41" fmla="*/ 525 h 2462"/>
              <a:gd name="T42" fmla="*/ 389 w 1477"/>
              <a:gd name="T43" fmla="*/ 620 h 2462"/>
              <a:gd name="T44" fmla="*/ 528 w 1477"/>
              <a:gd name="T45" fmla="*/ 676 h 2462"/>
              <a:gd name="T46" fmla="*/ 540 w 1477"/>
              <a:gd name="T47" fmla="*/ 743 h 2462"/>
              <a:gd name="T48" fmla="*/ 282 w 1477"/>
              <a:gd name="T49" fmla="*/ 871 h 2462"/>
              <a:gd name="T50" fmla="*/ 86 w 1477"/>
              <a:gd name="T51" fmla="*/ 1231 h 2462"/>
              <a:gd name="T52" fmla="*/ 176 w 1477"/>
              <a:gd name="T53" fmla="*/ 1629 h 2462"/>
              <a:gd name="T54" fmla="*/ 64 w 1477"/>
              <a:gd name="T55" fmla="*/ 1374 h 2462"/>
              <a:gd name="T56" fmla="*/ 100 w 1477"/>
              <a:gd name="T57" fmla="*/ 1312 h 2462"/>
              <a:gd name="T58" fmla="*/ 273 w 1477"/>
              <a:gd name="T59" fmla="*/ 877 h 2462"/>
              <a:gd name="T60" fmla="*/ 298 w 1477"/>
              <a:gd name="T61" fmla="*/ 863 h 2462"/>
              <a:gd name="T62" fmla="*/ 565 w 1477"/>
              <a:gd name="T63" fmla="*/ 694 h 2462"/>
              <a:gd name="T64" fmla="*/ 426 w 1477"/>
              <a:gd name="T65" fmla="*/ 662 h 2462"/>
              <a:gd name="T66" fmla="*/ 403 w 1477"/>
              <a:gd name="T67" fmla="*/ 563 h 2462"/>
              <a:gd name="T68" fmla="*/ 382 w 1477"/>
              <a:gd name="T69" fmla="*/ 522 h 2462"/>
              <a:gd name="T70" fmla="*/ 382 w 1477"/>
              <a:gd name="T71" fmla="*/ 522 h 2462"/>
              <a:gd name="T72" fmla="*/ 382 w 1477"/>
              <a:gd name="T73" fmla="*/ 522 h 2462"/>
              <a:gd name="T74" fmla="*/ 408 w 1477"/>
              <a:gd name="T75" fmla="*/ 515 h 2462"/>
              <a:gd name="T76" fmla="*/ 407 w 1477"/>
              <a:gd name="T77" fmla="*/ 489 h 2462"/>
              <a:gd name="T78" fmla="*/ 381 w 1477"/>
              <a:gd name="T79" fmla="*/ 486 h 2462"/>
              <a:gd name="T80" fmla="*/ 381 w 1477"/>
              <a:gd name="T81" fmla="*/ 482 h 2462"/>
              <a:gd name="T82" fmla="*/ 372 w 1477"/>
              <a:gd name="T83" fmla="*/ 444 h 2462"/>
              <a:gd name="T84" fmla="*/ 396 w 1477"/>
              <a:gd name="T85" fmla="*/ 335 h 2462"/>
              <a:gd name="T86" fmla="*/ 430 w 1477"/>
              <a:gd name="T87" fmla="*/ 154 h 2462"/>
              <a:gd name="T88" fmla="*/ 944 w 1477"/>
              <a:gd name="T89" fmla="*/ 221 h 2462"/>
              <a:gd name="T90" fmla="*/ 934 w 1477"/>
              <a:gd name="T91" fmla="*/ 747 h 2462"/>
              <a:gd name="T92" fmla="*/ 1194 w 1477"/>
              <a:gd name="T93" fmla="*/ 873 h 2462"/>
              <a:gd name="T94" fmla="*/ 1366 w 1477"/>
              <a:gd name="T95" fmla="*/ 1088 h 2462"/>
              <a:gd name="T96" fmla="*/ 1474 w 1477"/>
              <a:gd name="T97" fmla="*/ 1519 h 2462"/>
              <a:gd name="T98" fmla="*/ 1207 w 1477"/>
              <a:gd name="T99" fmla="*/ 1407 h 2462"/>
              <a:gd name="T100" fmla="*/ 1095 w 1477"/>
              <a:gd name="T101" fmla="*/ 1725 h 2462"/>
              <a:gd name="T102" fmla="*/ 1113 w 1477"/>
              <a:gd name="T103" fmla="*/ 1932 h 2462"/>
              <a:gd name="T104" fmla="*/ 1148 w 1477"/>
              <a:gd name="T105" fmla="*/ 2089 h 2462"/>
              <a:gd name="T106" fmla="*/ 1188 w 1477"/>
              <a:gd name="T107" fmla="*/ 2457 h 2462"/>
              <a:gd name="T108" fmla="*/ 321 w 1477"/>
              <a:gd name="T109" fmla="*/ 2125 h 2462"/>
              <a:gd name="T110" fmla="*/ 362 w 1477"/>
              <a:gd name="T111" fmla="*/ 1950 h 2462"/>
              <a:gd name="T112" fmla="*/ 381 w 1477"/>
              <a:gd name="T113" fmla="*/ 1737 h 2462"/>
              <a:gd name="T114" fmla="*/ 266 w 1477"/>
              <a:gd name="T115" fmla="*/ 1417 h 2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77" h="2462">
                <a:moveTo>
                  <a:pt x="175" y="1625"/>
                </a:moveTo>
                <a:cubicBezTo>
                  <a:pt x="178" y="1626"/>
                  <a:pt x="178" y="1626"/>
                  <a:pt x="178" y="1626"/>
                </a:cubicBezTo>
                <a:cubicBezTo>
                  <a:pt x="180" y="1622"/>
                  <a:pt x="183" y="1616"/>
                  <a:pt x="188" y="1608"/>
                </a:cubicBezTo>
                <a:cubicBezTo>
                  <a:pt x="202" y="1580"/>
                  <a:pt x="225" y="1532"/>
                  <a:pt x="246" y="1482"/>
                </a:cubicBezTo>
                <a:cubicBezTo>
                  <a:pt x="256" y="1457"/>
                  <a:pt x="267" y="1432"/>
                  <a:pt x="275" y="1409"/>
                </a:cubicBezTo>
                <a:cubicBezTo>
                  <a:pt x="284" y="1386"/>
                  <a:pt x="291" y="1365"/>
                  <a:pt x="295" y="1349"/>
                </a:cubicBezTo>
                <a:cubicBezTo>
                  <a:pt x="292" y="1348"/>
                  <a:pt x="292" y="1348"/>
                  <a:pt x="292" y="1348"/>
                </a:cubicBezTo>
                <a:cubicBezTo>
                  <a:pt x="290" y="1349"/>
                  <a:pt x="290" y="1349"/>
                  <a:pt x="290" y="1349"/>
                </a:cubicBezTo>
                <a:cubicBezTo>
                  <a:pt x="290" y="1349"/>
                  <a:pt x="290" y="1350"/>
                  <a:pt x="291" y="1352"/>
                </a:cubicBezTo>
                <a:cubicBezTo>
                  <a:pt x="296" y="1368"/>
                  <a:pt x="317" y="1442"/>
                  <a:pt x="337" y="1521"/>
                </a:cubicBezTo>
                <a:cubicBezTo>
                  <a:pt x="348" y="1560"/>
                  <a:pt x="357" y="1601"/>
                  <a:pt x="365" y="1637"/>
                </a:cubicBezTo>
                <a:cubicBezTo>
                  <a:pt x="368" y="1656"/>
                  <a:pt x="371" y="1672"/>
                  <a:pt x="374" y="1687"/>
                </a:cubicBezTo>
                <a:cubicBezTo>
                  <a:pt x="376" y="1702"/>
                  <a:pt x="377" y="1715"/>
                  <a:pt x="377" y="1725"/>
                </a:cubicBezTo>
                <a:cubicBezTo>
                  <a:pt x="377" y="1729"/>
                  <a:pt x="377" y="1733"/>
                  <a:pt x="376" y="1736"/>
                </a:cubicBezTo>
                <a:cubicBezTo>
                  <a:pt x="371" y="1769"/>
                  <a:pt x="366" y="1811"/>
                  <a:pt x="363" y="1849"/>
                </a:cubicBezTo>
                <a:cubicBezTo>
                  <a:pt x="362" y="1868"/>
                  <a:pt x="361" y="1885"/>
                  <a:pt x="360" y="1900"/>
                </a:cubicBezTo>
                <a:cubicBezTo>
                  <a:pt x="359" y="1914"/>
                  <a:pt x="359" y="1925"/>
                  <a:pt x="359" y="1932"/>
                </a:cubicBezTo>
                <a:cubicBezTo>
                  <a:pt x="359" y="1932"/>
                  <a:pt x="359" y="1932"/>
                  <a:pt x="359" y="1932"/>
                </a:cubicBezTo>
                <a:cubicBezTo>
                  <a:pt x="359" y="1932"/>
                  <a:pt x="359" y="1932"/>
                  <a:pt x="359" y="1932"/>
                </a:cubicBezTo>
                <a:cubicBezTo>
                  <a:pt x="359" y="1932"/>
                  <a:pt x="359" y="1932"/>
                  <a:pt x="359" y="1932"/>
                </a:cubicBezTo>
                <a:cubicBezTo>
                  <a:pt x="359" y="1935"/>
                  <a:pt x="358" y="1939"/>
                  <a:pt x="357" y="1944"/>
                </a:cubicBezTo>
                <a:cubicBezTo>
                  <a:pt x="356" y="1953"/>
                  <a:pt x="353" y="1965"/>
                  <a:pt x="350" y="1978"/>
                </a:cubicBezTo>
                <a:cubicBezTo>
                  <a:pt x="345" y="1997"/>
                  <a:pt x="338" y="2019"/>
                  <a:pt x="333" y="2037"/>
                </a:cubicBezTo>
                <a:cubicBezTo>
                  <a:pt x="331" y="2046"/>
                  <a:pt x="329" y="2055"/>
                  <a:pt x="327" y="2062"/>
                </a:cubicBezTo>
                <a:cubicBezTo>
                  <a:pt x="327" y="2065"/>
                  <a:pt x="326" y="2068"/>
                  <a:pt x="325" y="2071"/>
                </a:cubicBezTo>
                <a:cubicBezTo>
                  <a:pt x="325" y="2074"/>
                  <a:pt x="325" y="2076"/>
                  <a:pt x="325" y="2078"/>
                </a:cubicBezTo>
                <a:cubicBezTo>
                  <a:pt x="325" y="2080"/>
                  <a:pt x="324" y="2084"/>
                  <a:pt x="324" y="2088"/>
                </a:cubicBezTo>
                <a:cubicBezTo>
                  <a:pt x="322" y="2096"/>
                  <a:pt x="320" y="2107"/>
                  <a:pt x="317" y="2119"/>
                </a:cubicBezTo>
                <a:cubicBezTo>
                  <a:pt x="313" y="2137"/>
                  <a:pt x="308" y="2158"/>
                  <a:pt x="303" y="2179"/>
                </a:cubicBezTo>
                <a:cubicBezTo>
                  <a:pt x="299" y="2199"/>
                  <a:pt x="295" y="2218"/>
                  <a:pt x="295" y="2232"/>
                </a:cubicBezTo>
                <a:cubicBezTo>
                  <a:pt x="294" y="2247"/>
                  <a:pt x="293" y="2282"/>
                  <a:pt x="292" y="2324"/>
                </a:cubicBezTo>
                <a:cubicBezTo>
                  <a:pt x="291" y="2366"/>
                  <a:pt x="290" y="2415"/>
                  <a:pt x="287" y="2459"/>
                </a:cubicBezTo>
                <a:cubicBezTo>
                  <a:pt x="287" y="2462"/>
                  <a:pt x="287" y="2462"/>
                  <a:pt x="287" y="2462"/>
                </a:cubicBezTo>
                <a:cubicBezTo>
                  <a:pt x="1190" y="2462"/>
                  <a:pt x="1190" y="2462"/>
                  <a:pt x="1190" y="2462"/>
                </a:cubicBezTo>
                <a:cubicBezTo>
                  <a:pt x="1190" y="2459"/>
                  <a:pt x="1190" y="2459"/>
                  <a:pt x="1190" y="2459"/>
                </a:cubicBezTo>
                <a:cubicBezTo>
                  <a:pt x="1188" y="2415"/>
                  <a:pt x="1186" y="2366"/>
                  <a:pt x="1185" y="2324"/>
                </a:cubicBezTo>
                <a:cubicBezTo>
                  <a:pt x="1184" y="2282"/>
                  <a:pt x="1183" y="2247"/>
                  <a:pt x="1183" y="2232"/>
                </a:cubicBezTo>
                <a:cubicBezTo>
                  <a:pt x="1182" y="2222"/>
                  <a:pt x="1180" y="2208"/>
                  <a:pt x="1177" y="2193"/>
                </a:cubicBezTo>
                <a:cubicBezTo>
                  <a:pt x="1173" y="2171"/>
                  <a:pt x="1166" y="2145"/>
                  <a:pt x="1161" y="2124"/>
                </a:cubicBezTo>
                <a:cubicBezTo>
                  <a:pt x="1159" y="2113"/>
                  <a:pt x="1157" y="2103"/>
                  <a:pt x="1155" y="2095"/>
                </a:cubicBezTo>
                <a:cubicBezTo>
                  <a:pt x="1154" y="2091"/>
                  <a:pt x="1154" y="2088"/>
                  <a:pt x="1153" y="2085"/>
                </a:cubicBezTo>
                <a:cubicBezTo>
                  <a:pt x="1153" y="2082"/>
                  <a:pt x="1152" y="2080"/>
                  <a:pt x="1152" y="2078"/>
                </a:cubicBezTo>
                <a:cubicBezTo>
                  <a:pt x="1152" y="2075"/>
                  <a:pt x="1152" y="2071"/>
                  <a:pt x="1151" y="2067"/>
                </a:cubicBezTo>
                <a:cubicBezTo>
                  <a:pt x="1149" y="2058"/>
                  <a:pt x="1146" y="2047"/>
                  <a:pt x="1143" y="2034"/>
                </a:cubicBezTo>
                <a:cubicBezTo>
                  <a:pt x="1138" y="2016"/>
                  <a:pt x="1132" y="1994"/>
                  <a:pt x="1127" y="1975"/>
                </a:cubicBezTo>
                <a:cubicBezTo>
                  <a:pt x="1124" y="1965"/>
                  <a:pt x="1122" y="1957"/>
                  <a:pt x="1121" y="1949"/>
                </a:cubicBezTo>
                <a:cubicBezTo>
                  <a:pt x="1120" y="1946"/>
                  <a:pt x="1119" y="1942"/>
                  <a:pt x="1119" y="1939"/>
                </a:cubicBezTo>
                <a:cubicBezTo>
                  <a:pt x="1119" y="1936"/>
                  <a:pt x="1118" y="1934"/>
                  <a:pt x="1118" y="1932"/>
                </a:cubicBezTo>
                <a:cubicBezTo>
                  <a:pt x="1118" y="1932"/>
                  <a:pt x="1118" y="1932"/>
                  <a:pt x="1118" y="1932"/>
                </a:cubicBezTo>
                <a:cubicBezTo>
                  <a:pt x="1118" y="1932"/>
                  <a:pt x="1118" y="1932"/>
                  <a:pt x="1118" y="1932"/>
                </a:cubicBezTo>
                <a:cubicBezTo>
                  <a:pt x="1118" y="1932"/>
                  <a:pt x="1118" y="1932"/>
                  <a:pt x="1118" y="1932"/>
                </a:cubicBezTo>
                <a:cubicBezTo>
                  <a:pt x="1118" y="1932"/>
                  <a:pt x="1118" y="1932"/>
                  <a:pt x="1118" y="1932"/>
                </a:cubicBezTo>
                <a:cubicBezTo>
                  <a:pt x="1118" y="1925"/>
                  <a:pt x="1118" y="1914"/>
                  <a:pt x="1117" y="1900"/>
                </a:cubicBezTo>
                <a:cubicBezTo>
                  <a:pt x="1115" y="1856"/>
                  <a:pt x="1109" y="1785"/>
                  <a:pt x="1101" y="1736"/>
                </a:cubicBezTo>
                <a:cubicBezTo>
                  <a:pt x="1101" y="1733"/>
                  <a:pt x="1100" y="1729"/>
                  <a:pt x="1100" y="1725"/>
                </a:cubicBezTo>
                <a:cubicBezTo>
                  <a:pt x="1100" y="1714"/>
                  <a:pt x="1102" y="1700"/>
                  <a:pt x="1104" y="1684"/>
                </a:cubicBezTo>
                <a:cubicBezTo>
                  <a:pt x="1112" y="1628"/>
                  <a:pt x="1133" y="1544"/>
                  <a:pt x="1152" y="1474"/>
                </a:cubicBezTo>
                <a:cubicBezTo>
                  <a:pt x="1161" y="1439"/>
                  <a:pt x="1170" y="1408"/>
                  <a:pt x="1177" y="1386"/>
                </a:cubicBezTo>
                <a:cubicBezTo>
                  <a:pt x="1180" y="1374"/>
                  <a:pt x="1183" y="1365"/>
                  <a:pt x="1184" y="1359"/>
                </a:cubicBezTo>
                <a:cubicBezTo>
                  <a:pt x="1185" y="1356"/>
                  <a:pt x="1186" y="1353"/>
                  <a:pt x="1187" y="1352"/>
                </a:cubicBezTo>
                <a:cubicBezTo>
                  <a:pt x="1187" y="1350"/>
                  <a:pt x="1187" y="1349"/>
                  <a:pt x="1187" y="1349"/>
                </a:cubicBezTo>
                <a:cubicBezTo>
                  <a:pt x="1185" y="1348"/>
                  <a:pt x="1185" y="1348"/>
                  <a:pt x="1185" y="1348"/>
                </a:cubicBezTo>
                <a:cubicBezTo>
                  <a:pt x="1182" y="1349"/>
                  <a:pt x="1182" y="1349"/>
                  <a:pt x="1182" y="1349"/>
                </a:cubicBezTo>
                <a:cubicBezTo>
                  <a:pt x="1187" y="1368"/>
                  <a:pt x="1196" y="1392"/>
                  <a:pt x="1206" y="1419"/>
                </a:cubicBezTo>
                <a:cubicBezTo>
                  <a:pt x="1221" y="1460"/>
                  <a:pt x="1241" y="1505"/>
                  <a:pt x="1259" y="1544"/>
                </a:cubicBezTo>
                <a:cubicBezTo>
                  <a:pt x="1268" y="1563"/>
                  <a:pt x="1276" y="1581"/>
                  <a:pt x="1283" y="1595"/>
                </a:cubicBezTo>
                <a:cubicBezTo>
                  <a:pt x="1290" y="1609"/>
                  <a:pt x="1296" y="1620"/>
                  <a:pt x="1300" y="1626"/>
                </a:cubicBezTo>
                <a:cubicBezTo>
                  <a:pt x="1301" y="1629"/>
                  <a:pt x="1301" y="1629"/>
                  <a:pt x="1301" y="1629"/>
                </a:cubicBezTo>
                <a:cubicBezTo>
                  <a:pt x="1477" y="1521"/>
                  <a:pt x="1477" y="1521"/>
                  <a:pt x="1477" y="1521"/>
                </a:cubicBezTo>
                <a:cubicBezTo>
                  <a:pt x="1476" y="1519"/>
                  <a:pt x="1476" y="1519"/>
                  <a:pt x="1476" y="1519"/>
                </a:cubicBezTo>
                <a:cubicBezTo>
                  <a:pt x="1462" y="1462"/>
                  <a:pt x="1438" y="1410"/>
                  <a:pt x="1418" y="1372"/>
                </a:cubicBezTo>
                <a:cubicBezTo>
                  <a:pt x="1398" y="1334"/>
                  <a:pt x="1382" y="1311"/>
                  <a:pt x="1382" y="1311"/>
                </a:cubicBezTo>
                <a:cubicBezTo>
                  <a:pt x="1379" y="1312"/>
                  <a:pt x="1379" y="1312"/>
                  <a:pt x="1379" y="1312"/>
                </a:cubicBezTo>
                <a:cubicBezTo>
                  <a:pt x="1382" y="1313"/>
                  <a:pt x="1382" y="1313"/>
                  <a:pt x="1382" y="1313"/>
                </a:cubicBezTo>
                <a:cubicBezTo>
                  <a:pt x="1388" y="1286"/>
                  <a:pt x="1391" y="1258"/>
                  <a:pt x="1391" y="1231"/>
                </a:cubicBezTo>
                <a:cubicBezTo>
                  <a:pt x="1391" y="1179"/>
                  <a:pt x="1382" y="1130"/>
                  <a:pt x="1371" y="1087"/>
                </a:cubicBezTo>
                <a:cubicBezTo>
                  <a:pt x="1360" y="1043"/>
                  <a:pt x="1348" y="1006"/>
                  <a:pt x="1343" y="981"/>
                </a:cubicBezTo>
                <a:cubicBezTo>
                  <a:pt x="1341" y="972"/>
                  <a:pt x="1337" y="964"/>
                  <a:pt x="1332" y="956"/>
                </a:cubicBezTo>
                <a:cubicBezTo>
                  <a:pt x="1323" y="943"/>
                  <a:pt x="1310" y="930"/>
                  <a:pt x="1296" y="920"/>
                </a:cubicBezTo>
                <a:cubicBezTo>
                  <a:pt x="1274" y="904"/>
                  <a:pt x="1249" y="891"/>
                  <a:pt x="1230" y="882"/>
                </a:cubicBezTo>
                <a:cubicBezTo>
                  <a:pt x="1210" y="873"/>
                  <a:pt x="1196" y="868"/>
                  <a:pt x="1196" y="868"/>
                </a:cubicBezTo>
                <a:cubicBezTo>
                  <a:pt x="1195" y="871"/>
                  <a:pt x="1195" y="871"/>
                  <a:pt x="1195" y="871"/>
                </a:cubicBezTo>
                <a:cubicBezTo>
                  <a:pt x="1197" y="869"/>
                  <a:pt x="1197" y="869"/>
                  <a:pt x="1197" y="869"/>
                </a:cubicBezTo>
                <a:cubicBezTo>
                  <a:pt x="1193" y="866"/>
                  <a:pt x="1188" y="862"/>
                  <a:pt x="1182" y="859"/>
                </a:cubicBezTo>
                <a:cubicBezTo>
                  <a:pt x="1162" y="846"/>
                  <a:pt x="1130" y="830"/>
                  <a:pt x="1099" y="816"/>
                </a:cubicBezTo>
                <a:cubicBezTo>
                  <a:pt x="1068" y="802"/>
                  <a:pt x="1040" y="789"/>
                  <a:pt x="1026" y="784"/>
                </a:cubicBezTo>
                <a:cubicBezTo>
                  <a:pt x="1010" y="778"/>
                  <a:pt x="987" y="770"/>
                  <a:pt x="966" y="760"/>
                </a:cubicBezTo>
                <a:cubicBezTo>
                  <a:pt x="956" y="755"/>
                  <a:pt x="946" y="749"/>
                  <a:pt x="938" y="743"/>
                </a:cubicBezTo>
                <a:cubicBezTo>
                  <a:pt x="930" y="737"/>
                  <a:pt x="923" y="730"/>
                  <a:pt x="920" y="723"/>
                </a:cubicBezTo>
                <a:cubicBezTo>
                  <a:pt x="892" y="666"/>
                  <a:pt x="886" y="609"/>
                  <a:pt x="886" y="562"/>
                </a:cubicBezTo>
                <a:cubicBezTo>
                  <a:pt x="886" y="537"/>
                  <a:pt x="888" y="515"/>
                  <a:pt x="889" y="497"/>
                </a:cubicBezTo>
                <a:cubicBezTo>
                  <a:pt x="890" y="481"/>
                  <a:pt x="895" y="466"/>
                  <a:pt x="900" y="450"/>
                </a:cubicBezTo>
                <a:cubicBezTo>
                  <a:pt x="909" y="426"/>
                  <a:pt x="920" y="399"/>
                  <a:pt x="930" y="363"/>
                </a:cubicBezTo>
                <a:cubicBezTo>
                  <a:pt x="940" y="328"/>
                  <a:pt x="948" y="284"/>
                  <a:pt x="949" y="226"/>
                </a:cubicBezTo>
                <a:cubicBezTo>
                  <a:pt x="949" y="224"/>
                  <a:pt x="949" y="223"/>
                  <a:pt x="949" y="221"/>
                </a:cubicBezTo>
                <a:cubicBezTo>
                  <a:pt x="949" y="183"/>
                  <a:pt x="941" y="150"/>
                  <a:pt x="927" y="122"/>
                </a:cubicBezTo>
                <a:cubicBezTo>
                  <a:pt x="906" y="80"/>
                  <a:pt x="871" y="50"/>
                  <a:pt x="832" y="30"/>
                </a:cubicBezTo>
                <a:cubicBezTo>
                  <a:pt x="793" y="10"/>
                  <a:pt x="750" y="1"/>
                  <a:pt x="709" y="0"/>
                </a:cubicBezTo>
                <a:cubicBezTo>
                  <a:pt x="708" y="0"/>
                  <a:pt x="706" y="0"/>
                  <a:pt x="705" y="0"/>
                </a:cubicBezTo>
                <a:cubicBezTo>
                  <a:pt x="643" y="0"/>
                  <a:pt x="580" y="9"/>
                  <a:pt x="530" y="32"/>
                </a:cubicBezTo>
                <a:cubicBezTo>
                  <a:pt x="504" y="43"/>
                  <a:pt x="482" y="59"/>
                  <a:pt x="464" y="78"/>
                </a:cubicBezTo>
                <a:cubicBezTo>
                  <a:pt x="446" y="98"/>
                  <a:pt x="433" y="123"/>
                  <a:pt x="425" y="153"/>
                </a:cubicBezTo>
                <a:cubicBezTo>
                  <a:pt x="420" y="174"/>
                  <a:pt x="415" y="197"/>
                  <a:pt x="411" y="216"/>
                </a:cubicBezTo>
                <a:cubicBezTo>
                  <a:pt x="409" y="225"/>
                  <a:pt x="407" y="234"/>
                  <a:pt x="405" y="241"/>
                </a:cubicBezTo>
                <a:cubicBezTo>
                  <a:pt x="403" y="248"/>
                  <a:pt x="401" y="254"/>
                  <a:pt x="400" y="258"/>
                </a:cubicBezTo>
                <a:cubicBezTo>
                  <a:pt x="397" y="263"/>
                  <a:pt x="395" y="268"/>
                  <a:pt x="394" y="273"/>
                </a:cubicBezTo>
                <a:cubicBezTo>
                  <a:pt x="392" y="277"/>
                  <a:pt x="391" y="282"/>
                  <a:pt x="391" y="287"/>
                </a:cubicBezTo>
                <a:cubicBezTo>
                  <a:pt x="391" y="293"/>
                  <a:pt x="392" y="300"/>
                  <a:pt x="395" y="308"/>
                </a:cubicBezTo>
                <a:cubicBezTo>
                  <a:pt x="395" y="309"/>
                  <a:pt x="396" y="312"/>
                  <a:pt x="396" y="314"/>
                </a:cubicBezTo>
                <a:cubicBezTo>
                  <a:pt x="396" y="320"/>
                  <a:pt x="394" y="326"/>
                  <a:pt x="391" y="333"/>
                </a:cubicBezTo>
                <a:cubicBezTo>
                  <a:pt x="387" y="344"/>
                  <a:pt x="380" y="355"/>
                  <a:pt x="373" y="366"/>
                </a:cubicBezTo>
                <a:cubicBezTo>
                  <a:pt x="366" y="376"/>
                  <a:pt x="358" y="386"/>
                  <a:pt x="352" y="392"/>
                </a:cubicBezTo>
                <a:cubicBezTo>
                  <a:pt x="348" y="397"/>
                  <a:pt x="344" y="402"/>
                  <a:pt x="342" y="407"/>
                </a:cubicBezTo>
                <a:cubicBezTo>
                  <a:pt x="340" y="412"/>
                  <a:pt x="338" y="417"/>
                  <a:pt x="338" y="422"/>
                </a:cubicBezTo>
                <a:cubicBezTo>
                  <a:pt x="338" y="427"/>
                  <a:pt x="340" y="432"/>
                  <a:pt x="342" y="435"/>
                </a:cubicBezTo>
                <a:cubicBezTo>
                  <a:pt x="345" y="439"/>
                  <a:pt x="349" y="442"/>
                  <a:pt x="355" y="444"/>
                </a:cubicBezTo>
                <a:cubicBezTo>
                  <a:pt x="364" y="447"/>
                  <a:pt x="371" y="450"/>
                  <a:pt x="376" y="452"/>
                </a:cubicBezTo>
                <a:cubicBezTo>
                  <a:pt x="378" y="453"/>
                  <a:pt x="380" y="454"/>
                  <a:pt x="381" y="455"/>
                </a:cubicBezTo>
                <a:cubicBezTo>
                  <a:pt x="381" y="456"/>
                  <a:pt x="382" y="456"/>
                  <a:pt x="382" y="457"/>
                </a:cubicBezTo>
                <a:cubicBezTo>
                  <a:pt x="382" y="457"/>
                  <a:pt x="382" y="458"/>
                  <a:pt x="382" y="459"/>
                </a:cubicBezTo>
                <a:cubicBezTo>
                  <a:pt x="382" y="459"/>
                  <a:pt x="382" y="459"/>
                  <a:pt x="382" y="460"/>
                </a:cubicBezTo>
                <a:cubicBezTo>
                  <a:pt x="382" y="463"/>
                  <a:pt x="380" y="467"/>
                  <a:pt x="378" y="471"/>
                </a:cubicBezTo>
                <a:cubicBezTo>
                  <a:pt x="378" y="473"/>
                  <a:pt x="377" y="475"/>
                  <a:pt x="376" y="476"/>
                </a:cubicBezTo>
                <a:cubicBezTo>
                  <a:pt x="376" y="478"/>
                  <a:pt x="375" y="480"/>
                  <a:pt x="375" y="482"/>
                </a:cubicBezTo>
                <a:cubicBezTo>
                  <a:pt x="375" y="483"/>
                  <a:pt x="376" y="485"/>
                  <a:pt x="376" y="486"/>
                </a:cubicBezTo>
                <a:cubicBezTo>
                  <a:pt x="377" y="487"/>
                  <a:pt x="377" y="488"/>
                  <a:pt x="379" y="489"/>
                </a:cubicBezTo>
                <a:cubicBezTo>
                  <a:pt x="379" y="489"/>
                  <a:pt x="379" y="489"/>
                  <a:pt x="379" y="489"/>
                </a:cubicBezTo>
                <a:cubicBezTo>
                  <a:pt x="379" y="490"/>
                  <a:pt x="380" y="490"/>
                  <a:pt x="380" y="490"/>
                </a:cubicBezTo>
                <a:cubicBezTo>
                  <a:pt x="381" y="491"/>
                  <a:pt x="382" y="491"/>
                  <a:pt x="383" y="491"/>
                </a:cubicBezTo>
                <a:cubicBezTo>
                  <a:pt x="386" y="491"/>
                  <a:pt x="388" y="491"/>
                  <a:pt x="391" y="491"/>
                </a:cubicBezTo>
                <a:cubicBezTo>
                  <a:pt x="395" y="492"/>
                  <a:pt x="399" y="492"/>
                  <a:pt x="402" y="493"/>
                </a:cubicBezTo>
                <a:cubicBezTo>
                  <a:pt x="403" y="493"/>
                  <a:pt x="404" y="494"/>
                  <a:pt x="405" y="494"/>
                </a:cubicBezTo>
                <a:cubicBezTo>
                  <a:pt x="405" y="494"/>
                  <a:pt x="405" y="495"/>
                  <a:pt x="405" y="495"/>
                </a:cubicBezTo>
                <a:cubicBezTo>
                  <a:pt x="405" y="495"/>
                  <a:pt x="405" y="495"/>
                  <a:pt x="405" y="495"/>
                </a:cubicBezTo>
                <a:cubicBezTo>
                  <a:pt x="405" y="495"/>
                  <a:pt x="405" y="496"/>
                  <a:pt x="405" y="496"/>
                </a:cubicBezTo>
                <a:cubicBezTo>
                  <a:pt x="405" y="496"/>
                  <a:pt x="405" y="496"/>
                  <a:pt x="405" y="496"/>
                </a:cubicBezTo>
                <a:cubicBezTo>
                  <a:pt x="405" y="513"/>
                  <a:pt x="405" y="513"/>
                  <a:pt x="405" y="513"/>
                </a:cubicBezTo>
                <a:cubicBezTo>
                  <a:pt x="408" y="513"/>
                  <a:pt x="408" y="513"/>
                  <a:pt x="408" y="513"/>
                </a:cubicBezTo>
                <a:cubicBezTo>
                  <a:pt x="408" y="510"/>
                  <a:pt x="408" y="510"/>
                  <a:pt x="408" y="510"/>
                </a:cubicBezTo>
                <a:cubicBezTo>
                  <a:pt x="408" y="510"/>
                  <a:pt x="400" y="511"/>
                  <a:pt x="393" y="512"/>
                </a:cubicBezTo>
                <a:cubicBezTo>
                  <a:pt x="389" y="513"/>
                  <a:pt x="386" y="514"/>
                  <a:pt x="383" y="516"/>
                </a:cubicBezTo>
                <a:cubicBezTo>
                  <a:pt x="381" y="516"/>
                  <a:pt x="380" y="517"/>
                  <a:pt x="379" y="518"/>
                </a:cubicBezTo>
                <a:cubicBezTo>
                  <a:pt x="378" y="518"/>
                  <a:pt x="378" y="519"/>
                  <a:pt x="377" y="519"/>
                </a:cubicBezTo>
                <a:cubicBezTo>
                  <a:pt x="377" y="520"/>
                  <a:pt x="377" y="521"/>
                  <a:pt x="377" y="522"/>
                </a:cubicBezTo>
                <a:cubicBezTo>
                  <a:pt x="377" y="522"/>
                  <a:pt x="377" y="523"/>
                  <a:pt x="377" y="524"/>
                </a:cubicBezTo>
                <a:cubicBezTo>
                  <a:pt x="377" y="524"/>
                  <a:pt x="378" y="525"/>
                  <a:pt x="378" y="525"/>
                </a:cubicBezTo>
                <a:cubicBezTo>
                  <a:pt x="378" y="525"/>
                  <a:pt x="378" y="525"/>
                  <a:pt x="378" y="525"/>
                </a:cubicBezTo>
                <a:cubicBezTo>
                  <a:pt x="379" y="527"/>
                  <a:pt x="381" y="529"/>
                  <a:pt x="383" y="532"/>
                </a:cubicBezTo>
                <a:cubicBezTo>
                  <a:pt x="387" y="536"/>
                  <a:pt x="391" y="541"/>
                  <a:pt x="394" y="546"/>
                </a:cubicBezTo>
                <a:cubicBezTo>
                  <a:pt x="395" y="549"/>
                  <a:pt x="396" y="552"/>
                  <a:pt x="397" y="554"/>
                </a:cubicBezTo>
                <a:cubicBezTo>
                  <a:pt x="398" y="556"/>
                  <a:pt x="399" y="558"/>
                  <a:pt x="399" y="560"/>
                </a:cubicBezTo>
                <a:cubicBezTo>
                  <a:pt x="399" y="560"/>
                  <a:pt x="399" y="561"/>
                  <a:pt x="398" y="562"/>
                </a:cubicBezTo>
                <a:cubicBezTo>
                  <a:pt x="398" y="563"/>
                  <a:pt x="397" y="566"/>
                  <a:pt x="396" y="570"/>
                </a:cubicBezTo>
                <a:cubicBezTo>
                  <a:pt x="393" y="581"/>
                  <a:pt x="389" y="601"/>
                  <a:pt x="389" y="620"/>
                </a:cubicBezTo>
                <a:cubicBezTo>
                  <a:pt x="389" y="629"/>
                  <a:pt x="390" y="638"/>
                  <a:pt x="393" y="646"/>
                </a:cubicBezTo>
                <a:cubicBezTo>
                  <a:pt x="394" y="649"/>
                  <a:pt x="396" y="653"/>
                  <a:pt x="398" y="656"/>
                </a:cubicBezTo>
                <a:cubicBezTo>
                  <a:pt x="400" y="659"/>
                  <a:pt x="403" y="661"/>
                  <a:pt x="407" y="663"/>
                </a:cubicBezTo>
                <a:cubicBezTo>
                  <a:pt x="411" y="664"/>
                  <a:pt x="416" y="666"/>
                  <a:pt x="421" y="667"/>
                </a:cubicBezTo>
                <a:cubicBezTo>
                  <a:pt x="431" y="669"/>
                  <a:pt x="442" y="670"/>
                  <a:pt x="454" y="671"/>
                </a:cubicBezTo>
                <a:cubicBezTo>
                  <a:pt x="472" y="672"/>
                  <a:pt x="491" y="673"/>
                  <a:pt x="507" y="674"/>
                </a:cubicBezTo>
                <a:cubicBezTo>
                  <a:pt x="515" y="674"/>
                  <a:pt x="523" y="675"/>
                  <a:pt x="528" y="676"/>
                </a:cubicBezTo>
                <a:cubicBezTo>
                  <a:pt x="531" y="676"/>
                  <a:pt x="534" y="677"/>
                  <a:pt x="536" y="677"/>
                </a:cubicBezTo>
                <a:cubicBezTo>
                  <a:pt x="538" y="678"/>
                  <a:pt x="539" y="678"/>
                  <a:pt x="540" y="679"/>
                </a:cubicBezTo>
                <a:cubicBezTo>
                  <a:pt x="546" y="683"/>
                  <a:pt x="552" y="686"/>
                  <a:pt x="556" y="690"/>
                </a:cubicBezTo>
                <a:cubicBezTo>
                  <a:pt x="558" y="692"/>
                  <a:pt x="559" y="694"/>
                  <a:pt x="561" y="696"/>
                </a:cubicBezTo>
                <a:cubicBezTo>
                  <a:pt x="562" y="699"/>
                  <a:pt x="562" y="701"/>
                  <a:pt x="562" y="705"/>
                </a:cubicBezTo>
                <a:cubicBezTo>
                  <a:pt x="562" y="710"/>
                  <a:pt x="561" y="716"/>
                  <a:pt x="557" y="723"/>
                </a:cubicBezTo>
                <a:cubicBezTo>
                  <a:pt x="554" y="730"/>
                  <a:pt x="548" y="737"/>
                  <a:pt x="540" y="743"/>
                </a:cubicBezTo>
                <a:cubicBezTo>
                  <a:pt x="527" y="752"/>
                  <a:pt x="511" y="760"/>
                  <a:pt x="495" y="767"/>
                </a:cubicBezTo>
                <a:cubicBezTo>
                  <a:pt x="479" y="774"/>
                  <a:pt x="463" y="780"/>
                  <a:pt x="451" y="784"/>
                </a:cubicBezTo>
                <a:cubicBezTo>
                  <a:pt x="443" y="787"/>
                  <a:pt x="431" y="792"/>
                  <a:pt x="415" y="799"/>
                </a:cubicBezTo>
                <a:cubicBezTo>
                  <a:pt x="393" y="809"/>
                  <a:pt x="364" y="822"/>
                  <a:pt x="339" y="835"/>
                </a:cubicBezTo>
                <a:cubicBezTo>
                  <a:pt x="326" y="841"/>
                  <a:pt x="314" y="847"/>
                  <a:pt x="304" y="853"/>
                </a:cubicBezTo>
                <a:cubicBezTo>
                  <a:pt x="294" y="859"/>
                  <a:pt x="286" y="864"/>
                  <a:pt x="280" y="869"/>
                </a:cubicBezTo>
                <a:cubicBezTo>
                  <a:pt x="282" y="871"/>
                  <a:pt x="282" y="871"/>
                  <a:pt x="282" y="871"/>
                </a:cubicBezTo>
                <a:cubicBezTo>
                  <a:pt x="281" y="868"/>
                  <a:pt x="281" y="868"/>
                  <a:pt x="281" y="868"/>
                </a:cubicBezTo>
                <a:cubicBezTo>
                  <a:pt x="281" y="868"/>
                  <a:pt x="248" y="880"/>
                  <a:pt x="213" y="899"/>
                </a:cubicBezTo>
                <a:cubicBezTo>
                  <a:pt x="196" y="909"/>
                  <a:pt x="178" y="921"/>
                  <a:pt x="164" y="934"/>
                </a:cubicBezTo>
                <a:cubicBezTo>
                  <a:pt x="157" y="941"/>
                  <a:pt x="150" y="948"/>
                  <a:pt x="145" y="956"/>
                </a:cubicBezTo>
                <a:cubicBezTo>
                  <a:pt x="140" y="964"/>
                  <a:pt x="136" y="972"/>
                  <a:pt x="134" y="981"/>
                </a:cubicBezTo>
                <a:cubicBezTo>
                  <a:pt x="129" y="1006"/>
                  <a:pt x="117" y="1043"/>
                  <a:pt x="106" y="1087"/>
                </a:cubicBezTo>
                <a:cubicBezTo>
                  <a:pt x="96" y="1130"/>
                  <a:pt x="86" y="1179"/>
                  <a:pt x="86" y="1231"/>
                </a:cubicBezTo>
                <a:cubicBezTo>
                  <a:pt x="86" y="1258"/>
                  <a:pt x="89" y="1286"/>
                  <a:pt x="95" y="1313"/>
                </a:cubicBezTo>
                <a:cubicBezTo>
                  <a:pt x="98" y="1312"/>
                  <a:pt x="98" y="1312"/>
                  <a:pt x="98" y="1312"/>
                </a:cubicBezTo>
                <a:cubicBezTo>
                  <a:pt x="96" y="1311"/>
                  <a:pt x="96" y="1311"/>
                  <a:pt x="96" y="1311"/>
                </a:cubicBezTo>
                <a:cubicBezTo>
                  <a:pt x="96" y="1311"/>
                  <a:pt x="79" y="1334"/>
                  <a:pt x="59" y="1372"/>
                </a:cubicBezTo>
                <a:cubicBezTo>
                  <a:pt x="39" y="1410"/>
                  <a:pt x="15" y="1462"/>
                  <a:pt x="1" y="1519"/>
                </a:cubicBezTo>
                <a:cubicBezTo>
                  <a:pt x="0" y="1521"/>
                  <a:pt x="0" y="1521"/>
                  <a:pt x="0" y="1521"/>
                </a:cubicBezTo>
                <a:cubicBezTo>
                  <a:pt x="176" y="1629"/>
                  <a:pt x="176" y="1629"/>
                  <a:pt x="176" y="1629"/>
                </a:cubicBezTo>
                <a:cubicBezTo>
                  <a:pt x="178" y="1626"/>
                  <a:pt x="178" y="1626"/>
                  <a:pt x="178" y="1626"/>
                </a:cubicBezTo>
                <a:cubicBezTo>
                  <a:pt x="175" y="1625"/>
                  <a:pt x="175" y="1625"/>
                  <a:pt x="175" y="1625"/>
                </a:cubicBezTo>
                <a:cubicBezTo>
                  <a:pt x="177" y="1623"/>
                  <a:pt x="177" y="1623"/>
                  <a:pt x="177" y="1623"/>
                </a:cubicBezTo>
                <a:cubicBezTo>
                  <a:pt x="5" y="1517"/>
                  <a:pt x="5" y="1517"/>
                  <a:pt x="5" y="1517"/>
                </a:cubicBezTo>
                <a:cubicBezTo>
                  <a:pt x="3" y="1519"/>
                  <a:pt x="3" y="1519"/>
                  <a:pt x="3" y="1519"/>
                </a:cubicBezTo>
                <a:cubicBezTo>
                  <a:pt x="6" y="1520"/>
                  <a:pt x="6" y="1520"/>
                  <a:pt x="6" y="1520"/>
                </a:cubicBezTo>
                <a:cubicBezTo>
                  <a:pt x="20" y="1463"/>
                  <a:pt x="44" y="1412"/>
                  <a:pt x="64" y="1374"/>
                </a:cubicBezTo>
                <a:cubicBezTo>
                  <a:pt x="74" y="1356"/>
                  <a:pt x="83" y="1341"/>
                  <a:pt x="89" y="1330"/>
                </a:cubicBezTo>
                <a:cubicBezTo>
                  <a:pt x="93" y="1325"/>
                  <a:pt x="95" y="1321"/>
                  <a:pt x="97" y="1318"/>
                </a:cubicBezTo>
                <a:cubicBezTo>
                  <a:pt x="98" y="1317"/>
                  <a:pt x="99" y="1316"/>
                  <a:pt x="99" y="1315"/>
                </a:cubicBezTo>
                <a:cubicBezTo>
                  <a:pt x="99" y="1315"/>
                  <a:pt x="100" y="1314"/>
                  <a:pt x="100" y="1314"/>
                </a:cubicBezTo>
                <a:cubicBezTo>
                  <a:pt x="100" y="1314"/>
                  <a:pt x="100" y="1314"/>
                  <a:pt x="100" y="1314"/>
                </a:cubicBezTo>
                <a:cubicBezTo>
                  <a:pt x="101" y="1313"/>
                  <a:pt x="101" y="1313"/>
                  <a:pt x="101" y="1313"/>
                </a:cubicBezTo>
                <a:cubicBezTo>
                  <a:pt x="100" y="1312"/>
                  <a:pt x="100" y="1312"/>
                  <a:pt x="100" y="1312"/>
                </a:cubicBezTo>
                <a:cubicBezTo>
                  <a:pt x="94" y="1285"/>
                  <a:pt x="92" y="1258"/>
                  <a:pt x="92" y="1231"/>
                </a:cubicBezTo>
                <a:cubicBezTo>
                  <a:pt x="92" y="1180"/>
                  <a:pt x="101" y="1131"/>
                  <a:pt x="111" y="1088"/>
                </a:cubicBezTo>
                <a:cubicBezTo>
                  <a:pt x="122" y="1045"/>
                  <a:pt x="134" y="1008"/>
                  <a:pt x="140" y="982"/>
                </a:cubicBezTo>
                <a:cubicBezTo>
                  <a:pt x="141" y="974"/>
                  <a:pt x="145" y="966"/>
                  <a:pt x="150" y="959"/>
                </a:cubicBezTo>
                <a:cubicBezTo>
                  <a:pt x="158" y="946"/>
                  <a:pt x="171" y="934"/>
                  <a:pt x="185" y="924"/>
                </a:cubicBezTo>
                <a:cubicBezTo>
                  <a:pt x="206" y="908"/>
                  <a:pt x="230" y="896"/>
                  <a:pt x="249" y="887"/>
                </a:cubicBezTo>
                <a:cubicBezTo>
                  <a:pt x="259" y="883"/>
                  <a:pt x="267" y="879"/>
                  <a:pt x="273" y="877"/>
                </a:cubicBezTo>
                <a:cubicBezTo>
                  <a:pt x="276" y="876"/>
                  <a:pt x="279" y="875"/>
                  <a:pt x="280" y="874"/>
                </a:cubicBezTo>
                <a:cubicBezTo>
                  <a:pt x="281" y="874"/>
                  <a:pt x="282" y="874"/>
                  <a:pt x="282" y="874"/>
                </a:cubicBezTo>
                <a:cubicBezTo>
                  <a:pt x="282" y="874"/>
                  <a:pt x="282" y="874"/>
                  <a:pt x="282" y="873"/>
                </a:cubicBezTo>
                <a:cubicBezTo>
                  <a:pt x="283" y="873"/>
                  <a:pt x="283" y="873"/>
                  <a:pt x="283" y="873"/>
                </a:cubicBezTo>
                <a:cubicBezTo>
                  <a:pt x="283" y="873"/>
                  <a:pt x="283" y="873"/>
                  <a:pt x="283" y="873"/>
                </a:cubicBezTo>
                <a:cubicBezTo>
                  <a:pt x="283" y="873"/>
                  <a:pt x="283" y="873"/>
                  <a:pt x="283" y="873"/>
                </a:cubicBezTo>
                <a:cubicBezTo>
                  <a:pt x="287" y="870"/>
                  <a:pt x="292" y="867"/>
                  <a:pt x="298" y="863"/>
                </a:cubicBezTo>
                <a:cubicBezTo>
                  <a:pt x="318" y="851"/>
                  <a:pt x="350" y="835"/>
                  <a:pt x="380" y="821"/>
                </a:cubicBezTo>
                <a:cubicBezTo>
                  <a:pt x="411" y="807"/>
                  <a:pt x="440" y="794"/>
                  <a:pt x="453" y="789"/>
                </a:cubicBezTo>
                <a:cubicBezTo>
                  <a:pt x="469" y="783"/>
                  <a:pt x="492" y="775"/>
                  <a:pt x="513" y="765"/>
                </a:cubicBezTo>
                <a:cubicBezTo>
                  <a:pt x="524" y="759"/>
                  <a:pt x="534" y="754"/>
                  <a:pt x="543" y="747"/>
                </a:cubicBezTo>
                <a:cubicBezTo>
                  <a:pt x="551" y="741"/>
                  <a:pt x="558" y="734"/>
                  <a:pt x="562" y="726"/>
                </a:cubicBezTo>
                <a:cubicBezTo>
                  <a:pt x="566" y="717"/>
                  <a:pt x="568" y="711"/>
                  <a:pt x="568" y="705"/>
                </a:cubicBezTo>
                <a:cubicBezTo>
                  <a:pt x="568" y="701"/>
                  <a:pt x="567" y="697"/>
                  <a:pt x="565" y="694"/>
                </a:cubicBezTo>
                <a:cubicBezTo>
                  <a:pt x="563" y="689"/>
                  <a:pt x="560" y="686"/>
                  <a:pt x="556" y="683"/>
                </a:cubicBezTo>
                <a:cubicBezTo>
                  <a:pt x="552" y="680"/>
                  <a:pt x="547" y="677"/>
                  <a:pt x="543" y="675"/>
                </a:cubicBezTo>
                <a:cubicBezTo>
                  <a:pt x="542" y="674"/>
                  <a:pt x="540" y="673"/>
                  <a:pt x="539" y="673"/>
                </a:cubicBezTo>
                <a:cubicBezTo>
                  <a:pt x="536" y="672"/>
                  <a:pt x="532" y="671"/>
                  <a:pt x="527" y="670"/>
                </a:cubicBezTo>
                <a:cubicBezTo>
                  <a:pt x="520" y="669"/>
                  <a:pt x="510" y="669"/>
                  <a:pt x="499" y="668"/>
                </a:cubicBezTo>
                <a:cubicBezTo>
                  <a:pt x="483" y="667"/>
                  <a:pt x="465" y="667"/>
                  <a:pt x="449" y="665"/>
                </a:cubicBezTo>
                <a:cubicBezTo>
                  <a:pt x="440" y="664"/>
                  <a:pt x="433" y="663"/>
                  <a:pt x="426" y="662"/>
                </a:cubicBezTo>
                <a:cubicBezTo>
                  <a:pt x="419" y="661"/>
                  <a:pt x="413" y="660"/>
                  <a:pt x="409" y="658"/>
                </a:cubicBezTo>
                <a:cubicBezTo>
                  <a:pt x="406" y="656"/>
                  <a:pt x="404" y="655"/>
                  <a:pt x="402" y="652"/>
                </a:cubicBezTo>
                <a:cubicBezTo>
                  <a:pt x="399" y="649"/>
                  <a:pt x="397" y="644"/>
                  <a:pt x="396" y="639"/>
                </a:cubicBezTo>
                <a:cubicBezTo>
                  <a:pt x="395" y="633"/>
                  <a:pt x="394" y="627"/>
                  <a:pt x="394" y="620"/>
                </a:cubicBezTo>
                <a:cubicBezTo>
                  <a:pt x="394" y="608"/>
                  <a:pt x="396" y="595"/>
                  <a:pt x="398" y="585"/>
                </a:cubicBezTo>
                <a:cubicBezTo>
                  <a:pt x="399" y="579"/>
                  <a:pt x="400" y="575"/>
                  <a:pt x="401" y="571"/>
                </a:cubicBezTo>
                <a:cubicBezTo>
                  <a:pt x="402" y="567"/>
                  <a:pt x="403" y="565"/>
                  <a:pt x="403" y="563"/>
                </a:cubicBezTo>
                <a:cubicBezTo>
                  <a:pt x="404" y="562"/>
                  <a:pt x="404" y="561"/>
                  <a:pt x="404" y="560"/>
                </a:cubicBezTo>
                <a:cubicBezTo>
                  <a:pt x="404" y="556"/>
                  <a:pt x="403" y="553"/>
                  <a:pt x="401" y="549"/>
                </a:cubicBezTo>
                <a:cubicBezTo>
                  <a:pt x="399" y="544"/>
                  <a:pt x="395" y="538"/>
                  <a:pt x="391" y="533"/>
                </a:cubicBezTo>
                <a:cubicBezTo>
                  <a:pt x="387" y="528"/>
                  <a:pt x="384" y="524"/>
                  <a:pt x="382" y="522"/>
                </a:cubicBezTo>
                <a:cubicBezTo>
                  <a:pt x="382" y="522"/>
                  <a:pt x="382" y="522"/>
                  <a:pt x="382" y="522"/>
                </a:cubicBezTo>
                <a:cubicBezTo>
                  <a:pt x="382" y="522"/>
                  <a:pt x="382" y="522"/>
                  <a:pt x="382" y="522"/>
                </a:cubicBezTo>
                <a:cubicBezTo>
                  <a:pt x="382" y="522"/>
                  <a:pt x="382" y="522"/>
                  <a:pt x="382" y="522"/>
                </a:cubicBezTo>
                <a:cubicBezTo>
                  <a:pt x="381" y="522"/>
                  <a:pt x="381" y="522"/>
                  <a:pt x="381" y="522"/>
                </a:cubicBezTo>
                <a:cubicBezTo>
                  <a:pt x="382" y="522"/>
                  <a:pt x="382" y="522"/>
                  <a:pt x="382" y="522"/>
                </a:cubicBezTo>
                <a:cubicBezTo>
                  <a:pt x="382" y="522"/>
                  <a:pt x="382" y="522"/>
                  <a:pt x="382" y="522"/>
                </a:cubicBezTo>
                <a:cubicBezTo>
                  <a:pt x="381" y="522"/>
                  <a:pt x="381" y="522"/>
                  <a:pt x="381" y="522"/>
                </a:cubicBezTo>
                <a:cubicBezTo>
                  <a:pt x="382" y="522"/>
                  <a:pt x="382" y="522"/>
                  <a:pt x="382" y="522"/>
                </a:cubicBezTo>
                <a:cubicBezTo>
                  <a:pt x="381" y="522"/>
                  <a:pt x="381" y="522"/>
                  <a:pt x="381" y="522"/>
                </a:cubicBezTo>
                <a:cubicBezTo>
                  <a:pt x="382" y="522"/>
                  <a:pt x="382" y="522"/>
                  <a:pt x="382" y="522"/>
                </a:cubicBezTo>
                <a:cubicBezTo>
                  <a:pt x="382" y="522"/>
                  <a:pt x="382" y="522"/>
                  <a:pt x="382" y="522"/>
                </a:cubicBezTo>
                <a:cubicBezTo>
                  <a:pt x="381" y="522"/>
                  <a:pt x="381" y="522"/>
                  <a:pt x="381" y="522"/>
                </a:cubicBezTo>
                <a:cubicBezTo>
                  <a:pt x="382" y="522"/>
                  <a:pt x="382" y="522"/>
                  <a:pt x="382" y="522"/>
                </a:cubicBezTo>
                <a:cubicBezTo>
                  <a:pt x="382" y="522"/>
                  <a:pt x="382" y="522"/>
                  <a:pt x="382" y="522"/>
                </a:cubicBezTo>
                <a:cubicBezTo>
                  <a:pt x="382" y="522"/>
                  <a:pt x="382" y="522"/>
                  <a:pt x="382" y="522"/>
                </a:cubicBezTo>
                <a:cubicBezTo>
                  <a:pt x="382" y="522"/>
                  <a:pt x="382" y="522"/>
                  <a:pt x="382" y="522"/>
                </a:cubicBezTo>
                <a:cubicBezTo>
                  <a:pt x="382" y="522"/>
                  <a:pt x="382" y="522"/>
                  <a:pt x="382" y="522"/>
                </a:cubicBezTo>
                <a:cubicBezTo>
                  <a:pt x="382" y="522"/>
                  <a:pt x="382" y="522"/>
                  <a:pt x="382" y="522"/>
                </a:cubicBezTo>
                <a:cubicBezTo>
                  <a:pt x="382" y="522"/>
                  <a:pt x="382" y="522"/>
                  <a:pt x="383" y="521"/>
                </a:cubicBezTo>
                <a:cubicBezTo>
                  <a:pt x="385" y="520"/>
                  <a:pt x="387" y="520"/>
                  <a:pt x="390" y="519"/>
                </a:cubicBezTo>
                <a:cubicBezTo>
                  <a:pt x="394" y="518"/>
                  <a:pt x="398" y="517"/>
                  <a:pt x="402" y="516"/>
                </a:cubicBezTo>
                <a:cubicBezTo>
                  <a:pt x="404" y="516"/>
                  <a:pt x="405" y="516"/>
                  <a:pt x="407" y="516"/>
                </a:cubicBezTo>
                <a:cubicBezTo>
                  <a:pt x="407" y="515"/>
                  <a:pt x="408" y="515"/>
                  <a:pt x="408" y="515"/>
                </a:cubicBezTo>
                <a:cubicBezTo>
                  <a:pt x="408" y="515"/>
                  <a:pt x="408" y="515"/>
                  <a:pt x="408" y="515"/>
                </a:cubicBezTo>
                <a:cubicBezTo>
                  <a:pt x="411" y="515"/>
                  <a:pt x="411" y="515"/>
                  <a:pt x="411" y="515"/>
                </a:cubicBezTo>
                <a:cubicBezTo>
                  <a:pt x="411" y="496"/>
                  <a:pt x="411" y="496"/>
                  <a:pt x="411" y="496"/>
                </a:cubicBezTo>
                <a:cubicBezTo>
                  <a:pt x="408" y="496"/>
                  <a:pt x="408" y="496"/>
                  <a:pt x="408" y="496"/>
                </a:cubicBezTo>
                <a:cubicBezTo>
                  <a:pt x="411" y="497"/>
                  <a:pt x="411" y="497"/>
                  <a:pt x="411" y="497"/>
                </a:cubicBezTo>
                <a:cubicBezTo>
                  <a:pt x="411" y="496"/>
                  <a:pt x="411" y="496"/>
                  <a:pt x="411" y="495"/>
                </a:cubicBezTo>
                <a:cubicBezTo>
                  <a:pt x="411" y="494"/>
                  <a:pt x="411" y="494"/>
                  <a:pt x="410" y="493"/>
                </a:cubicBezTo>
                <a:cubicBezTo>
                  <a:pt x="410" y="491"/>
                  <a:pt x="409" y="490"/>
                  <a:pt x="407" y="489"/>
                </a:cubicBezTo>
                <a:cubicBezTo>
                  <a:pt x="405" y="488"/>
                  <a:pt x="403" y="487"/>
                  <a:pt x="400" y="487"/>
                </a:cubicBezTo>
                <a:cubicBezTo>
                  <a:pt x="396" y="486"/>
                  <a:pt x="392" y="486"/>
                  <a:pt x="388" y="486"/>
                </a:cubicBezTo>
                <a:cubicBezTo>
                  <a:pt x="386" y="486"/>
                  <a:pt x="385" y="486"/>
                  <a:pt x="383" y="485"/>
                </a:cubicBezTo>
                <a:cubicBezTo>
                  <a:pt x="383" y="485"/>
                  <a:pt x="382" y="485"/>
                  <a:pt x="382" y="485"/>
                </a:cubicBezTo>
                <a:cubicBezTo>
                  <a:pt x="382" y="485"/>
                  <a:pt x="382" y="485"/>
                  <a:pt x="382" y="485"/>
                </a:cubicBezTo>
                <a:cubicBezTo>
                  <a:pt x="382" y="485"/>
                  <a:pt x="382" y="485"/>
                  <a:pt x="382" y="485"/>
                </a:cubicBezTo>
                <a:cubicBezTo>
                  <a:pt x="381" y="486"/>
                  <a:pt x="381" y="486"/>
                  <a:pt x="381" y="486"/>
                </a:cubicBezTo>
                <a:cubicBezTo>
                  <a:pt x="382" y="485"/>
                  <a:pt x="382" y="485"/>
                  <a:pt x="382" y="485"/>
                </a:cubicBezTo>
                <a:cubicBezTo>
                  <a:pt x="382" y="485"/>
                  <a:pt x="382" y="485"/>
                  <a:pt x="382" y="485"/>
                </a:cubicBezTo>
                <a:cubicBezTo>
                  <a:pt x="381" y="486"/>
                  <a:pt x="381" y="486"/>
                  <a:pt x="381" y="486"/>
                </a:cubicBezTo>
                <a:cubicBezTo>
                  <a:pt x="382" y="485"/>
                  <a:pt x="382" y="485"/>
                  <a:pt x="382" y="485"/>
                </a:cubicBezTo>
                <a:cubicBezTo>
                  <a:pt x="382" y="485"/>
                  <a:pt x="382" y="485"/>
                  <a:pt x="382" y="485"/>
                </a:cubicBezTo>
                <a:cubicBezTo>
                  <a:pt x="381" y="485"/>
                  <a:pt x="381" y="484"/>
                  <a:pt x="381" y="484"/>
                </a:cubicBezTo>
                <a:cubicBezTo>
                  <a:pt x="381" y="483"/>
                  <a:pt x="381" y="483"/>
                  <a:pt x="381" y="482"/>
                </a:cubicBezTo>
                <a:cubicBezTo>
                  <a:pt x="381" y="481"/>
                  <a:pt x="381" y="480"/>
                  <a:pt x="381" y="478"/>
                </a:cubicBezTo>
                <a:cubicBezTo>
                  <a:pt x="382" y="476"/>
                  <a:pt x="383" y="473"/>
                  <a:pt x="385" y="470"/>
                </a:cubicBezTo>
                <a:cubicBezTo>
                  <a:pt x="386" y="467"/>
                  <a:pt x="387" y="464"/>
                  <a:pt x="387" y="461"/>
                </a:cubicBezTo>
                <a:cubicBezTo>
                  <a:pt x="388" y="460"/>
                  <a:pt x="388" y="459"/>
                  <a:pt x="388" y="459"/>
                </a:cubicBezTo>
                <a:cubicBezTo>
                  <a:pt x="388" y="457"/>
                  <a:pt x="387" y="456"/>
                  <a:pt x="387" y="455"/>
                </a:cubicBezTo>
                <a:cubicBezTo>
                  <a:pt x="386" y="453"/>
                  <a:pt x="385" y="451"/>
                  <a:pt x="383" y="450"/>
                </a:cubicBezTo>
                <a:cubicBezTo>
                  <a:pt x="380" y="448"/>
                  <a:pt x="376" y="446"/>
                  <a:pt x="372" y="444"/>
                </a:cubicBezTo>
                <a:cubicBezTo>
                  <a:pt x="367" y="443"/>
                  <a:pt x="362" y="441"/>
                  <a:pt x="356" y="439"/>
                </a:cubicBezTo>
                <a:cubicBezTo>
                  <a:pt x="352" y="438"/>
                  <a:pt x="349" y="435"/>
                  <a:pt x="347" y="432"/>
                </a:cubicBezTo>
                <a:cubicBezTo>
                  <a:pt x="345" y="429"/>
                  <a:pt x="344" y="426"/>
                  <a:pt x="344" y="422"/>
                </a:cubicBezTo>
                <a:cubicBezTo>
                  <a:pt x="344" y="418"/>
                  <a:pt x="345" y="414"/>
                  <a:pt x="347" y="409"/>
                </a:cubicBezTo>
                <a:cubicBezTo>
                  <a:pt x="349" y="405"/>
                  <a:pt x="352" y="400"/>
                  <a:pt x="356" y="396"/>
                </a:cubicBezTo>
                <a:cubicBezTo>
                  <a:pt x="364" y="387"/>
                  <a:pt x="376" y="373"/>
                  <a:pt x="385" y="358"/>
                </a:cubicBezTo>
                <a:cubicBezTo>
                  <a:pt x="389" y="350"/>
                  <a:pt x="393" y="343"/>
                  <a:pt x="396" y="335"/>
                </a:cubicBezTo>
                <a:cubicBezTo>
                  <a:pt x="399" y="328"/>
                  <a:pt x="401" y="321"/>
                  <a:pt x="401" y="314"/>
                </a:cubicBezTo>
                <a:cubicBezTo>
                  <a:pt x="401" y="311"/>
                  <a:pt x="401" y="308"/>
                  <a:pt x="400" y="306"/>
                </a:cubicBezTo>
                <a:cubicBezTo>
                  <a:pt x="397" y="298"/>
                  <a:pt x="396" y="292"/>
                  <a:pt x="396" y="287"/>
                </a:cubicBezTo>
                <a:cubicBezTo>
                  <a:pt x="396" y="283"/>
                  <a:pt x="397" y="279"/>
                  <a:pt x="399" y="274"/>
                </a:cubicBezTo>
                <a:cubicBezTo>
                  <a:pt x="400" y="270"/>
                  <a:pt x="402" y="266"/>
                  <a:pt x="405" y="260"/>
                </a:cubicBezTo>
                <a:cubicBezTo>
                  <a:pt x="406" y="256"/>
                  <a:pt x="408" y="250"/>
                  <a:pt x="410" y="242"/>
                </a:cubicBezTo>
                <a:cubicBezTo>
                  <a:pt x="416" y="220"/>
                  <a:pt x="422" y="186"/>
                  <a:pt x="430" y="154"/>
                </a:cubicBezTo>
                <a:cubicBezTo>
                  <a:pt x="438" y="125"/>
                  <a:pt x="451" y="101"/>
                  <a:pt x="468" y="82"/>
                </a:cubicBezTo>
                <a:cubicBezTo>
                  <a:pt x="494" y="53"/>
                  <a:pt x="530" y="34"/>
                  <a:pt x="571" y="22"/>
                </a:cubicBezTo>
                <a:cubicBezTo>
                  <a:pt x="612" y="10"/>
                  <a:pt x="659" y="6"/>
                  <a:pt x="705" y="6"/>
                </a:cubicBezTo>
                <a:cubicBezTo>
                  <a:pt x="706" y="6"/>
                  <a:pt x="708" y="6"/>
                  <a:pt x="709" y="6"/>
                </a:cubicBezTo>
                <a:cubicBezTo>
                  <a:pt x="762" y="6"/>
                  <a:pt x="821" y="22"/>
                  <a:pt x="866" y="58"/>
                </a:cubicBezTo>
                <a:cubicBezTo>
                  <a:pt x="889" y="75"/>
                  <a:pt x="908" y="97"/>
                  <a:pt x="922" y="124"/>
                </a:cubicBezTo>
                <a:cubicBezTo>
                  <a:pt x="936" y="152"/>
                  <a:pt x="944" y="184"/>
                  <a:pt x="944" y="221"/>
                </a:cubicBezTo>
                <a:cubicBezTo>
                  <a:pt x="944" y="223"/>
                  <a:pt x="944" y="224"/>
                  <a:pt x="944" y="226"/>
                </a:cubicBezTo>
                <a:cubicBezTo>
                  <a:pt x="942" y="303"/>
                  <a:pt x="929" y="354"/>
                  <a:pt x="915" y="394"/>
                </a:cubicBezTo>
                <a:cubicBezTo>
                  <a:pt x="908" y="414"/>
                  <a:pt x="901" y="432"/>
                  <a:pt x="895" y="448"/>
                </a:cubicBezTo>
                <a:cubicBezTo>
                  <a:pt x="889" y="464"/>
                  <a:pt x="885" y="480"/>
                  <a:pt x="884" y="496"/>
                </a:cubicBezTo>
                <a:cubicBezTo>
                  <a:pt x="882" y="514"/>
                  <a:pt x="880" y="537"/>
                  <a:pt x="880" y="562"/>
                </a:cubicBezTo>
                <a:cubicBezTo>
                  <a:pt x="880" y="610"/>
                  <a:pt x="887" y="667"/>
                  <a:pt x="915" y="726"/>
                </a:cubicBezTo>
                <a:cubicBezTo>
                  <a:pt x="919" y="734"/>
                  <a:pt x="926" y="741"/>
                  <a:pt x="934" y="747"/>
                </a:cubicBezTo>
                <a:cubicBezTo>
                  <a:pt x="947" y="757"/>
                  <a:pt x="964" y="765"/>
                  <a:pt x="980" y="772"/>
                </a:cubicBezTo>
                <a:cubicBezTo>
                  <a:pt x="996" y="779"/>
                  <a:pt x="1012" y="785"/>
                  <a:pt x="1024" y="789"/>
                </a:cubicBezTo>
                <a:cubicBezTo>
                  <a:pt x="1032" y="792"/>
                  <a:pt x="1044" y="797"/>
                  <a:pt x="1060" y="804"/>
                </a:cubicBezTo>
                <a:cubicBezTo>
                  <a:pt x="1082" y="814"/>
                  <a:pt x="1111" y="827"/>
                  <a:pt x="1136" y="840"/>
                </a:cubicBezTo>
                <a:cubicBezTo>
                  <a:pt x="1148" y="846"/>
                  <a:pt x="1160" y="852"/>
                  <a:pt x="1170" y="858"/>
                </a:cubicBezTo>
                <a:cubicBezTo>
                  <a:pt x="1180" y="864"/>
                  <a:pt x="1189" y="869"/>
                  <a:pt x="1194" y="873"/>
                </a:cubicBezTo>
                <a:cubicBezTo>
                  <a:pt x="1194" y="873"/>
                  <a:pt x="1194" y="873"/>
                  <a:pt x="1194" y="873"/>
                </a:cubicBezTo>
                <a:cubicBezTo>
                  <a:pt x="1195" y="873"/>
                  <a:pt x="1195" y="873"/>
                  <a:pt x="1195" y="873"/>
                </a:cubicBezTo>
                <a:cubicBezTo>
                  <a:pt x="1195" y="873"/>
                  <a:pt x="1195" y="873"/>
                  <a:pt x="1195" y="874"/>
                </a:cubicBezTo>
                <a:cubicBezTo>
                  <a:pt x="1199" y="875"/>
                  <a:pt x="1231" y="886"/>
                  <a:pt x="1264" y="906"/>
                </a:cubicBezTo>
                <a:cubicBezTo>
                  <a:pt x="1281" y="915"/>
                  <a:pt x="1298" y="927"/>
                  <a:pt x="1311" y="939"/>
                </a:cubicBezTo>
                <a:cubicBezTo>
                  <a:pt x="1318" y="946"/>
                  <a:pt x="1323" y="953"/>
                  <a:pt x="1328" y="960"/>
                </a:cubicBezTo>
                <a:cubicBezTo>
                  <a:pt x="1333" y="967"/>
                  <a:pt x="1336" y="974"/>
                  <a:pt x="1337" y="982"/>
                </a:cubicBezTo>
                <a:cubicBezTo>
                  <a:pt x="1343" y="1008"/>
                  <a:pt x="1355" y="1045"/>
                  <a:pt x="1366" y="1088"/>
                </a:cubicBezTo>
                <a:cubicBezTo>
                  <a:pt x="1376" y="1131"/>
                  <a:pt x="1386" y="1180"/>
                  <a:pt x="1386" y="1231"/>
                </a:cubicBezTo>
                <a:cubicBezTo>
                  <a:pt x="1386" y="1258"/>
                  <a:pt x="1383" y="1285"/>
                  <a:pt x="1377" y="1312"/>
                </a:cubicBezTo>
                <a:cubicBezTo>
                  <a:pt x="1377" y="1313"/>
                  <a:pt x="1377" y="1313"/>
                  <a:pt x="1377" y="1313"/>
                </a:cubicBezTo>
                <a:cubicBezTo>
                  <a:pt x="1377" y="1314"/>
                  <a:pt x="1377" y="1314"/>
                  <a:pt x="1377" y="1314"/>
                </a:cubicBezTo>
                <a:cubicBezTo>
                  <a:pt x="1377" y="1314"/>
                  <a:pt x="1377" y="1314"/>
                  <a:pt x="1377" y="1314"/>
                </a:cubicBezTo>
                <a:cubicBezTo>
                  <a:pt x="1381" y="1320"/>
                  <a:pt x="1444" y="1410"/>
                  <a:pt x="1471" y="1520"/>
                </a:cubicBezTo>
                <a:cubicBezTo>
                  <a:pt x="1474" y="1519"/>
                  <a:pt x="1474" y="1519"/>
                  <a:pt x="1474" y="1519"/>
                </a:cubicBezTo>
                <a:cubicBezTo>
                  <a:pt x="1472" y="1517"/>
                  <a:pt x="1472" y="1517"/>
                  <a:pt x="1472" y="1517"/>
                </a:cubicBezTo>
                <a:cubicBezTo>
                  <a:pt x="1300" y="1623"/>
                  <a:pt x="1300" y="1623"/>
                  <a:pt x="1300" y="1623"/>
                </a:cubicBezTo>
                <a:cubicBezTo>
                  <a:pt x="1302" y="1625"/>
                  <a:pt x="1302" y="1625"/>
                  <a:pt x="1302" y="1625"/>
                </a:cubicBezTo>
                <a:cubicBezTo>
                  <a:pt x="1304" y="1624"/>
                  <a:pt x="1304" y="1624"/>
                  <a:pt x="1304" y="1624"/>
                </a:cubicBezTo>
                <a:cubicBezTo>
                  <a:pt x="1302" y="1620"/>
                  <a:pt x="1298" y="1614"/>
                  <a:pt x="1294" y="1606"/>
                </a:cubicBezTo>
                <a:cubicBezTo>
                  <a:pt x="1280" y="1578"/>
                  <a:pt x="1258" y="1530"/>
                  <a:pt x="1236" y="1480"/>
                </a:cubicBezTo>
                <a:cubicBezTo>
                  <a:pt x="1226" y="1455"/>
                  <a:pt x="1216" y="1430"/>
                  <a:pt x="1207" y="1407"/>
                </a:cubicBezTo>
                <a:cubicBezTo>
                  <a:pt x="1198" y="1384"/>
                  <a:pt x="1192" y="1364"/>
                  <a:pt x="1187" y="1348"/>
                </a:cubicBezTo>
                <a:cubicBezTo>
                  <a:pt x="1185" y="1338"/>
                  <a:pt x="1185" y="1338"/>
                  <a:pt x="1185" y="1338"/>
                </a:cubicBezTo>
                <a:cubicBezTo>
                  <a:pt x="1182" y="1347"/>
                  <a:pt x="1182" y="1347"/>
                  <a:pt x="1182" y="1347"/>
                </a:cubicBezTo>
                <a:cubicBezTo>
                  <a:pt x="1182" y="1347"/>
                  <a:pt x="1160" y="1420"/>
                  <a:pt x="1139" y="1504"/>
                </a:cubicBezTo>
                <a:cubicBezTo>
                  <a:pt x="1128" y="1545"/>
                  <a:pt x="1117" y="1590"/>
                  <a:pt x="1109" y="1629"/>
                </a:cubicBezTo>
                <a:cubicBezTo>
                  <a:pt x="1105" y="1649"/>
                  <a:pt x="1101" y="1667"/>
                  <a:pt x="1099" y="1683"/>
                </a:cubicBezTo>
                <a:cubicBezTo>
                  <a:pt x="1096" y="1700"/>
                  <a:pt x="1095" y="1714"/>
                  <a:pt x="1095" y="1725"/>
                </a:cubicBezTo>
                <a:cubicBezTo>
                  <a:pt x="1095" y="1729"/>
                  <a:pt x="1095" y="1734"/>
                  <a:pt x="1096" y="1737"/>
                </a:cubicBezTo>
                <a:cubicBezTo>
                  <a:pt x="1101" y="1769"/>
                  <a:pt x="1105" y="1812"/>
                  <a:pt x="1108" y="1849"/>
                </a:cubicBezTo>
                <a:cubicBezTo>
                  <a:pt x="1110" y="1868"/>
                  <a:pt x="1111" y="1886"/>
                  <a:pt x="1112" y="1900"/>
                </a:cubicBezTo>
                <a:cubicBezTo>
                  <a:pt x="1113" y="1914"/>
                  <a:pt x="1113" y="1926"/>
                  <a:pt x="1113" y="1932"/>
                </a:cubicBezTo>
                <a:cubicBezTo>
                  <a:pt x="1113" y="1932"/>
                  <a:pt x="1113" y="1932"/>
                  <a:pt x="1113" y="1932"/>
                </a:cubicBezTo>
                <a:cubicBezTo>
                  <a:pt x="1113" y="1932"/>
                  <a:pt x="1113" y="1932"/>
                  <a:pt x="1113" y="1932"/>
                </a:cubicBezTo>
                <a:cubicBezTo>
                  <a:pt x="1113" y="1932"/>
                  <a:pt x="1113" y="1932"/>
                  <a:pt x="1113" y="1932"/>
                </a:cubicBezTo>
                <a:cubicBezTo>
                  <a:pt x="1113" y="1936"/>
                  <a:pt x="1114" y="1940"/>
                  <a:pt x="1115" y="1945"/>
                </a:cubicBezTo>
                <a:cubicBezTo>
                  <a:pt x="1116" y="1954"/>
                  <a:pt x="1119" y="1966"/>
                  <a:pt x="1122" y="1979"/>
                </a:cubicBezTo>
                <a:cubicBezTo>
                  <a:pt x="1128" y="1998"/>
                  <a:pt x="1134" y="2020"/>
                  <a:pt x="1139" y="2038"/>
                </a:cubicBezTo>
                <a:cubicBezTo>
                  <a:pt x="1141" y="2048"/>
                  <a:pt x="1143" y="2056"/>
                  <a:pt x="1145" y="2063"/>
                </a:cubicBezTo>
                <a:cubicBezTo>
                  <a:pt x="1145" y="2066"/>
                  <a:pt x="1146" y="2069"/>
                  <a:pt x="1146" y="2072"/>
                </a:cubicBezTo>
                <a:cubicBezTo>
                  <a:pt x="1147" y="2075"/>
                  <a:pt x="1147" y="2077"/>
                  <a:pt x="1147" y="2078"/>
                </a:cubicBezTo>
                <a:cubicBezTo>
                  <a:pt x="1147" y="2081"/>
                  <a:pt x="1148" y="2084"/>
                  <a:pt x="1148" y="2089"/>
                </a:cubicBezTo>
                <a:cubicBezTo>
                  <a:pt x="1150" y="2097"/>
                  <a:pt x="1152" y="2108"/>
                  <a:pt x="1155" y="2120"/>
                </a:cubicBezTo>
                <a:cubicBezTo>
                  <a:pt x="1159" y="2138"/>
                  <a:pt x="1164" y="2160"/>
                  <a:pt x="1169" y="2180"/>
                </a:cubicBezTo>
                <a:cubicBezTo>
                  <a:pt x="1173" y="2200"/>
                  <a:pt x="1177" y="2219"/>
                  <a:pt x="1177" y="2232"/>
                </a:cubicBezTo>
                <a:cubicBezTo>
                  <a:pt x="1178" y="2247"/>
                  <a:pt x="1179" y="2282"/>
                  <a:pt x="1180" y="2324"/>
                </a:cubicBezTo>
                <a:cubicBezTo>
                  <a:pt x="1181" y="2366"/>
                  <a:pt x="1182" y="2415"/>
                  <a:pt x="1185" y="2460"/>
                </a:cubicBezTo>
                <a:cubicBezTo>
                  <a:pt x="1188" y="2460"/>
                  <a:pt x="1188" y="2460"/>
                  <a:pt x="1188" y="2460"/>
                </a:cubicBezTo>
                <a:cubicBezTo>
                  <a:pt x="1188" y="2457"/>
                  <a:pt x="1188" y="2457"/>
                  <a:pt x="1188" y="2457"/>
                </a:cubicBezTo>
                <a:cubicBezTo>
                  <a:pt x="290" y="2457"/>
                  <a:pt x="290" y="2457"/>
                  <a:pt x="290" y="2457"/>
                </a:cubicBezTo>
                <a:cubicBezTo>
                  <a:pt x="290" y="2460"/>
                  <a:pt x="290" y="2460"/>
                  <a:pt x="290" y="2460"/>
                </a:cubicBezTo>
                <a:cubicBezTo>
                  <a:pt x="292" y="2460"/>
                  <a:pt x="292" y="2460"/>
                  <a:pt x="292" y="2460"/>
                </a:cubicBezTo>
                <a:cubicBezTo>
                  <a:pt x="295" y="2415"/>
                  <a:pt x="296" y="2366"/>
                  <a:pt x="297" y="2324"/>
                </a:cubicBezTo>
                <a:cubicBezTo>
                  <a:pt x="299" y="2282"/>
                  <a:pt x="299" y="2247"/>
                  <a:pt x="300" y="2232"/>
                </a:cubicBezTo>
                <a:cubicBezTo>
                  <a:pt x="300" y="2222"/>
                  <a:pt x="303" y="2209"/>
                  <a:pt x="305" y="2194"/>
                </a:cubicBezTo>
                <a:cubicBezTo>
                  <a:pt x="310" y="2172"/>
                  <a:pt x="316" y="2147"/>
                  <a:pt x="321" y="2125"/>
                </a:cubicBezTo>
                <a:cubicBezTo>
                  <a:pt x="324" y="2114"/>
                  <a:pt x="326" y="2105"/>
                  <a:pt x="327" y="2097"/>
                </a:cubicBezTo>
                <a:cubicBezTo>
                  <a:pt x="328" y="2092"/>
                  <a:pt x="329" y="2089"/>
                  <a:pt x="329" y="2086"/>
                </a:cubicBezTo>
                <a:cubicBezTo>
                  <a:pt x="330" y="2083"/>
                  <a:pt x="330" y="2080"/>
                  <a:pt x="330" y="2078"/>
                </a:cubicBezTo>
                <a:cubicBezTo>
                  <a:pt x="330" y="2076"/>
                  <a:pt x="331" y="2072"/>
                  <a:pt x="332" y="2068"/>
                </a:cubicBezTo>
                <a:cubicBezTo>
                  <a:pt x="333" y="2059"/>
                  <a:pt x="336" y="2048"/>
                  <a:pt x="339" y="2036"/>
                </a:cubicBezTo>
                <a:cubicBezTo>
                  <a:pt x="344" y="2017"/>
                  <a:pt x="351" y="1995"/>
                  <a:pt x="355" y="1976"/>
                </a:cubicBezTo>
                <a:cubicBezTo>
                  <a:pt x="358" y="1967"/>
                  <a:pt x="360" y="1958"/>
                  <a:pt x="362" y="1950"/>
                </a:cubicBezTo>
                <a:cubicBezTo>
                  <a:pt x="362" y="1947"/>
                  <a:pt x="363" y="1943"/>
                  <a:pt x="363" y="1940"/>
                </a:cubicBezTo>
                <a:cubicBezTo>
                  <a:pt x="364" y="1937"/>
                  <a:pt x="364" y="1934"/>
                  <a:pt x="364" y="1932"/>
                </a:cubicBezTo>
                <a:cubicBezTo>
                  <a:pt x="364" y="1932"/>
                  <a:pt x="364" y="1932"/>
                  <a:pt x="364" y="1932"/>
                </a:cubicBezTo>
                <a:cubicBezTo>
                  <a:pt x="364" y="1932"/>
                  <a:pt x="364" y="1932"/>
                  <a:pt x="364" y="1932"/>
                </a:cubicBezTo>
                <a:cubicBezTo>
                  <a:pt x="364" y="1932"/>
                  <a:pt x="364" y="1932"/>
                  <a:pt x="364" y="1932"/>
                </a:cubicBezTo>
                <a:cubicBezTo>
                  <a:pt x="364" y="1926"/>
                  <a:pt x="364" y="1914"/>
                  <a:pt x="365" y="1900"/>
                </a:cubicBezTo>
                <a:cubicBezTo>
                  <a:pt x="368" y="1857"/>
                  <a:pt x="373" y="1785"/>
                  <a:pt x="381" y="1737"/>
                </a:cubicBezTo>
                <a:cubicBezTo>
                  <a:pt x="382" y="1734"/>
                  <a:pt x="382" y="1729"/>
                  <a:pt x="382" y="1725"/>
                </a:cubicBezTo>
                <a:cubicBezTo>
                  <a:pt x="382" y="1714"/>
                  <a:pt x="381" y="1700"/>
                  <a:pt x="378" y="1683"/>
                </a:cubicBezTo>
                <a:cubicBezTo>
                  <a:pt x="370" y="1627"/>
                  <a:pt x="349" y="1543"/>
                  <a:pt x="330" y="1473"/>
                </a:cubicBezTo>
                <a:cubicBezTo>
                  <a:pt x="312" y="1403"/>
                  <a:pt x="295" y="1347"/>
                  <a:pt x="295" y="1347"/>
                </a:cubicBezTo>
                <a:cubicBezTo>
                  <a:pt x="292" y="1338"/>
                  <a:pt x="292" y="1338"/>
                  <a:pt x="292" y="1338"/>
                </a:cubicBezTo>
                <a:cubicBezTo>
                  <a:pt x="290" y="1348"/>
                  <a:pt x="290" y="1348"/>
                  <a:pt x="290" y="1348"/>
                </a:cubicBezTo>
                <a:cubicBezTo>
                  <a:pt x="285" y="1366"/>
                  <a:pt x="277" y="1390"/>
                  <a:pt x="266" y="1417"/>
                </a:cubicBezTo>
                <a:cubicBezTo>
                  <a:pt x="251" y="1458"/>
                  <a:pt x="231" y="1503"/>
                  <a:pt x="214" y="1542"/>
                </a:cubicBezTo>
                <a:cubicBezTo>
                  <a:pt x="205" y="1561"/>
                  <a:pt x="196" y="1579"/>
                  <a:pt x="189" y="1593"/>
                </a:cubicBezTo>
                <a:cubicBezTo>
                  <a:pt x="182" y="1607"/>
                  <a:pt x="177" y="1618"/>
                  <a:pt x="173" y="1624"/>
                </a:cubicBezTo>
                <a:cubicBezTo>
                  <a:pt x="175" y="1625"/>
                  <a:pt x="175" y="1625"/>
                  <a:pt x="175" y="1625"/>
                </a:cubicBezTo>
                <a:cubicBezTo>
                  <a:pt x="177" y="1623"/>
                  <a:pt x="177" y="1623"/>
                  <a:pt x="177" y="1623"/>
                </a:cubicBezTo>
                <a:cubicBezTo>
                  <a:pt x="175" y="1625"/>
                  <a:pt x="175" y="1625"/>
                  <a:pt x="175" y="1625"/>
                </a:cubicBezTo>
              </a:path>
            </a:pathLst>
          </a:custGeom>
          <a:solidFill>
            <a:srgbClr val="B51C1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Freeform 9"/>
          <p:cNvSpPr>
            <a:spLocks/>
          </p:cNvSpPr>
          <p:nvPr/>
        </p:nvSpPr>
        <p:spPr bwMode="auto">
          <a:xfrm>
            <a:off x="2817813" y="2616200"/>
            <a:ext cx="95250" cy="207962"/>
          </a:xfrm>
          <a:custGeom>
            <a:avLst/>
            <a:gdLst>
              <a:gd name="T0" fmla="*/ 0 w 56"/>
              <a:gd name="T1" fmla="*/ 0 h 122"/>
              <a:gd name="T2" fmla="*/ 23 w 56"/>
              <a:gd name="T3" fmla="*/ 9 h 122"/>
              <a:gd name="T4" fmla="*/ 29 w 56"/>
              <a:gd name="T5" fmla="*/ 14 h 122"/>
              <a:gd name="T6" fmla="*/ 29 w 56"/>
              <a:gd name="T7" fmla="*/ 17 h 122"/>
              <a:gd name="T8" fmla="*/ 23 w 56"/>
              <a:gd name="T9" fmla="*/ 33 h 122"/>
              <a:gd name="T10" fmla="*/ 23 w 56"/>
              <a:gd name="T11" fmla="*/ 43 h 122"/>
              <a:gd name="T12" fmla="*/ 26 w 56"/>
              <a:gd name="T13" fmla="*/ 46 h 122"/>
              <a:gd name="T14" fmla="*/ 30 w 56"/>
              <a:gd name="T15" fmla="*/ 48 h 122"/>
              <a:gd name="T16" fmla="*/ 49 w 56"/>
              <a:gd name="T17" fmla="*/ 50 h 122"/>
              <a:gd name="T18" fmla="*/ 52 w 56"/>
              <a:gd name="T19" fmla="*/ 52 h 122"/>
              <a:gd name="T20" fmla="*/ 52 w 56"/>
              <a:gd name="T21" fmla="*/ 53 h 122"/>
              <a:gd name="T22" fmla="*/ 52 w 56"/>
              <a:gd name="T23" fmla="*/ 67 h 122"/>
              <a:gd name="T24" fmla="*/ 30 w 56"/>
              <a:gd name="T25" fmla="*/ 73 h 122"/>
              <a:gd name="T26" fmla="*/ 24 w 56"/>
              <a:gd name="T27" fmla="*/ 76 h 122"/>
              <a:gd name="T28" fmla="*/ 24 w 56"/>
              <a:gd name="T29" fmla="*/ 81 h 122"/>
              <a:gd name="T30" fmla="*/ 25 w 56"/>
              <a:gd name="T31" fmla="*/ 82 h 122"/>
              <a:gd name="T32" fmla="*/ 41 w 56"/>
              <a:gd name="T33" fmla="*/ 103 h 122"/>
              <a:gd name="T34" fmla="*/ 46 w 56"/>
              <a:gd name="T35" fmla="*/ 117 h 122"/>
              <a:gd name="T36" fmla="*/ 44 w 56"/>
              <a:gd name="T37" fmla="*/ 122 h 122"/>
              <a:gd name="T38" fmla="*/ 50 w 56"/>
              <a:gd name="T39" fmla="*/ 120 h 122"/>
              <a:gd name="T40" fmla="*/ 48 w 56"/>
              <a:gd name="T41" fmla="*/ 106 h 122"/>
              <a:gd name="T42" fmla="*/ 29 w 56"/>
              <a:gd name="T43" fmla="*/ 79 h 122"/>
              <a:gd name="T44" fmla="*/ 37 w 56"/>
              <a:gd name="T45" fmla="*/ 76 h 122"/>
              <a:gd name="T46" fmla="*/ 53 w 56"/>
              <a:gd name="T47" fmla="*/ 73 h 122"/>
              <a:gd name="T48" fmla="*/ 56 w 56"/>
              <a:gd name="T49" fmla="*/ 48 h 122"/>
              <a:gd name="T50" fmla="*/ 47 w 56"/>
              <a:gd name="T51" fmla="*/ 44 h 122"/>
              <a:gd name="T52" fmla="*/ 30 w 56"/>
              <a:gd name="T53" fmla="*/ 42 h 122"/>
              <a:gd name="T54" fmla="*/ 29 w 56"/>
              <a:gd name="T55" fmla="*/ 42 h 122"/>
              <a:gd name="T56" fmla="*/ 28 w 56"/>
              <a:gd name="T57" fmla="*/ 39 h 122"/>
              <a:gd name="T58" fmla="*/ 32 w 56"/>
              <a:gd name="T59" fmla="*/ 27 h 122"/>
              <a:gd name="T60" fmla="*/ 35 w 56"/>
              <a:gd name="T61" fmla="*/ 16 h 122"/>
              <a:gd name="T62" fmla="*/ 30 w 56"/>
              <a:gd name="T63" fmla="*/ 7 h 122"/>
              <a:gd name="T64" fmla="*/ 17 w 56"/>
              <a:gd name="T65" fmla="*/ 1 h 122"/>
              <a:gd name="T66" fmla="*/ 3 w 56"/>
              <a:gd name="T6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6" h="122">
                <a:moveTo>
                  <a:pt x="3" y="0"/>
                </a:moveTo>
                <a:cubicBezTo>
                  <a:pt x="0" y="0"/>
                  <a:pt x="0" y="0"/>
                  <a:pt x="0" y="0"/>
                </a:cubicBezTo>
                <a:cubicBezTo>
                  <a:pt x="0" y="1"/>
                  <a:pt x="1" y="1"/>
                  <a:pt x="2" y="1"/>
                </a:cubicBezTo>
                <a:cubicBezTo>
                  <a:pt x="11" y="4"/>
                  <a:pt x="18" y="7"/>
                  <a:pt x="23" y="9"/>
                </a:cubicBezTo>
                <a:cubicBezTo>
                  <a:pt x="25" y="10"/>
                  <a:pt x="27" y="11"/>
                  <a:pt x="28" y="12"/>
                </a:cubicBezTo>
                <a:cubicBezTo>
                  <a:pt x="28" y="13"/>
                  <a:pt x="29" y="13"/>
                  <a:pt x="29" y="14"/>
                </a:cubicBezTo>
                <a:cubicBezTo>
                  <a:pt x="29" y="14"/>
                  <a:pt x="29" y="15"/>
                  <a:pt x="29" y="16"/>
                </a:cubicBezTo>
                <a:cubicBezTo>
                  <a:pt x="29" y="16"/>
                  <a:pt x="29" y="16"/>
                  <a:pt x="29" y="17"/>
                </a:cubicBezTo>
                <a:cubicBezTo>
                  <a:pt x="29" y="20"/>
                  <a:pt x="27" y="24"/>
                  <a:pt x="25" y="28"/>
                </a:cubicBezTo>
                <a:cubicBezTo>
                  <a:pt x="25" y="30"/>
                  <a:pt x="24" y="32"/>
                  <a:pt x="23" y="33"/>
                </a:cubicBezTo>
                <a:cubicBezTo>
                  <a:pt x="23" y="35"/>
                  <a:pt x="22" y="37"/>
                  <a:pt x="22" y="39"/>
                </a:cubicBezTo>
                <a:cubicBezTo>
                  <a:pt x="22" y="40"/>
                  <a:pt x="23" y="42"/>
                  <a:pt x="23" y="43"/>
                </a:cubicBezTo>
                <a:cubicBezTo>
                  <a:pt x="24" y="44"/>
                  <a:pt x="24" y="45"/>
                  <a:pt x="26" y="46"/>
                </a:cubicBezTo>
                <a:cubicBezTo>
                  <a:pt x="26" y="46"/>
                  <a:pt x="26" y="46"/>
                  <a:pt x="26" y="46"/>
                </a:cubicBezTo>
                <a:cubicBezTo>
                  <a:pt x="26" y="47"/>
                  <a:pt x="27" y="47"/>
                  <a:pt x="27" y="47"/>
                </a:cubicBezTo>
                <a:cubicBezTo>
                  <a:pt x="28" y="48"/>
                  <a:pt x="29" y="48"/>
                  <a:pt x="30" y="48"/>
                </a:cubicBezTo>
                <a:cubicBezTo>
                  <a:pt x="33" y="48"/>
                  <a:pt x="35" y="48"/>
                  <a:pt x="38" y="48"/>
                </a:cubicBezTo>
                <a:cubicBezTo>
                  <a:pt x="42" y="49"/>
                  <a:pt x="46" y="49"/>
                  <a:pt x="49" y="50"/>
                </a:cubicBezTo>
                <a:cubicBezTo>
                  <a:pt x="50" y="50"/>
                  <a:pt x="51" y="51"/>
                  <a:pt x="52" y="51"/>
                </a:cubicBezTo>
                <a:cubicBezTo>
                  <a:pt x="52" y="51"/>
                  <a:pt x="52" y="52"/>
                  <a:pt x="52" y="52"/>
                </a:cubicBezTo>
                <a:cubicBezTo>
                  <a:pt x="52" y="52"/>
                  <a:pt x="52" y="52"/>
                  <a:pt x="52" y="52"/>
                </a:cubicBezTo>
                <a:cubicBezTo>
                  <a:pt x="52" y="52"/>
                  <a:pt x="52" y="53"/>
                  <a:pt x="52" y="53"/>
                </a:cubicBezTo>
                <a:cubicBezTo>
                  <a:pt x="52" y="53"/>
                  <a:pt x="52" y="53"/>
                  <a:pt x="52" y="53"/>
                </a:cubicBezTo>
                <a:cubicBezTo>
                  <a:pt x="52" y="67"/>
                  <a:pt x="52" y="67"/>
                  <a:pt x="52" y="67"/>
                </a:cubicBezTo>
                <a:cubicBezTo>
                  <a:pt x="50" y="68"/>
                  <a:pt x="45" y="68"/>
                  <a:pt x="40" y="69"/>
                </a:cubicBezTo>
                <a:cubicBezTo>
                  <a:pt x="36" y="70"/>
                  <a:pt x="33" y="71"/>
                  <a:pt x="30" y="73"/>
                </a:cubicBezTo>
                <a:cubicBezTo>
                  <a:pt x="28" y="73"/>
                  <a:pt x="27" y="74"/>
                  <a:pt x="26" y="75"/>
                </a:cubicBezTo>
                <a:cubicBezTo>
                  <a:pt x="25" y="75"/>
                  <a:pt x="25" y="76"/>
                  <a:pt x="24" y="76"/>
                </a:cubicBezTo>
                <a:cubicBezTo>
                  <a:pt x="24" y="77"/>
                  <a:pt x="24" y="78"/>
                  <a:pt x="24" y="79"/>
                </a:cubicBezTo>
                <a:cubicBezTo>
                  <a:pt x="24" y="79"/>
                  <a:pt x="24" y="80"/>
                  <a:pt x="24" y="81"/>
                </a:cubicBezTo>
                <a:cubicBezTo>
                  <a:pt x="24" y="81"/>
                  <a:pt x="25" y="82"/>
                  <a:pt x="25" y="82"/>
                </a:cubicBezTo>
                <a:cubicBezTo>
                  <a:pt x="25" y="82"/>
                  <a:pt x="25" y="82"/>
                  <a:pt x="25" y="82"/>
                </a:cubicBezTo>
                <a:cubicBezTo>
                  <a:pt x="26" y="84"/>
                  <a:pt x="28" y="86"/>
                  <a:pt x="30" y="89"/>
                </a:cubicBezTo>
                <a:cubicBezTo>
                  <a:pt x="34" y="93"/>
                  <a:pt x="38" y="98"/>
                  <a:pt x="41" y="103"/>
                </a:cubicBezTo>
                <a:cubicBezTo>
                  <a:pt x="42" y="106"/>
                  <a:pt x="43" y="109"/>
                  <a:pt x="44" y="111"/>
                </a:cubicBezTo>
                <a:cubicBezTo>
                  <a:pt x="45" y="113"/>
                  <a:pt x="46" y="115"/>
                  <a:pt x="46" y="117"/>
                </a:cubicBezTo>
                <a:cubicBezTo>
                  <a:pt x="46" y="117"/>
                  <a:pt x="46" y="118"/>
                  <a:pt x="45" y="119"/>
                </a:cubicBezTo>
                <a:cubicBezTo>
                  <a:pt x="45" y="119"/>
                  <a:pt x="45" y="121"/>
                  <a:pt x="44" y="122"/>
                </a:cubicBezTo>
                <a:cubicBezTo>
                  <a:pt x="50" y="122"/>
                  <a:pt x="50" y="122"/>
                  <a:pt x="50" y="122"/>
                </a:cubicBezTo>
                <a:cubicBezTo>
                  <a:pt x="50" y="121"/>
                  <a:pt x="50" y="121"/>
                  <a:pt x="50" y="120"/>
                </a:cubicBezTo>
                <a:cubicBezTo>
                  <a:pt x="51" y="119"/>
                  <a:pt x="51" y="118"/>
                  <a:pt x="51" y="117"/>
                </a:cubicBezTo>
                <a:cubicBezTo>
                  <a:pt x="51" y="113"/>
                  <a:pt x="50" y="110"/>
                  <a:pt x="48" y="106"/>
                </a:cubicBezTo>
                <a:cubicBezTo>
                  <a:pt x="46" y="101"/>
                  <a:pt x="42" y="95"/>
                  <a:pt x="38" y="90"/>
                </a:cubicBezTo>
                <a:cubicBezTo>
                  <a:pt x="35" y="85"/>
                  <a:pt x="31" y="81"/>
                  <a:pt x="29" y="79"/>
                </a:cubicBezTo>
                <a:cubicBezTo>
                  <a:pt x="29" y="79"/>
                  <a:pt x="30" y="79"/>
                  <a:pt x="30" y="78"/>
                </a:cubicBezTo>
                <a:cubicBezTo>
                  <a:pt x="32" y="77"/>
                  <a:pt x="34" y="77"/>
                  <a:pt x="37" y="76"/>
                </a:cubicBezTo>
                <a:cubicBezTo>
                  <a:pt x="41" y="75"/>
                  <a:pt x="45" y="74"/>
                  <a:pt x="49" y="73"/>
                </a:cubicBezTo>
                <a:cubicBezTo>
                  <a:pt x="51" y="73"/>
                  <a:pt x="52" y="73"/>
                  <a:pt x="53" y="73"/>
                </a:cubicBezTo>
                <a:cubicBezTo>
                  <a:pt x="53" y="51"/>
                  <a:pt x="53" y="51"/>
                  <a:pt x="53" y="51"/>
                </a:cubicBezTo>
                <a:cubicBezTo>
                  <a:pt x="54" y="50"/>
                  <a:pt x="55" y="49"/>
                  <a:pt x="56" y="48"/>
                </a:cubicBezTo>
                <a:cubicBezTo>
                  <a:pt x="56" y="47"/>
                  <a:pt x="55" y="47"/>
                  <a:pt x="54" y="46"/>
                </a:cubicBezTo>
                <a:cubicBezTo>
                  <a:pt x="52" y="45"/>
                  <a:pt x="50" y="44"/>
                  <a:pt x="47" y="44"/>
                </a:cubicBezTo>
                <a:cubicBezTo>
                  <a:pt x="43" y="43"/>
                  <a:pt x="39" y="43"/>
                  <a:pt x="35" y="43"/>
                </a:cubicBezTo>
                <a:cubicBezTo>
                  <a:pt x="33" y="43"/>
                  <a:pt x="32" y="43"/>
                  <a:pt x="30" y="42"/>
                </a:cubicBezTo>
                <a:cubicBezTo>
                  <a:pt x="30" y="42"/>
                  <a:pt x="29" y="42"/>
                  <a:pt x="29" y="42"/>
                </a:cubicBezTo>
                <a:cubicBezTo>
                  <a:pt x="29" y="42"/>
                  <a:pt x="29" y="42"/>
                  <a:pt x="29" y="42"/>
                </a:cubicBezTo>
                <a:cubicBezTo>
                  <a:pt x="28" y="42"/>
                  <a:pt x="28" y="41"/>
                  <a:pt x="28" y="41"/>
                </a:cubicBezTo>
                <a:cubicBezTo>
                  <a:pt x="28" y="40"/>
                  <a:pt x="28" y="40"/>
                  <a:pt x="28" y="39"/>
                </a:cubicBezTo>
                <a:cubicBezTo>
                  <a:pt x="28" y="38"/>
                  <a:pt x="28" y="37"/>
                  <a:pt x="28" y="35"/>
                </a:cubicBezTo>
                <a:cubicBezTo>
                  <a:pt x="29" y="33"/>
                  <a:pt x="30" y="30"/>
                  <a:pt x="32" y="27"/>
                </a:cubicBezTo>
                <a:cubicBezTo>
                  <a:pt x="33" y="24"/>
                  <a:pt x="34" y="21"/>
                  <a:pt x="34" y="18"/>
                </a:cubicBezTo>
                <a:cubicBezTo>
                  <a:pt x="35" y="17"/>
                  <a:pt x="35" y="16"/>
                  <a:pt x="35" y="16"/>
                </a:cubicBezTo>
                <a:cubicBezTo>
                  <a:pt x="35" y="14"/>
                  <a:pt x="34" y="13"/>
                  <a:pt x="34" y="12"/>
                </a:cubicBezTo>
                <a:cubicBezTo>
                  <a:pt x="33" y="10"/>
                  <a:pt x="32" y="8"/>
                  <a:pt x="30" y="7"/>
                </a:cubicBezTo>
                <a:cubicBezTo>
                  <a:pt x="27" y="5"/>
                  <a:pt x="23" y="3"/>
                  <a:pt x="19" y="1"/>
                </a:cubicBezTo>
                <a:cubicBezTo>
                  <a:pt x="18" y="1"/>
                  <a:pt x="18" y="1"/>
                  <a:pt x="17" y="1"/>
                </a:cubicBezTo>
                <a:cubicBezTo>
                  <a:pt x="16" y="3"/>
                  <a:pt x="15" y="4"/>
                  <a:pt x="15" y="4"/>
                </a:cubicBezTo>
                <a:cubicBezTo>
                  <a:pt x="15" y="4"/>
                  <a:pt x="8" y="2"/>
                  <a:pt x="3" y="0"/>
                </a:cubicBezTo>
              </a:path>
            </a:pathLst>
          </a:custGeom>
          <a:solidFill>
            <a:srgbClr val="971C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0"/>
          <p:cNvSpPr>
            <a:spLocks/>
          </p:cNvSpPr>
          <p:nvPr/>
        </p:nvSpPr>
        <p:spPr bwMode="auto">
          <a:xfrm>
            <a:off x="3321051" y="4643438"/>
            <a:ext cx="674688" cy="263525"/>
          </a:xfrm>
          <a:custGeom>
            <a:avLst/>
            <a:gdLst>
              <a:gd name="T0" fmla="*/ 67 w 398"/>
              <a:gd name="T1" fmla="*/ 43 h 155"/>
              <a:gd name="T2" fmla="*/ 59 w 398"/>
              <a:gd name="T3" fmla="*/ 41 h 155"/>
              <a:gd name="T4" fmla="*/ 43 w 398"/>
              <a:gd name="T5" fmla="*/ 49 h 155"/>
              <a:gd name="T6" fmla="*/ 33 w 398"/>
              <a:gd name="T7" fmla="*/ 53 h 155"/>
              <a:gd name="T8" fmla="*/ 23 w 398"/>
              <a:gd name="T9" fmla="*/ 55 h 155"/>
              <a:gd name="T10" fmla="*/ 18 w 398"/>
              <a:gd name="T11" fmla="*/ 75 h 155"/>
              <a:gd name="T12" fmla="*/ 4 w 398"/>
              <a:gd name="T13" fmla="*/ 85 h 155"/>
              <a:gd name="T14" fmla="*/ 12 w 398"/>
              <a:gd name="T15" fmla="*/ 110 h 155"/>
              <a:gd name="T16" fmla="*/ 7 w 398"/>
              <a:gd name="T17" fmla="*/ 129 h 155"/>
              <a:gd name="T18" fmla="*/ 25 w 398"/>
              <a:gd name="T19" fmla="*/ 139 h 155"/>
              <a:gd name="T20" fmla="*/ 47 w 398"/>
              <a:gd name="T21" fmla="*/ 153 h 155"/>
              <a:gd name="T22" fmla="*/ 63 w 398"/>
              <a:gd name="T23" fmla="*/ 140 h 155"/>
              <a:gd name="T24" fmla="*/ 85 w 398"/>
              <a:gd name="T25" fmla="*/ 149 h 155"/>
              <a:gd name="T26" fmla="*/ 110 w 398"/>
              <a:gd name="T27" fmla="*/ 134 h 155"/>
              <a:gd name="T28" fmla="*/ 124 w 398"/>
              <a:gd name="T29" fmla="*/ 146 h 155"/>
              <a:gd name="T30" fmla="*/ 145 w 398"/>
              <a:gd name="T31" fmla="*/ 130 h 155"/>
              <a:gd name="T32" fmla="*/ 165 w 398"/>
              <a:gd name="T33" fmla="*/ 140 h 155"/>
              <a:gd name="T34" fmla="*/ 180 w 398"/>
              <a:gd name="T35" fmla="*/ 124 h 155"/>
              <a:gd name="T36" fmla="*/ 204 w 398"/>
              <a:gd name="T37" fmla="*/ 133 h 155"/>
              <a:gd name="T38" fmla="*/ 217 w 398"/>
              <a:gd name="T39" fmla="*/ 114 h 155"/>
              <a:gd name="T40" fmla="*/ 240 w 398"/>
              <a:gd name="T41" fmla="*/ 121 h 155"/>
              <a:gd name="T42" fmla="*/ 254 w 398"/>
              <a:gd name="T43" fmla="*/ 104 h 155"/>
              <a:gd name="T44" fmla="*/ 275 w 398"/>
              <a:gd name="T45" fmla="*/ 109 h 155"/>
              <a:gd name="T46" fmla="*/ 288 w 398"/>
              <a:gd name="T47" fmla="*/ 91 h 155"/>
              <a:gd name="T48" fmla="*/ 307 w 398"/>
              <a:gd name="T49" fmla="*/ 98 h 155"/>
              <a:gd name="T50" fmla="*/ 321 w 398"/>
              <a:gd name="T51" fmla="*/ 80 h 155"/>
              <a:gd name="T52" fmla="*/ 346 w 398"/>
              <a:gd name="T53" fmla="*/ 84 h 155"/>
              <a:gd name="T54" fmla="*/ 356 w 398"/>
              <a:gd name="T55" fmla="*/ 65 h 155"/>
              <a:gd name="T56" fmla="*/ 378 w 398"/>
              <a:gd name="T57" fmla="*/ 65 h 155"/>
              <a:gd name="T58" fmla="*/ 389 w 398"/>
              <a:gd name="T59" fmla="*/ 47 h 155"/>
              <a:gd name="T60" fmla="*/ 394 w 398"/>
              <a:gd name="T61" fmla="*/ 30 h 155"/>
              <a:gd name="T62" fmla="*/ 375 w 398"/>
              <a:gd name="T63" fmla="*/ 18 h 155"/>
              <a:gd name="T64" fmla="*/ 350 w 398"/>
              <a:gd name="T65" fmla="*/ 10 h 155"/>
              <a:gd name="T66" fmla="*/ 337 w 398"/>
              <a:gd name="T67" fmla="*/ 19 h 155"/>
              <a:gd name="T68" fmla="*/ 314 w 398"/>
              <a:gd name="T69" fmla="*/ 6 h 155"/>
              <a:gd name="T70" fmla="*/ 300 w 398"/>
              <a:gd name="T71" fmla="*/ 24 h 155"/>
              <a:gd name="T72" fmla="*/ 279 w 398"/>
              <a:gd name="T73" fmla="*/ 10 h 155"/>
              <a:gd name="T74" fmla="*/ 264 w 398"/>
              <a:gd name="T75" fmla="*/ 23 h 155"/>
              <a:gd name="T76" fmla="*/ 234 w 398"/>
              <a:gd name="T77" fmla="*/ 12 h 155"/>
              <a:gd name="T78" fmla="*/ 211 w 398"/>
              <a:gd name="T79" fmla="*/ 29 h 155"/>
              <a:gd name="T80" fmla="*/ 187 w 398"/>
              <a:gd name="T81" fmla="*/ 17 h 155"/>
              <a:gd name="T82" fmla="*/ 172 w 398"/>
              <a:gd name="T83" fmla="*/ 32 h 155"/>
              <a:gd name="T84" fmla="*/ 146 w 398"/>
              <a:gd name="T85" fmla="*/ 23 h 155"/>
              <a:gd name="T86" fmla="*/ 131 w 398"/>
              <a:gd name="T87" fmla="*/ 37 h 155"/>
              <a:gd name="T88" fmla="*/ 109 w 398"/>
              <a:gd name="T89" fmla="*/ 28 h 155"/>
              <a:gd name="T90" fmla="*/ 98 w 398"/>
              <a:gd name="T91" fmla="*/ 40 h 155"/>
              <a:gd name="T92" fmla="*/ 78 w 398"/>
              <a:gd name="T93" fmla="*/ 30 h 155"/>
              <a:gd name="T94" fmla="*/ 67 w 398"/>
              <a:gd name="T95" fmla="*/ 43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98" h="155">
                <a:moveTo>
                  <a:pt x="67" y="43"/>
                </a:moveTo>
                <a:cubicBezTo>
                  <a:pt x="64" y="44"/>
                  <a:pt x="61" y="42"/>
                  <a:pt x="59" y="41"/>
                </a:cubicBezTo>
                <a:cubicBezTo>
                  <a:pt x="53" y="38"/>
                  <a:pt x="49" y="35"/>
                  <a:pt x="43" y="49"/>
                </a:cubicBezTo>
                <a:cubicBezTo>
                  <a:pt x="41" y="56"/>
                  <a:pt x="37" y="54"/>
                  <a:pt x="33" y="53"/>
                </a:cubicBezTo>
                <a:cubicBezTo>
                  <a:pt x="29" y="52"/>
                  <a:pt x="26" y="51"/>
                  <a:pt x="23" y="55"/>
                </a:cubicBezTo>
                <a:cubicBezTo>
                  <a:pt x="17" y="65"/>
                  <a:pt x="18" y="75"/>
                  <a:pt x="18" y="75"/>
                </a:cubicBezTo>
                <a:cubicBezTo>
                  <a:pt x="18" y="75"/>
                  <a:pt x="5" y="72"/>
                  <a:pt x="4" y="85"/>
                </a:cubicBezTo>
                <a:cubicBezTo>
                  <a:pt x="2" y="98"/>
                  <a:pt x="12" y="110"/>
                  <a:pt x="12" y="110"/>
                </a:cubicBezTo>
                <a:cubicBezTo>
                  <a:pt x="12" y="110"/>
                  <a:pt x="0" y="120"/>
                  <a:pt x="7" y="129"/>
                </a:cubicBezTo>
                <a:cubicBezTo>
                  <a:pt x="14" y="139"/>
                  <a:pt x="19" y="140"/>
                  <a:pt x="25" y="139"/>
                </a:cubicBezTo>
                <a:cubicBezTo>
                  <a:pt x="25" y="139"/>
                  <a:pt x="29" y="155"/>
                  <a:pt x="47" y="153"/>
                </a:cubicBezTo>
                <a:cubicBezTo>
                  <a:pt x="65" y="151"/>
                  <a:pt x="63" y="140"/>
                  <a:pt x="63" y="140"/>
                </a:cubicBezTo>
                <a:cubicBezTo>
                  <a:pt x="63" y="140"/>
                  <a:pt x="73" y="152"/>
                  <a:pt x="85" y="149"/>
                </a:cubicBezTo>
                <a:cubicBezTo>
                  <a:pt x="97" y="147"/>
                  <a:pt x="110" y="134"/>
                  <a:pt x="110" y="134"/>
                </a:cubicBezTo>
                <a:cubicBezTo>
                  <a:pt x="110" y="134"/>
                  <a:pt x="112" y="147"/>
                  <a:pt x="124" y="146"/>
                </a:cubicBezTo>
                <a:cubicBezTo>
                  <a:pt x="136" y="145"/>
                  <a:pt x="145" y="130"/>
                  <a:pt x="145" y="130"/>
                </a:cubicBezTo>
                <a:cubicBezTo>
                  <a:pt x="145" y="130"/>
                  <a:pt x="153" y="144"/>
                  <a:pt x="165" y="140"/>
                </a:cubicBezTo>
                <a:cubicBezTo>
                  <a:pt x="177" y="136"/>
                  <a:pt x="180" y="124"/>
                  <a:pt x="180" y="124"/>
                </a:cubicBezTo>
                <a:cubicBezTo>
                  <a:pt x="180" y="124"/>
                  <a:pt x="192" y="141"/>
                  <a:pt x="204" y="133"/>
                </a:cubicBezTo>
                <a:cubicBezTo>
                  <a:pt x="216" y="124"/>
                  <a:pt x="217" y="114"/>
                  <a:pt x="217" y="114"/>
                </a:cubicBezTo>
                <a:cubicBezTo>
                  <a:pt x="217" y="114"/>
                  <a:pt x="229" y="126"/>
                  <a:pt x="240" y="121"/>
                </a:cubicBezTo>
                <a:cubicBezTo>
                  <a:pt x="251" y="116"/>
                  <a:pt x="254" y="104"/>
                  <a:pt x="254" y="104"/>
                </a:cubicBezTo>
                <a:cubicBezTo>
                  <a:pt x="254" y="104"/>
                  <a:pt x="266" y="115"/>
                  <a:pt x="275" y="109"/>
                </a:cubicBezTo>
                <a:cubicBezTo>
                  <a:pt x="283" y="103"/>
                  <a:pt x="288" y="91"/>
                  <a:pt x="288" y="91"/>
                </a:cubicBezTo>
                <a:cubicBezTo>
                  <a:pt x="288" y="91"/>
                  <a:pt x="296" y="104"/>
                  <a:pt x="307" y="98"/>
                </a:cubicBezTo>
                <a:cubicBezTo>
                  <a:pt x="318" y="92"/>
                  <a:pt x="321" y="80"/>
                  <a:pt x="321" y="80"/>
                </a:cubicBezTo>
                <a:cubicBezTo>
                  <a:pt x="321" y="80"/>
                  <a:pt x="339" y="91"/>
                  <a:pt x="346" y="84"/>
                </a:cubicBezTo>
                <a:cubicBezTo>
                  <a:pt x="353" y="77"/>
                  <a:pt x="356" y="65"/>
                  <a:pt x="356" y="65"/>
                </a:cubicBezTo>
                <a:cubicBezTo>
                  <a:pt x="356" y="65"/>
                  <a:pt x="370" y="71"/>
                  <a:pt x="378" y="65"/>
                </a:cubicBezTo>
                <a:cubicBezTo>
                  <a:pt x="387" y="59"/>
                  <a:pt x="389" y="47"/>
                  <a:pt x="389" y="47"/>
                </a:cubicBezTo>
                <a:cubicBezTo>
                  <a:pt x="389" y="47"/>
                  <a:pt x="398" y="37"/>
                  <a:pt x="394" y="30"/>
                </a:cubicBezTo>
                <a:cubicBezTo>
                  <a:pt x="390" y="23"/>
                  <a:pt x="378" y="18"/>
                  <a:pt x="375" y="18"/>
                </a:cubicBezTo>
                <a:cubicBezTo>
                  <a:pt x="371" y="18"/>
                  <a:pt x="363" y="0"/>
                  <a:pt x="350" y="10"/>
                </a:cubicBezTo>
                <a:cubicBezTo>
                  <a:pt x="337" y="19"/>
                  <a:pt x="337" y="19"/>
                  <a:pt x="337" y="19"/>
                </a:cubicBezTo>
                <a:cubicBezTo>
                  <a:pt x="337" y="19"/>
                  <a:pt x="321" y="0"/>
                  <a:pt x="314" y="6"/>
                </a:cubicBezTo>
                <a:cubicBezTo>
                  <a:pt x="307" y="12"/>
                  <a:pt x="300" y="24"/>
                  <a:pt x="300" y="24"/>
                </a:cubicBezTo>
                <a:cubicBezTo>
                  <a:pt x="300" y="24"/>
                  <a:pt x="288" y="11"/>
                  <a:pt x="279" y="10"/>
                </a:cubicBezTo>
                <a:cubicBezTo>
                  <a:pt x="271" y="9"/>
                  <a:pt x="264" y="23"/>
                  <a:pt x="264" y="23"/>
                </a:cubicBezTo>
                <a:cubicBezTo>
                  <a:pt x="264" y="23"/>
                  <a:pt x="244" y="11"/>
                  <a:pt x="234" y="12"/>
                </a:cubicBezTo>
                <a:cubicBezTo>
                  <a:pt x="224" y="13"/>
                  <a:pt x="211" y="29"/>
                  <a:pt x="211" y="29"/>
                </a:cubicBezTo>
                <a:cubicBezTo>
                  <a:pt x="211" y="29"/>
                  <a:pt x="197" y="15"/>
                  <a:pt x="187" y="17"/>
                </a:cubicBezTo>
                <a:cubicBezTo>
                  <a:pt x="178" y="19"/>
                  <a:pt x="172" y="32"/>
                  <a:pt x="172" y="32"/>
                </a:cubicBezTo>
                <a:cubicBezTo>
                  <a:pt x="172" y="32"/>
                  <a:pt x="154" y="18"/>
                  <a:pt x="146" y="23"/>
                </a:cubicBezTo>
                <a:cubicBezTo>
                  <a:pt x="137" y="28"/>
                  <a:pt x="131" y="37"/>
                  <a:pt x="131" y="37"/>
                </a:cubicBezTo>
                <a:cubicBezTo>
                  <a:pt x="131" y="37"/>
                  <a:pt x="116" y="24"/>
                  <a:pt x="109" y="28"/>
                </a:cubicBezTo>
                <a:cubicBezTo>
                  <a:pt x="102" y="31"/>
                  <a:pt x="98" y="40"/>
                  <a:pt x="98" y="40"/>
                </a:cubicBezTo>
                <a:cubicBezTo>
                  <a:pt x="98" y="40"/>
                  <a:pt x="90" y="24"/>
                  <a:pt x="78" y="30"/>
                </a:cubicBezTo>
                <a:cubicBezTo>
                  <a:pt x="70" y="34"/>
                  <a:pt x="67" y="43"/>
                  <a:pt x="67" y="43"/>
                </a:cubicBezTo>
              </a:path>
            </a:pathLst>
          </a:custGeom>
          <a:solidFill>
            <a:srgbClr val="EF9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1"/>
          <p:cNvSpPr>
            <a:spLocks noEditPoints="1"/>
          </p:cNvSpPr>
          <p:nvPr/>
        </p:nvSpPr>
        <p:spPr bwMode="auto">
          <a:xfrm>
            <a:off x="3373438" y="4832350"/>
            <a:ext cx="52388" cy="28575"/>
          </a:xfrm>
          <a:custGeom>
            <a:avLst/>
            <a:gdLst>
              <a:gd name="T0" fmla="*/ 7 w 31"/>
              <a:gd name="T1" fmla="*/ 2 h 17"/>
              <a:gd name="T2" fmla="*/ 3 w 31"/>
              <a:gd name="T3" fmla="*/ 17 h 17"/>
              <a:gd name="T4" fmla="*/ 7 w 31"/>
              <a:gd name="T5" fmla="*/ 6 h 17"/>
              <a:gd name="T6" fmla="*/ 7 w 31"/>
              <a:gd name="T7" fmla="*/ 2 h 17"/>
              <a:gd name="T8" fmla="*/ 15 w 31"/>
              <a:gd name="T9" fmla="*/ 0 h 17"/>
              <a:gd name="T10" fmla="*/ 16 w 31"/>
              <a:gd name="T11" fmla="*/ 4 h 17"/>
              <a:gd name="T12" fmla="*/ 31 w 31"/>
              <a:gd name="T13" fmla="*/ 11 h 17"/>
              <a:gd name="T14" fmla="*/ 15 w 31"/>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17">
                <a:moveTo>
                  <a:pt x="7" y="2"/>
                </a:moveTo>
                <a:cubicBezTo>
                  <a:pt x="0" y="6"/>
                  <a:pt x="3" y="17"/>
                  <a:pt x="3" y="17"/>
                </a:cubicBezTo>
                <a:cubicBezTo>
                  <a:pt x="3" y="11"/>
                  <a:pt x="5" y="8"/>
                  <a:pt x="7" y="6"/>
                </a:cubicBezTo>
                <a:cubicBezTo>
                  <a:pt x="7" y="5"/>
                  <a:pt x="7" y="3"/>
                  <a:pt x="7" y="2"/>
                </a:cubicBezTo>
                <a:moveTo>
                  <a:pt x="15" y="0"/>
                </a:moveTo>
                <a:cubicBezTo>
                  <a:pt x="16" y="2"/>
                  <a:pt x="16" y="3"/>
                  <a:pt x="16" y="4"/>
                </a:cubicBezTo>
                <a:cubicBezTo>
                  <a:pt x="23" y="6"/>
                  <a:pt x="31" y="11"/>
                  <a:pt x="31" y="11"/>
                </a:cubicBezTo>
                <a:cubicBezTo>
                  <a:pt x="31" y="11"/>
                  <a:pt x="24" y="2"/>
                  <a:pt x="15"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2"/>
          <p:cNvSpPr>
            <a:spLocks noEditPoints="1"/>
          </p:cNvSpPr>
          <p:nvPr/>
        </p:nvSpPr>
        <p:spPr bwMode="auto">
          <a:xfrm>
            <a:off x="3340101" y="4775200"/>
            <a:ext cx="41275" cy="60325"/>
          </a:xfrm>
          <a:custGeom>
            <a:avLst/>
            <a:gdLst>
              <a:gd name="T0" fmla="*/ 17 w 25"/>
              <a:gd name="T1" fmla="*/ 36 h 36"/>
              <a:gd name="T2" fmla="*/ 17 w 25"/>
              <a:gd name="T3" fmla="*/ 36 h 36"/>
              <a:gd name="T4" fmla="*/ 17 w 25"/>
              <a:gd name="T5" fmla="*/ 36 h 36"/>
              <a:gd name="T6" fmla="*/ 7 w 25"/>
              <a:gd name="T7" fmla="*/ 0 h 36"/>
              <a:gd name="T8" fmla="*/ 1 w 25"/>
              <a:gd name="T9" fmla="*/ 14 h 36"/>
              <a:gd name="T10" fmla="*/ 6 w 25"/>
              <a:gd name="T11" fmla="*/ 5 h 36"/>
              <a:gd name="T12" fmla="*/ 8 w 25"/>
              <a:gd name="T13" fmla="*/ 5 h 36"/>
              <a:gd name="T14" fmla="*/ 17 w 25"/>
              <a:gd name="T15" fmla="*/ 36 h 36"/>
              <a:gd name="T16" fmla="*/ 13 w 25"/>
              <a:gd name="T17" fmla="*/ 3 h 36"/>
              <a:gd name="T18" fmla="*/ 7 w 25"/>
              <a:gd name="T19"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36">
                <a:moveTo>
                  <a:pt x="17" y="36"/>
                </a:moveTo>
                <a:cubicBezTo>
                  <a:pt x="17" y="36"/>
                  <a:pt x="17" y="36"/>
                  <a:pt x="17" y="36"/>
                </a:cubicBezTo>
                <a:cubicBezTo>
                  <a:pt x="17" y="36"/>
                  <a:pt x="17" y="36"/>
                  <a:pt x="17" y="36"/>
                </a:cubicBezTo>
                <a:moveTo>
                  <a:pt x="7" y="0"/>
                </a:moveTo>
                <a:cubicBezTo>
                  <a:pt x="0" y="0"/>
                  <a:pt x="1" y="14"/>
                  <a:pt x="1" y="14"/>
                </a:cubicBezTo>
                <a:cubicBezTo>
                  <a:pt x="1" y="14"/>
                  <a:pt x="1" y="5"/>
                  <a:pt x="6" y="5"/>
                </a:cubicBezTo>
                <a:cubicBezTo>
                  <a:pt x="7" y="5"/>
                  <a:pt x="7" y="5"/>
                  <a:pt x="8" y="5"/>
                </a:cubicBezTo>
                <a:cubicBezTo>
                  <a:pt x="14" y="8"/>
                  <a:pt x="21" y="24"/>
                  <a:pt x="17" y="36"/>
                </a:cubicBezTo>
                <a:cubicBezTo>
                  <a:pt x="17" y="36"/>
                  <a:pt x="25" y="12"/>
                  <a:pt x="13" y="3"/>
                </a:cubicBezTo>
                <a:cubicBezTo>
                  <a:pt x="10" y="1"/>
                  <a:pt x="8" y="0"/>
                  <a:pt x="7"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13"/>
          <p:cNvSpPr>
            <a:spLocks noEditPoints="1"/>
          </p:cNvSpPr>
          <p:nvPr/>
        </p:nvSpPr>
        <p:spPr bwMode="auto">
          <a:xfrm>
            <a:off x="3379788" y="4783138"/>
            <a:ext cx="41275" cy="41275"/>
          </a:xfrm>
          <a:custGeom>
            <a:avLst/>
            <a:gdLst>
              <a:gd name="T0" fmla="*/ 24 w 24"/>
              <a:gd name="T1" fmla="*/ 17 h 24"/>
              <a:gd name="T2" fmla="*/ 16 w 24"/>
              <a:gd name="T3" fmla="*/ 19 h 24"/>
              <a:gd name="T4" fmla="*/ 11 w 24"/>
              <a:gd name="T5" fmla="*/ 20 h 24"/>
              <a:gd name="T6" fmla="*/ 11 w 24"/>
              <a:gd name="T7" fmla="*/ 24 h 24"/>
              <a:gd name="T8" fmla="*/ 24 w 24"/>
              <a:gd name="T9" fmla="*/ 17 h 24"/>
              <a:gd name="T10" fmla="*/ 0 w 24"/>
              <a:gd name="T11" fmla="*/ 0 h 24"/>
              <a:gd name="T12" fmla="*/ 3 w 24"/>
              <a:gd name="T13" fmla="*/ 18 h 24"/>
              <a:gd name="T14" fmla="*/ 2 w 24"/>
              <a:gd name="T15" fmla="*/ 7 h 24"/>
              <a:gd name="T16" fmla="*/ 0 w 24"/>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4">
                <a:moveTo>
                  <a:pt x="24" y="17"/>
                </a:moveTo>
                <a:cubicBezTo>
                  <a:pt x="21" y="18"/>
                  <a:pt x="18" y="18"/>
                  <a:pt x="16" y="19"/>
                </a:cubicBezTo>
                <a:cubicBezTo>
                  <a:pt x="14" y="19"/>
                  <a:pt x="12" y="20"/>
                  <a:pt x="11" y="20"/>
                </a:cubicBezTo>
                <a:cubicBezTo>
                  <a:pt x="11" y="21"/>
                  <a:pt x="11" y="23"/>
                  <a:pt x="11" y="24"/>
                </a:cubicBezTo>
                <a:cubicBezTo>
                  <a:pt x="16" y="24"/>
                  <a:pt x="21" y="21"/>
                  <a:pt x="24" y="17"/>
                </a:cubicBezTo>
                <a:moveTo>
                  <a:pt x="0" y="0"/>
                </a:moveTo>
                <a:cubicBezTo>
                  <a:pt x="0" y="0"/>
                  <a:pt x="0" y="11"/>
                  <a:pt x="3" y="18"/>
                </a:cubicBezTo>
                <a:cubicBezTo>
                  <a:pt x="2" y="15"/>
                  <a:pt x="2" y="11"/>
                  <a:pt x="2" y="7"/>
                </a:cubicBezTo>
                <a:cubicBezTo>
                  <a:pt x="1" y="5"/>
                  <a:pt x="0" y="2"/>
                  <a:pt x="0"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14"/>
          <p:cNvSpPr>
            <a:spLocks/>
          </p:cNvSpPr>
          <p:nvPr/>
        </p:nvSpPr>
        <p:spPr bwMode="auto">
          <a:xfrm>
            <a:off x="3905251" y="4683125"/>
            <a:ext cx="60325" cy="38100"/>
          </a:xfrm>
          <a:custGeom>
            <a:avLst/>
            <a:gdLst>
              <a:gd name="T0" fmla="*/ 23 w 36"/>
              <a:gd name="T1" fmla="*/ 0 h 22"/>
              <a:gd name="T2" fmla="*/ 16 w 36"/>
              <a:gd name="T3" fmla="*/ 1 h 22"/>
              <a:gd name="T4" fmla="*/ 4 w 36"/>
              <a:gd name="T5" fmla="*/ 22 h 22"/>
              <a:gd name="T6" fmla="*/ 7 w 36"/>
              <a:gd name="T7" fmla="*/ 21 h 22"/>
              <a:gd name="T8" fmla="*/ 16 w 36"/>
              <a:gd name="T9" fmla="*/ 5 h 22"/>
              <a:gd name="T10" fmla="*/ 28 w 36"/>
              <a:gd name="T11" fmla="*/ 2 h 22"/>
              <a:gd name="T12" fmla="*/ 36 w 36"/>
              <a:gd name="T13" fmla="*/ 5 h 22"/>
              <a:gd name="T14" fmla="*/ 23 w 36"/>
              <a:gd name="T15" fmla="*/ 0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2">
                <a:moveTo>
                  <a:pt x="23" y="0"/>
                </a:moveTo>
                <a:cubicBezTo>
                  <a:pt x="21" y="0"/>
                  <a:pt x="19" y="0"/>
                  <a:pt x="16" y="1"/>
                </a:cubicBezTo>
                <a:cubicBezTo>
                  <a:pt x="6" y="6"/>
                  <a:pt x="0" y="14"/>
                  <a:pt x="4" y="22"/>
                </a:cubicBezTo>
                <a:cubicBezTo>
                  <a:pt x="5" y="22"/>
                  <a:pt x="6" y="21"/>
                  <a:pt x="7" y="21"/>
                </a:cubicBezTo>
                <a:cubicBezTo>
                  <a:pt x="7" y="17"/>
                  <a:pt x="9" y="9"/>
                  <a:pt x="16" y="5"/>
                </a:cubicBezTo>
                <a:cubicBezTo>
                  <a:pt x="21" y="3"/>
                  <a:pt x="25" y="2"/>
                  <a:pt x="28" y="2"/>
                </a:cubicBezTo>
                <a:cubicBezTo>
                  <a:pt x="31" y="2"/>
                  <a:pt x="34" y="3"/>
                  <a:pt x="36" y="5"/>
                </a:cubicBezTo>
                <a:cubicBezTo>
                  <a:pt x="36" y="5"/>
                  <a:pt x="31" y="0"/>
                  <a:pt x="23"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5"/>
          <p:cNvSpPr>
            <a:spLocks/>
          </p:cNvSpPr>
          <p:nvPr/>
        </p:nvSpPr>
        <p:spPr bwMode="auto">
          <a:xfrm>
            <a:off x="3830638" y="4706938"/>
            <a:ext cx="65088" cy="38100"/>
          </a:xfrm>
          <a:custGeom>
            <a:avLst/>
            <a:gdLst>
              <a:gd name="T0" fmla="*/ 23 w 39"/>
              <a:gd name="T1" fmla="*/ 0 h 22"/>
              <a:gd name="T2" fmla="*/ 17 w 39"/>
              <a:gd name="T3" fmla="*/ 1 h 22"/>
              <a:gd name="T4" fmla="*/ 4 w 39"/>
              <a:gd name="T5" fmla="*/ 22 h 22"/>
              <a:gd name="T6" fmla="*/ 5 w 39"/>
              <a:gd name="T7" fmla="*/ 22 h 22"/>
              <a:gd name="T8" fmla="*/ 18 w 39"/>
              <a:gd name="T9" fmla="*/ 5 h 22"/>
              <a:gd name="T10" fmla="*/ 24 w 39"/>
              <a:gd name="T11" fmla="*/ 4 h 22"/>
              <a:gd name="T12" fmla="*/ 39 w 39"/>
              <a:gd name="T13" fmla="*/ 8 h 22"/>
              <a:gd name="T14" fmla="*/ 23 w 39"/>
              <a:gd name="T15" fmla="*/ 0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22">
                <a:moveTo>
                  <a:pt x="23" y="0"/>
                </a:moveTo>
                <a:cubicBezTo>
                  <a:pt x="21" y="0"/>
                  <a:pt x="19" y="0"/>
                  <a:pt x="17" y="1"/>
                </a:cubicBezTo>
                <a:cubicBezTo>
                  <a:pt x="5" y="5"/>
                  <a:pt x="0" y="16"/>
                  <a:pt x="4" y="22"/>
                </a:cubicBezTo>
                <a:cubicBezTo>
                  <a:pt x="5" y="22"/>
                  <a:pt x="5" y="22"/>
                  <a:pt x="5" y="22"/>
                </a:cubicBezTo>
                <a:cubicBezTo>
                  <a:pt x="6" y="18"/>
                  <a:pt x="9" y="7"/>
                  <a:pt x="18" y="5"/>
                </a:cubicBezTo>
                <a:cubicBezTo>
                  <a:pt x="20" y="4"/>
                  <a:pt x="22" y="4"/>
                  <a:pt x="24" y="4"/>
                </a:cubicBezTo>
                <a:cubicBezTo>
                  <a:pt x="33" y="4"/>
                  <a:pt x="39" y="8"/>
                  <a:pt x="39" y="8"/>
                </a:cubicBezTo>
                <a:cubicBezTo>
                  <a:pt x="39" y="8"/>
                  <a:pt x="32" y="0"/>
                  <a:pt x="23"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6"/>
          <p:cNvSpPr>
            <a:spLocks/>
          </p:cNvSpPr>
          <p:nvPr/>
        </p:nvSpPr>
        <p:spPr bwMode="auto">
          <a:xfrm>
            <a:off x="3760788" y="4735513"/>
            <a:ext cx="52388" cy="33337"/>
          </a:xfrm>
          <a:custGeom>
            <a:avLst/>
            <a:gdLst>
              <a:gd name="T0" fmla="*/ 19 w 31"/>
              <a:gd name="T1" fmla="*/ 0 h 19"/>
              <a:gd name="T2" fmla="*/ 4 w 31"/>
              <a:gd name="T3" fmla="*/ 6 h 19"/>
              <a:gd name="T4" fmla="*/ 0 w 31"/>
              <a:gd name="T5" fmla="*/ 19 h 19"/>
              <a:gd name="T6" fmla="*/ 3 w 31"/>
              <a:gd name="T7" fmla="*/ 18 h 19"/>
              <a:gd name="T8" fmla="*/ 13 w 31"/>
              <a:gd name="T9" fmla="*/ 4 h 19"/>
              <a:gd name="T10" fmla="*/ 17 w 31"/>
              <a:gd name="T11" fmla="*/ 4 h 19"/>
              <a:gd name="T12" fmla="*/ 30 w 31"/>
              <a:gd name="T13" fmla="*/ 7 h 19"/>
              <a:gd name="T14" fmla="*/ 31 w 31"/>
              <a:gd name="T15" fmla="*/ 7 h 19"/>
              <a:gd name="T16" fmla="*/ 19 w 31"/>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19">
                <a:moveTo>
                  <a:pt x="19" y="0"/>
                </a:moveTo>
                <a:cubicBezTo>
                  <a:pt x="14" y="2"/>
                  <a:pt x="9" y="4"/>
                  <a:pt x="4" y="6"/>
                </a:cubicBezTo>
                <a:cubicBezTo>
                  <a:pt x="0" y="10"/>
                  <a:pt x="0" y="15"/>
                  <a:pt x="0" y="19"/>
                </a:cubicBezTo>
                <a:cubicBezTo>
                  <a:pt x="1" y="19"/>
                  <a:pt x="2" y="19"/>
                  <a:pt x="3" y="18"/>
                </a:cubicBezTo>
                <a:cubicBezTo>
                  <a:pt x="4" y="13"/>
                  <a:pt x="7" y="5"/>
                  <a:pt x="13" y="4"/>
                </a:cubicBezTo>
                <a:cubicBezTo>
                  <a:pt x="14" y="4"/>
                  <a:pt x="16" y="4"/>
                  <a:pt x="17" y="4"/>
                </a:cubicBezTo>
                <a:cubicBezTo>
                  <a:pt x="22" y="4"/>
                  <a:pt x="27" y="5"/>
                  <a:pt x="30" y="7"/>
                </a:cubicBezTo>
                <a:cubicBezTo>
                  <a:pt x="30" y="7"/>
                  <a:pt x="31" y="7"/>
                  <a:pt x="31" y="7"/>
                </a:cubicBezTo>
                <a:cubicBezTo>
                  <a:pt x="29" y="4"/>
                  <a:pt x="25" y="1"/>
                  <a:pt x="19"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7"/>
          <p:cNvSpPr>
            <a:spLocks noEditPoints="1"/>
          </p:cNvSpPr>
          <p:nvPr/>
        </p:nvSpPr>
        <p:spPr bwMode="auto">
          <a:xfrm>
            <a:off x="3675063" y="4756150"/>
            <a:ext cx="53975" cy="39687"/>
          </a:xfrm>
          <a:custGeom>
            <a:avLst/>
            <a:gdLst>
              <a:gd name="T0" fmla="*/ 1 w 32"/>
              <a:gd name="T1" fmla="*/ 20 h 23"/>
              <a:gd name="T2" fmla="*/ 1 w 32"/>
              <a:gd name="T3" fmla="*/ 20 h 23"/>
              <a:gd name="T4" fmla="*/ 1 w 32"/>
              <a:gd name="T5" fmla="*/ 23 h 23"/>
              <a:gd name="T6" fmla="*/ 1 w 32"/>
              <a:gd name="T7" fmla="*/ 20 h 23"/>
              <a:gd name="T8" fmla="*/ 18 w 32"/>
              <a:gd name="T9" fmla="*/ 0 h 23"/>
              <a:gd name="T10" fmla="*/ 9 w 32"/>
              <a:gd name="T11" fmla="*/ 1 h 23"/>
              <a:gd name="T12" fmla="*/ 9 w 32"/>
              <a:gd name="T13" fmla="*/ 1 h 23"/>
              <a:gd name="T14" fmla="*/ 0 w 32"/>
              <a:gd name="T15" fmla="*/ 14 h 23"/>
              <a:gd name="T16" fmla="*/ 3 w 32"/>
              <a:gd name="T17" fmla="*/ 13 h 23"/>
              <a:gd name="T18" fmla="*/ 10 w 32"/>
              <a:gd name="T19" fmla="*/ 5 h 23"/>
              <a:gd name="T20" fmla="*/ 16 w 32"/>
              <a:gd name="T21" fmla="*/ 4 h 23"/>
              <a:gd name="T22" fmla="*/ 32 w 32"/>
              <a:gd name="T23" fmla="*/ 10 h 23"/>
              <a:gd name="T24" fmla="*/ 32 w 32"/>
              <a:gd name="T25" fmla="*/ 10 h 23"/>
              <a:gd name="T26" fmla="*/ 18 w 32"/>
              <a:gd name="T2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23">
                <a:moveTo>
                  <a:pt x="1" y="20"/>
                </a:moveTo>
                <a:cubicBezTo>
                  <a:pt x="1" y="20"/>
                  <a:pt x="1" y="20"/>
                  <a:pt x="1" y="20"/>
                </a:cubicBezTo>
                <a:cubicBezTo>
                  <a:pt x="1" y="22"/>
                  <a:pt x="1" y="23"/>
                  <a:pt x="1" y="23"/>
                </a:cubicBezTo>
                <a:cubicBezTo>
                  <a:pt x="1" y="23"/>
                  <a:pt x="1" y="22"/>
                  <a:pt x="1" y="20"/>
                </a:cubicBezTo>
                <a:moveTo>
                  <a:pt x="18" y="0"/>
                </a:moveTo>
                <a:cubicBezTo>
                  <a:pt x="15" y="0"/>
                  <a:pt x="12" y="1"/>
                  <a:pt x="9" y="1"/>
                </a:cubicBezTo>
                <a:cubicBezTo>
                  <a:pt x="9" y="1"/>
                  <a:pt x="9" y="1"/>
                  <a:pt x="9" y="1"/>
                </a:cubicBezTo>
                <a:cubicBezTo>
                  <a:pt x="2" y="3"/>
                  <a:pt x="0" y="9"/>
                  <a:pt x="0" y="14"/>
                </a:cubicBezTo>
                <a:cubicBezTo>
                  <a:pt x="1" y="14"/>
                  <a:pt x="2" y="14"/>
                  <a:pt x="3" y="13"/>
                </a:cubicBezTo>
                <a:cubicBezTo>
                  <a:pt x="4" y="10"/>
                  <a:pt x="6" y="7"/>
                  <a:pt x="10" y="5"/>
                </a:cubicBezTo>
                <a:cubicBezTo>
                  <a:pt x="12" y="5"/>
                  <a:pt x="14" y="4"/>
                  <a:pt x="16" y="4"/>
                </a:cubicBezTo>
                <a:cubicBezTo>
                  <a:pt x="24" y="4"/>
                  <a:pt x="32" y="10"/>
                  <a:pt x="32" y="10"/>
                </a:cubicBezTo>
                <a:cubicBezTo>
                  <a:pt x="32" y="10"/>
                  <a:pt x="32" y="10"/>
                  <a:pt x="32" y="10"/>
                </a:cubicBezTo>
                <a:cubicBezTo>
                  <a:pt x="32" y="10"/>
                  <a:pt x="26" y="2"/>
                  <a:pt x="18"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8"/>
          <p:cNvSpPr>
            <a:spLocks noEditPoints="1"/>
          </p:cNvSpPr>
          <p:nvPr/>
        </p:nvSpPr>
        <p:spPr bwMode="auto">
          <a:xfrm>
            <a:off x="3575051" y="4773613"/>
            <a:ext cx="68263" cy="33337"/>
          </a:xfrm>
          <a:custGeom>
            <a:avLst/>
            <a:gdLst>
              <a:gd name="T0" fmla="*/ 0 w 40"/>
              <a:gd name="T1" fmla="*/ 18 h 20"/>
              <a:gd name="T2" fmla="*/ 1 w 40"/>
              <a:gd name="T3" fmla="*/ 20 h 20"/>
              <a:gd name="T4" fmla="*/ 2 w 40"/>
              <a:gd name="T5" fmla="*/ 18 h 20"/>
              <a:gd name="T6" fmla="*/ 0 w 40"/>
              <a:gd name="T7" fmla="*/ 18 h 20"/>
              <a:gd name="T8" fmla="*/ 39 w 40"/>
              <a:gd name="T9" fmla="*/ 9 h 20"/>
              <a:gd name="T10" fmla="*/ 40 w 40"/>
              <a:gd name="T11" fmla="*/ 10 h 20"/>
              <a:gd name="T12" fmla="*/ 40 w 40"/>
              <a:gd name="T13" fmla="*/ 10 h 20"/>
              <a:gd name="T14" fmla="*/ 39 w 40"/>
              <a:gd name="T15" fmla="*/ 9 h 20"/>
              <a:gd name="T16" fmla="*/ 23 w 40"/>
              <a:gd name="T17" fmla="*/ 0 h 20"/>
              <a:gd name="T18" fmla="*/ 1 w 40"/>
              <a:gd name="T19" fmla="*/ 14 h 20"/>
              <a:gd name="T20" fmla="*/ 4 w 40"/>
              <a:gd name="T21" fmla="*/ 14 h 20"/>
              <a:gd name="T22" fmla="*/ 22 w 40"/>
              <a:gd name="T23" fmla="*/ 4 h 20"/>
              <a:gd name="T24" fmla="*/ 23 w 40"/>
              <a:gd name="T25" fmla="*/ 4 h 20"/>
              <a:gd name="T26" fmla="*/ 39 w 40"/>
              <a:gd name="T27" fmla="*/ 9 h 20"/>
              <a:gd name="T28" fmla="*/ 23 w 40"/>
              <a:gd name="T2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 h="20">
                <a:moveTo>
                  <a:pt x="0" y="18"/>
                </a:moveTo>
                <a:cubicBezTo>
                  <a:pt x="0" y="18"/>
                  <a:pt x="0" y="19"/>
                  <a:pt x="1" y="20"/>
                </a:cubicBezTo>
                <a:cubicBezTo>
                  <a:pt x="1" y="20"/>
                  <a:pt x="1" y="19"/>
                  <a:pt x="2" y="18"/>
                </a:cubicBezTo>
                <a:cubicBezTo>
                  <a:pt x="1" y="18"/>
                  <a:pt x="1" y="18"/>
                  <a:pt x="0" y="18"/>
                </a:cubicBezTo>
                <a:moveTo>
                  <a:pt x="39" y="9"/>
                </a:moveTo>
                <a:cubicBezTo>
                  <a:pt x="39" y="10"/>
                  <a:pt x="40" y="10"/>
                  <a:pt x="40" y="10"/>
                </a:cubicBezTo>
                <a:cubicBezTo>
                  <a:pt x="40" y="10"/>
                  <a:pt x="40" y="10"/>
                  <a:pt x="40" y="10"/>
                </a:cubicBezTo>
                <a:cubicBezTo>
                  <a:pt x="40" y="10"/>
                  <a:pt x="40" y="10"/>
                  <a:pt x="39" y="9"/>
                </a:cubicBezTo>
                <a:moveTo>
                  <a:pt x="23" y="0"/>
                </a:moveTo>
                <a:cubicBezTo>
                  <a:pt x="16" y="0"/>
                  <a:pt x="3" y="6"/>
                  <a:pt x="1" y="14"/>
                </a:cubicBezTo>
                <a:cubicBezTo>
                  <a:pt x="2" y="14"/>
                  <a:pt x="3" y="14"/>
                  <a:pt x="4" y="14"/>
                </a:cubicBezTo>
                <a:cubicBezTo>
                  <a:pt x="8" y="10"/>
                  <a:pt x="14" y="4"/>
                  <a:pt x="22" y="4"/>
                </a:cubicBezTo>
                <a:cubicBezTo>
                  <a:pt x="23" y="4"/>
                  <a:pt x="23" y="4"/>
                  <a:pt x="23" y="4"/>
                </a:cubicBezTo>
                <a:cubicBezTo>
                  <a:pt x="31" y="4"/>
                  <a:pt x="36" y="7"/>
                  <a:pt x="39" y="9"/>
                </a:cubicBezTo>
                <a:cubicBezTo>
                  <a:pt x="35" y="5"/>
                  <a:pt x="28" y="0"/>
                  <a:pt x="23"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9"/>
          <p:cNvSpPr>
            <a:spLocks noEditPoints="1"/>
          </p:cNvSpPr>
          <p:nvPr/>
        </p:nvSpPr>
        <p:spPr bwMode="auto">
          <a:xfrm>
            <a:off x="3479801" y="4783138"/>
            <a:ext cx="73025" cy="36512"/>
          </a:xfrm>
          <a:custGeom>
            <a:avLst/>
            <a:gdLst>
              <a:gd name="T0" fmla="*/ 4 w 43"/>
              <a:gd name="T1" fmla="*/ 15 h 21"/>
              <a:gd name="T2" fmla="*/ 0 w 43"/>
              <a:gd name="T3" fmla="*/ 15 h 21"/>
              <a:gd name="T4" fmla="*/ 1 w 43"/>
              <a:gd name="T5" fmla="*/ 21 h 21"/>
              <a:gd name="T6" fmla="*/ 4 w 43"/>
              <a:gd name="T7" fmla="*/ 15 h 21"/>
              <a:gd name="T8" fmla="*/ 40 w 43"/>
              <a:gd name="T9" fmla="*/ 12 h 21"/>
              <a:gd name="T10" fmla="*/ 43 w 43"/>
              <a:gd name="T11" fmla="*/ 15 h 21"/>
              <a:gd name="T12" fmla="*/ 40 w 43"/>
              <a:gd name="T13" fmla="*/ 12 h 21"/>
              <a:gd name="T14" fmla="*/ 39 w 43"/>
              <a:gd name="T15" fmla="*/ 11 h 21"/>
              <a:gd name="T16" fmla="*/ 39 w 43"/>
              <a:gd name="T17" fmla="*/ 11 h 21"/>
              <a:gd name="T18" fmla="*/ 40 w 43"/>
              <a:gd name="T19" fmla="*/ 12 h 21"/>
              <a:gd name="T20" fmla="*/ 39 w 43"/>
              <a:gd name="T21" fmla="*/ 11 h 21"/>
              <a:gd name="T22" fmla="*/ 20 w 43"/>
              <a:gd name="T23" fmla="*/ 0 h 21"/>
              <a:gd name="T24" fmla="*/ 19 w 43"/>
              <a:gd name="T25" fmla="*/ 0 h 21"/>
              <a:gd name="T26" fmla="*/ 1 w 43"/>
              <a:gd name="T27" fmla="*/ 12 h 21"/>
              <a:gd name="T28" fmla="*/ 7 w 43"/>
              <a:gd name="T29" fmla="*/ 11 h 21"/>
              <a:gd name="T30" fmla="*/ 19 w 43"/>
              <a:gd name="T31" fmla="*/ 4 h 21"/>
              <a:gd name="T32" fmla="*/ 20 w 43"/>
              <a:gd name="T33" fmla="*/ 4 h 21"/>
              <a:gd name="T34" fmla="*/ 32 w 43"/>
              <a:gd name="T35" fmla="*/ 7 h 21"/>
              <a:gd name="T36" fmla="*/ 34 w 43"/>
              <a:gd name="T37" fmla="*/ 7 h 21"/>
              <a:gd name="T38" fmla="*/ 20 w 43"/>
              <a:gd name="T3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21">
                <a:moveTo>
                  <a:pt x="4" y="15"/>
                </a:moveTo>
                <a:cubicBezTo>
                  <a:pt x="3" y="15"/>
                  <a:pt x="1" y="15"/>
                  <a:pt x="0" y="15"/>
                </a:cubicBezTo>
                <a:cubicBezTo>
                  <a:pt x="0" y="17"/>
                  <a:pt x="0" y="19"/>
                  <a:pt x="1" y="21"/>
                </a:cubicBezTo>
                <a:cubicBezTo>
                  <a:pt x="1" y="21"/>
                  <a:pt x="2" y="18"/>
                  <a:pt x="4" y="15"/>
                </a:cubicBezTo>
                <a:moveTo>
                  <a:pt x="40" y="12"/>
                </a:moveTo>
                <a:cubicBezTo>
                  <a:pt x="42" y="14"/>
                  <a:pt x="43" y="15"/>
                  <a:pt x="43" y="15"/>
                </a:cubicBezTo>
                <a:cubicBezTo>
                  <a:pt x="43" y="15"/>
                  <a:pt x="42" y="13"/>
                  <a:pt x="40" y="12"/>
                </a:cubicBezTo>
                <a:moveTo>
                  <a:pt x="39" y="11"/>
                </a:moveTo>
                <a:cubicBezTo>
                  <a:pt x="39" y="11"/>
                  <a:pt x="39" y="11"/>
                  <a:pt x="39" y="11"/>
                </a:cubicBezTo>
                <a:cubicBezTo>
                  <a:pt x="39" y="11"/>
                  <a:pt x="39" y="12"/>
                  <a:pt x="40" y="12"/>
                </a:cubicBezTo>
                <a:cubicBezTo>
                  <a:pt x="39" y="12"/>
                  <a:pt x="39" y="11"/>
                  <a:pt x="39" y="11"/>
                </a:cubicBezTo>
                <a:moveTo>
                  <a:pt x="20" y="0"/>
                </a:moveTo>
                <a:cubicBezTo>
                  <a:pt x="20" y="0"/>
                  <a:pt x="19" y="0"/>
                  <a:pt x="19" y="0"/>
                </a:cubicBezTo>
                <a:cubicBezTo>
                  <a:pt x="12" y="1"/>
                  <a:pt x="4" y="5"/>
                  <a:pt x="1" y="12"/>
                </a:cubicBezTo>
                <a:cubicBezTo>
                  <a:pt x="3" y="12"/>
                  <a:pt x="5" y="11"/>
                  <a:pt x="7" y="11"/>
                </a:cubicBezTo>
                <a:cubicBezTo>
                  <a:pt x="10" y="7"/>
                  <a:pt x="15" y="4"/>
                  <a:pt x="19" y="4"/>
                </a:cubicBezTo>
                <a:cubicBezTo>
                  <a:pt x="19" y="4"/>
                  <a:pt x="20" y="4"/>
                  <a:pt x="20" y="4"/>
                </a:cubicBezTo>
                <a:cubicBezTo>
                  <a:pt x="24" y="4"/>
                  <a:pt x="28" y="5"/>
                  <a:pt x="32" y="7"/>
                </a:cubicBezTo>
                <a:cubicBezTo>
                  <a:pt x="33" y="7"/>
                  <a:pt x="34" y="7"/>
                  <a:pt x="34" y="7"/>
                </a:cubicBezTo>
                <a:cubicBezTo>
                  <a:pt x="30" y="3"/>
                  <a:pt x="25" y="0"/>
                  <a:pt x="20"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20"/>
          <p:cNvSpPr>
            <a:spLocks/>
          </p:cNvSpPr>
          <p:nvPr/>
        </p:nvSpPr>
        <p:spPr bwMode="auto">
          <a:xfrm>
            <a:off x="3405188" y="4760913"/>
            <a:ext cx="50800" cy="39687"/>
          </a:xfrm>
          <a:custGeom>
            <a:avLst/>
            <a:gdLst>
              <a:gd name="T0" fmla="*/ 14 w 30"/>
              <a:gd name="T1" fmla="*/ 0 h 23"/>
              <a:gd name="T2" fmla="*/ 0 w 30"/>
              <a:gd name="T3" fmla="*/ 13 h 23"/>
              <a:gd name="T4" fmla="*/ 15 w 30"/>
              <a:gd name="T5" fmla="*/ 4 h 23"/>
              <a:gd name="T6" fmla="*/ 17 w 30"/>
              <a:gd name="T7" fmla="*/ 4 h 23"/>
              <a:gd name="T8" fmla="*/ 30 w 30"/>
              <a:gd name="T9" fmla="*/ 23 h 23"/>
              <a:gd name="T10" fmla="*/ 30 w 30"/>
              <a:gd name="T11" fmla="*/ 23 h 23"/>
              <a:gd name="T12" fmla="*/ 19 w 30"/>
              <a:gd name="T13" fmla="*/ 1 h 23"/>
              <a:gd name="T14" fmla="*/ 14 w 30"/>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3">
                <a:moveTo>
                  <a:pt x="14" y="0"/>
                </a:moveTo>
                <a:cubicBezTo>
                  <a:pt x="8" y="0"/>
                  <a:pt x="0" y="5"/>
                  <a:pt x="0" y="13"/>
                </a:cubicBezTo>
                <a:cubicBezTo>
                  <a:pt x="0" y="13"/>
                  <a:pt x="9" y="4"/>
                  <a:pt x="15" y="4"/>
                </a:cubicBezTo>
                <a:cubicBezTo>
                  <a:pt x="16" y="4"/>
                  <a:pt x="16" y="4"/>
                  <a:pt x="17" y="4"/>
                </a:cubicBezTo>
                <a:cubicBezTo>
                  <a:pt x="22" y="8"/>
                  <a:pt x="28" y="20"/>
                  <a:pt x="30" y="23"/>
                </a:cubicBezTo>
                <a:cubicBezTo>
                  <a:pt x="30" y="23"/>
                  <a:pt x="30" y="23"/>
                  <a:pt x="30" y="23"/>
                </a:cubicBezTo>
                <a:cubicBezTo>
                  <a:pt x="30" y="23"/>
                  <a:pt x="26" y="4"/>
                  <a:pt x="19" y="1"/>
                </a:cubicBezTo>
                <a:cubicBezTo>
                  <a:pt x="17" y="0"/>
                  <a:pt x="16" y="0"/>
                  <a:pt x="14"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5" name="Freeform 21"/>
          <p:cNvSpPr>
            <a:spLocks/>
          </p:cNvSpPr>
          <p:nvPr/>
        </p:nvSpPr>
        <p:spPr bwMode="auto">
          <a:xfrm>
            <a:off x="3843338" y="4706938"/>
            <a:ext cx="1588" cy="1587"/>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1"/>
                  <a:pt x="0" y="1"/>
                </a:cubicBezTo>
                <a:cubicBezTo>
                  <a:pt x="1" y="1"/>
                  <a:pt x="1" y="1"/>
                  <a:pt x="1" y="1"/>
                </a:cubicBezTo>
                <a:cubicBezTo>
                  <a:pt x="1" y="1"/>
                  <a:pt x="1" y="1"/>
                  <a:pt x="0"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 name="Freeform 22"/>
          <p:cNvSpPr>
            <a:spLocks/>
          </p:cNvSpPr>
          <p:nvPr/>
        </p:nvSpPr>
        <p:spPr bwMode="auto">
          <a:xfrm>
            <a:off x="3605213" y="4751388"/>
            <a:ext cx="6350" cy="3175"/>
          </a:xfrm>
          <a:custGeom>
            <a:avLst/>
            <a:gdLst>
              <a:gd name="T0" fmla="*/ 1 w 3"/>
              <a:gd name="T1" fmla="*/ 0 h 2"/>
              <a:gd name="T2" fmla="*/ 0 w 3"/>
              <a:gd name="T3" fmla="*/ 2 h 2"/>
              <a:gd name="T4" fmla="*/ 3 w 3"/>
              <a:gd name="T5" fmla="*/ 0 h 2"/>
              <a:gd name="T6" fmla="*/ 1 w 3"/>
              <a:gd name="T7" fmla="*/ 0 h 2"/>
            </a:gdLst>
            <a:ahLst/>
            <a:cxnLst>
              <a:cxn ang="0">
                <a:pos x="T0" y="T1"/>
              </a:cxn>
              <a:cxn ang="0">
                <a:pos x="T2" y="T3"/>
              </a:cxn>
              <a:cxn ang="0">
                <a:pos x="T4" y="T5"/>
              </a:cxn>
              <a:cxn ang="0">
                <a:pos x="T6" y="T7"/>
              </a:cxn>
            </a:cxnLst>
            <a:rect l="0" t="0" r="r" b="b"/>
            <a:pathLst>
              <a:path w="3" h="2">
                <a:moveTo>
                  <a:pt x="1" y="0"/>
                </a:moveTo>
                <a:cubicBezTo>
                  <a:pt x="1" y="1"/>
                  <a:pt x="0" y="2"/>
                  <a:pt x="0" y="2"/>
                </a:cubicBezTo>
                <a:cubicBezTo>
                  <a:pt x="0" y="2"/>
                  <a:pt x="1" y="1"/>
                  <a:pt x="3" y="0"/>
                </a:cubicBezTo>
                <a:cubicBezTo>
                  <a:pt x="2" y="0"/>
                  <a:pt x="2" y="0"/>
                  <a:pt x="1"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8" name="Freeform 23"/>
          <p:cNvSpPr>
            <a:spLocks/>
          </p:cNvSpPr>
          <p:nvPr/>
        </p:nvSpPr>
        <p:spPr bwMode="auto">
          <a:xfrm>
            <a:off x="3524251" y="4749800"/>
            <a:ext cx="49213" cy="22225"/>
          </a:xfrm>
          <a:custGeom>
            <a:avLst/>
            <a:gdLst>
              <a:gd name="T0" fmla="*/ 14 w 29"/>
              <a:gd name="T1" fmla="*/ 0 h 13"/>
              <a:gd name="T2" fmla="*/ 12 w 29"/>
              <a:gd name="T3" fmla="*/ 0 h 13"/>
              <a:gd name="T4" fmla="*/ 0 w 29"/>
              <a:gd name="T5" fmla="*/ 13 h 13"/>
              <a:gd name="T6" fmla="*/ 12 w 29"/>
              <a:gd name="T7" fmla="*/ 4 h 13"/>
              <a:gd name="T8" fmla="*/ 15 w 29"/>
              <a:gd name="T9" fmla="*/ 4 h 13"/>
              <a:gd name="T10" fmla="*/ 29 w 29"/>
              <a:gd name="T11" fmla="*/ 9 h 13"/>
              <a:gd name="T12" fmla="*/ 14 w 2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29" h="13">
                <a:moveTo>
                  <a:pt x="14" y="0"/>
                </a:moveTo>
                <a:cubicBezTo>
                  <a:pt x="13" y="0"/>
                  <a:pt x="12" y="0"/>
                  <a:pt x="12" y="0"/>
                </a:cubicBezTo>
                <a:cubicBezTo>
                  <a:pt x="3" y="2"/>
                  <a:pt x="1" y="10"/>
                  <a:pt x="0" y="13"/>
                </a:cubicBezTo>
                <a:cubicBezTo>
                  <a:pt x="0" y="13"/>
                  <a:pt x="7" y="5"/>
                  <a:pt x="12" y="4"/>
                </a:cubicBezTo>
                <a:cubicBezTo>
                  <a:pt x="13" y="4"/>
                  <a:pt x="14" y="4"/>
                  <a:pt x="15" y="4"/>
                </a:cubicBezTo>
                <a:cubicBezTo>
                  <a:pt x="19" y="4"/>
                  <a:pt x="26" y="5"/>
                  <a:pt x="29" y="9"/>
                </a:cubicBezTo>
                <a:cubicBezTo>
                  <a:pt x="29" y="9"/>
                  <a:pt x="22" y="0"/>
                  <a:pt x="14"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9" name="Freeform 24"/>
          <p:cNvSpPr>
            <a:spLocks/>
          </p:cNvSpPr>
          <p:nvPr/>
        </p:nvSpPr>
        <p:spPr bwMode="auto">
          <a:xfrm>
            <a:off x="3451226" y="4737100"/>
            <a:ext cx="52388" cy="26987"/>
          </a:xfrm>
          <a:custGeom>
            <a:avLst/>
            <a:gdLst>
              <a:gd name="T0" fmla="*/ 13 w 31"/>
              <a:gd name="T1" fmla="*/ 0 h 16"/>
              <a:gd name="T2" fmla="*/ 1 w 31"/>
              <a:gd name="T3" fmla="*/ 16 h 16"/>
              <a:gd name="T4" fmla="*/ 13 w 31"/>
              <a:gd name="T5" fmla="*/ 5 h 16"/>
              <a:gd name="T6" fmla="*/ 31 w 31"/>
              <a:gd name="T7" fmla="*/ 16 h 16"/>
              <a:gd name="T8" fmla="*/ 14 w 31"/>
              <a:gd name="T9" fmla="*/ 0 h 16"/>
              <a:gd name="T10" fmla="*/ 13 w 31"/>
              <a:gd name="T11" fmla="*/ 0 h 16"/>
            </a:gdLst>
            <a:ahLst/>
            <a:cxnLst>
              <a:cxn ang="0">
                <a:pos x="T0" y="T1"/>
              </a:cxn>
              <a:cxn ang="0">
                <a:pos x="T2" y="T3"/>
              </a:cxn>
              <a:cxn ang="0">
                <a:pos x="T4" y="T5"/>
              </a:cxn>
              <a:cxn ang="0">
                <a:pos x="T6" y="T7"/>
              </a:cxn>
              <a:cxn ang="0">
                <a:pos x="T8" y="T9"/>
              </a:cxn>
              <a:cxn ang="0">
                <a:pos x="T10" y="T11"/>
              </a:cxn>
            </a:cxnLst>
            <a:rect l="0" t="0" r="r" b="b"/>
            <a:pathLst>
              <a:path w="31" h="16">
                <a:moveTo>
                  <a:pt x="13" y="0"/>
                </a:moveTo>
                <a:cubicBezTo>
                  <a:pt x="6" y="0"/>
                  <a:pt x="0" y="11"/>
                  <a:pt x="1" y="16"/>
                </a:cubicBezTo>
                <a:cubicBezTo>
                  <a:pt x="1" y="16"/>
                  <a:pt x="7" y="5"/>
                  <a:pt x="13" y="5"/>
                </a:cubicBezTo>
                <a:cubicBezTo>
                  <a:pt x="20" y="5"/>
                  <a:pt x="31" y="16"/>
                  <a:pt x="31" y="16"/>
                </a:cubicBezTo>
                <a:cubicBezTo>
                  <a:pt x="31" y="16"/>
                  <a:pt x="22" y="0"/>
                  <a:pt x="14" y="0"/>
                </a:cubicBezTo>
                <a:cubicBezTo>
                  <a:pt x="14" y="0"/>
                  <a:pt x="14" y="0"/>
                  <a:pt x="13"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0" name="Freeform 25"/>
          <p:cNvSpPr>
            <a:spLocks/>
          </p:cNvSpPr>
          <p:nvPr/>
        </p:nvSpPr>
        <p:spPr bwMode="auto">
          <a:xfrm>
            <a:off x="3402013" y="4727575"/>
            <a:ext cx="28575" cy="20637"/>
          </a:xfrm>
          <a:custGeom>
            <a:avLst/>
            <a:gdLst>
              <a:gd name="T0" fmla="*/ 9 w 17"/>
              <a:gd name="T1" fmla="*/ 0 h 12"/>
              <a:gd name="T2" fmla="*/ 2 w 17"/>
              <a:gd name="T3" fmla="*/ 3 h 12"/>
              <a:gd name="T4" fmla="*/ 0 w 17"/>
              <a:gd name="T5" fmla="*/ 12 h 12"/>
              <a:gd name="T6" fmla="*/ 5 w 17"/>
              <a:gd name="T7" fmla="*/ 4 h 12"/>
              <a:gd name="T8" fmla="*/ 12 w 17"/>
              <a:gd name="T9" fmla="*/ 2 h 12"/>
              <a:gd name="T10" fmla="*/ 17 w 17"/>
              <a:gd name="T11" fmla="*/ 3 h 12"/>
              <a:gd name="T12" fmla="*/ 9 w 17"/>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17" h="12">
                <a:moveTo>
                  <a:pt x="9" y="0"/>
                </a:moveTo>
                <a:cubicBezTo>
                  <a:pt x="6" y="0"/>
                  <a:pt x="3" y="1"/>
                  <a:pt x="2" y="3"/>
                </a:cubicBezTo>
                <a:cubicBezTo>
                  <a:pt x="0" y="8"/>
                  <a:pt x="0" y="12"/>
                  <a:pt x="0" y="12"/>
                </a:cubicBezTo>
                <a:cubicBezTo>
                  <a:pt x="0" y="12"/>
                  <a:pt x="2" y="6"/>
                  <a:pt x="5" y="4"/>
                </a:cubicBezTo>
                <a:cubicBezTo>
                  <a:pt x="7" y="3"/>
                  <a:pt x="10" y="2"/>
                  <a:pt x="12" y="2"/>
                </a:cubicBezTo>
                <a:cubicBezTo>
                  <a:pt x="15" y="2"/>
                  <a:pt x="17" y="3"/>
                  <a:pt x="17" y="3"/>
                </a:cubicBezTo>
                <a:cubicBezTo>
                  <a:pt x="15" y="1"/>
                  <a:pt x="12" y="0"/>
                  <a:pt x="9"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26"/>
          <p:cNvSpPr>
            <a:spLocks/>
          </p:cNvSpPr>
          <p:nvPr/>
        </p:nvSpPr>
        <p:spPr bwMode="auto">
          <a:xfrm>
            <a:off x="3502026" y="4725988"/>
            <a:ext cx="4763" cy="6350"/>
          </a:xfrm>
          <a:custGeom>
            <a:avLst/>
            <a:gdLst>
              <a:gd name="T0" fmla="*/ 2 w 3"/>
              <a:gd name="T1" fmla="*/ 0 h 4"/>
              <a:gd name="T2" fmla="*/ 0 w 3"/>
              <a:gd name="T3" fmla="*/ 4 h 4"/>
              <a:gd name="T4" fmla="*/ 3 w 3"/>
              <a:gd name="T5" fmla="*/ 1 h 4"/>
              <a:gd name="T6" fmla="*/ 2 w 3"/>
              <a:gd name="T7" fmla="*/ 0 h 4"/>
            </a:gdLst>
            <a:ahLst/>
            <a:cxnLst>
              <a:cxn ang="0">
                <a:pos x="T0" y="T1"/>
              </a:cxn>
              <a:cxn ang="0">
                <a:pos x="T2" y="T3"/>
              </a:cxn>
              <a:cxn ang="0">
                <a:pos x="T4" y="T5"/>
              </a:cxn>
              <a:cxn ang="0">
                <a:pos x="T6" y="T7"/>
              </a:cxn>
            </a:cxnLst>
            <a:rect l="0" t="0" r="r" b="b"/>
            <a:pathLst>
              <a:path w="3" h="4">
                <a:moveTo>
                  <a:pt x="2" y="0"/>
                </a:moveTo>
                <a:cubicBezTo>
                  <a:pt x="1" y="2"/>
                  <a:pt x="0" y="3"/>
                  <a:pt x="0" y="4"/>
                </a:cubicBezTo>
                <a:cubicBezTo>
                  <a:pt x="0" y="4"/>
                  <a:pt x="1" y="2"/>
                  <a:pt x="3" y="1"/>
                </a:cubicBezTo>
                <a:cubicBezTo>
                  <a:pt x="3" y="0"/>
                  <a:pt x="2" y="0"/>
                  <a:pt x="2" y="0"/>
                </a:cubicBezTo>
              </a:path>
            </a:pathLst>
          </a:custGeom>
          <a:solidFill>
            <a:srgbClr val="F7CE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2" name="Freeform 27"/>
          <p:cNvSpPr>
            <a:spLocks noEditPoints="1"/>
          </p:cNvSpPr>
          <p:nvPr/>
        </p:nvSpPr>
        <p:spPr bwMode="auto">
          <a:xfrm>
            <a:off x="3462338" y="4822825"/>
            <a:ext cx="152400" cy="33337"/>
          </a:xfrm>
          <a:custGeom>
            <a:avLst/>
            <a:gdLst>
              <a:gd name="T0" fmla="*/ 55 w 90"/>
              <a:gd name="T1" fmla="*/ 12 h 20"/>
              <a:gd name="T2" fmla="*/ 50 w 90"/>
              <a:gd name="T3" fmla="*/ 13 h 20"/>
              <a:gd name="T4" fmla="*/ 52 w 90"/>
              <a:gd name="T5" fmla="*/ 13 h 20"/>
              <a:gd name="T6" fmla="*/ 54 w 90"/>
              <a:gd name="T7" fmla="*/ 14 h 20"/>
              <a:gd name="T8" fmla="*/ 58 w 90"/>
              <a:gd name="T9" fmla="*/ 13 h 20"/>
              <a:gd name="T10" fmla="*/ 55 w 90"/>
              <a:gd name="T11" fmla="*/ 12 h 20"/>
              <a:gd name="T12" fmla="*/ 43 w 90"/>
              <a:gd name="T13" fmla="*/ 3 h 20"/>
              <a:gd name="T14" fmla="*/ 22 w 90"/>
              <a:gd name="T15" fmla="*/ 14 h 20"/>
              <a:gd name="T16" fmla="*/ 11 w 90"/>
              <a:gd name="T17" fmla="*/ 11 h 20"/>
              <a:gd name="T18" fmla="*/ 0 w 90"/>
              <a:gd name="T19" fmla="*/ 17 h 20"/>
              <a:gd name="T20" fmla="*/ 8 w 90"/>
              <a:gd name="T21" fmla="*/ 14 h 20"/>
              <a:gd name="T22" fmla="*/ 19 w 90"/>
              <a:gd name="T23" fmla="*/ 18 h 20"/>
              <a:gd name="T24" fmla="*/ 29 w 90"/>
              <a:gd name="T25" fmla="*/ 20 h 20"/>
              <a:gd name="T26" fmla="*/ 50 w 90"/>
              <a:gd name="T27" fmla="*/ 6 h 20"/>
              <a:gd name="T28" fmla="*/ 43 w 90"/>
              <a:gd name="T29" fmla="*/ 3 h 20"/>
              <a:gd name="T30" fmla="*/ 80 w 90"/>
              <a:gd name="T31" fmla="*/ 0 h 20"/>
              <a:gd name="T32" fmla="*/ 64 w 90"/>
              <a:gd name="T33" fmla="*/ 11 h 20"/>
              <a:gd name="T34" fmla="*/ 72 w 90"/>
              <a:gd name="T35" fmla="*/ 10 h 20"/>
              <a:gd name="T36" fmla="*/ 82 w 90"/>
              <a:gd name="T37" fmla="*/ 5 h 20"/>
              <a:gd name="T38" fmla="*/ 83 w 90"/>
              <a:gd name="T39" fmla="*/ 5 h 20"/>
              <a:gd name="T40" fmla="*/ 88 w 90"/>
              <a:gd name="T41" fmla="*/ 7 h 20"/>
              <a:gd name="T42" fmla="*/ 90 w 90"/>
              <a:gd name="T43" fmla="*/ 5 h 20"/>
              <a:gd name="T44" fmla="*/ 86 w 90"/>
              <a:gd name="T45" fmla="*/ 2 h 20"/>
              <a:gd name="T46" fmla="*/ 80 w 90"/>
              <a:gd name="T4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0">
                <a:moveTo>
                  <a:pt x="55" y="12"/>
                </a:moveTo>
                <a:cubicBezTo>
                  <a:pt x="52" y="12"/>
                  <a:pt x="51" y="13"/>
                  <a:pt x="50" y="13"/>
                </a:cubicBezTo>
                <a:cubicBezTo>
                  <a:pt x="51" y="13"/>
                  <a:pt x="51" y="13"/>
                  <a:pt x="52" y="13"/>
                </a:cubicBezTo>
                <a:cubicBezTo>
                  <a:pt x="52" y="13"/>
                  <a:pt x="53" y="13"/>
                  <a:pt x="54" y="14"/>
                </a:cubicBezTo>
                <a:cubicBezTo>
                  <a:pt x="55" y="14"/>
                  <a:pt x="57" y="13"/>
                  <a:pt x="58" y="13"/>
                </a:cubicBezTo>
                <a:cubicBezTo>
                  <a:pt x="57" y="12"/>
                  <a:pt x="56" y="12"/>
                  <a:pt x="55" y="12"/>
                </a:cubicBezTo>
                <a:moveTo>
                  <a:pt x="43" y="3"/>
                </a:moveTo>
                <a:cubicBezTo>
                  <a:pt x="33" y="3"/>
                  <a:pt x="22" y="14"/>
                  <a:pt x="22" y="14"/>
                </a:cubicBezTo>
                <a:cubicBezTo>
                  <a:pt x="18" y="12"/>
                  <a:pt x="14" y="11"/>
                  <a:pt x="11" y="11"/>
                </a:cubicBezTo>
                <a:cubicBezTo>
                  <a:pt x="3" y="11"/>
                  <a:pt x="0" y="17"/>
                  <a:pt x="0" y="17"/>
                </a:cubicBezTo>
                <a:cubicBezTo>
                  <a:pt x="2" y="15"/>
                  <a:pt x="5" y="14"/>
                  <a:pt x="8" y="14"/>
                </a:cubicBezTo>
                <a:cubicBezTo>
                  <a:pt x="12" y="14"/>
                  <a:pt x="16" y="15"/>
                  <a:pt x="19" y="18"/>
                </a:cubicBezTo>
                <a:cubicBezTo>
                  <a:pt x="22" y="18"/>
                  <a:pt x="26" y="19"/>
                  <a:pt x="29" y="20"/>
                </a:cubicBezTo>
                <a:cubicBezTo>
                  <a:pt x="30" y="6"/>
                  <a:pt x="50" y="6"/>
                  <a:pt x="50" y="6"/>
                </a:cubicBezTo>
                <a:cubicBezTo>
                  <a:pt x="48" y="4"/>
                  <a:pt x="45" y="3"/>
                  <a:pt x="43" y="3"/>
                </a:cubicBezTo>
                <a:moveTo>
                  <a:pt x="80" y="0"/>
                </a:moveTo>
                <a:cubicBezTo>
                  <a:pt x="73" y="0"/>
                  <a:pt x="67" y="6"/>
                  <a:pt x="64" y="11"/>
                </a:cubicBezTo>
                <a:cubicBezTo>
                  <a:pt x="67" y="10"/>
                  <a:pt x="69" y="10"/>
                  <a:pt x="72" y="10"/>
                </a:cubicBezTo>
                <a:cubicBezTo>
                  <a:pt x="75" y="7"/>
                  <a:pt x="79" y="5"/>
                  <a:pt x="82" y="5"/>
                </a:cubicBezTo>
                <a:cubicBezTo>
                  <a:pt x="82" y="5"/>
                  <a:pt x="82" y="5"/>
                  <a:pt x="83" y="5"/>
                </a:cubicBezTo>
                <a:cubicBezTo>
                  <a:pt x="84" y="5"/>
                  <a:pt x="86" y="6"/>
                  <a:pt x="88" y="7"/>
                </a:cubicBezTo>
                <a:cubicBezTo>
                  <a:pt x="89" y="7"/>
                  <a:pt x="89" y="6"/>
                  <a:pt x="90" y="5"/>
                </a:cubicBezTo>
                <a:cubicBezTo>
                  <a:pt x="89" y="4"/>
                  <a:pt x="88" y="3"/>
                  <a:pt x="86" y="2"/>
                </a:cubicBezTo>
                <a:cubicBezTo>
                  <a:pt x="84" y="1"/>
                  <a:pt x="82" y="0"/>
                  <a:pt x="80" y="0"/>
                </a:cubicBezTo>
              </a:path>
            </a:pathLst>
          </a:custGeom>
          <a:solidFill>
            <a:srgbClr val="C5830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3" name="Freeform 28"/>
          <p:cNvSpPr>
            <a:spLocks noEditPoints="1"/>
          </p:cNvSpPr>
          <p:nvPr/>
        </p:nvSpPr>
        <p:spPr bwMode="auto">
          <a:xfrm>
            <a:off x="3646488" y="4783138"/>
            <a:ext cx="127000" cy="42862"/>
          </a:xfrm>
          <a:custGeom>
            <a:avLst/>
            <a:gdLst>
              <a:gd name="T0" fmla="*/ 12 w 75"/>
              <a:gd name="T1" fmla="*/ 14 h 25"/>
              <a:gd name="T2" fmla="*/ 0 w 75"/>
              <a:gd name="T3" fmla="*/ 19 h 25"/>
              <a:gd name="T4" fmla="*/ 2 w 75"/>
              <a:gd name="T5" fmla="*/ 20 h 25"/>
              <a:gd name="T6" fmla="*/ 9 w 75"/>
              <a:gd name="T7" fmla="*/ 18 h 25"/>
              <a:gd name="T8" fmla="*/ 18 w 75"/>
              <a:gd name="T9" fmla="*/ 21 h 25"/>
              <a:gd name="T10" fmla="*/ 20 w 75"/>
              <a:gd name="T11" fmla="*/ 25 h 25"/>
              <a:gd name="T12" fmla="*/ 23 w 75"/>
              <a:gd name="T13" fmla="*/ 18 h 25"/>
              <a:gd name="T14" fmla="*/ 20 w 75"/>
              <a:gd name="T15" fmla="*/ 16 h 25"/>
              <a:gd name="T16" fmla="*/ 12 w 75"/>
              <a:gd name="T17" fmla="*/ 14 h 25"/>
              <a:gd name="T18" fmla="*/ 43 w 75"/>
              <a:gd name="T19" fmla="*/ 9 h 25"/>
              <a:gd name="T20" fmla="*/ 32 w 75"/>
              <a:gd name="T21" fmla="*/ 16 h 25"/>
              <a:gd name="T22" fmla="*/ 36 w 75"/>
              <a:gd name="T23" fmla="*/ 18 h 25"/>
              <a:gd name="T24" fmla="*/ 41 w 75"/>
              <a:gd name="T25" fmla="*/ 15 h 25"/>
              <a:gd name="T26" fmla="*/ 43 w 75"/>
              <a:gd name="T27" fmla="*/ 9 h 25"/>
              <a:gd name="T28" fmla="*/ 75 w 75"/>
              <a:gd name="T29" fmla="*/ 0 h 25"/>
              <a:gd name="T30" fmla="*/ 69 w 75"/>
              <a:gd name="T31" fmla="*/ 4 h 25"/>
              <a:gd name="T32" fmla="*/ 70 w 75"/>
              <a:gd name="T33" fmla="*/ 4 h 25"/>
              <a:gd name="T34" fmla="*/ 74 w 75"/>
              <a:gd name="T35" fmla="*/ 2 h 25"/>
              <a:gd name="T36" fmla="*/ 75 w 75"/>
              <a:gd name="T3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5" h="25">
                <a:moveTo>
                  <a:pt x="12" y="14"/>
                </a:moveTo>
                <a:cubicBezTo>
                  <a:pt x="7" y="14"/>
                  <a:pt x="3" y="17"/>
                  <a:pt x="0" y="19"/>
                </a:cubicBezTo>
                <a:cubicBezTo>
                  <a:pt x="1" y="19"/>
                  <a:pt x="2" y="19"/>
                  <a:pt x="2" y="20"/>
                </a:cubicBezTo>
                <a:cubicBezTo>
                  <a:pt x="4" y="19"/>
                  <a:pt x="7" y="18"/>
                  <a:pt x="9" y="18"/>
                </a:cubicBezTo>
                <a:cubicBezTo>
                  <a:pt x="13" y="18"/>
                  <a:pt x="16" y="19"/>
                  <a:pt x="18" y="21"/>
                </a:cubicBezTo>
                <a:cubicBezTo>
                  <a:pt x="19" y="22"/>
                  <a:pt x="20" y="24"/>
                  <a:pt x="20" y="25"/>
                </a:cubicBezTo>
                <a:cubicBezTo>
                  <a:pt x="21" y="22"/>
                  <a:pt x="22" y="20"/>
                  <a:pt x="23" y="18"/>
                </a:cubicBezTo>
                <a:cubicBezTo>
                  <a:pt x="22" y="18"/>
                  <a:pt x="21" y="17"/>
                  <a:pt x="20" y="16"/>
                </a:cubicBezTo>
                <a:cubicBezTo>
                  <a:pt x="17" y="15"/>
                  <a:pt x="14" y="14"/>
                  <a:pt x="12" y="14"/>
                </a:cubicBezTo>
                <a:moveTo>
                  <a:pt x="43" y="9"/>
                </a:moveTo>
                <a:cubicBezTo>
                  <a:pt x="39" y="10"/>
                  <a:pt x="35" y="13"/>
                  <a:pt x="32" y="16"/>
                </a:cubicBezTo>
                <a:cubicBezTo>
                  <a:pt x="34" y="17"/>
                  <a:pt x="35" y="17"/>
                  <a:pt x="36" y="18"/>
                </a:cubicBezTo>
                <a:cubicBezTo>
                  <a:pt x="38" y="17"/>
                  <a:pt x="39" y="16"/>
                  <a:pt x="41" y="15"/>
                </a:cubicBezTo>
                <a:cubicBezTo>
                  <a:pt x="42" y="13"/>
                  <a:pt x="42" y="11"/>
                  <a:pt x="43" y="9"/>
                </a:cubicBezTo>
                <a:moveTo>
                  <a:pt x="75" y="0"/>
                </a:moveTo>
                <a:cubicBezTo>
                  <a:pt x="72" y="1"/>
                  <a:pt x="70" y="3"/>
                  <a:pt x="69" y="4"/>
                </a:cubicBezTo>
                <a:cubicBezTo>
                  <a:pt x="69" y="4"/>
                  <a:pt x="69" y="4"/>
                  <a:pt x="70" y="4"/>
                </a:cubicBezTo>
                <a:cubicBezTo>
                  <a:pt x="71" y="3"/>
                  <a:pt x="72" y="3"/>
                  <a:pt x="74" y="2"/>
                </a:cubicBezTo>
                <a:cubicBezTo>
                  <a:pt x="74" y="1"/>
                  <a:pt x="75" y="1"/>
                  <a:pt x="75" y="0"/>
                </a:cubicBezTo>
              </a:path>
            </a:pathLst>
          </a:custGeom>
          <a:solidFill>
            <a:srgbClr val="C5830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4" name="Freeform 29"/>
          <p:cNvSpPr>
            <a:spLocks noEditPoints="1"/>
          </p:cNvSpPr>
          <p:nvPr/>
        </p:nvSpPr>
        <p:spPr bwMode="auto">
          <a:xfrm>
            <a:off x="3360738" y="4857750"/>
            <a:ext cx="57150" cy="14287"/>
          </a:xfrm>
          <a:custGeom>
            <a:avLst/>
            <a:gdLst>
              <a:gd name="T0" fmla="*/ 32 w 33"/>
              <a:gd name="T1" fmla="*/ 2 h 8"/>
              <a:gd name="T2" fmla="*/ 33 w 33"/>
              <a:gd name="T3" fmla="*/ 3 h 8"/>
              <a:gd name="T4" fmla="*/ 33 w 33"/>
              <a:gd name="T5" fmla="*/ 3 h 8"/>
              <a:gd name="T6" fmla="*/ 32 w 33"/>
              <a:gd name="T7" fmla="*/ 2 h 8"/>
              <a:gd name="T8" fmla="*/ 4 w 33"/>
              <a:gd name="T9" fmla="*/ 0 h 8"/>
              <a:gd name="T10" fmla="*/ 0 w 33"/>
              <a:gd name="T11" fmla="*/ 7 h 8"/>
              <a:gd name="T12" fmla="*/ 4 w 33"/>
              <a:gd name="T13" fmla="*/ 8 h 8"/>
              <a:gd name="T14" fmla="*/ 4 w 33"/>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8">
                <a:moveTo>
                  <a:pt x="32" y="2"/>
                </a:moveTo>
                <a:cubicBezTo>
                  <a:pt x="32" y="2"/>
                  <a:pt x="33" y="3"/>
                  <a:pt x="33" y="3"/>
                </a:cubicBezTo>
                <a:cubicBezTo>
                  <a:pt x="33" y="3"/>
                  <a:pt x="33" y="3"/>
                  <a:pt x="33" y="3"/>
                </a:cubicBezTo>
                <a:cubicBezTo>
                  <a:pt x="32" y="2"/>
                  <a:pt x="32" y="2"/>
                  <a:pt x="32" y="2"/>
                </a:cubicBezTo>
                <a:moveTo>
                  <a:pt x="4" y="0"/>
                </a:moveTo>
                <a:cubicBezTo>
                  <a:pt x="3" y="3"/>
                  <a:pt x="2" y="5"/>
                  <a:pt x="0" y="7"/>
                </a:cubicBezTo>
                <a:cubicBezTo>
                  <a:pt x="2" y="7"/>
                  <a:pt x="3" y="8"/>
                  <a:pt x="4" y="8"/>
                </a:cubicBezTo>
                <a:cubicBezTo>
                  <a:pt x="4" y="4"/>
                  <a:pt x="4" y="0"/>
                  <a:pt x="4" y="0"/>
                </a:cubicBezTo>
              </a:path>
            </a:pathLst>
          </a:custGeom>
          <a:solidFill>
            <a:srgbClr val="C5830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 name="Freeform 30"/>
          <p:cNvSpPr>
            <a:spLocks noEditPoints="1"/>
          </p:cNvSpPr>
          <p:nvPr/>
        </p:nvSpPr>
        <p:spPr bwMode="auto">
          <a:xfrm>
            <a:off x="3398838" y="4714875"/>
            <a:ext cx="542925" cy="100012"/>
          </a:xfrm>
          <a:custGeom>
            <a:avLst/>
            <a:gdLst>
              <a:gd name="T0" fmla="*/ 0 w 320"/>
              <a:gd name="T1" fmla="*/ 55 h 59"/>
              <a:gd name="T2" fmla="*/ 5 w 320"/>
              <a:gd name="T3" fmla="*/ 59 h 59"/>
              <a:gd name="T4" fmla="*/ 13 w 320"/>
              <a:gd name="T5" fmla="*/ 57 h 59"/>
              <a:gd name="T6" fmla="*/ 48 w 320"/>
              <a:gd name="T7" fmla="*/ 55 h 59"/>
              <a:gd name="T8" fmla="*/ 45 w 320"/>
              <a:gd name="T9" fmla="*/ 52 h 59"/>
              <a:gd name="T10" fmla="*/ 34 w 320"/>
              <a:gd name="T11" fmla="*/ 50 h 59"/>
              <a:gd name="T12" fmla="*/ 34 w 320"/>
              <a:gd name="T13" fmla="*/ 50 h 59"/>
              <a:gd name="T14" fmla="*/ 80 w 320"/>
              <a:gd name="T15" fmla="*/ 47 h 59"/>
              <a:gd name="T16" fmla="*/ 55 w 320"/>
              <a:gd name="T17" fmla="*/ 51 h 59"/>
              <a:gd name="T18" fmla="*/ 65 w 320"/>
              <a:gd name="T19" fmla="*/ 55 h 59"/>
              <a:gd name="T20" fmla="*/ 80 w 320"/>
              <a:gd name="T21" fmla="*/ 47 h 59"/>
              <a:gd name="T22" fmla="*/ 82 w 320"/>
              <a:gd name="T23" fmla="*/ 47 h 59"/>
              <a:gd name="T24" fmla="*/ 93 w 320"/>
              <a:gd name="T25" fmla="*/ 51 h 59"/>
              <a:gd name="T26" fmla="*/ 104 w 320"/>
              <a:gd name="T27" fmla="*/ 52 h 59"/>
              <a:gd name="T28" fmla="*/ 102 w 320"/>
              <a:gd name="T29" fmla="*/ 47 h 59"/>
              <a:gd name="T30" fmla="*/ 163 w 320"/>
              <a:gd name="T31" fmla="*/ 38 h 59"/>
              <a:gd name="T32" fmla="*/ 144 w 320"/>
              <a:gd name="T33" fmla="*/ 44 h 59"/>
              <a:gd name="T34" fmla="*/ 144 w 320"/>
              <a:gd name="T35" fmla="*/ 44 h 59"/>
              <a:gd name="T36" fmla="*/ 111 w 320"/>
              <a:gd name="T37" fmla="*/ 48 h 59"/>
              <a:gd name="T38" fmla="*/ 106 w 320"/>
              <a:gd name="T39" fmla="*/ 52 h 59"/>
              <a:gd name="T40" fmla="*/ 128 w 320"/>
              <a:gd name="T41" fmla="*/ 52 h 59"/>
              <a:gd name="T42" fmla="*/ 164 w 320"/>
              <a:gd name="T43" fmla="*/ 44 h 59"/>
              <a:gd name="T44" fmla="*/ 302 w 320"/>
              <a:gd name="T45" fmla="*/ 3 h 59"/>
              <a:gd name="T46" fmla="*/ 279 w 320"/>
              <a:gd name="T47" fmla="*/ 11 h 59"/>
              <a:gd name="T48" fmla="*/ 259 w 320"/>
              <a:gd name="T49" fmla="*/ 19 h 59"/>
              <a:gd name="T50" fmla="*/ 254 w 320"/>
              <a:gd name="T51" fmla="*/ 18 h 59"/>
              <a:gd name="T52" fmla="*/ 246 w 320"/>
              <a:gd name="T53" fmla="*/ 22 h 59"/>
              <a:gd name="T54" fmla="*/ 223 w 320"/>
              <a:gd name="T55" fmla="*/ 27 h 59"/>
              <a:gd name="T56" fmla="*/ 214 w 320"/>
              <a:gd name="T57" fmla="*/ 36 h 59"/>
              <a:gd name="T58" fmla="*/ 200 w 320"/>
              <a:gd name="T59" fmla="*/ 34 h 59"/>
              <a:gd name="T60" fmla="*/ 195 w 320"/>
              <a:gd name="T61" fmla="*/ 34 h 59"/>
              <a:gd name="T62" fmla="*/ 195 w 320"/>
              <a:gd name="T63" fmla="*/ 34 h 59"/>
              <a:gd name="T64" fmla="*/ 166 w 320"/>
              <a:gd name="T65" fmla="*/ 37 h 59"/>
              <a:gd name="T66" fmla="*/ 191 w 320"/>
              <a:gd name="T67" fmla="*/ 40 h 59"/>
              <a:gd name="T68" fmla="*/ 227 w 320"/>
              <a:gd name="T69" fmla="*/ 32 h 59"/>
              <a:gd name="T70" fmla="*/ 251 w 320"/>
              <a:gd name="T71" fmla="*/ 26 h 59"/>
              <a:gd name="T72" fmla="*/ 269 w 320"/>
              <a:gd name="T73" fmla="*/ 22 h 59"/>
              <a:gd name="T74" fmla="*/ 302 w 320"/>
              <a:gd name="T75" fmla="*/ 3 h 59"/>
              <a:gd name="T76" fmla="*/ 305 w 320"/>
              <a:gd name="T77" fmla="*/ 2 h 59"/>
              <a:gd name="T78" fmla="*/ 315 w 320"/>
              <a:gd name="T79" fmla="*/ 5 h 59"/>
              <a:gd name="T80" fmla="*/ 320 w 320"/>
              <a:gd name="T81"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0" h="59">
                <a:moveTo>
                  <a:pt x="28" y="50"/>
                </a:moveTo>
                <a:cubicBezTo>
                  <a:pt x="19" y="50"/>
                  <a:pt x="5" y="53"/>
                  <a:pt x="0" y="55"/>
                </a:cubicBezTo>
                <a:cubicBezTo>
                  <a:pt x="0" y="56"/>
                  <a:pt x="0" y="58"/>
                  <a:pt x="0" y="59"/>
                </a:cubicBezTo>
                <a:cubicBezTo>
                  <a:pt x="1" y="59"/>
                  <a:pt x="3" y="59"/>
                  <a:pt x="5" y="59"/>
                </a:cubicBezTo>
                <a:cubicBezTo>
                  <a:pt x="11" y="56"/>
                  <a:pt x="18" y="52"/>
                  <a:pt x="18" y="52"/>
                </a:cubicBezTo>
                <a:cubicBezTo>
                  <a:pt x="17" y="54"/>
                  <a:pt x="15" y="56"/>
                  <a:pt x="13" y="57"/>
                </a:cubicBezTo>
                <a:cubicBezTo>
                  <a:pt x="21" y="56"/>
                  <a:pt x="30" y="55"/>
                  <a:pt x="36" y="55"/>
                </a:cubicBezTo>
                <a:cubicBezTo>
                  <a:pt x="41" y="55"/>
                  <a:pt x="45" y="55"/>
                  <a:pt x="48" y="55"/>
                </a:cubicBezTo>
                <a:cubicBezTo>
                  <a:pt x="48" y="54"/>
                  <a:pt x="49" y="53"/>
                  <a:pt x="49" y="52"/>
                </a:cubicBezTo>
                <a:cubicBezTo>
                  <a:pt x="48" y="52"/>
                  <a:pt x="46" y="52"/>
                  <a:pt x="45" y="52"/>
                </a:cubicBezTo>
                <a:cubicBezTo>
                  <a:pt x="40" y="52"/>
                  <a:pt x="36" y="51"/>
                  <a:pt x="34" y="50"/>
                </a:cubicBezTo>
                <a:cubicBezTo>
                  <a:pt x="34" y="50"/>
                  <a:pt x="34" y="50"/>
                  <a:pt x="34" y="50"/>
                </a:cubicBezTo>
                <a:cubicBezTo>
                  <a:pt x="34" y="50"/>
                  <a:pt x="34" y="50"/>
                  <a:pt x="34" y="50"/>
                </a:cubicBezTo>
                <a:cubicBezTo>
                  <a:pt x="34" y="50"/>
                  <a:pt x="34" y="50"/>
                  <a:pt x="34" y="50"/>
                </a:cubicBezTo>
                <a:cubicBezTo>
                  <a:pt x="32" y="50"/>
                  <a:pt x="30" y="50"/>
                  <a:pt x="28" y="50"/>
                </a:cubicBezTo>
                <a:moveTo>
                  <a:pt x="80" y="47"/>
                </a:moveTo>
                <a:cubicBezTo>
                  <a:pt x="74" y="48"/>
                  <a:pt x="68" y="49"/>
                  <a:pt x="66" y="50"/>
                </a:cubicBezTo>
                <a:cubicBezTo>
                  <a:pt x="63" y="50"/>
                  <a:pt x="59" y="51"/>
                  <a:pt x="55" y="51"/>
                </a:cubicBezTo>
                <a:cubicBezTo>
                  <a:pt x="54" y="53"/>
                  <a:pt x="53" y="54"/>
                  <a:pt x="52" y="55"/>
                </a:cubicBezTo>
                <a:cubicBezTo>
                  <a:pt x="56" y="55"/>
                  <a:pt x="59" y="55"/>
                  <a:pt x="65" y="55"/>
                </a:cubicBezTo>
                <a:cubicBezTo>
                  <a:pt x="74" y="54"/>
                  <a:pt x="81" y="52"/>
                  <a:pt x="87" y="51"/>
                </a:cubicBezTo>
                <a:cubicBezTo>
                  <a:pt x="85" y="50"/>
                  <a:pt x="83" y="48"/>
                  <a:pt x="80" y="47"/>
                </a:cubicBezTo>
                <a:moveTo>
                  <a:pt x="94" y="46"/>
                </a:moveTo>
                <a:cubicBezTo>
                  <a:pt x="91" y="46"/>
                  <a:pt x="86" y="46"/>
                  <a:pt x="82" y="47"/>
                </a:cubicBezTo>
                <a:cubicBezTo>
                  <a:pt x="84" y="48"/>
                  <a:pt x="86" y="50"/>
                  <a:pt x="87" y="51"/>
                </a:cubicBezTo>
                <a:cubicBezTo>
                  <a:pt x="89" y="51"/>
                  <a:pt x="91" y="51"/>
                  <a:pt x="93" y="51"/>
                </a:cubicBezTo>
                <a:cubicBezTo>
                  <a:pt x="94" y="51"/>
                  <a:pt x="95" y="51"/>
                  <a:pt x="96" y="51"/>
                </a:cubicBezTo>
                <a:cubicBezTo>
                  <a:pt x="99" y="51"/>
                  <a:pt x="101" y="51"/>
                  <a:pt x="104" y="52"/>
                </a:cubicBezTo>
                <a:cubicBezTo>
                  <a:pt x="104" y="50"/>
                  <a:pt x="104" y="49"/>
                  <a:pt x="105" y="48"/>
                </a:cubicBezTo>
                <a:cubicBezTo>
                  <a:pt x="104" y="48"/>
                  <a:pt x="102" y="47"/>
                  <a:pt x="102" y="47"/>
                </a:cubicBezTo>
                <a:cubicBezTo>
                  <a:pt x="100" y="46"/>
                  <a:pt x="97" y="46"/>
                  <a:pt x="94" y="46"/>
                </a:cubicBezTo>
                <a:moveTo>
                  <a:pt x="163" y="38"/>
                </a:moveTo>
                <a:cubicBezTo>
                  <a:pt x="162" y="38"/>
                  <a:pt x="160" y="39"/>
                  <a:pt x="159" y="39"/>
                </a:cubicBezTo>
                <a:cubicBezTo>
                  <a:pt x="154" y="40"/>
                  <a:pt x="150" y="42"/>
                  <a:pt x="144" y="44"/>
                </a:cubicBezTo>
                <a:cubicBezTo>
                  <a:pt x="145" y="45"/>
                  <a:pt x="146" y="46"/>
                  <a:pt x="146" y="46"/>
                </a:cubicBezTo>
                <a:cubicBezTo>
                  <a:pt x="146" y="46"/>
                  <a:pt x="145" y="45"/>
                  <a:pt x="144" y="44"/>
                </a:cubicBezTo>
                <a:cubicBezTo>
                  <a:pt x="141" y="46"/>
                  <a:pt x="137" y="47"/>
                  <a:pt x="132" y="47"/>
                </a:cubicBezTo>
                <a:cubicBezTo>
                  <a:pt x="124" y="47"/>
                  <a:pt x="117" y="48"/>
                  <a:pt x="111" y="48"/>
                </a:cubicBezTo>
                <a:cubicBezTo>
                  <a:pt x="110" y="48"/>
                  <a:pt x="109" y="48"/>
                  <a:pt x="108" y="48"/>
                </a:cubicBezTo>
                <a:cubicBezTo>
                  <a:pt x="107" y="50"/>
                  <a:pt x="106" y="51"/>
                  <a:pt x="106" y="52"/>
                </a:cubicBezTo>
                <a:cubicBezTo>
                  <a:pt x="110" y="52"/>
                  <a:pt x="115" y="52"/>
                  <a:pt x="119" y="52"/>
                </a:cubicBezTo>
                <a:cubicBezTo>
                  <a:pt x="122" y="52"/>
                  <a:pt x="126" y="52"/>
                  <a:pt x="128" y="52"/>
                </a:cubicBezTo>
                <a:cubicBezTo>
                  <a:pt x="137" y="51"/>
                  <a:pt x="150" y="48"/>
                  <a:pt x="159" y="45"/>
                </a:cubicBezTo>
                <a:cubicBezTo>
                  <a:pt x="159" y="45"/>
                  <a:pt x="161" y="44"/>
                  <a:pt x="164" y="44"/>
                </a:cubicBezTo>
                <a:cubicBezTo>
                  <a:pt x="163" y="42"/>
                  <a:pt x="163" y="40"/>
                  <a:pt x="163" y="38"/>
                </a:cubicBezTo>
                <a:moveTo>
                  <a:pt x="302" y="3"/>
                </a:moveTo>
                <a:cubicBezTo>
                  <a:pt x="298" y="4"/>
                  <a:pt x="294" y="5"/>
                  <a:pt x="290" y="6"/>
                </a:cubicBezTo>
                <a:cubicBezTo>
                  <a:pt x="286" y="8"/>
                  <a:pt x="282" y="9"/>
                  <a:pt x="279" y="11"/>
                </a:cubicBezTo>
                <a:cubicBezTo>
                  <a:pt x="267" y="17"/>
                  <a:pt x="266" y="17"/>
                  <a:pt x="259" y="17"/>
                </a:cubicBezTo>
                <a:cubicBezTo>
                  <a:pt x="259" y="18"/>
                  <a:pt x="259" y="19"/>
                  <a:pt x="259" y="19"/>
                </a:cubicBezTo>
                <a:cubicBezTo>
                  <a:pt x="259" y="18"/>
                  <a:pt x="258" y="18"/>
                  <a:pt x="258" y="17"/>
                </a:cubicBezTo>
                <a:cubicBezTo>
                  <a:pt x="257" y="17"/>
                  <a:pt x="255" y="17"/>
                  <a:pt x="254" y="18"/>
                </a:cubicBezTo>
                <a:cubicBezTo>
                  <a:pt x="250" y="18"/>
                  <a:pt x="247" y="18"/>
                  <a:pt x="244" y="19"/>
                </a:cubicBezTo>
                <a:cubicBezTo>
                  <a:pt x="245" y="21"/>
                  <a:pt x="246" y="22"/>
                  <a:pt x="246" y="22"/>
                </a:cubicBezTo>
                <a:cubicBezTo>
                  <a:pt x="245" y="21"/>
                  <a:pt x="244" y="20"/>
                  <a:pt x="243" y="19"/>
                </a:cubicBezTo>
                <a:cubicBezTo>
                  <a:pt x="236" y="21"/>
                  <a:pt x="230" y="23"/>
                  <a:pt x="223" y="27"/>
                </a:cubicBezTo>
                <a:cubicBezTo>
                  <a:pt x="220" y="28"/>
                  <a:pt x="218" y="29"/>
                  <a:pt x="216" y="30"/>
                </a:cubicBezTo>
                <a:cubicBezTo>
                  <a:pt x="215" y="33"/>
                  <a:pt x="214" y="36"/>
                  <a:pt x="214" y="36"/>
                </a:cubicBezTo>
                <a:cubicBezTo>
                  <a:pt x="214" y="35"/>
                  <a:pt x="214" y="33"/>
                  <a:pt x="213" y="31"/>
                </a:cubicBezTo>
                <a:cubicBezTo>
                  <a:pt x="209" y="33"/>
                  <a:pt x="204" y="34"/>
                  <a:pt x="200" y="34"/>
                </a:cubicBezTo>
                <a:cubicBezTo>
                  <a:pt x="198" y="34"/>
                  <a:pt x="196" y="34"/>
                  <a:pt x="195" y="34"/>
                </a:cubicBezTo>
                <a:cubicBezTo>
                  <a:pt x="195" y="34"/>
                  <a:pt x="195" y="34"/>
                  <a:pt x="195" y="34"/>
                </a:cubicBezTo>
                <a:cubicBezTo>
                  <a:pt x="195" y="34"/>
                  <a:pt x="195" y="34"/>
                  <a:pt x="195" y="34"/>
                </a:cubicBezTo>
                <a:cubicBezTo>
                  <a:pt x="195" y="34"/>
                  <a:pt x="195" y="34"/>
                  <a:pt x="195" y="34"/>
                </a:cubicBezTo>
                <a:cubicBezTo>
                  <a:pt x="194" y="33"/>
                  <a:pt x="193" y="33"/>
                  <a:pt x="191" y="33"/>
                </a:cubicBezTo>
                <a:cubicBezTo>
                  <a:pt x="184" y="33"/>
                  <a:pt x="174" y="36"/>
                  <a:pt x="166" y="37"/>
                </a:cubicBezTo>
                <a:cubicBezTo>
                  <a:pt x="165" y="40"/>
                  <a:pt x="165" y="42"/>
                  <a:pt x="164" y="44"/>
                </a:cubicBezTo>
                <a:cubicBezTo>
                  <a:pt x="172" y="43"/>
                  <a:pt x="185" y="41"/>
                  <a:pt x="191" y="40"/>
                </a:cubicBezTo>
                <a:cubicBezTo>
                  <a:pt x="208" y="38"/>
                  <a:pt x="214" y="36"/>
                  <a:pt x="223" y="34"/>
                </a:cubicBezTo>
                <a:cubicBezTo>
                  <a:pt x="224" y="33"/>
                  <a:pt x="226" y="33"/>
                  <a:pt x="227" y="32"/>
                </a:cubicBezTo>
                <a:cubicBezTo>
                  <a:pt x="233" y="27"/>
                  <a:pt x="239" y="26"/>
                  <a:pt x="245" y="26"/>
                </a:cubicBezTo>
                <a:cubicBezTo>
                  <a:pt x="247" y="26"/>
                  <a:pt x="249" y="26"/>
                  <a:pt x="251" y="26"/>
                </a:cubicBezTo>
                <a:cubicBezTo>
                  <a:pt x="253" y="26"/>
                  <a:pt x="255" y="26"/>
                  <a:pt x="256" y="26"/>
                </a:cubicBezTo>
                <a:cubicBezTo>
                  <a:pt x="259" y="26"/>
                  <a:pt x="264" y="24"/>
                  <a:pt x="269" y="22"/>
                </a:cubicBezTo>
                <a:cubicBezTo>
                  <a:pt x="279" y="12"/>
                  <a:pt x="292" y="7"/>
                  <a:pt x="304" y="5"/>
                </a:cubicBezTo>
                <a:cubicBezTo>
                  <a:pt x="304" y="4"/>
                  <a:pt x="303" y="4"/>
                  <a:pt x="302" y="3"/>
                </a:cubicBezTo>
                <a:moveTo>
                  <a:pt x="320" y="0"/>
                </a:moveTo>
                <a:cubicBezTo>
                  <a:pt x="318" y="0"/>
                  <a:pt x="312" y="1"/>
                  <a:pt x="305" y="2"/>
                </a:cubicBezTo>
                <a:cubicBezTo>
                  <a:pt x="305" y="4"/>
                  <a:pt x="305" y="5"/>
                  <a:pt x="305" y="5"/>
                </a:cubicBezTo>
                <a:cubicBezTo>
                  <a:pt x="308" y="5"/>
                  <a:pt x="311" y="5"/>
                  <a:pt x="315" y="5"/>
                </a:cubicBezTo>
                <a:cubicBezTo>
                  <a:pt x="316" y="5"/>
                  <a:pt x="317" y="5"/>
                  <a:pt x="318" y="5"/>
                </a:cubicBezTo>
                <a:cubicBezTo>
                  <a:pt x="319" y="2"/>
                  <a:pt x="320" y="0"/>
                  <a:pt x="320" y="0"/>
                </a:cubicBezTo>
              </a:path>
            </a:pathLst>
          </a:custGeom>
          <a:solidFill>
            <a:srgbClr val="D8690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6" name="Freeform 31"/>
          <p:cNvSpPr>
            <a:spLocks/>
          </p:cNvSpPr>
          <p:nvPr/>
        </p:nvSpPr>
        <p:spPr bwMode="auto">
          <a:xfrm>
            <a:off x="3406776" y="4803775"/>
            <a:ext cx="22225" cy="11112"/>
          </a:xfrm>
          <a:custGeom>
            <a:avLst/>
            <a:gdLst>
              <a:gd name="T0" fmla="*/ 13 w 13"/>
              <a:gd name="T1" fmla="*/ 0 h 7"/>
              <a:gd name="T2" fmla="*/ 0 w 13"/>
              <a:gd name="T3" fmla="*/ 7 h 7"/>
              <a:gd name="T4" fmla="*/ 8 w 13"/>
              <a:gd name="T5" fmla="*/ 5 h 7"/>
              <a:gd name="T6" fmla="*/ 13 w 13"/>
              <a:gd name="T7" fmla="*/ 0 h 7"/>
            </a:gdLst>
            <a:ahLst/>
            <a:cxnLst>
              <a:cxn ang="0">
                <a:pos x="T0" y="T1"/>
              </a:cxn>
              <a:cxn ang="0">
                <a:pos x="T2" y="T3"/>
              </a:cxn>
              <a:cxn ang="0">
                <a:pos x="T4" y="T5"/>
              </a:cxn>
              <a:cxn ang="0">
                <a:pos x="T6" y="T7"/>
              </a:cxn>
            </a:cxnLst>
            <a:rect l="0" t="0" r="r" b="b"/>
            <a:pathLst>
              <a:path w="13" h="7">
                <a:moveTo>
                  <a:pt x="13" y="0"/>
                </a:moveTo>
                <a:cubicBezTo>
                  <a:pt x="13" y="0"/>
                  <a:pt x="6" y="4"/>
                  <a:pt x="0" y="7"/>
                </a:cubicBezTo>
                <a:cubicBezTo>
                  <a:pt x="2" y="6"/>
                  <a:pt x="5" y="6"/>
                  <a:pt x="8" y="5"/>
                </a:cubicBezTo>
                <a:cubicBezTo>
                  <a:pt x="10" y="4"/>
                  <a:pt x="12" y="2"/>
                  <a:pt x="13" y="0"/>
                </a:cubicBezTo>
              </a:path>
            </a:pathLst>
          </a:custGeom>
          <a:solidFill>
            <a:srgbClr val="DD8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7" name="Freeform 32"/>
          <p:cNvSpPr>
            <a:spLocks/>
          </p:cNvSpPr>
          <p:nvPr/>
        </p:nvSpPr>
        <p:spPr bwMode="auto">
          <a:xfrm>
            <a:off x="3911601" y="4719638"/>
            <a:ext cx="4763" cy="4762"/>
          </a:xfrm>
          <a:custGeom>
            <a:avLst/>
            <a:gdLst>
              <a:gd name="T0" fmla="*/ 3 w 3"/>
              <a:gd name="T1" fmla="*/ 0 h 3"/>
              <a:gd name="T2" fmla="*/ 0 w 3"/>
              <a:gd name="T3" fmla="*/ 1 h 3"/>
              <a:gd name="T4" fmla="*/ 2 w 3"/>
              <a:gd name="T5" fmla="*/ 3 h 3"/>
              <a:gd name="T6" fmla="*/ 3 w 3"/>
              <a:gd name="T7" fmla="*/ 3 h 3"/>
              <a:gd name="T8" fmla="*/ 3 w 3"/>
              <a:gd name="T9" fmla="*/ 0 h 3"/>
            </a:gdLst>
            <a:ahLst/>
            <a:cxnLst>
              <a:cxn ang="0">
                <a:pos x="T0" y="T1"/>
              </a:cxn>
              <a:cxn ang="0">
                <a:pos x="T2" y="T3"/>
              </a:cxn>
              <a:cxn ang="0">
                <a:pos x="T4" y="T5"/>
              </a:cxn>
              <a:cxn ang="0">
                <a:pos x="T6" y="T7"/>
              </a:cxn>
              <a:cxn ang="0">
                <a:pos x="T8" y="T9"/>
              </a:cxn>
            </a:cxnLst>
            <a:rect l="0" t="0" r="r" b="b"/>
            <a:pathLst>
              <a:path w="3" h="3">
                <a:moveTo>
                  <a:pt x="3" y="0"/>
                </a:moveTo>
                <a:cubicBezTo>
                  <a:pt x="2" y="0"/>
                  <a:pt x="1" y="1"/>
                  <a:pt x="0" y="1"/>
                </a:cubicBezTo>
                <a:cubicBezTo>
                  <a:pt x="1" y="2"/>
                  <a:pt x="2" y="2"/>
                  <a:pt x="2" y="3"/>
                </a:cubicBezTo>
                <a:cubicBezTo>
                  <a:pt x="2" y="3"/>
                  <a:pt x="2" y="3"/>
                  <a:pt x="3" y="3"/>
                </a:cubicBezTo>
                <a:cubicBezTo>
                  <a:pt x="3" y="3"/>
                  <a:pt x="3" y="2"/>
                  <a:pt x="3" y="0"/>
                </a:cubicBezTo>
              </a:path>
            </a:pathLst>
          </a:custGeom>
          <a:solidFill>
            <a:srgbClr val="DD8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8" name="Freeform 33"/>
          <p:cNvSpPr>
            <a:spLocks/>
          </p:cNvSpPr>
          <p:nvPr/>
        </p:nvSpPr>
        <p:spPr bwMode="auto">
          <a:xfrm>
            <a:off x="3836988" y="4745038"/>
            <a:ext cx="1588" cy="3175"/>
          </a:xfrm>
          <a:custGeom>
            <a:avLst/>
            <a:gdLst>
              <a:gd name="T0" fmla="*/ 1 w 1"/>
              <a:gd name="T1" fmla="*/ 0 h 2"/>
              <a:gd name="T2" fmla="*/ 0 w 1"/>
              <a:gd name="T3" fmla="*/ 0 h 2"/>
              <a:gd name="T4" fmla="*/ 1 w 1"/>
              <a:gd name="T5" fmla="*/ 2 h 2"/>
              <a:gd name="T6" fmla="*/ 1 w 1"/>
              <a:gd name="T7" fmla="*/ 0 h 2"/>
            </a:gdLst>
            <a:ahLst/>
            <a:cxnLst>
              <a:cxn ang="0">
                <a:pos x="T0" y="T1"/>
              </a:cxn>
              <a:cxn ang="0">
                <a:pos x="T2" y="T3"/>
              </a:cxn>
              <a:cxn ang="0">
                <a:pos x="T4" y="T5"/>
              </a:cxn>
              <a:cxn ang="0">
                <a:pos x="T6" y="T7"/>
              </a:cxn>
            </a:cxnLst>
            <a:rect l="0" t="0" r="r" b="b"/>
            <a:pathLst>
              <a:path w="1" h="2">
                <a:moveTo>
                  <a:pt x="1" y="0"/>
                </a:moveTo>
                <a:cubicBezTo>
                  <a:pt x="1" y="0"/>
                  <a:pt x="1" y="0"/>
                  <a:pt x="0" y="0"/>
                </a:cubicBezTo>
                <a:cubicBezTo>
                  <a:pt x="0" y="1"/>
                  <a:pt x="1" y="1"/>
                  <a:pt x="1" y="2"/>
                </a:cubicBezTo>
                <a:cubicBezTo>
                  <a:pt x="1" y="2"/>
                  <a:pt x="1" y="1"/>
                  <a:pt x="1" y="0"/>
                </a:cubicBezTo>
              </a:path>
            </a:pathLst>
          </a:custGeom>
          <a:solidFill>
            <a:srgbClr val="DD8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9" name="Freeform 34"/>
          <p:cNvSpPr>
            <a:spLocks noEditPoints="1"/>
          </p:cNvSpPr>
          <p:nvPr/>
        </p:nvSpPr>
        <p:spPr bwMode="auto">
          <a:xfrm>
            <a:off x="3760788" y="4748213"/>
            <a:ext cx="55563" cy="28575"/>
          </a:xfrm>
          <a:custGeom>
            <a:avLst/>
            <a:gdLst>
              <a:gd name="T0" fmla="*/ 3 w 33"/>
              <a:gd name="T1" fmla="*/ 11 h 17"/>
              <a:gd name="T2" fmla="*/ 0 w 33"/>
              <a:gd name="T3" fmla="*/ 12 h 17"/>
              <a:gd name="T4" fmla="*/ 1 w 33"/>
              <a:gd name="T5" fmla="*/ 17 h 17"/>
              <a:gd name="T6" fmla="*/ 3 w 33"/>
              <a:gd name="T7" fmla="*/ 11 h 17"/>
              <a:gd name="T8" fmla="*/ 31 w 33"/>
              <a:gd name="T9" fmla="*/ 0 h 17"/>
              <a:gd name="T10" fmla="*/ 30 w 33"/>
              <a:gd name="T11" fmla="*/ 0 h 17"/>
              <a:gd name="T12" fmla="*/ 33 w 33"/>
              <a:gd name="T13" fmla="*/ 3 h 17"/>
              <a:gd name="T14" fmla="*/ 31 w 33"/>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17">
                <a:moveTo>
                  <a:pt x="3" y="11"/>
                </a:moveTo>
                <a:cubicBezTo>
                  <a:pt x="2" y="12"/>
                  <a:pt x="1" y="12"/>
                  <a:pt x="0" y="12"/>
                </a:cubicBezTo>
                <a:cubicBezTo>
                  <a:pt x="1" y="14"/>
                  <a:pt x="1" y="16"/>
                  <a:pt x="1" y="17"/>
                </a:cubicBezTo>
                <a:cubicBezTo>
                  <a:pt x="1" y="17"/>
                  <a:pt x="2" y="14"/>
                  <a:pt x="3" y="11"/>
                </a:cubicBezTo>
                <a:moveTo>
                  <a:pt x="31" y="0"/>
                </a:moveTo>
                <a:cubicBezTo>
                  <a:pt x="31" y="0"/>
                  <a:pt x="30" y="0"/>
                  <a:pt x="30" y="0"/>
                </a:cubicBezTo>
                <a:cubicBezTo>
                  <a:pt x="31" y="1"/>
                  <a:pt x="32" y="2"/>
                  <a:pt x="33" y="3"/>
                </a:cubicBezTo>
                <a:cubicBezTo>
                  <a:pt x="33" y="3"/>
                  <a:pt x="32" y="2"/>
                  <a:pt x="31" y="0"/>
                </a:cubicBezTo>
              </a:path>
            </a:pathLst>
          </a:custGeom>
          <a:solidFill>
            <a:srgbClr val="DD8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0" name="Freeform 35"/>
          <p:cNvSpPr>
            <a:spLocks noEditPoints="1"/>
          </p:cNvSpPr>
          <p:nvPr/>
        </p:nvSpPr>
        <p:spPr bwMode="auto">
          <a:xfrm>
            <a:off x="3675063" y="4773613"/>
            <a:ext cx="53975" cy="15875"/>
          </a:xfrm>
          <a:custGeom>
            <a:avLst/>
            <a:gdLst>
              <a:gd name="T0" fmla="*/ 3 w 32"/>
              <a:gd name="T1" fmla="*/ 3 h 10"/>
              <a:gd name="T2" fmla="*/ 0 w 32"/>
              <a:gd name="T3" fmla="*/ 4 h 10"/>
              <a:gd name="T4" fmla="*/ 1 w 32"/>
              <a:gd name="T5" fmla="*/ 10 h 10"/>
              <a:gd name="T6" fmla="*/ 1 w 32"/>
              <a:gd name="T7" fmla="*/ 10 h 10"/>
              <a:gd name="T8" fmla="*/ 3 w 32"/>
              <a:gd name="T9" fmla="*/ 3 h 10"/>
              <a:gd name="T10" fmla="*/ 32 w 32"/>
              <a:gd name="T11" fmla="*/ 0 h 10"/>
              <a:gd name="T12" fmla="*/ 32 w 32"/>
              <a:gd name="T13" fmla="*/ 0 h 10"/>
              <a:gd name="T14" fmla="*/ 32 w 32"/>
              <a:gd name="T15" fmla="*/ 0 h 10"/>
              <a:gd name="T16" fmla="*/ 32 w 32"/>
              <a:gd name="T1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0">
                <a:moveTo>
                  <a:pt x="3" y="3"/>
                </a:moveTo>
                <a:cubicBezTo>
                  <a:pt x="2" y="4"/>
                  <a:pt x="1" y="4"/>
                  <a:pt x="0" y="4"/>
                </a:cubicBezTo>
                <a:cubicBezTo>
                  <a:pt x="0" y="6"/>
                  <a:pt x="0" y="8"/>
                  <a:pt x="1" y="10"/>
                </a:cubicBezTo>
                <a:cubicBezTo>
                  <a:pt x="1" y="10"/>
                  <a:pt x="1" y="10"/>
                  <a:pt x="1" y="10"/>
                </a:cubicBezTo>
                <a:cubicBezTo>
                  <a:pt x="2" y="8"/>
                  <a:pt x="2" y="6"/>
                  <a:pt x="3" y="3"/>
                </a:cubicBezTo>
                <a:moveTo>
                  <a:pt x="32" y="0"/>
                </a:moveTo>
                <a:cubicBezTo>
                  <a:pt x="32" y="0"/>
                  <a:pt x="32" y="0"/>
                  <a:pt x="32" y="0"/>
                </a:cubicBezTo>
                <a:cubicBezTo>
                  <a:pt x="32" y="0"/>
                  <a:pt x="32" y="0"/>
                  <a:pt x="32" y="0"/>
                </a:cubicBezTo>
                <a:cubicBezTo>
                  <a:pt x="32" y="0"/>
                  <a:pt x="32" y="0"/>
                  <a:pt x="32" y="0"/>
                </a:cubicBezTo>
              </a:path>
            </a:pathLst>
          </a:custGeom>
          <a:solidFill>
            <a:srgbClr val="DD8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1" name="Freeform 36"/>
          <p:cNvSpPr>
            <a:spLocks noEditPoints="1"/>
          </p:cNvSpPr>
          <p:nvPr/>
        </p:nvSpPr>
        <p:spPr bwMode="auto">
          <a:xfrm>
            <a:off x="3575051" y="4789488"/>
            <a:ext cx="71438" cy="14287"/>
          </a:xfrm>
          <a:custGeom>
            <a:avLst/>
            <a:gdLst>
              <a:gd name="T0" fmla="*/ 1 w 42"/>
              <a:gd name="T1" fmla="*/ 4 h 8"/>
              <a:gd name="T2" fmla="*/ 0 w 42"/>
              <a:gd name="T3" fmla="*/ 8 h 8"/>
              <a:gd name="T4" fmla="*/ 2 w 42"/>
              <a:gd name="T5" fmla="*/ 8 h 8"/>
              <a:gd name="T6" fmla="*/ 4 w 42"/>
              <a:gd name="T7" fmla="*/ 4 h 8"/>
              <a:gd name="T8" fmla="*/ 1 w 42"/>
              <a:gd name="T9" fmla="*/ 4 h 8"/>
              <a:gd name="T10" fmla="*/ 40 w 42"/>
              <a:gd name="T11" fmla="*/ 0 h 8"/>
              <a:gd name="T12" fmla="*/ 40 w 42"/>
              <a:gd name="T13" fmla="*/ 0 h 8"/>
              <a:gd name="T14" fmla="*/ 42 w 42"/>
              <a:gd name="T15" fmla="*/ 2 h 8"/>
              <a:gd name="T16" fmla="*/ 40 w 42"/>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8">
                <a:moveTo>
                  <a:pt x="1" y="4"/>
                </a:moveTo>
                <a:cubicBezTo>
                  <a:pt x="0" y="5"/>
                  <a:pt x="0" y="6"/>
                  <a:pt x="0" y="8"/>
                </a:cubicBezTo>
                <a:cubicBezTo>
                  <a:pt x="1" y="8"/>
                  <a:pt x="1" y="8"/>
                  <a:pt x="2" y="8"/>
                </a:cubicBezTo>
                <a:cubicBezTo>
                  <a:pt x="2" y="7"/>
                  <a:pt x="3" y="6"/>
                  <a:pt x="4" y="4"/>
                </a:cubicBezTo>
                <a:cubicBezTo>
                  <a:pt x="3" y="4"/>
                  <a:pt x="2" y="4"/>
                  <a:pt x="1" y="4"/>
                </a:cubicBezTo>
                <a:moveTo>
                  <a:pt x="40" y="0"/>
                </a:moveTo>
                <a:cubicBezTo>
                  <a:pt x="40" y="0"/>
                  <a:pt x="40" y="0"/>
                  <a:pt x="40" y="0"/>
                </a:cubicBezTo>
                <a:cubicBezTo>
                  <a:pt x="41" y="1"/>
                  <a:pt x="42" y="2"/>
                  <a:pt x="42" y="2"/>
                </a:cubicBezTo>
                <a:cubicBezTo>
                  <a:pt x="42" y="2"/>
                  <a:pt x="41" y="1"/>
                  <a:pt x="40" y="0"/>
                </a:cubicBezTo>
              </a:path>
            </a:pathLst>
          </a:custGeom>
          <a:solidFill>
            <a:srgbClr val="DD8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2" name="Freeform 37"/>
          <p:cNvSpPr>
            <a:spLocks noEditPoints="1"/>
          </p:cNvSpPr>
          <p:nvPr/>
        </p:nvSpPr>
        <p:spPr bwMode="auto">
          <a:xfrm>
            <a:off x="3479801" y="4795838"/>
            <a:ext cx="66675" cy="12700"/>
          </a:xfrm>
          <a:custGeom>
            <a:avLst/>
            <a:gdLst>
              <a:gd name="T0" fmla="*/ 7 w 39"/>
              <a:gd name="T1" fmla="*/ 4 h 8"/>
              <a:gd name="T2" fmla="*/ 1 w 39"/>
              <a:gd name="T3" fmla="*/ 5 h 8"/>
              <a:gd name="T4" fmla="*/ 0 w 39"/>
              <a:gd name="T5" fmla="*/ 8 h 8"/>
              <a:gd name="T6" fmla="*/ 4 w 39"/>
              <a:gd name="T7" fmla="*/ 8 h 8"/>
              <a:gd name="T8" fmla="*/ 7 w 39"/>
              <a:gd name="T9" fmla="*/ 4 h 8"/>
              <a:gd name="T10" fmla="*/ 34 w 39"/>
              <a:gd name="T11" fmla="*/ 0 h 8"/>
              <a:gd name="T12" fmla="*/ 32 w 39"/>
              <a:gd name="T13" fmla="*/ 0 h 8"/>
              <a:gd name="T14" fmla="*/ 39 w 39"/>
              <a:gd name="T15" fmla="*/ 4 h 8"/>
              <a:gd name="T16" fmla="*/ 39 w 39"/>
              <a:gd name="T17" fmla="*/ 4 h 8"/>
              <a:gd name="T18" fmla="*/ 34 w 39"/>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 h="8">
                <a:moveTo>
                  <a:pt x="7" y="4"/>
                </a:moveTo>
                <a:cubicBezTo>
                  <a:pt x="5" y="4"/>
                  <a:pt x="3" y="5"/>
                  <a:pt x="1" y="5"/>
                </a:cubicBezTo>
                <a:cubicBezTo>
                  <a:pt x="1" y="6"/>
                  <a:pt x="0" y="7"/>
                  <a:pt x="0" y="8"/>
                </a:cubicBezTo>
                <a:cubicBezTo>
                  <a:pt x="1" y="8"/>
                  <a:pt x="3" y="8"/>
                  <a:pt x="4" y="8"/>
                </a:cubicBezTo>
                <a:cubicBezTo>
                  <a:pt x="5" y="7"/>
                  <a:pt x="6" y="6"/>
                  <a:pt x="7" y="4"/>
                </a:cubicBezTo>
                <a:moveTo>
                  <a:pt x="34" y="0"/>
                </a:moveTo>
                <a:cubicBezTo>
                  <a:pt x="34" y="0"/>
                  <a:pt x="33" y="0"/>
                  <a:pt x="32" y="0"/>
                </a:cubicBezTo>
                <a:cubicBezTo>
                  <a:pt x="35" y="1"/>
                  <a:pt x="37" y="3"/>
                  <a:pt x="39" y="4"/>
                </a:cubicBezTo>
                <a:cubicBezTo>
                  <a:pt x="39" y="4"/>
                  <a:pt x="39" y="4"/>
                  <a:pt x="39" y="4"/>
                </a:cubicBezTo>
                <a:cubicBezTo>
                  <a:pt x="38" y="3"/>
                  <a:pt x="36" y="1"/>
                  <a:pt x="34" y="0"/>
                </a:cubicBezTo>
              </a:path>
            </a:pathLst>
          </a:custGeom>
          <a:solidFill>
            <a:srgbClr val="DD8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3" name="Freeform 38"/>
          <p:cNvSpPr>
            <a:spLocks noEditPoints="1"/>
          </p:cNvSpPr>
          <p:nvPr/>
        </p:nvSpPr>
        <p:spPr bwMode="auto">
          <a:xfrm>
            <a:off x="3124201" y="4910138"/>
            <a:ext cx="774700" cy="755650"/>
          </a:xfrm>
          <a:custGeom>
            <a:avLst/>
            <a:gdLst>
              <a:gd name="T0" fmla="*/ 275 w 457"/>
              <a:gd name="T1" fmla="*/ 429 h 445"/>
              <a:gd name="T2" fmla="*/ 48 w 457"/>
              <a:gd name="T3" fmla="*/ 341 h 445"/>
              <a:gd name="T4" fmla="*/ 69 w 457"/>
              <a:gd name="T5" fmla="*/ 331 h 445"/>
              <a:gd name="T6" fmla="*/ 55 w 457"/>
              <a:gd name="T7" fmla="*/ 414 h 445"/>
              <a:gd name="T8" fmla="*/ 153 w 457"/>
              <a:gd name="T9" fmla="*/ 444 h 445"/>
              <a:gd name="T10" fmla="*/ 207 w 457"/>
              <a:gd name="T11" fmla="*/ 435 h 445"/>
              <a:gd name="T12" fmla="*/ 152 w 457"/>
              <a:gd name="T13" fmla="*/ 435 h 445"/>
              <a:gd name="T14" fmla="*/ 45 w 457"/>
              <a:gd name="T15" fmla="*/ 379 h 445"/>
              <a:gd name="T16" fmla="*/ 359 w 457"/>
              <a:gd name="T17" fmla="*/ 330 h 445"/>
              <a:gd name="T18" fmla="*/ 312 w 457"/>
              <a:gd name="T19" fmla="*/ 396 h 445"/>
              <a:gd name="T20" fmla="*/ 277 w 457"/>
              <a:gd name="T21" fmla="*/ 392 h 445"/>
              <a:gd name="T22" fmla="*/ 367 w 457"/>
              <a:gd name="T23" fmla="*/ 352 h 445"/>
              <a:gd name="T24" fmla="*/ 380 w 457"/>
              <a:gd name="T25" fmla="*/ 309 h 445"/>
              <a:gd name="T26" fmla="*/ 387 w 457"/>
              <a:gd name="T27" fmla="*/ 313 h 445"/>
              <a:gd name="T28" fmla="*/ 60 w 457"/>
              <a:gd name="T29" fmla="*/ 273 h 445"/>
              <a:gd name="T30" fmla="*/ 67 w 457"/>
              <a:gd name="T31" fmla="*/ 273 h 445"/>
              <a:gd name="T32" fmla="*/ 60 w 457"/>
              <a:gd name="T33" fmla="*/ 273 h 445"/>
              <a:gd name="T34" fmla="*/ 33 w 457"/>
              <a:gd name="T35" fmla="*/ 272 h 445"/>
              <a:gd name="T36" fmla="*/ 43 w 457"/>
              <a:gd name="T37" fmla="*/ 270 h 445"/>
              <a:gd name="T38" fmla="*/ 447 w 457"/>
              <a:gd name="T39" fmla="*/ 249 h 445"/>
              <a:gd name="T40" fmla="*/ 390 w 457"/>
              <a:gd name="T41" fmla="*/ 282 h 445"/>
              <a:gd name="T42" fmla="*/ 438 w 457"/>
              <a:gd name="T43" fmla="*/ 270 h 445"/>
              <a:gd name="T44" fmla="*/ 448 w 457"/>
              <a:gd name="T45" fmla="*/ 250 h 445"/>
              <a:gd name="T46" fmla="*/ 0 w 457"/>
              <a:gd name="T47" fmla="*/ 236 h 445"/>
              <a:gd name="T48" fmla="*/ 456 w 457"/>
              <a:gd name="T49" fmla="*/ 197 h 445"/>
              <a:gd name="T50" fmla="*/ 457 w 457"/>
              <a:gd name="T51" fmla="*/ 198 h 445"/>
              <a:gd name="T52" fmla="*/ 402 w 457"/>
              <a:gd name="T53" fmla="*/ 105 h 445"/>
              <a:gd name="T54" fmla="*/ 394 w 457"/>
              <a:gd name="T55" fmla="*/ 110 h 445"/>
              <a:gd name="T56" fmla="*/ 436 w 457"/>
              <a:gd name="T57" fmla="*/ 87 h 445"/>
              <a:gd name="T58" fmla="*/ 438 w 457"/>
              <a:gd name="T59" fmla="*/ 90 h 445"/>
              <a:gd name="T60" fmla="*/ 76 w 457"/>
              <a:gd name="T61" fmla="*/ 52 h 445"/>
              <a:gd name="T62" fmla="*/ 24 w 457"/>
              <a:gd name="T63" fmla="*/ 57 h 445"/>
              <a:gd name="T64" fmla="*/ 17 w 457"/>
              <a:gd name="T65" fmla="*/ 77 h 445"/>
              <a:gd name="T66" fmla="*/ 84 w 457"/>
              <a:gd name="T67" fmla="*/ 58 h 445"/>
              <a:gd name="T68" fmla="*/ 425 w 457"/>
              <a:gd name="T69" fmla="*/ 89 h 445"/>
              <a:gd name="T70" fmla="*/ 448 w 457"/>
              <a:gd name="T71" fmla="*/ 56 h 445"/>
              <a:gd name="T72" fmla="*/ 306 w 457"/>
              <a:gd name="T73" fmla="*/ 33 h 445"/>
              <a:gd name="T74" fmla="*/ 243 w 457"/>
              <a:gd name="T75" fmla="*/ 56 h 445"/>
              <a:gd name="T76" fmla="*/ 139 w 457"/>
              <a:gd name="T77" fmla="*/ 66 h 445"/>
              <a:gd name="T78" fmla="*/ 124 w 457"/>
              <a:gd name="T79" fmla="*/ 61 h 445"/>
              <a:gd name="T80" fmla="*/ 99 w 457"/>
              <a:gd name="T81" fmla="*/ 59 h 445"/>
              <a:gd name="T82" fmla="*/ 105 w 457"/>
              <a:gd name="T83" fmla="*/ 66 h 445"/>
              <a:gd name="T84" fmla="*/ 138 w 457"/>
              <a:gd name="T85" fmla="*/ 71 h 445"/>
              <a:gd name="T86" fmla="*/ 172 w 457"/>
              <a:gd name="T87" fmla="*/ 74 h 445"/>
              <a:gd name="T88" fmla="*/ 195 w 457"/>
              <a:gd name="T89" fmla="*/ 72 h 445"/>
              <a:gd name="T90" fmla="*/ 205 w 457"/>
              <a:gd name="T91" fmla="*/ 70 h 445"/>
              <a:gd name="T92" fmla="*/ 288 w 457"/>
              <a:gd name="T93" fmla="*/ 54 h 445"/>
              <a:gd name="T94" fmla="*/ 303 w 457"/>
              <a:gd name="T95" fmla="*/ 41 h 445"/>
              <a:gd name="T96" fmla="*/ 425 w 457"/>
              <a:gd name="T97" fmla="*/ 0 h 445"/>
              <a:gd name="T98" fmla="*/ 398 w 457"/>
              <a:gd name="T99" fmla="*/ 2 h 445"/>
              <a:gd name="T100" fmla="*/ 340 w 457"/>
              <a:gd name="T101" fmla="*/ 55 h 445"/>
              <a:gd name="T102" fmla="*/ 338 w 457"/>
              <a:gd name="T103" fmla="*/ 22 h 445"/>
              <a:gd name="T104" fmla="*/ 340 w 457"/>
              <a:gd name="T105" fmla="*/ 31 h 445"/>
              <a:gd name="T106" fmla="*/ 405 w 457"/>
              <a:gd name="T107" fmla="*/ 8 h 445"/>
              <a:gd name="T108" fmla="*/ 415 w 457"/>
              <a:gd name="T109" fmla="*/ 8 h 445"/>
              <a:gd name="T110" fmla="*/ 438 w 457"/>
              <a:gd name="T111" fmla="*/ 6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57" h="445">
                <a:moveTo>
                  <a:pt x="279" y="400"/>
                </a:moveTo>
                <a:cubicBezTo>
                  <a:pt x="281" y="412"/>
                  <a:pt x="274" y="421"/>
                  <a:pt x="265" y="427"/>
                </a:cubicBezTo>
                <a:cubicBezTo>
                  <a:pt x="268" y="427"/>
                  <a:pt x="272" y="428"/>
                  <a:pt x="275" y="429"/>
                </a:cubicBezTo>
                <a:cubicBezTo>
                  <a:pt x="281" y="422"/>
                  <a:pt x="284" y="413"/>
                  <a:pt x="279" y="400"/>
                </a:cubicBezTo>
                <a:moveTo>
                  <a:pt x="61" y="336"/>
                </a:moveTo>
                <a:cubicBezTo>
                  <a:pt x="56" y="339"/>
                  <a:pt x="52" y="340"/>
                  <a:pt x="48" y="341"/>
                </a:cubicBezTo>
                <a:cubicBezTo>
                  <a:pt x="48" y="342"/>
                  <a:pt x="48" y="343"/>
                  <a:pt x="47" y="344"/>
                </a:cubicBezTo>
                <a:cubicBezTo>
                  <a:pt x="52" y="343"/>
                  <a:pt x="56" y="340"/>
                  <a:pt x="61" y="336"/>
                </a:cubicBezTo>
                <a:moveTo>
                  <a:pt x="69" y="331"/>
                </a:moveTo>
                <a:cubicBezTo>
                  <a:pt x="66" y="333"/>
                  <a:pt x="64" y="335"/>
                  <a:pt x="61" y="336"/>
                </a:cubicBezTo>
                <a:cubicBezTo>
                  <a:pt x="55" y="342"/>
                  <a:pt x="35" y="362"/>
                  <a:pt x="37" y="387"/>
                </a:cubicBezTo>
                <a:cubicBezTo>
                  <a:pt x="38" y="406"/>
                  <a:pt x="43" y="414"/>
                  <a:pt x="55" y="414"/>
                </a:cubicBezTo>
                <a:cubicBezTo>
                  <a:pt x="62" y="414"/>
                  <a:pt x="70" y="412"/>
                  <a:pt x="81" y="408"/>
                </a:cubicBezTo>
                <a:cubicBezTo>
                  <a:pt x="81" y="408"/>
                  <a:pt x="109" y="445"/>
                  <a:pt x="149" y="445"/>
                </a:cubicBezTo>
                <a:cubicBezTo>
                  <a:pt x="150" y="445"/>
                  <a:pt x="152" y="445"/>
                  <a:pt x="153" y="444"/>
                </a:cubicBezTo>
                <a:cubicBezTo>
                  <a:pt x="161" y="444"/>
                  <a:pt x="168" y="444"/>
                  <a:pt x="175" y="444"/>
                </a:cubicBezTo>
                <a:cubicBezTo>
                  <a:pt x="182" y="444"/>
                  <a:pt x="189" y="444"/>
                  <a:pt x="195" y="444"/>
                </a:cubicBezTo>
                <a:cubicBezTo>
                  <a:pt x="199" y="441"/>
                  <a:pt x="203" y="438"/>
                  <a:pt x="207" y="435"/>
                </a:cubicBezTo>
                <a:cubicBezTo>
                  <a:pt x="198" y="434"/>
                  <a:pt x="188" y="434"/>
                  <a:pt x="177" y="434"/>
                </a:cubicBezTo>
                <a:cubicBezTo>
                  <a:pt x="171" y="434"/>
                  <a:pt x="164" y="434"/>
                  <a:pt x="156" y="435"/>
                </a:cubicBezTo>
                <a:cubicBezTo>
                  <a:pt x="155" y="435"/>
                  <a:pt x="154" y="435"/>
                  <a:pt x="152" y="435"/>
                </a:cubicBezTo>
                <a:cubicBezTo>
                  <a:pt x="114" y="435"/>
                  <a:pt x="87" y="399"/>
                  <a:pt x="87" y="399"/>
                </a:cubicBezTo>
                <a:cubicBezTo>
                  <a:pt x="77" y="404"/>
                  <a:pt x="69" y="406"/>
                  <a:pt x="63" y="406"/>
                </a:cubicBezTo>
                <a:cubicBezTo>
                  <a:pt x="51" y="406"/>
                  <a:pt x="46" y="398"/>
                  <a:pt x="45" y="379"/>
                </a:cubicBezTo>
                <a:cubicBezTo>
                  <a:pt x="43" y="355"/>
                  <a:pt x="65" y="335"/>
                  <a:pt x="69" y="331"/>
                </a:cubicBezTo>
                <a:moveTo>
                  <a:pt x="361" y="329"/>
                </a:moveTo>
                <a:cubicBezTo>
                  <a:pt x="360" y="329"/>
                  <a:pt x="360" y="330"/>
                  <a:pt x="359" y="330"/>
                </a:cubicBezTo>
                <a:cubicBezTo>
                  <a:pt x="361" y="335"/>
                  <a:pt x="362" y="340"/>
                  <a:pt x="361" y="346"/>
                </a:cubicBezTo>
                <a:cubicBezTo>
                  <a:pt x="357" y="363"/>
                  <a:pt x="336" y="393"/>
                  <a:pt x="317" y="396"/>
                </a:cubicBezTo>
                <a:cubicBezTo>
                  <a:pt x="315" y="396"/>
                  <a:pt x="314" y="396"/>
                  <a:pt x="312" y="396"/>
                </a:cubicBezTo>
                <a:cubicBezTo>
                  <a:pt x="298" y="396"/>
                  <a:pt x="282" y="389"/>
                  <a:pt x="275" y="385"/>
                </a:cubicBezTo>
                <a:cubicBezTo>
                  <a:pt x="275" y="386"/>
                  <a:pt x="274" y="387"/>
                  <a:pt x="274" y="387"/>
                </a:cubicBezTo>
                <a:cubicBezTo>
                  <a:pt x="275" y="389"/>
                  <a:pt x="276" y="391"/>
                  <a:pt x="277" y="392"/>
                </a:cubicBezTo>
                <a:cubicBezTo>
                  <a:pt x="284" y="396"/>
                  <a:pt x="301" y="404"/>
                  <a:pt x="316" y="404"/>
                </a:cubicBezTo>
                <a:cubicBezTo>
                  <a:pt x="318" y="404"/>
                  <a:pt x="319" y="404"/>
                  <a:pt x="321" y="404"/>
                </a:cubicBezTo>
                <a:cubicBezTo>
                  <a:pt x="341" y="401"/>
                  <a:pt x="363" y="370"/>
                  <a:pt x="367" y="352"/>
                </a:cubicBezTo>
                <a:cubicBezTo>
                  <a:pt x="369" y="343"/>
                  <a:pt x="365" y="335"/>
                  <a:pt x="361" y="329"/>
                </a:cubicBezTo>
                <a:moveTo>
                  <a:pt x="379" y="277"/>
                </a:moveTo>
                <a:cubicBezTo>
                  <a:pt x="379" y="277"/>
                  <a:pt x="391" y="299"/>
                  <a:pt x="380" y="309"/>
                </a:cubicBezTo>
                <a:cubicBezTo>
                  <a:pt x="375" y="313"/>
                  <a:pt x="370" y="315"/>
                  <a:pt x="364" y="316"/>
                </a:cubicBezTo>
                <a:cubicBezTo>
                  <a:pt x="365" y="317"/>
                  <a:pt x="365" y="319"/>
                  <a:pt x="365" y="321"/>
                </a:cubicBezTo>
                <a:cubicBezTo>
                  <a:pt x="372" y="320"/>
                  <a:pt x="381" y="319"/>
                  <a:pt x="387" y="313"/>
                </a:cubicBezTo>
                <a:cubicBezTo>
                  <a:pt x="397" y="304"/>
                  <a:pt x="390" y="287"/>
                  <a:pt x="387" y="281"/>
                </a:cubicBezTo>
                <a:cubicBezTo>
                  <a:pt x="382" y="279"/>
                  <a:pt x="379" y="277"/>
                  <a:pt x="379" y="277"/>
                </a:cubicBezTo>
                <a:moveTo>
                  <a:pt x="60" y="273"/>
                </a:moveTo>
                <a:cubicBezTo>
                  <a:pt x="59" y="280"/>
                  <a:pt x="60" y="290"/>
                  <a:pt x="71" y="299"/>
                </a:cubicBezTo>
                <a:cubicBezTo>
                  <a:pt x="82" y="301"/>
                  <a:pt x="91" y="303"/>
                  <a:pt x="91" y="303"/>
                </a:cubicBezTo>
                <a:cubicBezTo>
                  <a:pt x="71" y="294"/>
                  <a:pt x="67" y="282"/>
                  <a:pt x="67" y="273"/>
                </a:cubicBezTo>
                <a:cubicBezTo>
                  <a:pt x="66" y="273"/>
                  <a:pt x="65" y="273"/>
                  <a:pt x="64" y="273"/>
                </a:cubicBezTo>
                <a:cubicBezTo>
                  <a:pt x="63" y="273"/>
                  <a:pt x="63" y="273"/>
                  <a:pt x="62" y="273"/>
                </a:cubicBezTo>
                <a:cubicBezTo>
                  <a:pt x="61" y="273"/>
                  <a:pt x="60" y="273"/>
                  <a:pt x="60" y="273"/>
                </a:cubicBezTo>
                <a:moveTo>
                  <a:pt x="23" y="264"/>
                </a:moveTo>
                <a:cubicBezTo>
                  <a:pt x="23" y="266"/>
                  <a:pt x="23" y="268"/>
                  <a:pt x="22" y="270"/>
                </a:cubicBezTo>
                <a:cubicBezTo>
                  <a:pt x="26" y="272"/>
                  <a:pt x="29" y="272"/>
                  <a:pt x="33" y="272"/>
                </a:cubicBezTo>
                <a:cubicBezTo>
                  <a:pt x="34" y="272"/>
                  <a:pt x="34" y="272"/>
                  <a:pt x="35" y="272"/>
                </a:cubicBezTo>
                <a:cubicBezTo>
                  <a:pt x="39" y="272"/>
                  <a:pt x="43" y="271"/>
                  <a:pt x="47" y="270"/>
                </a:cubicBezTo>
                <a:cubicBezTo>
                  <a:pt x="46" y="270"/>
                  <a:pt x="45" y="270"/>
                  <a:pt x="43" y="270"/>
                </a:cubicBezTo>
                <a:cubicBezTo>
                  <a:pt x="43" y="270"/>
                  <a:pt x="42" y="270"/>
                  <a:pt x="42" y="270"/>
                </a:cubicBezTo>
                <a:cubicBezTo>
                  <a:pt x="35" y="270"/>
                  <a:pt x="29" y="268"/>
                  <a:pt x="23" y="264"/>
                </a:cubicBezTo>
                <a:moveTo>
                  <a:pt x="447" y="249"/>
                </a:moveTo>
                <a:cubicBezTo>
                  <a:pt x="439" y="259"/>
                  <a:pt x="426" y="272"/>
                  <a:pt x="413" y="279"/>
                </a:cubicBezTo>
                <a:cubicBezTo>
                  <a:pt x="407" y="282"/>
                  <a:pt x="402" y="283"/>
                  <a:pt x="397" y="283"/>
                </a:cubicBezTo>
                <a:cubicBezTo>
                  <a:pt x="395" y="283"/>
                  <a:pt x="392" y="283"/>
                  <a:pt x="390" y="282"/>
                </a:cubicBezTo>
                <a:cubicBezTo>
                  <a:pt x="394" y="284"/>
                  <a:pt x="399" y="286"/>
                  <a:pt x="405" y="286"/>
                </a:cubicBezTo>
                <a:cubicBezTo>
                  <a:pt x="410" y="286"/>
                  <a:pt x="415" y="285"/>
                  <a:pt x="422" y="281"/>
                </a:cubicBezTo>
                <a:cubicBezTo>
                  <a:pt x="427" y="278"/>
                  <a:pt x="433" y="274"/>
                  <a:pt x="438" y="270"/>
                </a:cubicBezTo>
                <a:cubicBezTo>
                  <a:pt x="438" y="270"/>
                  <a:pt x="438" y="270"/>
                  <a:pt x="438" y="270"/>
                </a:cubicBezTo>
                <a:cubicBezTo>
                  <a:pt x="439" y="262"/>
                  <a:pt x="448" y="250"/>
                  <a:pt x="448" y="250"/>
                </a:cubicBezTo>
                <a:cubicBezTo>
                  <a:pt x="448" y="250"/>
                  <a:pt x="448" y="250"/>
                  <a:pt x="448" y="250"/>
                </a:cubicBezTo>
                <a:cubicBezTo>
                  <a:pt x="448" y="250"/>
                  <a:pt x="447" y="250"/>
                  <a:pt x="447" y="249"/>
                </a:cubicBezTo>
                <a:moveTo>
                  <a:pt x="1" y="234"/>
                </a:moveTo>
                <a:cubicBezTo>
                  <a:pt x="1" y="235"/>
                  <a:pt x="0" y="236"/>
                  <a:pt x="0" y="236"/>
                </a:cubicBezTo>
                <a:cubicBezTo>
                  <a:pt x="1" y="236"/>
                  <a:pt x="1" y="236"/>
                  <a:pt x="2" y="236"/>
                </a:cubicBezTo>
                <a:cubicBezTo>
                  <a:pt x="2" y="235"/>
                  <a:pt x="1" y="235"/>
                  <a:pt x="1" y="234"/>
                </a:cubicBezTo>
                <a:moveTo>
                  <a:pt x="456" y="197"/>
                </a:moveTo>
                <a:cubicBezTo>
                  <a:pt x="456" y="198"/>
                  <a:pt x="456" y="199"/>
                  <a:pt x="456" y="200"/>
                </a:cubicBezTo>
                <a:cubicBezTo>
                  <a:pt x="457" y="199"/>
                  <a:pt x="457" y="198"/>
                  <a:pt x="457" y="198"/>
                </a:cubicBezTo>
                <a:cubicBezTo>
                  <a:pt x="457" y="198"/>
                  <a:pt x="457" y="198"/>
                  <a:pt x="457" y="198"/>
                </a:cubicBezTo>
                <a:cubicBezTo>
                  <a:pt x="457" y="198"/>
                  <a:pt x="457" y="198"/>
                  <a:pt x="456" y="197"/>
                </a:cubicBezTo>
                <a:moveTo>
                  <a:pt x="413" y="101"/>
                </a:moveTo>
                <a:cubicBezTo>
                  <a:pt x="410" y="103"/>
                  <a:pt x="406" y="105"/>
                  <a:pt x="402" y="105"/>
                </a:cubicBezTo>
                <a:cubicBezTo>
                  <a:pt x="398" y="106"/>
                  <a:pt x="395" y="106"/>
                  <a:pt x="393" y="106"/>
                </a:cubicBezTo>
                <a:cubicBezTo>
                  <a:pt x="386" y="109"/>
                  <a:pt x="380" y="111"/>
                  <a:pt x="380" y="111"/>
                </a:cubicBezTo>
                <a:cubicBezTo>
                  <a:pt x="380" y="111"/>
                  <a:pt x="384" y="111"/>
                  <a:pt x="394" y="110"/>
                </a:cubicBezTo>
                <a:cubicBezTo>
                  <a:pt x="401" y="110"/>
                  <a:pt x="406" y="106"/>
                  <a:pt x="413" y="101"/>
                </a:cubicBezTo>
                <a:moveTo>
                  <a:pt x="441" y="85"/>
                </a:moveTo>
                <a:cubicBezTo>
                  <a:pt x="439" y="86"/>
                  <a:pt x="437" y="86"/>
                  <a:pt x="436" y="87"/>
                </a:cubicBezTo>
                <a:cubicBezTo>
                  <a:pt x="429" y="91"/>
                  <a:pt x="424" y="94"/>
                  <a:pt x="419" y="97"/>
                </a:cubicBezTo>
                <a:cubicBezTo>
                  <a:pt x="421" y="96"/>
                  <a:pt x="424" y="95"/>
                  <a:pt x="426" y="93"/>
                </a:cubicBezTo>
                <a:cubicBezTo>
                  <a:pt x="430" y="91"/>
                  <a:pt x="434" y="90"/>
                  <a:pt x="438" y="90"/>
                </a:cubicBezTo>
                <a:cubicBezTo>
                  <a:pt x="439" y="90"/>
                  <a:pt x="440" y="91"/>
                  <a:pt x="441" y="91"/>
                </a:cubicBezTo>
                <a:cubicBezTo>
                  <a:pt x="441" y="89"/>
                  <a:pt x="441" y="87"/>
                  <a:pt x="441" y="85"/>
                </a:cubicBezTo>
                <a:moveTo>
                  <a:pt x="76" y="52"/>
                </a:moveTo>
                <a:cubicBezTo>
                  <a:pt x="72" y="56"/>
                  <a:pt x="68" y="61"/>
                  <a:pt x="70" y="63"/>
                </a:cubicBezTo>
                <a:cubicBezTo>
                  <a:pt x="70" y="63"/>
                  <a:pt x="50" y="56"/>
                  <a:pt x="32" y="56"/>
                </a:cubicBezTo>
                <a:cubicBezTo>
                  <a:pt x="30" y="56"/>
                  <a:pt x="27" y="57"/>
                  <a:pt x="24" y="57"/>
                </a:cubicBezTo>
                <a:cubicBezTo>
                  <a:pt x="23" y="65"/>
                  <a:pt x="10" y="76"/>
                  <a:pt x="10" y="76"/>
                </a:cubicBezTo>
                <a:cubicBezTo>
                  <a:pt x="13" y="77"/>
                  <a:pt x="14" y="79"/>
                  <a:pt x="16" y="81"/>
                </a:cubicBezTo>
                <a:cubicBezTo>
                  <a:pt x="16" y="80"/>
                  <a:pt x="16" y="78"/>
                  <a:pt x="17" y="77"/>
                </a:cubicBezTo>
                <a:cubicBezTo>
                  <a:pt x="19" y="67"/>
                  <a:pt x="30" y="64"/>
                  <a:pt x="41" y="64"/>
                </a:cubicBezTo>
                <a:cubicBezTo>
                  <a:pt x="58" y="64"/>
                  <a:pt x="77" y="70"/>
                  <a:pt x="77" y="70"/>
                </a:cubicBezTo>
                <a:cubicBezTo>
                  <a:pt x="75" y="68"/>
                  <a:pt x="80" y="61"/>
                  <a:pt x="84" y="58"/>
                </a:cubicBezTo>
                <a:cubicBezTo>
                  <a:pt x="80" y="57"/>
                  <a:pt x="77" y="55"/>
                  <a:pt x="76" y="52"/>
                </a:cubicBezTo>
                <a:moveTo>
                  <a:pt x="442" y="47"/>
                </a:moveTo>
                <a:cubicBezTo>
                  <a:pt x="440" y="63"/>
                  <a:pt x="432" y="81"/>
                  <a:pt x="425" y="89"/>
                </a:cubicBezTo>
                <a:cubicBezTo>
                  <a:pt x="424" y="89"/>
                  <a:pt x="424" y="89"/>
                  <a:pt x="424" y="89"/>
                </a:cubicBezTo>
                <a:cubicBezTo>
                  <a:pt x="428" y="87"/>
                  <a:pt x="431" y="85"/>
                  <a:pt x="434" y="82"/>
                </a:cubicBezTo>
                <a:cubicBezTo>
                  <a:pt x="439" y="77"/>
                  <a:pt x="444" y="67"/>
                  <a:pt x="448" y="56"/>
                </a:cubicBezTo>
                <a:cubicBezTo>
                  <a:pt x="446" y="54"/>
                  <a:pt x="444" y="51"/>
                  <a:pt x="442" y="47"/>
                </a:cubicBezTo>
                <a:moveTo>
                  <a:pt x="308" y="31"/>
                </a:moveTo>
                <a:cubicBezTo>
                  <a:pt x="307" y="32"/>
                  <a:pt x="307" y="32"/>
                  <a:pt x="306" y="33"/>
                </a:cubicBezTo>
                <a:cubicBezTo>
                  <a:pt x="299" y="39"/>
                  <a:pt x="292" y="48"/>
                  <a:pt x="292" y="48"/>
                </a:cubicBezTo>
                <a:cubicBezTo>
                  <a:pt x="292" y="48"/>
                  <a:pt x="282" y="42"/>
                  <a:pt x="270" y="42"/>
                </a:cubicBezTo>
                <a:cubicBezTo>
                  <a:pt x="261" y="42"/>
                  <a:pt x="251" y="45"/>
                  <a:pt x="243" y="56"/>
                </a:cubicBezTo>
                <a:cubicBezTo>
                  <a:pt x="243" y="56"/>
                  <a:pt x="204" y="62"/>
                  <a:pt x="193" y="65"/>
                </a:cubicBezTo>
                <a:cubicBezTo>
                  <a:pt x="182" y="68"/>
                  <a:pt x="168" y="72"/>
                  <a:pt x="168" y="72"/>
                </a:cubicBezTo>
                <a:cubicBezTo>
                  <a:pt x="168" y="72"/>
                  <a:pt x="150" y="69"/>
                  <a:pt x="139" y="66"/>
                </a:cubicBezTo>
                <a:cubicBezTo>
                  <a:pt x="139" y="66"/>
                  <a:pt x="138" y="66"/>
                  <a:pt x="137" y="66"/>
                </a:cubicBezTo>
                <a:cubicBezTo>
                  <a:pt x="135" y="66"/>
                  <a:pt x="133" y="66"/>
                  <a:pt x="130" y="65"/>
                </a:cubicBezTo>
                <a:cubicBezTo>
                  <a:pt x="128" y="65"/>
                  <a:pt x="126" y="63"/>
                  <a:pt x="124" y="61"/>
                </a:cubicBezTo>
                <a:cubicBezTo>
                  <a:pt x="118" y="59"/>
                  <a:pt x="112" y="58"/>
                  <a:pt x="107" y="58"/>
                </a:cubicBezTo>
                <a:cubicBezTo>
                  <a:pt x="105" y="58"/>
                  <a:pt x="103" y="58"/>
                  <a:pt x="101" y="59"/>
                </a:cubicBezTo>
                <a:cubicBezTo>
                  <a:pt x="101" y="59"/>
                  <a:pt x="100" y="59"/>
                  <a:pt x="99" y="59"/>
                </a:cubicBezTo>
                <a:cubicBezTo>
                  <a:pt x="97" y="59"/>
                  <a:pt x="95" y="58"/>
                  <a:pt x="93" y="57"/>
                </a:cubicBezTo>
                <a:cubicBezTo>
                  <a:pt x="92" y="57"/>
                  <a:pt x="92" y="57"/>
                  <a:pt x="91" y="57"/>
                </a:cubicBezTo>
                <a:cubicBezTo>
                  <a:pt x="95" y="61"/>
                  <a:pt x="100" y="66"/>
                  <a:pt x="105" y="66"/>
                </a:cubicBezTo>
                <a:cubicBezTo>
                  <a:pt x="105" y="66"/>
                  <a:pt x="106" y="66"/>
                  <a:pt x="107" y="66"/>
                </a:cubicBezTo>
                <a:cubicBezTo>
                  <a:pt x="109" y="65"/>
                  <a:pt x="111" y="65"/>
                  <a:pt x="113" y="65"/>
                </a:cubicBezTo>
                <a:cubicBezTo>
                  <a:pt x="120" y="65"/>
                  <a:pt x="131" y="68"/>
                  <a:pt x="138" y="71"/>
                </a:cubicBezTo>
                <a:cubicBezTo>
                  <a:pt x="144" y="74"/>
                  <a:pt x="153" y="76"/>
                  <a:pt x="160" y="77"/>
                </a:cubicBezTo>
                <a:cubicBezTo>
                  <a:pt x="162" y="76"/>
                  <a:pt x="164" y="75"/>
                  <a:pt x="166" y="75"/>
                </a:cubicBezTo>
                <a:cubicBezTo>
                  <a:pt x="168" y="74"/>
                  <a:pt x="170" y="74"/>
                  <a:pt x="172" y="74"/>
                </a:cubicBezTo>
                <a:cubicBezTo>
                  <a:pt x="175" y="74"/>
                  <a:pt x="178" y="75"/>
                  <a:pt x="179" y="77"/>
                </a:cubicBezTo>
                <a:cubicBezTo>
                  <a:pt x="184" y="75"/>
                  <a:pt x="189" y="74"/>
                  <a:pt x="194" y="72"/>
                </a:cubicBezTo>
                <a:cubicBezTo>
                  <a:pt x="195" y="72"/>
                  <a:pt x="195" y="72"/>
                  <a:pt x="195" y="72"/>
                </a:cubicBezTo>
                <a:cubicBezTo>
                  <a:pt x="196" y="71"/>
                  <a:pt x="198" y="70"/>
                  <a:pt x="200" y="70"/>
                </a:cubicBezTo>
                <a:cubicBezTo>
                  <a:pt x="201" y="70"/>
                  <a:pt x="202" y="70"/>
                  <a:pt x="202" y="70"/>
                </a:cubicBezTo>
                <a:cubicBezTo>
                  <a:pt x="203" y="70"/>
                  <a:pt x="204" y="70"/>
                  <a:pt x="205" y="70"/>
                </a:cubicBezTo>
                <a:cubicBezTo>
                  <a:pt x="220" y="67"/>
                  <a:pt x="242" y="63"/>
                  <a:pt x="242" y="63"/>
                </a:cubicBezTo>
                <a:cubicBezTo>
                  <a:pt x="250" y="53"/>
                  <a:pt x="260" y="50"/>
                  <a:pt x="268" y="50"/>
                </a:cubicBezTo>
                <a:cubicBezTo>
                  <a:pt x="277" y="50"/>
                  <a:pt x="284" y="53"/>
                  <a:pt x="288" y="54"/>
                </a:cubicBezTo>
                <a:cubicBezTo>
                  <a:pt x="289" y="54"/>
                  <a:pt x="290" y="53"/>
                  <a:pt x="291" y="53"/>
                </a:cubicBezTo>
                <a:cubicBezTo>
                  <a:pt x="291" y="53"/>
                  <a:pt x="291" y="53"/>
                  <a:pt x="291" y="53"/>
                </a:cubicBezTo>
                <a:cubicBezTo>
                  <a:pt x="293" y="50"/>
                  <a:pt x="298" y="45"/>
                  <a:pt x="303" y="41"/>
                </a:cubicBezTo>
                <a:cubicBezTo>
                  <a:pt x="305" y="39"/>
                  <a:pt x="311" y="36"/>
                  <a:pt x="317" y="34"/>
                </a:cubicBezTo>
                <a:cubicBezTo>
                  <a:pt x="313" y="34"/>
                  <a:pt x="310" y="33"/>
                  <a:pt x="308" y="31"/>
                </a:cubicBezTo>
                <a:moveTo>
                  <a:pt x="425" y="0"/>
                </a:moveTo>
                <a:cubicBezTo>
                  <a:pt x="422" y="2"/>
                  <a:pt x="419" y="2"/>
                  <a:pt x="416" y="2"/>
                </a:cubicBezTo>
                <a:cubicBezTo>
                  <a:pt x="411" y="2"/>
                  <a:pt x="407" y="1"/>
                  <a:pt x="404" y="0"/>
                </a:cubicBezTo>
                <a:cubicBezTo>
                  <a:pt x="402" y="0"/>
                  <a:pt x="400" y="1"/>
                  <a:pt x="398" y="2"/>
                </a:cubicBezTo>
                <a:cubicBezTo>
                  <a:pt x="396" y="3"/>
                  <a:pt x="395" y="4"/>
                  <a:pt x="393" y="4"/>
                </a:cubicBezTo>
                <a:cubicBezTo>
                  <a:pt x="380" y="11"/>
                  <a:pt x="366" y="22"/>
                  <a:pt x="362" y="29"/>
                </a:cubicBezTo>
                <a:cubicBezTo>
                  <a:pt x="355" y="40"/>
                  <a:pt x="340" y="55"/>
                  <a:pt x="340" y="55"/>
                </a:cubicBezTo>
                <a:cubicBezTo>
                  <a:pt x="340" y="55"/>
                  <a:pt x="351" y="27"/>
                  <a:pt x="345" y="23"/>
                </a:cubicBezTo>
                <a:cubicBezTo>
                  <a:pt x="344" y="22"/>
                  <a:pt x="342" y="22"/>
                  <a:pt x="340" y="22"/>
                </a:cubicBezTo>
                <a:cubicBezTo>
                  <a:pt x="339" y="22"/>
                  <a:pt x="339" y="22"/>
                  <a:pt x="338" y="22"/>
                </a:cubicBezTo>
                <a:cubicBezTo>
                  <a:pt x="337" y="25"/>
                  <a:pt x="335" y="28"/>
                  <a:pt x="330" y="31"/>
                </a:cubicBezTo>
                <a:cubicBezTo>
                  <a:pt x="332" y="31"/>
                  <a:pt x="334" y="30"/>
                  <a:pt x="335" y="30"/>
                </a:cubicBezTo>
                <a:cubicBezTo>
                  <a:pt x="337" y="30"/>
                  <a:pt x="339" y="31"/>
                  <a:pt x="340" y="31"/>
                </a:cubicBezTo>
                <a:cubicBezTo>
                  <a:pt x="346" y="35"/>
                  <a:pt x="335" y="62"/>
                  <a:pt x="335" y="62"/>
                </a:cubicBezTo>
                <a:cubicBezTo>
                  <a:pt x="335" y="62"/>
                  <a:pt x="349" y="48"/>
                  <a:pt x="356" y="37"/>
                </a:cubicBezTo>
                <a:cubicBezTo>
                  <a:pt x="363" y="27"/>
                  <a:pt x="389" y="9"/>
                  <a:pt x="405" y="8"/>
                </a:cubicBezTo>
                <a:cubicBezTo>
                  <a:pt x="405" y="8"/>
                  <a:pt x="405" y="8"/>
                  <a:pt x="406" y="8"/>
                </a:cubicBezTo>
                <a:cubicBezTo>
                  <a:pt x="407" y="7"/>
                  <a:pt x="408" y="7"/>
                  <a:pt x="410" y="7"/>
                </a:cubicBezTo>
                <a:cubicBezTo>
                  <a:pt x="411" y="7"/>
                  <a:pt x="413" y="7"/>
                  <a:pt x="415" y="8"/>
                </a:cubicBezTo>
                <a:cubicBezTo>
                  <a:pt x="416" y="9"/>
                  <a:pt x="416" y="9"/>
                  <a:pt x="417" y="10"/>
                </a:cubicBezTo>
                <a:cubicBezTo>
                  <a:pt x="423" y="12"/>
                  <a:pt x="429" y="15"/>
                  <a:pt x="433" y="20"/>
                </a:cubicBezTo>
                <a:cubicBezTo>
                  <a:pt x="434" y="15"/>
                  <a:pt x="436" y="12"/>
                  <a:pt x="438" y="6"/>
                </a:cubicBezTo>
                <a:cubicBezTo>
                  <a:pt x="434" y="3"/>
                  <a:pt x="430" y="1"/>
                  <a:pt x="425" y="0"/>
                </a:cubicBezTo>
              </a:path>
            </a:pathLst>
          </a:custGeom>
          <a:solidFill>
            <a:srgbClr val="D161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4" name="Freeform 39"/>
          <p:cNvSpPr>
            <a:spLocks/>
          </p:cNvSpPr>
          <p:nvPr/>
        </p:nvSpPr>
        <p:spPr bwMode="auto">
          <a:xfrm>
            <a:off x="3105151" y="4922838"/>
            <a:ext cx="811213" cy="728662"/>
          </a:xfrm>
          <a:custGeom>
            <a:avLst/>
            <a:gdLst>
              <a:gd name="T0" fmla="*/ 37 w 478"/>
              <a:gd name="T1" fmla="*/ 329 h 430"/>
              <a:gd name="T2" fmla="*/ 81 w 478"/>
              <a:gd name="T3" fmla="*/ 323 h 430"/>
              <a:gd name="T4" fmla="*/ 56 w 478"/>
              <a:gd name="T5" fmla="*/ 372 h 430"/>
              <a:gd name="T6" fmla="*/ 98 w 478"/>
              <a:gd name="T7" fmla="*/ 392 h 430"/>
              <a:gd name="T8" fmla="*/ 167 w 478"/>
              <a:gd name="T9" fmla="*/ 428 h 430"/>
              <a:gd name="T10" fmla="*/ 223 w 478"/>
              <a:gd name="T11" fmla="*/ 428 h 430"/>
              <a:gd name="T12" fmla="*/ 252 w 478"/>
              <a:gd name="T13" fmla="*/ 430 h 430"/>
              <a:gd name="T14" fmla="*/ 282 w 478"/>
              <a:gd name="T15" fmla="*/ 376 h 430"/>
              <a:gd name="T16" fmla="*/ 328 w 478"/>
              <a:gd name="T17" fmla="*/ 389 h 430"/>
              <a:gd name="T18" fmla="*/ 372 w 478"/>
              <a:gd name="T19" fmla="*/ 339 h 430"/>
              <a:gd name="T20" fmla="*/ 359 w 478"/>
              <a:gd name="T21" fmla="*/ 309 h 430"/>
              <a:gd name="T22" fmla="*/ 391 w 478"/>
              <a:gd name="T23" fmla="*/ 302 h 430"/>
              <a:gd name="T24" fmla="*/ 390 w 478"/>
              <a:gd name="T25" fmla="*/ 270 h 430"/>
              <a:gd name="T26" fmla="*/ 424 w 478"/>
              <a:gd name="T27" fmla="*/ 272 h 430"/>
              <a:gd name="T28" fmla="*/ 467 w 478"/>
              <a:gd name="T29" fmla="*/ 230 h 430"/>
              <a:gd name="T30" fmla="*/ 467 w 478"/>
              <a:gd name="T31" fmla="*/ 198 h 430"/>
              <a:gd name="T32" fmla="*/ 475 w 478"/>
              <a:gd name="T33" fmla="*/ 146 h 430"/>
              <a:gd name="T34" fmla="*/ 471 w 478"/>
              <a:gd name="T35" fmla="*/ 95 h 430"/>
              <a:gd name="T36" fmla="*/ 437 w 478"/>
              <a:gd name="T37" fmla="*/ 86 h 430"/>
              <a:gd name="T38" fmla="*/ 405 w 478"/>
              <a:gd name="T39" fmla="*/ 103 h 430"/>
              <a:gd name="T40" fmla="*/ 391 w 478"/>
              <a:gd name="T41" fmla="*/ 104 h 430"/>
              <a:gd name="T42" fmla="*/ 436 w 478"/>
              <a:gd name="T43" fmla="*/ 82 h 430"/>
              <a:gd name="T44" fmla="*/ 453 w 478"/>
              <a:gd name="T45" fmla="*/ 27 h 430"/>
              <a:gd name="T46" fmla="*/ 416 w 478"/>
              <a:gd name="T47" fmla="*/ 1 h 430"/>
              <a:gd name="T48" fmla="*/ 367 w 478"/>
              <a:gd name="T49" fmla="*/ 30 h 430"/>
              <a:gd name="T50" fmla="*/ 346 w 478"/>
              <a:gd name="T51" fmla="*/ 55 h 430"/>
              <a:gd name="T52" fmla="*/ 351 w 478"/>
              <a:gd name="T53" fmla="*/ 24 h 430"/>
              <a:gd name="T54" fmla="*/ 314 w 478"/>
              <a:gd name="T55" fmla="*/ 34 h 430"/>
              <a:gd name="T56" fmla="*/ 301 w 478"/>
              <a:gd name="T57" fmla="*/ 48 h 430"/>
              <a:gd name="T58" fmla="*/ 253 w 478"/>
              <a:gd name="T59" fmla="*/ 56 h 430"/>
              <a:gd name="T60" fmla="*/ 205 w 478"/>
              <a:gd name="T61" fmla="*/ 65 h 430"/>
              <a:gd name="T62" fmla="*/ 182 w 478"/>
              <a:gd name="T63" fmla="*/ 72 h 430"/>
              <a:gd name="T64" fmla="*/ 149 w 478"/>
              <a:gd name="T65" fmla="*/ 64 h 430"/>
              <a:gd name="T66" fmla="*/ 118 w 478"/>
              <a:gd name="T67" fmla="*/ 59 h 430"/>
              <a:gd name="T68" fmla="*/ 99 w 478"/>
              <a:gd name="T69" fmla="*/ 48 h 430"/>
              <a:gd name="T70" fmla="*/ 88 w 478"/>
              <a:gd name="T71" fmla="*/ 63 h 430"/>
              <a:gd name="T72" fmla="*/ 28 w 478"/>
              <a:gd name="T73" fmla="*/ 70 h 430"/>
              <a:gd name="T74" fmla="*/ 28 w 478"/>
              <a:gd name="T75" fmla="*/ 90 h 430"/>
              <a:gd name="T76" fmla="*/ 2 w 478"/>
              <a:gd name="T77" fmla="*/ 156 h 430"/>
              <a:gd name="T78" fmla="*/ 19 w 478"/>
              <a:gd name="T79" fmla="*/ 244 h 430"/>
              <a:gd name="T80" fmla="*/ 54 w 478"/>
              <a:gd name="T81" fmla="*/ 263 h 430"/>
              <a:gd name="T82" fmla="*/ 82 w 478"/>
              <a:gd name="T83" fmla="*/ 253 h 430"/>
              <a:gd name="T84" fmla="*/ 102 w 478"/>
              <a:gd name="T85" fmla="*/ 296 h 430"/>
              <a:gd name="T86" fmla="*/ 40 w 478"/>
              <a:gd name="T87" fmla="*/ 294 h 430"/>
              <a:gd name="T88" fmla="*/ 37 w 478"/>
              <a:gd name="T89" fmla="*/ 329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78" h="430">
                <a:moveTo>
                  <a:pt x="37" y="329"/>
                </a:moveTo>
                <a:cubicBezTo>
                  <a:pt x="37" y="329"/>
                  <a:pt x="57" y="344"/>
                  <a:pt x="81" y="323"/>
                </a:cubicBezTo>
                <a:cubicBezTo>
                  <a:pt x="81" y="323"/>
                  <a:pt x="54" y="345"/>
                  <a:pt x="56" y="372"/>
                </a:cubicBezTo>
                <a:cubicBezTo>
                  <a:pt x="58" y="400"/>
                  <a:pt x="69" y="405"/>
                  <a:pt x="98" y="392"/>
                </a:cubicBezTo>
                <a:cubicBezTo>
                  <a:pt x="98" y="392"/>
                  <a:pt x="127" y="430"/>
                  <a:pt x="167" y="428"/>
                </a:cubicBezTo>
                <a:cubicBezTo>
                  <a:pt x="188" y="426"/>
                  <a:pt x="208" y="427"/>
                  <a:pt x="223" y="428"/>
                </a:cubicBezTo>
                <a:cubicBezTo>
                  <a:pt x="236" y="429"/>
                  <a:pt x="247" y="430"/>
                  <a:pt x="252" y="430"/>
                </a:cubicBezTo>
                <a:cubicBezTo>
                  <a:pt x="263" y="428"/>
                  <a:pt x="308" y="412"/>
                  <a:pt x="282" y="376"/>
                </a:cubicBezTo>
                <a:cubicBezTo>
                  <a:pt x="282" y="376"/>
                  <a:pt x="309" y="391"/>
                  <a:pt x="328" y="389"/>
                </a:cubicBezTo>
                <a:cubicBezTo>
                  <a:pt x="347" y="386"/>
                  <a:pt x="368" y="356"/>
                  <a:pt x="372" y="339"/>
                </a:cubicBezTo>
                <a:cubicBezTo>
                  <a:pt x="376" y="322"/>
                  <a:pt x="359" y="309"/>
                  <a:pt x="359" y="309"/>
                </a:cubicBezTo>
                <a:cubicBezTo>
                  <a:pt x="359" y="309"/>
                  <a:pt x="379" y="313"/>
                  <a:pt x="391" y="302"/>
                </a:cubicBezTo>
                <a:cubicBezTo>
                  <a:pt x="402" y="292"/>
                  <a:pt x="390" y="270"/>
                  <a:pt x="390" y="270"/>
                </a:cubicBezTo>
                <a:cubicBezTo>
                  <a:pt x="390" y="270"/>
                  <a:pt x="404" y="282"/>
                  <a:pt x="424" y="272"/>
                </a:cubicBezTo>
                <a:cubicBezTo>
                  <a:pt x="444" y="261"/>
                  <a:pt x="462" y="238"/>
                  <a:pt x="467" y="230"/>
                </a:cubicBezTo>
                <a:cubicBezTo>
                  <a:pt x="472" y="221"/>
                  <a:pt x="467" y="213"/>
                  <a:pt x="467" y="198"/>
                </a:cubicBezTo>
                <a:cubicBezTo>
                  <a:pt x="467" y="182"/>
                  <a:pt x="471" y="159"/>
                  <a:pt x="475" y="146"/>
                </a:cubicBezTo>
                <a:cubicBezTo>
                  <a:pt x="478" y="134"/>
                  <a:pt x="475" y="101"/>
                  <a:pt x="471" y="95"/>
                </a:cubicBezTo>
                <a:cubicBezTo>
                  <a:pt x="466" y="88"/>
                  <a:pt x="453" y="79"/>
                  <a:pt x="437" y="86"/>
                </a:cubicBezTo>
                <a:cubicBezTo>
                  <a:pt x="422" y="94"/>
                  <a:pt x="416" y="102"/>
                  <a:pt x="405" y="103"/>
                </a:cubicBezTo>
                <a:cubicBezTo>
                  <a:pt x="395" y="104"/>
                  <a:pt x="391" y="104"/>
                  <a:pt x="391" y="104"/>
                </a:cubicBezTo>
                <a:cubicBezTo>
                  <a:pt x="391" y="104"/>
                  <a:pt x="426" y="91"/>
                  <a:pt x="436" y="82"/>
                </a:cubicBezTo>
                <a:cubicBezTo>
                  <a:pt x="445" y="72"/>
                  <a:pt x="456" y="43"/>
                  <a:pt x="453" y="27"/>
                </a:cubicBezTo>
                <a:cubicBezTo>
                  <a:pt x="449" y="12"/>
                  <a:pt x="431" y="0"/>
                  <a:pt x="416" y="1"/>
                </a:cubicBezTo>
                <a:cubicBezTo>
                  <a:pt x="400" y="2"/>
                  <a:pt x="374" y="20"/>
                  <a:pt x="367" y="30"/>
                </a:cubicBezTo>
                <a:cubicBezTo>
                  <a:pt x="360" y="41"/>
                  <a:pt x="346" y="55"/>
                  <a:pt x="346" y="55"/>
                </a:cubicBezTo>
                <a:cubicBezTo>
                  <a:pt x="346" y="55"/>
                  <a:pt x="357" y="28"/>
                  <a:pt x="351" y="24"/>
                </a:cubicBezTo>
                <a:cubicBezTo>
                  <a:pt x="345" y="21"/>
                  <a:pt x="320" y="28"/>
                  <a:pt x="314" y="34"/>
                </a:cubicBezTo>
                <a:cubicBezTo>
                  <a:pt x="307" y="40"/>
                  <a:pt x="301" y="48"/>
                  <a:pt x="301" y="48"/>
                </a:cubicBezTo>
                <a:cubicBezTo>
                  <a:pt x="301" y="48"/>
                  <a:pt x="271" y="33"/>
                  <a:pt x="253" y="56"/>
                </a:cubicBezTo>
                <a:cubicBezTo>
                  <a:pt x="253" y="56"/>
                  <a:pt x="216" y="63"/>
                  <a:pt x="205" y="65"/>
                </a:cubicBezTo>
                <a:cubicBezTo>
                  <a:pt x="195" y="68"/>
                  <a:pt x="182" y="72"/>
                  <a:pt x="182" y="72"/>
                </a:cubicBezTo>
                <a:cubicBezTo>
                  <a:pt x="182" y="72"/>
                  <a:pt x="159" y="68"/>
                  <a:pt x="149" y="64"/>
                </a:cubicBezTo>
                <a:cubicBezTo>
                  <a:pt x="140" y="61"/>
                  <a:pt x="126" y="56"/>
                  <a:pt x="118" y="59"/>
                </a:cubicBezTo>
                <a:cubicBezTo>
                  <a:pt x="110" y="62"/>
                  <a:pt x="102" y="48"/>
                  <a:pt x="99" y="48"/>
                </a:cubicBezTo>
                <a:cubicBezTo>
                  <a:pt x="96" y="48"/>
                  <a:pt x="85" y="60"/>
                  <a:pt x="88" y="63"/>
                </a:cubicBezTo>
                <a:cubicBezTo>
                  <a:pt x="88" y="63"/>
                  <a:pt x="34" y="44"/>
                  <a:pt x="28" y="70"/>
                </a:cubicBezTo>
                <a:cubicBezTo>
                  <a:pt x="21" y="96"/>
                  <a:pt x="28" y="90"/>
                  <a:pt x="28" y="90"/>
                </a:cubicBezTo>
                <a:cubicBezTo>
                  <a:pt x="28" y="90"/>
                  <a:pt x="0" y="108"/>
                  <a:pt x="2" y="156"/>
                </a:cubicBezTo>
                <a:cubicBezTo>
                  <a:pt x="4" y="203"/>
                  <a:pt x="13" y="237"/>
                  <a:pt x="19" y="244"/>
                </a:cubicBezTo>
                <a:cubicBezTo>
                  <a:pt x="25" y="252"/>
                  <a:pt x="40" y="264"/>
                  <a:pt x="54" y="263"/>
                </a:cubicBezTo>
                <a:cubicBezTo>
                  <a:pt x="69" y="262"/>
                  <a:pt x="82" y="253"/>
                  <a:pt x="82" y="253"/>
                </a:cubicBezTo>
                <a:cubicBezTo>
                  <a:pt x="82" y="253"/>
                  <a:pt x="65" y="278"/>
                  <a:pt x="102" y="296"/>
                </a:cubicBezTo>
                <a:cubicBezTo>
                  <a:pt x="102" y="296"/>
                  <a:pt x="60" y="283"/>
                  <a:pt x="40" y="294"/>
                </a:cubicBezTo>
                <a:cubicBezTo>
                  <a:pt x="20" y="304"/>
                  <a:pt x="37" y="329"/>
                  <a:pt x="37" y="329"/>
                </a:cubicBezTo>
              </a:path>
            </a:pathLst>
          </a:custGeom>
          <a:solidFill>
            <a:srgbClr val="CB60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5" name="Freeform 40"/>
          <p:cNvSpPr>
            <a:spLocks noEditPoints="1"/>
          </p:cNvSpPr>
          <p:nvPr/>
        </p:nvSpPr>
        <p:spPr bwMode="auto">
          <a:xfrm>
            <a:off x="3259138" y="5430838"/>
            <a:ext cx="301625" cy="184150"/>
          </a:xfrm>
          <a:custGeom>
            <a:avLst/>
            <a:gdLst>
              <a:gd name="T0" fmla="*/ 167 w 177"/>
              <a:gd name="T1" fmla="*/ 85 h 108"/>
              <a:gd name="T2" fmla="*/ 157 w 177"/>
              <a:gd name="T3" fmla="*/ 89 h 108"/>
              <a:gd name="T4" fmla="*/ 168 w 177"/>
              <a:gd name="T5" fmla="*/ 89 h 108"/>
              <a:gd name="T6" fmla="*/ 171 w 177"/>
              <a:gd name="T7" fmla="*/ 92 h 108"/>
              <a:gd name="T8" fmla="*/ 161 w 177"/>
              <a:gd name="T9" fmla="*/ 95 h 108"/>
              <a:gd name="T10" fmla="*/ 173 w 177"/>
              <a:gd name="T11" fmla="*/ 105 h 108"/>
              <a:gd name="T12" fmla="*/ 168 w 177"/>
              <a:gd name="T13" fmla="*/ 84 h 108"/>
              <a:gd name="T14" fmla="*/ 16 w 177"/>
              <a:gd name="T15" fmla="*/ 2 h 108"/>
              <a:gd name="T16" fmla="*/ 8 w 177"/>
              <a:gd name="T17" fmla="*/ 25 h 108"/>
              <a:gd name="T18" fmla="*/ 61 w 177"/>
              <a:gd name="T19" fmla="*/ 101 h 108"/>
              <a:gd name="T20" fmla="*/ 103 w 177"/>
              <a:gd name="T21" fmla="*/ 108 h 108"/>
              <a:gd name="T22" fmla="*/ 141 w 177"/>
              <a:gd name="T23" fmla="*/ 108 h 108"/>
              <a:gd name="T24" fmla="*/ 137 w 177"/>
              <a:gd name="T25" fmla="*/ 95 h 108"/>
              <a:gd name="T26" fmla="*/ 115 w 177"/>
              <a:gd name="T27" fmla="*/ 95 h 108"/>
              <a:gd name="T28" fmla="*/ 86 w 177"/>
              <a:gd name="T29" fmla="*/ 91 h 108"/>
              <a:gd name="T30" fmla="*/ 57 w 177"/>
              <a:gd name="T31" fmla="*/ 86 h 108"/>
              <a:gd name="T32" fmla="*/ 24 w 177"/>
              <a:gd name="T33" fmla="*/ 67 h 108"/>
              <a:gd name="T34" fmla="*/ 12 w 177"/>
              <a:gd name="T35" fmla="*/ 47 h 108"/>
              <a:gd name="T36" fmla="*/ 22 w 177"/>
              <a:gd name="T37" fmla="*/ 20 h 108"/>
              <a:gd name="T38" fmla="*/ 22 w 177"/>
              <a:gd name="T39" fmla="*/ 10 h 108"/>
              <a:gd name="T40" fmla="*/ 25 w 177"/>
              <a:gd name="T41" fmla="*/ 5 h 108"/>
              <a:gd name="T42" fmla="*/ 29 w 177"/>
              <a:gd name="T43" fmla="*/ 15 h 108"/>
              <a:gd name="T44" fmla="*/ 25 w 177"/>
              <a:gd name="T45" fmla="*/ 27 h 108"/>
              <a:gd name="T46" fmla="*/ 18 w 177"/>
              <a:gd name="T47" fmla="*/ 47 h 108"/>
              <a:gd name="T48" fmla="*/ 27 w 177"/>
              <a:gd name="T49" fmla="*/ 62 h 108"/>
              <a:gd name="T50" fmla="*/ 61 w 177"/>
              <a:gd name="T51" fmla="*/ 81 h 108"/>
              <a:gd name="T52" fmla="*/ 87 w 177"/>
              <a:gd name="T53" fmla="*/ 86 h 108"/>
              <a:gd name="T54" fmla="*/ 115 w 177"/>
              <a:gd name="T55" fmla="*/ 89 h 108"/>
              <a:gd name="T56" fmla="*/ 140 w 177"/>
              <a:gd name="T57" fmla="*/ 89 h 108"/>
              <a:gd name="T58" fmla="*/ 121 w 177"/>
              <a:gd name="T59" fmla="*/ 84 h 108"/>
              <a:gd name="T60" fmla="*/ 85 w 177"/>
              <a:gd name="T61" fmla="*/ 80 h 108"/>
              <a:gd name="T62" fmla="*/ 23 w 177"/>
              <a:gd name="T63" fmla="*/ 51 h 108"/>
              <a:gd name="T64" fmla="*/ 35 w 177"/>
              <a:gd name="T65" fmla="*/ 21 h 108"/>
              <a:gd name="T66" fmla="*/ 31 w 177"/>
              <a:gd name="T67" fmla="*/ 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7" h="108">
                <a:moveTo>
                  <a:pt x="168" y="84"/>
                </a:moveTo>
                <a:cubicBezTo>
                  <a:pt x="168" y="84"/>
                  <a:pt x="167" y="85"/>
                  <a:pt x="167" y="85"/>
                </a:cubicBezTo>
                <a:cubicBezTo>
                  <a:pt x="163" y="86"/>
                  <a:pt x="159" y="87"/>
                  <a:pt x="155" y="87"/>
                </a:cubicBezTo>
                <a:cubicBezTo>
                  <a:pt x="156" y="88"/>
                  <a:pt x="156" y="89"/>
                  <a:pt x="157" y="89"/>
                </a:cubicBezTo>
                <a:cubicBezTo>
                  <a:pt x="160" y="89"/>
                  <a:pt x="162" y="89"/>
                  <a:pt x="164" y="89"/>
                </a:cubicBezTo>
                <a:cubicBezTo>
                  <a:pt x="166" y="89"/>
                  <a:pt x="168" y="89"/>
                  <a:pt x="168" y="89"/>
                </a:cubicBezTo>
                <a:cubicBezTo>
                  <a:pt x="168" y="89"/>
                  <a:pt x="168" y="89"/>
                  <a:pt x="168" y="89"/>
                </a:cubicBezTo>
                <a:cubicBezTo>
                  <a:pt x="169" y="89"/>
                  <a:pt x="171" y="90"/>
                  <a:pt x="171" y="92"/>
                </a:cubicBezTo>
                <a:cubicBezTo>
                  <a:pt x="171" y="94"/>
                  <a:pt x="169" y="95"/>
                  <a:pt x="168" y="95"/>
                </a:cubicBezTo>
                <a:cubicBezTo>
                  <a:pt x="168" y="95"/>
                  <a:pt x="165" y="95"/>
                  <a:pt x="161" y="95"/>
                </a:cubicBezTo>
                <a:cubicBezTo>
                  <a:pt x="164" y="98"/>
                  <a:pt x="168" y="101"/>
                  <a:pt x="171" y="103"/>
                </a:cubicBezTo>
                <a:cubicBezTo>
                  <a:pt x="171" y="103"/>
                  <a:pt x="172" y="104"/>
                  <a:pt x="173" y="105"/>
                </a:cubicBezTo>
                <a:cubicBezTo>
                  <a:pt x="175" y="102"/>
                  <a:pt x="177" y="99"/>
                  <a:pt x="177" y="95"/>
                </a:cubicBezTo>
                <a:cubicBezTo>
                  <a:pt x="176" y="90"/>
                  <a:pt x="173" y="86"/>
                  <a:pt x="168" y="84"/>
                </a:cubicBezTo>
                <a:moveTo>
                  <a:pt x="22" y="0"/>
                </a:moveTo>
                <a:cubicBezTo>
                  <a:pt x="20" y="0"/>
                  <a:pt x="18" y="1"/>
                  <a:pt x="16" y="2"/>
                </a:cubicBezTo>
                <a:cubicBezTo>
                  <a:pt x="10" y="5"/>
                  <a:pt x="8" y="13"/>
                  <a:pt x="11" y="18"/>
                </a:cubicBezTo>
                <a:cubicBezTo>
                  <a:pt x="11" y="19"/>
                  <a:pt x="9" y="23"/>
                  <a:pt x="8" y="25"/>
                </a:cubicBezTo>
                <a:cubicBezTo>
                  <a:pt x="4" y="31"/>
                  <a:pt x="0" y="39"/>
                  <a:pt x="0" y="51"/>
                </a:cubicBezTo>
                <a:cubicBezTo>
                  <a:pt x="0" y="78"/>
                  <a:pt x="48" y="99"/>
                  <a:pt x="61" y="101"/>
                </a:cubicBezTo>
                <a:cubicBezTo>
                  <a:pt x="66" y="101"/>
                  <a:pt x="73" y="102"/>
                  <a:pt x="81" y="104"/>
                </a:cubicBezTo>
                <a:cubicBezTo>
                  <a:pt x="89" y="105"/>
                  <a:pt x="97" y="107"/>
                  <a:pt x="103" y="108"/>
                </a:cubicBezTo>
                <a:cubicBezTo>
                  <a:pt x="107" y="108"/>
                  <a:pt x="116" y="108"/>
                  <a:pt x="125" y="108"/>
                </a:cubicBezTo>
                <a:cubicBezTo>
                  <a:pt x="130" y="108"/>
                  <a:pt x="136" y="108"/>
                  <a:pt x="141" y="108"/>
                </a:cubicBezTo>
                <a:cubicBezTo>
                  <a:pt x="140" y="106"/>
                  <a:pt x="139" y="105"/>
                  <a:pt x="138" y="104"/>
                </a:cubicBezTo>
                <a:cubicBezTo>
                  <a:pt x="137" y="101"/>
                  <a:pt x="136" y="98"/>
                  <a:pt x="137" y="95"/>
                </a:cubicBezTo>
                <a:cubicBezTo>
                  <a:pt x="134" y="95"/>
                  <a:pt x="131" y="95"/>
                  <a:pt x="128" y="95"/>
                </a:cubicBezTo>
                <a:cubicBezTo>
                  <a:pt x="123" y="95"/>
                  <a:pt x="119" y="95"/>
                  <a:pt x="115" y="95"/>
                </a:cubicBezTo>
                <a:cubicBezTo>
                  <a:pt x="112" y="95"/>
                  <a:pt x="109" y="95"/>
                  <a:pt x="107" y="95"/>
                </a:cubicBezTo>
                <a:cubicBezTo>
                  <a:pt x="101" y="94"/>
                  <a:pt x="93" y="93"/>
                  <a:pt x="86" y="91"/>
                </a:cubicBezTo>
                <a:cubicBezTo>
                  <a:pt x="78" y="90"/>
                  <a:pt x="70" y="88"/>
                  <a:pt x="65" y="88"/>
                </a:cubicBezTo>
                <a:cubicBezTo>
                  <a:pt x="63" y="88"/>
                  <a:pt x="60" y="87"/>
                  <a:pt x="57" y="86"/>
                </a:cubicBezTo>
                <a:cubicBezTo>
                  <a:pt x="54" y="85"/>
                  <a:pt x="50" y="83"/>
                  <a:pt x="46" y="82"/>
                </a:cubicBezTo>
                <a:cubicBezTo>
                  <a:pt x="39" y="78"/>
                  <a:pt x="31" y="73"/>
                  <a:pt x="24" y="67"/>
                </a:cubicBezTo>
                <a:cubicBezTo>
                  <a:pt x="20" y="64"/>
                  <a:pt x="16" y="60"/>
                  <a:pt x="14" y="55"/>
                </a:cubicBezTo>
                <a:cubicBezTo>
                  <a:pt x="12" y="53"/>
                  <a:pt x="12" y="50"/>
                  <a:pt x="12" y="47"/>
                </a:cubicBezTo>
                <a:cubicBezTo>
                  <a:pt x="12" y="41"/>
                  <a:pt x="13" y="36"/>
                  <a:pt x="16" y="32"/>
                </a:cubicBezTo>
                <a:cubicBezTo>
                  <a:pt x="18" y="27"/>
                  <a:pt x="20" y="24"/>
                  <a:pt x="22" y="20"/>
                </a:cubicBezTo>
                <a:cubicBezTo>
                  <a:pt x="23" y="18"/>
                  <a:pt x="23" y="16"/>
                  <a:pt x="23" y="15"/>
                </a:cubicBezTo>
                <a:cubicBezTo>
                  <a:pt x="23" y="13"/>
                  <a:pt x="23" y="12"/>
                  <a:pt x="22" y="10"/>
                </a:cubicBezTo>
                <a:cubicBezTo>
                  <a:pt x="21" y="8"/>
                  <a:pt x="22" y="7"/>
                  <a:pt x="23" y="6"/>
                </a:cubicBezTo>
                <a:cubicBezTo>
                  <a:pt x="24" y="6"/>
                  <a:pt x="24" y="5"/>
                  <a:pt x="25" y="5"/>
                </a:cubicBezTo>
                <a:cubicBezTo>
                  <a:pt x="26" y="5"/>
                  <a:pt x="27" y="6"/>
                  <a:pt x="27" y="7"/>
                </a:cubicBezTo>
                <a:cubicBezTo>
                  <a:pt x="29" y="10"/>
                  <a:pt x="29" y="12"/>
                  <a:pt x="29" y="15"/>
                </a:cubicBezTo>
                <a:cubicBezTo>
                  <a:pt x="29" y="17"/>
                  <a:pt x="29" y="19"/>
                  <a:pt x="28" y="21"/>
                </a:cubicBezTo>
                <a:cubicBezTo>
                  <a:pt x="27" y="23"/>
                  <a:pt x="26" y="25"/>
                  <a:pt x="25" y="27"/>
                </a:cubicBezTo>
                <a:cubicBezTo>
                  <a:pt x="23" y="30"/>
                  <a:pt x="21" y="34"/>
                  <a:pt x="19" y="38"/>
                </a:cubicBezTo>
                <a:cubicBezTo>
                  <a:pt x="18" y="41"/>
                  <a:pt x="18" y="44"/>
                  <a:pt x="18" y="47"/>
                </a:cubicBezTo>
                <a:cubicBezTo>
                  <a:pt x="18" y="49"/>
                  <a:pt x="18" y="52"/>
                  <a:pt x="20" y="54"/>
                </a:cubicBezTo>
                <a:cubicBezTo>
                  <a:pt x="22" y="57"/>
                  <a:pt x="24" y="60"/>
                  <a:pt x="27" y="62"/>
                </a:cubicBezTo>
                <a:cubicBezTo>
                  <a:pt x="33" y="67"/>
                  <a:pt x="41" y="72"/>
                  <a:pt x="48" y="76"/>
                </a:cubicBezTo>
                <a:cubicBezTo>
                  <a:pt x="53" y="78"/>
                  <a:pt x="57" y="80"/>
                  <a:pt x="61" y="81"/>
                </a:cubicBezTo>
                <a:cubicBezTo>
                  <a:pt x="63" y="82"/>
                  <a:pt x="65" y="82"/>
                  <a:pt x="66" y="82"/>
                </a:cubicBezTo>
                <a:cubicBezTo>
                  <a:pt x="71" y="83"/>
                  <a:pt x="79" y="84"/>
                  <a:pt x="87" y="86"/>
                </a:cubicBezTo>
                <a:cubicBezTo>
                  <a:pt x="94" y="87"/>
                  <a:pt x="102" y="88"/>
                  <a:pt x="107" y="89"/>
                </a:cubicBezTo>
                <a:cubicBezTo>
                  <a:pt x="109" y="89"/>
                  <a:pt x="112" y="89"/>
                  <a:pt x="115" y="89"/>
                </a:cubicBezTo>
                <a:cubicBezTo>
                  <a:pt x="119" y="89"/>
                  <a:pt x="123" y="89"/>
                  <a:pt x="128" y="89"/>
                </a:cubicBezTo>
                <a:cubicBezTo>
                  <a:pt x="132" y="89"/>
                  <a:pt x="136" y="89"/>
                  <a:pt x="140" y="89"/>
                </a:cubicBezTo>
                <a:cubicBezTo>
                  <a:pt x="140" y="89"/>
                  <a:pt x="140" y="89"/>
                  <a:pt x="141" y="89"/>
                </a:cubicBezTo>
                <a:cubicBezTo>
                  <a:pt x="135" y="88"/>
                  <a:pt x="128" y="86"/>
                  <a:pt x="121" y="84"/>
                </a:cubicBezTo>
                <a:cubicBezTo>
                  <a:pt x="114" y="84"/>
                  <a:pt x="108" y="84"/>
                  <a:pt x="105" y="84"/>
                </a:cubicBezTo>
                <a:cubicBezTo>
                  <a:pt x="100" y="83"/>
                  <a:pt x="93" y="82"/>
                  <a:pt x="85" y="80"/>
                </a:cubicBezTo>
                <a:cubicBezTo>
                  <a:pt x="77" y="79"/>
                  <a:pt x="69" y="77"/>
                  <a:pt x="63" y="77"/>
                </a:cubicBezTo>
                <a:cubicBezTo>
                  <a:pt x="54" y="76"/>
                  <a:pt x="23" y="59"/>
                  <a:pt x="23" y="51"/>
                </a:cubicBezTo>
                <a:cubicBezTo>
                  <a:pt x="23" y="46"/>
                  <a:pt x="26" y="42"/>
                  <a:pt x="29" y="37"/>
                </a:cubicBezTo>
                <a:cubicBezTo>
                  <a:pt x="31" y="33"/>
                  <a:pt x="34" y="27"/>
                  <a:pt x="35" y="21"/>
                </a:cubicBezTo>
                <a:cubicBezTo>
                  <a:pt x="33" y="18"/>
                  <a:pt x="32" y="16"/>
                  <a:pt x="31" y="13"/>
                </a:cubicBezTo>
                <a:cubicBezTo>
                  <a:pt x="30" y="10"/>
                  <a:pt x="30" y="7"/>
                  <a:pt x="31" y="5"/>
                </a:cubicBezTo>
                <a:cubicBezTo>
                  <a:pt x="29" y="2"/>
                  <a:pt x="25" y="0"/>
                  <a:pt x="22"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6" name="Freeform 41"/>
          <p:cNvSpPr>
            <a:spLocks/>
          </p:cNvSpPr>
          <p:nvPr/>
        </p:nvSpPr>
        <p:spPr bwMode="auto">
          <a:xfrm>
            <a:off x="3309938" y="5426075"/>
            <a:ext cx="198438" cy="100012"/>
          </a:xfrm>
          <a:custGeom>
            <a:avLst/>
            <a:gdLst>
              <a:gd name="T0" fmla="*/ 12 w 117"/>
              <a:gd name="T1" fmla="*/ 0 h 59"/>
              <a:gd name="T2" fmla="*/ 9 w 117"/>
              <a:gd name="T3" fmla="*/ 1 h 59"/>
              <a:gd name="T4" fmla="*/ 1 w 117"/>
              <a:gd name="T5" fmla="*/ 8 h 59"/>
              <a:gd name="T6" fmla="*/ 1 w 117"/>
              <a:gd name="T7" fmla="*/ 16 h 59"/>
              <a:gd name="T8" fmla="*/ 5 w 117"/>
              <a:gd name="T9" fmla="*/ 24 h 59"/>
              <a:gd name="T10" fmla="*/ 27 w 117"/>
              <a:gd name="T11" fmla="*/ 37 h 59"/>
              <a:gd name="T12" fmla="*/ 28 w 117"/>
              <a:gd name="T13" fmla="*/ 37 h 59"/>
              <a:gd name="T14" fmla="*/ 39 w 117"/>
              <a:gd name="T15" fmla="*/ 39 h 59"/>
              <a:gd name="T16" fmla="*/ 61 w 117"/>
              <a:gd name="T17" fmla="*/ 40 h 59"/>
              <a:gd name="T18" fmla="*/ 71 w 117"/>
              <a:gd name="T19" fmla="*/ 40 h 59"/>
              <a:gd name="T20" fmla="*/ 76 w 117"/>
              <a:gd name="T21" fmla="*/ 40 h 59"/>
              <a:gd name="T22" fmla="*/ 94 w 117"/>
              <a:gd name="T23" fmla="*/ 54 h 59"/>
              <a:gd name="T24" fmla="*/ 104 w 117"/>
              <a:gd name="T25" fmla="*/ 59 h 59"/>
              <a:gd name="T26" fmla="*/ 111 w 117"/>
              <a:gd name="T27" fmla="*/ 57 h 59"/>
              <a:gd name="T28" fmla="*/ 114 w 117"/>
              <a:gd name="T29" fmla="*/ 40 h 59"/>
              <a:gd name="T30" fmla="*/ 95 w 117"/>
              <a:gd name="T31" fmla="*/ 22 h 59"/>
              <a:gd name="T32" fmla="*/ 85 w 117"/>
              <a:gd name="T33" fmla="*/ 17 h 59"/>
              <a:gd name="T34" fmla="*/ 76 w 117"/>
              <a:gd name="T35" fmla="*/ 16 h 59"/>
              <a:gd name="T36" fmla="*/ 70 w 117"/>
              <a:gd name="T37" fmla="*/ 16 h 59"/>
              <a:gd name="T38" fmla="*/ 64 w 117"/>
              <a:gd name="T39" fmla="*/ 16 h 59"/>
              <a:gd name="T40" fmla="*/ 25 w 117"/>
              <a:gd name="T41" fmla="*/ 10 h 59"/>
              <a:gd name="T42" fmla="*/ 24 w 117"/>
              <a:gd name="T43" fmla="*/ 10 h 59"/>
              <a:gd name="T44" fmla="*/ 23 w 117"/>
              <a:gd name="T45" fmla="*/ 10 h 59"/>
              <a:gd name="T46" fmla="*/ 19 w 117"/>
              <a:gd name="T47" fmla="*/ 9 h 59"/>
              <a:gd name="T48" fmla="*/ 20 w 117"/>
              <a:gd name="T49" fmla="*/ 11 h 59"/>
              <a:gd name="T50" fmla="*/ 24 w 117"/>
              <a:gd name="T51" fmla="*/ 14 h 59"/>
              <a:gd name="T52" fmla="*/ 35 w 117"/>
              <a:gd name="T53" fmla="*/ 19 h 59"/>
              <a:gd name="T54" fmla="*/ 64 w 117"/>
              <a:gd name="T55" fmla="*/ 22 h 59"/>
              <a:gd name="T56" fmla="*/ 64 w 117"/>
              <a:gd name="T57" fmla="*/ 22 h 59"/>
              <a:gd name="T58" fmla="*/ 79 w 117"/>
              <a:gd name="T59" fmla="*/ 21 h 59"/>
              <a:gd name="T60" fmla="*/ 91 w 117"/>
              <a:gd name="T61" fmla="*/ 25 h 59"/>
              <a:gd name="T62" fmla="*/ 101 w 117"/>
              <a:gd name="T63" fmla="*/ 32 h 59"/>
              <a:gd name="T64" fmla="*/ 109 w 117"/>
              <a:gd name="T65" fmla="*/ 42 h 59"/>
              <a:gd name="T66" fmla="*/ 109 w 117"/>
              <a:gd name="T67" fmla="*/ 42 h 59"/>
              <a:gd name="T68" fmla="*/ 109 w 117"/>
              <a:gd name="T69" fmla="*/ 46 h 59"/>
              <a:gd name="T70" fmla="*/ 107 w 117"/>
              <a:gd name="T71" fmla="*/ 46 h 59"/>
              <a:gd name="T72" fmla="*/ 104 w 117"/>
              <a:gd name="T73" fmla="*/ 45 h 59"/>
              <a:gd name="T74" fmla="*/ 104 w 117"/>
              <a:gd name="T75" fmla="*/ 45 h 59"/>
              <a:gd name="T76" fmla="*/ 104 w 117"/>
              <a:gd name="T77" fmla="*/ 45 h 59"/>
              <a:gd name="T78" fmla="*/ 104 w 117"/>
              <a:gd name="T79" fmla="*/ 45 h 59"/>
              <a:gd name="T80" fmla="*/ 103 w 117"/>
              <a:gd name="T81" fmla="*/ 43 h 59"/>
              <a:gd name="T82" fmla="*/ 100 w 117"/>
              <a:gd name="T83" fmla="*/ 39 h 59"/>
              <a:gd name="T84" fmla="*/ 88 w 117"/>
              <a:gd name="T85" fmla="*/ 30 h 59"/>
              <a:gd name="T86" fmla="*/ 79 w 117"/>
              <a:gd name="T87" fmla="*/ 27 h 59"/>
              <a:gd name="T88" fmla="*/ 79 w 117"/>
              <a:gd name="T89" fmla="*/ 27 h 59"/>
              <a:gd name="T90" fmla="*/ 79 w 117"/>
              <a:gd name="T91" fmla="*/ 27 h 59"/>
              <a:gd name="T92" fmla="*/ 64 w 117"/>
              <a:gd name="T93" fmla="*/ 27 h 59"/>
              <a:gd name="T94" fmla="*/ 44 w 117"/>
              <a:gd name="T95" fmla="*/ 27 h 59"/>
              <a:gd name="T96" fmla="*/ 25 w 117"/>
              <a:gd name="T97" fmla="*/ 22 h 59"/>
              <a:gd name="T98" fmla="*/ 16 w 117"/>
              <a:gd name="T99" fmla="*/ 15 h 59"/>
              <a:gd name="T100" fmla="*/ 13 w 117"/>
              <a:gd name="T101" fmla="*/ 9 h 59"/>
              <a:gd name="T102" fmla="*/ 15 w 117"/>
              <a:gd name="T103" fmla="*/ 6 h 59"/>
              <a:gd name="T104" fmla="*/ 15 w 117"/>
              <a:gd name="T105" fmla="*/ 5 h 59"/>
              <a:gd name="T106" fmla="*/ 13 w 117"/>
              <a:gd name="T107" fmla="*/ 0 h 59"/>
              <a:gd name="T108" fmla="*/ 12 w 117"/>
              <a:gd name="T109"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7" h="59">
                <a:moveTo>
                  <a:pt x="12" y="0"/>
                </a:moveTo>
                <a:cubicBezTo>
                  <a:pt x="11" y="0"/>
                  <a:pt x="10" y="0"/>
                  <a:pt x="9" y="1"/>
                </a:cubicBezTo>
                <a:cubicBezTo>
                  <a:pt x="5" y="2"/>
                  <a:pt x="2" y="5"/>
                  <a:pt x="1" y="8"/>
                </a:cubicBezTo>
                <a:cubicBezTo>
                  <a:pt x="0" y="10"/>
                  <a:pt x="0" y="13"/>
                  <a:pt x="1" y="16"/>
                </a:cubicBezTo>
                <a:cubicBezTo>
                  <a:pt x="2" y="19"/>
                  <a:pt x="3" y="21"/>
                  <a:pt x="5" y="24"/>
                </a:cubicBezTo>
                <a:cubicBezTo>
                  <a:pt x="10" y="30"/>
                  <a:pt x="18" y="34"/>
                  <a:pt x="27" y="37"/>
                </a:cubicBezTo>
                <a:cubicBezTo>
                  <a:pt x="28" y="37"/>
                  <a:pt x="28" y="37"/>
                  <a:pt x="28" y="37"/>
                </a:cubicBezTo>
                <a:cubicBezTo>
                  <a:pt x="32" y="37"/>
                  <a:pt x="36" y="37"/>
                  <a:pt x="39" y="39"/>
                </a:cubicBezTo>
                <a:cubicBezTo>
                  <a:pt x="47" y="40"/>
                  <a:pt x="54" y="40"/>
                  <a:pt x="61" y="40"/>
                </a:cubicBezTo>
                <a:cubicBezTo>
                  <a:pt x="64" y="40"/>
                  <a:pt x="68" y="40"/>
                  <a:pt x="71" y="40"/>
                </a:cubicBezTo>
                <a:cubicBezTo>
                  <a:pt x="73" y="40"/>
                  <a:pt x="74" y="40"/>
                  <a:pt x="76" y="40"/>
                </a:cubicBezTo>
                <a:cubicBezTo>
                  <a:pt x="82" y="40"/>
                  <a:pt x="90" y="48"/>
                  <a:pt x="94" y="54"/>
                </a:cubicBezTo>
                <a:cubicBezTo>
                  <a:pt x="96" y="57"/>
                  <a:pt x="100" y="59"/>
                  <a:pt x="104" y="59"/>
                </a:cubicBezTo>
                <a:cubicBezTo>
                  <a:pt x="106" y="59"/>
                  <a:pt x="108" y="58"/>
                  <a:pt x="111" y="57"/>
                </a:cubicBezTo>
                <a:cubicBezTo>
                  <a:pt x="116" y="53"/>
                  <a:pt x="117" y="46"/>
                  <a:pt x="114" y="40"/>
                </a:cubicBezTo>
                <a:cubicBezTo>
                  <a:pt x="113" y="39"/>
                  <a:pt x="105" y="29"/>
                  <a:pt x="95" y="22"/>
                </a:cubicBezTo>
                <a:cubicBezTo>
                  <a:pt x="91" y="21"/>
                  <a:pt x="88" y="19"/>
                  <a:pt x="85" y="17"/>
                </a:cubicBezTo>
                <a:cubicBezTo>
                  <a:pt x="82" y="17"/>
                  <a:pt x="79" y="16"/>
                  <a:pt x="76" y="16"/>
                </a:cubicBezTo>
                <a:cubicBezTo>
                  <a:pt x="74" y="16"/>
                  <a:pt x="72" y="16"/>
                  <a:pt x="70" y="16"/>
                </a:cubicBezTo>
                <a:cubicBezTo>
                  <a:pt x="68" y="16"/>
                  <a:pt x="66" y="16"/>
                  <a:pt x="64" y="16"/>
                </a:cubicBezTo>
                <a:cubicBezTo>
                  <a:pt x="37" y="16"/>
                  <a:pt x="28" y="13"/>
                  <a:pt x="25" y="10"/>
                </a:cubicBezTo>
                <a:cubicBezTo>
                  <a:pt x="25" y="10"/>
                  <a:pt x="25" y="10"/>
                  <a:pt x="24" y="10"/>
                </a:cubicBezTo>
                <a:cubicBezTo>
                  <a:pt x="24" y="10"/>
                  <a:pt x="23" y="10"/>
                  <a:pt x="23" y="10"/>
                </a:cubicBezTo>
                <a:cubicBezTo>
                  <a:pt x="21" y="10"/>
                  <a:pt x="20" y="10"/>
                  <a:pt x="19" y="9"/>
                </a:cubicBezTo>
                <a:cubicBezTo>
                  <a:pt x="19" y="10"/>
                  <a:pt x="20" y="11"/>
                  <a:pt x="20" y="11"/>
                </a:cubicBezTo>
                <a:cubicBezTo>
                  <a:pt x="21" y="12"/>
                  <a:pt x="23" y="14"/>
                  <a:pt x="24" y="14"/>
                </a:cubicBezTo>
                <a:cubicBezTo>
                  <a:pt x="27" y="16"/>
                  <a:pt x="31" y="18"/>
                  <a:pt x="35" y="19"/>
                </a:cubicBezTo>
                <a:cubicBezTo>
                  <a:pt x="44" y="21"/>
                  <a:pt x="55" y="22"/>
                  <a:pt x="64" y="22"/>
                </a:cubicBezTo>
                <a:cubicBezTo>
                  <a:pt x="64" y="22"/>
                  <a:pt x="64" y="22"/>
                  <a:pt x="64" y="22"/>
                </a:cubicBezTo>
                <a:cubicBezTo>
                  <a:pt x="70" y="22"/>
                  <a:pt x="75" y="21"/>
                  <a:pt x="79" y="21"/>
                </a:cubicBezTo>
                <a:cubicBezTo>
                  <a:pt x="83" y="21"/>
                  <a:pt x="87" y="23"/>
                  <a:pt x="91" y="25"/>
                </a:cubicBezTo>
                <a:cubicBezTo>
                  <a:pt x="95" y="27"/>
                  <a:pt x="98" y="29"/>
                  <a:pt x="101" y="32"/>
                </a:cubicBezTo>
                <a:cubicBezTo>
                  <a:pt x="106" y="37"/>
                  <a:pt x="109" y="41"/>
                  <a:pt x="109" y="42"/>
                </a:cubicBezTo>
                <a:cubicBezTo>
                  <a:pt x="109" y="42"/>
                  <a:pt x="109" y="42"/>
                  <a:pt x="109" y="42"/>
                </a:cubicBezTo>
                <a:cubicBezTo>
                  <a:pt x="110" y="43"/>
                  <a:pt x="110" y="45"/>
                  <a:pt x="109" y="46"/>
                </a:cubicBezTo>
                <a:cubicBezTo>
                  <a:pt x="108" y="46"/>
                  <a:pt x="108" y="46"/>
                  <a:pt x="107" y="46"/>
                </a:cubicBezTo>
                <a:cubicBezTo>
                  <a:pt x="106" y="46"/>
                  <a:pt x="105" y="46"/>
                  <a:pt x="104" y="45"/>
                </a:cubicBezTo>
                <a:cubicBezTo>
                  <a:pt x="104" y="45"/>
                  <a:pt x="104" y="45"/>
                  <a:pt x="104" y="45"/>
                </a:cubicBezTo>
                <a:cubicBezTo>
                  <a:pt x="104" y="45"/>
                  <a:pt x="104" y="45"/>
                  <a:pt x="104" y="45"/>
                </a:cubicBezTo>
                <a:cubicBezTo>
                  <a:pt x="104" y="45"/>
                  <a:pt x="104" y="45"/>
                  <a:pt x="104" y="45"/>
                </a:cubicBezTo>
                <a:cubicBezTo>
                  <a:pt x="104" y="44"/>
                  <a:pt x="104" y="44"/>
                  <a:pt x="103" y="43"/>
                </a:cubicBezTo>
                <a:cubicBezTo>
                  <a:pt x="102" y="42"/>
                  <a:pt x="101" y="41"/>
                  <a:pt x="100" y="39"/>
                </a:cubicBezTo>
                <a:cubicBezTo>
                  <a:pt x="97" y="36"/>
                  <a:pt x="93" y="32"/>
                  <a:pt x="88" y="30"/>
                </a:cubicBezTo>
                <a:cubicBezTo>
                  <a:pt x="85" y="28"/>
                  <a:pt x="82" y="27"/>
                  <a:pt x="79" y="27"/>
                </a:cubicBezTo>
                <a:cubicBezTo>
                  <a:pt x="79" y="27"/>
                  <a:pt x="79" y="27"/>
                  <a:pt x="79" y="27"/>
                </a:cubicBezTo>
                <a:cubicBezTo>
                  <a:pt x="79" y="27"/>
                  <a:pt x="79" y="27"/>
                  <a:pt x="79" y="27"/>
                </a:cubicBezTo>
                <a:cubicBezTo>
                  <a:pt x="76" y="27"/>
                  <a:pt x="70" y="27"/>
                  <a:pt x="64" y="27"/>
                </a:cubicBezTo>
                <a:cubicBezTo>
                  <a:pt x="58" y="27"/>
                  <a:pt x="51" y="27"/>
                  <a:pt x="44" y="27"/>
                </a:cubicBezTo>
                <a:cubicBezTo>
                  <a:pt x="38" y="26"/>
                  <a:pt x="31" y="24"/>
                  <a:pt x="25" y="22"/>
                </a:cubicBezTo>
                <a:cubicBezTo>
                  <a:pt x="22" y="20"/>
                  <a:pt x="18" y="18"/>
                  <a:pt x="16" y="15"/>
                </a:cubicBezTo>
                <a:cubicBezTo>
                  <a:pt x="14" y="13"/>
                  <a:pt x="13" y="11"/>
                  <a:pt x="13" y="9"/>
                </a:cubicBezTo>
                <a:cubicBezTo>
                  <a:pt x="12" y="8"/>
                  <a:pt x="13" y="6"/>
                  <a:pt x="15" y="6"/>
                </a:cubicBezTo>
                <a:cubicBezTo>
                  <a:pt x="15" y="6"/>
                  <a:pt x="15" y="5"/>
                  <a:pt x="15" y="5"/>
                </a:cubicBezTo>
                <a:cubicBezTo>
                  <a:pt x="14" y="4"/>
                  <a:pt x="13" y="2"/>
                  <a:pt x="13" y="0"/>
                </a:cubicBezTo>
                <a:cubicBezTo>
                  <a:pt x="13" y="0"/>
                  <a:pt x="12" y="0"/>
                  <a:pt x="12"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7" name="Freeform 42"/>
          <p:cNvSpPr>
            <a:spLocks/>
          </p:cNvSpPr>
          <p:nvPr/>
        </p:nvSpPr>
        <p:spPr bwMode="auto">
          <a:xfrm>
            <a:off x="3584576" y="5561013"/>
            <a:ext cx="6350" cy="6350"/>
          </a:xfrm>
          <a:custGeom>
            <a:avLst/>
            <a:gdLst>
              <a:gd name="T0" fmla="*/ 0 w 4"/>
              <a:gd name="T1" fmla="*/ 0 h 4"/>
              <a:gd name="T2" fmla="*/ 3 w 4"/>
              <a:gd name="T3" fmla="*/ 4 h 4"/>
              <a:gd name="T4" fmla="*/ 4 w 4"/>
              <a:gd name="T5" fmla="*/ 2 h 4"/>
              <a:gd name="T6" fmla="*/ 0 w 4"/>
              <a:gd name="T7" fmla="*/ 0 h 4"/>
            </a:gdLst>
            <a:ahLst/>
            <a:cxnLst>
              <a:cxn ang="0">
                <a:pos x="T0" y="T1"/>
              </a:cxn>
              <a:cxn ang="0">
                <a:pos x="T2" y="T3"/>
              </a:cxn>
              <a:cxn ang="0">
                <a:pos x="T4" y="T5"/>
              </a:cxn>
              <a:cxn ang="0">
                <a:pos x="T6" y="T7"/>
              </a:cxn>
            </a:cxnLst>
            <a:rect l="0" t="0" r="r" b="b"/>
            <a:pathLst>
              <a:path w="4" h="4">
                <a:moveTo>
                  <a:pt x="0" y="0"/>
                </a:moveTo>
                <a:cubicBezTo>
                  <a:pt x="1" y="2"/>
                  <a:pt x="2" y="3"/>
                  <a:pt x="3" y="4"/>
                </a:cubicBezTo>
                <a:cubicBezTo>
                  <a:pt x="3" y="4"/>
                  <a:pt x="4" y="3"/>
                  <a:pt x="4" y="2"/>
                </a:cubicBezTo>
                <a:cubicBezTo>
                  <a:pt x="2" y="1"/>
                  <a:pt x="0" y="0"/>
                  <a:pt x="0" y="0"/>
                </a:cubicBezTo>
              </a:path>
            </a:pathLst>
          </a:custGeom>
          <a:solidFill>
            <a:srgbClr val="DA81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8" name="Freeform 43"/>
          <p:cNvSpPr>
            <a:spLocks/>
          </p:cNvSpPr>
          <p:nvPr/>
        </p:nvSpPr>
        <p:spPr bwMode="auto">
          <a:xfrm>
            <a:off x="3309938" y="5399088"/>
            <a:ext cx="287338" cy="182562"/>
          </a:xfrm>
          <a:custGeom>
            <a:avLst/>
            <a:gdLst>
              <a:gd name="T0" fmla="*/ 71 w 169"/>
              <a:gd name="T1" fmla="*/ 8 h 108"/>
              <a:gd name="T2" fmla="*/ 95 w 169"/>
              <a:gd name="T3" fmla="*/ 38 h 108"/>
              <a:gd name="T4" fmla="*/ 138 w 169"/>
              <a:gd name="T5" fmla="*/ 65 h 108"/>
              <a:gd name="T6" fmla="*/ 131 w 169"/>
              <a:gd name="T7" fmla="*/ 81 h 108"/>
              <a:gd name="T8" fmla="*/ 113 w 169"/>
              <a:gd name="T9" fmla="*/ 84 h 108"/>
              <a:gd name="T10" fmla="*/ 39 w 169"/>
              <a:gd name="T11" fmla="*/ 55 h 108"/>
              <a:gd name="T12" fmla="*/ 27 w 169"/>
              <a:gd name="T13" fmla="*/ 53 h 108"/>
              <a:gd name="T14" fmla="*/ 3 w 169"/>
              <a:gd name="T15" fmla="*/ 75 h 108"/>
              <a:gd name="T16" fmla="*/ 19 w 169"/>
              <a:gd name="T17" fmla="*/ 79 h 108"/>
              <a:gd name="T18" fmla="*/ 30 w 169"/>
              <a:gd name="T19" fmla="*/ 77 h 108"/>
              <a:gd name="T20" fmla="*/ 111 w 169"/>
              <a:gd name="T21" fmla="*/ 108 h 108"/>
              <a:gd name="T22" fmla="*/ 118 w 169"/>
              <a:gd name="T23" fmla="*/ 105 h 108"/>
              <a:gd name="T24" fmla="*/ 137 w 169"/>
              <a:gd name="T25" fmla="*/ 104 h 108"/>
              <a:gd name="T26" fmla="*/ 146 w 169"/>
              <a:gd name="T27" fmla="*/ 102 h 108"/>
              <a:gd name="T28" fmla="*/ 156 w 169"/>
              <a:gd name="T29" fmla="*/ 104 h 108"/>
              <a:gd name="T30" fmla="*/ 161 w 169"/>
              <a:gd name="T31" fmla="*/ 95 h 108"/>
              <a:gd name="T32" fmla="*/ 166 w 169"/>
              <a:gd name="T33" fmla="*/ 94 h 108"/>
              <a:gd name="T34" fmla="*/ 106 w 169"/>
              <a:gd name="T35" fmla="*/ 16 h 108"/>
              <a:gd name="T36" fmla="*/ 89 w 169"/>
              <a:gd name="T37" fmla="*/ 8 h 108"/>
              <a:gd name="T38" fmla="*/ 93 w 169"/>
              <a:gd name="T39" fmla="*/ 15 h 108"/>
              <a:gd name="T40" fmla="*/ 119 w 169"/>
              <a:gd name="T41" fmla="*/ 26 h 108"/>
              <a:gd name="T42" fmla="*/ 152 w 169"/>
              <a:gd name="T43" fmla="*/ 51 h 108"/>
              <a:gd name="T44" fmla="*/ 159 w 169"/>
              <a:gd name="T45" fmla="*/ 66 h 108"/>
              <a:gd name="T46" fmla="*/ 161 w 169"/>
              <a:gd name="T47" fmla="*/ 85 h 108"/>
              <a:gd name="T48" fmla="*/ 160 w 169"/>
              <a:gd name="T49" fmla="*/ 90 h 108"/>
              <a:gd name="T50" fmla="*/ 157 w 169"/>
              <a:gd name="T51" fmla="*/ 92 h 108"/>
              <a:gd name="T52" fmla="*/ 155 w 169"/>
              <a:gd name="T53" fmla="*/ 91 h 108"/>
              <a:gd name="T54" fmla="*/ 152 w 169"/>
              <a:gd name="T55" fmla="*/ 89 h 108"/>
              <a:gd name="T56" fmla="*/ 150 w 169"/>
              <a:gd name="T57" fmla="*/ 89 h 108"/>
              <a:gd name="T58" fmla="*/ 144 w 169"/>
              <a:gd name="T59" fmla="*/ 90 h 108"/>
              <a:gd name="T60" fmla="*/ 118 w 169"/>
              <a:gd name="T61" fmla="*/ 95 h 108"/>
              <a:gd name="T62" fmla="*/ 109 w 169"/>
              <a:gd name="T63" fmla="*/ 94 h 108"/>
              <a:gd name="T64" fmla="*/ 80 w 169"/>
              <a:gd name="T65" fmla="*/ 85 h 108"/>
              <a:gd name="T66" fmla="*/ 38 w 169"/>
              <a:gd name="T67" fmla="*/ 66 h 108"/>
              <a:gd name="T68" fmla="*/ 31 w 169"/>
              <a:gd name="T69" fmla="*/ 64 h 108"/>
              <a:gd name="T70" fmla="*/ 22 w 169"/>
              <a:gd name="T71" fmla="*/ 66 h 108"/>
              <a:gd name="T72" fmla="*/ 18 w 169"/>
              <a:gd name="T73" fmla="*/ 68 h 108"/>
              <a:gd name="T74" fmla="*/ 14 w 169"/>
              <a:gd name="T75" fmla="*/ 67 h 108"/>
              <a:gd name="T76" fmla="*/ 20 w 169"/>
              <a:gd name="T77" fmla="*/ 60 h 108"/>
              <a:gd name="T78" fmla="*/ 31 w 169"/>
              <a:gd name="T79" fmla="*/ 58 h 108"/>
              <a:gd name="T80" fmla="*/ 41 w 169"/>
              <a:gd name="T81" fmla="*/ 61 h 108"/>
              <a:gd name="T82" fmla="*/ 41 w 169"/>
              <a:gd name="T83" fmla="*/ 61 h 108"/>
              <a:gd name="T84" fmla="*/ 48 w 169"/>
              <a:gd name="T85" fmla="*/ 65 h 108"/>
              <a:gd name="T86" fmla="*/ 91 w 169"/>
              <a:gd name="T87" fmla="*/ 83 h 108"/>
              <a:gd name="T88" fmla="*/ 117 w 169"/>
              <a:gd name="T89" fmla="*/ 89 h 108"/>
              <a:gd name="T90" fmla="*/ 118 w 169"/>
              <a:gd name="T91" fmla="*/ 89 h 108"/>
              <a:gd name="T92" fmla="*/ 143 w 169"/>
              <a:gd name="T93" fmla="*/ 84 h 108"/>
              <a:gd name="T94" fmla="*/ 154 w 169"/>
              <a:gd name="T95" fmla="*/ 84 h 108"/>
              <a:gd name="T96" fmla="*/ 156 w 169"/>
              <a:gd name="T97" fmla="*/ 82 h 108"/>
              <a:gd name="T98" fmla="*/ 151 w 169"/>
              <a:gd name="T99" fmla="*/ 60 h 108"/>
              <a:gd name="T100" fmla="*/ 117 w 169"/>
              <a:gd name="T101" fmla="*/ 31 h 108"/>
              <a:gd name="T102" fmla="*/ 93 w 169"/>
              <a:gd name="T103" fmla="*/ 22 h 108"/>
              <a:gd name="T104" fmla="*/ 83 w 169"/>
              <a:gd name="T105" fmla="*/ 7 h 108"/>
              <a:gd name="T106" fmla="*/ 83 w 169"/>
              <a:gd name="T107" fmla="*/ 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9" h="108">
                <a:moveTo>
                  <a:pt x="75" y="0"/>
                </a:moveTo>
                <a:cubicBezTo>
                  <a:pt x="73" y="2"/>
                  <a:pt x="71" y="5"/>
                  <a:pt x="71" y="8"/>
                </a:cubicBezTo>
                <a:cubicBezTo>
                  <a:pt x="70" y="18"/>
                  <a:pt x="75" y="27"/>
                  <a:pt x="85" y="33"/>
                </a:cubicBezTo>
                <a:cubicBezTo>
                  <a:pt x="88" y="35"/>
                  <a:pt x="91" y="37"/>
                  <a:pt x="95" y="38"/>
                </a:cubicBezTo>
                <a:cubicBezTo>
                  <a:pt x="97" y="39"/>
                  <a:pt x="99" y="39"/>
                  <a:pt x="101" y="40"/>
                </a:cubicBezTo>
                <a:cubicBezTo>
                  <a:pt x="111" y="42"/>
                  <a:pt x="127" y="54"/>
                  <a:pt x="138" y="65"/>
                </a:cubicBezTo>
                <a:cubicBezTo>
                  <a:pt x="140" y="67"/>
                  <a:pt x="142" y="73"/>
                  <a:pt x="143" y="78"/>
                </a:cubicBezTo>
                <a:cubicBezTo>
                  <a:pt x="139" y="79"/>
                  <a:pt x="135" y="80"/>
                  <a:pt x="131" y="81"/>
                </a:cubicBezTo>
                <a:cubicBezTo>
                  <a:pt x="126" y="82"/>
                  <a:pt x="120" y="83"/>
                  <a:pt x="114" y="84"/>
                </a:cubicBezTo>
                <a:cubicBezTo>
                  <a:pt x="114" y="84"/>
                  <a:pt x="114" y="84"/>
                  <a:pt x="113" y="84"/>
                </a:cubicBezTo>
                <a:cubicBezTo>
                  <a:pt x="100" y="84"/>
                  <a:pt x="52" y="63"/>
                  <a:pt x="43" y="57"/>
                </a:cubicBezTo>
                <a:cubicBezTo>
                  <a:pt x="42" y="56"/>
                  <a:pt x="40" y="56"/>
                  <a:pt x="39" y="55"/>
                </a:cubicBezTo>
                <a:cubicBezTo>
                  <a:pt x="36" y="53"/>
                  <a:pt x="32" y="53"/>
                  <a:pt x="28" y="53"/>
                </a:cubicBezTo>
                <a:cubicBezTo>
                  <a:pt x="28" y="53"/>
                  <a:pt x="28" y="53"/>
                  <a:pt x="27" y="53"/>
                </a:cubicBezTo>
                <a:cubicBezTo>
                  <a:pt x="17" y="53"/>
                  <a:pt x="9" y="58"/>
                  <a:pt x="7" y="59"/>
                </a:cubicBezTo>
                <a:cubicBezTo>
                  <a:pt x="2" y="62"/>
                  <a:pt x="0" y="69"/>
                  <a:pt x="3" y="75"/>
                </a:cubicBezTo>
                <a:cubicBezTo>
                  <a:pt x="5" y="79"/>
                  <a:pt x="9" y="81"/>
                  <a:pt x="13" y="81"/>
                </a:cubicBezTo>
                <a:cubicBezTo>
                  <a:pt x="15" y="81"/>
                  <a:pt x="17" y="80"/>
                  <a:pt x="19" y="79"/>
                </a:cubicBezTo>
                <a:cubicBezTo>
                  <a:pt x="22" y="78"/>
                  <a:pt x="26" y="77"/>
                  <a:pt x="28" y="77"/>
                </a:cubicBezTo>
                <a:cubicBezTo>
                  <a:pt x="29" y="77"/>
                  <a:pt x="29" y="77"/>
                  <a:pt x="30" y="77"/>
                </a:cubicBezTo>
                <a:cubicBezTo>
                  <a:pt x="36" y="81"/>
                  <a:pt x="66" y="96"/>
                  <a:pt x="91" y="103"/>
                </a:cubicBezTo>
                <a:cubicBezTo>
                  <a:pt x="98" y="105"/>
                  <a:pt x="105" y="107"/>
                  <a:pt x="111" y="108"/>
                </a:cubicBezTo>
                <a:cubicBezTo>
                  <a:pt x="111" y="107"/>
                  <a:pt x="112" y="107"/>
                  <a:pt x="113" y="106"/>
                </a:cubicBezTo>
                <a:cubicBezTo>
                  <a:pt x="114" y="105"/>
                  <a:pt x="116" y="105"/>
                  <a:pt x="118" y="105"/>
                </a:cubicBezTo>
                <a:cubicBezTo>
                  <a:pt x="121" y="105"/>
                  <a:pt x="123" y="105"/>
                  <a:pt x="125" y="106"/>
                </a:cubicBezTo>
                <a:cubicBezTo>
                  <a:pt x="129" y="106"/>
                  <a:pt x="133" y="105"/>
                  <a:pt x="137" y="104"/>
                </a:cubicBezTo>
                <a:cubicBezTo>
                  <a:pt x="137" y="104"/>
                  <a:pt x="138" y="103"/>
                  <a:pt x="138" y="103"/>
                </a:cubicBezTo>
                <a:cubicBezTo>
                  <a:pt x="141" y="103"/>
                  <a:pt x="144" y="102"/>
                  <a:pt x="146" y="102"/>
                </a:cubicBezTo>
                <a:cubicBezTo>
                  <a:pt x="148" y="104"/>
                  <a:pt x="151" y="104"/>
                  <a:pt x="154" y="104"/>
                </a:cubicBezTo>
                <a:cubicBezTo>
                  <a:pt x="155" y="104"/>
                  <a:pt x="155" y="104"/>
                  <a:pt x="156" y="104"/>
                </a:cubicBezTo>
                <a:cubicBezTo>
                  <a:pt x="158" y="104"/>
                  <a:pt x="161" y="103"/>
                  <a:pt x="164" y="99"/>
                </a:cubicBezTo>
                <a:cubicBezTo>
                  <a:pt x="163" y="98"/>
                  <a:pt x="162" y="97"/>
                  <a:pt x="161" y="95"/>
                </a:cubicBezTo>
                <a:cubicBezTo>
                  <a:pt x="161" y="95"/>
                  <a:pt x="163" y="96"/>
                  <a:pt x="165" y="97"/>
                </a:cubicBezTo>
                <a:cubicBezTo>
                  <a:pt x="166" y="96"/>
                  <a:pt x="166" y="95"/>
                  <a:pt x="166" y="94"/>
                </a:cubicBezTo>
                <a:cubicBezTo>
                  <a:pt x="169" y="85"/>
                  <a:pt x="166" y="60"/>
                  <a:pt x="155" y="49"/>
                </a:cubicBezTo>
                <a:cubicBezTo>
                  <a:pt x="149" y="42"/>
                  <a:pt x="126" y="21"/>
                  <a:pt x="106" y="16"/>
                </a:cubicBezTo>
                <a:cubicBezTo>
                  <a:pt x="98" y="15"/>
                  <a:pt x="95" y="11"/>
                  <a:pt x="95" y="11"/>
                </a:cubicBezTo>
                <a:cubicBezTo>
                  <a:pt x="93" y="10"/>
                  <a:pt x="91" y="9"/>
                  <a:pt x="89" y="8"/>
                </a:cubicBezTo>
                <a:cubicBezTo>
                  <a:pt x="89" y="9"/>
                  <a:pt x="89" y="10"/>
                  <a:pt x="90" y="11"/>
                </a:cubicBezTo>
                <a:cubicBezTo>
                  <a:pt x="91" y="12"/>
                  <a:pt x="92" y="14"/>
                  <a:pt x="93" y="15"/>
                </a:cubicBezTo>
                <a:cubicBezTo>
                  <a:pt x="97" y="18"/>
                  <a:pt x="101" y="20"/>
                  <a:pt x="108" y="21"/>
                </a:cubicBezTo>
                <a:cubicBezTo>
                  <a:pt x="111" y="22"/>
                  <a:pt x="115" y="24"/>
                  <a:pt x="119" y="26"/>
                </a:cubicBezTo>
                <a:cubicBezTo>
                  <a:pt x="124" y="28"/>
                  <a:pt x="128" y="31"/>
                  <a:pt x="132" y="34"/>
                </a:cubicBezTo>
                <a:cubicBezTo>
                  <a:pt x="139" y="40"/>
                  <a:pt x="147" y="46"/>
                  <a:pt x="152" y="51"/>
                </a:cubicBezTo>
                <a:cubicBezTo>
                  <a:pt x="154" y="53"/>
                  <a:pt x="155" y="55"/>
                  <a:pt x="156" y="58"/>
                </a:cubicBezTo>
                <a:cubicBezTo>
                  <a:pt x="158" y="60"/>
                  <a:pt x="159" y="63"/>
                  <a:pt x="159" y="66"/>
                </a:cubicBezTo>
                <a:cubicBezTo>
                  <a:pt x="161" y="72"/>
                  <a:pt x="162" y="78"/>
                  <a:pt x="162" y="82"/>
                </a:cubicBezTo>
                <a:cubicBezTo>
                  <a:pt x="162" y="83"/>
                  <a:pt x="161" y="84"/>
                  <a:pt x="161" y="85"/>
                </a:cubicBezTo>
                <a:cubicBezTo>
                  <a:pt x="161" y="87"/>
                  <a:pt x="161" y="87"/>
                  <a:pt x="161" y="88"/>
                </a:cubicBezTo>
                <a:cubicBezTo>
                  <a:pt x="161" y="89"/>
                  <a:pt x="160" y="90"/>
                  <a:pt x="160" y="90"/>
                </a:cubicBezTo>
                <a:cubicBezTo>
                  <a:pt x="160" y="91"/>
                  <a:pt x="159" y="91"/>
                  <a:pt x="159" y="91"/>
                </a:cubicBezTo>
                <a:cubicBezTo>
                  <a:pt x="158" y="92"/>
                  <a:pt x="158" y="92"/>
                  <a:pt x="157" y="92"/>
                </a:cubicBezTo>
                <a:cubicBezTo>
                  <a:pt x="157" y="92"/>
                  <a:pt x="157" y="92"/>
                  <a:pt x="157" y="92"/>
                </a:cubicBezTo>
                <a:cubicBezTo>
                  <a:pt x="156" y="92"/>
                  <a:pt x="155" y="91"/>
                  <a:pt x="155" y="91"/>
                </a:cubicBezTo>
                <a:cubicBezTo>
                  <a:pt x="154" y="91"/>
                  <a:pt x="154" y="90"/>
                  <a:pt x="153" y="90"/>
                </a:cubicBezTo>
                <a:cubicBezTo>
                  <a:pt x="153" y="90"/>
                  <a:pt x="153" y="89"/>
                  <a:pt x="152" y="89"/>
                </a:cubicBezTo>
                <a:cubicBezTo>
                  <a:pt x="152" y="89"/>
                  <a:pt x="151" y="89"/>
                  <a:pt x="150" y="89"/>
                </a:cubicBezTo>
                <a:cubicBezTo>
                  <a:pt x="150" y="89"/>
                  <a:pt x="150" y="89"/>
                  <a:pt x="150" y="89"/>
                </a:cubicBezTo>
                <a:cubicBezTo>
                  <a:pt x="150" y="89"/>
                  <a:pt x="150" y="89"/>
                  <a:pt x="150" y="89"/>
                </a:cubicBezTo>
                <a:cubicBezTo>
                  <a:pt x="149" y="89"/>
                  <a:pt x="147" y="89"/>
                  <a:pt x="144" y="90"/>
                </a:cubicBezTo>
                <a:cubicBezTo>
                  <a:pt x="142" y="90"/>
                  <a:pt x="140" y="91"/>
                  <a:pt x="137" y="92"/>
                </a:cubicBezTo>
                <a:cubicBezTo>
                  <a:pt x="131" y="93"/>
                  <a:pt x="125" y="95"/>
                  <a:pt x="118" y="95"/>
                </a:cubicBezTo>
                <a:cubicBezTo>
                  <a:pt x="118" y="95"/>
                  <a:pt x="117" y="95"/>
                  <a:pt x="117" y="95"/>
                </a:cubicBezTo>
                <a:cubicBezTo>
                  <a:pt x="115" y="95"/>
                  <a:pt x="112" y="95"/>
                  <a:pt x="109" y="94"/>
                </a:cubicBezTo>
                <a:cubicBezTo>
                  <a:pt x="106" y="94"/>
                  <a:pt x="103" y="93"/>
                  <a:pt x="100" y="92"/>
                </a:cubicBezTo>
                <a:cubicBezTo>
                  <a:pt x="94" y="90"/>
                  <a:pt x="87" y="88"/>
                  <a:pt x="80" y="85"/>
                </a:cubicBezTo>
                <a:cubicBezTo>
                  <a:pt x="65" y="80"/>
                  <a:pt x="51" y="73"/>
                  <a:pt x="43" y="69"/>
                </a:cubicBezTo>
                <a:cubicBezTo>
                  <a:pt x="41" y="68"/>
                  <a:pt x="39" y="67"/>
                  <a:pt x="38" y="66"/>
                </a:cubicBezTo>
                <a:cubicBezTo>
                  <a:pt x="38" y="66"/>
                  <a:pt x="38" y="66"/>
                  <a:pt x="38" y="66"/>
                </a:cubicBezTo>
                <a:cubicBezTo>
                  <a:pt x="36" y="64"/>
                  <a:pt x="34" y="64"/>
                  <a:pt x="31" y="64"/>
                </a:cubicBezTo>
                <a:cubicBezTo>
                  <a:pt x="31" y="64"/>
                  <a:pt x="31" y="64"/>
                  <a:pt x="31" y="64"/>
                </a:cubicBezTo>
                <a:cubicBezTo>
                  <a:pt x="28" y="64"/>
                  <a:pt x="25" y="65"/>
                  <a:pt x="22" y="66"/>
                </a:cubicBezTo>
                <a:cubicBezTo>
                  <a:pt x="20" y="67"/>
                  <a:pt x="18" y="68"/>
                  <a:pt x="18" y="68"/>
                </a:cubicBezTo>
                <a:cubicBezTo>
                  <a:pt x="18" y="68"/>
                  <a:pt x="18" y="68"/>
                  <a:pt x="18" y="68"/>
                </a:cubicBezTo>
                <a:cubicBezTo>
                  <a:pt x="17" y="68"/>
                  <a:pt x="17" y="68"/>
                  <a:pt x="16" y="68"/>
                </a:cubicBezTo>
                <a:cubicBezTo>
                  <a:pt x="15" y="68"/>
                  <a:pt x="14" y="68"/>
                  <a:pt x="14" y="67"/>
                </a:cubicBezTo>
                <a:cubicBezTo>
                  <a:pt x="13" y="65"/>
                  <a:pt x="13" y="63"/>
                  <a:pt x="15" y="63"/>
                </a:cubicBezTo>
                <a:cubicBezTo>
                  <a:pt x="15" y="63"/>
                  <a:pt x="17" y="61"/>
                  <a:pt x="20" y="60"/>
                </a:cubicBezTo>
                <a:cubicBezTo>
                  <a:pt x="23" y="59"/>
                  <a:pt x="27" y="58"/>
                  <a:pt x="31" y="58"/>
                </a:cubicBezTo>
                <a:cubicBezTo>
                  <a:pt x="31" y="58"/>
                  <a:pt x="31" y="58"/>
                  <a:pt x="31" y="58"/>
                </a:cubicBezTo>
                <a:cubicBezTo>
                  <a:pt x="34" y="58"/>
                  <a:pt x="38" y="59"/>
                  <a:pt x="41" y="61"/>
                </a:cubicBezTo>
                <a:cubicBezTo>
                  <a:pt x="41" y="61"/>
                  <a:pt x="41" y="61"/>
                  <a:pt x="41" y="61"/>
                </a:cubicBezTo>
                <a:cubicBezTo>
                  <a:pt x="41" y="61"/>
                  <a:pt x="41" y="61"/>
                  <a:pt x="41" y="61"/>
                </a:cubicBezTo>
                <a:cubicBezTo>
                  <a:pt x="41" y="61"/>
                  <a:pt x="41" y="61"/>
                  <a:pt x="41" y="61"/>
                </a:cubicBezTo>
                <a:cubicBezTo>
                  <a:pt x="42" y="61"/>
                  <a:pt x="42" y="62"/>
                  <a:pt x="44" y="62"/>
                </a:cubicBezTo>
                <a:cubicBezTo>
                  <a:pt x="45" y="63"/>
                  <a:pt x="46" y="64"/>
                  <a:pt x="48" y="65"/>
                </a:cubicBezTo>
                <a:cubicBezTo>
                  <a:pt x="51" y="66"/>
                  <a:pt x="55" y="68"/>
                  <a:pt x="60" y="70"/>
                </a:cubicBezTo>
                <a:cubicBezTo>
                  <a:pt x="69" y="75"/>
                  <a:pt x="80" y="79"/>
                  <a:pt x="91" y="83"/>
                </a:cubicBezTo>
                <a:cubicBezTo>
                  <a:pt x="97" y="85"/>
                  <a:pt x="104" y="87"/>
                  <a:pt x="109" y="88"/>
                </a:cubicBezTo>
                <a:cubicBezTo>
                  <a:pt x="112" y="89"/>
                  <a:pt x="115" y="89"/>
                  <a:pt x="117" y="89"/>
                </a:cubicBezTo>
                <a:cubicBezTo>
                  <a:pt x="117" y="89"/>
                  <a:pt x="117" y="89"/>
                  <a:pt x="117" y="89"/>
                </a:cubicBezTo>
                <a:cubicBezTo>
                  <a:pt x="117" y="89"/>
                  <a:pt x="117" y="89"/>
                  <a:pt x="118" y="89"/>
                </a:cubicBezTo>
                <a:cubicBezTo>
                  <a:pt x="122" y="89"/>
                  <a:pt x="127" y="88"/>
                  <a:pt x="131" y="87"/>
                </a:cubicBezTo>
                <a:cubicBezTo>
                  <a:pt x="135" y="86"/>
                  <a:pt x="139" y="85"/>
                  <a:pt x="143" y="84"/>
                </a:cubicBezTo>
                <a:cubicBezTo>
                  <a:pt x="146" y="83"/>
                  <a:pt x="148" y="83"/>
                  <a:pt x="150" y="83"/>
                </a:cubicBezTo>
                <a:cubicBezTo>
                  <a:pt x="152" y="83"/>
                  <a:pt x="153" y="83"/>
                  <a:pt x="154" y="84"/>
                </a:cubicBezTo>
                <a:cubicBezTo>
                  <a:pt x="155" y="84"/>
                  <a:pt x="155" y="84"/>
                  <a:pt x="156" y="84"/>
                </a:cubicBezTo>
                <a:cubicBezTo>
                  <a:pt x="156" y="84"/>
                  <a:pt x="156" y="83"/>
                  <a:pt x="156" y="82"/>
                </a:cubicBezTo>
                <a:cubicBezTo>
                  <a:pt x="156" y="79"/>
                  <a:pt x="155" y="75"/>
                  <a:pt x="154" y="71"/>
                </a:cubicBezTo>
                <a:cubicBezTo>
                  <a:pt x="154" y="68"/>
                  <a:pt x="153" y="64"/>
                  <a:pt x="151" y="60"/>
                </a:cubicBezTo>
                <a:cubicBezTo>
                  <a:pt x="150" y="58"/>
                  <a:pt x="149" y="57"/>
                  <a:pt x="148" y="55"/>
                </a:cubicBezTo>
                <a:cubicBezTo>
                  <a:pt x="140" y="48"/>
                  <a:pt x="128" y="37"/>
                  <a:pt x="117" y="31"/>
                </a:cubicBezTo>
                <a:cubicBezTo>
                  <a:pt x="113" y="29"/>
                  <a:pt x="109" y="28"/>
                  <a:pt x="106" y="27"/>
                </a:cubicBezTo>
                <a:cubicBezTo>
                  <a:pt x="101" y="26"/>
                  <a:pt x="97" y="24"/>
                  <a:pt x="93" y="22"/>
                </a:cubicBezTo>
                <a:cubicBezTo>
                  <a:pt x="89" y="20"/>
                  <a:pt x="86" y="17"/>
                  <a:pt x="85" y="14"/>
                </a:cubicBezTo>
                <a:cubicBezTo>
                  <a:pt x="84" y="12"/>
                  <a:pt x="83" y="9"/>
                  <a:pt x="83" y="7"/>
                </a:cubicBezTo>
                <a:cubicBezTo>
                  <a:pt x="83" y="6"/>
                  <a:pt x="83" y="6"/>
                  <a:pt x="83" y="5"/>
                </a:cubicBezTo>
                <a:cubicBezTo>
                  <a:pt x="83" y="5"/>
                  <a:pt x="83" y="5"/>
                  <a:pt x="83" y="5"/>
                </a:cubicBezTo>
                <a:cubicBezTo>
                  <a:pt x="80" y="3"/>
                  <a:pt x="78" y="2"/>
                  <a:pt x="75"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9" name="Freeform 44"/>
          <p:cNvSpPr>
            <a:spLocks/>
          </p:cNvSpPr>
          <p:nvPr/>
        </p:nvSpPr>
        <p:spPr bwMode="auto">
          <a:xfrm>
            <a:off x="3541713" y="5411788"/>
            <a:ext cx="128588" cy="161925"/>
          </a:xfrm>
          <a:custGeom>
            <a:avLst/>
            <a:gdLst>
              <a:gd name="T0" fmla="*/ 14 w 76"/>
              <a:gd name="T1" fmla="*/ 0 h 96"/>
              <a:gd name="T2" fmla="*/ 14 w 76"/>
              <a:gd name="T3" fmla="*/ 3 h 96"/>
              <a:gd name="T4" fmla="*/ 7 w 76"/>
              <a:gd name="T5" fmla="*/ 6 h 96"/>
              <a:gd name="T6" fmla="*/ 2 w 76"/>
              <a:gd name="T7" fmla="*/ 8 h 96"/>
              <a:gd name="T8" fmla="*/ 9 w 76"/>
              <a:gd name="T9" fmla="*/ 23 h 96"/>
              <a:gd name="T10" fmla="*/ 52 w 76"/>
              <a:gd name="T11" fmla="*/ 60 h 96"/>
              <a:gd name="T12" fmla="*/ 51 w 76"/>
              <a:gd name="T13" fmla="*/ 84 h 96"/>
              <a:gd name="T14" fmla="*/ 63 w 76"/>
              <a:gd name="T15" fmla="*/ 96 h 96"/>
              <a:gd name="T16" fmla="*/ 64 w 76"/>
              <a:gd name="T17" fmla="*/ 96 h 96"/>
              <a:gd name="T18" fmla="*/ 75 w 76"/>
              <a:gd name="T19" fmla="*/ 83 h 96"/>
              <a:gd name="T20" fmla="*/ 75 w 76"/>
              <a:gd name="T21" fmla="*/ 64 h 96"/>
              <a:gd name="T22" fmla="*/ 72 w 76"/>
              <a:gd name="T23" fmla="*/ 65 h 96"/>
              <a:gd name="T24" fmla="*/ 69 w 76"/>
              <a:gd name="T25" fmla="*/ 67 h 96"/>
              <a:gd name="T26" fmla="*/ 69 w 76"/>
              <a:gd name="T27" fmla="*/ 70 h 96"/>
              <a:gd name="T28" fmla="*/ 69 w 76"/>
              <a:gd name="T29" fmla="*/ 80 h 96"/>
              <a:gd name="T30" fmla="*/ 69 w 76"/>
              <a:gd name="T31" fmla="*/ 80 h 96"/>
              <a:gd name="T32" fmla="*/ 67 w 76"/>
              <a:gd name="T33" fmla="*/ 83 h 96"/>
              <a:gd name="T34" fmla="*/ 66 w 76"/>
              <a:gd name="T35" fmla="*/ 83 h 96"/>
              <a:gd name="T36" fmla="*/ 63 w 76"/>
              <a:gd name="T37" fmla="*/ 80 h 96"/>
              <a:gd name="T38" fmla="*/ 63 w 76"/>
              <a:gd name="T39" fmla="*/ 70 h 96"/>
              <a:gd name="T40" fmla="*/ 63 w 76"/>
              <a:gd name="T41" fmla="*/ 68 h 96"/>
              <a:gd name="T42" fmla="*/ 55 w 76"/>
              <a:gd name="T43" fmla="*/ 64 h 96"/>
              <a:gd name="T44" fmla="*/ 56 w 76"/>
              <a:gd name="T45" fmla="*/ 47 h 96"/>
              <a:gd name="T46" fmla="*/ 58 w 76"/>
              <a:gd name="T47" fmla="*/ 46 h 96"/>
              <a:gd name="T48" fmla="*/ 55 w 76"/>
              <a:gd name="T49" fmla="*/ 43 h 96"/>
              <a:gd name="T50" fmla="*/ 32 w 76"/>
              <a:gd name="T51" fmla="*/ 22 h 96"/>
              <a:gd name="T52" fmla="*/ 15 w 76"/>
              <a:gd name="T53" fmla="*/ 11 h 96"/>
              <a:gd name="T54" fmla="*/ 14 w 76"/>
              <a:gd name="T55" fmla="*/ 7 h 96"/>
              <a:gd name="T56" fmla="*/ 17 w 76"/>
              <a:gd name="T57" fmla="*/ 5 h 96"/>
              <a:gd name="T58" fmla="*/ 18 w 76"/>
              <a:gd name="T59" fmla="*/ 6 h 96"/>
              <a:gd name="T60" fmla="*/ 36 w 76"/>
              <a:gd name="T61" fmla="*/ 17 h 96"/>
              <a:gd name="T62" fmla="*/ 53 w 76"/>
              <a:gd name="T63" fmla="*/ 32 h 96"/>
              <a:gd name="T64" fmla="*/ 63 w 76"/>
              <a:gd name="T65" fmla="*/ 43 h 96"/>
              <a:gd name="T66" fmla="*/ 67 w 76"/>
              <a:gd name="T67" fmla="*/ 41 h 96"/>
              <a:gd name="T68" fmla="*/ 18 w 76"/>
              <a:gd name="T69" fmla="*/ 1 h 96"/>
              <a:gd name="T70" fmla="*/ 14 w 76"/>
              <a:gd name="T71"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6" h="96">
                <a:moveTo>
                  <a:pt x="14" y="0"/>
                </a:moveTo>
                <a:cubicBezTo>
                  <a:pt x="14" y="3"/>
                  <a:pt x="14" y="3"/>
                  <a:pt x="14" y="3"/>
                </a:cubicBezTo>
                <a:cubicBezTo>
                  <a:pt x="7" y="6"/>
                  <a:pt x="7" y="6"/>
                  <a:pt x="7" y="6"/>
                </a:cubicBezTo>
                <a:cubicBezTo>
                  <a:pt x="6" y="7"/>
                  <a:pt x="5" y="7"/>
                  <a:pt x="2" y="8"/>
                </a:cubicBezTo>
                <a:cubicBezTo>
                  <a:pt x="0" y="14"/>
                  <a:pt x="3" y="21"/>
                  <a:pt x="9" y="23"/>
                </a:cubicBezTo>
                <a:cubicBezTo>
                  <a:pt x="23" y="29"/>
                  <a:pt x="42" y="49"/>
                  <a:pt x="52" y="60"/>
                </a:cubicBezTo>
                <a:cubicBezTo>
                  <a:pt x="51" y="71"/>
                  <a:pt x="51" y="83"/>
                  <a:pt x="51" y="84"/>
                </a:cubicBezTo>
                <a:cubicBezTo>
                  <a:pt x="52" y="91"/>
                  <a:pt x="57" y="96"/>
                  <a:pt x="63" y="96"/>
                </a:cubicBezTo>
                <a:cubicBezTo>
                  <a:pt x="64" y="96"/>
                  <a:pt x="64" y="96"/>
                  <a:pt x="64" y="96"/>
                </a:cubicBezTo>
                <a:cubicBezTo>
                  <a:pt x="71" y="95"/>
                  <a:pt x="76" y="90"/>
                  <a:pt x="75" y="83"/>
                </a:cubicBezTo>
                <a:cubicBezTo>
                  <a:pt x="75" y="80"/>
                  <a:pt x="75" y="71"/>
                  <a:pt x="75" y="64"/>
                </a:cubicBezTo>
                <a:cubicBezTo>
                  <a:pt x="74" y="64"/>
                  <a:pt x="73" y="65"/>
                  <a:pt x="72" y="65"/>
                </a:cubicBezTo>
                <a:cubicBezTo>
                  <a:pt x="71" y="66"/>
                  <a:pt x="70" y="66"/>
                  <a:pt x="69" y="67"/>
                </a:cubicBezTo>
                <a:cubicBezTo>
                  <a:pt x="69" y="68"/>
                  <a:pt x="69" y="69"/>
                  <a:pt x="69" y="70"/>
                </a:cubicBezTo>
                <a:cubicBezTo>
                  <a:pt x="69" y="75"/>
                  <a:pt x="69" y="79"/>
                  <a:pt x="69" y="80"/>
                </a:cubicBezTo>
                <a:cubicBezTo>
                  <a:pt x="69" y="80"/>
                  <a:pt x="69" y="80"/>
                  <a:pt x="69" y="80"/>
                </a:cubicBezTo>
                <a:cubicBezTo>
                  <a:pt x="69" y="82"/>
                  <a:pt x="68" y="83"/>
                  <a:pt x="67" y="83"/>
                </a:cubicBezTo>
                <a:cubicBezTo>
                  <a:pt x="67" y="83"/>
                  <a:pt x="66" y="83"/>
                  <a:pt x="66" y="83"/>
                </a:cubicBezTo>
                <a:cubicBezTo>
                  <a:pt x="65" y="83"/>
                  <a:pt x="64" y="82"/>
                  <a:pt x="63" y="80"/>
                </a:cubicBezTo>
                <a:cubicBezTo>
                  <a:pt x="63" y="80"/>
                  <a:pt x="63" y="76"/>
                  <a:pt x="63" y="70"/>
                </a:cubicBezTo>
                <a:cubicBezTo>
                  <a:pt x="63" y="69"/>
                  <a:pt x="63" y="69"/>
                  <a:pt x="63" y="68"/>
                </a:cubicBezTo>
                <a:cubicBezTo>
                  <a:pt x="60" y="68"/>
                  <a:pt x="57" y="66"/>
                  <a:pt x="55" y="64"/>
                </a:cubicBezTo>
                <a:cubicBezTo>
                  <a:pt x="51" y="59"/>
                  <a:pt x="51" y="51"/>
                  <a:pt x="56" y="47"/>
                </a:cubicBezTo>
                <a:cubicBezTo>
                  <a:pt x="57" y="47"/>
                  <a:pt x="57" y="46"/>
                  <a:pt x="58" y="46"/>
                </a:cubicBezTo>
                <a:cubicBezTo>
                  <a:pt x="57" y="45"/>
                  <a:pt x="56" y="44"/>
                  <a:pt x="55" y="43"/>
                </a:cubicBezTo>
                <a:cubicBezTo>
                  <a:pt x="49" y="37"/>
                  <a:pt x="41" y="29"/>
                  <a:pt x="32" y="22"/>
                </a:cubicBezTo>
                <a:cubicBezTo>
                  <a:pt x="27" y="17"/>
                  <a:pt x="21" y="14"/>
                  <a:pt x="15" y="11"/>
                </a:cubicBezTo>
                <a:cubicBezTo>
                  <a:pt x="14" y="11"/>
                  <a:pt x="13" y="9"/>
                  <a:pt x="14" y="7"/>
                </a:cubicBezTo>
                <a:cubicBezTo>
                  <a:pt x="14" y="6"/>
                  <a:pt x="16" y="5"/>
                  <a:pt x="17" y="5"/>
                </a:cubicBezTo>
                <a:cubicBezTo>
                  <a:pt x="17" y="5"/>
                  <a:pt x="17" y="6"/>
                  <a:pt x="18" y="6"/>
                </a:cubicBezTo>
                <a:cubicBezTo>
                  <a:pt x="24" y="8"/>
                  <a:pt x="30" y="12"/>
                  <a:pt x="36" y="17"/>
                </a:cubicBezTo>
                <a:cubicBezTo>
                  <a:pt x="42" y="22"/>
                  <a:pt x="48" y="27"/>
                  <a:pt x="53" y="32"/>
                </a:cubicBezTo>
                <a:cubicBezTo>
                  <a:pt x="57" y="36"/>
                  <a:pt x="60" y="40"/>
                  <a:pt x="63" y="43"/>
                </a:cubicBezTo>
                <a:cubicBezTo>
                  <a:pt x="65" y="42"/>
                  <a:pt x="66" y="42"/>
                  <a:pt x="67" y="41"/>
                </a:cubicBezTo>
                <a:cubicBezTo>
                  <a:pt x="57" y="30"/>
                  <a:pt x="37" y="9"/>
                  <a:pt x="18" y="1"/>
                </a:cubicBezTo>
                <a:cubicBezTo>
                  <a:pt x="17" y="1"/>
                  <a:pt x="15" y="0"/>
                  <a:pt x="14"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0" name="Freeform 45"/>
          <p:cNvSpPr>
            <a:spLocks noEditPoints="1"/>
          </p:cNvSpPr>
          <p:nvPr/>
        </p:nvSpPr>
        <p:spPr bwMode="auto">
          <a:xfrm>
            <a:off x="3305176" y="5108575"/>
            <a:ext cx="268288" cy="93662"/>
          </a:xfrm>
          <a:custGeom>
            <a:avLst/>
            <a:gdLst>
              <a:gd name="T0" fmla="*/ 23 w 158"/>
              <a:gd name="T1" fmla="*/ 5 h 55"/>
              <a:gd name="T2" fmla="*/ 4 w 158"/>
              <a:gd name="T3" fmla="*/ 29 h 55"/>
              <a:gd name="T4" fmla="*/ 6 w 158"/>
              <a:gd name="T5" fmla="*/ 46 h 55"/>
              <a:gd name="T6" fmla="*/ 13 w 158"/>
              <a:gd name="T7" fmla="*/ 48 h 55"/>
              <a:gd name="T8" fmla="*/ 23 w 158"/>
              <a:gd name="T9" fmla="*/ 44 h 55"/>
              <a:gd name="T10" fmla="*/ 38 w 158"/>
              <a:gd name="T11" fmla="*/ 24 h 55"/>
              <a:gd name="T12" fmla="*/ 110 w 158"/>
              <a:gd name="T13" fmla="*/ 55 h 55"/>
              <a:gd name="T14" fmla="*/ 110 w 158"/>
              <a:gd name="T15" fmla="*/ 49 h 55"/>
              <a:gd name="T16" fmla="*/ 113 w 158"/>
              <a:gd name="T17" fmla="*/ 41 h 55"/>
              <a:gd name="T18" fmla="*/ 106 w 158"/>
              <a:gd name="T19" fmla="*/ 36 h 55"/>
              <a:gd name="T20" fmla="*/ 67 w 158"/>
              <a:gd name="T21" fmla="*/ 17 h 55"/>
              <a:gd name="T22" fmla="*/ 47 w 158"/>
              <a:gd name="T23" fmla="*/ 12 h 55"/>
              <a:gd name="T24" fmla="*/ 41 w 158"/>
              <a:gd name="T25" fmla="*/ 20 h 55"/>
              <a:gd name="T26" fmla="*/ 32 w 158"/>
              <a:gd name="T27" fmla="*/ 24 h 55"/>
              <a:gd name="T28" fmla="*/ 28 w 158"/>
              <a:gd name="T29" fmla="*/ 23 h 55"/>
              <a:gd name="T30" fmla="*/ 19 w 158"/>
              <a:gd name="T31" fmla="*/ 34 h 55"/>
              <a:gd name="T32" fmla="*/ 16 w 158"/>
              <a:gd name="T33" fmla="*/ 36 h 55"/>
              <a:gd name="T34" fmla="*/ 15 w 158"/>
              <a:gd name="T35" fmla="*/ 35 h 55"/>
              <a:gd name="T36" fmla="*/ 14 w 158"/>
              <a:gd name="T37" fmla="*/ 31 h 55"/>
              <a:gd name="T38" fmla="*/ 23 w 158"/>
              <a:gd name="T39" fmla="*/ 20 h 55"/>
              <a:gd name="T40" fmla="*/ 23 w 158"/>
              <a:gd name="T41" fmla="*/ 5 h 55"/>
              <a:gd name="T42" fmla="*/ 55 w 158"/>
              <a:gd name="T43" fmla="*/ 3 h 55"/>
              <a:gd name="T44" fmla="*/ 52 w 158"/>
              <a:gd name="T45" fmla="*/ 7 h 55"/>
              <a:gd name="T46" fmla="*/ 69 w 158"/>
              <a:gd name="T47" fmla="*/ 11 h 55"/>
              <a:gd name="T48" fmla="*/ 98 w 158"/>
              <a:gd name="T49" fmla="*/ 24 h 55"/>
              <a:gd name="T50" fmla="*/ 119 w 158"/>
              <a:gd name="T51" fmla="*/ 37 h 55"/>
              <a:gd name="T52" fmla="*/ 122 w 158"/>
              <a:gd name="T53" fmla="*/ 37 h 55"/>
              <a:gd name="T54" fmla="*/ 126 w 158"/>
              <a:gd name="T55" fmla="*/ 38 h 55"/>
              <a:gd name="T56" fmla="*/ 138 w 158"/>
              <a:gd name="T57" fmla="*/ 26 h 55"/>
              <a:gd name="T58" fmla="*/ 147 w 158"/>
              <a:gd name="T59" fmla="*/ 22 h 55"/>
              <a:gd name="T60" fmla="*/ 148 w 158"/>
              <a:gd name="T61" fmla="*/ 22 h 55"/>
              <a:gd name="T62" fmla="*/ 151 w 158"/>
              <a:gd name="T63" fmla="*/ 25 h 55"/>
              <a:gd name="T64" fmla="*/ 148 w 158"/>
              <a:gd name="T65" fmla="*/ 28 h 55"/>
              <a:gd name="T66" fmla="*/ 148 w 158"/>
              <a:gd name="T67" fmla="*/ 28 h 55"/>
              <a:gd name="T68" fmla="*/ 148 w 158"/>
              <a:gd name="T69" fmla="*/ 28 h 55"/>
              <a:gd name="T70" fmla="*/ 148 w 158"/>
              <a:gd name="T71" fmla="*/ 28 h 55"/>
              <a:gd name="T72" fmla="*/ 147 w 158"/>
              <a:gd name="T73" fmla="*/ 29 h 55"/>
              <a:gd name="T74" fmla="*/ 142 w 158"/>
              <a:gd name="T75" fmla="*/ 31 h 55"/>
              <a:gd name="T76" fmla="*/ 131 w 158"/>
              <a:gd name="T77" fmla="*/ 41 h 55"/>
              <a:gd name="T78" fmla="*/ 134 w 158"/>
              <a:gd name="T79" fmla="*/ 49 h 55"/>
              <a:gd name="T80" fmla="*/ 134 w 158"/>
              <a:gd name="T81" fmla="*/ 52 h 55"/>
              <a:gd name="T82" fmla="*/ 148 w 158"/>
              <a:gd name="T83" fmla="*/ 41 h 55"/>
              <a:gd name="T84" fmla="*/ 156 w 158"/>
              <a:gd name="T85" fmla="*/ 26 h 55"/>
              <a:gd name="T86" fmla="*/ 145 w 158"/>
              <a:gd name="T87" fmla="*/ 17 h 55"/>
              <a:gd name="T88" fmla="*/ 142 w 158"/>
              <a:gd name="T89" fmla="*/ 17 h 55"/>
              <a:gd name="T90" fmla="*/ 119 w 158"/>
              <a:gd name="T91" fmla="*/ 32 h 55"/>
              <a:gd name="T92" fmla="*/ 55 w 158"/>
              <a:gd name="T93" fmla="*/ 3 h 55"/>
              <a:gd name="T94" fmla="*/ 26 w 158"/>
              <a:gd name="T95" fmla="*/ 0 h 55"/>
              <a:gd name="T96" fmla="*/ 26 w 158"/>
              <a:gd name="T97" fmla="*/ 0 h 55"/>
              <a:gd name="T98" fmla="*/ 23 w 158"/>
              <a:gd name="T99" fmla="*/ 4 h 55"/>
              <a:gd name="T100" fmla="*/ 26 w 158"/>
              <a:gd name="T101"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8" h="55">
                <a:moveTo>
                  <a:pt x="23" y="5"/>
                </a:moveTo>
                <a:cubicBezTo>
                  <a:pt x="4" y="29"/>
                  <a:pt x="4" y="29"/>
                  <a:pt x="4" y="29"/>
                </a:cubicBezTo>
                <a:cubicBezTo>
                  <a:pt x="0" y="34"/>
                  <a:pt x="1" y="42"/>
                  <a:pt x="6" y="46"/>
                </a:cubicBezTo>
                <a:cubicBezTo>
                  <a:pt x="8" y="47"/>
                  <a:pt x="11" y="48"/>
                  <a:pt x="13" y="48"/>
                </a:cubicBezTo>
                <a:cubicBezTo>
                  <a:pt x="17" y="48"/>
                  <a:pt x="20" y="47"/>
                  <a:pt x="23" y="44"/>
                </a:cubicBezTo>
                <a:cubicBezTo>
                  <a:pt x="38" y="24"/>
                  <a:pt x="38" y="24"/>
                  <a:pt x="38" y="24"/>
                </a:cubicBezTo>
                <a:cubicBezTo>
                  <a:pt x="67" y="26"/>
                  <a:pt x="99" y="47"/>
                  <a:pt x="110" y="55"/>
                </a:cubicBezTo>
                <a:cubicBezTo>
                  <a:pt x="110" y="53"/>
                  <a:pt x="110" y="51"/>
                  <a:pt x="110" y="49"/>
                </a:cubicBezTo>
                <a:cubicBezTo>
                  <a:pt x="110" y="46"/>
                  <a:pt x="111" y="43"/>
                  <a:pt x="113" y="41"/>
                </a:cubicBezTo>
                <a:cubicBezTo>
                  <a:pt x="111" y="39"/>
                  <a:pt x="109" y="38"/>
                  <a:pt x="106" y="36"/>
                </a:cubicBezTo>
                <a:cubicBezTo>
                  <a:pt x="96" y="30"/>
                  <a:pt x="82" y="22"/>
                  <a:pt x="67" y="17"/>
                </a:cubicBezTo>
                <a:cubicBezTo>
                  <a:pt x="61" y="15"/>
                  <a:pt x="54" y="13"/>
                  <a:pt x="47" y="12"/>
                </a:cubicBezTo>
                <a:cubicBezTo>
                  <a:pt x="46" y="15"/>
                  <a:pt x="44" y="17"/>
                  <a:pt x="41" y="20"/>
                </a:cubicBezTo>
                <a:cubicBezTo>
                  <a:pt x="39" y="23"/>
                  <a:pt x="36" y="24"/>
                  <a:pt x="32" y="24"/>
                </a:cubicBezTo>
                <a:cubicBezTo>
                  <a:pt x="31" y="24"/>
                  <a:pt x="29" y="24"/>
                  <a:pt x="28" y="23"/>
                </a:cubicBezTo>
                <a:cubicBezTo>
                  <a:pt x="19" y="34"/>
                  <a:pt x="19" y="34"/>
                  <a:pt x="19" y="34"/>
                </a:cubicBezTo>
                <a:cubicBezTo>
                  <a:pt x="18" y="35"/>
                  <a:pt x="17" y="36"/>
                  <a:pt x="16" y="36"/>
                </a:cubicBezTo>
                <a:cubicBezTo>
                  <a:pt x="16" y="36"/>
                  <a:pt x="15" y="35"/>
                  <a:pt x="15" y="35"/>
                </a:cubicBezTo>
                <a:cubicBezTo>
                  <a:pt x="13" y="34"/>
                  <a:pt x="13" y="32"/>
                  <a:pt x="14" y="31"/>
                </a:cubicBezTo>
                <a:cubicBezTo>
                  <a:pt x="23" y="20"/>
                  <a:pt x="23" y="20"/>
                  <a:pt x="23" y="20"/>
                </a:cubicBezTo>
                <a:cubicBezTo>
                  <a:pt x="20" y="15"/>
                  <a:pt x="19" y="9"/>
                  <a:pt x="23" y="5"/>
                </a:cubicBezTo>
                <a:moveTo>
                  <a:pt x="55" y="3"/>
                </a:moveTo>
                <a:cubicBezTo>
                  <a:pt x="54" y="4"/>
                  <a:pt x="53" y="5"/>
                  <a:pt x="52" y="7"/>
                </a:cubicBezTo>
                <a:cubicBezTo>
                  <a:pt x="58" y="8"/>
                  <a:pt x="63" y="9"/>
                  <a:pt x="69" y="11"/>
                </a:cubicBezTo>
                <a:cubicBezTo>
                  <a:pt x="79" y="15"/>
                  <a:pt x="89" y="20"/>
                  <a:pt x="98" y="24"/>
                </a:cubicBezTo>
                <a:cubicBezTo>
                  <a:pt x="107" y="29"/>
                  <a:pt x="114" y="34"/>
                  <a:pt x="119" y="37"/>
                </a:cubicBezTo>
                <a:cubicBezTo>
                  <a:pt x="120" y="37"/>
                  <a:pt x="121" y="37"/>
                  <a:pt x="122" y="37"/>
                </a:cubicBezTo>
                <a:cubicBezTo>
                  <a:pt x="123" y="37"/>
                  <a:pt x="125" y="37"/>
                  <a:pt x="126" y="38"/>
                </a:cubicBezTo>
                <a:cubicBezTo>
                  <a:pt x="130" y="32"/>
                  <a:pt x="135" y="29"/>
                  <a:pt x="138" y="26"/>
                </a:cubicBezTo>
                <a:cubicBezTo>
                  <a:pt x="143" y="23"/>
                  <a:pt x="147" y="22"/>
                  <a:pt x="147" y="22"/>
                </a:cubicBezTo>
                <a:cubicBezTo>
                  <a:pt x="147" y="22"/>
                  <a:pt x="147" y="22"/>
                  <a:pt x="148" y="22"/>
                </a:cubicBezTo>
                <a:cubicBezTo>
                  <a:pt x="149" y="22"/>
                  <a:pt x="150" y="23"/>
                  <a:pt x="151" y="25"/>
                </a:cubicBezTo>
                <a:cubicBezTo>
                  <a:pt x="151" y="26"/>
                  <a:pt x="150" y="28"/>
                  <a:pt x="148" y="28"/>
                </a:cubicBezTo>
                <a:cubicBezTo>
                  <a:pt x="148" y="28"/>
                  <a:pt x="148" y="28"/>
                  <a:pt x="148" y="28"/>
                </a:cubicBezTo>
                <a:cubicBezTo>
                  <a:pt x="148" y="28"/>
                  <a:pt x="148" y="28"/>
                  <a:pt x="148" y="28"/>
                </a:cubicBezTo>
                <a:cubicBezTo>
                  <a:pt x="148" y="28"/>
                  <a:pt x="148" y="28"/>
                  <a:pt x="148" y="28"/>
                </a:cubicBezTo>
                <a:cubicBezTo>
                  <a:pt x="148" y="28"/>
                  <a:pt x="147" y="29"/>
                  <a:pt x="147" y="29"/>
                </a:cubicBezTo>
                <a:cubicBezTo>
                  <a:pt x="145" y="29"/>
                  <a:pt x="144" y="30"/>
                  <a:pt x="142" y="31"/>
                </a:cubicBezTo>
                <a:cubicBezTo>
                  <a:pt x="138" y="33"/>
                  <a:pt x="135" y="37"/>
                  <a:pt x="131" y="41"/>
                </a:cubicBezTo>
                <a:cubicBezTo>
                  <a:pt x="133" y="43"/>
                  <a:pt x="134" y="46"/>
                  <a:pt x="134" y="49"/>
                </a:cubicBezTo>
                <a:cubicBezTo>
                  <a:pt x="134" y="50"/>
                  <a:pt x="134" y="51"/>
                  <a:pt x="134" y="52"/>
                </a:cubicBezTo>
                <a:cubicBezTo>
                  <a:pt x="140" y="43"/>
                  <a:pt x="147" y="41"/>
                  <a:pt x="148" y="41"/>
                </a:cubicBezTo>
                <a:cubicBezTo>
                  <a:pt x="154" y="39"/>
                  <a:pt x="158" y="33"/>
                  <a:pt x="156" y="26"/>
                </a:cubicBezTo>
                <a:cubicBezTo>
                  <a:pt x="155" y="21"/>
                  <a:pt x="150" y="17"/>
                  <a:pt x="145" y="17"/>
                </a:cubicBezTo>
                <a:cubicBezTo>
                  <a:pt x="144" y="17"/>
                  <a:pt x="143" y="17"/>
                  <a:pt x="142" y="17"/>
                </a:cubicBezTo>
                <a:cubicBezTo>
                  <a:pt x="140" y="18"/>
                  <a:pt x="130" y="21"/>
                  <a:pt x="119" y="32"/>
                </a:cubicBezTo>
                <a:cubicBezTo>
                  <a:pt x="106" y="23"/>
                  <a:pt x="81" y="8"/>
                  <a:pt x="55" y="3"/>
                </a:cubicBezTo>
                <a:moveTo>
                  <a:pt x="26" y="0"/>
                </a:moveTo>
                <a:cubicBezTo>
                  <a:pt x="26" y="0"/>
                  <a:pt x="26" y="0"/>
                  <a:pt x="26" y="0"/>
                </a:cubicBezTo>
                <a:cubicBezTo>
                  <a:pt x="23" y="4"/>
                  <a:pt x="23" y="4"/>
                  <a:pt x="23" y="4"/>
                </a:cubicBezTo>
                <a:cubicBezTo>
                  <a:pt x="24" y="3"/>
                  <a:pt x="25" y="2"/>
                  <a:pt x="26"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1" name="Freeform 46"/>
          <p:cNvSpPr>
            <a:spLocks noEditPoints="1"/>
          </p:cNvSpPr>
          <p:nvPr/>
        </p:nvSpPr>
        <p:spPr bwMode="auto">
          <a:xfrm>
            <a:off x="3627438" y="5475288"/>
            <a:ext cx="93663" cy="50800"/>
          </a:xfrm>
          <a:custGeom>
            <a:avLst/>
            <a:gdLst>
              <a:gd name="T0" fmla="*/ 7 w 55"/>
              <a:gd name="T1" fmla="*/ 8 h 30"/>
              <a:gd name="T2" fmla="*/ 5 w 55"/>
              <a:gd name="T3" fmla="*/ 9 h 30"/>
              <a:gd name="T4" fmla="*/ 4 w 55"/>
              <a:gd name="T5" fmla="*/ 26 h 30"/>
              <a:gd name="T6" fmla="*/ 12 w 55"/>
              <a:gd name="T7" fmla="*/ 30 h 30"/>
              <a:gd name="T8" fmla="*/ 13 w 55"/>
              <a:gd name="T9" fmla="*/ 15 h 30"/>
              <a:gd name="T10" fmla="*/ 11 w 55"/>
              <a:gd name="T11" fmla="*/ 13 h 30"/>
              <a:gd name="T12" fmla="*/ 7 w 55"/>
              <a:gd name="T13" fmla="*/ 8 h 30"/>
              <a:gd name="T14" fmla="*/ 43 w 55"/>
              <a:gd name="T15" fmla="*/ 0 h 30"/>
              <a:gd name="T16" fmla="*/ 16 w 55"/>
              <a:gd name="T17" fmla="*/ 3 h 30"/>
              <a:gd name="T18" fmla="*/ 12 w 55"/>
              <a:gd name="T19" fmla="*/ 5 h 30"/>
              <a:gd name="T20" fmla="*/ 17 w 55"/>
              <a:gd name="T21" fmla="*/ 10 h 30"/>
              <a:gd name="T22" fmla="*/ 18 w 55"/>
              <a:gd name="T23" fmla="*/ 10 h 30"/>
              <a:gd name="T24" fmla="*/ 23 w 55"/>
              <a:gd name="T25" fmla="*/ 8 h 30"/>
              <a:gd name="T26" fmla="*/ 34 w 55"/>
              <a:gd name="T27" fmla="*/ 6 h 30"/>
              <a:gd name="T28" fmla="*/ 46 w 55"/>
              <a:gd name="T29" fmla="*/ 5 h 30"/>
              <a:gd name="T30" fmla="*/ 46 w 55"/>
              <a:gd name="T31" fmla="*/ 5 h 30"/>
              <a:gd name="T32" fmla="*/ 49 w 55"/>
              <a:gd name="T33" fmla="*/ 8 h 30"/>
              <a:gd name="T34" fmla="*/ 46 w 55"/>
              <a:gd name="T35" fmla="*/ 11 h 30"/>
              <a:gd name="T36" fmla="*/ 46 w 55"/>
              <a:gd name="T37" fmla="*/ 11 h 30"/>
              <a:gd name="T38" fmla="*/ 46 w 55"/>
              <a:gd name="T39" fmla="*/ 11 h 30"/>
              <a:gd name="T40" fmla="*/ 45 w 55"/>
              <a:gd name="T41" fmla="*/ 11 h 30"/>
              <a:gd name="T42" fmla="*/ 40 w 55"/>
              <a:gd name="T43" fmla="*/ 11 h 30"/>
              <a:gd name="T44" fmla="*/ 28 w 55"/>
              <a:gd name="T45" fmla="*/ 13 h 30"/>
              <a:gd name="T46" fmla="*/ 21 w 55"/>
              <a:gd name="T47" fmla="*/ 15 h 30"/>
              <a:gd name="T48" fmla="*/ 19 w 55"/>
              <a:gd name="T49" fmla="*/ 16 h 30"/>
              <a:gd name="T50" fmla="*/ 18 w 55"/>
              <a:gd name="T51" fmla="*/ 29 h 30"/>
              <a:gd name="T52" fmla="*/ 21 w 55"/>
              <a:gd name="T53" fmla="*/ 27 h 30"/>
              <a:gd name="T54" fmla="*/ 24 w 55"/>
              <a:gd name="T55" fmla="*/ 26 h 30"/>
              <a:gd name="T56" fmla="*/ 43 w 55"/>
              <a:gd name="T57" fmla="*/ 24 h 30"/>
              <a:gd name="T58" fmla="*/ 55 w 55"/>
              <a:gd name="T59" fmla="*/ 12 h 30"/>
              <a:gd name="T60" fmla="*/ 43 w 55"/>
              <a:gd name="T61"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 h="30">
                <a:moveTo>
                  <a:pt x="7" y="8"/>
                </a:moveTo>
                <a:cubicBezTo>
                  <a:pt x="6" y="8"/>
                  <a:pt x="6" y="9"/>
                  <a:pt x="5" y="9"/>
                </a:cubicBezTo>
                <a:cubicBezTo>
                  <a:pt x="0" y="13"/>
                  <a:pt x="0" y="21"/>
                  <a:pt x="4" y="26"/>
                </a:cubicBezTo>
                <a:cubicBezTo>
                  <a:pt x="6" y="28"/>
                  <a:pt x="9" y="30"/>
                  <a:pt x="12" y="30"/>
                </a:cubicBezTo>
                <a:cubicBezTo>
                  <a:pt x="12" y="25"/>
                  <a:pt x="12" y="20"/>
                  <a:pt x="13" y="15"/>
                </a:cubicBezTo>
                <a:cubicBezTo>
                  <a:pt x="13" y="15"/>
                  <a:pt x="12" y="14"/>
                  <a:pt x="11" y="13"/>
                </a:cubicBezTo>
                <a:cubicBezTo>
                  <a:pt x="10" y="12"/>
                  <a:pt x="9" y="10"/>
                  <a:pt x="7" y="8"/>
                </a:cubicBezTo>
                <a:moveTo>
                  <a:pt x="43" y="0"/>
                </a:moveTo>
                <a:cubicBezTo>
                  <a:pt x="37" y="0"/>
                  <a:pt x="26" y="0"/>
                  <a:pt x="16" y="3"/>
                </a:cubicBezTo>
                <a:cubicBezTo>
                  <a:pt x="15" y="4"/>
                  <a:pt x="14" y="4"/>
                  <a:pt x="12" y="5"/>
                </a:cubicBezTo>
                <a:cubicBezTo>
                  <a:pt x="14" y="7"/>
                  <a:pt x="16" y="9"/>
                  <a:pt x="17" y="10"/>
                </a:cubicBezTo>
                <a:cubicBezTo>
                  <a:pt x="17" y="10"/>
                  <a:pt x="18" y="10"/>
                  <a:pt x="18" y="10"/>
                </a:cubicBezTo>
                <a:cubicBezTo>
                  <a:pt x="20" y="9"/>
                  <a:pt x="22" y="8"/>
                  <a:pt x="23" y="8"/>
                </a:cubicBezTo>
                <a:cubicBezTo>
                  <a:pt x="27" y="7"/>
                  <a:pt x="30" y="6"/>
                  <a:pt x="34" y="6"/>
                </a:cubicBezTo>
                <a:cubicBezTo>
                  <a:pt x="40" y="5"/>
                  <a:pt x="46" y="5"/>
                  <a:pt x="46" y="5"/>
                </a:cubicBezTo>
                <a:cubicBezTo>
                  <a:pt x="46" y="5"/>
                  <a:pt x="46" y="5"/>
                  <a:pt x="46" y="5"/>
                </a:cubicBezTo>
                <a:cubicBezTo>
                  <a:pt x="48" y="5"/>
                  <a:pt x="49" y="7"/>
                  <a:pt x="49" y="8"/>
                </a:cubicBezTo>
                <a:cubicBezTo>
                  <a:pt x="49" y="10"/>
                  <a:pt x="48" y="11"/>
                  <a:pt x="46" y="11"/>
                </a:cubicBezTo>
                <a:cubicBezTo>
                  <a:pt x="46" y="11"/>
                  <a:pt x="46" y="11"/>
                  <a:pt x="46" y="11"/>
                </a:cubicBezTo>
                <a:cubicBezTo>
                  <a:pt x="46" y="11"/>
                  <a:pt x="46" y="11"/>
                  <a:pt x="46" y="11"/>
                </a:cubicBezTo>
                <a:cubicBezTo>
                  <a:pt x="46" y="11"/>
                  <a:pt x="45" y="11"/>
                  <a:pt x="45" y="11"/>
                </a:cubicBezTo>
                <a:cubicBezTo>
                  <a:pt x="44" y="11"/>
                  <a:pt x="42" y="11"/>
                  <a:pt x="40" y="11"/>
                </a:cubicBezTo>
                <a:cubicBezTo>
                  <a:pt x="37" y="12"/>
                  <a:pt x="32" y="12"/>
                  <a:pt x="28" y="13"/>
                </a:cubicBezTo>
                <a:cubicBezTo>
                  <a:pt x="25" y="13"/>
                  <a:pt x="23" y="14"/>
                  <a:pt x="21" y="15"/>
                </a:cubicBezTo>
                <a:cubicBezTo>
                  <a:pt x="20" y="15"/>
                  <a:pt x="20" y="16"/>
                  <a:pt x="19" y="16"/>
                </a:cubicBezTo>
                <a:cubicBezTo>
                  <a:pt x="19" y="20"/>
                  <a:pt x="18" y="25"/>
                  <a:pt x="18" y="29"/>
                </a:cubicBezTo>
                <a:cubicBezTo>
                  <a:pt x="19" y="28"/>
                  <a:pt x="20" y="28"/>
                  <a:pt x="21" y="27"/>
                </a:cubicBezTo>
                <a:cubicBezTo>
                  <a:pt x="22" y="27"/>
                  <a:pt x="23" y="26"/>
                  <a:pt x="24" y="26"/>
                </a:cubicBezTo>
                <a:cubicBezTo>
                  <a:pt x="29" y="25"/>
                  <a:pt x="36" y="24"/>
                  <a:pt x="43" y="24"/>
                </a:cubicBezTo>
                <a:cubicBezTo>
                  <a:pt x="50" y="24"/>
                  <a:pt x="55" y="19"/>
                  <a:pt x="55" y="12"/>
                </a:cubicBezTo>
                <a:cubicBezTo>
                  <a:pt x="55" y="5"/>
                  <a:pt x="50" y="0"/>
                  <a:pt x="43"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2" name="Freeform 47"/>
          <p:cNvSpPr>
            <a:spLocks noEditPoints="1"/>
          </p:cNvSpPr>
          <p:nvPr/>
        </p:nvSpPr>
        <p:spPr bwMode="auto">
          <a:xfrm>
            <a:off x="3490913" y="5576888"/>
            <a:ext cx="69850" cy="53975"/>
          </a:xfrm>
          <a:custGeom>
            <a:avLst/>
            <a:gdLst>
              <a:gd name="T0" fmla="*/ 25 w 41"/>
              <a:gd name="T1" fmla="*/ 9 h 32"/>
              <a:gd name="T2" fmla="*/ 20 w 41"/>
              <a:gd name="T3" fmla="*/ 9 h 32"/>
              <a:gd name="T4" fmla="*/ 22 w 41"/>
              <a:gd name="T5" fmla="*/ 11 h 32"/>
              <a:gd name="T6" fmla="*/ 26 w 41"/>
              <a:gd name="T7" fmla="*/ 15 h 32"/>
              <a:gd name="T8" fmla="*/ 32 w 41"/>
              <a:gd name="T9" fmla="*/ 20 h 32"/>
              <a:gd name="T10" fmla="*/ 32 w 41"/>
              <a:gd name="T11" fmla="*/ 20 h 32"/>
              <a:gd name="T12" fmla="*/ 32 w 41"/>
              <a:gd name="T13" fmla="*/ 20 h 32"/>
              <a:gd name="T14" fmla="*/ 33 w 41"/>
              <a:gd name="T15" fmla="*/ 25 h 32"/>
              <a:gd name="T16" fmla="*/ 31 w 41"/>
              <a:gd name="T17" fmla="*/ 26 h 32"/>
              <a:gd name="T18" fmla="*/ 29 w 41"/>
              <a:gd name="T19" fmla="*/ 25 h 32"/>
              <a:gd name="T20" fmla="*/ 25 w 41"/>
              <a:gd name="T21" fmla="*/ 22 h 32"/>
              <a:gd name="T22" fmla="*/ 17 w 41"/>
              <a:gd name="T23" fmla="*/ 15 h 32"/>
              <a:gd name="T24" fmla="*/ 13 w 41"/>
              <a:gd name="T25" fmla="*/ 9 h 32"/>
              <a:gd name="T26" fmla="*/ 13 w 41"/>
              <a:gd name="T27" fmla="*/ 9 h 32"/>
              <a:gd name="T28" fmla="*/ 1 w 41"/>
              <a:gd name="T29" fmla="*/ 9 h 32"/>
              <a:gd name="T30" fmla="*/ 2 w 41"/>
              <a:gd name="T31" fmla="*/ 18 h 32"/>
              <a:gd name="T32" fmla="*/ 5 w 41"/>
              <a:gd name="T33" fmla="*/ 22 h 32"/>
              <a:gd name="T34" fmla="*/ 15 w 41"/>
              <a:gd name="T35" fmla="*/ 32 h 32"/>
              <a:gd name="T36" fmla="*/ 27 w 41"/>
              <a:gd name="T37" fmla="*/ 31 h 32"/>
              <a:gd name="T38" fmla="*/ 38 w 41"/>
              <a:gd name="T39" fmla="*/ 32 h 32"/>
              <a:gd name="T40" fmla="*/ 37 w 41"/>
              <a:gd name="T41" fmla="*/ 19 h 32"/>
              <a:gd name="T42" fmla="*/ 35 w 41"/>
              <a:gd name="T43" fmla="*/ 17 h 32"/>
              <a:gd name="T44" fmla="*/ 25 w 41"/>
              <a:gd name="T45" fmla="*/ 9 h 32"/>
              <a:gd name="T46" fmla="*/ 12 w 41"/>
              <a:gd name="T47" fmla="*/ 0 h 32"/>
              <a:gd name="T48" fmla="*/ 7 w 41"/>
              <a:gd name="T49" fmla="*/ 1 h 32"/>
              <a:gd name="T50" fmla="*/ 5 w 41"/>
              <a:gd name="T51" fmla="*/ 3 h 32"/>
              <a:gd name="T52" fmla="*/ 4 w 41"/>
              <a:gd name="T53" fmla="*/ 3 h 32"/>
              <a:gd name="T54" fmla="*/ 21 w 41"/>
              <a:gd name="T55" fmla="*/ 3 h 32"/>
              <a:gd name="T56" fmla="*/ 19 w 41"/>
              <a:gd name="T57" fmla="*/ 1 h 32"/>
              <a:gd name="T58" fmla="*/ 12 w 41"/>
              <a:gd name="T59"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 h="32">
                <a:moveTo>
                  <a:pt x="25" y="9"/>
                </a:moveTo>
                <a:cubicBezTo>
                  <a:pt x="24" y="9"/>
                  <a:pt x="22" y="9"/>
                  <a:pt x="20" y="9"/>
                </a:cubicBezTo>
                <a:cubicBezTo>
                  <a:pt x="21" y="10"/>
                  <a:pt x="21" y="10"/>
                  <a:pt x="22" y="11"/>
                </a:cubicBezTo>
                <a:cubicBezTo>
                  <a:pt x="23" y="13"/>
                  <a:pt x="25" y="14"/>
                  <a:pt x="26" y="15"/>
                </a:cubicBezTo>
                <a:cubicBezTo>
                  <a:pt x="29" y="18"/>
                  <a:pt x="32" y="20"/>
                  <a:pt x="32" y="20"/>
                </a:cubicBezTo>
                <a:cubicBezTo>
                  <a:pt x="32" y="20"/>
                  <a:pt x="32" y="20"/>
                  <a:pt x="32" y="20"/>
                </a:cubicBezTo>
                <a:cubicBezTo>
                  <a:pt x="32" y="20"/>
                  <a:pt x="32" y="20"/>
                  <a:pt x="32" y="20"/>
                </a:cubicBezTo>
                <a:cubicBezTo>
                  <a:pt x="34" y="21"/>
                  <a:pt x="34" y="23"/>
                  <a:pt x="33" y="25"/>
                </a:cubicBezTo>
                <a:cubicBezTo>
                  <a:pt x="33" y="25"/>
                  <a:pt x="32" y="26"/>
                  <a:pt x="31" y="26"/>
                </a:cubicBezTo>
                <a:cubicBezTo>
                  <a:pt x="30" y="26"/>
                  <a:pt x="30" y="26"/>
                  <a:pt x="29" y="25"/>
                </a:cubicBezTo>
                <a:cubicBezTo>
                  <a:pt x="29" y="25"/>
                  <a:pt x="27" y="24"/>
                  <a:pt x="25" y="22"/>
                </a:cubicBezTo>
                <a:cubicBezTo>
                  <a:pt x="23" y="20"/>
                  <a:pt x="20" y="18"/>
                  <a:pt x="17" y="15"/>
                </a:cubicBezTo>
                <a:cubicBezTo>
                  <a:pt x="16" y="13"/>
                  <a:pt x="14" y="11"/>
                  <a:pt x="13" y="9"/>
                </a:cubicBezTo>
                <a:cubicBezTo>
                  <a:pt x="13" y="9"/>
                  <a:pt x="13" y="9"/>
                  <a:pt x="13" y="9"/>
                </a:cubicBezTo>
                <a:cubicBezTo>
                  <a:pt x="9" y="9"/>
                  <a:pt x="5" y="9"/>
                  <a:pt x="1" y="9"/>
                </a:cubicBezTo>
                <a:cubicBezTo>
                  <a:pt x="0" y="12"/>
                  <a:pt x="1" y="15"/>
                  <a:pt x="2" y="18"/>
                </a:cubicBezTo>
                <a:cubicBezTo>
                  <a:pt x="3" y="19"/>
                  <a:pt x="4" y="20"/>
                  <a:pt x="5" y="22"/>
                </a:cubicBezTo>
                <a:cubicBezTo>
                  <a:pt x="8" y="26"/>
                  <a:pt x="12" y="29"/>
                  <a:pt x="15" y="32"/>
                </a:cubicBezTo>
                <a:cubicBezTo>
                  <a:pt x="19" y="31"/>
                  <a:pt x="23" y="31"/>
                  <a:pt x="27" y="31"/>
                </a:cubicBezTo>
                <a:cubicBezTo>
                  <a:pt x="30" y="31"/>
                  <a:pt x="34" y="31"/>
                  <a:pt x="38" y="32"/>
                </a:cubicBezTo>
                <a:cubicBezTo>
                  <a:pt x="41" y="27"/>
                  <a:pt x="40" y="22"/>
                  <a:pt x="37" y="19"/>
                </a:cubicBezTo>
                <a:cubicBezTo>
                  <a:pt x="36" y="18"/>
                  <a:pt x="35" y="17"/>
                  <a:pt x="35" y="17"/>
                </a:cubicBezTo>
                <a:cubicBezTo>
                  <a:pt x="32" y="15"/>
                  <a:pt x="28" y="12"/>
                  <a:pt x="25" y="9"/>
                </a:cubicBezTo>
                <a:moveTo>
                  <a:pt x="12" y="0"/>
                </a:moveTo>
                <a:cubicBezTo>
                  <a:pt x="10" y="0"/>
                  <a:pt x="8" y="0"/>
                  <a:pt x="7" y="1"/>
                </a:cubicBezTo>
                <a:cubicBezTo>
                  <a:pt x="6" y="2"/>
                  <a:pt x="5" y="2"/>
                  <a:pt x="5" y="3"/>
                </a:cubicBezTo>
                <a:cubicBezTo>
                  <a:pt x="4" y="3"/>
                  <a:pt x="4" y="3"/>
                  <a:pt x="4" y="3"/>
                </a:cubicBezTo>
                <a:cubicBezTo>
                  <a:pt x="10" y="3"/>
                  <a:pt x="16" y="3"/>
                  <a:pt x="21" y="3"/>
                </a:cubicBezTo>
                <a:cubicBezTo>
                  <a:pt x="20" y="3"/>
                  <a:pt x="20" y="2"/>
                  <a:pt x="19" y="1"/>
                </a:cubicBezTo>
                <a:cubicBezTo>
                  <a:pt x="17" y="0"/>
                  <a:pt x="15" y="0"/>
                  <a:pt x="12"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3" name="Freeform 48"/>
          <p:cNvSpPr>
            <a:spLocks noEditPoints="1"/>
          </p:cNvSpPr>
          <p:nvPr/>
        </p:nvSpPr>
        <p:spPr bwMode="auto">
          <a:xfrm>
            <a:off x="3492501" y="5172075"/>
            <a:ext cx="57150" cy="82550"/>
          </a:xfrm>
          <a:custGeom>
            <a:avLst/>
            <a:gdLst>
              <a:gd name="T0" fmla="*/ 3 w 34"/>
              <a:gd name="T1" fmla="*/ 4 h 49"/>
              <a:gd name="T2" fmla="*/ 0 w 34"/>
              <a:gd name="T3" fmla="*/ 12 h 49"/>
              <a:gd name="T4" fmla="*/ 0 w 34"/>
              <a:gd name="T5" fmla="*/ 18 h 49"/>
              <a:gd name="T6" fmla="*/ 13 w 34"/>
              <a:gd name="T7" fmla="*/ 47 h 49"/>
              <a:gd name="T8" fmla="*/ 21 w 34"/>
              <a:gd name="T9" fmla="*/ 49 h 49"/>
              <a:gd name="T10" fmla="*/ 30 w 34"/>
              <a:gd name="T11" fmla="*/ 45 h 49"/>
              <a:gd name="T12" fmla="*/ 28 w 34"/>
              <a:gd name="T13" fmla="*/ 28 h 49"/>
              <a:gd name="T14" fmla="*/ 24 w 34"/>
              <a:gd name="T15" fmla="*/ 15 h 49"/>
              <a:gd name="T16" fmla="*/ 24 w 34"/>
              <a:gd name="T17" fmla="*/ 12 h 49"/>
              <a:gd name="T18" fmla="*/ 21 w 34"/>
              <a:gd name="T19" fmla="*/ 4 h 49"/>
              <a:gd name="T20" fmla="*/ 18 w 34"/>
              <a:gd name="T21" fmla="*/ 9 h 49"/>
              <a:gd name="T22" fmla="*/ 20 w 34"/>
              <a:gd name="T23" fmla="*/ 23 h 49"/>
              <a:gd name="T24" fmla="*/ 24 w 34"/>
              <a:gd name="T25" fmla="*/ 30 h 49"/>
              <a:gd name="T26" fmla="*/ 25 w 34"/>
              <a:gd name="T27" fmla="*/ 31 h 49"/>
              <a:gd name="T28" fmla="*/ 25 w 34"/>
              <a:gd name="T29" fmla="*/ 31 h 49"/>
              <a:gd name="T30" fmla="*/ 25 w 34"/>
              <a:gd name="T31" fmla="*/ 31 h 49"/>
              <a:gd name="T32" fmla="*/ 26 w 34"/>
              <a:gd name="T33" fmla="*/ 35 h 49"/>
              <a:gd name="T34" fmla="*/ 24 w 34"/>
              <a:gd name="T35" fmla="*/ 37 h 49"/>
              <a:gd name="T36" fmla="*/ 22 w 34"/>
              <a:gd name="T37" fmla="*/ 36 h 49"/>
              <a:gd name="T38" fmla="*/ 17 w 34"/>
              <a:gd name="T39" fmla="*/ 29 h 49"/>
              <a:gd name="T40" fmla="*/ 12 w 34"/>
              <a:gd name="T41" fmla="*/ 10 h 49"/>
              <a:gd name="T42" fmla="*/ 12 w 34"/>
              <a:gd name="T43" fmla="*/ 10 h 49"/>
              <a:gd name="T44" fmla="*/ 9 w 34"/>
              <a:gd name="T45" fmla="*/ 7 h 49"/>
              <a:gd name="T46" fmla="*/ 3 w 34"/>
              <a:gd name="T47" fmla="*/ 4 h 49"/>
              <a:gd name="T48" fmla="*/ 12 w 34"/>
              <a:gd name="T49" fmla="*/ 0 h 49"/>
              <a:gd name="T50" fmla="*/ 9 w 34"/>
              <a:gd name="T51" fmla="*/ 0 h 49"/>
              <a:gd name="T52" fmla="*/ 14 w 34"/>
              <a:gd name="T53" fmla="*/ 4 h 49"/>
              <a:gd name="T54" fmla="*/ 16 w 34"/>
              <a:gd name="T55" fmla="*/ 1 h 49"/>
              <a:gd name="T56" fmla="*/ 12 w 34"/>
              <a:gd name="T5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 h="49">
                <a:moveTo>
                  <a:pt x="3" y="4"/>
                </a:moveTo>
                <a:cubicBezTo>
                  <a:pt x="1" y="6"/>
                  <a:pt x="0" y="9"/>
                  <a:pt x="0" y="12"/>
                </a:cubicBezTo>
                <a:cubicBezTo>
                  <a:pt x="0" y="14"/>
                  <a:pt x="0" y="16"/>
                  <a:pt x="0" y="18"/>
                </a:cubicBezTo>
                <a:cubicBezTo>
                  <a:pt x="2" y="38"/>
                  <a:pt x="12" y="46"/>
                  <a:pt x="13" y="47"/>
                </a:cubicBezTo>
                <a:cubicBezTo>
                  <a:pt x="15" y="48"/>
                  <a:pt x="18" y="49"/>
                  <a:pt x="21" y="49"/>
                </a:cubicBezTo>
                <a:cubicBezTo>
                  <a:pt x="24" y="49"/>
                  <a:pt x="28" y="48"/>
                  <a:pt x="30" y="45"/>
                </a:cubicBezTo>
                <a:cubicBezTo>
                  <a:pt x="34" y="40"/>
                  <a:pt x="33" y="32"/>
                  <a:pt x="28" y="28"/>
                </a:cubicBezTo>
                <a:cubicBezTo>
                  <a:pt x="28" y="28"/>
                  <a:pt x="24" y="25"/>
                  <a:pt x="24" y="15"/>
                </a:cubicBezTo>
                <a:cubicBezTo>
                  <a:pt x="24" y="14"/>
                  <a:pt x="24" y="13"/>
                  <a:pt x="24" y="12"/>
                </a:cubicBezTo>
                <a:cubicBezTo>
                  <a:pt x="24" y="9"/>
                  <a:pt x="23" y="6"/>
                  <a:pt x="21" y="4"/>
                </a:cubicBezTo>
                <a:cubicBezTo>
                  <a:pt x="20" y="6"/>
                  <a:pt x="19" y="7"/>
                  <a:pt x="18" y="9"/>
                </a:cubicBezTo>
                <a:cubicBezTo>
                  <a:pt x="18" y="15"/>
                  <a:pt x="19" y="20"/>
                  <a:pt x="20" y="23"/>
                </a:cubicBezTo>
                <a:cubicBezTo>
                  <a:pt x="22" y="27"/>
                  <a:pt x="23" y="29"/>
                  <a:pt x="24" y="30"/>
                </a:cubicBezTo>
                <a:cubicBezTo>
                  <a:pt x="25" y="31"/>
                  <a:pt x="25" y="31"/>
                  <a:pt x="25" y="31"/>
                </a:cubicBezTo>
                <a:cubicBezTo>
                  <a:pt x="25" y="31"/>
                  <a:pt x="25" y="31"/>
                  <a:pt x="25" y="31"/>
                </a:cubicBezTo>
                <a:cubicBezTo>
                  <a:pt x="25" y="31"/>
                  <a:pt x="25" y="31"/>
                  <a:pt x="25" y="31"/>
                </a:cubicBezTo>
                <a:cubicBezTo>
                  <a:pt x="27" y="32"/>
                  <a:pt x="27" y="34"/>
                  <a:pt x="26" y="35"/>
                </a:cubicBezTo>
                <a:cubicBezTo>
                  <a:pt x="25" y="36"/>
                  <a:pt x="24" y="37"/>
                  <a:pt x="24" y="37"/>
                </a:cubicBezTo>
                <a:cubicBezTo>
                  <a:pt x="23" y="37"/>
                  <a:pt x="22" y="36"/>
                  <a:pt x="22" y="36"/>
                </a:cubicBezTo>
                <a:cubicBezTo>
                  <a:pt x="21" y="36"/>
                  <a:pt x="19" y="34"/>
                  <a:pt x="17" y="29"/>
                </a:cubicBezTo>
                <a:cubicBezTo>
                  <a:pt x="14" y="25"/>
                  <a:pt x="12" y="19"/>
                  <a:pt x="12" y="10"/>
                </a:cubicBezTo>
                <a:cubicBezTo>
                  <a:pt x="12" y="10"/>
                  <a:pt x="12" y="10"/>
                  <a:pt x="12" y="10"/>
                </a:cubicBezTo>
                <a:cubicBezTo>
                  <a:pt x="11" y="9"/>
                  <a:pt x="10" y="8"/>
                  <a:pt x="9" y="7"/>
                </a:cubicBezTo>
                <a:cubicBezTo>
                  <a:pt x="7" y="6"/>
                  <a:pt x="5" y="5"/>
                  <a:pt x="3" y="4"/>
                </a:cubicBezTo>
                <a:moveTo>
                  <a:pt x="12" y="0"/>
                </a:moveTo>
                <a:cubicBezTo>
                  <a:pt x="11" y="0"/>
                  <a:pt x="10" y="0"/>
                  <a:pt x="9" y="0"/>
                </a:cubicBezTo>
                <a:cubicBezTo>
                  <a:pt x="11" y="2"/>
                  <a:pt x="13" y="3"/>
                  <a:pt x="14" y="4"/>
                </a:cubicBezTo>
                <a:cubicBezTo>
                  <a:pt x="15" y="3"/>
                  <a:pt x="15" y="2"/>
                  <a:pt x="16" y="1"/>
                </a:cubicBezTo>
                <a:cubicBezTo>
                  <a:pt x="15" y="0"/>
                  <a:pt x="13" y="0"/>
                  <a:pt x="12"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4" name="Freeform 49"/>
          <p:cNvSpPr>
            <a:spLocks noEditPoints="1"/>
          </p:cNvSpPr>
          <p:nvPr/>
        </p:nvSpPr>
        <p:spPr bwMode="auto">
          <a:xfrm>
            <a:off x="3138488" y="5076825"/>
            <a:ext cx="84138" cy="247650"/>
          </a:xfrm>
          <a:custGeom>
            <a:avLst/>
            <a:gdLst>
              <a:gd name="T0" fmla="*/ 18 w 49"/>
              <a:gd name="T1" fmla="*/ 19 h 146"/>
              <a:gd name="T2" fmla="*/ 0 w 49"/>
              <a:gd name="T3" fmla="*/ 80 h 146"/>
              <a:gd name="T4" fmla="*/ 25 w 49"/>
              <a:gd name="T5" fmla="*/ 140 h 146"/>
              <a:gd name="T6" fmla="*/ 35 w 49"/>
              <a:gd name="T7" fmla="*/ 146 h 146"/>
              <a:gd name="T8" fmla="*/ 41 w 49"/>
              <a:gd name="T9" fmla="*/ 145 h 146"/>
              <a:gd name="T10" fmla="*/ 45 w 49"/>
              <a:gd name="T11" fmla="*/ 128 h 146"/>
              <a:gd name="T12" fmla="*/ 24 w 49"/>
              <a:gd name="T13" fmla="*/ 79 h 146"/>
              <a:gd name="T14" fmla="*/ 42 w 49"/>
              <a:gd name="T15" fmla="*/ 26 h 146"/>
              <a:gd name="T16" fmla="*/ 33 w 49"/>
              <a:gd name="T17" fmla="*/ 24 h 146"/>
              <a:gd name="T18" fmla="*/ 29 w 49"/>
              <a:gd name="T19" fmla="*/ 31 h 146"/>
              <a:gd name="T20" fmla="*/ 20 w 49"/>
              <a:gd name="T21" fmla="*/ 59 h 146"/>
              <a:gd name="T22" fmla="*/ 18 w 49"/>
              <a:gd name="T23" fmla="*/ 75 h 146"/>
              <a:gd name="T24" fmla="*/ 18 w 49"/>
              <a:gd name="T25" fmla="*/ 76 h 146"/>
              <a:gd name="T26" fmla="*/ 19 w 49"/>
              <a:gd name="T27" fmla="*/ 82 h 146"/>
              <a:gd name="T28" fmla="*/ 22 w 49"/>
              <a:gd name="T29" fmla="*/ 89 h 146"/>
              <a:gd name="T30" fmla="*/ 29 w 49"/>
              <a:gd name="T31" fmla="*/ 106 h 146"/>
              <a:gd name="T32" fmla="*/ 41 w 49"/>
              <a:gd name="T33" fmla="*/ 129 h 146"/>
              <a:gd name="T34" fmla="*/ 41 w 49"/>
              <a:gd name="T35" fmla="*/ 129 h 146"/>
              <a:gd name="T36" fmla="*/ 40 w 49"/>
              <a:gd name="T37" fmla="*/ 133 h 146"/>
              <a:gd name="T38" fmla="*/ 38 w 49"/>
              <a:gd name="T39" fmla="*/ 134 h 146"/>
              <a:gd name="T40" fmla="*/ 36 w 49"/>
              <a:gd name="T41" fmla="*/ 132 h 146"/>
              <a:gd name="T42" fmla="*/ 19 w 49"/>
              <a:gd name="T43" fmla="*/ 100 h 146"/>
              <a:gd name="T44" fmla="*/ 14 w 49"/>
              <a:gd name="T45" fmla="*/ 84 h 146"/>
              <a:gd name="T46" fmla="*/ 12 w 49"/>
              <a:gd name="T47" fmla="*/ 76 h 146"/>
              <a:gd name="T48" fmla="*/ 12 w 49"/>
              <a:gd name="T49" fmla="*/ 75 h 146"/>
              <a:gd name="T50" fmla="*/ 13 w 49"/>
              <a:gd name="T51" fmla="*/ 62 h 146"/>
              <a:gd name="T52" fmla="*/ 17 w 49"/>
              <a:gd name="T53" fmla="*/ 48 h 146"/>
              <a:gd name="T54" fmla="*/ 27 w 49"/>
              <a:gd name="T55" fmla="*/ 22 h 146"/>
              <a:gd name="T56" fmla="*/ 18 w 49"/>
              <a:gd name="T57" fmla="*/ 19 h 146"/>
              <a:gd name="T58" fmla="*/ 40 w 49"/>
              <a:gd name="T59" fmla="*/ 0 h 146"/>
              <a:gd name="T60" fmla="*/ 37 w 49"/>
              <a:gd name="T61" fmla="*/ 0 h 146"/>
              <a:gd name="T62" fmla="*/ 46 w 49"/>
              <a:gd name="T63" fmla="*/ 2 h 146"/>
              <a:gd name="T64" fmla="*/ 40 w 49"/>
              <a:gd name="T6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9" h="146">
                <a:moveTo>
                  <a:pt x="18" y="19"/>
                </a:moveTo>
                <a:cubicBezTo>
                  <a:pt x="6" y="39"/>
                  <a:pt x="0" y="66"/>
                  <a:pt x="0" y="80"/>
                </a:cubicBezTo>
                <a:cubicBezTo>
                  <a:pt x="1" y="99"/>
                  <a:pt x="21" y="134"/>
                  <a:pt x="25" y="140"/>
                </a:cubicBezTo>
                <a:cubicBezTo>
                  <a:pt x="27" y="144"/>
                  <a:pt x="31" y="146"/>
                  <a:pt x="35" y="146"/>
                </a:cubicBezTo>
                <a:cubicBezTo>
                  <a:pt x="37" y="146"/>
                  <a:pt x="39" y="146"/>
                  <a:pt x="41" y="145"/>
                </a:cubicBezTo>
                <a:cubicBezTo>
                  <a:pt x="47" y="141"/>
                  <a:pt x="49" y="134"/>
                  <a:pt x="45" y="128"/>
                </a:cubicBezTo>
                <a:cubicBezTo>
                  <a:pt x="37" y="114"/>
                  <a:pt x="24" y="89"/>
                  <a:pt x="24" y="79"/>
                </a:cubicBezTo>
                <a:cubicBezTo>
                  <a:pt x="23" y="66"/>
                  <a:pt x="32" y="38"/>
                  <a:pt x="42" y="26"/>
                </a:cubicBezTo>
                <a:cubicBezTo>
                  <a:pt x="39" y="25"/>
                  <a:pt x="36" y="25"/>
                  <a:pt x="33" y="24"/>
                </a:cubicBezTo>
                <a:cubicBezTo>
                  <a:pt x="32" y="26"/>
                  <a:pt x="31" y="29"/>
                  <a:pt x="29" y="31"/>
                </a:cubicBezTo>
                <a:cubicBezTo>
                  <a:pt x="25" y="40"/>
                  <a:pt x="22" y="50"/>
                  <a:pt x="20" y="59"/>
                </a:cubicBezTo>
                <a:cubicBezTo>
                  <a:pt x="19" y="65"/>
                  <a:pt x="18" y="71"/>
                  <a:pt x="18" y="75"/>
                </a:cubicBezTo>
                <a:cubicBezTo>
                  <a:pt x="18" y="75"/>
                  <a:pt x="18" y="76"/>
                  <a:pt x="18" y="76"/>
                </a:cubicBezTo>
                <a:cubicBezTo>
                  <a:pt x="18" y="78"/>
                  <a:pt x="19" y="80"/>
                  <a:pt x="19" y="82"/>
                </a:cubicBezTo>
                <a:cubicBezTo>
                  <a:pt x="20" y="84"/>
                  <a:pt x="21" y="87"/>
                  <a:pt x="22" y="89"/>
                </a:cubicBezTo>
                <a:cubicBezTo>
                  <a:pt x="23" y="95"/>
                  <a:pt x="26" y="101"/>
                  <a:pt x="29" y="106"/>
                </a:cubicBezTo>
                <a:cubicBezTo>
                  <a:pt x="34" y="117"/>
                  <a:pt x="39" y="127"/>
                  <a:pt x="41" y="129"/>
                </a:cubicBezTo>
                <a:cubicBezTo>
                  <a:pt x="41" y="129"/>
                  <a:pt x="41" y="129"/>
                  <a:pt x="41" y="129"/>
                </a:cubicBezTo>
                <a:cubicBezTo>
                  <a:pt x="42" y="131"/>
                  <a:pt x="41" y="132"/>
                  <a:pt x="40" y="133"/>
                </a:cubicBezTo>
                <a:cubicBezTo>
                  <a:pt x="39" y="133"/>
                  <a:pt x="39" y="134"/>
                  <a:pt x="38" y="134"/>
                </a:cubicBezTo>
                <a:cubicBezTo>
                  <a:pt x="37" y="134"/>
                  <a:pt x="36" y="133"/>
                  <a:pt x="36" y="132"/>
                </a:cubicBezTo>
                <a:cubicBezTo>
                  <a:pt x="36" y="132"/>
                  <a:pt x="26" y="116"/>
                  <a:pt x="19" y="100"/>
                </a:cubicBezTo>
                <a:cubicBezTo>
                  <a:pt x="17" y="94"/>
                  <a:pt x="15" y="89"/>
                  <a:pt x="14" y="84"/>
                </a:cubicBezTo>
                <a:cubicBezTo>
                  <a:pt x="13" y="81"/>
                  <a:pt x="12" y="79"/>
                  <a:pt x="12" y="76"/>
                </a:cubicBezTo>
                <a:cubicBezTo>
                  <a:pt x="12" y="76"/>
                  <a:pt x="12" y="75"/>
                  <a:pt x="12" y="75"/>
                </a:cubicBezTo>
                <a:cubicBezTo>
                  <a:pt x="12" y="71"/>
                  <a:pt x="13" y="67"/>
                  <a:pt x="13" y="62"/>
                </a:cubicBezTo>
                <a:cubicBezTo>
                  <a:pt x="14" y="58"/>
                  <a:pt x="15" y="53"/>
                  <a:pt x="17" y="48"/>
                </a:cubicBezTo>
                <a:cubicBezTo>
                  <a:pt x="19" y="39"/>
                  <a:pt x="23" y="30"/>
                  <a:pt x="27" y="22"/>
                </a:cubicBezTo>
                <a:cubicBezTo>
                  <a:pt x="24" y="21"/>
                  <a:pt x="21" y="20"/>
                  <a:pt x="18" y="19"/>
                </a:cubicBezTo>
                <a:moveTo>
                  <a:pt x="40" y="0"/>
                </a:moveTo>
                <a:cubicBezTo>
                  <a:pt x="39" y="0"/>
                  <a:pt x="38" y="0"/>
                  <a:pt x="37" y="0"/>
                </a:cubicBezTo>
                <a:cubicBezTo>
                  <a:pt x="40" y="1"/>
                  <a:pt x="43" y="2"/>
                  <a:pt x="46" y="2"/>
                </a:cubicBezTo>
                <a:cubicBezTo>
                  <a:pt x="44" y="1"/>
                  <a:pt x="42" y="0"/>
                  <a:pt x="40"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5" name="Freeform 50"/>
          <p:cNvSpPr>
            <a:spLocks noEditPoints="1"/>
          </p:cNvSpPr>
          <p:nvPr/>
        </p:nvSpPr>
        <p:spPr bwMode="auto">
          <a:xfrm>
            <a:off x="3146426" y="5054600"/>
            <a:ext cx="192088" cy="66675"/>
          </a:xfrm>
          <a:custGeom>
            <a:avLst/>
            <a:gdLst>
              <a:gd name="T0" fmla="*/ 38 w 113"/>
              <a:gd name="T1" fmla="*/ 25 h 39"/>
              <a:gd name="T2" fmla="*/ 32 w 113"/>
              <a:gd name="T3" fmla="*/ 32 h 39"/>
              <a:gd name="T4" fmla="*/ 29 w 113"/>
              <a:gd name="T5" fmla="*/ 37 h 39"/>
              <a:gd name="T6" fmla="*/ 38 w 113"/>
              <a:gd name="T7" fmla="*/ 39 h 39"/>
              <a:gd name="T8" fmla="*/ 49 w 113"/>
              <a:gd name="T9" fmla="*/ 39 h 39"/>
              <a:gd name="T10" fmla="*/ 51 w 113"/>
              <a:gd name="T11" fmla="*/ 39 h 39"/>
              <a:gd name="T12" fmla="*/ 55 w 113"/>
              <a:gd name="T13" fmla="*/ 26 h 39"/>
              <a:gd name="T14" fmla="*/ 55 w 113"/>
              <a:gd name="T15" fmla="*/ 26 h 39"/>
              <a:gd name="T16" fmla="*/ 52 w 113"/>
              <a:gd name="T17" fmla="*/ 27 h 39"/>
              <a:gd name="T18" fmla="*/ 52 w 113"/>
              <a:gd name="T19" fmla="*/ 27 h 39"/>
              <a:gd name="T20" fmla="*/ 38 w 113"/>
              <a:gd name="T21" fmla="*/ 25 h 39"/>
              <a:gd name="T22" fmla="*/ 100 w 113"/>
              <a:gd name="T23" fmla="*/ 0 h 39"/>
              <a:gd name="T24" fmla="*/ 92 w 113"/>
              <a:gd name="T25" fmla="*/ 3 h 39"/>
              <a:gd name="T26" fmla="*/ 69 w 113"/>
              <a:gd name="T27" fmla="*/ 13 h 39"/>
              <a:gd name="T28" fmla="*/ 72 w 113"/>
              <a:gd name="T29" fmla="*/ 14 h 39"/>
              <a:gd name="T30" fmla="*/ 77 w 113"/>
              <a:gd name="T31" fmla="*/ 17 h 39"/>
              <a:gd name="T32" fmla="*/ 89 w 113"/>
              <a:gd name="T33" fmla="*/ 13 h 39"/>
              <a:gd name="T34" fmla="*/ 101 w 113"/>
              <a:gd name="T35" fmla="*/ 6 h 39"/>
              <a:gd name="T36" fmla="*/ 101 w 113"/>
              <a:gd name="T37" fmla="*/ 6 h 39"/>
              <a:gd name="T38" fmla="*/ 101 w 113"/>
              <a:gd name="T39" fmla="*/ 6 h 39"/>
              <a:gd name="T40" fmla="*/ 103 w 113"/>
              <a:gd name="T41" fmla="*/ 5 h 39"/>
              <a:gd name="T42" fmla="*/ 105 w 113"/>
              <a:gd name="T43" fmla="*/ 6 h 39"/>
              <a:gd name="T44" fmla="*/ 105 w 113"/>
              <a:gd name="T45" fmla="*/ 10 h 39"/>
              <a:gd name="T46" fmla="*/ 92 w 113"/>
              <a:gd name="T47" fmla="*/ 18 h 39"/>
              <a:gd name="T48" fmla="*/ 80 w 113"/>
              <a:gd name="T49" fmla="*/ 23 h 39"/>
              <a:gd name="T50" fmla="*/ 79 w 113"/>
              <a:gd name="T51" fmla="*/ 29 h 39"/>
              <a:gd name="T52" fmla="*/ 77 w 113"/>
              <a:gd name="T53" fmla="*/ 36 h 39"/>
              <a:gd name="T54" fmla="*/ 108 w 113"/>
              <a:gd name="T55" fmla="*/ 20 h 39"/>
              <a:gd name="T56" fmla="*/ 109 w 113"/>
              <a:gd name="T57" fmla="*/ 3 h 39"/>
              <a:gd name="T58" fmla="*/ 100 w 113"/>
              <a:gd name="T59" fmla="*/ 0 h 39"/>
              <a:gd name="T60" fmla="*/ 6 w 113"/>
              <a:gd name="T61" fmla="*/ 0 h 39"/>
              <a:gd name="T62" fmla="*/ 5 w 113"/>
              <a:gd name="T63" fmla="*/ 0 h 39"/>
              <a:gd name="T64" fmla="*/ 0 w 113"/>
              <a:gd name="T65" fmla="*/ 22 h 39"/>
              <a:gd name="T66" fmla="*/ 14 w 113"/>
              <a:gd name="T67" fmla="*/ 32 h 39"/>
              <a:gd name="T68" fmla="*/ 23 w 113"/>
              <a:gd name="T69" fmla="*/ 35 h 39"/>
              <a:gd name="T70" fmla="*/ 25 w 113"/>
              <a:gd name="T71" fmla="*/ 32 h 39"/>
              <a:gd name="T72" fmla="*/ 31 w 113"/>
              <a:gd name="T73" fmla="*/ 24 h 39"/>
              <a:gd name="T74" fmla="*/ 17 w 113"/>
              <a:gd name="T75" fmla="*/ 18 h 39"/>
              <a:gd name="T76" fmla="*/ 7 w 113"/>
              <a:gd name="T77" fmla="*/ 10 h 39"/>
              <a:gd name="T78" fmla="*/ 7 w 113"/>
              <a:gd name="T79" fmla="*/ 5 h 39"/>
              <a:gd name="T80" fmla="*/ 9 w 113"/>
              <a:gd name="T81" fmla="*/ 5 h 39"/>
              <a:gd name="T82" fmla="*/ 11 w 113"/>
              <a:gd name="T83" fmla="*/ 6 h 39"/>
              <a:gd name="T84" fmla="*/ 11 w 113"/>
              <a:gd name="T85" fmla="*/ 6 h 39"/>
              <a:gd name="T86" fmla="*/ 11 w 113"/>
              <a:gd name="T87" fmla="*/ 6 h 39"/>
              <a:gd name="T88" fmla="*/ 12 w 113"/>
              <a:gd name="T89" fmla="*/ 7 h 39"/>
              <a:gd name="T90" fmla="*/ 13 w 113"/>
              <a:gd name="T91" fmla="*/ 8 h 39"/>
              <a:gd name="T92" fmla="*/ 20 w 113"/>
              <a:gd name="T93" fmla="*/ 13 h 39"/>
              <a:gd name="T94" fmla="*/ 37 w 113"/>
              <a:gd name="T95" fmla="*/ 19 h 39"/>
              <a:gd name="T96" fmla="*/ 37 w 113"/>
              <a:gd name="T97" fmla="*/ 19 h 39"/>
              <a:gd name="T98" fmla="*/ 39 w 113"/>
              <a:gd name="T99" fmla="*/ 18 h 39"/>
              <a:gd name="T100" fmla="*/ 41 w 113"/>
              <a:gd name="T101" fmla="*/ 20 h 39"/>
              <a:gd name="T102" fmla="*/ 41 w 113"/>
              <a:gd name="T103" fmla="*/ 20 h 39"/>
              <a:gd name="T104" fmla="*/ 52 w 113"/>
              <a:gd name="T105" fmla="*/ 21 h 39"/>
              <a:gd name="T106" fmla="*/ 54 w 113"/>
              <a:gd name="T107" fmla="*/ 21 h 39"/>
              <a:gd name="T108" fmla="*/ 57 w 113"/>
              <a:gd name="T109" fmla="*/ 20 h 39"/>
              <a:gd name="T110" fmla="*/ 62 w 113"/>
              <a:gd name="T111" fmla="*/ 14 h 39"/>
              <a:gd name="T112" fmla="*/ 51 w 113"/>
              <a:gd name="T113" fmla="*/ 15 h 39"/>
              <a:gd name="T114" fmla="*/ 49 w 113"/>
              <a:gd name="T115" fmla="*/ 15 h 39"/>
              <a:gd name="T116" fmla="*/ 42 w 113"/>
              <a:gd name="T117" fmla="*/ 15 h 39"/>
              <a:gd name="T118" fmla="*/ 33 w 113"/>
              <a:gd name="T119" fmla="*/ 13 h 39"/>
              <a:gd name="T120" fmla="*/ 15 w 113"/>
              <a:gd name="T121" fmla="*/ 4 h 39"/>
              <a:gd name="T122" fmla="*/ 6 w 113"/>
              <a:gd name="T12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3" h="39">
                <a:moveTo>
                  <a:pt x="38" y="25"/>
                </a:moveTo>
                <a:cubicBezTo>
                  <a:pt x="36" y="27"/>
                  <a:pt x="34" y="29"/>
                  <a:pt x="32" y="32"/>
                </a:cubicBezTo>
                <a:cubicBezTo>
                  <a:pt x="31" y="34"/>
                  <a:pt x="30" y="35"/>
                  <a:pt x="29" y="37"/>
                </a:cubicBezTo>
                <a:cubicBezTo>
                  <a:pt x="32" y="38"/>
                  <a:pt x="35" y="38"/>
                  <a:pt x="38" y="39"/>
                </a:cubicBezTo>
                <a:cubicBezTo>
                  <a:pt x="42" y="39"/>
                  <a:pt x="45" y="39"/>
                  <a:pt x="49" y="39"/>
                </a:cubicBezTo>
                <a:cubicBezTo>
                  <a:pt x="50" y="39"/>
                  <a:pt x="50" y="39"/>
                  <a:pt x="51" y="39"/>
                </a:cubicBezTo>
                <a:cubicBezTo>
                  <a:pt x="52" y="34"/>
                  <a:pt x="53" y="30"/>
                  <a:pt x="55" y="26"/>
                </a:cubicBezTo>
                <a:cubicBezTo>
                  <a:pt x="55" y="26"/>
                  <a:pt x="55" y="26"/>
                  <a:pt x="55" y="26"/>
                </a:cubicBezTo>
                <a:cubicBezTo>
                  <a:pt x="54" y="27"/>
                  <a:pt x="53" y="27"/>
                  <a:pt x="52" y="27"/>
                </a:cubicBezTo>
                <a:cubicBezTo>
                  <a:pt x="52" y="27"/>
                  <a:pt x="52" y="27"/>
                  <a:pt x="52" y="27"/>
                </a:cubicBezTo>
                <a:cubicBezTo>
                  <a:pt x="47" y="27"/>
                  <a:pt x="43" y="26"/>
                  <a:pt x="38" y="25"/>
                </a:cubicBezTo>
                <a:moveTo>
                  <a:pt x="100" y="0"/>
                </a:moveTo>
                <a:cubicBezTo>
                  <a:pt x="97" y="0"/>
                  <a:pt x="94" y="1"/>
                  <a:pt x="92" y="3"/>
                </a:cubicBezTo>
                <a:cubicBezTo>
                  <a:pt x="91" y="3"/>
                  <a:pt x="84" y="10"/>
                  <a:pt x="69" y="13"/>
                </a:cubicBezTo>
                <a:cubicBezTo>
                  <a:pt x="70" y="13"/>
                  <a:pt x="71" y="13"/>
                  <a:pt x="72" y="14"/>
                </a:cubicBezTo>
                <a:cubicBezTo>
                  <a:pt x="74" y="15"/>
                  <a:pt x="76" y="16"/>
                  <a:pt x="77" y="17"/>
                </a:cubicBezTo>
                <a:cubicBezTo>
                  <a:pt x="82" y="16"/>
                  <a:pt x="86" y="14"/>
                  <a:pt x="89" y="13"/>
                </a:cubicBezTo>
                <a:cubicBezTo>
                  <a:pt x="97" y="9"/>
                  <a:pt x="101" y="6"/>
                  <a:pt x="101" y="6"/>
                </a:cubicBezTo>
                <a:cubicBezTo>
                  <a:pt x="101" y="6"/>
                  <a:pt x="101" y="6"/>
                  <a:pt x="101" y="6"/>
                </a:cubicBezTo>
                <a:cubicBezTo>
                  <a:pt x="101" y="6"/>
                  <a:pt x="101" y="6"/>
                  <a:pt x="101" y="6"/>
                </a:cubicBezTo>
                <a:cubicBezTo>
                  <a:pt x="101" y="5"/>
                  <a:pt x="102" y="5"/>
                  <a:pt x="103" y="5"/>
                </a:cubicBezTo>
                <a:cubicBezTo>
                  <a:pt x="104" y="5"/>
                  <a:pt x="105" y="5"/>
                  <a:pt x="105" y="6"/>
                </a:cubicBezTo>
                <a:cubicBezTo>
                  <a:pt x="106" y="7"/>
                  <a:pt x="106" y="9"/>
                  <a:pt x="105" y="10"/>
                </a:cubicBezTo>
                <a:cubicBezTo>
                  <a:pt x="105" y="10"/>
                  <a:pt x="101" y="14"/>
                  <a:pt x="92" y="18"/>
                </a:cubicBezTo>
                <a:cubicBezTo>
                  <a:pt x="89" y="20"/>
                  <a:pt x="85" y="21"/>
                  <a:pt x="80" y="23"/>
                </a:cubicBezTo>
                <a:cubicBezTo>
                  <a:pt x="80" y="25"/>
                  <a:pt x="80" y="27"/>
                  <a:pt x="79" y="29"/>
                </a:cubicBezTo>
                <a:cubicBezTo>
                  <a:pt x="79" y="29"/>
                  <a:pt x="78" y="32"/>
                  <a:pt x="77" y="36"/>
                </a:cubicBezTo>
                <a:cubicBezTo>
                  <a:pt x="96" y="31"/>
                  <a:pt x="107" y="22"/>
                  <a:pt x="108" y="20"/>
                </a:cubicBezTo>
                <a:cubicBezTo>
                  <a:pt x="113" y="16"/>
                  <a:pt x="113" y="8"/>
                  <a:pt x="109" y="3"/>
                </a:cubicBezTo>
                <a:cubicBezTo>
                  <a:pt x="106" y="1"/>
                  <a:pt x="103" y="0"/>
                  <a:pt x="100" y="0"/>
                </a:cubicBezTo>
                <a:moveTo>
                  <a:pt x="6" y="0"/>
                </a:moveTo>
                <a:cubicBezTo>
                  <a:pt x="5" y="0"/>
                  <a:pt x="5" y="0"/>
                  <a:pt x="5" y="0"/>
                </a:cubicBezTo>
                <a:cubicBezTo>
                  <a:pt x="7" y="7"/>
                  <a:pt x="3" y="16"/>
                  <a:pt x="0" y="22"/>
                </a:cubicBezTo>
                <a:cubicBezTo>
                  <a:pt x="2" y="25"/>
                  <a:pt x="7" y="29"/>
                  <a:pt x="14" y="32"/>
                </a:cubicBezTo>
                <a:cubicBezTo>
                  <a:pt x="17" y="33"/>
                  <a:pt x="20" y="34"/>
                  <a:pt x="23" y="35"/>
                </a:cubicBezTo>
                <a:cubicBezTo>
                  <a:pt x="24" y="34"/>
                  <a:pt x="24" y="33"/>
                  <a:pt x="25" y="32"/>
                </a:cubicBezTo>
                <a:cubicBezTo>
                  <a:pt x="27" y="29"/>
                  <a:pt x="29" y="26"/>
                  <a:pt x="31" y="24"/>
                </a:cubicBezTo>
                <a:cubicBezTo>
                  <a:pt x="26" y="22"/>
                  <a:pt x="21" y="20"/>
                  <a:pt x="17" y="18"/>
                </a:cubicBezTo>
                <a:cubicBezTo>
                  <a:pt x="10" y="14"/>
                  <a:pt x="7" y="10"/>
                  <a:pt x="7" y="10"/>
                </a:cubicBezTo>
                <a:cubicBezTo>
                  <a:pt x="6" y="8"/>
                  <a:pt x="6" y="7"/>
                  <a:pt x="7" y="5"/>
                </a:cubicBezTo>
                <a:cubicBezTo>
                  <a:pt x="8" y="5"/>
                  <a:pt x="8" y="5"/>
                  <a:pt x="9" y="5"/>
                </a:cubicBezTo>
                <a:cubicBezTo>
                  <a:pt x="10" y="5"/>
                  <a:pt x="11" y="5"/>
                  <a:pt x="11" y="6"/>
                </a:cubicBezTo>
                <a:cubicBezTo>
                  <a:pt x="11" y="6"/>
                  <a:pt x="11" y="6"/>
                  <a:pt x="11" y="6"/>
                </a:cubicBezTo>
                <a:cubicBezTo>
                  <a:pt x="11" y="6"/>
                  <a:pt x="11" y="6"/>
                  <a:pt x="11" y="6"/>
                </a:cubicBezTo>
                <a:cubicBezTo>
                  <a:pt x="11" y="6"/>
                  <a:pt x="12" y="6"/>
                  <a:pt x="12" y="7"/>
                </a:cubicBezTo>
                <a:cubicBezTo>
                  <a:pt x="12" y="7"/>
                  <a:pt x="13" y="7"/>
                  <a:pt x="13" y="8"/>
                </a:cubicBezTo>
                <a:cubicBezTo>
                  <a:pt x="15" y="9"/>
                  <a:pt x="17" y="11"/>
                  <a:pt x="20" y="13"/>
                </a:cubicBezTo>
                <a:cubicBezTo>
                  <a:pt x="24" y="15"/>
                  <a:pt x="30" y="18"/>
                  <a:pt x="37" y="19"/>
                </a:cubicBezTo>
                <a:cubicBezTo>
                  <a:pt x="37" y="19"/>
                  <a:pt x="37" y="19"/>
                  <a:pt x="37" y="19"/>
                </a:cubicBezTo>
                <a:cubicBezTo>
                  <a:pt x="38" y="18"/>
                  <a:pt x="38" y="18"/>
                  <a:pt x="39" y="18"/>
                </a:cubicBezTo>
                <a:cubicBezTo>
                  <a:pt x="40" y="18"/>
                  <a:pt x="41" y="19"/>
                  <a:pt x="41" y="20"/>
                </a:cubicBezTo>
                <a:cubicBezTo>
                  <a:pt x="41" y="20"/>
                  <a:pt x="41" y="20"/>
                  <a:pt x="41" y="20"/>
                </a:cubicBezTo>
                <a:cubicBezTo>
                  <a:pt x="45" y="20"/>
                  <a:pt x="48" y="21"/>
                  <a:pt x="52" y="21"/>
                </a:cubicBezTo>
                <a:cubicBezTo>
                  <a:pt x="53" y="21"/>
                  <a:pt x="54" y="21"/>
                  <a:pt x="54" y="21"/>
                </a:cubicBezTo>
                <a:cubicBezTo>
                  <a:pt x="55" y="21"/>
                  <a:pt x="56" y="20"/>
                  <a:pt x="57" y="20"/>
                </a:cubicBezTo>
                <a:cubicBezTo>
                  <a:pt x="58" y="18"/>
                  <a:pt x="60" y="16"/>
                  <a:pt x="62" y="14"/>
                </a:cubicBezTo>
                <a:cubicBezTo>
                  <a:pt x="59" y="15"/>
                  <a:pt x="55" y="15"/>
                  <a:pt x="51" y="15"/>
                </a:cubicBezTo>
                <a:cubicBezTo>
                  <a:pt x="51" y="15"/>
                  <a:pt x="50" y="15"/>
                  <a:pt x="49" y="15"/>
                </a:cubicBezTo>
                <a:cubicBezTo>
                  <a:pt x="47" y="15"/>
                  <a:pt x="44" y="15"/>
                  <a:pt x="42" y="15"/>
                </a:cubicBezTo>
                <a:cubicBezTo>
                  <a:pt x="39" y="15"/>
                  <a:pt x="36" y="14"/>
                  <a:pt x="33" y="13"/>
                </a:cubicBezTo>
                <a:cubicBezTo>
                  <a:pt x="21" y="10"/>
                  <a:pt x="16" y="5"/>
                  <a:pt x="15" y="4"/>
                </a:cubicBezTo>
                <a:cubicBezTo>
                  <a:pt x="13" y="1"/>
                  <a:pt x="9" y="0"/>
                  <a:pt x="6"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6" name="Freeform 51"/>
          <p:cNvSpPr>
            <a:spLocks noEditPoints="1"/>
          </p:cNvSpPr>
          <p:nvPr/>
        </p:nvSpPr>
        <p:spPr bwMode="auto">
          <a:xfrm>
            <a:off x="3219451" y="5076825"/>
            <a:ext cx="247650" cy="350837"/>
          </a:xfrm>
          <a:custGeom>
            <a:avLst/>
            <a:gdLst>
              <a:gd name="T0" fmla="*/ 12 w 146"/>
              <a:gd name="T1" fmla="*/ 13 h 207"/>
              <a:gd name="T2" fmla="*/ 2 w 146"/>
              <a:gd name="T3" fmla="*/ 56 h 207"/>
              <a:gd name="T4" fmla="*/ 8 w 146"/>
              <a:gd name="T5" fmla="*/ 89 h 207"/>
              <a:gd name="T6" fmla="*/ 39 w 146"/>
              <a:gd name="T7" fmla="*/ 96 h 207"/>
              <a:gd name="T8" fmla="*/ 77 w 146"/>
              <a:gd name="T9" fmla="*/ 97 h 207"/>
              <a:gd name="T10" fmla="*/ 87 w 146"/>
              <a:gd name="T11" fmla="*/ 92 h 207"/>
              <a:gd name="T12" fmla="*/ 99 w 146"/>
              <a:gd name="T13" fmla="*/ 101 h 207"/>
              <a:gd name="T14" fmla="*/ 120 w 146"/>
              <a:gd name="T15" fmla="*/ 115 h 207"/>
              <a:gd name="T16" fmla="*/ 117 w 146"/>
              <a:gd name="T17" fmla="*/ 125 h 207"/>
              <a:gd name="T18" fmla="*/ 105 w 146"/>
              <a:gd name="T19" fmla="*/ 137 h 207"/>
              <a:gd name="T20" fmla="*/ 95 w 146"/>
              <a:gd name="T21" fmla="*/ 139 h 207"/>
              <a:gd name="T22" fmla="*/ 56 w 146"/>
              <a:gd name="T23" fmla="*/ 152 h 207"/>
              <a:gd name="T24" fmla="*/ 64 w 146"/>
              <a:gd name="T25" fmla="*/ 156 h 207"/>
              <a:gd name="T26" fmla="*/ 88 w 146"/>
              <a:gd name="T27" fmla="*/ 149 h 207"/>
              <a:gd name="T28" fmla="*/ 118 w 146"/>
              <a:gd name="T29" fmla="*/ 133 h 207"/>
              <a:gd name="T30" fmla="*/ 133 w 146"/>
              <a:gd name="T31" fmla="*/ 108 h 207"/>
              <a:gd name="T32" fmla="*/ 126 w 146"/>
              <a:gd name="T33" fmla="*/ 103 h 207"/>
              <a:gd name="T34" fmla="*/ 109 w 146"/>
              <a:gd name="T35" fmla="*/ 91 h 207"/>
              <a:gd name="T36" fmla="*/ 91 w 146"/>
              <a:gd name="T37" fmla="*/ 86 h 207"/>
              <a:gd name="T38" fmla="*/ 56 w 146"/>
              <a:gd name="T39" fmla="*/ 83 h 207"/>
              <a:gd name="T40" fmla="*/ 33 w 146"/>
              <a:gd name="T41" fmla="*/ 84 h 207"/>
              <a:gd name="T42" fmla="*/ 16 w 146"/>
              <a:gd name="T43" fmla="*/ 77 h 207"/>
              <a:gd name="T44" fmla="*/ 13 w 146"/>
              <a:gd name="T45" fmla="*/ 65 h 207"/>
              <a:gd name="T46" fmla="*/ 14 w 146"/>
              <a:gd name="T47" fmla="*/ 53 h 207"/>
              <a:gd name="T48" fmla="*/ 23 w 146"/>
              <a:gd name="T49" fmla="*/ 13 h 207"/>
              <a:gd name="T50" fmla="*/ 30 w 146"/>
              <a:gd name="T51" fmla="*/ 11 h 207"/>
              <a:gd name="T52" fmla="*/ 26 w 146"/>
              <a:gd name="T53" fmla="*/ 25 h 207"/>
              <a:gd name="T54" fmla="*/ 20 w 146"/>
              <a:gd name="T55" fmla="*/ 53 h 207"/>
              <a:gd name="T56" fmla="*/ 20 w 146"/>
              <a:gd name="T57" fmla="*/ 72 h 207"/>
              <a:gd name="T58" fmla="*/ 25 w 146"/>
              <a:gd name="T59" fmla="*/ 77 h 207"/>
              <a:gd name="T60" fmla="*/ 33 w 146"/>
              <a:gd name="T61" fmla="*/ 78 h 207"/>
              <a:gd name="T62" fmla="*/ 56 w 146"/>
              <a:gd name="T63" fmla="*/ 77 h 207"/>
              <a:gd name="T64" fmla="*/ 111 w 146"/>
              <a:gd name="T65" fmla="*/ 85 h 207"/>
              <a:gd name="T66" fmla="*/ 130 w 146"/>
              <a:gd name="T67" fmla="*/ 98 h 207"/>
              <a:gd name="T68" fmla="*/ 139 w 146"/>
              <a:gd name="T69" fmla="*/ 106 h 207"/>
              <a:gd name="T70" fmla="*/ 134 w 146"/>
              <a:gd name="T71" fmla="*/ 123 h 207"/>
              <a:gd name="T72" fmla="*/ 105 w 146"/>
              <a:gd name="T73" fmla="*/ 148 h 207"/>
              <a:gd name="T74" fmla="*/ 76 w 146"/>
              <a:gd name="T75" fmla="*/ 159 h 207"/>
              <a:gd name="T76" fmla="*/ 67 w 146"/>
              <a:gd name="T77" fmla="*/ 168 h 207"/>
              <a:gd name="T78" fmla="*/ 64 w 146"/>
              <a:gd name="T79" fmla="*/ 180 h 207"/>
              <a:gd name="T80" fmla="*/ 60 w 146"/>
              <a:gd name="T81" fmla="*/ 195 h 207"/>
              <a:gd name="T82" fmla="*/ 57 w 146"/>
              <a:gd name="T83" fmla="*/ 191 h 207"/>
              <a:gd name="T84" fmla="*/ 58 w 146"/>
              <a:gd name="T85" fmla="*/ 190 h 207"/>
              <a:gd name="T86" fmla="*/ 58 w 146"/>
              <a:gd name="T87" fmla="*/ 180 h 207"/>
              <a:gd name="T88" fmla="*/ 55 w 146"/>
              <a:gd name="T89" fmla="*/ 176 h 207"/>
              <a:gd name="T90" fmla="*/ 45 w 146"/>
              <a:gd name="T91" fmla="*/ 174 h 207"/>
              <a:gd name="T92" fmla="*/ 56 w 146"/>
              <a:gd name="T93" fmla="*/ 207 h 207"/>
              <a:gd name="T94" fmla="*/ 67 w 146"/>
              <a:gd name="T95" fmla="*/ 203 h 207"/>
              <a:gd name="T96" fmla="*/ 69 w 146"/>
              <a:gd name="T97" fmla="*/ 194 h 207"/>
              <a:gd name="T98" fmla="*/ 106 w 146"/>
              <a:gd name="T99" fmla="*/ 160 h 207"/>
              <a:gd name="T100" fmla="*/ 141 w 146"/>
              <a:gd name="T101" fmla="*/ 126 h 207"/>
              <a:gd name="T102" fmla="*/ 146 w 146"/>
              <a:gd name="T103" fmla="*/ 108 h 207"/>
              <a:gd name="T104" fmla="*/ 141 w 146"/>
              <a:gd name="T105" fmla="*/ 102 h 207"/>
              <a:gd name="T106" fmla="*/ 53 w 146"/>
              <a:gd name="T107" fmla="*/ 72 h 207"/>
              <a:gd name="T108" fmla="*/ 30 w 146"/>
              <a:gd name="T109" fmla="*/ 73 h 207"/>
              <a:gd name="T110" fmla="*/ 25 w 146"/>
              <a:gd name="T111" fmla="*/ 60 h 207"/>
              <a:gd name="T112" fmla="*/ 34 w 146"/>
              <a:gd name="T113" fmla="*/ 23 h 207"/>
              <a:gd name="T114" fmla="*/ 37 w 146"/>
              <a:gd name="T115" fmla="*/ 10 h 207"/>
              <a:gd name="T116" fmla="*/ 19 w 146"/>
              <a:gd name="T117" fmla="*/ 1 h 207"/>
              <a:gd name="T118" fmla="*/ 26 w 146"/>
              <a:gd name="T119" fmla="*/ 6 h 207"/>
              <a:gd name="T120" fmla="*/ 29 w 146"/>
              <a:gd name="T121" fmla="*/ 5 h 207"/>
              <a:gd name="T122" fmla="*/ 34 w 146"/>
              <a:gd name="T123" fmla="*/ 4 h 207"/>
              <a:gd name="T124" fmla="*/ 26 w 146"/>
              <a:gd name="T125"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6" h="207">
                <a:moveTo>
                  <a:pt x="23" y="13"/>
                </a:moveTo>
                <a:cubicBezTo>
                  <a:pt x="20" y="13"/>
                  <a:pt x="16" y="13"/>
                  <a:pt x="12" y="13"/>
                </a:cubicBezTo>
                <a:cubicBezTo>
                  <a:pt x="10" y="17"/>
                  <a:pt x="9" y="21"/>
                  <a:pt x="8" y="26"/>
                </a:cubicBezTo>
                <a:cubicBezTo>
                  <a:pt x="5" y="35"/>
                  <a:pt x="2" y="46"/>
                  <a:pt x="2" y="56"/>
                </a:cubicBezTo>
                <a:cubicBezTo>
                  <a:pt x="1" y="58"/>
                  <a:pt x="1" y="58"/>
                  <a:pt x="1" y="58"/>
                </a:cubicBezTo>
                <a:cubicBezTo>
                  <a:pt x="1" y="69"/>
                  <a:pt x="0" y="81"/>
                  <a:pt x="8" y="89"/>
                </a:cubicBezTo>
                <a:cubicBezTo>
                  <a:pt x="14" y="95"/>
                  <a:pt x="22" y="97"/>
                  <a:pt x="30" y="97"/>
                </a:cubicBezTo>
                <a:cubicBezTo>
                  <a:pt x="33" y="97"/>
                  <a:pt x="37" y="97"/>
                  <a:pt x="39" y="96"/>
                </a:cubicBezTo>
                <a:cubicBezTo>
                  <a:pt x="44" y="96"/>
                  <a:pt x="49" y="96"/>
                  <a:pt x="53" y="96"/>
                </a:cubicBezTo>
                <a:cubicBezTo>
                  <a:pt x="62" y="96"/>
                  <a:pt x="70" y="96"/>
                  <a:pt x="77" y="97"/>
                </a:cubicBezTo>
                <a:cubicBezTo>
                  <a:pt x="78" y="97"/>
                  <a:pt x="78" y="97"/>
                  <a:pt x="78" y="97"/>
                </a:cubicBezTo>
                <a:cubicBezTo>
                  <a:pt x="80" y="94"/>
                  <a:pt x="84" y="92"/>
                  <a:pt x="87" y="92"/>
                </a:cubicBezTo>
                <a:cubicBezTo>
                  <a:pt x="90" y="92"/>
                  <a:pt x="92" y="92"/>
                  <a:pt x="94" y="94"/>
                </a:cubicBezTo>
                <a:cubicBezTo>
                  <a:pt x="97" y="96"/>
                  <a:pt x="99" y="99"/>
                  <a:pt x="99" y="101"/>
                </a:cubicBezTo>
                <a:cubicBezTo>
                  <a:pt x="102" y="102"/>
                  <a:pt x="103" y="103"/>
                  <a:pt x="104" y="103"/>
                </a:cubicBezTo>
                <a:cubicBezTo>
                  <a:pt x="108" y="106"/>
                  <a:pt x="115" y="111"/>
                  <a:pt x="120" y="115"/>
                </a:cubicBezTo>
                <a:cubicBezTo>
                  <a:pt x="119" y="117"/>
                  <a:pt x="118" y="120"/>
                  <a:pt x="117" y="121"/>
                </a:cubicBezTo>
                <a:cubicBezTo>
                  <a:pt x="117" y="123"/>
                  <a:pt x="117" y="124"/>
                  <a:pt x="117" y="125"/>
                </a:cubicBezTo>
                <a:cubicBezTo>
                  <a:pt x="117" y="132"/>
                  <a:pt x="112" y="137"/>
                  <a:pt x="105" y="137"/>
                </a:cubicBezTo>
                <a:cubicBezTo>
                  <a:pt x="105" y="137"/>
                  <a:pt x="105" y="137"/>
                  <a:pt x="105" y="137"/>
                </a:cubicBezTo>
                <a:cubicBezTo>
                  <a:pt x="99" y="136"/>
                  <a:pt x="99" y="136"/>
                  <a:pt x="99" y="136"/>
                </a:cubicBezTo>
                <a:cubicBezTo>
                  <a:pt x="98" y="137"/>
                  <a:pt x="96" y="138"/>
                  <a:pt x="95" y="139"/>
                </a:cubicBezTo>
                <a:cubicBezTo>
                  <a:pt x="94" y="139"/>
                  <a:pt x="94" y="139"/>
                  <a:pt x="94" y="139"/>
                </a:cubicBezTo>
                <a:cubicBezTo>
                  <a:pt x="84" y="145"/>
                  <a:pt x="65" y="150"/>
                  <a:pt x="56" y="152"/>
                </a:cubicBezTo>
                <a:cubicBezTo>
                  <a:pt x="59" y="153"/>
                  <a:pt x="59" y="153"/>
                  <a:pt x="59" y="153"/>
                </a:cubicBezTo>
                <a:cubicBezTo>
                  <a:pt x="61" y="154"/>
                  <a:pt x="63" y="155"/>
                  <a:pt x="64" y="156"/>
                </a:cubicBezTo>
                <a:cubicBezTo>
                  <a:pt x="65" y="156"/>
                  <a:pt x="66" y="156"/>
                  <a:pt x="68" y="155"/>
                </a:cubicBezTo>
                <a:cubicBezTo>
                  <a:pt x="74" y="154"/>
                  <a:pt x="81" y="152"/>
                  <a:pt x="88" y="149"/>
                </a:cubicBezTo>
                <a:cubicBezTo>
                  <a:pt x="93" y="147"/>
                  <a:pt x="98" y="145"/>
                  <a:pt x="102" y="143"/>
                </a:cubicBezTo>
                <a:cubicBezTo>
                  <a:pt x="108" y="140"/>
                  <a:pt x="113" y="137"/>
                  <a:pt x="118" y="133"/>
                </a:cubicBezTo>
                <a:cubicBezTo>
                  <a:pt x="122" y="130"/>
                  <a:pt x="126" y="126"/>
                  <a:pt x="129" y="120"/>
                </a:cubicBezTo>
                <a:cubicBezTo>
                  <a:pt x="130" y="117"/>
                  <a:pt x="132" y="113"/>
                  <a:pt x="133" y="108"/>
                </a:cubicBezTo>
                <a:cubicBezTo>
                  <a:pt x="132" y="108"/>
                  <a:pt x="132" y="108"/>
                  <a:pt x="132" y="107"/>
                </a:cubicBezTo>
                <a:cubicBezTo>
                  <a:pt x="130" y="106"/>
                  <a:pt x="128" y="104"/>
                  <a:pt x="126" y="103"/>
                </a:cubicBezTo>
                <a:cubicBezTo>
                  <a:pt x="122" y="99"/>
                  <a:pt x="116" y="95"/>
                  <a:pt x="112" y="92"/>
                </a:cubicBezTo>
                <a:cubicBezTo>
                  <a:pt x="111" y="92"/>
                  <a:pt x="110" y="91"/>
                  <a:pt x="109" y="91"/>
                </a:cubicBezTo>
                <a:cubicBezTo>
                  <a:pt x="108" y="90"/>
                  <a:pt x="106" y="90"/>
                  <a:pt x="104" y="89"/>
                </a:cubicBezTo>
                <a:cubicBezTo>
                  <a:pt x="101" y="88"/>
                  <a:pt x="96" y="87"/>
                  <a:pt x="91" y="86"/>
                </a:cubicBezTo>
                <a:cubicBezTo>
                  <a:pt x="81" y="84"/>
                  <a:pt x="68" y="83"/>
                  <a:pt x="56" y="83"/>
                </a:cubicBezTo>
                <a:cubicBezTo>
                  <a:pt x="56" y="83"/>
                  <a:pt x="56" y="83"/>
                  <a:pt x="56" y="83"/>
                </a:cubicBezTo>
                <a:cubicBezTo>
                  <a:pt x="51" y="83"/>
                  <a:pt x="46" y="83"/>
                  <a:pt x="42" y="84"/>
                </a:cubicBezTo>
                <a:cubicBezTo>
                  <a:pt x="39" y="84"/>
                  <a:pt x="36" y="84"/>
                  <a:pt x="33" y="84"/>
                </a:cubicBezTo>
                <a:cubicBezTo>
                  <a:pt x="29" y="84"/>
                  <a:pt x="26" y="84"/>
                  <a:pt x="23" y="83"/>
                </a:cubicBezTo>
                <a:cubicBezTo>
                  <a:pt x="20" y="81"/>
                  <a:pt x="17" y="80"/>
                  <a:pt x="16" y="77"/>
                </a:cubicBezTo>
                <a:cubicBezTo>
                  <a:pt x="15" y="76"/>
                  <a:pt x="14" y="74"/>
                  <a:pt x="14" y="73"/>
                </a:cubicBezTo>
                <a:cubicBezTo>
                  <a:pt x="13" y="70"/>
                  <a:pt x="13" y="68"/>
                  <a:pt x="13" y="65"/>
                </a:cubicBezTo>
                <a:cubicBezTo>
                  <a:pt x="13" y="61"/>
                  <a:pt x="13" y="57"/>
                  <a:pt x="14" y="53"/>
                </a:cubicBezTo>
                <a:cubicBezTo>
                  <a:pt x="14" y="53"/>
                  <a:pt x="14" y="53"/>
                  <a:pt x="14" y="53"/>
                </a:cubicBezTo>
                <a:cubicBezTo>
                  <a:pt x="15" y="43"/>
                  <a:pt x="17" y="32"/>
                  <a:pt x="20" y="23"/>
                </a:cubicBezTo>
                <a:cubicBezTo>
                  <a:pt x="21" y="19"/>
                  <a:pt x="22" y="15"/>
                  <a:pt x="23" y="13"/>
                </a:cubicBezTo>
                <a:moveTo>
                  <a:pt x="37" y="10"/>
                </a:moveTo>
                <a:cubicBezTo>
                  <a:pt x="34" y="10"/>
                  <a:pt x="32" y="11"/>
                  <a:pt x="30" y="11"/>
                </a:cubicBezTo>
                <a:cubicBezTo>
                  <a:pt x="30" y="12"/>
                  <a:pt x="29" y="13"/>
                  <a:pt x="29" y="14"/>
                </a:cubicBezTo>
                <a:cubicBezTo>
                  <a:pt x="28" y="16"/>
                  <a:pt x="27" y="20"/>
                  <a:pt x="26" y="25"/>
                </a:cubicBezTo>
                <a:cubicBezTo>
                  <a:pt x="23" y="33"/>
                  <a:pt x="20" y="44"/>
                  <a:pt x="20" y="53"/>
                </a:cubicBezTo>
                <a:cubicBezTo>
                  <a:pt x="20" y="53"/>
                  <a:pt x="20" y="53"/>
                  <a:pt x="20" y="53"/>
                </a:cubicBezTo>
                <a:cubicBezTo>
                  <a:pt x="19" y="58"/>
                  <a:pt x="19" y="62"/>
                  <a:pt x="19" y="65"/>
                </a:cubicBezTo>
                <a:cubicBezTo>
                  <a:pt x="19" y="68"/>
                  <a:pt x="19" y="70"/>
                  <a:pt x="20" y="72"/>
                </a:cubicBezTo>
                <a:cubicBezTo>
                  <a:pt x="20" y="73"/>
                  <a:pt x="21" y="75"/>
                  <a:pt x="22" y="75"/>
                </a:cubicBezTo>
                <a:cubicBezTo>
                  <a:pt x="23" y="76"/>
                  <a:pt x="24" y="77"/>
                  <a:pt x="25" y="77"/>
                </a:cubicBezTo>
                <a:cubicBezTo>
                  <a:pt x="27" y="78"/>
                  <a:pt x="30" y="78"/>
                  <a:pt x="33" y="78"/>
                </a:cubicBezTo>
                <a:cubicBezTo>
                  <a:pt x="33" y="78"/>
                  <a:pt x="33" y="78"/>
                  <a:pt x="33" y="78"/>
                </a:cubicBezTo>
                <a:cubicBezTo>
                  <a:pt x="36" y="78"/>
                  <a:pt x="38" y="78"/>
                  <a:pt x="41" y="78"/>
                </a:cubicBezTo>
                <a:cubicBezTo>
                  <a:pt x="46" y="77"/>
                  <a:pt x="51" y="77"/>
                  <a:pt x="56" y="77"/>
                </a:cubicBezTo>
                <a:cubicBezTo>
                  <a:pt x="73" y="77"/>
                  <a:pt x="90" y="79"/>
                  <a:pt x="101" y="82"/>
                </a:cubicBezTo>
                <a:cubicBezTo>
                  <a:pt x="105" y="83"/>
                  <a:pt x="109" y="84"/>
                  <a:pt x="111" y="85"/>
                </a:cubicBezTo>
                <a:cubicBezTo>
                  <a:pt x="113" y="86"/>
                  <a:pt x="114" y="86"/>
                  <a:pt x="115" y="87"/>
                </a:cubicBezTo>
                <a:cubicBezTo>
                  <a:pt x="120" y="90"/>
                  <a:pt x="125" y="94"/>
                  <a:pt x="130" y="98"/>
                </a:cubicBezTo>
                <a:cubicBezTo>
                  <a:pt x="134" y="102"/>
                  <a:pt x="138" y="105"/>
                  <a:pt x="138" y="105"/>
                </a:cubicBezTo>
                <a:cubicBezTo>
                  <a:pt x="139" y="106"/>
                  <a:pt x="139" y="106"/>
                  <a:pt x="139" y="106"/>
                </a:cubicBezTo>
                <a:cubicBezTo>
                  <a:pt x="139" y="108"/>
                  <a:pt x="139" y="108"/>
                  <a:pt x="139" y="108"/>
                </a:cubicBezTo>
                <a:cubicBezTo>
                  <a:pt x="138" y="113"/>
                  <a:pt x="136" y="118"/>
                  <a:pt x="134" y="123"/>
                </a:cubicBezTo>
                <a:cubicBezTo>
                  <a:pt x="132" y="127"/>
                  <a:pt x="129" y="131"/>
                  <a:pt x="126" y="134"/>
                </a:cubicBezTo>
                <a:cubicBezTo>
                  <a:pt x="120" y="140"/>
                  <a:pt x="113" y="144"/>
                  <a:pt x="105" y="148"/>
                </a:cubicBezTo>
                <a:cubicBezTo>
                  <a:pt x="100" y="151"/>
                  <a:pt x="96" y="153"/>
                  <a:pt x="91" y="155"/>
                </a:cubicBezTo>
                <a:cubicBezTo>
                  <a:pt x="86" y="157"/>
                  <a:pt x="80" y="158"/>
                  <a:pt x="76" y="159"/>
                </a:cubicBezTo>
                <a:cubicBezTo>
                  <a:pt x="72" y="160"/>
                  <a:pt x="70" y="161"/>
                  <a:pt x="67" y="162"/>
                </a:cubicBezTo>
                <a:cubicBezTo>
                  <a:pt x="67" y="164"/>
                  <a:pt x="67" y="166"/>
                  <a:pt x="67" y="168"/>
                </a:cubicBezTo>
                <a:cubicBezTo>
                  <a:pt x="66" y="170"/>
                  <a:pt x="65" y="172"/>
                  <a:pt x="64" y="173"/>
                </a:cubicBezTo>
                <a:cubicBezTo>
                  <a:pt x="64" y="175"/>
                  <a:pt x="64" y="178"/>
                  <a:pt x="64" y="180"/>
                </a:cubicBezTo>
                <a:cubicBezTo>
                  <a:pt x="64" y="186"/>
                  <a:pt x="63" y="192"/>
                  <a:pt x="63" y="192"/>
                </a:cubicBezTo>
                <a:cubicBezTo>
                  <a:pt x="63" y="193"/>
                  <a:pt x="62" y="195"/>
                  <a:pt x="60" y="195"/>
                </a:cubicBezTo>
                <a:cubicBezTo>
                  <a:pt x="60" y="195"/>
                  <a:pt x="60" y="195"/>
                  <a:pt x="60" y="195"/>
                </a:cubicBezTo>
                <a:cubicBezTo>
                  <a:pt x="59" y="194"/>
                  <a:pt x="57" y="193"/>
                  <a:pt x="57" y="191"/>
                </a:cubicBezTo>
                <a:cubicBezTo>
                  <a:pt x="57" y="191"/>
                  <a:pt x="57" y="191"/>
                  <a:pt x="58" y="191"/>
                </a:cubicBezTo>
                <a:cubicBezTo>
                  <a:pt x="58" y="191"/>
                  <a:pt x="58" y="191"/>
                  <a:pt x="58" y="190"/>
                </a:cubicBezTo>
                <a:cubicBezTo>
                  <a:pt x="58" y="190"/>
                  <a:pt x="58" y="189"/>
                  <a:pt x="58" y="188"/>
                </a:cubicBezTo>
                <a:cubicBezTo>
                  <a:pt x="58" y="186"/>
                  <a:pt x="58" y="183"/>
                  <a:pt x="58" y="180"/>
                </a:cubicBezTo>
                <a:cubicBezTo>
                  <a:pt x="58" y="179"/>
                  <a:pt x="58" y="177"/>
                  <a:pt x="58" y="176"/>
                </a:cubicBezTo>
                <a:cubicBezTo>
                  <a:pt x="57" y="176"/>
                  <a:pt x="56" y="176"/>
                  <a:pt x="55" y="176"/>
                </a:cubicBezTo>
                <a:cubicBezTo>
                  <a:pt x="54" y="176"/>
                  <a:pt x="53" y="176"/>
                  <a:pt x="51" y="176"/>
                </a:cubicBezTo>
                <a:cubicBezTo>
                  <a:pt x="45" y="174"/>
                  <a:pt x="45" y="174"/>
                  <a:pt x="45" y="174"/>
                </a:cubicBezTo>
                <a:cubicBezTo>
                  <a:pt x="46" y="180"/>
                  <a:pt x="46" y="189"/>
                  <a:pt x="45" y="194"/>
                </a:cubicBezTo>
                <a:cubicBezTo>
                  <a:pt x="45" y="201"/>
                  <a:pt x="50" y="206"/>
                  <a:pt x="56" y="207"/>
                </a:cubicBezTo>
                <a:cubicBezTo>
                  <a:pt x="57" y="207"/>
                  <a:pt x="57" y="207"/>
                  <a:pt x="57" y="207"/>
                </a:cubicBezTo>
                <a:cubicBezTo>
                  <a:pt x="61" y="207"/>
                  <a:pt x="64" y="205"/>
                  <a:pt x="67" y="203"/>
                </a:cubicBezTo>
                <a:cubicBezTo>
                  <a:pt x="67" y="203"/>
                  <a:pt x="67" y="203"/>
                  <a:pt x="67" y="202"/>
                </a:cubicBezTo>
                <a:cubicBezTo>
                  <a:pt x="67" y="200"/>
                  <a:pt x="68" y="197"/>
                  <a:pt x="69" y="194"/>
                </a:cubicBezTo>
                <a:cubicBezTo>
                  <a:pt x="70" y="190"/>
                  <a:pt x="70" y="182"/>
                  <a:pt x="69" y="173"/>
                </a:cubicBezTo>
                <a:cubicBezTo>
                  <a:pt x="80" y="171"/>
                  <a:pt x="95" y="166"/>
                  <a:pt x="106" y="160"/>
                </a:cubicBezTo>
                <a:cubicBezTo>
                  <a:pt x="107" y="160"/>
                  <a:pt x="107" y="160"/>
                  <a:pt x="107" y="160"/>
                </a:cubicBezTo>
                <a:cubicBezTo>
                  <a:pt x="120" y="152"/>
                  <a:pt x="134" y="144"/>
                  <a:pt x="141" y="126"/>
                </a:cubicBezTo>
                <a:cubicBezTo>
                  <a:pt x="138" y="122"/>
                  <a:pt x="138" y="116"/>
                  <a:pt x="141" y="112"/>
                </a:cubicBezTo>
                <a:cubicBezTo>
                  <a:pt x="142" y="110"/>
                  <a:pt x="144" y="109"/>
                  <a:pt x="146" y="108"/>
                </a:cubicBezTo>
                <a:cubicBezTo>
                  <a:pt x="146" y="106"/>
                  <a:pt x="146" y="106"/>
                  <a:pt x="146" y="106"/>
                </a:cubicBezTo>
                <a:cubicBezTo>
                  <a:pt x="141" y="102"/>
                  <a:pt x="141" y="102"/>
                  <a:pt x="141" y="102"/>
                </a:cubicBezTo>
                <a:cubicBezTo>
                  <a:pt x="140" y="101"/>
                  <a:pt x="126" y="89"/>
                  <a:pt x="117" y="83"/>
                </a:cubicBezTo>
                <a:cubicBezTo>
                  <a:pt x="107" y="77"/>
                  <a:pt x="79" y="72"/>
                  <a:pt x="53" y="72"/>
                </a:cubicBezTo>
                <a:cubicBezTo>
                  <a:pt x="48" y="72"/>
                  <a:pt x="42" y="72"/>
                  <a:pt x="37" y="72"/>
                </a:cubicBezTo>
                <a:cubicBezTo>
                  <a:pt x="34" y="73"/>
                  <a:pt x="32" y="73"/>
                  <a:pt x="30" y="73"/>
                </a:cubicBezTo>
                <a:cubicBezTo>
                  <a:pt x="27" y="73"/>
                  <a:pt x="26" y="73"/>
                  <a:pt x="25" y="72"/>
                </a:cubicBezTo>
                <a:cubicBezTo>
                  <a:pt x="24" y="70"/>
                  <a:pt x="25" y="64"/>
                  <a:pt x="25" y="60"/>
                </a:cubicBezTo>
                <a:cubicBezTo>
                  <a:pt x="25" y="58"/>
                  <a:pt x="25" y="58"/>
                  <a:pt x="25" y="58"/>
                </a:cubicBezTo>
                <a:cubicBezTo>
                  <a:pt x="26" y="46"/>
                  <a:pt x="31" y="31"/>
                  <a:pt x="34" y="23"/>
                </a:cubicBezTo>
                <a:cubicBezTo>
                  <a:pt x="35" y="19"/>
                  <a:pt x="36" y="16"/>
                  <a:pt x="36" y="16"/>
                </a:cubicBezTo>
                <a:cubicBezTo>
                  <a:pt x="37" y="14"/>
                  <a:pt x="37" y="12"/>
                  <a:pt x="37" y="10"/>
                </a:cubicBezTo>
                <a:moveTo>
                  <a:pt x="25" y="0"/>
                </a:moveTo>
                <a:cubicBezTo>
                  <a:pt x="23" y="0"/>
                  <a:pt x="21" y="1"/>
                  <a:pt x="19" y="1"/>
                </a:cubicBezTo>
                <a:cubicBezTo>
                  <a:pt x="17" y="3"/>
                  <a:pt x="15" y="5"/>
                  <a:pt x="14" y="7"/>
                </a:cubicBezTo>
                <a:cubicBezTo>
                  <a:pt x="18" y="7"/>
                  <a:pt x="22" y="7"/>
                  <a:pt x="26" y="6"/>
                </a:cubicBezTo>
                <a:cubicBezTo>
                  <a:pt x="26" y="6"/>
                  <a:pt x="27" y="5"/>
                  <a:pt x="28" y="5"/>
                </a:cubicBezTo>
                <a:cubicBezTo>
                  <a:pt x="28" y="5"/>
                  <a:pt x="29" y="5"/>
                  <a:pt x="29" y="5"/>
                </a:cubicBezTo>
                <a:cubicBezTo>
                  <a:pt x="29" y="6"/>
                  <a:pt x="29" y="6"/>
                  <a:pt x="29" y="6"/>
                </a:cubicBezTo>
                <a:cubicBezTo>
                  <a:pt x="31" y="5"/>
                  <a:pt x="32" y="5"/>
                  <a:pt x="34" y="4"/>
                </a:cubicBezTo>
                <a:cubicBezTo>
                  <a:pt x="33" y="3"/>
                  <a:pt x="31" y="2"/>
                  <a:pt x="29" y="1"/>
                </a:cubicBezTo>
                <a:cubicBezTo>
                  <a:pt x="28" y="0"/>
                  <a:pt x="27" y="0"/>
                  <a:pt x="26" y="0"/>
                </a:cubicBezTo>
                <a:cubicBezTo>
                  <a:pt x="26" y="0"/>
                  <a:pt x="25" y="0"/>
                  <a:pt x="25"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7" name="Freeform 52"/>
          <p:cNvSpPr>
            <a:spLocks/>
          </p:cNvSpPr>
          <p:nvPr/>
        </p:nvSpPr>
        <p:spPr bwMode="auto">
          <a:xfrm>
            <a:off x="3722688" y="5453063"/>
            <a:ext cx="20638" cy="15875"/>
          </a:xfrm>
          <a:custGeom>
            <a:avLst/>
            <a:gdLst>
              <a:gd name="T0" fmla="*/ 0 w 12"/>
              <a:gd name="T1" fmla="*/ 0 h 9"/>
              <a:gd name="T2" fmla="*/ 8 w 12"/>
              <a:gd name="T3" fmla="*/ 9 h 9"/>
              <a:gd name="T4" fmla="*/ 12 w 12"/>
              <a:gd name="T5" fmla="*/ 2 h 9"/>
              <a:gd name="T6" fmla="*/ 12 w 12"/>
              <a:gd name="T7" fmla="*/ 1 h 9"/>
              <a:gd name="T8" fmla="*/ 9 w 12"/>
              <a:gd name="T9" fmla="*/ 1 h 9"/>
              <a:gd name="T10" fmla="*/ 0 w 12"/>
              <a:gd name="T11" fmla="*/ 0 h 9"/>
            </a:gdLst>
            <a:ahLst/>
            <a:cxnLst>
              <a:cxn ang="0">
                <a:pos x="T0" y="T1"/>
              </a:cxn>
              <a:cxn ang="0">
                <a:pos x="T2" y="T3"/>
              </a:cxn>
              <a:cxn ang="0">
                <a:pos x="T4" y="T5"/>
              </a:cxn>
              <a:cxn ang="0">
                <a:pos x="T6" y="T7"/>
              </a:cxn>
              <a:cxn ang="0">
                <a:pos x="T8" y="T9"/>
              </a:cxn>
              <a:cxn ang="0">
                <a:pos x="T10" y="T11"/>
              </a:cxn>
            </a:cxnLst>
            <a:rect l="0" t="0" r="r" b="b"/>
            <a:pathLst>
              <a:path w="12" h="9">
                <a:moveTo>
                  <a:pt x="0" y="0"/>
                </a:moveTo>
                <a:cubicBezTo>
                  <a:pt x="0" y="0"/>
                  <a:pt x="4" y="3"/>
                  <a:pt x="8" y="9"/>
                </a:cubicBezTo>
                <a:cubicBezTo>
                  <a:pt x="10" y="7"/>
                  <a:pt x="11" y="5"/>
                  <a:pt x="12" y="2"/>
                </a:cubicBezTo>
                <a:cubicBezTo>
                  <a:pt x="12" y="2"/>
                  <a:pt x="12" y="1"/>
                  <a:pt x="12" y="1"/>
                </a:cubicBezTo>
                <a:cubicBezTo>
                  <a:pt x="11" y="1"/>
                  <a:pt x="10" y="1"/>
                  <a:pt x="9" y="1"/>
                </a:cubicBezTo>
                <a:cubicBezTo>
                  <a:pt x="4" y="1"/>
                  <a:pt x="0" y="0"/>
                  <a:pt x="0" y="0"/>
                </a:cubicBezTo>
              </a:path>
            </a:pathLst>
          </a:custGeom>
          <a:solidFill>
            <a:srgbClr val="F6E4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8" name="Freeform 53"/>
          <p:cNvSpPr>
            <a:spLocks/>
          </p:cNvSpPr>
          <p:nvPr/>
        </p:nvSpPr>
        <p:spPr bwMode="auto">
          <a:xfrm>
            <a:off x="3717926" y="5446713"/>
            <a:ext cx="25400" cy="23812"/>
          </a:xfrm>
          <a:custGeom>
            <a:avLst/>
            <a:gdLst>
              <a:gd name="T0" fmla="*/ 14 w 15"/>
              <a:gd name="T1" fmla="*/ 0 h 14"/>
              <a:gd name="T2" fmla="*/ 9 w 15"/>
              <a:gd name="T3" fmla="*/ 0 h 14"/>
              <a:gd name="T4" fmla="*/ 9 w 15"/>
              <a:gd name="T5" fmla="*/ 1 h 14"/>
              <a:gd name="T6" fmla="*/ 6 w 15"/>
              <a:gd name="T7" fmla="*/ 3 h 14"/>
              <a:gd name="T8" fmla="*/ 6 w 15"/>
              <a:gd name="T9" fmla="*/ 3 h 14"/>
              <a:gd name="T10" fmla="*/ 0 w 15"/>
              <a:gd name="T11" fmla="*/ 2 h 14"/>
              <a:gd name="T12" fmla="*/ 9 w 15"/>
              <a:gd name="T13" fmla="*/ 14 h 14"/>
              <a:gd name="T14" fmla="*/ 11 w 15"/>
              <a:gd name="T15" fmla="*/ 13 h 14"/>
              <a:gd name="T16" fmla="*/ 3 w 15"/>
              <a:gd name="T17" fmla="*/ 4 h 14"/>
              <a:gd name="T18" fmla="*/ 12 w 15"/>
              <a:gd name="T19" fmla="*/ 5 h 14"/>
              <a:gd name="T20" fmla="*/ 15 w 15"/>
              <a:gd name="T21" fmla="*/ 5 h 14"/>
              <a:gd name="T22" fmla="*/ 14 w 15"/>
              <a:gd name="T2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14" y="0"/>
                </a:moveTo>
                <a:cubicBezTo>
                  <a:pt x="12" y="0"/>
                  <a:pt x="11" y="0"/>
                  <a:pt x="9" y="0"/>
                </a:cubicBezTo>
                <a:cubicBezTo>
                  <a:pt x="9" y="1"/>
                  <a:pt x="9" y="1"/>
                  <a:pt x="9" y="1"/>
                </a:cubicBezTo>
                <a:cubicBezTo>
                  <a:pt x="9" y="2"/>
                  <a:pt x="8" y="3"/>
                  <a:pt x="6" y="3"/>
                </a:cubicBezTo>
                <a:cubicBezTo>
                  <a:pt x="6" y="3"/>
                  <a:pt x="6" y="3"/>
                  <a:pt x="6" y="3"/>
                </a:cubicBezTo>
                <a:cubicBezTo>
                  <a:pt x="4" y="3"/>
                  <a:pt x="2" y="2"/>
                  <a:pt x="0" y="2"/>
                </a:cubicBezTo>
                <a:cubicBezTo>
                  <a:pt x="2" y="4"/>
                  <a:pt x="6" y="9"/>
                  <a:pt x="9" y="14"/>
                </a:cubicBezTo>
                <a:cubicBezTo>
                  <a:pt x="10" y="14"/>
                  <a:pt x="10" y="13"/>
                  <a:pt x="11" y="13"/>
                </a:cubicBezTo>
                <a:cubicBezTo>
                  <a:pt x="7" y="7"/>
                  <a:pt x="3" y="4"/>
                  <a:pt x="3" y="4"/>
                </a:cubicBezTo>
                <a:cubicBezTo>
                  <a:pt x="3" y="4"/>
                  <a:pt x="7" y="5"/>
                  <a:pt x="12" y="5"/>
                </a:cubicBezTo>
                <a:cubicBezTo>
                  <a:pt x="13" y="5"/>
                  <a:pt x="14" y="5"/>
                  <a:pt x="15" y="5"/>
                </a:cubicBezTo>
                <a:cubicBezTo>
                  <a:pt x="15" y="3"/>
                  <a:pt x="15" y="1"/>
                  <a:pt x="14" y="0"/>
                </a:cubicBezTo>
              </a:path>
            </a:pathLst>
          </a:custGeom>
          <a:solidFill>
            <a:srgbClr val="DA81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9" name="Freeform 54"/>
          <p:cNvSpPr>
            <a:spLocks noEditPoints="1"/>
          </p:cNvSpPr>
          <p:nvPr/>
        </p:nvSpPr>
        <p:spPr bwMode="auto">
          <a:xfrm>
            <a:off x="3452813" y="5257800"/>
            <a:ext cx="288925" cy="215900"/>
          </a:xfrm>
          <a:custGeom>
            <a:avLst/>
            <a:gdLst>
              <a:gd name="T0" fmla="*/ 120 w 170"/>
              <a:gd name="T1" fmla="*/ 71 h 127"/>
              <a:gd name="T2" fmla="*/ 94 w 170"/>
              <a:gd name="T3" fmla="*/ 9 h 127"/>
              <a:gd name="T4" fmla="*/ 95 w 170"/>
              <a:gd name="T5" fmla="*/ 15 h 127"/>
              <a:gd name="T6" fmla="*/ 118 w 170"/>
              <a:gd name="T7" fmla="*/ 28 h 127"/>
              <a:gd name="T8" fmla="*/ 123 w 170"/>
              <a:gd name="T9" fmla="*/ 35 h 127"/>
              <a:gd name="T10" fmla="*/ 122 w 170"/>
              <a:gd name="T11" fmla="*/ 52 h 127"/>
              <a:gd name="T12" fmla="*/ 119 w 170"/>
              <a:gd name="T13" fmla="*/ 69 h 127"/>
              <a:gd name="T14" fmla="*/ 120 w 170"/>
              <a:gd name="T15" fmla="*/ 71 h 127"/>
              <a:gd name="T16" fmla="*/ 122 w 170"/>
              <a:gd name="T17" fmla="*/ 76 h 127"/>
              <a:gd name="T18" fmla="*/ 147 w 170"/>
              <a:gd name="T19" fmla="*/ 102 h 127"/>
              <a:gd name="T20" fmla="*/ 165 w 170"/>
              <a:gd name="T21" fmla="*/ 111 h 127"/>
              <a:gd name="T22" fmla="*/ 161 w 170"/>
              <a:gd name="T23" fmla="*/ 103 h 127"/>
              <a:gd name="T24" fmla="*/ 127 w 170"/>
              <a:gd name="T25" fmla="*/ 63 h 127"/>
              <a:gd name="T26" fmla="*/ 94 w 170"/>
              <a:gd name="T27" fmla="*/ 9 h 127"/>
              <a:gd name="T28" fmla="*/ 8 w 170"/>
              <a:gd name="T29" fmla="*/ 1 h 127"/>
              <a:gd name="T30" fmla="*/ 3 w 170"/>
              <a:gd name="T31" fmla="*/ 19 h 127"/>
              <a:gd name="T32" fmla="*/ 18 w 170"/>
              <a:gd name="T33" fmla="*/ 29 h 127"/>
              <a:gd name="T34" fmla="*/ 36 w 170"/>
              <a:gd name="T35" fmla="*/ 34 h 127"/>
              <a:gd name="T36" fmla="*/ 42 w 170"/>
              <a:gd name="T37" fmla="*/ 35 h 127"/>
              <a:gd name="T38" fmla="*/ 76 w 170"/>
              <a:gd name="T39" fmla="*/ 30 h 127"/>
              <a:gd name="T40" fmla="*/ 84 w 170"/>
              <a:gd name="T41" fmla="*/ 27 h 127"/>
              <a:gd name="T42" fmla="*/ 95 w 170"/>
              <a:gd name="T43" fmla="*/ 37 h 127"/>
              <a:gd name="T44" fmla="*/ 104 w 170"/>
              <a:gd name="T45" fmla="*/ 58 h 127"/>
              <a:gd name="T46" fmla="*/ 157 w 170"/>
              <a:gd name="T47" fmla="*/ 127 h 127"/>
              <a:gd name="T48" fmla="*/ 165 w 170"/>
              <a:gd name="T49" fmla="*/ 125 h 127"/>
              <a:gd name="T50" fmla="*/ 139 w 170"/>
              <a:gd name="T51" fmla="*/ 103 h 127"/>
              <a:gd name="T52" fmla="*/ 115 w 170"/>
              <a:gd name="T53" fmla="*/ 76 h 127"/>
              <a:gd name="T54" fmla="*/ 114 w 170"/>
              <a:gd name="T55" fmla="*/ 72 h 127"/>
              <a:gd name="T56" fmla="*/ 114 w 170"/>
              <a:gd name="T57" fmla="*/ 65 h 127"/>
              <a:gd name="T58" fmla="*/ 117 w 170"/>
              <a:gd name="T59" fmla="*/ 47 h 127"/>
              <a:gd name="T60" fmla="*/ 118 w 170"/>
              <a:gd name="T61" fmla="*/ 36 h 127"/>
              <a:gd name="T62" fmla="*/ 111 w 170"/>
              <a:gd name="T63" fmla="*/ 30 h 127"/>
              <a:gd name="T64" fmla="*/ 86 w 170"/>
              <a:gd name="T65" fmla="*/ 18 h 127"/>
              <a:gd name="T66" fmla="*/ 83 w 170"/>
              <a:gd name="T67" fmla="*/ 17 h 127"/>
              <a:gd name="T68" fmla="*/ 82 w 170"/>
              <a:gd name="T69" fmla="*/ 17 h 127"/>
              <a:gd name="T70" fmla="*/ 70 w 170"/>
              <a:gd name="T71" fmla="*/ 18 h 127"/>
              <a:gd name="T72" fmla="*/ 45 w 170"/>
              <a:gd name="T73" fmla="*/ 22 h 127"/>
              <a:gd name="T74" fmla="*/ 33 w 170"/>
              <a:gd name="T75" fmla="*/ 20 h 127"/>
              <a:gd name="T76" fmla="*/ 14 w 170"/>
              <a:gd name="T77" fmla="*/ 10 h 127"/>
              <a:gd name="T78" fmla="*/ 16 w 170"/>
              <a:gd name="T79" fmla="*/ 5 h 127"/>
              <a:gd name="T80" fmla="*/ 18 w 170"/>
              <a:gd name="T81" fmla="*/ 6 h 127"/>
              <a:gd name="T82" fmla="*/ 18 w 170"/>
              <a:gd name="T83" fmla="*/ 6 h 127"/>
              <a:gd name="T84" fmla="*/ 23 w 170"/>
              <a:gd name="T85" fmla="*/ 9 h 127"/>
              <a:gd name="T86" fmla="*/ 43 w 170"/>
              <a:gd name="T87" fmla="*/ 16 h 127"/>
              <a:gd name="T88" fmla="*/ 45 w 170"/>
              <a:gd name="T89" fmla="*/ 16 h 127"/>
              <a:gd name="T90" fmla="*/ 74 w 170"/>
              <a:gd name="T91" fmla="*/ 12 h 127"/>
              <a:gd name="T92" fmla="*/ 72 w 170"/>
              <a:gd name="T93" fmla="*/ 6 h 127"/>
              <a:gd name="T94" fmla="*/ 42 w 170"/>
              <a:gd name="T95" fmla="*/ 11 h 127"/>
              <a:gd name="T96" fmla="*/ 20 w 170"/>
              <a:gd name="T97" fmla="*/ 2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0" h="127">
                <a:moveTo>
                  <a:pt x="120" y="71"/>
                </a:moveTo>
                <a:cubicBezTo>
                  <a:pt x="120" y="71"/>
                  <a:pt x="120" y="71"/>
                  <a:pt x="120" y="71"/>
                </a:cubicBezTo>
                <a:cubicBezTo>
                  <a:pt x="120" y="71"/>
                  <a:pt x="120" y="71"/>
                  <a:pt x="120" y="71"/>
                </a:cubicBezTo>
                <a:moveTo>
                  <a:pt x="94" y="9"/>
                </a:moveTo>
                <a:cubicBezTo>
                  <a:pt x="93" y="11"/>
                  <a:pt x="92" y="12"/>
                  <a:pt x="90" y="13"/>
                </a:cubicBezTo>
                <a:cubicBezTo>
                  <a:pt x="92" y="13"/>
                  <a:pt x="94" y="14"/>
                  <a:pt x="95" y="15"/>
                </a:cubicBezTo>
                <a:cubicBezTo>
                  <a:pt x="100" y="17"/>
                  <a:pt x="105" y="19"/>
                  <a:pt x="110" y="22"/>
                </a:cubicBezTo>
                <a:cubicBezTo>
                  <a:pt x="113" y="24"/>
                  <a:pt x="116" y="26"/>
                  <a:pt x="118" y="28"/>
                </a:cubicBezTo>
                <a:cubicBezTo>
                  <a:pt x="119" y="29"/>
                  <a:pt x="120" y="30"/>
                  <a:pt x="121" y="31"/>
                </a:cubicBezTo>
                <a:cubicBezTo>
                  <a:pt x="122" y="32"/>
                  <a:pt x="123" y="33"/>
                  <a:pt x="123" y="35"/>
                </a:cubicBezTo>
                <a:cubicBezTo>
                  <a:pt x="124" y="37"/>
                  <a:pt x="124" y="38"/>
                  <a:pt x="124" y="40"/>
                </a:cubicBezTo>
                <a:cubicBezTo>
                  <a:pt x="124" y="44"/>
                  <a:pt x="123" y="48"/>
                  <a:pt x="122" y="52"/>
                </a:cubicBezTo>
                <a:cubicBezTo>
                  <a:pt x="122" y="56"/>
                  <a:pt x="121" y="60"/>
                  <a:pt x="120" y="64"/>
                </a:cubicBezTo>
                <a:cubicBezTo>
                  <a:pt x="120" y="66"/>
                  <a:pt x="119" y="68"/>
                  <a:pt x="119" y="69"/>
                </a:cubicBezTo>
                <a:cubicBezTo>
                  <a:pt x="119" y="70"/>
                  <a:pt x="120" y="70"/>
                  <a:pt x="120" y="71"/>
                </a:cubicBezTo>
                <a:cubicBezTo>
                  <a:pt x="120" y="71"/>
                  <a:pt x="120" y="71"/>
                  <a:pt x="120" y="71"/>
                </a:cubicBezTo>
                <a:cubicBezTo>
                  <a:pt x="120" y="71"/>
                  <a:pt x="120" y="72"/>
                  <a:pt x="120" y="73"/>
                </a:cubicBezTo>
                <a:cubicBezTo>
                  <a:pt x="121" y="74"/>
                  <a:pt x="121" y="75"/>
                  <a:pt x="122" y="76"/>
                </a:cubicBezTo>
                <a:cubicBezTo>
                  <a:pt x="123" y="78"/>
                  <a:pt x="126" y="81"/>
                  <a:pt x="128" y="84"/>
                </a:cubicBezTo>
                <a:cubicBezTo>
                  <a:pt x="133" y="90"/>
                  <a:pt x="140" y="97"/>
                  <a:pt x="147" y="102"/>
                </a:cubicBezTo>
                <a:cubicBezTo>
                  <a:pt x="152" y="105"/>
                  <a:pt x="158" y="107"/>
                  <a:pt x="163" y="108"/>
                </a:cubicBezTo>
                <a:cubicBezTo>
                  <a:pt x="164" y="109"/>
                  <a:pt x="165" y="110"/>
                  <a:pt x="165" y="111"/>
                </a:cubicBezTo>
                <a:cubicBezTo>
                  <a:pt x="167" y="111"/>
                  <a:pt x="168" y="111"/>
                  <a:pt x="170" y="111"/>
                </a:cubicBezTo>
                <a:cubicBezTo>
                  <a:pt x="169" y="107"/>
                  <a:pt x="166" y="104"/>
                  <a:pt x="161" y="103"/>
                </a:cubicBezTo>
                <a:cubicBezTo>
                  <a:pt x="145" y="100"/>
                  <a:pt x="128" y="79"/>
                  <a:pt x="125" y="73"/>
                </a:cubicBezTo>
                <a:cubicBezTo>
                  <a:pt x="125" y="71"/>
                  <a:pt x="126" y="66"/>
                  <a:pt x="127" y="63"/>
                </a:cubicBezTo>
                <a:cubicBezTo>
                  <a:pt x="130" y="50"/>
                  <a:pt x="132" y="37"/>
                  <a:pt x="125" y="28"/>
                </a:cubicBezTo>
                <a:cubicBezTo>
                  <a:pt x="119" y="22"/>
                  <a:pt x="105" y="14"/>
                  <a:pt x="94" y="9"/>
                </a:cubicBezTo>
                <a:moveTo>
                  <a:pt x="13" y="0"/>
                </a:moveTo>
                <a:cubicBezTo>
                  <a:pt x="11" y="0"/>
                  <a:pt x="9" y="0"/>
                  <a:pt x="8" y="1"/>
                </a:cubicBezTo>
                <a:cubicBezTo>
                  <a:pt x="6" y="2"/>
                  <a:pt x="4" y="3"/>
                  <a:pt x="3" y="5"/>
                </a:cubicBezTo>
                <a:cubicBezTo>
                  <a:pt x="0" y="9"/>
                  <a:pt x="0" y="15"/>
                  <a:pt x="3" y="19"/>
                </a:cubicBezTo>
                <a:cubicBezTo>
                  <a:pt x="4" y="20"/>
                  <a:pt x="5" y="21"/>
                  <a:pt x="6" y="21"/>
                </a:cubicBezTo>
                <a:cubicBezTo>
                  <a:pt x="7" y="22"/>
                  <a:pt x="12" y="25"/>
                  <a:pt x="18" y="29"/>
                </a:cubicBezTo>
                <a:cubicBezTo>
                  <a:pt x="32" y="32"/>
                  <a:pt x="32" y="32"/>
                  <a:pt x="32" y="32"/>
                </a:cubicBezTo>
                <a:cubicBezTo>
                  <a:pt x="33" y="33"/>
                  <a:pt x="35" y="33"/>
                  <a:pt x="36" y="34"/>
                </a:cubicBezTo>
                <a:cubicBezTo>
                  <a:pt x="37" y="35"/>
                  <a:pt x="38" y="35"/>
                  <a:pt x="39" y="35"/>
                </a:cubicBezTo>
                <a:cubicBezTo>
                  <a:pt x="40" y="35"/>
                  <a:pt x="41" y="35"/>
                  <a:pt x="42" y="35"/>
                </a:cubicBezTo>
                <a:cubicBezTo>
                  <a:pt x="49" y="35"/>
                  <a:pt x="58" y="33"/>
                  <a:pt x="66" y="32"/>
                </a:cubicBezTo>
                <a:cubicBezTo>
                  <a:pt x="69" y="31"/>
                  <a:pt x="73" y="30"/>
                  <a:pt x="76" y="30"/>
                </a:cubicBezTo>
                <a:cubicBezTo>
                  <a:pt x="78" y="29"/>
                  <a:pt x="79" y="28"/>
                  <a:pt x="79" y="28"/>
                </a:cubicBezTo>
                <a:cubicBezTo>
                  <a:pt x="80" y="28"/>
                  <a:pt x="82" y="27"/>
                  <a:pt x="84" y="27"/>
                </a:cubicBezTo>
                <a:cubicBezTo>
                  <a:pt x="88" y="27"/>
                  <a:pt x="93" y="30"/>
                  <a:pt x="95" y="34"/>
                </a:cubicBezTo>
                <a:cubicBezTo>
                  <a:pt x="95" y="35"/>
                  <a:pt x="95" y="36"/>
                  <a:pt x="95" y="37"/>
                </a:cubicBezTo>
                <a:cubicBezTo>
                  <a:pt x="100" y="39"/>
                  <a:pt x="104" y="41"/>
                  <a:pt x="106" y="43"/>
                </a:cubicBezTo>
                <a:cubicBezTo>
                  <a:pt x="106" y="47"/>
                  <a:pt x="104" y="54"/>
                  <a:pt x="104" y="58"/>
                </a:cubicBezTo>
                <a:cubicBezTo>
                  <a:pt x="102" y="66"/>
                  <a:pt x="101" y="72"/>
                  <a:pt x="102" y="77"/>
                </a:cubicBezTo>
                <a:cubicBezTo>
                  <a:pt x="104" y="89"/>
                  <a:pt x="130" y="121"/>
                  <a:pt x="157" y="127"/>
                </a:cubicBezTo>
                <a:cubicBezTo>
                  <a:pt x="157" y="127"/>
                  <a:pt x="158" y="127"/>
                  <a:pt x="159" y="127"/>
                </a:cubicBezTo>
                <a:cubicBezTo>
                  <a:pt x="161" y="127"/>
                  <a:pt x="163" y="126"/>
                  <a:pt x="165" y="125"/>
                </a:cubicBezTo>
                <a:cubicBezTo>
                  <a:pt x="162" y="120"/>
                  <a:pt x="158" y="115"/>
                  <a:pt x="156" y="113"/>
                </a:cubicBezTo>
                <a:cubicBezTo>
                  <a:pt x="150" y="110"/>
                  <a:pt x="144" y="107"/>
                  <a:pt x="139" y="103"/>
                </a:cubicBezTo>
                <a:cubicBezTo>
                  <a:pt x="132" y="98"/>
                  <a:pt x="127" y="92"/>
                  <a:pt x="122" y="86"/>
                </a:cubicBezTo>
                <a:cubicBezTo>
                  <a:pt x="119" y="83"/>
                  <a:pt x="117" y="79"/>
                  <a:pt x="115" y="76"/>
                </a:cubicBezTo>
                <a:cubicBezTo>
                  <a:pt x="115" y="75"/>
                  <a:pt x="114" y="73"/>
                  <a:pt x="114" y="72"/>
                </a:cubicBezTo>
                <a:cubicBezTo>
                  <a:pt x="114" y="72"/>
                  <a:pt x="114" y="72"/>
                  <a:pt x="114" y="72"/>
                </a:cubicBezTo>
                <a:cubicBezTo>
                  <a:pt x="114" y="71"/>
                  <a:pt x="114" y="70"/>
                  <a:pt x="114" y="69"/>
                </a:cubicBezTo>
                <a:cubicBezTo>
                  <a:pt x="114" y="68"/>
                  <a:pt x="114" y="66"/>
                  <a:pt x="114" y="65"/>
                </a:cubicBezTo>
                <a:cubicBezTo>
                  <a:pt x="114" y="63"/>
                  <a:pt x="115" y="61"/>
                  <a:pt x="115" y="59"/>
                </a:cubicBezTo>
                <a:cubicBezTo>
                  <a:pt x="116" y="55"/>
                  <a:pt x="117" y="51"/>
                  <a:pt x="117" y="47"/>
                </a:cubicBezTo>
                <a:cubicBezTo>
                  <a:pt x="118" y="44"/>
                  <a:pt x="118" y="42"/>
                  <a:pt x="118" y="40"/>
                </a:cubicBezTo>
                <a:cubicBezTo>
                  <a:pt x="118" y="39"/>
                  <a:pt x="118" y="37"/>
                  <a:pt x="118" y="36"/>
                </a:cubicBezTo>
                <a:cubicBezTo>
                  <a:pt x="117" y="35"/>
                  <a:pt x="117" y="35"/>
                  <a:pt x="117" y="35"/>
                </a:cubicBezTo>
                <a:cubicBezTo>
                  <a:pt x="116" y="33"/>
                  <a:pt x="114" y="32"/>
                  <a:pt x="111" y="30"/>
                </a:cubicBezTo>
                <a:cubicBezTo>
                  <a:pt x="109" y="28"/>
                  <a:pt x="106" y="27"/>
                  <a:pt x="103" y="25"/>
                </a:cubicBezTo>
                <a:cubicBezTo>
                  <a:pt x="97" y="22"/>
                  <a:pt x="90" y="19"/>
                  <a:pt x="86" y="18"/>
                </a:cubicBezTo>
                <a:cubicBezTo>
                  <a:pt x="84" y="17"/>
                  <a:pt x="83" y="17"/>
                  <a:pt x="83" y="17"/>
                </a:cubicBezTo>
                <a:cubicBezTo>
                  <a:pt x="83" y="17"/>
                  <a:pt x="83" y="17"/>
                  <a:pt x="83" y="17"/>
                </a:cubicBezTo>
                <a:cubicBezTo>
                  <a:pt x="83" y="17"/>
                  <a:pt x="82" y="17"/>
                  <a:pt x="82" y="17"/>
                </a:cubicBezTo>
                <a:cubicBezTo>
                  <a:pt x="82" y="17"/>
                  <a:pt x="82" y="17"/>
                  <a:pt x="82" y="17"/>
                </a:cubicBezTo>
                <a:cubicBezTo>
                  <a:pt x="81" y="17"/>
                  <a:pt x="79" y="17"/>
                  <a:pt x="77" y="17"/>
                </a:cubicBezTo>
                <a:cubicBezTo>
                  <a:pt x="75" y="18"/>
                  <a:pt x="73" y="18"/>
                  <a:pt x="70" y="18"/>
                </a:cubicBezTo>
                <a:cubicBezTo>
                  <a:pt x="65" y="19"/>
                  <a:pt x="60" y="21"/>
                  <a:pt x="55" y="21"/>
                </a:cubicBezTo>
                <a:cubicBezTo>
                  <a:pt x="51" y="22"/>
                  <a:pt x="48" y="22"/>
                  <a:pt x="45" y="22"/>
                </a:cubicBezTo>
                <a:cubicBezTo>
                  <a:pt x="44" y="22"/>
                  <a:pt x="43" y="22"/>
                  <a:pt x="43" y="22"/>
                </a:cubicBezTo>
                <a:cubicBezTo>
                  <a:pt x="39" y="22"/>
                  <a:pt x="36" y="21"/>
                  <a:pt x="33" y="20"/>
                </a:cubicBezTo>
                <a:cubicBezTo>
                  <a:pt x="29" y="19"/>
                  <a:pt x="26" y="17"/>
                  <a:pt x="24" y="16"/>
                </a:cubicBezTo>
                <a:cubicBezTo>
                  <a:pt x="18" y="13"/>
                  <a:pt x="14" y="10"/>
                  <a:pt x="14" y="10"/>
                </a:cubicBezTo>
                <a:cubicBezTo>
                  <a:pt x="13" y="9"/>
                  <a:pt x="13" y="8"/>
                  <a:pt x="13" y="6"/>
                </a:cubicBezTo>
                <a:cubicBezTo>
                  <a:pt x="14" y="5"/>
                  <a:pt x="15" y="5"/>
                  <a:pt x="16" y="5"/>
                </a:cubicBezTo>
                <a:cubicBezTo>
                  <a:pt x="17" y="5"/>
                  <a:pt x="17" y="5"/>
                  <a:pt x="18" y="6"/>
                </a:cubicBezTo>
                <a:cubicBezTo>
                  <a:pt x="18" y="6"/>
                  <a:pt x="18" y="6"/>
                  <a:pt x="18" y="6"/>
                </a:cubicBezTo>
                <a:cubicBezTo>
                  <a:pt x="18" y="6"/>
                  <a:pt x="18" y="6"/>
                  <a:pt x="18" y="6"/>
                </a:cubicBezTo>
                <a:cubicBezTo>
                  <a:pt x="18" y="6"/>
                  <a:pt x="18" y="6"/>
                  <a:pt x="18" y="6"/>
                </a:cubicBezTo>
                <a:cubicBezTo>
                  <a:pt x="18" y="6"/>
                  <a:pt x="19" y="6"/>
                  <a:pt x="19" y="6"/>
                </a:cubicBezTo>
                <a:cubicBezTo>
                  <a:pt x="20" y="7"/>
                  <a:pt x="21" y="8"/>
                  <a:pt x="23" y="9"/>
                </a:cubicBezTo>
                <a:cubicBezTo>
                  <a:pt x="26" y="11"/>
                  <a:pt x="30" y="13"/>
                  <a:pt x="35" y="14"/>
                </a:cubicBezTo>
                <a:cubicBezTo>
                  <a:pt x="37" y="15"/>
                  <a:pt x="40" y="16"/>
                  <a:pt x="43" y="16"/>
                </a:cubicBezTo>
                <a:cubicBezTo>
                  <a:pt x="44" y="16"/>
                  <a:pt x="44" y="16"/>
                  <a:pt x="45" y="16"/>
                </a:cubicBezTo>
                <a:cubicBezTo>
                  <a:pt x="45" y="16"/>
                  <a:pt x="45" y="16"/>
                  <a:pt x="45" y="16"/>
                </a:cubicBezTo>
                <a:cubicBezTo>
                  <a:pt x="49" y="16"/>
                  <a:pt x="54" y="15"/>
                  <a:pt x="59" y="15"/>
                </a:cubicBezTo>
                <a:cubicBezTo>
                  <a:pt x="64" y="14"/>
                  <a:pt x="69" y="13"/>
                  <a:pt x="74" y="12"/>
                </a:cubicBezTo>
                <a:cubicBezTo>
                  <a:pt x="74" y="12"/>
                  <a:pt x="75" y="12"/>
                  <a:pt x="76" y="11"/>
                </a:cubicBezTo>
                <a:cubicBezTo>
                  <a:pt x="74" y="10"/>
                  <a:pt x="73" y="8"/>
                  <a:pt x="72" y="6"/>
                </a:cubicBezTo>
                <a:cubicBezTo>
                  <a:pt x="69" y="7"/>
                  <a:pt x="65" y="7"/>
                  <a:pt x="61" y="8"/>
                </a:cubicBezTo>
                <a:cubicBezTo>
                  <a:pt x="55" y="9"/>
                  <a:pt x="47" y="11"/>
                  <a:pt x="42" y="11"/>
                </a:cubicBezTo>
                <a:cubicBezTo>
                  <a:pt x="41" y="11"/>
                  <a:pt x="41" y="11"/>
                  <a:pt x="40" y="11"/>
                </a:cubicBezTo>
                <a:cubicBezTo>
                  <a:pt x="34" y="11"/>
                  <a:pt x="24" y="5"/>
                  <a:pt x="20" y="2"/>
                </a:cubicBezTo>
                <a:cubicBezTo>
                  <a:pt x="18" y="0"/>
                  <a:pt x="15" y="0"/>
                  <a:pt x="13"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0" name="Freeform 55"/>
          <p:cNvSpPr>
            <a:spLocks/>
          </p:cNvSpPr>
          <p:nvPr/>
        </p:nvSpPr>
        <p:spPr bwMode="auto">
          <a:xfrm>
            <a:off x="3216276" y="5359400"/>
            <a:ext cx="12700" cy="14287"/>
          </a:xfrm>
          <a:custGeom>
            <a:avLst/>
            <a:gdLst>
              <a:gd name="T0" fmla="*/ 8 w 8"/>
              <a:gd name="T1" fmla="*/ 0 h 8"/>
              <a:gd name="T2" fmla="*/ 0 w 8"/>
              <a:gd name="T3" fmla="*/ 3 h 8"/>
              <a:gd name="T4" fmla="*/ 6 w 8"/>
              <a:gd name="T5" fmla="*/ 8 h 8"/>
              <a:gd name="T6" fmla="*/ 8 w 8"/>
              <a:gd name="T7" fmla="*/ 0 h 8"/>
            </a:gdLst>
            <a:ahLst/>
            <a:cxnLst>
              <a:cxn ang="0">
                <a:pos x="T0" y="T1"/>
              </a:cxn>
              <a:cxn ang="0">
                <a:pos x="T2" y="T3"/>
              </a:cxn>
              <a:cxn ang="0">
                <a:pos x="T4" y="T5"/>
              </a:cxn>
              <a:cxn ang="0">
                <a:pos x="T6" y="T7"/>
              </a:cxn>
            </a:cxnLst>
            <a:rect l="0" t="0" r="r" b="b"/>
            <a:pathLst>
              <a:path w="8" h="8">
                <a:moveTo>
                  <a:pt x="8" y="0"/>
                </a:moveTo>
                <a:cubicBezTo>
                  <a:pt x="5" y="1"/>
                  <a:pt x="3" y="2"/>
                  <a:pt x="0" y="3"/>
                </a:cubicBezTo>
                <a:cubicBezTo>
                  <a:pt x="1" y="5"/>
                  <a:pt x="3" y="7"/>
                  <a:pt x="6" y="8"/>
                </a:cubicBezTo>
                <a:cubicBezTo>
                  <a:pt x="6" y="4"/>
                  <a:pt x="7" y="2"/>
                  <a:pt x="8" y="0"/>
                </a:cubicBezTo>
              </a:path>
            </a:pathLst>
          </a:custGeom>
          <a:solidFill>
            <a:srgbClr val="F6E4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1" name="Freeform 56"/>
          <p:cNvSpPr>
            <a:spLocks/>
          </p:cNvSpPr>
          <p:nvPr/>
        </p:nvSpPr>
        <p:spPr bwMode="auto">
          <a:xfrm>
            <a:off x="3225801" y="5351463"/>
            <a:ext cx="19050" cy="22225"/>
          </a:xfrm>
          <a:custGeom>
            <a:avLst/>
            <a:gdLst>
              <a:gd name="T0" fmla="*/ 11 w 11"/>
              <a:gd name="T1" fmla="*/ 0 h 13"/>
              <a:gd name="T2" fmla="*/ 2 w 11"/>
              <a:gd name="T3" fmla="*/ 5 h 13"/>
              <a:gd name="T4" fmla="*/ 0 w 11"/>
              <a:gd name="T5" fmla="*/ 13 h 13"/>
              <a:gd name="T6" fmla="*/ 2 w 11"/>
              <a:gd name="T7" fmla="*/ 13 h 13"/>
              <a:gd name="T8" fmla="*/ 4 w 11"/>
              <a:gd name="T9" fmla="*/ 13 h 13"/>
              <a:gd name="T10" fmla="*/ 7 w 11"/>
              <a:gd name="T11" fmla="*/ 13 h 13"/>
              <a:gd name="T12" fmla="*/ 11 w 11"/>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1" h="13">
                <a:moveTo>
                  <a:pt x="11" y="0"/>
                </a:moveTo>
                <a:cubicBezTo>
                  <a:pt x="11" y="0"/>
                  <a:pt x="7" y="2"/>
                  <a:pt x="2" y="5"/>
                </a:cubicBezTo>
                <a:cubicBezTo>
                  <a:pt x="1" y="7"/>
                  <a:pt x="0" y="9"/>
                  <a:pt x="0" y="13"/>
                </a:cubicBezTo>
                <a:cubicBezTo>
                  <a:pt x="0" y="13"/>
                  <a:pt x="1" y="13"/>
                  <a:pt x="2" y="13"/>
                </a:cubicBezTo>
                <a:cubicBezTo>
                  <a:pt x="3" y="13"/>
                  <a:pt x="3" y="13"/>
                  <a:pt x="4" y="13"/>
                </a:cubicBezTo>
                <a:cubicBezTo>
                  <a:pt x="5" y="13"/>
                  <a:pt x="6" y="13"/>
                  <a:pt x="7" y="13"/>
                </a:cubicBezTo>
                <a:cubicBezTo>
                  <a:pt x="7" y="5"/>
                  <a:pt x="11" y="0"/>
                  <a:pt x="11" y="0"/>
                </a:cubicBezTo>
              </a:path>
            </a:pathLst>
          </a:custGeom>
          <a:solidFill>
            <a:srgbClr val="DA81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2" name="Freeform 57"/>
          <p:cNvSpPr>
            <a:spLocks/>
          </p:cNvSpPr>
          <p:nvPr/>
        </p:nvSpPr>
        <p:spPr bwMode="auto">
          <a:xfrm>
            <a:off x="3209926" y="5232400"/>
            <a:ext cx="179388" cy="141287"/>
          </a:xfrm>
          <a:custGeom>
            <a:avLst/>
            <a:gdLst>
              <a:gd name="T0" fmla="*/ 92 w 105"/>
              <a:gd name="T1" fmla="*/ 0 h 83"/>
              <a:gd name="T2" fmla="*/ 83 w 105"/>
              <a:gd name="T3" fmla="*/ 5 h 83"/>
              <a:gd name="T4" fmla="*/ 82 w 105"/>
              <a:gd name="T5" fmla="*/ 5 h 83"/>
              <a:gd name="T6" fmla="*/ 77 w 105"/>
              <a:gd name="T7" fmla="*/ 20 h 83"/>
              <a:gd name="T8" fmla="*/ 46 w 105"/>
              <a:gd name="T9" fmla="*/ 22 h 83"/>
              <a:gd name="T10" fmla="*/ 1 w 105"/>
              <a:gd name="T11" fmla="*/ 70 h 83"/>
              <a:gd name="T12" fmla="*/ 3 w 105"/>
              <a:gd name="T13" fmla="*/ 78 h 83"/>
              <a:gd name="T14" fmla="*/ 11 w 105"/>
              <a:gd name="T15" fmla="*/ 75 h 83"/>
              <a:gd name="T16" fmla="*/ 20 w 105"/>
              <a:gd name="T17" fmla="*/ 70 h 83"/>
              <a:gd name="T18" fmla="*/ 16 w 105"/>
              <a:gd name="T19" fmla="*/ 83 h 83"/>
              <a:gd name="T20" fmla="*/ 24 w 105"/>
              <a:gd name="T21" fmla="*/ 73 h 83"/>
              <a:gd name="T22" fmla="*/ 47 w 105"/>
              <a:gd name="T23" fmla="*/ 46 h 83"/>
              <a:gd name="T24" fmla="*/ 88 w 105"/>
              <a:gd name="T25" fmla="*/ 43 h 83"/>
              <a:gd name="T26" fmla="*/ 87 w 105"/>
              <a:gd name="T27" fmla="*/ 43 h 83"/>
              <a:gd name="T28" fmla="*/ 76 w 105"/>
              <a:gd name="T29" fmla="*/ 32 h 83"/>
              <a:gd name="T30" fmla="*/ 74 w 105"/>
              <a:gd name="T31" fmla="*/ 32 h 83"/>
              <a:gd name="T32" fmla="*/ 49 w 105"/>
              <a:gd name="T33" fmla="*/ 33 h 83"/>
              <a:gd name="T34" fmla="*/ 40 w 105"/>
              <a:gd name="T35" fmla="*/ 36 h 83"/>
              <a:gd name="T36" fmla="*/ 33 w 105"/>
              <a:gd name="T37" fmla="*/ 41 h 83"/>
              <a:gd name="T38" fmla="*/ 22 w 105"/>
              <a:gd name="T39" fmla="*/ 58 h 83"/>
              <a:gd name="T40" fmla="*/ 19 w 105"/>
              <a:gd name="T41" fmla="*/ 68 h 83"/>
              <a:gd name="T42" fmla="*/ 16 w 105"/>
              <a:gd name="T43" fmla="*/ 71 h 83"/>
              <a:gd name="T44" fmla="*/ 15 w 105"/>
              <a:gd name="T45" fmla="*/ 71 h 83"/>
              <a:gd name="T46" fmla="*/ 13 w 105"/>
              <a:gd name="T47" fmla="*/ 67 h 83"/>
              <a:gd name="T48" fmla="*/ 15 w 105"/>
              <a:gd name="T49" fmla="*/ 59 h 83"/>
              <a:gd name="T50" fmla="*/ 19 w 105"/>
              <a:gd name="T51" fmla="*/ 49 h 83"/>
              <a:gd name="T52" fmla="*/ 34 w 105"/>
              <a:gd name="T53" fmla="*/ 32 h 83"/>
              <a:gd name="T54" fmla="*/ 49 w 105"/>
              <a:gd name="T55" fmla="*/ 27 h 83"/>
              <a:gd name="T56" fmla="*/ 66 w 105"/>
              <a:gd name="T57" fmla="*/ 26 h 83"/>
              <a:gd name="T58" fmla="*/ 77 w 105"/>
              <a:gd name="T59" fmla="*/ 25 h 83"/>
              <a:gd name="T60" fmla="*/ 88 w 105"/>
              <a:gd name="T61" fmla="*/ 19 h 83"/>
              <a:gd name="T62" fmla="*/ 88 w 105"/>
              <a:gd name="T63" fmla="*/ 19 h 83"/>
              <a:gd name="T64" fmla="*/ 90 w 105"/>
              <a:gd name="T65" fmla="*/ 12 h 83"/>
              <a:gd name="T66" fmla="*/ 93 w 105"/>
              <a:gd name="T67" fmla="*/ 6 h 83"/>
              <a:gd name="T68" fmla="*/ 96 w 105"/>
              <a:gd name="T69" fmla="*/ 5 h 83"/>
              <a:gd name="T70" fmla="*/ 97 w 105"/>
              <a:gd name="T71" fmla="*/ 6 h 83"/>
              <a:gd name="T72" fmla="*/ 98 w 105"/>
              <a:gd name="T73" fmla="*/ 10 h 83"/>
              <a:gd name="T74" fmla="*/ 98 w 105"/>
              <a:gd name="T75" fmla="*/ 10 h 83"/>
              <a:gd name="T76" fmla="*/ 98 w 105"/>
              <a:gd name="T77" fmla="*/ 10 h 83"/>
              <a:gd name="T78" fmla="*/ 98 w 105"/>
              <a:gd name="T79" fmla="*/ 10 h 83"/>
              <a:gd name="T80" fmla="*/ 97 w 105"/>
              <a:gd name="T81" fmla="*/ 11 h 83"/>
              <a:gd name="T82" fmla="*/ 96 w 105"/>
              <a:gd name="T83" fmla="*/ 14 h 83"/>
              <a:gd name="T84" fmla="*/ 94 w 105"/>
              <a:gd name="T85" fmla="*/ 20 h 83"/>
              <a:gd name="T86" fmla="*/ 101 w 105"/>
              <a:gd name="T87" fmla="*/ 20 h 83"/>
              <a:gd name="T88" fmla="*/ 102 w 105"/>
              <a:gd name="T89" fmla="*/ 18 h 83"/>
              <a:gd name="T90" fmla="*/ 104 w 105"/>
              <a:gd name="T91" fmla="*/ 9 h 83"/>
              <a:gd name="T92" fmla="*/ 99 w 105"/>
              <a:gd name="T93" fmla="*/ 2 h 83"/>
              <a:gd name="T94" fmla="*/ 92 w 105"/>
              <a:gd name="T9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5" h="83">
                <a:moveTo>
                  <a:pt x="92" y="0"/>
                </a:moveTo>
                <a:cubicBezTo>
                  <a:pt x="89" y="0"/>
                  <a:pt x="85" y="2"/>
                  <a:pt x="83" y="5"/>
                </a:cubicBezTo>
                <a:cubicBezTo>
                  <a:pt x="83" y="5"/>
                  <a:pt x="83" y="5"/>
                  <a:pt x="82" y="5"/>
                </a:cubicBezTo>
                <a:cubicBezTo>
                  <a:pt x="81" y="7"/>
                  <a:pt x="78" y="12"/>
                  <a:pt x="77" y="20"/>
                </a:cubicBezTo>
                <a:cubicBezTo>
                  <a:pt x="66" y="21"/>
                  <a:pt x="51" y="22"/>
                  <a:pt x="46" y="22"/>
                </a:cubicBezTo>
                <a:cubicBezTo>
                  <a:pt x="20" y="23"/>
                  <a:pt x="3" y="51"/>
                  <a:pt x="1" y="70"/>
                </a:cubicBezTo>
                <a:cubicBezTo>
                  <a:pt x="0" y="73"/>
                  <a:pt x="1" y="76"/>
                  <a:pt x="3" y="78"/>
                </a:cubicBezTo>
                <a:cubicBezTo>
                  <a:pt x="6" y="77"/>
                  <a:pt x="8" y="76"/>
                  <a:pt x="11" y="75"/>
                </a:cubicBezTo>
                <a:cubicBezTo>
                  <a:pt x="16" y="72"/>
                  <a:pt x="20" y="70"/>
                  <a:pt x="20" y="70"/>
                </a:cubicBezTo>
                <a:cubicBezTo>
                  <a:pt x="20" y="70"/>
                  <a:pt x="16" y="75"/>
                  <a:pt x="16" y="83"/>
                </a:cubicBezTo>
                <a:cubicBezTo>
                  <a:pt x="20" y="82"/>
                  <a:pt x="24" y="78"/>
                  <a:pt x="24" y="73"/>
                </a:cubicBezTo>
                <a:cubicBezTo>
                  <a:pt x="26" y="64"/>
                  <a:pt x="35" y="46"/>
                  <a:pt x="47" y="46"/>
                </a:cubicBezTo>
                <a:cubicBezTo>
                  <a:pt x="55" y="46"/>
                  <a:pt x="83" y="44"/>
                  <a:pt x="88" y="43"/>
                </a:cubicBezTo>
                <a:cubicBezTo>
                  <a:pt x="87" y="43"/>
                  <a:pt x="87" y="43"/>
                  <a:pt x="87" y="43"/>
                </a:cubicBezTo>
                <a:cubicBezTo>
                  <a:pt x="81" y="43"/>
                  <a:pt x="76" y="38"/>
                  <a:pt x="76" y="32"/>
                </a:cubicBezTo>
                <a:cubicBezTo>
                  <a:pt x="75" y="32"/>
                  <a:pt x="75" y="32"/>
                  <a:pt x="74" y="32"/>
                </a:cubicBezTo>
                <a:cubicBezTo>
                  <a:pt x="64" y="32"/>
                  <a:pt x="54" y="33"/>
                  <a:pt x="49" y="33"/>
                </a:cubicBezTo>
                <a:cubicBezTo>
                  <a:pt x="46" y="34"/>
                  <a:pt x="43" y="34"/>
                  <a:pt x="40" y="36"/>
                </a:cubicBezTo>
                <a:cubicBezTo>
                  <a:pt x="38" y="37"/>
                  <a:pt x="35" y="39"/>
                  <a:pt x="33" y="41"/>
                </a:cubicBezTo>
                <a:cubicBezTo>
                  <a:pt x="28" y="46"/>
                  <a:pt x="24" y="52"/>
                  <a:pt x="22" y="58"/>
                </a:cubicBezTo>
                <a:cubicBezTo>
                  <a:pt x="20" y="62"/>
                  <a:pt x="19" y="65"/>
                  <a:pt x="19" y="68"/>
                </a:cubicBezTo>
                <a:cubicBezTo>
                  <a:pt x="19" y="70"/>
                  <a:pt x="17" y="71"/>
                  <a:pt x="16" y="71"/>
                </a:cubicBezTo>
                <a:cubicBezTo>
                  <a:pt x="16" y="71"/>
                  <a:pt x="15" y="71"/>
                  <a:pt x="15" y="71"/>
                </a:cubicBezTo>
                <a:cubicBezTo>
                  <a:pt x="14" y="70"/>
                  <a:pt x="13" y="69"/>
                  <a:pt x="13" y="67"/>
                </a:cubicBezTo>
                <a:cubicBezTo>
                  <a:pt x="13" y="65"/>
                  <a:pt x="14" y="62"/>
                  <a:pt x="15" y="59"/>
                </a:cubicBezTo>
                <a:cubicBezTo>
                  <a:pt x="16" y="56"/>
                  <a:pt x="17" y="52"/>
                  <a:pt x="19" y="49"/>
                </a:cubicBezTo>
                <a:cubicBezTo>
                  <a:pt x="23" y="43"/>
                  <a:pt x="28" y="36"/>
                  <a:pt x="34" y="32"/>
                </a:cubicBezTo>
                <a:cubicBezTo>
                  <a:pt x="39" y="29"/>
                  <a:pt x="44" y="28"/>
                  <a:pt x="49" y="27"/>
                </a:cubicBezTo>
                <a:cubicBezTo>
                  <a:pt x="52" y="27"/>
                  <a:pt x="59" y="27"/>
                  <a:pt x="66" y="26"/>
                </a:cubicBezTo>
                <a:cubicBezTo>
                  <a:pt x="70" y="26"/>
                  <a:pt x="74" y="26"/>
                  <a:pt x="77" y="25"/>
                </a:cubicBezTo>
                <a:cubicBezTo>
                  <a:pt x="79" y="22"/>
                  <a:pt x="83" y="19"/>
                  <a:pt x="88" y="19"/>
                </a:cubicBezTo>
                <a:cubicBezTo>
                  <a:pt x="88" y="19"/>
                  <a:pt x="88" y="19"/>
                  <a:pt x="88" y="19"/>
                </a:cubicBezTo>
                <a:cubicBezTo>
                  <a:pt x="89" y="16"/>
                  <a:pt x="90" y="14"/>
                  <a:pt x="90" y="12"/>
                </a:cubicBezTo>
                <a:cubicBezTo>
                  <a:pt x="92" y="8"/>
                  <a:pt x="93" y="6"/>
                  <a:pt x="93" y="6"/>
                </a:cubicBezTo>
                <a:cubicBezTo>
                  <a:pt x="94" y="5"/>
                  <a:pt x="95" y="5"/>
                  <a:pt x="96" y="5"/>
                </a:cubicBezTo>
                <a:cubicBezTo>
                  <a:pt x="96" y="5"/>
                  <a:pt x="97" y="5"/>
                  <a:pt x="97" y="6"/>
                </a:cubicBezTo>
                <a:cubicBezTo>
                  <a:pt x="99" y="7"/>
                  <a:pt x="99" y="8"/>
                  <a:pt x="98" y="10"/>
                </a:cubicBezTo>
                <a:cubicBezTo>
                  <a:pt x="98" y="10"/>
                  <a:pt x="98" y="10"/>
                  <a:pt x="98" y="10"/>
                </a:cubicBezTo>
                <a:cubicBezTo>
                  <a:pt x="98" y="10"/>
                  <a:pt x="98" y="10"/>
                  <a:pt x="98" y="10"/>
                </a:cubicBezTo>
                <a:cubicBezTo>
                  <a:pt x="98" y="10"/>
                  <a:pt x="98" y="10"/>
                  <a:pt x="98" y="10"/>
                </a:cubicBezTo>
                <a:cubicBezTo>
                  <a:pt x="98" y="10"/>
                  <a:pt x="98" y="10"/>
                  <a:pt x="97" y="11"/>
                </a:cubicBezTo>
                <a:cubicBezTo>
                  <a:pt x="97" y="11"/>
                  <a:pt x="97" y="12"/>
                  <a:pt x="96" y="14"/>
                </a:cubicBezTo>
                <a:cubicBezTo>
                  <a:pt x="95" y="15"/>
                  <a:pt x="95" y="17"/>
                  <a:pt x="94" y="20"/>
                </a:cubicBezTo>
                <a:cubicBezTo>
                  <a:pt x="101" y="20"/>
                  <a:pt x="101" y="20"/>
                  <a:pt x="101" y="20"/>
                </a:cubicBezTo>
                <a:cubicBezTo>
                  <a:pt x="102" y="19"/>
                  <a:pt x="102" y="19"/>
                  <a:pt x="102" y="18"/>
                </a:cubicBezTo>
                <a:cubicBezTo>
                  <a:pt x="104" y="16"/>
                  <a:pt x="105" y="12"/>
                  <a:pt x="104" y="9"/>
                </a:cubicBezTo>
                <a:cubicBezTo>
                  <a:pt x="104" y="7"/>
                  <a:pt x="102" y="4"/>
                  <a:pt x="99" y="2"/>
                </a:cubicBezTo>
                <a:cubicBezTo>
                  <a:pt x="97" y="0"/>
                  <a:pt x="95" y="0"/>
                  <a:pt x="92"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3" name="Freeform 58"/>
          <p:cNvSpPr>
            <a:spLocks noEditPoints="1"/>
          </p:cNvSpPr>
          <p:nvPr/>
        </p:nvSpPr>
        <p:spPr bwMode="auto">
          <a:xfrm>
            <a:off x="3340101" y="5265738"/>
            <a:ext cx="77788" cy="42862"/>
          </a:xfrm>
          <a:custGeom>
            <a:avLst/>
            <a:gdLst>
              <a:gd name="T0" fmla="*/ 18 w 46"/>
              <a:gd name="T1" fmla="*/ 1 h 26"/>
              <a:gd name="T2" fmla="*/ 18 w 46"/>
              <a:gd name="T3" fmla="*/ 6 h 26"/>
              <a:gd name="T4" fmla="*/ 38 w 46"/>
              <a:gd name="T5" fmla="*/ 7 h 26"/>
              <a:gd name="T6" fmla="*/ 40 w 46"/>
              <a:gd name="T7" fmla="*/ 10 h 26"/>
              <a:gd name="T8" fmla="*/ 37 w 46"/>
              <a:gd name="T9" fmla="*/ 13 h 26"/>
              <a:gd name="T10" fmla="*/ 37 w 46"/>
              <a:gd name="T11" fmla="*/ 13 h 26"/>
              <a:gd name="T12" fmla="*/ 15 w 46"/>
              <a:gd name="T13" fmla="*/ 11 h 26"/>
              <a:gd name="T14" fmla="*/ 0 w 46"/>
              <a:gd name="T15" fmla="*/ 13 h 26"/>
              <a:gd name="T16" fmla="*/ 11 w 46"/>
              <a:gd name="T17" fmla="*/ 24 h 26"/>
              <a:gd name="T18" fmla="*/ 12 w 46"/>
              <a:gd name="T19" fmla="*/ 24 h 26"/>
              <a:gd name="T20" fmla="*/ 28 w 46"/>
              <a:gd name="T21" fmla="*/ 25 h 26"/>
              <a:gd name="T22" fmla="*/ 34 w 46"/>
              <a:gd name="T23" fmla="*/ 26 h 26"/>
              <a:gd name="T24" fmla="*/ 34 w 46"/>
              <a:gd name="T25" fmla="*/ 26 h 26"/>
              <a:gd name="T26" fmla="*/ 46 w 46"/>
              <a:gd name="T27" fmla="*/ 14 h 26"/>
              <a:gd name="T28" fmla="*/ 46 w 46"/>
              <a:gd name="T29" fmla="*/ 10 h 26"/>
              <a:gd name="T30" fmla="*/ 35 w 46"/>
              <a:gd name="T31" fmla="*/ 2 h 26"/>
              <a:gd name="T32" fmla="*/ 25 w 46"/>
              <a:gd name="T33" fmla="*/ 1 h 26"/>
              <a:gd name="T34" fmla="*/ 18 w 46"/>
              <a:gd name="T35" fmla="*/ 1 h 26"/>
              <a:gd name="T36" fmla="*/ 12 w 46"/>
              <a:gd name="T37" fmla="*/ 0 h 26"/>
              <a:gd name="T38" fmla="*/ 1 w 46"/>
              <a:gd name="T39" fmla="*/ 6 h 26"/>
              <a:gd name="T40" fmla="*/ 10 w 46"/>
              <a:gd name="T41" fmla="*/ 6 h 26"/>
              <a:gd name="T42" fmla="*/ 12 w 46"/>
              <a:gd name="T43" fmla="*/ 6 h 26"/>
              <a:gd name="T44" fmla="*/ 12 w 46"/>
              <a:gd name="T45" fmla="*/ 0 h 26"/>
              <a:gd name="T46" fmla="*/ 12 w 46"/>
              <a:gd name="T4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 h="26">
                <a:moveTo>
                  <a:pt x="18" y="1"/>
                </a:moveTo>
                <a:cubicBezTo>
                  <a:pt x="18" y="2"/>
                  <a:pt x="18" y="4"/>
                  <a:pt x="18" y="6"/>
                </a:cubicBezTo>
                <a:cubicBezTo>
                  <a:pt x="38" y="7"/>
                  <a:pt x="38" y="7"/>
                  <a:pt x="38" y="7"/>
                </a:cubicBezTo>
                <a:cubicBezTo>
                  <a:pt x="39" y="7"/>
                  <a:pt x="41" y="8"/>
                  <a:pt x="40" y="10"/>
                </a:cubicBezTo>
                <a:cubicBezTo>
                  <a:pt x="40" y="12"/>
                  <a:pt x="39" y="13"/>
                  <a:pt x="37" y="13"/>
                </a:cubicBezTo>
                <a:cubicBezTo>
                  <a:pt x="37" y="13"/>
                  <a:pt x="37" y="13"/>
                  <a:pt x="37" y="13"/>
                </a:cubicBezTo>
                <a:cubicBezTo>
                  <a:pt x="15" y="11"/>
                  <a:pt x="15" y="11"/>
                  <a:pt x="15" y="11"/>
                </a:cubicBezTo>
                <a:cubicBezTo>
                  <a:pt x="14" y="12"/>
                  <a:pt x="8" y="12"/>
                  <a:pt x="0" y="13"/>
                </a:cubicBezTo>
                <a:cubicBezTo>
                  <a:pt x="0" y="19"/>
                  <a:pt x="5" y="24"/>
                  <a:pt x="11" y="24"/>
                </a:cubicBezTo>
                <a:cubicBezTo>
                  <a:pt x="12" y="24"/>
                  <a:pt x="12" y="24"/>
                  <a:pt x="12" y="24"/>
                </a:cubicBezTo>
                <a:cubicBezTo>
                  <a:pt x="28" y="25"/>
                  <a:pt x="28" y="25"/>
                  <a:pt x="28" y="25"/>
                </a:cubicBezTo>
                <a:cubicBezTo>
                  <a:pt x="34" y="26"/>
                  <a:pt x="34" y="26"/>
                  <a:pt x="34" y="26"/>
                </a:cubicBezTo>
                <a:cubicBezTo>
                  <a:pt x="34" y="26"/>
                  <a:pt x="34" y="26"/>
                  <a:pt x="34" y="26"/>
                </a:cubicBezTo>
                <a:cubicBezTo>
                  <a:pt x="41" y="26"/>
                  <a:pt x="46" y="21"/>
                  <a:pt x="46" y="14"/>
                </a:cubicBezTo>
                <a:cubicBezTo>
                  <a:pt x="46" y="13"/>
                  <a:pt x="46" y="12"/>
                  <a:pt x="46" y="10"/>
                </a:cubicBezTo>
                <a:cubicBezTo>
                  <a:pt x="44" y="6"/>
                  <a:pt x="40" y="2"/>
                  <a:pt x="35" y="2"/>
                </a:cubicBezTo>
                <a:cubicBezTo>
                  <a:pt x="25" y="1"/>
                  <a:pt x="25" y="1"/>
                  <a:pt x="25" y="1"/>
                </a:cubicBezTo>
                <a:cubicBezTo>
                  <a:pt x="18" y="1"/>
                  <a:pt x="18" y="1"/>
                  <a:pt x="18" y="1"/>
                </a:cubicBezTo>
                <a:moveTo>
                  <a:pt x="12" y="0"/>
                </a:moveTo>
                <a:cubicBezTo>
                  <a:pt x="7" y="0"/>
                  <a:pt x="3" y="3"/>
                  <a:pt x="1" y="6"/>
                </a:cubicBezTo>
                <a:cubicBezTo>
                  <a:pt x="4" y="6"/>
                  <a:pt x="7" y="6"/>
                  <a:pt x="10" y="6"/>
                </a:cubicBezTo>
                <a:cubicBezTo>
                  <a:pt x="10" y="6"/>
                  <a:pt x="11" y="6"/>
                  <a:pt x="12" y="6"/>
                </a:cubicBezTo>
                <a:cubicBezTo>
                  <a:pt x="12" y="4"/>
                  <a:pt x="12" y="2"/>
                  <a:pt x="12" y="0"/>
                </a:cubicBezTo>
                <a:cubicBezTo>
                  <a:pt x="12" y="0"/>
                  <a:pt x="12" y="0"/>
                  <a:pt x="12"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4" name="Freeform 59"/>
          <p:cNvSpPr>
            <a:spLocks/>
          </p:cNvSpPr>
          <p:nvPr/>
        </p:nvSpPr>
        <p:spPr bwMode="auto">
          <a:xfrm>
            <a:off x="3813176" y="4922838"/>
            <a:ext cx="19050" cy="4762"/>
          </a:xfrm>
          <a:custGeom>
            <a:avLst/>
            <a:gdLst>
              <a:gd name="T0" fmla="*/ 4 w 11"/>
              <a:gd name="T1" fmla="*/ 0 h 3"/>
              <a:gd name="T2" fmla="*/ 0 w 11"/>
              <a:gd name="T3" fmla="*/ 1 h 3"/>
              <a:gd name="T4" fmla="*/ 0 w 11"/>
              <a:gd name="T5" fmla="*/ 1 h 3"/>
              <a:gd name="T6" fmla="*/ 11 w 11"/>
              <a:gd name="T7" fmla="*/ 3 h 3"/>
              <a:gd name="T8" fmla="*/ 9 w 11"/>
              <a:gd name="T9" fmla="*/ 1 h 3"/>
              <a:gd name="T10" fmla="*/ 4 w 11"/>
              <a:gd name="T11" fmla="*/ 0 h 3"/>
            </a:gdLst>
            <a:ahLst/>
            <a:cxnLst>
              <a:cxn ang="0">
                <a:pos x="T0" y="T1"/>
              </a:cxn>
              <a:cxn ang="0">
                <a:pos x="T2" y="T3"/>
              </a:cxn>
              <a:cxn ang="0">
                <a:pos x="T4" y="T5"/>
              </a:cxn>
              <a:cxn ang="0">
                <a:pos x="T6" y="T7"/>
              </a:cxn>
              <a:cxn ang="0">
                <a:pos x="T8" y="T9"/>
              </a:cxn>
              <a:cxn ang="0">
                <a:pos x="T10" y="T11"/>
              </a:cxn>
            </a:cxnLst>
            <a:rect l="0" t="0" r="r" b="b"/>
            <a:pathLst>
              <a:path w="11" h="3">
                <a:moveTo>
                  <a:pt x="4" y="0"/>
                </a:moveTo>
                <a:cubicBezTo>
                  <a:pt x="2" y="0"/>
                  <a:pt x="1" y="0"/>
                  <a:pt x="0" y="1"/>
                </a:cubicBezTo>
                <a:cubicBezTo>
                  <a:pt x="0" y="1"/>
                  <a:pt x="0" y="1"/>
                  <a:pt x="0" y="1"/>
                </a:cubicBezTo>
                <a:cubicBezTo>
                  <a:pt x="4" y="1"/>
                  <a:pt x="8" y="1"/>
                  <a:pt x="11" y="3"/>
                </a:cubicBezTo>
                <a:cubicBezTo>
                  <a:pt x="10" y="2"/>
                  <a:pt x="10" y="2"/>
                  <a:pt x="9" y="1"/>
                </a:cubicBezTo>
                <a:cubicBezTo>
                  <a:pt x="7" y="0"/>
                  <a:pt x="5" y="0"/>
                  <a:pt x="4" y="0"/>
                </a:cubicBezTo>
              </a:path>
            </a:pathLst>
          </a:custGeom>
          <a:solidFill>
            <a:srgbClr val="DA81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5" name="Freeform 60"/>
          <p:cNvSpPr>
            <a:spLocks noEditPoints="1"/>
          </p:cNvSpPr>
          <p:nvPr/>
        </p:nvSpPr>
        <p:spPr bwMode="auto">
          <a:xfrm>
            <a:off x="3630613" y="4924425"/>
            <a:ext cx="211138" cy="374650"/>
          </a:xfrm>
          <a:custGeom>
            <a:avLst/>
            <a:gdLst>
              <a:gd name="T0" fmla="*/ 40 w 124"/>
              <a:gd name="T1" fmla="*/ 130 h 221"/>
              <a:gd name="T2" fmla="*/ 15 w 124"/>
              <a:gd name="T3" fmla="*/ 217 h 221"/>
              <a:gd name="T4" fmla="*/ 31 w 124"/>
              <a:gd name="T5" fmla="*/ 219 h 221"/>
              <a:gd name="T6" fmla="*/ 29 w 124"/>
              <a:gd name="T7" fmla="*/ 182 h 221"/>
              <a:gd name="T8" fmla="*/ 54 w 124"/>
              <a:gd name="T9" fmla="*/ 137 h 221"/>
              <a:gd name="T10" fmla="*/ 41 w 124"/>
              <a:gd name="T11" fmla="*/ 154 h 221"/>
              <a:gd name="T12" fmla="*/ 26 w 124"/>
              <a:gd name="T13" fmla="*/ 173 h 221"/>
              <a:gd name="T14" fmla="*/ 23 w 124"/>
              <a:gd name="T15" fmla="*/ 183 h 221"/>
              <a:gd name="T16" fmla="*/ 30 w 124"/>
              <a:gd name="T17" fmla="*/ 204 h 221"/>
              <a:gd name="T18" fmla="*/ 27 w 124"/>
              <a:gd name="T19" fmla="*/ 209 h 221"/>
              <a:gd name="T20" fmla="*/ 19 w 124"/>
              <a:gd name="T21" fmla="*/ 196 h 221"/>
              <a:gd name="T22" fmla="*/ 18 w 124"/>
              <a:gd name="T23" fmla="*/ 175 h 221"/>
              <a:gd name="T24" fmla="*/ 21 w 124"/>
              <a:gd name="T25" fmla="*/ 169 h 221"/>
              <a:gd name="T26" fmla="*/ 52 w 124"/>
              <a:gd name="T27" fmla="*/ 130 h 221"/>
              <a:gd name="T28" fmla="*/ 52 w 124"/>
              <a:gd name="T29" fmla="*/ 126 h 221"/>
              <a:gd name="T30" fmla="*/ 45 w 124"/>
              <a:gd name="T31" fmla="*/ 106 h 221"/>
              <a:gd name="T32" fmla="*/ 36 w 124"/>
              <a:gd name="T33" fmla="*/ 106 h 221"/>
              <a:gd name="T34" fmla="*/ 28 w 124"/>
              <a:gd name="T35" fmla="*/ 103 h 221"/>
              <a:gd name="T36" fmla="*/ 101 w 124"/>
              <a:gd name="T37" fmla="*/ 42 h 221"/>
              <a:gd name="T38" fmla="*/ 79 w 124"/>
              <a:gd name="T39" fmla="*/ 64 h 221"/>
              <a:gd name="T40" fmla="*/ 70 w 124"/>
              <a:gd name="T41" fmla="*/ 72 h 221"/>
              <a:gd name="T42" fmla="*/ 47 w 124"/>
              <a:gd name="T43" fmla="*/ 89 h 221"/>
              <a:gd name="T44" fmla="*/ 56 w 124"/>
              <a:gd name="T45" fmla="*/ 114 h 221"/>
              <a:gd name="T46" fmla="*/ 63 w 124"/>
              <a:gd name="T47" fmla="*/ 122 h 221"/>
              <a:gd name="T48" fmla="*/ 82 w 124"/>
              <a:gd name="T49" fmla="*/ 74 h 221"/>
              <a:gd name="T50" fmla="*/ 111 w 124"/>
              <a:gd name="T51" fmla="*/ 43 h 221"/>
              <a:gd name="T52" fmla="*/ 109 w 124"/>
              <a:gd name="T53" fmla="*/ 44 h 221"/>
              <a:gd name="T54" fmla="*/ 107 w 124"/>
              <a:gd name="T55" fmla="*/ 0 h 221"/>
              <a:gd name="T56" fmla="*/ 100 w 124"/>
              <a:gd name="T57" fmla="*/ 6 h 221"/>
              <a:gd name="T58" fmla="*/ 65 w 124"/>
              <a:gd name="T59" fmla="*/ 58 h 221"/>
              <a:gd name="T60" fmla="*/ 43 w 124"/>
              <a:gd name="T61" fmla="*/ 85 h 221"/>
              <a:gd name="T62" fmla="*/ 62 w 124"/>
              <a:gd name="T63" fmla="*/ 71 h 221"/>
              <a:gd name="T64" fmla="*/ 74 w 124"/>
              <a:gd name="T65" fmla="*/ 60 h 221"/>
              <a:gd name="T66" fmla="*/ 82 w 124"/>
              <a:gd name="T67" fmla="*/ 52 h 221"/>
              <a:gd name="T68" fmla="*/ 98 w 124"/>
              <a:gd name="T69" fmla="*/ 37 h 221"/>
              <a:gd name="T70" fmla="*/ 106 w 124"/>
              <a:gd name="T71" fmla="*/ 20 h 221"/>
              <a:gd name="T72" fmla="*/ 109 w 124"/>
              <a:gd name="T73" fmla="*/ 11 h 221"/>
              <a:gd name="T74" fmla="*/ 114 w 124"/>
              <a:gd name="T75" fmla="*/ 4 h 221"/>
              <a:gd name="T76" fmla="*/ 117 w 124"/>
              <a:gd name="T77" fmla="*/ 9 h 221"/>
              <a:gd name="T78" fmla="*/ 117 w 124"/>
              <a:gd name="T79" fmla="*/ 9 h 221"/>
              <a:gd name="T80" fmla="*/ 116 w 124"/>
              <a:gd name="T81" fmla="*/ 9 h 221"/>
              <a:gd name="T82" fmla="*/ 115 w 124"/>
              <a:gd name="T83" fmla="*/ 13 h 221"/>
              <a:gd name="T84" fmla="*/ 120 w 124"/>
              <a:gd name="T85" fmla="*/ 21 h 221"/>
              <a:gd name="T86" fmla="*/ 118 w 124"/>
              <a:gd name="T87" fmla="*/ 2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4" h="221">
                <a:moveTo>
                  <a:pt x="28" y="103"/>
                </a:moveTo>
                <a:cubicBezTo>
                  <a:pt x="34" y="113"/>
                  <a:pt x="40" y="126"/>
                  <a:pt x="40" y="130"/>
                </a:cubicBezTo>
                <a:cubicBezTo>
                  <a:pt x="35" y="139"/>
                  <a:pt x="20" y="157"/>
                  <a:pt x="12" y="166"/>
                </a:cubicBezTo>
                <a:cubicBezTo>
                  <a:pt x="0" y="179"/>
                  <a:pt x="4" y="203"/>
                  <a:pt x="15" y="217"/>
                </a:cubicBezTo>
                <a:cubicBezTo>
                  <a:pt x="17" y="220"/>
                  <a:pt x="21" y="221"/>
                  <a:pt x="24" y="221"/>
                </a:cubicBezTo>
                <a:cubicBezTo>
                  <a:pt x="27" y="221"/>
                  <a:pt x="29" y="221"/>
                  <a:pt x="31" y="219"/>
                </a:cubicBezTo>
                <a:cubicBezTo>
                  <a:pt x="37" y="215"/>
                  <a:pt x="38" y="207"/>
                  <a:pt x="34" y="202"/>
                </a:cubicBezTo>
                <a:cubicBezTo>
                  <a:pt x="29" y="196"/>
                  <a:pt x="28" y="185"/>
                  <a:pt x="29" y="182"/>
                </a:cubicBezTo>
                <a:cubicBezTo>
                  <a:pt x="30" y="181"/>
                  <a:pt x="50" y="159"/>
                  <a:pt x="59" y="144"/>
                </a:cubicBezTo>
                <a:cubicBezTo>
                  <a:pt x="57" y="142"/>
                  <a:pt x="55" y="140"/>
                  <a:pt x="54" y="137"/>
                </a:cubicBezTo>
                <a:cubicBezTo>
                  <a:pt x="53" y="139"/>
                  <a:pt x="52" y="141"/>
                  <a:pt x="50" y="143"/>
                </a:cubicBezTo>
                <a:cubicBezTo>
                  <a:pt x="48" y="146"/>
                  <a:pt x="45" y="150"/>
                  <a:pt x="41" y="154"/>
                </a:cubicBezTo>
                <a:cubicBezTo>
                  <a:pt x="35" y="162"/>
                  <a:pt x="29" y="169"/>
                  <a:pt x="26" y="173"/>
                </a:cubicBezTo>
                <a:cubicBezTo>
                  <a:pt x="26" y="173"/>
                  <a:pt x="26" y="173"/>
                  <a:pt x="26" y="173"/>
                </a:cubicBezTo>
                <a:cubicBezTo>
                  <a:pt x="25" y="174"/>
                  <a:pt x="24" y="175"/>
                  <a:pt x="24" y="177"/>
                </a:cubicBezTo>
                <a:cubicBezTo>
                  <a:pt x="23" y="179"/>
                  <a:pt x="23" y="181"/>
                  <a:pt x="23" y="183"/>
                </a:cubicBezTo>
                <a:cubicBezTo>
                  <a:pt x="23" y="186"/>
                  <a:pt x="23" y="190"/>
                  <a:pt x="25" y="194"/>
                </a:cubicBezTo>
                <a:cubicBezTo>
                  <a:pt x="26" y="198"/>
                  <a:pt x="28" y="201"/>
                  <a:pt x="30" y="204"/>
                </a:cubicBezTo>
                <a:cubicBezTo>
                  <a:pt x="31" y="205"/>
                  <a:pt x="30" y="207"/>
                  <a:pt x="29" y="208"/>
                </a:cubicBezTo>
                <a:cubicBezTo>
                  <a:pt x="29" y="208"/>
                  <a:pt x="28" y="209"/>
                  <a:pt x="27" y="209"/>
                </a:cubicBezTo>
                <a:cubicBezTo>
                  <a:pt x="26" y="209"/>
                  <a:pt x="26" y="208"/>
                  <a:pt x="25" y="208"/>
                </a:cubicBezTo>
                <a:cubicBezTo>
                  <a:pt x="22" y="204"/>
                  <a:pt x="20" y="200"/>
                  <a:pt x="19" y="196"/>
                </a:cubicBezTo>
                <a:cubicBezTo>
                  <a:pt x="18" y="192"/>
                  <a:pt x="17" y="187"/>
                  <a:pt x="17" y="183"/>
                </a:cubicBezTo>
                <a:cubicBezTo>
                  <a:pt x="17" y="180"/>
                  <a:pt x="17" y="178"/>
                  <a:pt x="18" y="175"/>
                </a:cubicBezTo>
                <a:cubicBezTo>
                  <a:pt x="19" y="173"/>
                  <a:pt x="20" y="170"/>
                  <a:pt x="21" y="169"/>
                </a:cubicBezTo>
                <a:cubicBezTo>
                  <a:pt x="21" y="169"/>
                  <a:pt x="21" y="169"/>
                  <a:pt x="21" y="169"/>
                </a:cubicBezTo>
                <a:cubicBezTo>
                  <a:pt x="26" y="163"/>
                  <a:pt x="38" y="150"/>
                  <a:pt x="45" y="139"/>
                </a:cubicBezTo>
                <a:cubicBezTo>
                  <a:pt x="48" y="136"/>
                  <a:pt x="50" y="132"/>
                  <a:pt x="52" y="130"/>
                </a:cubicBezTo>
                <a:cubicBezTo>
                  <a:pt x="52" y="130"/>
                  <a:pt x="52" y="130"/>
                  <a:pt x="52" y="130"/>
                </a:cubicBezTo>
                <a:cubicBezTo>
                  <a:pt x="52" y="129"/>
                  <a:pt x="52" y="128"/>
                  <a:pt x="52" y="126"/>
                </a:cubicBezTo>
                <a:cubicBezTo>
                  <a:pt x="52" y="124"/>
                  <a:pt x="51" y="120"/>
                  <a:pt x="50" y="117"/>
                </a:cubicBezTo>
                <a:cubicBezTo>
                  <a:pt x="49" y="113"/>
                  <a:pt x="47" y="109"/>
                  <a:pt x="45" y="106"/>
                </a:cubicBezTo>
                <a:cubicBezTo>
                  <a:pt x="45" y="105"/>
                  <a:pt x="44" y="104"/>
                  <a:pt x="44" y="104"/>
                </a:cubicBezTo>
                <a:cubicBezTo>
                  <a:pt x="42" y="105"/>
                  <a:pt x="39" y="106"/>
                  <a:pt x="36" y="106"/>
                </a:cubicBezTo>
                <a:cubicBezTo>
                  <a:pt x="34" y="106"/>
                  <a:pt x="31" y="106"/>
                  <a:pt x="29" y="104"/>
                </a:cubicBezTo>
                <a:cubicBezTo>
                  <a:pt x="29" y="104"/>
                  <a:pt x="28" y="103"/>
                  <a:pt x="28" y="103"/>
                </a:cubicBezTo>
                <a:moveTo>
                  <a:pt x="102" y="42"/>
                </a:moveTo>
                <a:cubicBezTo>
                  <a:pt x="102" y="42"/>
                  <a:pt x="102" y="42"/>
                  <a:pt x="101" y="42"/>
                </a:cubicBezTo>
                <a:cubicBezTo>
                  <a:pt x="95" y="49"/>
                  <a:pt x="87" y="56"/>
                  <a:pt x="82" y="61"/>
                </a:cubicBezTo>
                <a:cubicBezTo>
                  <a:pt x="81" y="63"/>
                  <a:pt x="79" y="64"/>
                  <a:pt x="79" y="64"/>
                </a:cubicBezTo>
                <a:cubicBezTo>
                  <a:pt x="78" y="65"/>
                  <a:pt x="77" y="67"/>
                  <a:pt x="75" y="68"/>
                </a:cubicBezTo>
                <a:cubicBezTo>
                  <a:pt x="74" y="69"/>
                  <a:pt x="72" y="71"/>
                  <a:pt x="70" y="72"/>
                </a:cubicBezTo>
                <a:cubicBezTo>
                  <a:pt x="66" y="75"/>
                  <a:pt x="62" y="78"/>
                  <a:pt x="57" y="82"/>
                </a:cubicBezTo>
                <a:cubicBezTo>
                  <a:pt x="53" y="84"/>
                  <a:pt x="50" y="87"/>
                  <a:pt x="47" y="89"/>
                </a:cubicBezTo>
                <a:cubicBezTo>
                  <a:pt x="48" y="92"/>
                  <a:pt x="48" y="95"/>
                  <a:pt x="48" y="98"/>
                </a:cubicBezTo>
                <a:cubicBezTo>
                  <a:pt x="50" y="103"/>
                  <a:pt x="53" y="108"/>
                  <a:pt x="56" y="114"/>
                </a:cubicBezTo>
                <a:cubicBezTo>
                  <a:pt x="57" y="118"/>
                  <a:pt x="58" y="121"/>
                  <a:pt x="58" y="125"/>
                </a:cubicBezTo>
                <a:cubicBezTo>
                  <a:pt x="60" y="124"/>
                  <a:pt x="61" y="123"/>
                  <a:pt x="63" y="122"/>
                </a:cubicBezTo>
                <a:cubicBezTo>
                  <a:pt x="61" y="114"/>
                  <a:pt x="57" y="105"/>
                  <a:pt x="52" y="98"/>
                </a:cubicBezTo>
                <a:cubicBezTo>
                  <a:pt x="63" y="90"/>
                  <a:pt x="78" y="79"/>
                  <a:pt x="82" y="74"/>
                </a:cubicBezTo>
                <a:cubicBezTo>
                  <a:pt x="86" y="70"/>
                  <a:pt x="104" y="53"/>
                  <a:pt x="113" y="44"/>
                </a:cubicBezTo>
                <a:cubicBezTo>
                  <a:pt x="113" y="44"/>
                  <a:pt x="112" y="43"/>
                  <a:pt x="111" y="43"/>
                </a:cubicBezTo>
                <a:cubicBezTo>
                  <a:pt x="111" y="43"/>
                  <a:pt x="111" y="43"/>
                  <a:pt x="111" y="43"/>
                </a:cubicBezTo>
                <a:cubicBezTo>
                  <a:pt x="110" y="44"/>
                  <a:pt x="110" y="44"/>
                  <a:pt x="109" y="44"/>
                </a:cubicBezTo>
                <a:cubicBezTo>
                  <a:pt x="106" y="44"/>
                  <a:pt x="104" y="43"/>
                  <a:pt x="102" y="42"/>
                </a:cubicBezTo>
                <a:moveTo>
                  <a:pt x="107" y="0"/>
                </a:moveTo>
                <a:cubicBezTo>
                  <a:pt x="107" y="0"/>
                  <a:pt x="107" y="0"/>
                  <a:pt x="107" y="0"/>
                </a:cubicBezTo>
                <a:cubicBezTo>
                  <a:pt x="104" y="1"/>
                  <a:pt x="101" y="3"/>
                  <a:pt x="100" y="6"/>
                </a:cubicBezTo>
                <a:cubicBezTo>
                  <a:pt x="99" y="8"/>
                  <a:pt x="95" y="18"/>
                  <a:pt x="95" y="28"/>
                </a:cubicBezTo>
                <a:cubicBezTo>
                  <a:pt x="87" y="36"/>
                  <a:pt x="69" y="53"/>
                  <a:pt x="65" y="58"/>
                </a:cubicBezTo>
                <a:cubicBezTo>
                  <a:pt x="62" y="61"/>
                  <a:pt x="49" y="71"/>
                  <a:pt x="36" y="80"/>
                </a:cubicBezTo>
                <a:cubicBezTo>
                  <a:pt x="39" y="82"/>
                  <a:pt x="42" y="84"/>
                  <a:pt x="43" y="85"/>
                </a:cubicBezTo>
                <a:cubicBezTo>
                  <a:pt x="44" y="84"/>
                  <a:pt x="45" y="83"/>
                  <a:pt x="46" y="83"/>
                </a:cubicBezTo>
                <a:cubicBezTo>
                  <a:pt x="50" y="79"/>
                  <a:pt x="56" y="75"/>
                  <a:pt x="62" y="71"/>
                </a:cubicBezTo>
                <a:cubicBezTo>
                  <a:pt x="66" y="68"/>
                  <a:pt x="69" y="65"/>
                  <a:pt x="71" y="63"/>
                </a:cubicBezTo>
                <a:cubicBezTo>
                  <a:pt x="73" y="62"/>
                  <a:pt x="74" y="61"/>
                  <a:pt x="74" y="60"/>
                </a:cubicBezTo>
                <a:cubicBezTo>
                  <a:pt x="75" y="60"/>
                  <a:pt x="76" y="58"/>
                  <a:pt x="78" y="57"/>
                </a:cubicBezTo>
                <a:cubicBezTo>
                  <a:pt x="79" y="56"/>
                  <a:pt x="81" y="54"/>
                  <a:pt x="82" y="52"/>
                </a:cubicBezTo>
                <a:cubicBezTo>
                  <a:pt x="86" y="49"/>
                  <a:pt x="90" y="45"/>
                  <a:pt x="94" y="41"/>
                </a:cubicBezTo>
                <a:cubicBezTo>
                  <a:pt x="96" y="39"/>
                  <a:pt x="97" y="38"/>
                  <a:pt x="98" y="37"/>
                </a:cubicBezTo>
                <a:cubicBezTo>
                  <a:pt x="98" y="36"/>
                  <a:pt x="97" y="35"/>
                  <a:pt x="97" y="34"/>
                </a:cubicBezTo>
                <a:cubicBezTo>
                  <a:pt x="96" y="28"/>
                  <a:pt x="99" y="22"/>
                  <a:pt x="106" y="20"/>
                </a:cubicBezTo>
                <a:cubicBezTo>
                  <a:pt x="106" y="20"/>
                  <a:pt x="107" y="20"/>
                  <a:pt x="107" y="20"/>
                </a:cubicBezTo>
                <a:cubicBezTo>
                  <a:pt x="108" y="17"/>
                  <a:pt x="108" y="13"/>
                  <a:pt x="109" y="11"/>
                </a:cubicBezTo>
                <a:cubicBezTo>
                  <a:pt x="110" y="8"/>
                  <a:pt x="111" y="6"/>
                  <a:pt x="111" y="6"/>
                </a:cubicBezTo>
                <a:cubicBezTo>
                  <a:pt x="112" y="5"/>
                  <a:pt x="113" y="4"/>
                  <a:pt x="114" y="4"/>
                </a:cubicBezTo>
                <a:cubicBezTo>
                  <a:pt x="114" y="4"/>
                  <a:pt x="115" y="4"/>
                  <a:pt x="115" y="5"/>
                </a:cubicBezTo>
                <a:cubicBezTo>
                  <a:pt x="117" y="5"/>
                  <a:pt x="117" y="7"/>
                  <a:pt x="117" y="9"/>
                </a:cubicBezTo>
                <a:cubicBezTo>
                  <a:pt x="117" y="9"/>
                  <a:pt x="117" y="9"/>
                  <a:pt x="117" y="9"/>
                </a:cubicBezTo>
                <a:cubicBezTo>
                  <a:pt x="117" y="9"/>
                  <a:pt x="117" y="9"/>
                  <a:pt x="117" y="9"/>
                </a:cubicBezTo>
                <a:cubicBezTo>
                  <a:pt x="117" y="9"/>
                  <a:pt x="117" y="9"/>
                  <a:pt x="117" y="9"/>
                </a:cubicBezTo>
                <a:cubicBezTo>
                  <a:pt x="116" y="9"/>
                  <a:pt x="116" y="9"/>
                  <a:pt x="116" y="9"/>
                </a:cubicBezTo>
                <a:cubicBezTo>
                  <a:pt x="116" y="9"/>
                  <a:pt x="116" y="9"/>
                  <a:pt x="116" y="10"/>
                </a:cubicBezTo>
                <a:cubicBezTo>
                  <a:pt x="116" y="10"/>
                  <a:pt x="115" y="11"/>
                  <a:pt x="115" y="13"/>
                </a:cubicBezTo>
                <a:cubicBezTo>
                  <a:pt x="114" y="15"/>
                  <a:pt x="114" y="17"/>
                  <a:pt x="113" y="20"/>
                </a:cubicBezTo>
                <a:cubicBezTo>
                  <a:pt x="116" y="20"/>
                  <a:pt x="118" y="20"/>
                  <a:pt x="120" y="21"/>
                </a:cubicBezTo>
                <a:cubicBezTo>
                  <a:pt x="120" y="19"/>
                  <a:pt x="121" y="17"/>
                  <a:pt x="122" y="16"/>
                </a:cubicBezTo>
                <a:cubicBezTo>
                  <a:pt x="124" y="11"/>
                  <a:pt x="122" y="5"/>
                  <a:pt x="118" y="2"/>
                </a:cubicBezTo>
                <a:cubicBezTo>
                  <a:pt x="115" y="0"/>
                  <a:pt x="111" y="0"/>
                  <a:pt x="107"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6" name="Freeform 61"/>
          <p:cNvSpPr>
            <a:spLocks noEditPoints="1"/>
          </p:cNvSpPr>
          <p:nvPr/>
        </p:nvSpPr>
        <p:spPr bwMode="auto">
          <a:xfrm>
            <a:off x="3794126" y="4957763"/>
            <a:ext cx="79375" cy="53975"/>
          </a:xfrm>
          <a:custGeom>
            <a:avLst/>
            <a:gdLst>
              <a:gd name="T0" fmla="*/ 11 w 47"/>
              <a:gd name="T1" fmla="*/ 0 h 32"/>
              <a:gd name="T2" fmla="*/ 10 w 47"/>
              <a:gd name="T3" fmla="*/ 0 h 32"/>
              <a:gd name="T4" fmla="*/ 1 w 47"/>
              <a:gd name="T5" fmla="*/ 14 h 32"/>
              <a:gd name="T6" fmla="*/ 2 w 47"/>
              <a:gd name="T7" fmla="*/ 17 h 32"/>
              <a:gd name="T8" fmla="*/ 12 w 47"/>
              <a:gd name="T9" fmla="*/ 7 h 32"/>
              <a:gd name="T10" fmla="*/ 11 w 47"/>
              <a:gd name="T11" fmla="*/ 2 h 32"/>
              <a:gd name="T12" fmla="*/ 11 w 47"/>
              <a:gd name="T13" fmla="*/ 0 h 32"/>
              <a:gd name="T14" fmla="*/ 17 w 47"/>
              <a:gd name="T15" fmla="*/ 0 h 32"/>
              <a:gd name="T16" fmla="*/ 17 w 47"/>
              <a:gd name="T17" fmla="*/ 2 h 32"/>
              <a:gd name="T18" fmla="*/ 18 w 47"/>
              <a:gd name="T19" fmla="*/ 5 h 32"/>
              <a:gd name="T20" fmla="*/ 18 w 47"/>
              <a:gd name="T21" fmla="*/ 5 h 32"/>
              <a:gd name="T22" fmla="*/ 26 w 47"/>
              <a:gd name="T23" fmla="*/ 6 h 32"/>
              <a:gd name="T24" fmla="*/ 33 w 47"/>
              <a:gd name="T25" fmla="*/ 10 h 32"/>
              <a:gd name="T26" fmla="*/ 39 w 47"/>
              <a:gd name="T27" fmla="*/ 14 h 32"/>
              <a:gd name="T28" fmla="*/ 39 w 47"/>
              <a:gd name="T29" fmla="*/ 18 h 32"/>
              <a:gd name="T30" fmla="*/ 37 w 47"/>
              <a:gd name="T31" fmla="*/ 19 h 32"/>
              <a:gd name="T32" fmla="*/ 35 w 47"/>
              <a:gd name="T33" fmla="*/ 19 h 32"/>
              <a:gd name="T34" fmla="*/ 35 w 47"/>
              <a:gd name="T35" fmla="*/ 19 h 32"/>
              <a:gd name="T36" fmla="*/ 35 w 47"/>
              <a:gd name="T37" fmla="*/ 19 h 32"/>
              <a:gd name="T38" fmla="*/ 35 w 47"/>
              <a:gd name="T39" fmla="*/ 19 h 32"/>
              <a:gd name="T40" fmla="*/ 35 w 47"/>
              <a:gd name="T41" fmla="*/ 19 h 32"/>
              <a:gd name="T42" fmla="*/ 35 w 47"/>
              <a:gd name="T43" fmla="*/ 19 h 32"/>
              <a:gd name="T44" fmla="*/ 35 w 47"/>
              <a:gd name="T45" fmla="*/ 18 h 32"/>
              <a:gd name="T46" fmla="*/ 34 w 47"/>
              <a:gd name="T47" fmla="*/ 18 h 32"/>
              <a:gd name="T48" fmla="*/ 32 w 47"/>
              <a:gd name="T49" fmla="*/ 16 h 32"/>
              <a:gd name="T50" fmla="*/ 24 w 47"/>
              <a:gd name="T51" fmla="*/ 12 h 32"/>
              <a:gd name="T52" fmla="*/ 18 w 47"/>
              <a:gd name="T53" fmla="*/ 11 h 32"/>
              <a:gd name="T54" fmla="*/ 18 w 47"/>
              <a:gd name="T55" fmla="*/ 11 h 32"/>
              <a:gd name="T56" fmla="*/ 17 w 47"/>
              <a:gd name="T57" fmla="*/ 11 h 32"/>
              <a:gd name="T58" fmla="*/ 17 w 47"/>
              <a:gd name="T59" fmla="*/ 11 h 32"/>
              <a:gd name="T60" fmla="*/ 14 w 47"/>
              <a:gd name="T61" fmla="*/ 14 h 32"/>
              <a:gd name="T62" fmla="*/ 6 w 47"/>
              <a:gd name="T63" fmla="*/ 22 h 32"/>
              <a:gd name="T64" fmla="*/ 13 w 47"/>
              <a:gd name="T65" fmla="*/ 24 h 32"/>
              <a:gd name="T66" fmla="*/ 15 w 47"/>
              <a:gd name="T67" fmla="*/ 23 h 32"/>
              <a:gd name="T68" fmla="*/ 15 w 47"/>
              <a:gd name="T69" fmla="*/ 23 h 32"/>
              <a:gd name="T70" fmla="*/ 17 w 47"/>
              <a:gd name="T71" fmla="*/ 24 h 32"/>
              <a:gd name="T72" fmla="*/ 26 w 47"/>
              <a:gd name="T73" fmla="*/ 29 h 32"/>
              <a:gd name="T74" fmla="*/ 34 w 47"/>
              <a:gd name="T75" fmla="*/ 32 h 32"/>
              <a:gd name="T76" fmla="*/ 43 w 47"/>
              <a:gd name="T77" fmla="*/ 28 h 32"/>
              <a:gd name="T78" fmla="*/ 46 w 47"/>
              <a:gd name="T79" fmla="*/ 17 h 32"/>
              <a:gd name="T80" fmla="*/ 43 w 47"/>
              <a:gd name="T81" fmla="*/ 13 h 32"/>
              <a:gd name="T82" fmla="*/ 42 w 47"/>
              <a:gd name="T83" fmla="*/ 11 h 32"/>
              <a:gd name="T84" fmla="*/ 24 w 47"/>
              <a:gd name="T85" fmla="*/ 1 h 32"/>
              <a:gd name="T86" fmla="*/ 17 w 47"/>
              <a:gd name="T8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 h="32">
                <a:moveTo>
                  <a:pt x="11" y="0"/>
                </a:moveTo>
                <a:cubicBezTo>
                  <a:pt x="11" y="0"/>
                  <a:pt x="10" y="0"/>
                  <a:pt x="10" y="0"/>
                </a:cubicBezTo>
                <a:cubicBezTo>
                  <a:pt x="3" y="2"/>
                  <a:pt x="0" y="8"/>
                  <a:pt x="1" y="14"/>
                </a:cubicBezTo>
                <a:cubicBezTo>
                  <a:pt x="1" y="15"/>
                  <a:pt x="2" y="16"/>
                  <a:pt x="2" y="17"/>
                </a:cubicBezTo>
                <a:cubicBezTo>
                  <a:pt x="6" y="13"/>
                  <a:pt x="10" y="9"/>
                  <a:pt x="12" y="7"/>
                </a:cubicBezTo>
                <a:cubicBezTo>
                  <a:pt x="12" y="6"/>
                  <a:pt x="11" y="4"/>
                  <a:pt x="11" y="2"/>
                </a:cubicBezTo>
                <a:cubicBezTo>
                  <a:pt x="11" y="1"/>
                  <a:pt x="11" y="1"/>
                  <a:pt x="11" y="0"/>
                </a:cubicBezTo>
                <a:moveTo>
                  <a:pt x="17" y="0"/>
                </a:moveTo>
                <a:cubicBezTo>
                  <a:pt x="17" y="0"/>
                  <a:pt x="17" y="1"/>
                  <a:pt x="17" y="2"/>
                </a:cubicBezTo>
                <a:cubicBezTo>
                  <a:pt x="17" y="3"/>
                  <a:pt x="17" y="4"/>
                  <a:pt x="18" y="5"/>
                </a:cubicBezTo>
                <a:cubicBezTo>
                  <a:pt x="18" y="5"/>
                  <a:pt x="18" y="5"/>
                  <a:pt x="18" y="5"/>
                </a:cubicBezTo>
                <a:cubicBezTo>
                  <a:pt x="21" y="5"/>
                  <a:pt x="24" y="5"/>
                  <a:pt x="26" y="6"/>
                </a:cubicBezTo>
                <a:cubicBezTo>
                  <a:pt x="29" y="7"/>
                  <a:pt x="31" y="8"/>
                  <a:pt x="33" y="10"/>
                </a:cubicBezTo>
                <a:cubicBezTo>
                  <a:pt x="37" y="12"/>
                  <a:pt x="39" y="14"/>
                  <a:pt x="39" y="14"/>
                </a:cubicBezTo>
                <a:cubicBezTo>
                  <a:pt x="40" y="15"/>
                  <a:pt x="41" y="17"/>
                  <a:pt x="39" y="18"/>
                </a:cubicBezTo>
                <a:cubicBezTo>
                  <a:pt x="39" y="19"/>
                  <a:pt x="38" y="19"/>
                  <a:pt x="37" y="19"/>
                </a:cubicBezTo>
                <a:cubicBezTo>
                  <a:pt x="37" y="19"/>
                  <a:pt x="36" y="19"/>
                  <a:pt x="35" y="19"/>
                </a:cubicBezTo>
                <a:cubicBezTo>
                  <a:pt x="35" y="19"/>
                  <a:pt x="35" y="19"/>
                  <a:pt x="35" y="19"/>
                </a:cubicBezTo>
                <a:cubicBezTo>
                  <a:pt x="35" y="19"/>
                  <a:pt x="35" y="19"/>
                  <a:pt x="35" y="19"/>
                </a:cubicBezTo>
                <a:cubicBezTo>
                  <a:pt x="35" y="19"/>
                  <a:pt x="35" y="19"/>
                  <a:pt x="35" y="19"/>
                </a:cubicBezTo>
                <a:cubicBezTo>
                  <a:pt x="35" y="19"/>
                  <a:pt x="35" y="19"/>
                  <a:pt x="35" y="19"/>
                </a:cubicBezTo>
                <a:cubicBezTo>
                  <a:pt x="35" y="19"/>
                  <a:pt x="35" y="19"/>
                  <a:pt x="35" y="19"/>
                </a:cubicBezTo>
                <a:cubicBezTo>
                  <a:pt x="35" y="18"/>
                  <a:pt x="35" y="18"/>
                  <a:pt x="35" y="18"/>
                </a:cubicBezTo>
                <a:cubicBezTo>
                  <a:pt x="35" y="18"/>
                  <a:pt x="35" y="18"/>
                  <a:pt x="34" y="18"/>
                </a:cubicBezTo>
                <a:cubicBezTo>
                  <a:pt x="34" y="17"/>
                  <a:pt x="33" y="17"/>
                  <a:pt x="32" y="16"/>
                </a:cubicBezTo>
                <a:cubicBezTo>
                  <a:pt x="30" y="15"/>
                  <a:pt x="27" y="13"/>
                  <a:pt x="24" y="12"/>
                </a:cubicBezTo>
                <a:cubicBezTo>
                  <a:pt x="22" y="11"/>
                  <a:pt x="20" y="11"/>
                  <a:pt x="18" y="11"/>
                </a:cubicBezTo>
                <a:cubicBezTo>
                  <a:pt x="18" y="11"/>
                  <a:pt x="18" y="11"/>
                  <a:pt x="18" y="11"/>
                </a:cubicBezTo>
                <a:cubicBezTo>
                  <a:pt x="18" y="11"/>
                  <a:pt x="17" y="11"/>
                  <a:pt x="17" y="11"/>
                </a:cubicBezTo>
                <a:cubicBezTo>
                  <a:pt x="17" y="11"/>
                  <a:pt x="17" y="11"/>
                  <a:pt x="17" y="11"/>
                </a:cubicBezTo>
                <a:cubicBezTo>
                  <a:pt x="16" y="12"/>
                  <a:pt x="15" y="13"/>
                  <a:pt x="14" y="14"/>
                </a:cubicBezTo>
                <a:cubicBezTo>
                  <a:pt x="12" y="16"/>
                  <a:pt x="9" y="18"/>
                  <a:pt x="6" y="22"/>
                </a:cubicBezTo>
                <a:cubicBezTo>
                  <a:pt x="8" y="23"/>
                  <a:pt x="10" y="24"/>
                  <a:pt x="13" y="24"/>
                </a:cubicBezTo>
                <a:cubicBezTo>
                  <a:pt x="14" y="24"/>
                  <a:pt x="14" y="24"/>
                  <a:pt x="15" y="23"/>
                </a:cubicBezTo>
                <a:cubicBezTo>
                  <a:pt x="15" y="23"/>
                  <a:pt x="15" y="23"/>
                  <a:pt x="15" y="23"/>
                </a:cubicBezTo>
                <a:cubicBezTo>
                  <a:pt x="16" y="23"/>
                  <a:pt x="17" y="24"/>
                  <a:pt x="17" y="24"/>
                </a:cubicBezTo>
                <a:cubicBezTo>
                  <a:pt x="20" y="25"/>
                  <a:pt x="23" y="27"/>
                  <a:pt x="26" y="29"/>
                </a:cubicBezTo>
                <a:cubicBezTo>
                  <a:pt x="29" y="31"/>
                  <a:pt x="31" y="32"/>
                  <a:pt x="34" y="32"/>
                </a:cubicBezTo>
                <a:cubicBezTo>
                  <a:pt x="37" y="32"/>
                  <a:pt x="41" y="31"/>
                  <a:pt x="43" y="28"/>
                </a:cubicBezTo>
                <a:cubicBezTo>
                  <a:pt x="46" y="25"/>
                  <a:pt x="47" y="21"/>
                  <a:pt x="46" y="17"/>
                </a:cubicBezTo>
                <a:cubicBezTo>
                  <a:pt x="45" y="16"/>
                  <a:pt x="44" y="14"/>
                  <a:pt x="43" y="13"/>
                </a:cubicBezTo>
                <a:cubicBezTo>
                  <a:pt x="43" y="12"/>
                  <a:pt x="43" y="12"/>
                  <a:pt x="42" y="11"/>
                </a:cubicBezTo>
                <a:cubicBezTo>
                  <a:pt x="40" y="9"/>
                  <a:pt x="33" y="4"/>
                  <a:pt x="24" y="1"/>
                </a:cubicBezTo>
                <a:cubicBezTo>
                  <a:pt x="22" y="0"/>
                  <a:pt x="20" y="0"/>
                  <a:pt x="17"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7" name="Freeform 62"/>
          <p:cNvSpPr>
            <a:spLocks noEditPoints="1"/>
          </p:cNvSpPr>
          <p:nvPr/>
        </p:nvSpPr>
        <p:spPr bwMode="auto">
          <a:xfrm>
            <a:off x="3790951" y="5078413"/>
            <a:ext cx="92075" cy="265112"/>
          </a:xfrm>
          <a:custGeom>
            <a:avLst/>
            <a:gdLst>
              <a:gd name="T0" fmla="*/ 49 w 54"/>
              <a:gd name="T1" fmla="*/ 79 h 156"/>
              <a:gd name="T2" fmla="*/ 47 w 54"/>
              <a:gd name="T3" fmla="*/ 86 h 156"/>
              <a:gd name="T4" fmla="*/ 47 w 54"/>
              <a:gd name="T5" fmla="*/ 86 h 156"/>
              <a:gd name="T6" fmla="*/ 47 w 54"/>
              <a:gd name="T7" fmla="*/ 86 h 156"/>
              <a:gd name="T8" fmla="*/ 38 w 54"/>
              <a:gd name="T9" fmla="*/ 99 h 156"/>
              <a:gd name="T10" fmla="*/ 29 w 54"/>
              <a:gd name="T11" fmla="*/ 118 h 156"/>
              <a:gd name="T12" fmla="*/ 25 w 54"/>
              <a:gd name="T13" fmla="*/ 118 h 156"/>
              <a:gd name="T14" fmla="*/ 21 w 54"/>
              <a:gd name="T15" fmla="*/ 133 h 156"/>
              <a:gd name="T16" fmla="*/ 20 w 54"/>
              <a:gd name="T17" fmla="*/ 144 h 156"/>
              <a:gd name="T18" fmla="*/ 16 w 54"/>
              <a:gd name="T19" fmla="*/ 142 h 156"/>
              <a:gd name="T20" fmla="*/ 17 w 54"/>
              <a:gd name="T21" fmla="*/ 123 h 156"/>
              <a:gd name="T22" fmla="*/ 8 w 54"/>
              <a:gd name="T23" fmla="*/ 116 h 156"/>
              <a:gd name="T24" fmla="*/ 16 w 54"/>
              <a:gd name="T25" fmla="*/ 156 h 156"/>
              <a:gd name="T26" fmla="*/ 27 w 54"/>
              <a:gd name="T27" fmla="*/ 140 h 156"/>
              <a:gd name="T28" fmla="*/ 36 w 54"/>
              <a:gd name="T29" fmla="*/ 118 h 156"/>
              <a:gd name="T30" fmla="*/ 54 w 54"/>
              <a:gd name="T31" fmla="*/ 87 h 156"/>
              <a:gd name="T32" fmla="*/ 49 w 54"/>
              <a:gd name="T33" fmla="*/ 77 h 156"/>
              <a:gd name="T34" fmla="*/ 45 w 54"/>
              <a:gd name="T35" fmla="*/ 27 h 156"/>
              <a:gd name="T36" fmla="*/ 47 w 54"/>
              <a:gd name="T37" fmla="*/ 49 h 156"/>
              <a:gd name="T38" fmla="*/ 53 w 54"/>
              <a:gd name="T39" fmla="*/ 52 h 156"/>
              <a:gd name="T40" fmla="*/ 46 w 54"/>
              <a:gd name="T41" fmla="*/ 30 h 156"/>
              <a:gd name="T42" fmla="*/ 50 w 54"/>
              <a:gd name="T43" fmla="*/ 0 h 156"/>
              <a:gd name="T44" fmla="*/ 29 w 54"/>
              <a:gd name="T45" fmla="*/ 48 h 156"/>
              <a:gd name="T46" fmla="*/ 23 w 54"/>
              <a:gd name="T47" fmla="*/ 94 h 156"/>
              <a:gd name="T48" fmla="*/ 34 w 54"/>
              <a:gd name="T49" fmla="*/ 96 h 156"/>
              <a:gd name="T50" fmla="*/ 42 w 54"/>
              <a:gd name="T51" fmla="*/ 83 h 156"/>
              <a:gd name="T52" fmla="*/ 42 w 54"/>
              <a:gd name="T53" fmla="*/ 83 h 156"/>
              <a:gd name="T54" fmla="*/ 42 w 54"/>
              <a:gd name="T55" fmla="*/ 83 h 156"/>
              <a:gd name="T56" fmla="*/ 42 w 54"/>
              <a:gd name="T57" fmla="*/ 82 h 156"/>
              <a:gd name="T58" fmla="*/ 43 w 54"/>
              <a:gd name="T59" fmla="*/ 74 h 156"/>
              <a:gd name="T60" fmla="*/ 39 w 54"/>
              <a:gd name="T61" fmla="*/ 28 h 156"/>
              <a:gd name="T62" fmla="*/ 42 w 54"/>
              <a:gd name="T63" fmla="*/ 17 h 156"/>
              <a:gd name="T64" fmla="*/ 53 w 54"/>
              <a:gd name="T65" fmla="*/ 7 h 156"/>
              <a:gd name="T66" fmla="*/ 54 w 54"/>
              <a:gd name="T67" fmla="*/ 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 h="156">
                <a:moveTo>
                  <a:pt x="49" y="77"/>
                </a:moveTo>
                <a:cubicBezTo>
                  <a:pt x="49" y="78"/>
                  <a:pt x="49" y="78"/>
                  <a:pt x="49" y="79"/>
                </a:cubicBezTo>
                <a:cubicBezTo>
                  <a:pt x="48" y="81"/>
                  <a:pt x="48" y="82"/>
                  <a:pt x="48" y="83"/>
                </a:cubicBezTo>
                <a:cubicBezTo>
                  <a:pt x="48" y="84"/>
                  <a:pt x="47" y="85"/>
                  <a:pt x="47" y="86"/>
                </a:cubicBezTo>
                <a:cubicBezTo>
                  <a:pt x="47" y="86"/>
                  <a:pt x="47" y="86"/>
                  <a:pt x="47" y="86"/>
                </a:cubicBezTo>
                <a:cubicBezTo>
                  <a:pt x="47" y="86"/>
                  <a:pt x="47" y="86"/>
                  <a:pt x="47" y="86"/>
                </a:cubicBezTo>
                <a:cubicBezTo>
                  <a:pt x="47" y="86"/>
                  <a:pt x="47" y="86"/>
                  <a:pt x="47" y="86"/>
                </a:cubicBezTo>
                <a:cubicBezTo>
                  <a:pt x="47" y="86"/>
                  <a:pt x="47" y="86"/>
                  <a:pt x="47" y="86"/>
                </a:cubicBezTo>
                <a:cubicBezTo>
                  <a:pt x="46" y="87"/>
                  <a:pt x="45" y="90"/>
                  <a:pt x="43" y="93"/>
                </a:cubicBezTo>
                <a:cubicBezTo>
                  <a:pt x="41" y="95"/>
                  <a:pt x="40" y="97"/>
                  <a:pt x="38" y="99"/>
                </a:cubicBezTo>
                <a:cubicBezTo>
                  <a:pt x="40" y="102"/>
                  <a:pt x="41" y="104"/>
                  <a:pt x="41" y="107"/>
                </a:cubicBezTo>
                <a:cubicBezTo>
                  <a:pt x="40" y="114"/>
                  <a:pt x="35" y="118"/>
                  <a:pt x="29" y="118"/>
                </a:cubicBezTo>
                <a:cubicBezTo>
                  <a:pt x="28" y="118"/>
                  <a:pt x="28" y="118"/>
                  <a:pt x="28" y="118"/>
                </a:cubicBezTo>
                <a:cubicBezTo>
                  <a:pt x="27" y="118"/>
                  <a:pt x="26" y="118"/>
                  <a:pt x="25" y="118"/>
                </a:cubicBezTo>
                <a:cubicBezTo>
                  <a:pt x="24" y="120"/>
                  <a:pt x="23" y="122"/>
                  <a:pt x="22" y="125"/>
                </a:cubicBezTo>
                <a:cubicBezTo>
                  <a:pt x="21" y="128"/>
                  <a:pt x="21" y="131"/>
                  <a:pt x="21" y="133"/>
                </a:cubicBezTo>
                <a:cubicBezTo>
                  <a:pt x="21" y="136"/>
                  <a:pt x="21" y="138"/>
                  <a:pt x="22" y="140"/>
                </a:cubicBezTo>
                <a:cubicBezTo>
                  <a:pt x="22" y="141"/>
                  <a:pt x="22" y="143"/>
                  <a:pt x="20" y="144"/>
                </a:cubicBezTo>
                <a:cubicBezTo>
                  <a:pt x="20" y="144"/>
                  <a:pt x="20" y="144"/>
                  <a:pt x="19" y="144"/>
                </a:cubicBezTo>
                <a:cubicBezTo>
                  <a:pt x="18" y="144"/>
                  <a:pt x="17" y="143"/>
                  <a:pt x="16" y="142"/>
                </a:cubicBezTo>
                <a:cubicBezTo>
                  <a:pt x="15" y="139"/>
                  <a:pt x="15" y="136"/>
                  <a:pt x="15" y="133"/>
                </a:cubicBezTo>
                <a:cubicBezTo>
                  <a:pt x="15" y="130"/>
                  <a:pt x="15" y="126"/>
                  <a:pt x="17" y="123"/>
                </a:cubicBezTo>
                <a:cubicBezTo>
                  <a:pt x="17" y="121"/>
                  <a:pt x="18" y="119"/>
                  <a:pt x="19" y="118"/>
                </a:cubicBezTo>
                <a:cubicBezTo>
                  <a:pt x="15" y="117"/>
                  <a:pt x="11" y="117"/>
                  <a:pt x="8" y="116"/>
                </a:cubicBezTo>
                <a:cubicBezTo>
                  <a:pt x="3" y="126"/>
                  <a:pt x="0" y="138"/>
                  <a:pt x="5" y="149"/>
                </a:cubicBezTo>
                <a:cubicBezTo>
                  <a:pt x="7" y="154"/>
                  <a:pt x="11" y="156"/>
                  <a:pt x="16" y="156"/>
                </a:cubicBezTo>
                <a:cubicBezTo>
                  <a:pt x="18" y="156"/>
                  <a:pt x="19" y="156"/>
                  <a:pt x="21" y="155"/>
                </a:cubicBezTo>
                <a:cubicBezTo>
                  <a:pt x="27" y="153"/>
                  <a:pt x="30" y="146"/>
                  <a:pt x="27" y="140"/>
                </a:cubicBezTo>
                <a:cubicBezTo>
                  <a:pt x="26" y="137"/>
                  <a:pt x="27" y="131"/>
                  <a:pt x="30" y="126"/>
                </a:cubicBezTo>
                <a:cubicBezTo>
                  <a:pt x="32" y="124"/>
                  <a:pt x="34" y="121"/>
                  <a:pt x="36" y="118"/>
                </a:cubicBezTo>
                <a:cubicBezTo>
                  <a:pt x="42" y="109"/>
                  <a:pt x="49" y="99"/>
                  <a:pt x="52" y="94"/>
                </a:cubicBezTo>
                <a:cubicBezTo>
                  <a:pt x="53" y="92"/>
                  <a:pt x="53" y="90"/>
                  <a:pt x="54" y="87"/>
                </a:cubicBezTo>
                <a:cubicBezTo>
                  <a:pt x="53" y="86"/>
                  <a:pt x="53" y="86"/>
                  <a:pt x="52" y="85"/>
                </a:cubicBezTo>
                <a:cubicBezTo>
                  <a:pt x="50" y="83"/>
                  <a:pt x="49" y="80"/>
                  <a:pt x="49" y="77"/>
                </a:cubicBezTo>
                <a:moveTo>
                  <a:pt x="47" y="21"/>
                </a:moveTo>
                <a:cubicBezTo>
                  <a:pt x="46" y="23"/>
                  <a:pt x="45" y="25"/>
                  <a:pt x="45" y="27"/>
                </a:cubicBezTo>
                <a:cubicBezTo>
                  <a:pt x="45" y="28"/>
                  <a:pt x="45" y="28"/>
                  <a:pt x="45" y="28"/>
                </a:cubicBezTo>
                <a:cubicBezTo>
                  <a:pt x="45" y="33"/>
                  <a:pt x="46" y="41"/>
                  <a:pt x="47" y="49"/>
                </a:cubicBezTo>
                <a:cubicBezTo>
                  <a:pt x="48" y="56"/>
                  <a:pt x="48" y="62"/>
                  <a:pt x="49" y="68"/>
                </a:cubicBezTo>
                <a:cubicBezTo>
                  <a:pt x="49" y="62"/>
                  <a:pt x="52" y="55"/>
                  <a:pt x="53" y="52"/>
                </a:cubicBezTo>
                <a:cubicBezTo>
                  <a:pt x="53" y="51"/>
                  <a:pt x="53" y="49"/>
                  <a:pt x="53" y="48"/>
                </a:cubicBezTo>
                <a:cubicBezTo>
                  <a:pt x="51" y="44"/>
                  <a:pt x="47" y="37"/>
                  <a:pt x="46" y="30"/>
                </a:cubicBezTo>
                <a:cubicBezTo>
                  <a:pt x="46" y="27"/>
                  <a:pt x="46" y="24"/>
                  <a:pt x="47" y="21"/>
                </a:cubicBezTo>
                <a:moveTo>
                  <a:pt x="50" y="0"/>
                </a:moveTo>
                <a:cubicBezTo>
                  <a:pt x="41" y="5"/>
                  <a:pt x="26" y="16"/>
                  <a:pt x="27" y="33"/>
                </a:cubicBezTo>
                <a:cubicBezTo>
                  <a:pt x="27" y="36"/>
                  <a:pt x="28" y="42"/>
                  <a:pt x="29" y="48"/>
                </a:cubicBezTo>
                <a:cubicBezTo>
                  <a:pt x="29" y="57"/>
                  <a:pt x="31" y="77"/>
                  <a:pt x="30" y="83"/>
                </a:cubicBezTo>
                <a:cubicBezTo>
                  <a:pt x="29" y="85"/>
                  <a:pt x="26" y="90"/>
                  <a:pt x="23" y="94"/>
                </a:cubicBezTo>
                <a:cubicBezTo>
                  <a:pt x="25" y="94"/>
                  <a:pt x="27" y="94"/>
                  <a:pt x="30" y="95"/>
                </a:cubicBezTo>
                <a:cubicBezTo>
                  <a:pt x="31" y="95"/>
                  <a:pt x="32" y="95"/>
                  <a:pt x="34" y="96"/>
                </a:cubicBezTo>
                <a:cubicBezTo>
                  <a:pt x="35" y="93"/>
                  <a:pt x="36" y="91"/>
                  <a:pt x="38" y="89"/>
                </a:cubicBezTo>
                <a:cubicBezTo>
                  <a:pt x="40" y="87"/>
                  <a:pt x="41" y="84"/>
                  <a:pt x="42" y="83"/>
                </a:cubicBezTo>
                <a:cubicBezTo>
                  <a:pt x="42" y="83"/>
                  <a:pt x="42" y="83"/>
                  <a:pt x="42" y="83"/>
                </a:cubicBezTo>
                <a:cubicBezTo>
                  <a:pt x="42" y="83"/>
                  <a:pt x="42" y="83"/>
                  <a:pt x="42" y="83"/>
                </a:cubicBezTo>
                <a:cubicBezTo>
                  <a:pt x="42" y="83"/>
                  <a:pt x="42" y="83"/>
                  <a:pt x="42" y="83"/>
                </a:cubicBezTo>
                <a:cubicBezTo>
                  <a:pt x="42" y="83"/>
                  <a:pt x="42" y="83"/>
                  <a:pt x="42" y="83"/>
                </a:cubicBezTo>
                <a:cubicBezTo>
                  <a:pt x="42" y="83"/>
                  <a:pt x="42" y="83"/>
                  <a:pt x="42" y="83"/>
                </a:cubicBezTo>
                <a:cubicBezTo>
                  <a:pt x="42" y="83"/>
                  <a:pt x="42" y="82"/>
                  <a:pt x="42" y="82"/>
                </a:cubicBezTo>
                <a:cubicBezTo>
                  <a:pt x="42" y="81"/>
                  <a:pt x="42" y="81"/>
                  <a:pt x="43" y="80"/>
                </a:cubicBezTo>
                <a:cubicBezTo>
                  <a:pt x="43" y="78"/>
                  <a:pt x="43" y="76"/>
                  <a:pt x="43" y="74"/>
                </a:cubicBezTo>
                <a:cubicBezTo>
                  <a:pt x="43" y="67"/>
                  <a:pt x="42" y="58"/>
                  <a:pt x="41" y="50"/>
                </a:cubicBezTo>
                <a:cubicBezTo>
                  <a:pt x="40" y="41"/>
                  <a:pt x="40" y="33"/>
                  <a:pt x="39" y="28"/>
                </a:cubicBezTo>
                <a:cubicBezTo>
                  <a:pt x="39" y="28"/>
                  <a:pt x="39" y="28"/>
                  <a:pt x="39" y="27"/>
                </a:cubicBezTo>
                <a:cubicBezTo>
                  <a:pt x="39" y="23"/>
                  <a:pt x="40" y="20"/>
                  <a:pt x="42" y="17"/>
                </a:cubicBezTo>
                <a:cubicBezTo>
                  <a:pt x="44" y="14"/>
                  <a:pt x="46" y="12"/>
                  <a:pt x="49" y="10"/>
                </a:cubicBezTo>
                <a:cubicBezTo>
                  <a:pt x="50" y="9"/>
                  <a:pt x="51" y="8"/>
                  <a:pt x="53" y="7"/>
                </a:cubicBezTo>
                <a:cubicBezTo>
                  <a:pt x="53" y="6"/>
                  <a:pt x="54" y="6"/>
                  <a:pt x="54" y="6"/>
                </a:cubicBezTo>
                <a:cubicBezTo>
                  <a:pt x="54" y="6"/>
                  <a:pt x="54" y="6"/>
                  <a:pt x="54" y="6"/>
                </a:cubicBezTo>
                <a:cubicBezTo>
                  <a:pt x="52" y="4"/>
                  <a:pt x="51" y="2"/>
                  <a:pt x="50"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8" name="Freeform 63"/>
          <p:cNvSpPr>
            <a:spLocks noEditPoints="1"/>
          </p:cNvSpPr>
          <p:nvPr/>
        </p:nvSpPr>
        <p:spPr bwMode="auto">
          <a:xfrm>
            <a:off x="3722688" y="5130800"/>
            <a:ext cx="138113" cy="147637"/>
          </a:xfrm>
          <a:custGeom>
            <a:avLst/>
            <a:gdLst>
              <a:gd name="T0" fmla="*/ 39 w 81"/>
              <a:gd name="T1" fmla="*/ 69 h 87"/>
              <a:gd name="T2" fmla="*/ 37 w 81"/>
              <a:gd name="T3" fmla="*/ 71 h 87"/>
              <a:gd name="T4" fmla="*/ 29 w 81"/>
              <a:gd name="T5" fmla="*/ 80 h 87"/>
              <a:gd name="T6" fmla="*/ 48 w 81"/>
              <a:gd name="T7" fmla="*/ 85 h 87"/>
              <a:gd name="T8" fmla="*/ 59 w 81"/>
              <a:gd name="T9" fmla="*/ 87 h 87"/>
              <a:gd name="T10" fmla="*/ 61 w 81"/>
              <a:gd name="T11" fmla="*/ 83 h 87"/>
              <a:gd name="T12" fmla="*/ 67 w 81"/>
              <a:gd name="T13" fmla="*/ 74 h 87"/>
              <a:gd name="T14" fmla="*/ 46 w 81"/>
              <a:gd name="T15" fmla="*/ 71 h 87"/>
              <a:gd name="T16" fmla="*/ 39 w 81"/>
              <a:gd name="T17" fmla="*/ 69 h 87"/>
              <a:gd name="T18" fmla="*/ 78 w 81"/>
              <a:gd name="T19" fmla="*/ 68 h 87"/>
              <a:gd name="T20" fmla="*/ 77 w 81"/>
              <a:gd name="T21" fmla="*/ 70 h 87"/>
              <a:gd name="T22" fmla="*/ 66 w 81"/>
              <a:gd name="T23" fmla="*/ 86 h 87"/>
              <a:gd name="T24" fmla="*/ 65 w 81"/>
              <a:gd name="T25" fmla="*/ 87 h 87"/>
              <a:gd name="T26" fmla="*/ 68 w 81"/>
              <a:gd name="T27" fmla="*/ 87 h 87"/>
              <a:gd name="T28" fmla="*/ 69 w 81"/>
              <a:gd name="T29" fmla="*/ 87 h 87"/>
              <a:gd name="T30" fmla="*/ 81 w 81"/>
              <a:gd name="T31" fmla="*/ 76 h 87"/>
              <a:gd name="T32" fmla="*/ 78 w 81"/>
              <a:gd name="T33" fmla="*/ 68 h 87"/>
              <a:gd name="T34" fmla="*/ 12 w 81"/>
              <a:gd name="T35" fmla="*/ 0 h 87"/>
              <a:gd name="T36" fmla="*/ 9 w 81"/>
              <a:gd name="T37" fmla="*/ 0 h 87"/>
              <a:gd name="T38" fmla="*/ 4 w 81"/>
              <a:gd name="T39" fmla="*/ 3 h 87"/>
              <a:gd name="T40" fmla="*/ 4 w 81"/>
              <a:gd name="T41" fmla="*/ 4 h 87"/>
              <a:gd name="T42" fmla="*/ 3 w 81"/>
              <a:gd name="T43" fmla="*/ 11 h 87"/>
              <a:gd name="T44" fmla="*/ 3 w 81"/>
              <a:gd name="T45" fmla="*/ 11 h 87"/>
              <a:gd name="T46" fmla="*/ 0 w 81"/>
              <a:gd name="T47" fmla="*/ 15 h 87"/>
              <a:gd name="T48" fmla="*/ 5 w 81"/>
              <a:gd name="T49" fmla="*/ 22 h 87"/>
              <a:gd name="T50" fmla="*/ 7 w 81"/>
              <a:gd name="T51" fmla="*/ 23 h 87"/>
              <a:gd name="T52" fmla="*/ 26 w 81"/>
              <a:gd name="T53" fmla="*/ 42 h 87"/>
              <a:gd name="T54" fmla="*/ 21 w 81"/>
              <a:gd name="T55" fmla="*/ 53 h 87"/>
              <a:gd name="T56" fmla="*/ 29 w 81"/>
              <a:gd name="T57" fmla="*/ 50 h 87"/>
              <a:gd name="T58" fmla="*/ 34 w 81"/>
              <a:gd name="T59" fmla="*/ 51 h 87"/>
              <a:gd name="T60" fmla="*/ 37 w 81"/>
              <a:gd name="T61" fmla="*/ 47 h 87"/>
              <a:gd name="T62" fmla="*/ 39 w 81"/>
              <a:gd name="T63" fmla="*/ 39 h 87"/>
              <a:gd name="T64" fmla="*/ 35 w 81"/>
              <a:gd name="T65" fmla="*/ 29 h 87"/>
              <a:gd name="T66" fmla="*/ 27 w 81"/>
              <a:gd name="T67" fmla="*/ 20 h 87"/>
              <a:gd name="T68" fmla="*/ 14 w 81"/>
              <a:gd name="T69" fmla="*/ 11 h 87"/>
              <a:gd name="T70" fmla="*/ 14 w 81"/>
              <a:gd name="T71" fmla="*/ 11 h 87"/>
              <a:gd name="T72" fmla="*/ 14 w 81"/>
              <a:gd name="T73" fmla="*/ 11 h 87"/>
              <a:gd name="T74" fmla="*/ 12 w 81"/>
              <a:gd name="T75" fmla="*/ 7 h 87"/>
              <a:gd name="T76" fmla="*/ 15 w 81"/>
              <a:gd name="T77" fmla="*/ 5 h 87"/>
              <a:gd name="T78" fmla="*/ 16 w 81"/>
              <a:gd name="T79" fmla="*/ 6 h 87"/>
              <a:gd name="T80" fmla="*/ 25 w 81"/>
              <a:gd name="T81" fmla="*/ 11 h 87"/>
              <a:gd name="T82" fmla="*/ 40 w 81"/>
              <a:gd name="T83" fmla="*/ 25 h 87"/>
              <a:gd name="T84" fmla="*/ 45 w 81"/>
              <a:gd name="T85" fmla="*/ 39 h 87"/>
              <a:gd name="T86" fmla="*/ 42 w 81"/>
              <a:gd name="T87" fmla="*/ 50 h 87"/>
              <a:gd name="T88" fmla="*/ 39 w 81"/>
              <a:gd name="T89" fmla="*/ 55 h 87"/>
              <a:gd name="T90" fmla="*/ 41 w 81"/>
              <a:gd name="T91" fmla="*/ 64 h 87"/>
              <a:gd name="T92" fmla="*/ 50 w 81"/>
              <a:gd name="T93" fmla="*/ 66 h 87"/>
              <a:gd name="T94" fmla="*/ 71 w 81"/>
              <a:gd name="T95" fmla="*/ 69 h 87"/>
              <a:gd name="T96" fmla="*/ 74 w 81"/>
              <a:gd name="T97" fmla="*/ 65 h 87"/>
              <a:gd name="T98" fmla="*/ 70 w 81"/>
              <a:gd name="T99" fmla="*/ 64 h 87"/>
              <a:gd name="T100" fmla="*/ 63 w 81"/>
              <a:gd name="T101" fmla="*/ 63 h 87"/>
              <a:gd name="T102" fmla="*/ 46 w 81"/>
              <a:gd name="T103" fmla="*/ 60 h 87"/>
              <a:gd name="T104" fmla="*/ 50 w 81"/>
              <a:gd name="T105" fmla="*/ 38 h 87"/>
              <a:gd name="T106" fmla="*/ 17 w 81"/>
              <a:gd name="T107" fmla="*/ 1 h 87"/>
              <a:gd name="T108" fmla="*/ 12 w 81"/>
              <a:gd name="T109"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1" h="87">
                <a:moveTo>
                  <a:pt x="39" y="69"/>
                </a:moveTo>
                <a:cubicBezTo>
                  <a:pt x="38" y="70"/>
                  <a:pt x="38" y="70"/>
                  <a:pt x="37" y="71"/>
                </a:cubicBezTo>
                <a:cubicBezTo>
                  <a:pt x="34" y="74"/>
                  <a:pt x="31" y="77"/>
                  <a:pt x="29" y="80"/>
                </a:cubicBezTo>
                <a:cubicBezTo>
                  <a:pt x="34" y="82"/>
                  <a:pt x="40" y="84"/>
                  <a:pt x="48" y="85"/>
                </a:cubicBezTo>
                <a:cubicBezTo>
                  <a:pt x="51" y="86"/>
                  <a:pt x="55" y="86"/>
                  <a:pt x="59" y="87"/>
                </a:cubicBezTo>
                <a:cubicBezTo>
                  <a:pt x="60" y="85"/>
                  <a:pt x="60" y="84"/>
                  <a:pt x="61" y="83"/>
                </a:cubicBezTo>
                <a:cubicBezTo>
                  <a:pt x="62" y="81"/>
                  <a:pt x="65" y="78"/>
                  <a:pt x="67" y="74"/>
                </a:cubicBezTo>
                <a:cubicBezTo>
                  <a:pt x="62" y="74"/>
                  <a:pt x="54" y="73"/>
                  <a:pt x="46" y="71"/>
                </a:cubicBezTo>
                <a:cubicBezTo>
                  <a:pt x="43" y="71"/>
                  <a:pt x="41" y="70"/>
                  <a:pt x="39" y="69"/>
                </a:cubicBezTo>
                <a:moveTo>
                  <a:pt x="78" y="68"/>
                </a:moveTo>
                <a:cubicBezTo>
                  <a:pt x="78" y="69"/>
                  <a:pt x="77" y="70"/>
                  <a:pt x="77" y="70"/>
                </a:cubicBezTo>
                <a:cubicBezTo>
                  <a:pt x="73" y="77"/>
                  <a:pt x="68" y="83"/>
                  <a:pt x="66" y="86"/>
                </a:cubicBezTo>
                <a:cubicBezTo>
                  <a:pt x="66" y="86"/>
                  <a:pt x="66" y="87"/>
                  <a:pt x="65" y="87"/>
                </a:cubicBezTo>
                <a:cubicBezTo>
                  <a:pt x="66" y="87"/>
                  <a:pt x="67" y="87"/>
                  <a:pt x="68" y="87"/>
                </a:cubicBezTo>
                <a:cubicBezTo>
                  <a:pt x="68" y="87"/>
                  <a:pt x="68" y="87"/>
                  <a:pt x="69" y="87"/>
                </a:cubicBezTo>
                <a:cubicBezTo>
                  <a:pt x="75" y="87"/>
                  <a:pt x="80" y="83"/>
                  <a:pt x="81" y="76"/>
                </a:cubicBezTo>
                <a:cubicBezTo>
                  <a:pt x="81" y="73"/>
                  <a:pt x="80" y="71"/>
                  <a:pt x="78" y="68"/>
                </a:cubicBezTo>
                <a:moveTo>
                  <a:pt x="12" y="0"/>
                </a:moveTo>
                <a:cubicBezTo>
                  <a:pt x="11" y="0"/>
                  <a:pt x="10" y="0"/>
                  <a:pt x="9" y="0"/>
                </a:cubicBezTo>
                <a:cubicBezTo>
                  <a:pt x="7" y="1"/>
                  <a:pt x="6" y="2"/>
                  <a:pt x="4" y="3"/>
                </a:cubicBezTo>
                <a:cubicBezTo>
                  <a:pt x="4" y="3"/>
                  <a:pt x="4" y="4"/>
                  <a:pt x="4" y="4"/>
                </a:cubicBezTo>
                <a:cubicBezTo>
                  <a:pt x="4" y="6"/>
                  <a:pt x="4" y="9"/>
                  <a:pt x="3" y="11"/>
                </a:cubicBezTo>
                <a:cubicBezTo>
                  <a:pt x="3" y="11"/>
                  <a:pt x="3" y="11"/>
                  <a:pt x="3" y="11"/>
                </a:cubicBezTo>
                <a:cubicBezTo>
                  <a:pt x="2" y="12"/>
                  <a:pt x="1" y="13"/>
                  <a:pt x="0" y="15"/>
                </a:cubicBezTo>
                <a:cubicBezTo>
                  <a:pt x="1" y="18"/>
                  <a:pt x="3" y="20"/>
                  <a:pt x="5" y="22"/>
                </a:cubicBezTo>
                <a:cubicBezTo>
                  <a:pt x="6" y="22"/>
                  <a:pt x="6" y="23"/>
                  <a:pt x="7" y="23"/>
                </a:cubicBezTo>
                <a:cubicBezTo>
                  <a:pt x="13" y="26"/>
                  <a:pt x="25" y="34"/>
                  <a:pt x="26" y="42"/>
                </a:cubicBezTo>
                <a:cubicBezTo>
                  <a:pt x="27" y="43"/>
                  <a:pt x="27" y="47"/>
                  <a:pt x="21" y="53"/>
                </a:cubicBezTo>
                <a:cubicBezTo>
                  <a:pt x="23" y="51"/>
                  <a:pt x="26" y="50"/>
                  <a:pt x="29" y="50"/>
                </a:cubicBezTo>
                <a:cubicBezTo>
                  <a:pt x="31" y="50"/>
                  <a:pt x="33" y="50"/>
                  <a:pt x="34" y="51"/>
                </a:cubicBezTo>
                <a:cubicBezTo>
                  <a:pt x="35" y="50"/>
                  <a:pt x="36" y="49"/>
                  <a:pt x="37" y="47"/>
                </a:cubicBezTo>
                <a:cubicBezTo>
                  <a:pt x="38" y="44"/>
                  <a:pt x="39" y="42"/>
                  <a:pt x="39" y="39"/>
                </a:cubicBezTo>
                <a:cubicBezTo>
                  <a:pt x="39" y="36"/>
                  <a:pt x="37" y="32"/>
                  <a:pt x="35" y="29"/>
                </a:cubicBezTo>
                <a:cubicBezTo>
                  <a:pt x="33" y="25"/>
                  <a:pt x="30" y="22"/>
                  <a:pt x="27" y="20"/>
                </a:cubicBezTo>
                <a:cubicBezTo>
                  <a:pt x="21" y="14"/>
                  <a:pt x="14" y="11"/>
                  <a:pt x="14" y="11"/>
                </a:cubicBezTo>
                <a:cubicBezTo>
                  <a:pt x="14" y="11"/>
                  <a:pt x="14" y="11"/>
                  <a:pt x="14" y="11"/>
                </a:cubicBezTo>
                <a:cubicBezTo>
                  <a:pt x="14" y="11"/>
                  <a:pt x="14" y="11"/>
                  <a:pt x="14" y="11"/>
                </a:cubicBezTo>
                <a:cubicBezTo>
                  <a:pt x="12" y="10"/>
                  <a:pt x="12" y="9"/>
                  <a:pt x="12" y="7"/>
                </a:cubicBezTo>
                <a:cubicBezTo>
                  <a:pt x="13" y="6"/>
                  <a:pt x="14" y="5"/>
                  <a:pt x="15" y="5"/>
                </a:cubicBezTo>
                <a:cubicBezTo>
                  <a:pt x="16" y="5"/>
                  <a:pt x="16" y="5"/>
                  <a:pt x="16" y="6"/>
                </a:cubicBezTo>
                <a:cubicBezTo>
                  <a:pt x="16" y="6"/>
                  <a:pt x="20" y="8"/>
                  <a:pt x="25" y="11"/>
                </a:cubicBezTo>
                <a:cubicBezTo>
                  <a:pt x="30" y="14"/>
                  <a:pt x="36" y="19"/>
                  <a:pt x="40" y="25"/>
                </a:cubicBezTo>
                <a:cubicBezTo>
                  <a:pt x="43" y="29"/>
                  <a:pt x="45" y="34"/>
                  <a:pt x="45" y="39"/>
                </a:cubicBezTo>
                <a:cubicBezTo>
                  <a:pt x="45" y="43"/>
                  <a:pt x="44" y="46"/>
                  <a:pt x="42" y="50"/>
                </a:cubicBezTo>
                <a:cubicBezTo>
                  <a:pt x="41" y="52"/>
                  <a:pt x="40" y="53"/>
                  <a:pt x="39" y="55"/>
                </a:cubicBezTo>
                <a:cubicBezTo>
                  <a:pt x="41" y="58"/>
                  <a:pt x="41" y="61"/>
                  <a:pt x="41" y="64"/>
                </a:cubicBezTo>
                <a:cubicBezTo>
                  <a:pt x="44" y="65"/>
                  <a:pt x="47" y="65"/>
                  <a:pt x="50" y="66"/>
                </a:cubicBezTo>
                <a:cubicBezTo>
                  <a:pt x="58" y="68"/>
                  <a:pt x="67" y="68"/>
                  <a:pt x="71" y="69"/>
                </a:cubicBezTo>
                <a:cubicBezTo>
                  <a:pt x="72" y="67"/>
                  <a:pt x="73" y="66"/>
                  <a:pt x="74" y="65"/>
                </a:cubicBezTo>
                <a:cubicBezTo>
                  <a:pt x="72" y="64"/>
                  <a:pt x="71" y="64"/>
                  <a:pt x="70" y="64"/>
                </a:cubicBezTo>
                <a:cubicBezTo>
                  <a:pt x="67" y="63"/>
                  <a:pt x="65" y="63"/>
                  <a:pt x="63" y="63"/>
                </a:cubicBezTo>
                <a:cubicBezTo>
                  <a:pt x="57" y="62"/>
                  <a:pt x="50" y="61"/>
                  <a:pt x="46" y="60"/>
                </a:cubicBezTo>
                <a:cubicBezTo>
                  <a:pt x="51" y="51"/>
                  <a:pt x="51" y="44"/>
                  <a:pt x="50" y="38"/>
                </a:cubicBezTo>
                <a:cubicBezTo>
                  <a:pt x="46" y="16"/>
                  <a:pt x="20" y="3"/>
                  <a:pt x="17" y="1"/>
                </a:cubicBezTo>
                <a:cubicBezTo>
                  <a:pt x="15" y="0"/>
                  <a:pt x="14" y="0"/>
                  <a:pt x="12"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9" name="Freeform 64"/>
          <p:cNvSpPr>
            <a:spLocks noEditPoints="1"/>
          </p:cNvSpPr>
          <p:nvPr/>
        </p:nvSpPr>
        <p:spPr bwMode="auto">
          <a:xfrm>
            <a:off x="3697288" y="5216525"/>
            <a:ext cx="95250" cy="160337"/>
          </a:xfrm>
          <a:custGeom>
            <a:avLst/>
            <a:gdLst>
              <a:gd name="T0" fmla="*/ 54 w 56"/>
              <a:gd name="T1" fmla="*/ 5 h 95"/>
              <a:gd name="T2" fmla="*/ 49 w 56"/>
              <a:gd name="T3" fmla="*/ 10 h 95"/>
              <a:gd name="T4" fmla="*/ 49 w 56"/>
              <a:gd name="T5" fmla="*/ 10 h 95"/>
              <a:gd name="T6" fmla="*/ 49 w 56"/>
              <a:gd name="T7" fmla="*/ 10 h 95"/>
              <a:gd name="T8" fmla="*/ 49 w 56"/>
              <a:gd name="T9" fmla="*/ 10 h 95"/>
              <a:gd name="T10" fmla="*/ 49 w 56"/>
              <a:gd name="T11" fmla="*/ 10 h 95"/>
              <a:gd name="T12" fmla="*/ 49 w 56"/>
              <a:gd name="T13" fmla="*/ 11 h 95"/>
              <a:gd name="T14" fmla="*/ 49 w 56"/>
              <a:gd name="T15" fmla="*/ 11 h 95"/>
              <a:gd name="T16" fmla="*/ 53 w 56"/>
              <a:gd name="T17" fmla="*/ 13 h 95"/>
              <a:gd name="T18" fmla="*/ 56 w 56"/>
              <a:gd name="T19" fmla="*/ 14 h 95"/>
              <a:gd name="T20" fmla="*/ 54 w 56"/>
              <a:gd name="T21" fmla="*/ 5 h 95"/>
              <a:gd name="T22" fmla="*/ 44 w 56"/>
              <a:gd name="T23" fmla="*/ 0 h 95"/>
              <a:gd name="T24" fmla="*/ 36 w 56"/>
              <a:gd name="T25" fmla="*/ 3 h 95"/>
              <a:gd name="T26" fmla="*/ 36 w 56"/>
              <a:gd name="T27" fmla="*/ 4 h 95"/>
              <a:gd name="T28" fmla="*/ 31 w 56"/>
              <a:gd name="T29" fmla="*/ 91 h 95"/>
              <a:gd name="T30" fmla="*/ 40 w 56"/>
              <a:gd name="T31" fmla="*/ 95 h 95"/>
              <a:gd name="T32" fmla="*/ 48 w 56"/>
              <a:gd name="T33" fmla="*/ 92 h 95"/>
              <a:gd name="T34" fmla="*/ 48 w 56"/>
              <a:gd name="T35" fmla="*/ 75 h 95"/>
              <a:gd name="T36" fmla="*/ 44 w 56"/>
              <a:gd name="T37" fmla="*/ 30 h 95"/>
              <a:gd name="T38" fmla="*/ 52 w 56"/>
              <a:gd name="T39" fmla="*/ 21 h 95"/>
              <a:gd name="T40" fmla="*/ 54 w 56"/>
              <a:gd name="T41" fmla="*/ 19 h 95"/>
              <a:gd name="T42" fmla="*/ 50 w 56"/>
              <a:gd name="T43" fmla="*/ 18 h 95"/>
              <a:gd name="T44" fmla="*/ 46 w 56"/>
              <a:gd name="T45" fmla="*/ 16 h 95"/>
              <a:gd name="T46" fmla="*/ 45 w 56"/>
              <a:gd name="T47" fmla="*/ 15 h 95"/>
              <a:gd name="T48" fmla="*/ 36 w 56"/>
              <a:gd name="T49" fmla="*/ 29 h 95"/>
              <a:gd name="T50" fmla="*/ 32 w 56"/>
              <a:gd name="T51" fmla="*/ 46 h 95"/>
              <a:gd name="T52" fmla="*/ 39 w 56"/>
              <a:gd name="T53" fmla="*/ 68 h 95"/>
              <a:gd name="T54" fmla="*/ 45 w 56"/>
              <a:gd name="T55" fmla="*/ 77 h 95"/>
              <a:gd name="T56" fmla="*/ 45 w 56"/>
              <a:gd name="T57" fmla="*/ 77 h 95"/>
              <a:gd name="T58" fmla="*/ 45 w 56"/>
              <a:gd name="T59" fmla="*/ 77 h 95"/>
              <a:gd name="T60" fmla="*/ 45 w 56"/>
              <a:gd name="T61" fmla="*/ 81 h 95"/>
              <a:gd name="T62" fmla="*/ 43 w 56"/>
              <a:gd name="T63" fmla="*/ 82 h 95"/>
              <a:gd name="T64" fmla="*/ 41 w 56"/>
              <a:gd name="T65" fmla="*/ 81 h 95"/>
              <a:gd name="T66" fmla="*/ 33 w 56"/>
              <a:gd name="T67" fmla="*/ 71 h 95"/>
              <a:gd name="T68" fmla="*/ 26 w 56"/>
              <a:gd name="T69" fmla="*/ 46 h 95"/>
              <a:gd name="T70" fmla="*/ 31 w 56"/>
              <a:gd name="T71" fmla="*/ 27 h 95"/>
              <a:gd name="T72" fmla="*/ 45 w 56"/>
              <a:gd name="T73" fmla="*/ 6 h 95"/>
              <a:gd name="T74" fmla="*/ 45 w 56"/>
              <a:gd name="T75" fmla="*/ 6 h 95"/>
              <a:gd name="T76" fmla="*/ 49 w 56"/>
              <a:gd name="T77" fmla="*/ 1 h 95"/>
              <a:gd name="T78" fmla="*/ 44 w 56"/>
              <a:gd name="T7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6" h="95">
                <a:moveTo>
                  <a:pt x="54" y="5"/>
                </a:moveTo>
                <a:cubicBezTo>
                  <a:pt x="53" y="7"/>
                  <a:pt x="51" y="9"/>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1"/>
                  <a:pt x="49" y="11"/>
                  <a:pt x="49" y="11"/>
                </a:cubicBezTo>
                <a:cubicBezTo>
                  <a:pt x="49" y="11"/>
                  <a:pt x="49" y="11"/>
                  <a:pt x="49" y="11"/>
                </a:cubicBezTo>
                <a:cubicBezTo>
                  <a:pt x="50" y="12"/>
                  <a:pt x="51" y="12"/>
                  <a:pt x="53" y="13"/>
                </a:cubicBezTo>
                <a:cubicBezTo>
                  <a:pt x="54" y="13"/>
                  <a:pt x="55" y="14"/>
                  <a:pt x="56" y="14"/>
                </a:cubicBezTo>
                <a:cubicBezTo>
                  <a:pt x="56" y="11"/>
                  <a:pt x="56" y="8"/>
                  <a:pt x="54" y="5"/>
                </a:cubicBezTo>
                <a:moveTo>
                  <a:pt x="44" y="0"/>
                </a:moveTo>
                <a:cubicBezTo>
                  <a:pt x="41" y="0"/>
                  <a:pt x="38" y="1"/>
                  <a:pt x="36" y="3"/>
                </a:cubicBezTo>
                <a:cubicBezTo>
                  <a:pt x="36" y="3"/>
                  <a:pt x="36" y="3"/>
                  <a:pt x="36" y="4"/>
                </a:cubicBezTo>
                <a:cubicBezTo>
                  <a:pt x="0" y="39"/>
                  <a:pt x="17" y="76"/>
                  <a:pt x="31" y="91"/>
                </a:cubicBezTo>
                <a:cubicBezTo>
                  <a:pt x="33" y="94"/>
                  <a:pt x="37" y="95"/>
                  <a:pt x="40" y="95"/>
                </a:cubicBezTo>
                <a:cubicBezTo>
                  <a:pt x="43" y="95"/>
                  <a:pt x="46" y="94"/>
                  <a:pt x="48" y="92"/>
                </a:cubicBezTo>
                <a:cubicBezTo>
                  <a:pt x="53" y="87"/>
                  <a:pt x="53" y="79"/>
                  <a:pt x="48" y="75"/>
                </a:cubicBezTo>
                <a:cubicBezTo>
                  <a:pt x="46" y="72"/>
                  <a:pt x="29" y="54"/>
                  <a:pt x="44" y="30"/>
                </a:cubicBezTo>
                <a:cubicBezTo>
                  <a:pt x="46" y="27"/>
                  <a:pt x="49" y="24"/>
                  <a:pt x="52" y="21"/>
                </a:cubicBezTo>
                <a:cubicBezTo>
                  <a:pt x="53" y="20"/>
                  <a:pt x="53" y="20"/>
                  <a:pt x="54" y="19"/>
                </a:cubicBezTo>
                <a:cubicBezTo>
                  <a:pt x="52" y="19"/>
                  <a:pt x="51" y="19"/>
                  <a:pt x="50" y="18"/>
                </a:cubicBezTo>
                <a:cubicBezTo>
                  <a:pt x="49" y="18"/>
                  <a:pt x="47" y="17"/>
                  <a:pt x="46" y="16"/>
                </a:cubicBezTo>
                <a:cubicBezTo>
                  <a:pt x="46" y="16"/>
                  <a:pt x="45" y="15"/>
                  <a:pt x="45" y="15"/>
                </a:cubicBezTo>
                <a:cubicBezTo>
                  <a:pt x="41" y="20"/>
                  <a:pt x="38" y="25"/>
                  <a:pt x="36" y="29"/>
                </a:cubicBezTo>
                <a:cubicBezTo>
                  <a:pt x="33" y="35"/>
                  <a:pt x="32" y="40"/>
                  <a:pt x="32" y="46"/>
                </a:cubicBezTo>
                <a:cubicBezTo>
                  <a:pt x="32" y="55"/>
                  <a:pt x="35" y="62"/>
                  <a:pt x="39" y="68"/>
                </a:cubicBezTo>
                <a:cubicBezTo>
                  <a:pt x="42" y="74"/>
                  <a:pt x="45" y="77"/>
                  <a:pt x="45" y="77"/>
                </a:cubicBezTo>
                <a:cubicBezTo>
                  <a:pt x="45" y="77"/>
                  <a:pt x="45" y="77"/>
                  <a:pt x="45" y="77"/>
                </a:cubicBezTo>
                <a:cubicBezTo>
                  <a:pt x="45" y="77"/>
                  <a:pt x="45" y="77"/>
                  <a:pt x="45" y="77"/>
                </a:cubicBezTo>
                <a:cubicBezTo>
                  <a:pt x="46" y="78"/>
                  <a:pt x="46" y="80"/>
                  <a:pt x="45" y="81"/>
                </a:cubicBezTo>
                <a:cubicBezTo>
                  <a:pt x="44" y="82"/>
                  <a:pt x="44" y="82"/>
                  <a:pt x="43" y="82"/>
                </a:cubicBezTo>
                <a:cubicBezTo>
                  <a:pt x="42" y="82"/>
                  <a:pt x="41" y="82"/>
                  <a:pt x="41" y="81"/>
                </a:cubicBezTo>
                <a:cubicBezTo>
                  <a:pt x="40" y="81"/>
                  <a:pt x="37" y="77"/>
                  <a:pt x="33" y="71"/>
                </a:cubicBezTo>
                <a:cubicBezTo>
                  <a:pt x="30" y="65"/>
                  <a:pt x="26" y="56"/>
                  <a:pt x="26" y="46"/>
                </a:cubicBezTo>
                <a:cubicBezTo>
                  <a:pt x="26" y="40"/>
                  <a:pt x="28" y="33"/>
                  <a:pt x="31" y="27"/>
                </a:cubicBezTo>
                <a:cubicBezTo>
                  <a:pt x="33" y="20"/>
                  <a:pt x="38" y="13"/>
                  <a:pt x="45" y="6"/>
                </a:cubicBezTo>
                <a:cubicBezTo>
                  <a:pt x="45" y="6"/>
                  <a:pt x="45" y="6"/>
                  <a:pt x="45" y="6"/>
                </a:cubicBezTo>
                <a:cubicBezTo>
                  <a:pt x="47" y="5"/>
                  <a:pt x="48" y="3"/>
                  <a:pt x="49" y="1"/>
                </a:cubicBezTo>
                <a:cubicBezTo>
                  <a:pt x="48" y="0"/>
                  <a:pt x="46" y="0"/>
                  <a:pt x="44"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0" name="Freeform 65"/>
          <p:cNvSpPr>
            <a:spLocks/>
          </p:cNvSpPr>
          <p:nvPr/>
        </p:nvSpPr>
        <p:spPr bwMode="auto">
          <a:xfrm>
            <a:off x="3330576" y="5303838"/>
            <a:ext cx="287338" cy="139700"/>
          </a:xfrm>
          <a:custGeom>
            <a:avLst/>
            <a:gdLst>
              <a:gd name="T0" fmla="*/ 151 w 169"/>
              <a:gd name="T1" fmla="*/ 1 h 82"/>
              <a:gd name="T2" fmla="*/ 115 w 169"/>
              <a:gd name="T3" fmla="*/ 49 h 82"/>
              <a:gd name="T4" fmla="*/ 98 w 169"/>
              <a:gd name="T5" fmla="*/ 47 h 82"/>
              <a:gd name="T6" fmla="*/ 71 w 169"/>
              <a:gd name="T7" fmla="*/ 37 h 82"/>
              <a:gd name="T8" fmla="*/ 98 w 169"/>
              <a:gd name="T9" fmla="*/ 52 h 82"/>
              <a:gd name="T10" fmla="*/ 113 w 169"/>
              <a:gd name="T11" fmla="*/ 55 h 82"/>
              <a:gd name="T12" fmla="*/ 131 w 169"/>
              <a:gd name="T13" fmla="*/ 32 h 82"/>
              <a:gd name="T14" fmla="*/ 158 w 169"/>
              <a:gd name="T15" fmla="*/ 6 h 82"/>
              <a:gd name="T16" fmla="*/ 159 w 169"/>
              <a:gd name="T17" fmla="*/ 6 h 82"/>
              <a:gd name="T18" fmla="*/ 160 w 169"/>
              <a:gd name="T19" fmla="*/ 11 h 82"/>
              <a:gd name="T20" fmla="*/ 160 w 169"/>
              <a:gd name="T21" fmla="*/ 11 h 82"/>
              <a:gd name="T22" fmla="*/ 158 w 169"/>
              <a:gd name="T23" fmla="*/ 13 h 82"/>
              <a:gd name="T24" fmla="*/ 137 w 169"/>
              <a:gd name="T25" fmla="*/ 35 h 82"/>
              <a:gd name="T26" fmla="*/ 132 w 169"/>
              <a:gd name="T27" fmla="*/ 57 h 82"/>
              <a:gd name="T28" fmla="*/ 113 w 169"/>
              <a:gd name="T29" fmla="*/ 61 h 82"/>
              <a:gd name="T30" fmla="*/ 96 w 169"/>
              <a:gd name="T31" fmla="*/ 58 h 82"/>
              <a:gd name="T32" fmla="*/ 66 w 169"/>
              <a:gd name="T33" fmla="*/ 41 h 82"/>
              <a:gd name="T34" fmla="*/ 53 w 169"/>
              <a:gd name="T35" fmla="*/ 47 h 82"/>
              <a:gd name="T36" fmla="*/ 44 w 169"/>
              <a:gd name="T37" fmla="*/ 42 h 82"/>
              <a:gd name="T38" fmla="*/ 21 w 169"/>
              <a:gd name="T39" fmla="*/ 62 h 82"/>
              <a:gd name="T40" fmla="*/ 16 w 169"/>
              <a:gd name="T41" fmla="*/ 70 h 82"/>
              <a:gd name="T42" fmla="*/ 13 w 169"/>
              <a:gd name="T43" fmla="*/ 66 h 82"/>
              <a:gd name="T44" fmla="*/ 21 w 169"/>
              <a:gd name="T45" fmla="*/ 52 h 82"/>
              <a:gd name="T46" fmla="*/ 42 w 169"/>
              <a:gd name="T47" fmla="*/ 36 h 82"/>
              <a:gd name="T48" fmla="*/ 47 w 169"/>
              <a:gd name="T49" fmla="*/ 25 h 82"/>
              <a:gd name="T50" fmla="*/ 1 w 169"/>
              <a:gd name="T51" fmla="*/ 68 h 82"/>
              <a:gd name="T52" fmla="*/ 1 w 169"/>
              <a:gd name="T53" fmla="*/ 72 h 82"/>
              <a:gd name="T54" fmla="*/ 3 w 169"/>
              <a:gd name="T55" fmla="*/ 77 h 82"/>
              <a:gd name="T56" fmla="*/ 7 w 169"/>
              <a:gd name="T57" fmla="*/ 81 h 82"/>
              <a:gd name="T58" fmla="*/ 12 w 169"/>
              <a:gd name="T59" fmla="*/ 82 h 82"/>
              <a:gd name="T60" fmla="*/ 24 w 169"/>
              <a:gd name="T61" fmla="*/ 72 h 82"/>
              <a:gd name="T62" fmla="*/ 63 w 169"/>
              <a:gd name="T63" fmla="*/ 56 h 82"/>
              <a:gd name="T64" fmla="*/ 74 w 169"/>
              <a:gd name="T65" fmla="*/ 59 h 82"/>
              <a:gd name="T66" fmla="*/ 77 w 169"/>
              <a:gd name="T67" fmla="*/ 62 h 82"/>
              <a:gd name="T68" fmla="*/ 77 w 169"/>
              <a:gd name="T69" fmla="*/ 64 h 82"/>
              <a:gd name="T70" fmla="*/ 89 w 169"/>
              <a:gd name="T71" fmla="*/ 70 h 82"/>
              <a:gd name="T72" fmla="*/ 126 w 169"/>
              <a:gd name="T73" fmla="*/ 71 h 82"/>
              <a:gd name="T74" fmla="*/ 138 w 169"/>
              <a:gd name="T75" fmla="*/ 66 h 82"/>
              <a:gd name="T76" fmla="*/ 138 w 169"/>
              <a:gd name="T77" fmla="*/ 59 h 82"/>
              <a:gd name="T78" fmla="*/ 167 w 169"/>
              <a:gd name="T79" fmla="*/ 10 h 82"/>
              <a:gd name="T80" fmla="*/ 156 w 169"/>
              <a:gd name="T81"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9" h="82">
                <a:moveTo>
                  <a:pt x="156" y="0"/>
                </a:moveTo>
                <a:cubicBezTo>
                  <a:pt x="154" y="0"/>
                  <a:pt x="152" y="1"/>
                  <a:pt x="151" y="1"/>
                </a:cubicBezTo>
                <a:cubicBezTo>
                  <a:pt x="151" y="1"/>
                  <a:pt x="150" y="2"/>
                  <a:pt x="148" y="3"/>
                </a:cubicBezTo>
                <a:cubicBezTo>
                  <a:pt x="140" y="7"/>
                  <a:pt x="119" y="21"/>
                  <a:pt x="115" y="49"/>
                </a:cubicBezTo>
                <a:cubicBezTo>
                  <a:pt x="113" y="49"/>
                  <a:pt x="112" y="50"/>
                  <a:pt x="110" y="50"/>
                </a:cubicBezTo>
                <a:cubicBezTo>
                  <a:pt x="106" y="50"/>
                  <a:pt x="102" y="49"/>
                  <a:pt x="98" y="47"/>
                </a:cubicBezTo>
                <a:cubicBezTo>
                  <a:pt x="91" y="44"/>
                  <a:pt x="82" y="39"/>
                  <a:pt x="74" y="35"/>
                </a:cubicBezTo>
                <a:cubicBezTo>
                  <a:pt x="71" y="37"/>
                  <a:pt x="71" y="37"/>
                  <a:pt x="71" y="37"/>
                </a:cubicBezTo>
                <a:cubicBezTo>
                  <a:pt x="71" y="38"/>
                  <a:pt x="71" y="38"/>
                  <a:pt x="72" y="38"/>
                </a:cubicBezTo>
                <a:cubicBezTo>
                  <a:pt x="80" y="43"/>
                  <a:pt x="90" y="49"/>
                  <a:pt x="98" y="52"/>
                </a:cubicBezTo>
                <a:cubicBezTo>
                  <a:pt x="103" y="54"/>
                  <a:pt x="108" y="55"/>
                  <a:pt x="113" y="55"/>
                </a:cubicBezTo>
                <a:cubicBezTo>
                  <a:pt x="113" y="55"/>
                  <a:pt x="113" y="55"/>
                  <a:pt x="113" y="55"/>
                </a:cubicBezTo>
                <a:cubicBezTo>
                  <a:pt x="119" y="55"/>
                  <a:pt x="124" y="54"/>
                  <a:pt x="126" y="53"/>
                </a:cubicBezTo>
                <a:cubicBezTo>
                  <a:pt x="127" y="45"/>
                  <a:pt x="128" y="38"/>
                  <a:pt x="131" y="32"/>
                </a:cubicBezTo>
                <a:cubicBezTo>
                  <a:pt x="134" y="26"/>
                  <a:pt x="138" y="21"/>
                  <a:pt x="142" y="17"/>
                </a:cubicBezTo>
                <a:cubicBezTo>
                  <a:pt x="150" y="9"/>
                  <a:pt x="157" y="6"/>
                  <a:pt x="158" y="6"/>
                </a:cubicBezTo>
                <a:cubicBezTo>
                  <a:pt x="158" y="6"/>
                  <a:pt x="158" y="6"/>
                  <a:pt x="158" y="6"/>
                </a:cubicBezTo>
                <a:cubicBezTo>
                  <a:pt x="158" y="6"/>
                  <a:pt x="158" y="6"/>
                  <a:pt x="159" y="6"/>
                </a:cubicBezTo>
                <a:cubicBezTo>
                  <a:pt x="160" y="6"/>
                  <a:pt x="161" y="6"/>
                  <a:pt x="162" y="7"/>
                </a:cubicBezTo>
                <a:cubicBezTo>
                  <a:pt x="162" y="9"/>
                  <a:pt x="162" y="11"/>
                  <a:pt x="160" y="11"/>
                </a:cubicBezTo>
                <a:cubicBezTo>
                  <a:pt x="160" y="11"/>
                  <a:pt x="160" y="11"/>
                  <a:pt x="160" y="11"/>
                </a:cubicBezTo>
                <a:cubicBezTo>
                  <a:pt x="160" y="11"/>
                  <a:pt x="160" y="11"/>
                  <a:pt x="160" y="11"/>
                </a:cubicBezTo>
                <a:cubicBezTo>
                  <a:pt x="160" y="11"/>
                  <a:pt x="160" y="11"/>
                  <a:pt x="159" y="12"/>
                </a:cubicBezTo>
                <a:cubicBezTo>
                  <a:pt x="159" y="12"/>
                  <a:pt x="158" y="12"/>
                  <a:pt x="158" y="13"/>
                </a:cubicBezTo>
                <a:cubicBezTo>
                  <a:pt x="156" y="13"/>
                  <a:pt x="154" y="15"/>
                  <a:pt x="151" y="17"/>
                </a:cubicBezTo>
                <a:cubicBezTo>
                  <a:pt x="147" y="20"/>
                  <a:pt x="141" y="26"/>
                  <a:pt x="137" y="35"/>
                </a:cubicBezTo>
                <a:cubicBezTo>
                  <a:pt x="134" y="40"/>
                  <a:pt x="132" y="47"/>
                  <a:pt x="132" y="55"/>
                </a:cubicBezTo>
                <a:cubicBezTo>
                  <a:pt x="132" y="57"/>
                  <a:pt x="132" y="57"/>
                  <a:pt x="132" y="57"/>
                </a:cubicBezTo>
                <a:cubicBezTo>
                  <a:pt x="130" y="58"/>
                  <a:pt x="130" y="58"/>
                  <a:pt x="130" y="58"/>
                </a:cubicBezTo>
                <a:cubicBezTo>
                  <a:pt x="130" y="58"/>
                  <a:pt x="123" y="61"/>
                  <a:pt x="113" y="61"/>
                </a:cubicBezTo>
                <a:cubicBezTo>
                  <a:pt x="113" y="61"/>
                  <a:pt x="113" y="61"/>
                  <a:pt x="113" y="61"/>
                </a:cubicBezTo>
                <a:cubicBezTo>
                  <a:pt x="108" y="61"/>
                  <a:pt x="102" y="60"/>
                  <a:pt x="96" y="58"/>
                </a:cubicBezTo>
                <a:cubicBezTo>
                  <a:pt x="87" y="54"/>
                  <a:pt x="77" y="48"/>
                  <a:pt x="69" y="43"/>
                </a:cubicBezTo>
                <a:cubicBezTo>
                  <a:pt x="68" y="43"/>
                  <a:pt x="67" y="42"/>
                  <a:pt x="66" y="41"/>
                </a:cubicBezTo>
                <a:cubicBezTo>
                  <a:pt x="61" y="45"/>
                  <a:pt x="61" y="45"/>
                  <a:pt x="61" y="45"/>
                </a:cubicBezTo>
                <a:cubicBezTo>
                  <a:pt x="59" y="47"/>
                  <a:pt x="56" y="47"/>
                  <a:pt x="53" y="47"/>
                </a:cubicBezTo>
                <a:cubicBezTo>
                  <a:pt x="50" y="47"/>
                  <a:pt x="46" y="46"/>
                  <a:pt x="44" y="43"/>
                </a:cubicBezTo>
                <a:cubicBezTo>
                  <a:pt x="44" y="42"/>
                  <a:pt x="44" y="42"/>
                  <a:pt x="44" y="42"/>
                </a:cubicBezTo>
                <a:cubicBezTo>
                  <a:pt x="39" y="45"/>
                  <a:pt x="34" y="48"/>
                  <a:pt x="30" y="51"/>
                </a:cubicBezTo>
                <a:cubicBezTo>
                  <a:pt x="26" y="55"/>
                  <a:pt x="23" y="58"/>
                  <a:pt x="21" y="62"/>
                </a:cubicBezTo>
                <a:cubicBezTo>
                  <a:pt x="20" y="64"/>
                  <a:pt x="19" y="65"/>
                  <a:pt x="19" y="67"/>
                </a:cubicBezTo>
                <a:cubicBezTo>
                  <a:pt x="18" y="69"/>
                  <a:pt x="17" y="70"/>
                  <a:pt x="16" y="70"/>
                </a:cubicBezTo>
                <a:cubicBezTo>
                  <a:pt x="15" y="70"/>
                  <a:pt x="15" y="70"/>
                  <a:pt x="15" y="70"/>
                </a:cubicBezTo>
                <a:cubicBezTo>
                  <a:pt x="13" y="69"/>
                  <a:pt x="12" y="68"/>
                  <a:pt x="13" y="66"/>
                </a:cubicBezTo>
                <a:cubicBezTo>
                  <a:pt x="13" y="64"/>
                  <a:pt x="14" y="61"/>
                  <a:pt x="16" y="59"/>
                </a:cubicBezTo>
                <a:cubicBezTo>
                  <a:pt x="17" y="56"/>
                  <a:pt x="19" y="54"/>
                  <a:pt x="21" y="52"/>
                </a:cubicBezTo>
                <a:cubicBezTo>
                  <a:pt x="25" y="47"/>
                  <a:pt x="31" y="43"/>
                  <a:pt x="36" y="40"/>
                </a:cubicBezTo>
                <a:cubicBezTo>
                  <a:pt x="38" y="39"/>
                  <a:pt x="40" y="37"/>
                  <a:pt x="42" y="36"/>
                </a:cubicBezTo>
                <a:cubicBezTo>
                  <a:pt x="41" y="32"/>
                  <a:pt x="43" y="28"/>
                  <a:pt x="46" y="26"/>
                </a:cubicBezTo>
                <a:cubicBezTo>
                  <a:pt x="47" y="25"/>
                  <a:pt x="47" y="25"/>
                  <a:pt x="47" y="25"/>
                </a:cubicBezTo>
                <a:cubicBezTo>
                  <a:pt x="37" y="30"/>
                  <a:pt x="12" y="43"/>
                  <a:pt x="3" y="60"/>
                </a:cubicBezTo>
                <a:cubicBezTo>
                  <a:pt x="2" y="63"/>
                  <a:pt x="1" y="66"/>
                  <a:pt x="1" y="68"/>
                </a:cubicBezTo>
                <a:cubicBezTo>
                  <a:pt x="1" y="69"/>
                  <a:pt x="1" y="69"/>
                  <a:pt x="1" y="69"/>
                </a:cubicBezTo>
                <a:cubicBezTo>
                  <a:pt x="0" y="70"/>
                  <a:pt x="0" y="71"/>
                  <a:pt x="1" y="72"/>
                </a:cubicBezTo>
                <a:cubicBezTo>
                  <a:pt x="1" y="74"/>
                  <a:pt x="2" y="76"/>
                  <a:pt x="3" y="77"/>
                </a:cubicBezTo>
                <a:cubicBezTo>
                  <a:pt x="3" y="77"/>
                  <a:pt x="3" y="77"/>
                  <a:pt x="3" y="77"/>
                </a:cubicBezTo>
                <a:cubicBezTo>
                  <a:pt x="5" y="77"/>
                  <a:pt x="6" y="78"/>
                  <a:pt x="6" y="80"/>
                </a:cubicBezTo>
                <a:cubicBezTo>
                  <a:pt x="6" y="80"/>
                  <a:pt x="7" y="80"/>
                  <a:pt x="7" y="81"/>
                </a:cubicBezTo>
                <a:cubicBezTo>
                  <a:pt x="8" y="82"/>
                  <a:pt x="9" y="82"/>
                  <a:pt x="11" y="82"/>
                </a:cubicBezTo>
                <a:cubicBezTo>
                  <a:pt x="11" y="82"/>
                  <a:pt x="12" y="82"/>
                  <a:pt x="12" y="82"/>
                </a:cubicBezTo>
                <a:cubicBezTo>
                  <a:pt x="13" y="82"/>
                  <a:pt x="13" y="82"/>
                  <a:pt x="13" y="82"/>
                </a:cubicBezTo>
                <a:cubicBezTo>
                  <a:pt x="19" y="82"/>
                  <a:pt x="23" y="78"/>
                  <a:pt x="24" y="72"/>
                </a:cubicBezTo>
                <a:cubicBezTo>
                  <a:pt x="25" y="67"/>
                  <a:pt x="39" y="56"/>
                  <a:pt x="52" y="49"/>
                </a:cubicBezTo>
                <a:cubicBezTo>
                  <a:pt x="55" y="51"/>
                  <a:pt x="59" y="53"/>
                  <a:pt x="63" y="56"/>
                </a:cubicBezTo>
                <a:cubicBezTo>
                  <a:pt x="66" y="58"/>
                  <a:pt x="68" y="59"/>
                  <a:pt x="71" y="61"/>
                </a:cubicBezTo>
                <a:cubicBezTo>
                  <a:pt x="72" y="59"/>
                  <a:pt x="73" y="59"/>
                  <a:pt x="74" y="59"/>
                </a:cubicBezTo>
                <a:cubicBezTo>
                  <a:pt x="74" y="59"/>
                  <a:pt x="74" y="59"/>
                  <a:pt x="74" y="59"/>
                </a:cubicBezTo>
                <a:cubicBezTo>
                  <a:pt x="76" y="59"/>
                  <a:pt x="77" y="60"/>
                  <a:pt x="77" y="62"/>
                </a:cubicBezTo>
                <a:cubicBezTo>
                  <a:pt x="77" y="62"/>
                  <a:pt x="77" y="63"/>
                  <a:pt x="77" y="63"/>
                </a:cubicBezTo>
                <a:cubicBezTo>
                  <a:pt x="77" y="63"/>
                  <a:pt x="77" y="64"/>
                  <a:pt x="77" y="64"/>
                </a:cubicBezTo>
                <a:cubicBezTo>
                  <a:pt x="79" y="65"/>
                  <a:pt x="81" y="66"/>
                  <a:pt x="83" y="67"/>
                </a:cubicBezTo>
                <a:cubicBezTo>
                  <a:pt x="85" y="68"/>
                  <a:pt x="87" y="69"/>
                  <a:pt x="89" y="70"/>
                </a:cubicBezTo>
                <a:cubicBezTo>
                  <a:pt x="97" y="72"/>
                  <a:pt x="104" y="73"/>
                  <a:pt x="110" y="73"/>
                </a:cubicBezTo>
                <a:cubicBezTo>
                  <a:pt x="117" y="73"/>
                  <a:pt x="123" y="72"/>
                  <a:pt x="126" y="71"/>
                </a:cubicBezTo>
                <a:cubicBezTo>
                  <a:pt x="129" y="70"/>
                  <a:pt x="130" y="70"/>
                  <a:pt x="131" y="69"/>
                </a:cubicBezTo>
                <a:cubicBezTo>
                  <a:pt x="138" y="66"/>
                  <a:pt x="138" y="66"/>
                  <a:pt x="138" y="66"/>
                </a:cubicBezTo>
                <a:cubicBezTo>
                  <a:pt x="138" y="63"/>
                  <a:pt x="138" y="63"/>
                  <a:pt x="138" y="63"/>
                </a:cubicBezTo>
                <a:cubicBezTo>
                  <a:pt x="138" y="59"/>
                  <a:pt x="138" y="59"/>
                  <a:pt x="138" y="59"/>
                </a:cubicBezTo>
                <a:cubicBezTo>
                  <a:pt x="138" y="34"/>
                  <a:pt x="159" y="24"/>
                  <a:pt x="161" y="23"/>
                </a:cubicBezTo>
                <a:cubicBezTo>
                  <a:pt x="166" y="21"/>
                  <a:pt x="169" y="15"/>
                  <a:pt x="167" y="10"/>
                </a:cubicBezTo>
                <a:cubicBezTo>
                  <a:pt x="167" y="9"/>
                  <a:pt x="167" y="8"/>
                  <a:pt x="167" y="7"/>
                </a:cubicBezTo>
                <a:cubicBezTo>
                  <a:pt x="165" y="3"/>
                  <a:pt x="160" y="0"/>
                  <a:pt x="156"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1" name="Freeform 66"/>
          <p:cNvSpPr>
            <a:spLocks noEditPoints="1"/>
          </p:cNvSpPr>
          <p:nvPr/>
        </p:nvSpPr>
        <p:spPr bwMode="auto">
          <a:xfrm>
            <a:off x="3400426" y="5302250"/>
            <a:ext cx="122238" cy="80962"/>
          </a:xfrm>
          <a:custGeom>
            <a:avLst/>
            <a:gdLst>
              <a:gd name="T0" fmla="*/ 15 w 72"/>
              <a:gd name="T1" fmla="*/ 36 h 48"/>
              <a:gd name="T2" fmla="*/ 14 w 72"/>
              <a:gd name="T3" fmla="*/ 37 h 48"/>
              <a:gd name="T4" fmla="*/ 7 w 72"/>
              <a:gd name="T5" fmla="*/ 40 h 48"/>
              <a:gd name="T6" fmla="*/ 3 w 72"/>
              <a:gd name="T7" fmla="*/ 43 h 48"/>
              <a:gd name="T8" fmla="*/ 3 w 72"/>
              <a:gd name="T9" fmla="*/ 44 h 48"/>
              <a:gd name="T10" fmla="*/ 12 w 72"/>
              <a:gd name="T11" fmla="*/ 48 h 48"/>
              <a:gd name="T12" fmla="*/ 20 w 72"/>
              <a:gd name="T13" fmla="*/ 46 h 48"/>
              <a:gd name="T14" fmla="*/ 25 w 72"/>
              <a:gd name="T15" fmla="*/ 42 h 48"/>
              <a:gd name="T16" fmla="*/ 15 w 72"/>
              <a:gd name="T17" fmla="*/ 36 h 48"/>
              <a:gd name="T18" fmla="*/ 41 w 72"/>
              <a:gd name="T19" fmla="*/ 0 h 48"/>
              <a:gd name="T20" fmla="*/ 6 w 72"/>
              <a:gd name="T21" fmla="*/ 26 h 48"/>
              <a:gd name="T22" fmla="*/ 5 w 72"/>
              <a:gd name="T23" fmla="*/ 27 h 48"/>
              <a:gd name="T24" fmla="*/ 1 w 72"/>
              <a:gd name="T25" fmla="*/ 37 h 48"/>
              <a:gd name="T26" fmla="*/ 14 w 72"/>
              <a:gd name="T27" fmla="*/ 30 h 48"/>
              <a:gd name="T28" fmla="*/ 46 w 72"/>
              <a:gd name="T29" fmla="*/ 6 h 48"/>
              <a:gd name="T30" fmla="*/ 63 w 72"/>
              <a:gd name="T31" fmla="*/ 11 h 48"/>
              <a:gd name="T32" fmla="*/ 65 w 72"/>
              <a:gd name="T33" fmla="*/ 15 h 48"/>
              <a:gd name="T34" fmla="*/ 63 w 72"/>
              <a:gd name="T35" fmla="*/ 17 h 48"/>
              <a:gd name="T36" fmla="*/ 62 w 72"/>
              <a:gd name="T37" fmla="*/ 17 h 48"/>
              <a:gd name="T38" fmla="*/ 47 w 72"/>
              <a:gd name="T39" fmla="*/ 13 h 48"/>
              <a:gd name="T40" fmla="*/ 21 w 72"/>
              <a:gd name="T41" fmla="*/ 33 h 48"/>
              <a:gd name="T42" fmla="*/ 21 w 72"/>
              <a:gd name="T43" fmla="*/ 33 h 48"/>
              <a:gd name="T44" fmla="*/ 30 w 72"/>
              <a:gd name="T45" fmla="*/ 38 h 48"/>
              <a:gd name="T46" fmla="*/ 33 w 72"/>
              <a:gd name="T47" fmla="*/ 36 h 48"/>
              <a:gd name="T48" fmla="*/ 46 w 72"/>
              <a:gd name="T49" fmla="*/ 26 h 48"/>
              <a:gd name="T50" fmla="*/ 56 w 72"/>
              <a:gd name="T51" fmla="*/ 29 h 48"/>
              <a:gd name="T52" fmla="*/ 59 w 72"/>
              <a:gd name="T53" fmla="*/ 30 h 48"/>
              <a:gd name="T54" fmla="*/ 71 w 72"/>
              <a:gd name="T55" fmla="*/ 21 h 48"/>
              <a:gd name="T56" fmla="*/ 67 w 72"/>
              <a:gd name="T57" fmla="*/ 8 h 48"/>
              <a:gd name="T58" fmla="*/ 63 w 72"/>
              <a:gd name="T59" fmla="*/ 6 h 48"/>
              <a:gd name="T60" fmla="*/ 49 w 72"/>
              <a:gd name="T61" fmla="*/ 3 h 48"/>
              <a:gd name="T62" fmla="*/ 41 w 72"/>
              <a:gd name="T6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2" h="48">
                <a:moveTo>
                  <a:pt x="15" y="36"/>
                </a:moveTo>
                <a:cubicBezTo>
                  <a:pt x="15" y="36"/>
                  <a:pt x="15" y="36"/>
                  <a:pt x="14" y="37"/>
                </a:cubicBezTo>
                <a:cubicBezTo>
                  <a:pt x="12" y="37"/>
                  <a:pt x="10" y="39"/>
                  <a:pt x="7" y="40"/>
                </a:cubicBezTo>
                <a:cubicBezTo>
                  <a:pt x="6" y="41"/>
                  <a:pt x="4" y="42"/>
                  <a:pt x="3" y="43"/>
                </a:cubicBezTo>
                <a:cubicBezTo>
                  <a:pt x="3" y="43"/>
                  <a:pt x="3" y="43"/>
                  <a:pt x="3" y="44"/>
                </a:cubicBezTo>
                <a:cubicBezTo>
                  <a:pt x="5" y="47"/>
                  <a:pt x="9" y="48"/>
                  <a:pt x="12" y="48"/>
                </a:cubicBezTo>
                <a:cubicBezTo>
                  <a:pt x="15" y="48"/>
                  <a:pt x="18" y="48"/>
                  <a:pt x="20" y="46"/>
                </a:cubicBezTo>
                <a:cubicBezTo>
                  <a:pt x="25" y="42"/>
                  <a:pt x="25" y="42"/>
                  <a:pt x="25" y="42"/>
                </a:cubicBezTo>
                <a:cubicBezTo>
                  <a:pt x="20" y="40"/>
                  <a:pt x="17" y="37"/>
                  <a:pt x="15" y="36"/>
                </a:cubicBezTo>
                <a:moveTo>
                  <a:pt x="41" y="0"/>
                </a:moveTo>
                <a:cubicBezTo>
                  <a:pt x="6" y="26"/>
                  <a:pt x="6" y="26"/>
                  <a:pt x="6" y="26"/>
                </a:cubicBezTo>
                <a:cubicBezTo>
                  <a:pt x="5" y="27"/>
                  <a:pt x="5" y="27"/>
                  <a:pt x="5" y="27"/>
                </a:cubicBezTo>
                <a:cubicBezTo>
                  <a:pt x="2" y="29"/>
                  <a:pt x="0" y="33"/>
                  <a:pt x="1" y="37"/>
                </a:cubicBezTo>
                <a:cubicBezTo>
                  <a:pt x="7" y="33"/>
                  <a:pt x="13" y="31"/>
                  <a:pt x="14" y="30"/>
                </a:cubicBezTo>
                <a:cubicBezTo>
                  <a:pt x="46" y="6"/>
                  <a:pt x="46" y="6"/>
                  <a:pt x="46" y="6"/>
                </a:cubicBezTo>
                <a:cubicBezTo>
                  <a:pt x="63" y="11"/>
                  <a:pt x="63" y="11"/>
                  <a:pt x="63" y="11"/>
                </a:cubicBezTo>
                <a:cubicBezTo>
                  <a:pt x="65" y="12"/>
                  <a:pt x="66" y="13"/>
                  <a:pt x="65" y="15"/>
                </a:cubicBezTo>
                <a:cubicBezTo>
                  <a:pt x="65" y="16"/>
                  <a:pt x="64" y="17"/>
                  <a:pt x="63" y="17"/>
                </a:cubicBezTo>
                <a:cubicBezTo>
                  <a:pt x="62" y="17"/>
                  <a:pt x="62" y="17"/>
                  <a:pt x="62" y="17"/>
                </a:cubicBezTo>
                <a:cubicBezTo>
                  <a:pt x="47" y="13"/>
                  <a:pt x="47" y="13"/>
                  <a:pt x="47" y="13"/>
                </a:cubicBezTo>
                <a:cubicBezTo>
                  <a:pt x="21" y="33"/>
                  <a:pt x="21" y="33"/>
                  <a:pt x="21" y="33"/>
                </a:cubicBezTo>
                <a:cubicBezTo>
                  <a:pt x="21" y="33"/>
                  <a:pt x="21" y="33"/>
                  <a:pt x="21" y="33"/>
                </a:cubicBezTo>
                <a:cubicBezTo>
                  <a:pt x="23" y="34"/>
                  <a:pt x="26" y="36"/>
                  <a:pt x="30" y="38"/>
                </a:cubicBezTo>
                <a:cubicBezTo>
                  <a:pt x="33" y="36"/>
                  <a:pt x="33" y="36"/>
                  <a:pt x="33" y="36"/>
                </a:cubicBezTo>
                <a:cubicBezTo>
                  <a:pt x="46" y="26"/>
                  <a:pt x="46" y="26"/>
                  <a:pt x="46" y="26"/>
                </a:cubicBezTo>
                <a:cubicBezTo>
                  <a:pt x="56" y="29"/>
                  <a:pt x="56" y="29"/>
                  <a:pt x="56" y="29"/>
                </a:cubicBezTo>
                <a:cubicBezTo>
                  <a:pt x="57" y="30"/>
                  <a:pt x="58" y="30"/>
                  <a:pt x="59" y="30"/>
                </a:cubicBezTo>
                <a:cubicBezTo>
                  <a:pt x="65" y="30"/>
                  <a:pt x="70" y="26"/>
                  <a:pt x="71" y="21"/>
                </a:cubicBezTo>
                <a:cubicBezTo>
                  <a:pt x="72" y="16"/>
                  <a:pt x="71" y="11"/>
                  <a:pt x="67" y="8"/>
                </a:cubicBezTo>
                <a:cubicBezTo>
                  <a:pt x="66" y="7"/>
                  <a:pt x="64" y="7"/>
                  <a:pt x="63" y="6"/>
                </a:cubicBezTo>
                <a:cubicBezTo>
                  <a:pt x="49" y="3"/>
                  <a:pt x="49" y="3"/>
                  <a:pt x="49" y="3"/>
                </a:cubicBezTo>
                <a:cubicBezTo>
                  <a:pt x="41" y="0"/>
                  <a:pt x="41" y="0"/>
                  <a:pt x="41"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2" name="Freeform 67"/>
          <p:cNvSpPr>
            <a:spLocks/>
          </p:cNvSpPr>
          <p:nvPr/>
        </p:nvSpPr>
        <p:spPr bwMode="auto">
          <a:xfrm>
            <a:off x="3436938" y="5073650"/>
            <a:ext cx="204788" cy="206375"/>
          </a:xfrm>
          <a:custGeom>
            <a:avLst/>
            <a:gdLst>
              <a:gd name="T0" fmla="*/ 44 w 121"/>
              <a:gd name="T1" fmla="*/ 0 h 122"/>
              <a:gd name="T2" fmla="*/ 43 w 121"/>
              <a:gd name="T3" fmla="*/ 0 h 122"/>
              <a:gd name="T4" fmla="*/ 44 w 121"/>
              <a:gd name="T5" fmla="*/ 1 h 122"/>
              <a:gd name="T6" fmla="*/ 49 w 121"/>
              <a:gd name="T7" fmla="*/ 5 h 122"/>
              <a:gd name="T8" fmla="*/ 67 w 121"/>
              <a:gd name="T9" fmla="*/ 6 h 122"/>
              <a:gd name="T10" fmla="*/ 83 w 121"/>
              <a:gd name="T11" fmla="*/ 9 h 122"/>
              <a:gd name="T12" fmla="*/ 101 w 121"/>
              <a:gd name="T13" fmla="*/ 19 h 122"/>
              <a:gd name="T14" fmla="*/ 111 w 121"/>
              <a:gd name="T15" fmla="*/ 33 h 122"/>
              <a:gd name="T16" fmla="*/ 114 w 121"/>
              <a:gd name="T17" fmla="*/ 43 h 122"/>
              <a:gd name="T18" fmla="*/ 114 w 121"/>
              <a:gd name="T19" fmla="*/ 43 h 122"/>
              <a:gd name="T20" fmla="*/ 114 w 121"/>
              <a:gd name="T21" fmla="*/ 44 h 122"/>
              <a:gd name="T22" fmla="*/ 113 w 121"/>
              <a:gd name="T23" fmla="*/ 50 h 122"/>
              <a:gd name="T24" fmla="*/ 112 w 121"/>
              <a:gd name="T25" fmla="*/ 59 h 122"/>
              <a:gd name="T26" fmla="*/ 107 w 121"/>
              <a:gd name="T27" fmla="*/ 81 h 122"/>
              <a:gd name="T28" fmla="*/ 100 w 121"/>
              <a:gd name="T29" fmla="*/ 109 h 122"/>
              <a:gd name="T30" fmla="*/ 97 w 121"/>
              <a:gd name="T31" fmla="*/ 111 h 122"/>
              <a:gd name="T32" fmla="*/ 96 w 121"/>
              <a:gd name="T33" fmla="*/ 111 h 122"/>
              <a:gd name="T34" fmla="*/ 94 w 121"/>
              <a:gd name="T35" fmla="*/ 107 h 122"/>
              <a:gd name="T36" fmla="*/ 94 w 121"/>
              <a:gd name="T37" fmla="*/ 106 h 122"/>
              <a:gd name="T38" fmla="*/ 95 w 121"/>
              <a:gd name="T39" fmla="*/ 103 h 122"/>
              <a:gd name="T40" fmla="*/ 98 w 121"/>
              <a:gd name="T41" fmla="*/ 94 h 122"/>
              <a:gd name="T42" fmla="*/ 104 w 121"/>
              <a:gd name="T43" fmla="*/ 66 h 122"/>
              <a:gd name="T44" fmla="*/ 107 w 121"/>
              <a:gd name="T45" fmla="*/ 50 h 122"/>
              <a:gd name="T46" fmla="*/ 108 w 121"/>
              <a:gd name="T47" fmla="*/ 44 h 122"/>
              <a:gd name="T48" fmla="*/ 108 w 121"/>
              <a:gd name="T49" fmla="*/ 43 h 122"/>
              <a:gd name="T50" fmla="*/ 108 w 121"/>
              <a:gd name="T51" fmla="*/ 43 h 122"/>
              <a:gd name="T52" fmla="*/ 106 w 121"/>
              <a:gd name="T53" fmla="*/ 36 h 122"/>
              <a:gd name="T54" fmla="*/ 100 w 121"/>
              <a:gd name="T55" fmla="*/ 27 h 122"/>
              <a:gd name="T56" fmla="*/ 82 w 121"/>
              <a:gd name="T57" fmla="*/ 15 h 122"/>
              <a:gd name="T58" fmla="*/ 66 w 121"/>
              <a:gd name="T59" fmla="*/ 12 h 122"/>
              <a:gd name="T60" fmla="*/ 50 w 121"/>
              <a:gd name="T61" fmla="*/ 11 h 122"/>
              <a:gd name="T62" fmla="*/ 49 w 121"/>
              <a:gd name="T63" fmla="*/ 17 h 122"/>
              <a:gd name="T64" fmla="*/ 38 w 121"/>
              <a:gd name="T65" fmla="*/ 23 h 122"/>
              <a:gd name="T66" fmla="*/ 33 w 121"/>
              <a:gd name="T67" fmla="*/ 21 h 122"/>
              <a:gd name="T68" fmla="*/ 22 w 121"/>
              <a:gd name="T69" fmla="*/ 14 h 122"/>
              <a:gd name="T70" fmla="*/ 19 w 121"/>
              <a:gd name="T71" fmla="*/ 15 h 122"/>
              <a:gd name="T72" fmla="*/ 17 w 121"/>
              <a:gd name="T73" fmla="*/ 15 h 122"/>
              <a:gd name="T74" fmla="*/ 14 w 121"/>
              <a:gd name="T75" fmla="*/ 14 h 122"/>
              <a:gd name="T76" fmla="*/ 15 w 121"/>
              <a:gd name="T77" fmla="*/ 10 h 122"/>
              <a:gd name="T78" fmla="*/ 17 w 121"/>
              <a:gd name="T79" fmla="*/ 9 h 122"/>
              <a:gd name="T80" fmla="*/ 13 w 121"/>
              <a:gd name="T81" fmla="*/ 3 h 122"/>
              <a:gd name="T82" fmla="*/ 8 w 121"/>
              <a:gd name="T83" fmla="*/ 6 h 122"/>
              <a:gd name="T84" fmla="*/ 4 w 121"/>
              <a:gd name="T85" fmla="*/ 22 h 122"/>
              <a:gd name="T86" fmla="*/ 14 w 121"/>
              <a:gd name="T87" fmla="*/ 28 h 122"/>
              <a:gd name="T88" fmla="*/ 20 w 121"/>
              <a:gd name="T89" fmla="*/ 26 h 122"/>
              <a:gd name="T90" fmla="*/ 44 w 121"/>
              <a:gd name="T91" fmla="*/ 24 h 122"/>
              <a:gd name="T92" fmla="*/ 76 w 121"/>
              <a:gd name="T93" fmla="*/ 27 h 122"/>
              <a:gd name="T94" fmla="*/ 96 w 121"/>
              <a:gd name="T95" fmla="*/ 48 h 122"/>
              <a:gd name="T96" fmla="*/ 82 w 121"/>
              <a:gd name="T97" fmla="*/ 109 h 122"/>
              <a:gd name="T98" fmla="*/ 82 w 121"/>
              <a:gd name="T99" fmla="*/ 115 h 122"/>
              <a:gd name="T100" fmla="*/ 86 w 121"/>
              <a:gd name="T101" fmla="*/ 120 h 122"/>
              <a:gd name="T102" fmla="*/ 92 w 121"/>
              <a:gd name="T103" fmla="*/ 120 h 122"/>
              <a:gd name="T104" fmla="*/ 93 w 121"/>
              <a:gd name="T105" fmla="*/ 120 h 122"/>
              <a:gd name="T106" fmla="*/ 93 w 121"/>
              <a:gd name="T107" fmla="*/ 120 h 122"/>
              <a:gd name="T108" fmla="*/ 99 w 121"/>
              <a:gd name="T109" fmla="*/ 121 h 122"/>
              <a:gd name="T110" fmla="*/ 100 w 121"/>
              <a:gd name="T111" fmla="*/ 122 h 122"/>
              <a:gd name="T112" fmla="*/ 104 w 121"/>
              <a:gd name="T113" fmla="*/ 118 h 122"/>
              <a:gd name="T114" fmla="*/ 105 w 121"/>
              <a:gd name="T115" fmla="*/ 115 h 122"/>
              <a:gd name="T116" fmla="*/ 120 w 121"/>
              <a:gd name="T117" fmla="*/ 46 h 122"/>
              <a:gd name="T118" fmla="*/ 83 w 121"/>
              <a:gd name="T119" fmla="*/ 4 h 122"/>
              <a:gd name="T120" fmla="*/ 44 w 121"/>
              <a:gd name="T121"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1" h="122">
                <a:moveTo>
                  <a:pt x="44" y="0"/>
                </a:moveTo>
                <a:cubicBezTo>
                  <a:pt x="43" y="0"/>
                  <a:pt x="43" y="0"/>
                  <a:pt x="43" y="0"/>
                </a:cubicBezTo>
                <a:cubicBezTo>
                  <a:pt x="43" y="0"/>
                  <a:pt x="44" y="0"/>
                  <a:pt x="44" y="1"/>
                </a:cubicBezTo>
                <a:cubicBezTo>
                  <a:pt x="46" y="2"/>
                  <a:pt x="48" y="3"/>
                  <a:pt x="49" y="5"/>
                </a:cubicBezTo>
                <a:cubicBezTo>
                  <a:pt x="55" y="5"/>
                  <a:pt x="61" y="5"/>
                  <a:pt x="67" y="6"/>
                </a:cubicBezTo>
                <a:cubicBezTo>
                  <a:pt x="73" y="7"/>
                  <a:pt x="79" y="8"/>
                  <a:pt x="83" y="9"/>
                </a:cubicBezTo>
                <a:cubicBezTo>
                  <a:pt x="90" y="11"/>
                  <a:pt x="96" y="14"/>
                  <a:pt x="101" y="19"/>
                </a:cubicBezTo>
                <a:cubicBezTo>
                  <a:pt x="105" y="23"/>
                  <a:pt x="109" y="29"/>
                  <a:pt x="111" y="33"/>
                </a:cubicBezTo>
                <a:cubicBezTo>
                  <a:pt x="113" y="37"/>
                  <a:pt x="114" y="40"/>
                  <a:pt x="114" y="43"/>
                </a:cubicBezTo>
                <a:cubicBezTo>
                  <a:pt x="114" y="43"/>
                  <a:pt x="114" y="43"/>
                  <a:pt x="114" y="43"/>
                </a:cubicBezTo>
                <a:cubicBezTo>
                  <a:pt x="114" y="43"/>
                  <a:pt x="114" y="44"/>
                  <a:pt x="114" y="44"/>
                </a:cubicBezTo>
                <a:cubicBezTo>
                  <a:pt x="114" y="46"/>
                  <a:pt x="114" y="48"/>
                  <a:pt x="113" y="50"/>
                </a:cubicBezTo>
                <a:cubicBezTo>
                  <a:pt x="113" y="53"/>
                  <a:pt x="112" y="56"/>
                  <a:pt x="112" y="59"/>
                </a:cubicBezTo>
                <a:cubicBezTo>
                  <a:pt x="110" y="66"/>
                  <a:pt x="109" y="74"/>
                  <a:pt x="107" y="81"/>
                </a:cubicBezTo>
                <a:cubicBezTo>
                  <a:pt x="103" y="96"/>
                  <a:pt x="100" y="109"/>
                  <a:pt x="100" y="109"/>
                </a:cubicBezTo>
                <a:cubicBezTo>
                  <a:pt x="99" y="110"/>
                  <a:pt x="98" y="111"/>
                  <a:pt x="97" y="111"/>
                </a:cubicBezTo>
                <a:cubicBezTo>
                  <a:pt x="97" y="111"/>
                  <a:pt x="96" y="111"/>
                  <a:pt x="96" y="111"/>
                </a:cubicBezTo>
                <a:cubicBezTo>
                  <a:pt x="94" y="110"/>
                  <a:pt x="94" y="109"/>
                  <a:pt x="94" y="107"/>
                </a:cubicBezTo>
                <a:cubicBezTo>
                  <a:pt x="94" y="107"/>
                  <a:pt x="94" y="107"/>
                  <a:pt x="94" y="106"/>
                </a:cubicBezTo>
                <a:cubicBezTo>
                  <a:pt x="94" y="106"/>
                  <a:pt x="95" y="105"/>
                  <a:pt x="95" y="103"/>
                </a:cubicBezTo>
                <a:cubicBezTo>
                  <a:pt x="96" y="101"/>
                  <a:pt x="96" y="98"/>
                  <a:pt x="98" y="94"/>
                </a:cubicBezTo>
                <a:cubicBezTo>
                  <a:pt x="100" y="86"/>
                  <a:pt x="102" y="75"/>
                  <a:pt x="104" y="66"/>
                </a:cubicBezTo>
                <a:cubicBezTo>
                  <a:pt x="106" y="60"/>
                  <a:pt x="107" y="54"/>
                  <a:pt x="107" y="50"/>
                </a:cubicBezTo>
                <a:cubicBezTo>
                  <a:pt x="108" y="47"/>
                  <a:pt x="108" y="45"/>
                  <a:pt x="108" y="44"/>
                </a:cubicBezTo>
                <a:cubicBezTo>
                  <a:pt x="108" y="44"/>
                  <a:pt x="108" y="43"/>
                  <a:pt x="108" y="43"/>
                </a:cubicBezTo>
                <a:cubicBezTo>
                  <a:pt x="108" y="43"/>
                  <a:pt x="108" y="43"/>
                  <a:pt x="108" y="43"/>
                </a:cubicBezTo>
                <a:cubicBezTo>
                  <a:pt x="108" y="41"/>
                  <a:pt x="107" y="39"/>
                  <a:pt x="106" y="36"/>
                </a:cubicBezTo>
                <a:cubicBezTo>
                  <a:pt x="105" y="33"/>
                  <a:pt x="103" y="30"/>
                  <a:pt x="100" y="27"/>
                </a:cubicBezTo>
                <a:cubicBezTo>
                  <a:pt x="96" y="22"/>
                  <a:pt x="89" y="17"/>
                  <a:pt x="82" y="15"/>
                </a:cubicBezTo>
                <a:cubicBezTo>
                  <a:pt x="78" y="14"/>
                  <a:pt x="72" y="13"/>
                  <a:pt x="66" y="12"/>
                </a:cubicBezTo>
                <a:cubicBezTo>
                  <a:pt x="61" y="11"/>
                  <a:pt x="56" y="11"/>
                  <a:pt x="50" y="11"/>
                </a:cubicBezTo>
                <a:cubicBezTo>
                  <a:pt x="50" y="13"/>
                  <a:pt x="50" y="15"/>
                  <a:pt x="49" y="17"/>
                </a:cubicBezTo>
                <a:cubicBezTo>
                  <a:pt x="47" y="21"/>
                  <a:pt x="43" y="23"/>
                  <a:pt x="38" y="23"/>
                </a:cubicBezTo>
                <a:cubicBezTo>
                  <a:pt x="36" y="23"/>
                  <a:pt x="34" y="22"/>
                  <a:pt x="33" y="21"/>
                </a:cubicBezTo>
                <a:cubicBezTo>
                  <a:pt x="32" y="21"/>
                  <a:pt x="27" y="18"/>
                  <a:pt x="22" y="14"/>
                </a:cubicBezTo>
                <a:cubicBezTo>
                  <a:pt x="21" y="14"/>
                  <a:pt x="19" y="15"/>
                  <a:pt x="19" y="15"/>
                </a:cubicBezTo>
                <a:cubicBezTo>
                  <a:pt x="18" y="15"/>
                  <a:pt x="18" y="15"/>
                  <a:pt x="17" y="15"/>
                </a:cubicBezTo>
                <a:cubicBezTo>
                  <a:pt x="16" y="15"/>
                  <a:pt x="15" y="15"/>
                  <a:pt x="14" y="14"/>
                </a:cubicBezTo>
                <a:cubicBezTo>
                  <a:pt x="14" y="13"/>
                  <a:pt x="14" y="11"/>
                  <a:pt x="15" y="10"/>
                </a:cubicBezTo>
                <a:cubicBezTo>
                  <a:pt x="16" y="10"/>
                  <a:pt x="17" y="9"/>
                  <a:pt x="17" y="9"/>
                </a:cubicBezTo>
                <a:cubicBezTo>
                  <a:pt x="16" y="7"/>
                  <a:pt x="15" y="5"/>
                  <a:pt x="13" y="3"/>
                </a:cubicBezTo>
                <a:cubicBezTo>
                  <a:pt x="11" y="4"/>
                  <a:pt x="9" y="5"/>
                  <a:pt x="8" y="6"/>
                </a:cubicBezTo>
                <a:cubicBezTo>
                  <a:pt x="2" y="9"/>
                  <a:pt x="0" y="17"/>
                  <a:pt x="4" y="22"/>
                </a:cubicBezTo>
                <a:cubicBezTo>
                  <a:pt x="6" y="26"/>
                  <a:pt x="10" y="28"/>
                  <a:pt x="14" y="28"/>
                </a:cubicBezTo>
                <a:cubicBezTo>
                  <a:pt x="16" y="28"/>
                  <a:pt x="18" y="28"/>
                  <a:pt x="20" y="26"/>
                </a:cubicBezTo>
                <a:cubicBezTo>
                  <a:pt x="23" y="25"/>
                  <a:pt x="33" y="24"/>
                  <a:pt x="44" y="24"/>
                </a:cubicBezTo>
                <a:cubicBezTo>
                  <a:pt x="55" y="24"/>
                  <a:pt x="68" y="25"/>
                  <a:pt x="76" y="27"/>
                </a:cubicBezTo>
                <a:cubicBezTo>
                  <a:pt x="88" y="30"/>
                  <a:pt x="96" y="43"/>
                  <a:pt x="96" y="48"/>
                </a:cubicBezTo>
                <a:cubicBezTo>
                  <a:pt x="96" y="53"/>
                  <a:pt x="89" y="84"/>
                  <a:pt x="82" y="109"/>
                </a:cubicBezTo>
                <a:cubicBezTo>
                  <a:pt x="82" y="111"/>
                  <a:pt x="82" y="113"/>
                  <a:pt x="82" y="115"/>
                </a:cubicBezTo>
                <a:cubicBezTo>
                  <a:pt x="83" y="117"/>
                  <a:pt x="84" y="119"/>
                  <a:pt x="86" y="120"/>
                </a:cubicBezTo>
                <a:cubicBezTo>
                  <a:pt x="88" y="120"/>
                  <a:pt x="90" y="120"/>
                  <a:pt x="92" y="120"/>
                </a:cubicBezTo>
                <a:cubicBezTo>
                  <a:pt x="92" y="120"/>
                  <a:pt x="93" y="120"/>
                  <a:pt x="93" y="120"/>
                </a:cubicBezTo>
                <a:cubicBezTo>
                  <a:pt x="93" y="120"/>
                  <a:pt x="93" y="120"/>
                  <a:pt x="93" y="120"/>
                </a:cubicBezTo>
                <a:cubicBezTo>
                  <a:pt x="95" y="120"/>
                  <a:pt x="97" y="121"/>
                  <a:pt x="99" y="121"/>
                </a:cubicBezTo>
                <a:cubicBezTo>
                  <a:pt x="99" y="121"/>
                  <a:pt x="100" y="122"/>
                  <a:pt x="100" y="122"/>
                </a:cubicBezTo>
                <a:cubicBezTo>
                  <a:pt x="102" y="121"/>
                  <a:pt x="103" y="120"/>
                  <a:pt x="104" y="118"/>
                </a:cubicBezTo>
                <a:cubicBezTo>
                  <a:pt x="104" y="117"/>
                  <a:pt x="105" y="116"/>
                  <a:pt x="105" y="115"/>
                </a:cubicBezTo>
                <a:cubicBezTo>
                  <a:pt x="110" y="98"/>
                  <a:pt x="121" y="56"/>
                  <a:pt x="120" y="46"/>
                </a:cubicBezTo>
                <a:cubicBezTo>
                  <a:pt x="119" y="31"/>
                  <a:pt x="103" y="10"/>
                  <a:pt x="83" y="4"/>
                </a:cubicBezTo>
                <a:cubicBezTo>
                  <a:pt x="74" y="2"/>
                  <a:pt x="59" y="0"/>
                  <a:pt x="44"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3" name="Freeform 68"/>
          <p:cNvSpPr>
            <a:spLocks/>
          </p:cNvSpPr>
          <p:nvPr/>
        </p:nvSpPr>
        <p:spPr bwMode="auto">
          <a:xfrm>
            <a:off x="3395663" y="5035550"/>
            <a:ext cx="31750" cy="9525"/>
          </a:xfrm>
          <a:custGeom>
            <a:avLst/>
            <a:gdLst>
              <a:gd name="T0" fmla="*/ 12 w 19"/>
              <a:gd name="T1" fmla="*/ 0 h 5"/>
              <a:gd name="T2" fmla="*/ 6 w 19"/>
              <a:gd name="T3" fmla="*/ 1 h 5"/>
              <a:gd name="T4" fmla="*/ 0 w 19"/>
              <a:gd name="T5" fmla="*/ 3 h 5"/>
              <a:gd name="T6" fmla="*/ 8 w 19"/>
              <a:gd name="T7" fmla="*/ 5 h 5"/>
              <a:gd name="T8" fmla="*/ 8 w 19"/>
              <a:gd name="T9" fmla="*/ 4 h 5"/>
              <a:gd name="T10" fmla="*/ 8 w 19"/>
              <a:gd name="T11" fmla="*/ 4 h 5"/>
              <a:gd name="T12" fmla="*/ 11 w 19"/>
              <a:gd name="T13" fmla="*/ 0 h 5"/>
              <a:gd name="T14" fmla="*/ 11 w 19"/>
              <a:gd name="T15" fmla="*/ 0 h 5"/>
              <a:gd name="T16" fmla="*/ 14 w 19"/>
              <a:gd name="T17" fmla="*/ 3 h 5"/>
              <a:gd name="T18" fmla="*/ 14 w 19"/>
              <a:gd name="T19" fmla="*/ 4 h 5"/>
              <a:gd name="T20" fmla="*/ 19 w 19"/>
              <a:gd name="T21" fmla="*/ 3 h 5"/>
              <a:gd name="T22" fmla="*/ 12 w 19"/>
              <a:gd name="T23"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 h="5">
                <a:moveTo>
                  <a:pt x="12" y="0"/>
                </a:moveTo>
                <a:cubicBezTo>
                  <a:pt x="10" y="0"/>
                  <a:pt x="8" y="0"/>
                  <a:pt x="6" y="1"/>
                </a:cubicBezTo>
                <a:cubicBezTo>
                  <a:pt x="4" y="1"/>
                  <a:pt x="2" y="2"/>
                  <a:pt x="0" y="3"/>
                </a:cubicBezTo>
                <a:cubicBezTo>
                  <a:pt x="4" y="4"/>
                  <a:pt x="6" y="4"/>
                  <a:pt x="8" y="5"/>
                </a:cubicBezTo>
                <a:cubicBezTo>
                  <a:pt x="8" y="4"/>
                  <a:pt x="8" y="4"/>
                  <a:pt x="8" y="4"/>
                </a:cubicBezTo>
                <a:cubicBezTo>
                  <a:pt x="8" y="4"/>
                  <a:pt x="8" y="4"/>
                  <a:pt x="8" y="4"/>
                </a:cubicBezTo>
                <a:cubicBezTo>
                  <a:pt x="8" y="2"/>
                  <a:pt x="9" y="0"/>
                  <a:pt x="11" y="0"/>
                </a:cubicBezTo>
                <a:cubicBezTo>
                  <a:pt x="11" y="0"/>
                  <a:pt x="11" y="0"/>
                  <a:pt x="11" y="0"/>
                </a:cubicBezTo>
                <a:cubicBezTo>
                  <a:pt x="13" y="0"/>
                  <a:pt x="14" y="1"/>
                  <a:pt x="14" y="3"/>
                </a:cubicBezTo>
                <a:cubicBezTo>
                  <a:pt x="14" y="3"/>
                  <a:pt x="14" y="4"/>
                  <a:pt x="14" y="4"/>
                </a:cubicBezTo>
                <a:cubicBezTo>
                  <a:pt x="16" y="4"/>
                  <a:pt x="17" y="3"/>
                  <a:pt x="19" y="3"/>
                </a:cubicBezTo>
                <a:cubicBezTo>
                  <a:pt x="18" y="1"/>
                  <a:pt x="15" y="0"/>
                  <a:pt x="12" y="0"/>
                </a:cubicBezTo>
              </a:path>
            </a:pathLst>
          </a:custGeom>
          <a:solidFill>
            <a:srgbClr val="DA81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4" name="Freeform 69"/>
          <p:cNvSpPr>
            <a:spLocks noEditPoints="1"/>
          </p:cNvSpPr>
          <p:nvPr/>
        </p:nvSpPr>
        <p:spPr bwMode="auto">
          <a:xfrm>
            <a:off x="3338513" y="5041900"/>
            <a:ext cx="92075" cy="107950"/>
          </a:xfrm>
          <a:custGeom>
            <a:avLst/>
            <a:gdLst>
              <a:gd name="T0" fmla="*/ 18 w 55"/>
              <a:gd name="T1" fmla="*/ 51 h 64"/>
              <a:gd name="T2" fmla="*/ 18 w 55"/>
              <a:gd name="T3" fmla="*/ 51 h 64"/>
              <a:gd name="T4" fmla="*/ 18 w 55"/>
              <a:gd name="T5" fmla="*/ 51 h 64"/>
              <a:gd name="T6" fmla="*/ 9 w 55"/>
              <a:gd name="T7" fmla="*/ 63 h 64"/>
              <a:gd name="T8" fmla="*/ 13 w 55"/>
              <a:gd name="T9" fmla="*/ 64 h 64"/>
              <a:gd name="T10" fmla="*/ 22 w 55"/>
              <a:gd name="T11" fmla="*/ 60 h 64"/>
              <a:gd name="T12" fmla="*/ 28 w 55"/>
              <a:gd name="T13" fmla="*/ 52 h 64"/>
              <a:gd name="T14" fmla="*/ 18 w 55"/>
              <a:gd name="T15" fmla="*/ 51 h 64"/>
              <a:gd name="T16" fmla="*/ 34 w 55"/>
              <a:gd name="T17" fmla="*/ 0 h 64"/>
              <a:gd name="T18" fmla="*/ 28 w 55"/>
              <a:gd name="T19" fmla="*/ 13 h 64"/>
              <a:gd name="T20" fmla="*/ 7 w 55"/>
              <a:gd name="T21" fmla="*/ 40 h 64"/>
              <a:gd name="T22" fmla="*/ 4 w 55"/>
              <a:gd name="T23" fmla="*/ 44 h 64"/>
              <a:gd name="T24" fmla="*/ 4 w 55"/>
              <a:gd name="T25" fmla="*/ 45 h 64"/>
              <a:gd name="T26" fmla="*/ 4 w 55"/>
              <a:gd name="T27" fmla="*/ 45 h 64"/>
              <a:gd name="T28" fmla="*/ 4 w 55"/>
              <a:gd name="T29" fmla="*/ 60 h 64"/>
              <a:gd name="T30" fmla="*/ 15 w 55"/>
              <a:gd name="T31" fmla="*/ 45 h 64"/>
              <a:gd name="T32" fmla="*/ 15 w 55"/>
              <a:gd name="T33" fmla="*/ 45 h 64"/>
              <a:gd name="T34" fmla="*/ 16 w 55"/>
              <a:gd name="T35" fmla="*/ 44 h 64"/>
              <a:gd name="T36" fmla="*/ 21 w 55"/>
              <a:gd name="T37" fmla="*/ 37 h 64"/>
              <a:gd name="T38" fmla="*/ 35 w 55"/>
              <a:gd name="T39" fmla="*/ 18 h 64"/>
              <a:gd name="T40" fmla="*/ 41 w 55"/>
              <a:gd name="T41" fmla="*/ 6 h 64"/>
              <a:gd name="T42" fmla="*/ 42 w 55"/>
              <a:gd name="T43" fmla="*/ 2 h 64"/>
              <a:gd name="T44" fmla="*/ 34 w 55"/>
              <a:gd name="T45" fmla="*/ 0 h 64"/>
              <a:gd name="T46" fmla="*/ 53 w 55"/>
              <a:gd name="T47" fmla="*/ 0 h 64"/>
              <a:gd name="T48" fmla="*/ 48 w 55"/>
              <a:gd name="T49" fmla="*/ 1 h 64"/>
              <a:gd name="T50" fmla="*/ 48 w 55"/>
              <a:gd name="T51" fmla="*/ 1 h 64"/>
              <a:gd name="T52" fmla="*/ 47 w 55"/>
              <a:gd name="T53" fmla="*/ 8 h 64"/>
              <a:gd name="T54" fmla="*/ 43 w 55"/>
              <a:gd name="T55" fmla="*/ 15 h 64"/>
              <a:gd name="T56" fmla="*/ 33 w 55"/>
              <a:gd name="T57" fmla="*/ 31 h 64"/>
              <a:gd name="T58" fmla="*/ 22 w 55"/>
              <a:gd name="T59" fmla="*/ 46 h 64"/>
              <a:gd name="T60" fmla="*/ 33 w 55"/>
              <a:gd name="T61" fmla="*/ 47 h 64"/>
              <a:gd name="T62" fmla="*/ 36 w 55"/>
              <a:gd name="T63" fmla="*/ 43 h 64"/>
              <a:gd name="T64" fmla="*/ 54 w 55"/>
              <a:gd name="T65" fmla="*/ 2 h 64"/>
              <a:gd name="T66" fmla="*/ 53 w 55"/>
              <a:gd name="T6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 h="64">
                <a:moveTo>
                  <a:pt x="18" y="51"/>
                </a:moveTo>
                <a:cubicBezTo>
                  <a:pt x="18" y="51"/>
                  <a:pt x="18" y="51"/>
                  <a:pt x="18" y="51"/>
                </a:cubicBezTo>
                <a:cubicBezTo>
                  <a:pt x="18" y="51"/>
                  <a:pt x="18" y="51"/>
                  <a:pt x="18" y="51"/>
                </a:cubicBezTo>
                <a:cubicBezTo>
                  <a:pt x="9" y="63"/>
                  <a:pt x="9" y="63"/>
                  <a:pt x="9" y="63"/>
                </a:cubicBezTo>
                <a:cubicBezTo>
                  <a:pt x="10" y="64"/>
                  <a:pt x="12" y="64"/>
                  <a:pt x="13" y="64"/>
                </a:cubicBezTo>
                <a:cubicBezTo>
                  <a:pt x="17" y="64"/>
                  <a:pt x="20" y="63"/>
                  <a:pt x="22" y="60"/>
                </a:cubicBezTo>
                <a:cubicBezTo>
                  <a:pt x="25" y="57"/>
                  <a:pt x="27" y="55"/>
                  <a:pt x="28" y="52"/>
                </a:cubicBezTo>
                <a:cubicBezTo>
                  <a:pt x="25" y="52"/>
                  <a:pt x="21" y="51"/>
                  <a:pt x="18" y="51"/>
                </a:cubicBezTo>
                <a:moveTo>
                  <a:pt x="34" y="0"/>
                </a:moveTo>
                <a:cubicBezTo>
                  <a:pt x="31" y="3"/>
                  <a:pt x="28" y="8"/>
                  <a:pt x="28" y="13"/>
                </a:cubicBezTo>
                <a:cubicBezTo>
                  <a:pt x="27" y="18"/>
                  <a:pt x="19" y="27"/>
                  <a:pt x="7" y="40"/>
                </a:cubicBezTo>
                <a:cubicBezTo>
                  <a:pt x="6" y="42"/>
                  <a:pt x="5" y="43"/>
                  <a:pt x="4" y="44"/>
                </a:cubicBezTo>
                <a:cubicBezTo>
                  <a:pt x="4" y="44"/>
                  <a:pt x="4" y="45"/>
                  <a:pt x="4" y="45"/>
                </a:cubicBezTo>
                <a:cubicBezTo>
                  <a:pt x="4" y="45"/>
                  <a:pt x="4" y="45"/>
                  <a:pt x="4" y="45"/>
                </a:cubicBezTo>
                <a:cubicBezTo>
                  <a:pt x="0" y="49"/>
                  <a:pt x="1" y="55"/>
                  <a:pt x="4" y="60"/>
                </a:cubicBezTo>
                <a:cubicBezTo>
                  <a:pt x="15" y="45"/>
                  <a:pt x="15" y="45"/>
                  <a:pt x="15" y="45"/>
                </a:cubicBezTo>
                <a:cubicBezTo>
                  <a:pt x="15" y="45"/>
                  <a:pt x="15" y="45"/>
                  <a:pt x="15" y="45"/>
                </a:cubicBezTo>
                <a:cubicBezTo>
                  <a:pt x="15" y="45"/>
                  <a:pt x="16" y="45"/>
                  <a:pt x="16" y="44"/>
                </a:cubicBezTo>
                <a:cubicBezTo>
                  <a:pt x="17" y="42"/>
                  <a:pt x="19" y="40"/>
                  <a:pt x="21" y="37"/>
                </a:cubicBezTo>
                <a:cubicBezTo>
                  <a:pt x="25" y="32"/>
                  <a:pt x="31" y="25"/>
                  <a:pt x="35" y="18"/>
                </a:cubicBezTo>
                <a:cubicBezTo>
                  <a:pt x="38" y="13"/>
                  <a:pt x="40" y="9"/>
                  <a:pt x="41" y="6"/>
                </a:cubicBezTo>
                <a:cubicBezTo>
                  <a:pt x="42" y="4"/>
                  <a:pt x="42" y="3"/>
                  <a:pt x="42" y="2"/>
                </a:cubicBezTo>
                <a:cubicBezTo>
                  <a:pt x="40" y="1"/>
                  <a:pt x="38" y="1"/>
                  <a:pt x="34" y="0"/>
                </a:cubicBezTo>
                <a:moveTo>
                  <a:pt x="53" y="0"/>
                </a:moveTo>
                <a:cubicBezTo>
                  <a:pt x="51" y="0"/>
                  <a:pt x="50" y="1"/>
                  <a:pt x="48" y="1"/>
                </a:cubicBezTo>
                <a:cubicBezTo>
                  <a:pt x="48" y="1"/>
                  <a:pt x="48" y="1"/>
                  <a:pt x="48" y="1"/>
                </a:cubicBezTo>
                <a:cubicBezTo>
                  <a:pt x="48" y="3"/>
                  <a:pt x="48" y="5"/>
                  <a:pt x="47" y="8"/>
                </a:cubicBezTo>
                <a:cubicBezTo>
                  <a:pt x="46" y="10"/>
                  <a:pt x="45" y="12"/>
                  <a:pt x="43" y="15"/>
                </a:cubicBezTo>
                <a:cubicBezTo>
                  <a:pt x="41" y="20"/>
                  <a:pt x="37" y="26"/>
                  <a:pt x="33" y="31"/>
                </a:cubicBezTo>
                <a:cubicBezTo>
                  <a:pt x="29" y="37"/>
                  <a:pt x="25" y="42"/>
                  <a:pt x="22" y="46"/>
                </a:cubicBezTo>
                <a:cubicBezTo>
                  <a:pt x="26" y="46"/>
                  <a:pt x="29" y="46"/>
                  <a:pt x="33" y="47"/>
                </a:cubicBezTo>
                <a:cubicBezTo>
                  <a:pt x="34" y="45"/>
                  <a:pt x="35" y="44"/>
                  <a:pt x="36" y="43"/>
                </a:cubicBezTo>
                <a:cubicBezTo>
                  <a:pt x="49" y="24"/>
                  <a:pt x="55" y="11"/>
                  <a:pt x="54" y="2"/>
                </a:cubicBezTo>
                <a:cubicBezTo>
                  <a:pt x="54" y="1"/>
                  <a:pt x="53" y="0"/>
                  <a:pt x="53"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5" name="Freeform 70"/>
          <p:cNvSpPr>
            <a:spLocks/>
          </p:cNvSpPr>
          <p:nvPr/>
        </p:nvSpPr>
        <p:spPr bwMode="auto">
          <a:xfrm>
            <a:off x="3454401" y="5029200"/>
            <a:ext cx="17463" cy="3175"/>
          </a:xfrm>
          <a:custGeom>
            <a:avLst/>
            <a:gdLst>
              <a:gd name="T0" fmla="*/ 7 w 10"/>
              <a:gd name="T1" fmla="*/ 0 h 2"/>
              <a:gd name="T2" fmla="*/ 5 w 10"/>
              <a:gd name="T3" fmla="*/ 0 h 2"/>
              <a:gd name="T4" fmla="*/ 0 w 10"/>
              <a:gd name="T5" fmla="*/ 2 h 2"/>
              <a:gd name="T6" fmla="*/ 10 w 10"/>
              <a:gd name="T7" fmla="*/ 0 h 2"/>
              <a:gd name="T8" fmla="*/ 7 w 10"/>
              <a:gd name="T9" fmla="*/ 0 h 2"/>
            </a:gdLst>
            <a:ahLst/>
            <a:cxnLst>
              <a:cxn ang="0">
                <a:pos x="T0" y="T1"/>
              </a:cxn>
              <a:cxn ang="0">
                <a:pos x="T2" y="T3"/>
              </a:cxn>
              <a:cxn ang="0">
                <a:pos x="T4" y="T5"/>
              </a:cxn>
              <a:cxn ang="0">
                <a:pos x="T6" y="T7"/>
              </a:cxn>
              <a:cxn ang="0">
                <a:pos x="T8" y="T9"/>
              </a:cxn>
            </a:cxnLst>
            <a:rect l="0" t="0" r="r" b="b"/>
            <a:pathLst>
              <a:path w="10" h="2">
                <a:moveTo>
                  <a:pt x="7" y="0"/>
                </a:moveTo>
                <a:cubicBezTo>
                  <a:pt x="7" y="0"/>
                  <a:pt x="6" y="0"/>
                  <a:pt x="5" y="0"/>
                </a:cubicBezTo>
                <a:cubicBezTo>
                  <a:pt x="3" y="0"/>
                  <a:pt x="1" y="1"/>
                  <a:pt x="0" y="2"/>
                </a:cubicBezTo>
                <a:cubicBezTo>
                  <a:pt x="2" y="2"/>
                  <a:pt x="6" y="1"/>
                  <a:pt x="10" y="0"/>
                </a:cubicBezTo>
                <a:cubicBezTo>
                  <a:pt x="9" y="0"/>
                  <a:pt x="8" y="0"/>
                  <a:pt x="7" y="0"/>
                </a:cubicBezTo>
              </a:path>
            </a:pathLst>
          </a:custGeom>
          <a:solidFill>
            <a:srgbClr val="DA81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6" name="Freeform 71"/>
          <p:cNvSpPr>
            <a:spLocks noEditPoints="1"/>
          </p:cNvSpPr>
          <p:nvPr/>
        </p:nvSpPr>
        <p:spPr bwMode="auto">
          <a:xfrm>
            <a:off x="3446463" y="5029200"/>
            <a:ext cx="74613" cy="82550"/>
          </a:xfrm>
          <a:custGeom>
            <a:avLst/>
            <a:gdLst>
              <a:gd name="T0" fmla="*/ 41 w 44"/>
              <a:gd name="T1" fmla="*/ 37 h 49"/>
              <a:gd name="T2" fmla="*/ 41 w 44"/>
              <a:gd name="T3" fmla="*/ 37 h 49"/>
              <a:gd name="T4" fmla="*/ 27 w 44"/>
              <a:gd name="T5" fmla="*/ 38 h 49"/>
              <a:gd name="T6" fmla="*/ 17 w 44"/>
              <a:gd name="T7" fmla="*/ 39 h 49"/>
              <a:gd name="T8" fmla="*/ 16 w 44"/>
              <a:gd name="T9" fmla="*/ 40 h 49"/>
              <a:gd name="T10" fmla="*/ 27 w 44"/>
              <a:gd name="T11" fmla="*/ 47 h 49"/>
              <a:gd name="T12" fmla="*/ 32 w 44"/>
              <a:gd name="T13" fmla="*/ 49 h 49"/>
              <a:gd name="T14" fmla="*/ 43 w 44"/>
              <a:gd name="T15" fmla="*/ 43 h 49"/>
              <a:gd name="T16" fmla="*/ 44 w 44"/>
              <a:gd name="T17" fmla="*/ 37 h 49"/>
              <a:gd name="T18" fmla="*/ 41 w 44"/>
              <a:gd name="T19" fmla="*/ 37 h 49"/>
              <a:gd name="T20" fmla="*/ 15 w 44"/>
              <a:gd name="T21" fmla="*/ 0 h 49"/>
              <a:gd name="T22" fmla="*/ 5 w 44"/>
              <a:gd name="T23" fmla="*/ 2 h 49"/>
              <a:gd name="T24" fmla="*/ 1 w 44"/>
              <a:gd name="T25" fmla="*/ 14 h 49"/>
              <a:gd name="T26" fmla="*/ 7 w 44"/>
              <a:gd name="T27" fmla="*/ 29 h 49"/>
              <a:gd name="T28" fmla="*/ 11 w 44"/>
              <a:gd name="T29" fmla="*/ 35 h 49"/>
              <a:gd name="T30" fmla="*/ 15 w 44"/>
              <a:gd name="T31" fmla="*/ 34 h 49"/>
              <a:gd name="T32" fmla="*/ 23 w 44"/>
              <a:gd name="T33" fmla="*/ 32 h 49"/>
              <a:gd name="T34" fmla="*/ 28 w 44"/>
              <a:gd name="T35" fmla="*/ 31 h 49"/>
              <a:gd name="T36" fmla="*/ 17 w 44"/>
              <a:gd name="T37" fmla="*/ 20 h 49"/>
              <a:gd name="T38" fmla="*/ 13 w 44"/>
              <a:gd name="T39" fmla="*/ 8 h 49"/>
              <a:gd name="T40" fmla="*/ 15 w 44"/>
              <a:gd name="T41" fmla="*/ 5 h 49"/>
              <a:gd name="T42" fmla="*/ 15 w 44"/>
              <a:gd name="T43" fmla="*/ 5 h 49"/>
              <a:gd name="T44" fmla="*/ 18 w 44"/>
              <a:gd name="T45" fmla="*/ 7 h 49"/>
              <a:gd name="T46" fmla="*/ 22 w 44"/>
              <a:gd name="T47" fmla="*/ 17 h 49"/>
              <a:gd name="T48" fmla="*/ 28 w 44"/>
              <a:gd name="T49" fmla="*/ 24 h 49"/>
              <a:gd name="T50" fmla="*/ 37 w 44"/>
              <a:gd name="T51" fmla="*/ 31 h 49"/>
              <a:gd name="T52" fmla="*/ 37 w 44"/>
              <a:gd name="T53" fmla="*/ 31 h 49"/>
              <a:gd name="T54" fmla="*/ 37 w 44"/>
              <a:gd name="T55" fmla="*/ 31 h 49"/>
              <a:gd name="T56" fmla="*/ 41 w 44"/>
              <a:gd name="T57" fmla="*/ 31 h 49"/>
              <a:gd name="T58" fmla="*/ 43 w 44"/>
              <a:gd name="T59" fmla="*/ 31 h 49"/>
              <a:gd name="T60" fmla="*/ 38 w 44"/>
              <a:gd name="T61" fmla="*/ 27 h 49"/>
              <a:gd name="T62" fmla="*/ 37 w 44"/>
              <a:gd name="T63" fmla="*/ 26 h 49"/>
              <a:gd name="T64" fmla="*/ 24 w 44"/>
              <a:gd name="T65" fmla="*/ 9 h 49"/>
              <a:gd name="T66" fmla="*/ 15 w 44"/>
              <a:gd name="T6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 h="49">
                <a:moveTo>
                  <a:pt x="41" y="37"/>
                </a:moveTo>
                <a:cubicBezTo>
                  <a:pt x="41" y="37"/>
                  <a:pt x="41" y="37"/>
                  <a:pt x="41" y="37"/>
                </a:cubicBezTo>
                <a:cubicBezTo>
                  <a:pt x="36" y="37"/>
                  <a:pt x="31" y="37"/>
                  <a:pt x="27" y="38"/>
                </a:cubicBezTo>
                <a:cubicBezTo>
                  <a:pt x="23" y="38"/>
                  <a:pt x="20" y="39"/>
                  <a:pt x="17" y="39"/>
                </a:cubicBezTo>
                <a:cubicBezTo>
                  <a:pt x="17" y="39"/>
                  <a:pt x="16" y="39"/>
                  <a:pt x="16" y="40"/>
                </a:cubicBezTo>
                <a:cubicBezTo>
                  <a:pt x="21" y="44"/>
                  <a:pt x="26" y="47"/>
                  <a:pt x="27" y="47"/>
                </a:cubicBezTo>
                <a:cubicBezTo>
                  <a:pt x="28" y="48"/>
                  <a:pt x="30" y="49"/>
                  <a:pt x="32" y="49"/>
                </a:cubicBezTo>
                <a:cubicBezTo>
                  <a:pt x="37" y="49"/>
                  <a:pt x="41" y="47"/>
                  <a:pt x="43" y="43"/>
                </a:cubicBezTo>
                <a:cubicBezTo>
                  <a:pt x="44" y="41"/>
                  <a:pt x="44" y="39"/>
                  <a:pt x="44" y="37"/>
                </a:cubicBezTo>
                <a:cubicBezTo>
                  <a:pt x="43" y="37"/>
                  <a:pt x="42" y="37"/>
                  <a:pt x="41" y="37"/>
                </a:cubicBezTo>
                <a:moveTo>
                  <a:pt x="15" y="0"/>
                </a:moveTo>
                <a:cubicBezTo>
                  <a:pt x="11" y="1"/>
                  <a:pt x="7" y="2"/>
                  <a:pt x="5" y="2"/>
                </a:cubicBezTo>
                <a:cubicBezTo>
                  <a:pt x="2" y="5"/>
                  <a:pt x="0" y="9"/>
                  <a:pt x="1" y="14"/>
                </a:cubicBezTo>
                <a:cubicBezTo>
                  <a:pt x="2" y="20"/>
                  <a:pt x="4" y="25"/>
                  <a:pt x="7" y="29"/>
                </a:cubicBezTo>
                <a:cubicBezTo>
                  <a:pt x="9" y="31"/>
                  <a:pt x="10" y="33"/>
                  <a:pt x="11" y="35"/>
                </a:cubicBezTo>
                <a:cubicBezTo>
                  <a:pt x="13" y="34"/>
                  <a:pt x="14" y="34"/>
                  <a:pt x="15" y="34"/>
                </a:cubicBezTo>
                <a:cubicBezTo>
                  <a:pt x="18" y="33"/>
                  <a:pt x="20" y="32"/>
                  <a:pt x="23" y="32"/>
                </a:cubicBezTo>
                <a:cubicBezTo>
                  <a:pt x="24" y="32"/>
                  <a:pt x="26" y="32"/>
                  <a:pt x="28" y="31"/>
                </a:cubicBezTo>
                <a:cubicBezTo>
                  <a:pt x="25" y="29"/>
                  <a:pt x="21" y="25"/>
                  <a:pt x="17" y="20"/>
                </a:cubicBezTo>
                <a:cubicBezTo>
                  <a:pt x="15" y="17"/>
                  <a:pt x="13" y="13"/>
                  <a:pt x="13" y="8"/>
                </a:cubicBezTo>
                <a:cubicBezTo>
                  <a:pt x="12" y="7"/>
                  <a:pt x="13" y="5"/>
                  <a:pt x="15" y="5"/>
                </a:cubicBezTo>
                <a:cubicBezTo>
                  <a:pt x="15" y="5"/>
                  <a:pt x="15" y="5"/>
                  <a:pt x="15" y="5"/>
                </a:cubicBezTo>
                <a:cubicBezTo>
                  <a:pt x="17" y="5"/>
                  <a:pt x="18" y="6"/>
                  <a:pt x="18" y="7"/>
                </a:cubicBezTo>
                <a:cubicBezTo>
                  <a:pt x="19" y="11"/>
                  <a:pt x="20" y="14"/>
                  <a:pt x="22" y="17"/>
                </a:cubicBezTo>
                <a:cubicBezTo>
                  <a:pt x="24" y="20"/>
                  <a:pt x="26" y="22"/>
                  <a:pt x="28" y="24"/>
                </a:cubicBezTo>
                <a:cubicBezTo>
                  <a:pt x="33" y="28"/>
                  <a:pt x="37" y="31"/>
                  <a:pt x="37" y="31"/>
                </a:cubicBezTo>
                <a:cubicBezTo>
                  <a:pt x="37" y="31"/>
                  <a:pt x="37" y="31"/>
                  <a:pt x="37" y="31"/>
                </a:cubicBezTo>
                <a:cubicBezTo>
                  <a:pt x="37" y="31"/>
                  <a:pt x="37" y="31"/>
                  <a:pt x="37" y="31"/>
                </a:cubicBezTo>
                <a:cubicBezTo>
                  <a:pt x="39" y="31"/>
                  <a:pt x="40" y="31"/>
                  <a:pt x="41" y="31"/>
                </a:cubicBezTo>
                <a:cubicBezTo>
                  <a:pt x="41" y="31"/>
                  <a:pt x="42" y="31"/>
                  <a:pt x="43" y="31"/>
                </a:cubicBezTo>
                <a:cubicBezTo>
                  <a:pt x="42" y="29"/>
                  <a:pt x="40" y="28"/>
                  <a:pt x="38" y="27"/>
                </a:cubicBezTo>
                <a:cubicBezTo>
                  <a:pt x="38" y="26"/>
                  <a:pt x="37" y="26"/>
                  <a:pt x="37" y="26"/>
                </a:cubicBezTo>
                <a:cubicBezTo>
                  <a:pt x="33" y="23"/>
                  <a:pt x="25" y="17"/>
                  <a:pt x="24" y="9"/>
                </a:cubicBezTo>
                <a:cubicBezTo>
                  <a:pt x="23" y="5"/>
                  <a:pt x="19" y="1"/>
                  <a:pt x="15"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7" name="Freeform 72"/>
          <p:cNvSpPr>
            <a:spLocks/>
          </p:cNvSpPr>
          <p:nvPr/>
        </p:nvSpPr>
        <p:spPr bwMode="auto">
          <a:xfrm>
            <a:off x="3613151" y="5000625"/>
            <a:ext cx="4763" cy="3175"/>
          </a:xfrm>
          <a:custGeom>
            <a:avLst/>
            <a:gdLst>
              <a:gd name="T0" fmla="*/ 3 w 3"/>
              <a:gd name="T1" fmla="*/ 0 h 2"/>
              <a:gd name="T2" fmla="*/ 3 w 3"/>
              <a:gd name="T3" fmla="*/ 0 h 2"/>
              <a:gd name="T4" fmla="*/ 0 w 3"/>
              <a:gd name="T5" fmla="*/ 1 h 2"/>
              <a:gd name="T6" fmla="*/ 2 w 3"/>
              <a:gd name="T7" fmla="*/ 2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0"/>
                  <a:pt x="3" y="0"/>
                  <a:pt x="3" y="0"/>
                </a:cubicBezTo>
                <a:cubicBezTo>
                  <a:pt x="2" y="0"/>
                  <a:pt x="1" y="1"/>
                  <a:pt x="0" y="1"/>
                </a:cubicBezTo>
                <a:cubicBezTo>
                  <a:pt x="1" y="2"/>
                  <a:pt x="2" y="2"/>
                  <a:pt x="2" y="2"/>
                </a:cubicBezTo>
                <a:cubicBezTo>
                  <a:pt x="2" y="2"/>
                  <a:pt x="2" y="2"/>
                  <a:pt x="3" y="0"/>
                </a:cubicBezTo>
              </a:path>
            </a:pathLst>
          </a:custGeom>
          <a:solidFill>
            <a:srgbClr val="DA81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8" name="Freeform 73"/>
          <p:cNvSpPr>
            <a:spLocks noEditPoints="1"/>
          </p:cNvSpPr>
          <p:nvPr/>
        </p:nvSpPr>
        <p:spPr bwMode="auto">
          <a:xfrm>
            <a:off x="3603626" y="5000625"/>
            <a:ext cx="109538" cy="103187"/>
          </a:xfrm>
          <a:custGeom>
            <a:avLst/>
            <a:gdLst>
              <a:gd name="T0" fmla="*/ 63 w 64"/>
              <a:gd name="T1" fmla="*/ 44 h 61"/>
              <a:gd name="T2" fmla="*/ 59 w 64"/>
              <a:gd name="T3" fmla="*/ 47 h 61"/>
              <a:gd name="T4" fmla="*/ 63 w 64"/>
              <a:gd name="T5" fmla="*/ 52 h 61"/>
              <a:gd name="T6" fmla="*/ 64 w 64"/>
              <a:gd name="T7" fmla="*/ 53 h 61"/>
              <a:gd name="T8" fmla="*/ 63 w 64"/>
              <a:gd name="T9" fmla="*/ 44 h 61"/>
              <a:gd name="T10" fmla="*/ 11 w 64"/>
              <a:gd name="T11" fmla="*/ 0 h 61"/>
              <a:gd name="T12" fmla="*/ 8 w 64"/>
              <a:gd name="T13" fmla="*/ 0 h 61"/>
              <a:gd name="T14" fmla="*/ 7 w 64"/>
              <a:gd name="T15" fmla="*/ 2 h 61"/>
              <a:gd name="T16" fmla="*/ 5 w 64"/>
              <a:gd name="T17" fmla="*/ 1 h 61"/>
              <a:gd name="T18" fmla="*/ 0 w 64"/>
              <a:gd name="T19" fmla="*/ 15 h 61"/>
              <a:gd name="T20" fmla="*/ 0 w 64"/>
              <a:gd name="T21" fmla="*/ 31 h 61"/>
              <a:gd name="T22" fmla="*/ 7 w 64"/>
              <a:gd name="T23" fmla="*/ 34 h 61"/>
              <a:gd name="T24" fmla="*/ 44 w 64"/>
              <a:gd name="T25" fmla="*/ 58 h 61"/>
              <a:gd name="T26" fmla="*/ 45 w 64"/>
              <a:gd name="T27" fmla="*/ 59 h 61"/>
              <a:gd name="T28" fmla="*/ 52 w 64"/>
              <a:gd name="T29" fmla="*/ 61 h 61"/>
              <a:gd name="T30" fmla="*/ 60 w 64"/>
              <a:gd name="T31" fmla="*/ 59 h 61"/>
              <a:gd name="T32" fmla="*/ 53 w 64"/>
              <a:gd name="T33" fmla="*/ 48 h 61"/>
              <a:gd name="T34" fmla="*/ 53 w 64"/>
              <a:gd name="T35" fmla="*/ 48 h 61"/>
              <a:gd name="T36" fmla="*/ 51 w 64"/>
              <a:gd name="T37" fmla="*/ 47 h 61"/>
              <a:gd name="T38" fmla="*/ 45 w 64"/>
              <a:gd name="T39" fmla="*/ 42 h 61"/>
              <a:gd name="T40" fmla="*/ 28 w 64"/>
              <a:gd name="T41" fmla="*/ 30 h 61"/>
              <a:gd name="T42" fmla="*/ 17 w 64"/>
              <a:gd name="T43" fmla="*/ 24 h 61"/>
              <a:gd name="T44" fmla="*/ 13 w 64"/>
              <a:gd name="T45" fmla="*/ 22 h 61"/>
              <a:gd name="T46" fmla="*/ 11 w 64"/>
              <a:gd name="T47" fmla="*/ 21 h 61"/>
              <a:gd name="T48" fmla="*/ 10 w 64"/>
              <a:gd name="T49" fmla="*/ 5 h 61"/>
              <a:gd name="T50" fmla="*/ 12 w 64"/>
              <a:gd name="T51" fmla="*/ 2 h 61"/>
              <a:gd name="T52" fmla="*/ 13 w 64"/>
              <a:gd name="T53" fmla="*/ 2 h 61"/>
              <a:gd name="T54" fmla="*/ 16 w 64"/>
              <a:gd name="T55" fmla="*/ 4 h 61"/>
              <a:gd name="T56" fmla="*/ 17 w 64"/>
              <a:gd name="T57" fmla="*/ 17 h 61"/>
              <a:gd name="T58" fmla="*/ 20 w 64"/>
              <a:gd name="T59" fmla="*/ 19 h 61"/>
              <a:gd name="T60" fmla="*/ 26 w 64"/>
              <a:gd name="T61" fmla="*/ 22 h 61"/>
              <a:gd name="T62" fmla="*/ 40 w 64"/>
              <a:gd name="T63" fmla="*/ 31 h 61"/>
              <a:gd name="T64" fmla="*/ 55 w 64"/>
              <a:gd name="T65" fmla="*/ 42 h 61"/>
              <a:gd name="T66" fmla="*/ 56 w 64"/>
              <a:gd name="T67" fmla="*/ 42 h 61"/>
              <a:gd name="T68" fmla="*/ 59 w 64"/>
              <a:gd name="T69" fmla="*/ 40 h 61"/>
              <a:gd name="T70" fmla="*/ 52 w 64"/>
              <a:gd name="T71" fmla="*/ 35 h 61"/>
              <a:gd name="T72" fmla="*/ 22 w 64"/>
              <a:gd name="T73" fmla="*/ 15 h 61"/>
              <a:gd name="T74" fmla="*/ 21 w 64"/>
              <a:gd name="T75" fmla="*/ 7 h 61"/>
              <a:gd name="T76" fmla="*/ 11 w 64"/>
              <a:gd name="T7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4" h="61">
                <a:moveTo>
                  <a:pt x="63" y="44"/>
                </a:moveTo>
                <a:cubicBezTo>
                  <a:pt x="61" y="45"/>
                  <a:pt x="60" y="46"/>
                  <a:pt x="59" y="47"/>
                </a:cubicBezTo>
                <a:cubicBezTo>
                  <a:pt x="60" y="48"/>
                  <a:pt x="62" y="50"/>
                  <a:pt x="63" y="52"/>
                </a:cubicBezTo>
                <a:cubicBezTo>
                  <a:pt x="63" y="52"/>
                  <a:pt x="63" y="53"/>
                  <a:pt x="64" y="53"/>
                </a:cubicBezTo>
                <a:cubicBezTo>
                  <a:pt x="64" y="50"/>
                  <a:pt x="64" y="47"/>
                  <a:pt x="63" y="44"/>
                </a:cubicBezTo>
                <a:moveTo>
                  <a:pt x="11" y="0"/>
                </a:moveTo>
                <a:cubicBezTo>
                  <a:pt x="10" y="0"/>
                  <a:pt x="9" y="0"/>
                  <a:pt x="8" y="0"/>
                </a:cubicBezTo>
                <a:cubicBezTo>
                  <a:pt x="7" y="2"/>
                  <a:pt x="7" y="2"/>
                  <a:pt x="7" y="2"/>
                </a:cubicBezTo>
                <a:cubicBezTo>
                  <a:pt x="7" y="2"/>
                  <a:pt x="6" y="2"/>
                  <a:pt x="5" y="1"/>
                </a:cubicBezTo>
                <a:cubicBezTo>
                  <a:pt x="1" y="4"/>
                  <a:pt x="0" y="9"/>
                  <a:pt x="0" y="15"/>
                </a:cubicBezTo>
                <a:cubicBezTo>
                  <a:pt x="0" y="31"/>
                  <a:pt x="0" y="31"/>
                  <a:pt x="0" y="31"/>
                </a:cubicBezTo>
                <a:cubicBezTo>
                  <a:pt x="7" y="34"/>
                  <a:pt x="7" y="34"/>
                  <a:pt x="7" y="34"/>
                </a:cubicBezTo>
                <a:cubicBezTo>
                  <a:pt x="11" y="36"/>
                  <a:pt x="29" y="47"/>
                  <a:pt x="44" y="58"/>
                </a:cubicBezTo>
                <a:cubicBezTo>
                  <a:pt x="44" y="58"/>
                  <a:pt x="45" y="59"/>
                  <a:pt x="45" y="59"/>
                </a:cubicBezTo>
                <a:cubicBezTo>
                  <a:pt x="47" y="61"/>
                  <a:pt x="50" y="61"/>
                  <a:pt x="52" y="61"/>
                </a:cubicBezTo>
                <a:cubicBezTo>
                  <a:pt x="55" y="61"/>
                  <a:pt x="58" y="60"/>
                  <a:pt x="60" y="59"/>
                </a:cubicBezTo>
                <a:cubicBezTo>
                  <a:pt x="57" y="53"/>
                  <a:pt x="54" y="49"/>
                  <a:pt x="53" y="48"/>
                </a:cubicBezTo>
                <a:cubicBezTo>
                  <a:pt x="53" y="48"/>
                  <a:pt x="53" y="48"/>
                  <a:pt x="53" y="48"/>
                </a:cubicBezTo>
                <a:cubicBezTo>
                  <a:pt x="52" y="48"/>
                  <a:pt x="52" y="47"/>
                  <a:pt x="51" y="47"/>
                </a:cubicBezTo>
                <a:cubicBezTo>
                  <a:pt x="50" y="46"/>
                  <a:pt x="48" y="44"/>
                  <a:pt x="45" y="42"/>
                </a:cubicBezTo>
                <a:cubicBezTo>
                  <a:pt x="40" y="39"/>
                  <a:pt x="34" y="34"/>
                  <a:pt x="28" y="30"/>
                </a:cubicBezTo>
                <a:cubicBezTo>
                  <a:pt x="24" y="28"/>
                  <a:pt x="20" y="25"/>
                  <a:pt x="17" y="24"/>
                </a:cubicBezTo>
                <a:cubicBezTo>
                  <a:pt x="15" y="23"/>
                  <a:pt x="14" y="22"/>
                  <a:pt x="13" y="22"/>
                </a:cubicBezTo>
                <a:cubicBezTo>
                  <a:pt x="11" y="21"/>
                  <a:pt x="11" y="21"/>
                  <a:pt x="11" y="21"/>
                </a:cubicBezTo>
                <a:cubicBezTo>
                  <a:pt x="10" y="5"/>
                  <a:pt x="10" y="5"/>
                  <a:pt x="10" y="5"/>
                </a:cubicBezTo>
                <a:cubicBezTo>
                  <a:pt x="10" y="3"/>
                  <a:pt x="11" y="2"/>
                  <a:pt x="12" y="2"/>
                </a:cubicBezTo>
                <a:cubicBezTo>
                  <a:pt x="13" y="2"/>
                  <a:pt x="13" y="2"/>
                  <a:pt x="13" y="2"/>
                </a:cubicBezTo>
                <a:cubicBezTo>
                  <a:pt x="14" y="2"/>
                  <a:pt x="16" y="3"/>
                  <a:pt x="16" y="4"/>
                </a:cubicBezTo>
                <a:cubicBezTo>
                  <a:pt x="17" y="17"/>
                  <a:pt x="17" y="17"/>
                  <a:pt x="17" y="17"/>
                </a:cubicBezTo>
                <a:cubicBezTo>
                  <a:pt x="18" y="17"/>
                  <a:pt x="19" y="18"/>
                  <a:pt x="20" y="19"/>
                </a:cubicBezTo>
                <a:cubicBezTo>
                  <a:pt x="22" y="20"/>
                  <a:pt x="24" y="21"/>
                  <a:pt x="26" y="22"/>
                </a:cubicBezTo>
                <a:cubicBezTo>
                  <a:pt x="30" y="25"/>
                  <a:pt x="35" y="28"/>
                  <a:pt x="40" y="31"/>
                </a:cubicBezTo>
                <a:cubicBezTo>
                  <a:pt x="46" y="36"/>
                  <a:pt x="52" y="40"/>
                  <a:pt x="55" y="42"/>
                </a:cubicBezTo>
                <a:cubicBezTo>
                  <a:pt x="55" y="42"/>
                  <a:pt x="56" y="42"/>
                  <a:pt x="56" y="42"/>
                </a:cubicBezTo>
                <a:cubicBezTo>
                  <a:pt x="57" y="41"/>
                  <a:pt x="58" y="40"/>
                  <a:pt x="59" y="40"/>
                </a:cubicBezTo>
                <a:cubicBezTo>
                  <a:pt x="58" y="39"/>
                  <a:pt x="55" y="37"/>
                  <a:pt x="52" y="35"/>
                </a:cubicBezTo>
                <a:cubicBezTo>
                  <a:pt x="44" y="29"/>
                  <a:pt x="31" y="20"/>
                  <a:pt x="22" y="15"/>
                </a:cubicBezTo>
                <a:cubicBezTo>
                  <a:pt x="21" y="7"/>
                  <a:pt x="21" y="7"/>
                  <a:pt x="21" y="7"/>
                </a:cubicBezTo>
                <a:cubicBezTo>
                  <a:pt x="21" y="2"/>
                  <a:pt x="17" y="0"/>
                  <a:pt x="11"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9" name="Freeform 74"/>
          <p:cNvSpPr>
            <a:spLocks noEditPoints="1"/>
          </p:cNvSpPr>
          <p:nvPr/>
        </p:nvSpPr>
        <p:spPr bwMode="auto">
          <a:xfrm>
            <a:off x="3259138" y="5324475"/>
            <a:ext cx="73025" cy="50800"/>
          </a:xfrm>
          <a:custGeom>
            <a:avLst/>
            <a:gdLst>
              <a:gd name="T0" fmla="*/ 43 w 43"/>
              <a:gd name="T1" fmla="*/ 16 h 30"/>
              <a:gd name="T2" fmla="*/ 38 w 43"/>
              <a:gd name="T3" fmla="*/ 17 h 30"/>
              <a:gd name="T4" fmla="*/ 39 w 43"/>
              <a:gd name="T5" fmla="*/ 23 h 30"/>
              <a:gd name="T6" fmla="*/ 40 w 43"/>
              <a:gd name="T7" fmla="*/ 27 h 30"/>
              <a:gd name="T8" fmla="*/ 43 w 43"/>
              <a:gd name="T9" fmla="*/ 22 h 30"/>
              <a:gd name="T10" fmla="*/ 43 w 43"/>
              <a:gd name="T11" fmla="*/ 16 h 30"/>
              <a:gd name="T12" fmla="*/ 13 w 43"/>
              <a:gd name="T13" fmla="*/ 0 h 30"/>
              <a:gd name="T14" fmla="*/ 2 w 43"/>
              <a:gd name="T15" fmla="*/ 8 h 30"/>
              <a:gd name="T16" fmla="*/ 10 w 43"/>
              <a:gd name="T17" fmla="*/ 23 h 30"/>
              <a:gd name="T18" fmla="*/ 21 w 43"/>
              <a:gd name="T19" fmla="*/ 28 h 30"/>
              <a:gd name="T20" fmla="*/ 27 w 43"/>
              <a:gd name="T21" fmla="*/ 30 h 30"/>
              <a:gd name="T22" fmla="*/ 31 w 43"/>
              <a:gd name="T23" fmla="*/ 30 h 30"/>
              <a:gd name="T24" fmla="*/ 34 w 43"/>
              <a:gd name="T25" fmla="*/ 30 h 30"/>
              <a:gd name="T26" fmla="*/ 33 w 43"/>
              <a:gd name="T27" fmla="*/ 24 h 30"/>
              <a:gd name="T28" fmla="*/ 32 w 43"/>
              <a:gd name="T29" fmla="*/ 17 h 30"/>
              <a:gd name="T30" fmla="*/ 16 w 43"/>
              <a:gd name="T31" fmla="*/ 11 h 30"/>
              <a:gd name="T32" fmla="*/ 14 w 43"/>
              <a:gd name="T33" fmla="*/ 8 h 30"/>
              <a:gd name="T34" fmla="*/ 17 w 43"/>
              <a:gd name="T35" fmla="*/ 6 h 30"/>
              <a:gd name="T36" fmla="*/ 18 w 43"/>
              <a:gd name="T37" fmla="*/ 6 h 30"/>
              <a:gd name="T38" fmla="*/ 35 w 43"/>
              <a:gd name="T39" fmla="*/ 12 h 30"/>
              <a:gd name="T40" fmla="*/ 37 w 43"/>
              <a:gd name="T41" fmla="*/ 11 h 30"/>
              <a:gd name="T42" fmla="*/ 40 w 43"/>
              <a:gd name="T43" fmla="*/ 10 h 30"/>
              <a:gd name="T44" fmla="*/ 35 w 43"/>
              <a:gd name="T45" fmla="*/ 7 h 30"/>
              <a:gd name="T46" fmla="*/ 32 w 43"/>
              <a:gd name="T47" fmla="*/ 6 h 30"/>
              <a:gd name="T48" fmla="*/ 17 w 43"/>
              <a:gd name="T49" fmla="*/ 1 h 30"/>
              <a:gd name="T50" fmla="*/ 13 w 43"/>
              <a:gd name="T51"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3" h="30">
                <a:moveTo>
                  <a:pt x="43" y="16"/>
                </a:moveTo>
                <a:cubicBezTo>
                  <a:pt x="41" y="16"/>
                  <a:pt x="40" y="17"/>
                  <a:pt x="38" y="17"/>
                </a:cubicBezTo>
                <a:cubicBezTo>
                  <a:pt x="39" y="19"/>
                  <a:pt x="39" y="21"/>
                  <a:pt x="39" y="23"/>
                </a:cubicBezTo>
                <a:cubicBezTo>
                  <a:pt x="40" y="25"/>
                  <a:pt x="40" y="26"/>
                  <a:pt x="40" y="27"/>
                </a:cubicBezTo>
                <a:cubicBezTo>
                  <a:pt x="41" y="26"/>
                  <a:pt x="42" y="24"/>
                  <a:pt x="43" y="22"/>
                </a:cubicBezTo>
                <a:cubicBezTo>
                  <a:pt x="43" y="20"/>
                  <a:pt x="43" y="18"/>
                  <a:pt x="43" y="16"/>
                </a:cubicBezTo>
                <a:moveTo>
                  <a:pt x="13" y="0"/>
                </a:moveTo>
                <a:cubicBezTo>
                  <a:pt x="8" y="0"/>
                  <a:pt x="4" y="3"/>
                  <a:pt x="2" y="8"/>
                </a:cubicBezTo>
                <a:cubicBezTo>
                  <a:pt x="0" y="15"/>
                  <a:pt x="3" y="21"/>
                  <a:pt x="10" y="23"/>
                </a:cubicBezTo>
                <a:cubicBezTo>
                  <a:pt x="21" y="28"/>
                  <a:pt x="21" y="28"/>
                  <a:pt x="21" y="28"/>
                </a:cubicBezTo>
                <a:cubicBezTo>
                  <a:pt x="27" y="30"/>
                  <a:pt x="27" y="30"/>
                  <a:pt x="27" y="30"/>
                </a:cubicBezTo>
                <a:cubicBezTo>
                  <a:pt x="29" y="30"/>
                  <a:pt x="30" y="30"/>
                  <a:pt x="31" y="30"/>
                </a:cubicBezTo>
                <a:cubicBezTo>
                  <a:pt x="32" y="30"/>
                  <a:pt x="33" y="30"/>
                  <a:pt x="34" y="30"/>
                </a:cubicBezTo>
                <a:cubicBezTo>
                  <a:pt x="34" y="28"/>
                  <a:pt x="34" y="26"/>
                  <a:pt x="33" y="24"/>
                </a:cubicBezTo>
                <a:cubicBezTo>
                  <a:pt x="33" y="21"/>
                  <a:pt x="33" y="19"/>
                  <a:pt x="32" y="17"/>
                </a:cubicBezTo>
                <a:cubicBezTo>
                  <a:pt x="16" y="11"/>
                  <a:pt x="16" y="11"/>
                  <a:pt x="16" y="11"/>
                </a:cubicBezTo>
                <a:cubicBezTo>
                  <a:pt x="14" y="11"/>
                  <a:pt x="13" y="9"/>
                  <a:pt x="14" y="8"/>
                </a:cubicBezTo>
                <a:cubicBezTo>
                  <a:pt x="14" y="6"/>
                  <a:pt x="15" y="6"/>
                  <a:pt x="17" y="6"/>
                </a:cubicBezTo>
                <a:cubicBezTo>
                  <a:pt x="17" y="6"/>
                  <a:pt x="17" y="6"/>
                  <a:pt x="18" y="6"/>
                </a:cubicBezTo>
                <a:cubicBezTo>
                  <a:pt x="35" y="12"/>
                  <a:pt x="35" y="12"/>
                  <a:pt x="35" y="12"/>
                </a:cubicBezTo>
                <a:cubicBezTo>
                  <a:pt x="35" y="12"/>
                  <a:pt x="36" y="11"/>
                  <a:pt x="37" y="11"/>
                </a:cubicBezTo>
                <a:cubicBezTo>
                  <a:pt x="38" y="11"/>
                  <a:pt x="39" y="11"/>
                  <a:pt x="40" y="10"/>
                </a:cubicBezTo>
                <a:cubicBezTo>
                  <a:pt x="39" y="9"/>
                  <a:pt x="37" y="8"/>
                  <a:pt x="35" y="7"/>
                </a:cubicBezTo>
                <a:cubicBezTo>
                  <a:pt x="32" y="6"/>
                  <a:pt x="32" y="6"/>
                  <a:pt x="32" y="6"/>
                </a:cubicBezTo>
                <a:cubicBezTo>
                  <a:pt x="17" y="1"/>
                  <a:pt x="17" y="1"/>
                  <a:pt x="17" y="1"/>
                </a:cubicBezTo>
                <a:cubicBezTo>
                  <a:pt x="16" y="0"/>
                  <a:pt x="15" y="0"/>
                  <a:pt x="13" y="0"/>
                </a:cubicBezTo>
              </a:path>
            </a:pathLst>
          </a:custGeom>
          <a:solidFill>
            <a:srgbClr val="D58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0" name="Freeform 75"/>
          <p:cNvSpPr>
            <a:spLocks noEditPoints="1"/>
          </p:cNvSpPr>
          <p:nvPr/>
        </p:nvSpPr>
        <p:spPr bwMode="auto">
          <a:xfrm>
            <a:off x="3279776" y="5440363"/>
            <a:ext cx="269875" cy="152400"/>
          </a:xfrm>
          <a:custGeom>
            <a:avLst/>
            <a:gdLst>
              <a:gd name="T0" fmla="*/ 156 w 159"/>
              <a:gd name="T1" fmla="*/ 84 h 90"/>
              <a:gd name="T2" fmla="*/ 156 w 159"/>
              <a:gd name="T3" fmla="*/ 84 h 90"/>
              <a:gd name="T4" fmla="*/ 152 w 159"/>
              <a:gd name="T5" fmla="*/ 84 h 90"/>
              <a:gd name="T6" fmla="*/ 145 w 159"/>
              <a:gd name="T7" fmla="*/ 84 h 90"/>
              <a:gd name="T8" fmla="*/ 147 w 159"/>
              <a:gd name="T9" fmla="*/ 87 h 90"/>
              <a:gd name="T10" fmla="*/ 149 w 159"/>
              <a:gd name="T11" fmla="*/ 90 h 90"/>
              <a:gd name="T12" fmla="*/ 156 w 159"/>
              <a:gd name="T13" fmla="*/ 90 h 90"/>
              <a:gd name="T14" fmla="*/ 159 w 159"/>
              <a:gd name="T15" fmla="*/ 87 h 90"/>
              <a:gd name="T16" fmla="*/ 156 w 159"/>
              <a:gd name="T17" fmla="*/ 84 h 90"/>
              <a:gd name="T18" fmla="*/ 13 w 159"/>
              <a:gd name="T19" fmla="*/ 0 h 90"/>
              <a:gd name="T20" fmla="*/ 11 w 159"/>
              <a:gd name="T21" fmla="*/ 1 h 90"/>
              <a:gd name="T22" fmla="*/ 10 w 159"/>
              <a:gd name="T23" fmla="*/ 5 h 90"/>
              <a:gd name="T24" fmla="*/ 11 w 159"/>
              <a:gd name="T25" fmla="*/ 10 h 90"/>
              <a:gd name="T26" fmla="*/ 10 w 159"/>
              <a:gd name="T27" fmla="*/ 15 h 90"/>
              <a:gd name="T28" fmla="*/ 4 w 159"/>
              <a:gd name="T29" fmla="*/ 27 h 90"/>
              <a:gd name="T30" fmla="*/ 0 w 159"/>
              <a:gd name="T31" fmla="*/ 42 h 90"/>
              <a:gd name="T32" fmla="*/ 2 w 159"/>
              <a:gd name="T33" fmla="*/ 50 h 90"/>
              <a:gd name="T34" fmla="*/ 12 w 159"/>
              <a:gd name="T35" fmla="*/ 62 h 90"/>
              <a:gd name="T36" fmla="*/ 34 w 159"/>
              <a:gd name="T37" fmla="*/ 77 h 90"/>
              <a:gd name="T38" fmla="*/ 45 w 159"/>
              <a:gd name="T39" fmla="*/ 81 h 90"/>
              <a:gd name="T40" fmla="*/ 53 w 159"/>
              <a:gd name="T41" fmla="*/ 83 h 90"/>
              <a:gd name="T42" fmla="*/ 74 w 159"/>
              <a:gd name="T43" fmla="*/ 86 h 90"/>
              <a:gd name="T44" fmla="*/ 95 w 159"/>
              <a:gd name="T45" fmla="*/ 90 h 90"/>
              <a:gd name="T46" fmla="*/ 103 w 159"/>
              <a:gd name="T47" fmla="*/ 90 h 90"/>
              <a:gd name="T48" fmla="*/ 116 w 159"/>
              <a:gd name="T49" fmla="*/ 90 h 90"/>
              <a:gd name="T50" fmla="*/ 125 w 159"/>
              <a:gd name="T51" fmla="*/ 90 h 90"/>
              <a:gd name="T52" fmla="*/ 128 w 159"/>
              <a:gd name="T53" fmla="*/ 84 h 90"/>
              <a:gd name="T54" fmla="*/ 116 w 159"/>
              <a:gd name="T55" fmla="*/ 84 h 90"/>
              <a:gd name="T56" fmla="*/ 103 w 159"/>
              <a:gd name="T57" fmla="*/ 84 h 90"/>
              <a:gd name="T58" fmla="*/ 95 w 159"/>
              <a:gd name="T59" fmla="*/ 84 h 90"/>
              <a:gd name="T60" fmla="*/ 75 w 159"/>
              <a:gd name="T61" fmla="*/ 81 h 90"/>
              <a:gd name="T62" fmla="*/ 54 w 159"/>
              <a:gd name="T63" fmla="*/ 77 h 90"/>
              <a:gd name="T64" fmla="*/ 49 w 159"/>
              <a:gd name="T65" fmla="*/ 76 h 90"/>
              <a:gd name="T66" fmla="*/ 36 w 159"/>
              <a:gd name="T67" fmla="*/ 71 h 90"/>
              <a:gd name="T68" fmla="*/ 15 w 159"/>
              <a:gd name="T69" fmla="*/ 57 h 90"/>
              <a:gd name="T70" fmla="*/ 8 w 159"/>
              <a:gd name="T71" fmla="*/ 49 h 90"/>
              <a:gd name="T72" fmla="*/ 6 w 159"/>
              <a:gd name="T73" fmla="*/ 42 h 90"/>
              <a:gd name="T74" fmla="*/ 7 w 159"/>
              <a:gd name="T75" fmla="*/ 33 h 90"/>
              <a:gd name="T76" fmla="*/ 13 w 159"/>
              <a:gd name="T77" fmla="*/ 22 h 90"/>
              <a:gd name="T78" fmla="*/ 16 w 159"/>
              <a:gd name="T79" fmla="*/ 16 h 90"/>
              <a:gd name="T80" fmla="*/ 17 w 159"/>
              <a:gd name="T81" fmla="*/ 10 h 90"/>
              <a:gd name="T82" fmla="*/ 15 w 159"/>
              <a:gd name="T83" fmla="*/ 2 h 90"/>
              <a:gd name="T84" fmla="*/ 13 w 159"/>
              <a:gd name="T8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9" h="90">
                <a:moveTo>
                  <a:pt x="156" y="84"/>
                </a:moveTo>
                <a:cubicBezTo>
                  <a:pt x="156" y="84"/>
                  <a:pt x="156" y="84"/>
                  <a:pt x="156" y="84"/>
                </a:cubicBezTo>
                <a:cubicBezTo>
                  <a:pt x="156" y="84"/>
                  <a:pt x="154" y="84"/>
                  <a:pt x="152" y="84"/>
                </a:cubicBezTo>
                <a:cubicBezTo>
                  <a:pt x="150" y="84"/>
                  <a:pt x="148" y="84"/>
                  <a:pt x="145" y="84"/>
                </a:cubicBezTo>
                <a:cubicBezTo>
                  <a:pt x="146" y="85"/>
                  <a:pt x="146" y="86"/>
                  <a:pt x="147" y="87"/>
                </a:cubicBezTo>
                <a:cubicBezTo>
                  <a:pt x="147" y="88"/>
                  <a:pt x="148" y="89"/>
                  <a:pt x="149" y="90"/>
                </a:cubicBezTo>
                <a:cubicBezTo>
                  <a:pt x="153" y="90"/>
                  <a:pt x="156" y="90"/>
                  <a:pt x="156" y="90"/>
                </a:cubicBezTo>
                <a:cubicBezTo>
                  <a:pt x="157" y="90"/>
                  <a:pt x="159" y="89"/>
                  <a:pt x="159" y="87"/>
                </a:cubicBezTo>
                <a:cubicBezTo>
                  <a:pt x="159" y="85"/>
                  <a:pt x="157" y="84"/>
                  <a:pt x="156" y="84"/>
                </a:cubicBezTo>
                <a:moveTo>
                  <a:pt x="13" y="0"/>
                </a:moveTo>
                <a:cubicBezTo>
                  <a:pt x="12" y="0"/>
                  <a:pt x="12" y="1"/>
                  <a:pt x="11" y="1"/>
                </a:cubicBezTo>
                <a:cubicBezTo>
                  <a:pt x="10" y="2"/>
                  <a:pt x="9" y="3"/>
                  <a:pt x="10" y="5"/>
                </a:cubicBezTo>
                <a:cubicBezTo>
                  <a:pt x="11" y="7"/>
                  <a:pt x="11" y="8"/>
                  <a:pt x="11" y="10"/>
                </a:cubicBezTo>
                <a:cubicBezTo>
                  <a:pt x="11" y="11"/>
                  <a:pt x="11" y="13"/>
                  <a:pt x="10" y="15"/>
                </a:cubicBezTo>
                <a:cubicBezTo>
                  <a:pt x="8" y="19"/>
                  <a:pt x="6" y="22"/>
                  <a:pt x="4" y="27"/>
                </a:cubicBezTo>
                <a:cubicBezTo>
                  <a:pt x="1" y="31"/>
                  <a:pt x="0" y="36"/>
                  <a:pt x="0" y="42"/>
                </a:cubicBezTo>
                <a:cubicBezTo>
                  <a:pt x="0" y="45"/>
                  <a:pt x="0" y="48"/>
                  <a:pt x="2" y="50"/>
                </a:cubicBezTo>
                <a:cubicBezTo>
                  <a:pt x="4" y="55"/>
                  <a:pt x="8" y="59"/>
                  <a:pt x="12" y="62"/>
                </a:cubicBezTo>
                <a:cubicBezTo>
                  <a:pt x="19" y="68"/>
                  <a:pt x="27" y="73"/>
                  <a:pt x="34" y="77"/>
                </a:cubicBezTo>
                <a:cubicBezTo>
                  <a:pt x="38" y="78"/>
                  <a:pt x="42" y="80"/>
                  <a:pt x="45" y="81"/>
                </a:cubicBezTo>
                <a:cubicBezTo>
                  <a:pt x="48" y="82"/>
                  <a:pt x="51" y="83"/>
                  <a:pt x="53" y="83"/>
                </a:cubicBezTo>
                <a:cubicBezTo>
                  <a:pt x="58" y="83"/>
                  <a:pt x="66" y="85"/>
                  <a:pt x="74" y="86"/>
                </a:cubicBezTo>
                <a:cubicBezTo>
                  <a:pt x="81" y="88"/>
                  <a:pt x="89" y="89"/>
                  <a:pt x="95" y="90"/>
                </a:cubicBezTo>
                <a:cubicBezTo>
                  <a:pt x="97" y="90"/>
                  <a:pt x="100" y="90"/>
                  <a:pt x="103" y="90"/>
                </a:cubicBezTo>
                <a:cubicBezTo>
                  <a:pt x="107" y="90"/>
                  <a:pt x="111" y="90"/>
                  <a:pt x="116" y="90"/>
                </a:cubicBezTo>
                <a:cubicBezTo>
                  <a:pt x="119" y="90"/>
                  <a:pt x="122" y="90"/>
                  <a:pt x="125" y="90"/>
                </a:cubicBezTo>
                <a:cubicBezTo>
                  <a:pt x="125" y="88"/>
                  <a:pt x="126" y="86"/>
                  <a:pt x="128" y="84"/>
                </a:cubicBezTo>
                <a:cubicBezTo>
                  <a:pt x="124" y="84"/>
                  <a:pt x="120" y="84"/>
                  <a:pt x="116" y="84"/>
                </a:cubicBezTo>
                <a:cubicBezTo>
                  <a:pt x="111" y="84"/>
                  <a:pt x="107" y="84"/>
                  <a:pt x="103" y="84"/>
                </a:cubicBezTo>
                <a:cubicBezTo>
                  <a:pt x="100" y="84"/>
                  <a:pt x="97" y="84"/>
                  <a:pt x="95" y="84"/>
                </a:cubicBezTo>
                <a:cubicBezTo>
                  <a:pt x="90" y="83"/>
                  <a:pt x="82" y="82"/>
                  <a:pt x="75" y="81"/>
                </a:cubicBezTo>
                <a:cubicBezTo>
                  <a:pt x="67" y="79"/>
                  <a:pt x="59" y="78"/>
                  <a:pt x="54" y="77"/>
                </a:cubicBezTo>
                <a:cubicBezTo>
                  <a:pt x="53" y="77"/>
                  <a:pt x="51" y="77"/>
                  <a:pt x="49" y="76"/>
                </a:cubicBezTo>
                <a:cubicBezTo>
                  <a:pt x="45" y="75"/>
                  <a:pt x="41" y="73"/>
                  <a:pt x="36" y="71"/>
                </a:cubicBezTo>
                <a:cubicBezTo>
                  <a:pt x="29" y="67"/>
                  <a:pt x="21" y="62"/>
                  <a:pt x="15" y="57"/>
                </a:cubicBezTo>
                <a:cubicBezTo>
                  <a:pt x="12" y="55"/>
                  <a:pt x="10" y="52"/>
                  <a:pt x="8" y="49"/>
                </a:cubicBezTo>
                <a:cubicBezTo>
                  <a:pt x="6" y="47"/>
                  <a:pt x="6" y="44"/>
                  <a:pt x="6" y="42"/>
                </a:cubicBezTo>
                <a:cubicBezTo>
                  <a:pt x="6" y="39"/>
                  <a:pt x="6" y="36"/>
                  <a:pt x="7" y="33"/>
                </a:cubicBezTo>
                <a:cubicBezTo>
                  <a:pt x="9" y="29"/>
                  <a:pt x="11" y="25"/>
                  <a:pt x="13" y="22"/>
                </a:cubicBezTo>
                <a:cubicBezTo>
                  <a:pt x="14" y="20"/>
                  <a:pt x="15" y="18"/>
                  <a:pt x="16" y="16"/>
                </a:cubicBezTo>
                <a:cubicBezTo>
                  <a:pt x="17" y="14"/>
                  <a:pt x="17" y="12"/>
                  <a:pt x="17" y="10"/>
                </a:cubicBezTo>
                <a:cubicBezTo>
                  <a:pt x="17" y="7"/>
                  <a:pt x="17" y="5"/>
                  <a:pt x="15" y="2"/>
                </a:cubicBezTo>
                <a:cubicBezTo>
                  <a:pt x="15" y="1"/>
                  <a:pt x="14" y="0"/>
                  <a:pt x="1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1" name="Freeform 76"/>
          <p:cNvSpPr>
            <a:spLocks/>
          </p:cNvSpPr>
          <p:nvPr/>
        </p:nvSpPr>
        <p:spPr bwMode="auto">
          <a:xfrm>
            <a:off x="3492501" y="5581650"/>
            <a:ext cx="39688" cy="11112"/>
          </a:xfrm>
          <a:custGeom>
            <a:avLst/>
            <a:gdLst>
              <a:gd name="T0" fmla="*/ 20 w 24"/>
              <a:gd name="T1" fmla="*/ 0 h 6"/>
              <a:gd name="T2" fmla="*/ 3 w 24"/>
              <a:gd name="T3" fmla="*/ 0 h 6"/>
              <a:gd name="T4" fmla="*/ 0 w 24"/>
              <a:gd name="T5" fmla="*/ 6 h 6"/>
              <a:gd name="T6" fmla="*/ 12 w 24"/>
              <a:gd name="T7" fmla="*/ 6 h 6"/>
              <a:gd name="T8" fmla="*/ 13 w 24"/>
              <a:gd name="T9" fmla="*/ 2 h 6"/>
              <a:gd name="T10" fmla="*/ 15 w 24"/>
              <a:gd name="T11" fmla="*/ 2 h 6"/>
              <a:gd name="T12" fmla="*/ 17 w 24"/>
              <a:gd name="T13" fmla="*/ 3 h 6"/>
              <a:gd name="T14" fmla="*/ 19 w 24"/>
              <a:gd name="T15" fmla="*/ 6 h 6"/>
              <a:gd name="T16" fmla="*/ 24 w 24"/>
              <a:gd name="T17" fmla="*/ 6 h 6"/>
              <a:gd name="T18" fmla="*/ 22 w 24"/>
              <a:gd name="T19" fmla="*/ 3 h 6"/>
              <a:gd name="T20" fmla="*/ 20 w 24"/>
              <a:gd name="T21"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6">
                <a:moveTo>
                  <a:pt x="20" y="0"/>
                </a:moveTo>
                <a:cubicBezTo>
                  <a:pt x="15" y="0"/>
                  <a:pt x="9" y="0"/>
                  <a:pt x="3" y="0"/>
                </a:cubicBezTo>
                <a:cubicBezTo>
                  <a:pt x="1" y="2"/>
                  <a:pt x="0" y="4"/>
                  <a:pt x="0" y="6"/>
                </a:cubicBezTo>
                <a:cubicBezTo>
                  <a:pt x="4" y="6"/>
                  <a:pt x="8" y="6"/>
                  <a:pt x="12" y="6"/>
                </a:cubicBezTo>
                <a:cubicBezTo>
                  <a:pt x="11" y="5"/>
                  <a:pt x="12" y="3"/>
                  <a:pt x="13" y="2"/>
                </a:cubicBezTo>
                <a:cubicBezTo>
                  <a:pt x="14" y="2"/>
                  <a:pt x="14" y="2"/>
                  <a:pt x="15" y="2"/>
                </a:cubicBezTo>
                <a:cubicBezTo>
                  <a:pt x="16" y="2"/>
                  <a:pt x="17" y="2"/>
                  <a:pt x="17" y="3"/>
                </a:cubicBezTo>
                <a:cubicBezTo>
                  <a:pt x="18" y="4"/>
                  <a:pt x="18" y="5"/>
                  <a:pt x="19" y="6"/>
                </a:cubicBezTo>
                <a:cubicBezTo>
                  <a:pt x="21" y="6"/>
                  <a:pt x="23" y="6"/>
                  <a:pt x="24" y="6"/>
                </a:cubicBezTo>
                <a:cubicBezTo>
                  <a:pt x="23" y="5"/>
                  <a:pt x="22" y="4"/>
                  <a:pt x="22" y="3"/>
                </a:cubicBezTo>
                <a:cubicBezTo>
                  <a:pt x="21" y="2"/>
                  <a:pt x="21" y="1"/>
                  <a:pt x="20"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2" name="Freeform 77"/>
          <p:cNvSpPr>
            <a:spLocks/>
          </p:cNvSpPr>
          <p:nvPr/>
        </p:nvSpPr>
        <p:spPr bwMode="auto">
          <a:xfrm>
            <a:off x="3330576" y="5434013"/>
            <a:ext cx="166688" cy="69850"/>
          </a:xfrm>
          <a:custGeom>
            <a:avLst/>
            <a:gdLst>
              <a:gd name="T0" fmla="*/ 3 w 98"/>
              <a:gd name="T1" fmla="*/ 0 h 41"/>
              <a:gd name="T2" fmla="*/ 3 w 98"/>
              <a:gd name="T3" fmla="*/ 1 h 41"/>
              <a:gd name="T4" fmla="*/ 1 w 98"/>
              <a:gd name="T5" fmla="*/ 4 h 41"/>
              <a:gd name="T6" fmla="*/ 4 w 98"/>
              <a:gd name="T7" fmla="*/ 10 h 41"/>
              <a:gd name="T8" fmla="*/ 13 w 98"/>
              <a:gd name="T9" fmla="*/ 17 h 41"/>
              <a:gd name="T10" fmla="*/ 32 w 98"/>
              <a:gd name="T11" fmla="*/ 22 h 41"/>
              <a:gd name="T12" fmla="*/ 52 w 98"/>
              <a:gd name="T13" fmla="*/ 22 h 41"/>
              <a:gd name="T14" fmla="*/ 67 w 98"/>
              <a:gd name="T15" fmla="*/ 22 h 41"/>
              <a:gd name="T16" fmla="*/ 67 w 98"/>
              <a:gd name="T17" fmla="*/ 22 h 41"/>
              <a:gd name="T18" fmla="*/ 67 w 98"/>
              <a:gd name="T19" fmla="*/ 22 h 41"/>
              <a:gd name="T20" fmla="*/ 76 w 98"/>
              <a:gd name="T21" fmla="*/ 25 h 41"/>
              <a:gd name="T22" fmla="*/ 88 w 98"/>
              <a:gd name="T23" fmla="*/ 34 h 41"/>
              <a:gd name="T24" fmla="*/ 91 w 98"/>
              <a:gd name="T25" fmla="*/ 38 h 41"/>
              <a:gd name="T26" fmla="*/ 92 w 98"/>
              <a:gd name="T27" fmla="*/ 40 h 41"/>
              <a:gd name="T28" fmla="*/ 92 w 98"/>
              <a:gd name="T29" fmla="*/ 40 h 41"/>
              <a:gd name="T30" fmla="*/ 92 w 98"/>
              <a:gd name="T31" fmla="*/ 40 h 41"/>
              <a:gd name="T32" fmla="*/ 92 w 98"/>
              <a:gd name="T33" fmla="*/ 40 h 41"/>
              <a:gd name="T34" fmla="*/ 95 w 98"/>
              <a:gd name="T35" fmla="*/ 41 h 41"/>
              <a:gd name="T36" fmla="*/ 97 w 98"/>
              <a:gd name="T37" fmla="*/ 41 h 41"/>
              <a:gd name="T38" fmla="*/ 97 w 98"/>
              <a:gd name="T39" fmla="*/ 37 h 41"/>
              <a:gd name="T40" fmla="*/ 97 w 98"/>
              <a:gd name="T41" fmla="*/ 37 h 41"/>
              <a:gd name="T42" fmla="*/ 89 w 98"/>
              <a:gd name="T43" fmla="*/ 27 h 41"/>
              <a:gd name="T44" fmla="*/ 79 w 98"/>
              <a:gd name="T45" fmla="*/ 20 h 41"/>
              <a:gd name="T46" fmla="*/ 67 w 98"/>
              <a:gd name="T47" fmla="*/ 16 h 41"/>
              <a:gd name="T48" fmla="*/ 52 w 98"/>
              <a:gd name="T49" fmla="*/ 17 h 41"/>
              <a:gd name="T50" fmla="*/ 52 w 98"/>
              <a:gd name="T51" fmla="*/ 17 h 41"/>
              <a:gd name="T52" fmla="*/ 23 w 98"/>
              <a:gd name="T53" fmla="*/ 14 h 41"/>
              <a:gd name="T54" fmla="*/ 12 w 98"/>
              <a:gd name="T55" fmla="*/ 9 h 41"/>
              <a:gd name="T56" fmla="*/ 8 w 98"/>
              <a:gd name="T57" fmla="*/ 6 h 41"/>
              <a:gd name="T58" fmla="*/ 7 w 98"/>
              <a:gd name="T59" fmla="*/ 4 h 41"/>
              <a:gd name="T60" fmla="*/ 3 w 98"/>
              <a:gd name="T6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8" h="41">
                <a:moveTo>
                  <a:pt x="3" y="0"/>
                </a:moveTo>
                <a:cubicBezTo>
                  <a:pt x="3" y="0"/>
                  <a:pt x="3" y="1"/>
                  <a:pt x="3" y="1"/>
                </a:cubicBezTo>
                <a:cubicBezTo>
                  <a:pt x="1" y="1"/>
                  <a:pt x="0" y="3"/>
                  <a:pt x="1" y="4"/>
                </a:cubicBezTo>
                <a:cubicBezTo>
                  <a:pt x="1" y="6"/>
                  <a:pt x="2" y="8"/>
                  <a:pt x="4" y="10"/>
                </a:cubicBezTo>
                <a:cubicBezTo>
                  <a:pt x="6" y="13"/>
                  <a:pt x="10" y="15"/>
                  <a:pt x="13" y="17"/>
                </a:cubicBezTo>
                <a:cubicBezTo>
                  <a:pt x="19" y="19"/>
                  <a:pt x="26" y="21"/>
                  <a:pt x="32" y="22"/>
                </a:cubicBezTo>
                <a:cubicBezTo>
                  <a:pt x="39" y="22"/>
                  <a:pt x="46" y="22"/>
                  <a:pt x="52" y="22"/>
                </a:cubicBezTo>
                <a:cubicBezTo>
                  <a:pt x="58" y="22"/>
                  <a:pt x="64" y="22"/>
                  <a:pt x="67" y="22"/>
                </a:cubicBezTo>
                <a:cubicBezTo>
                  <a:pt x="67" y="22"/>
                  <a:pt x="67" y="22"/>
                  <a:pt x="67" y="22"/>
                </a:cubicBezTo>
                <a:cubicBezTo>
                  <a:pt x="67" y="22"/>
                  <a:pt x="67" y="22"/>
                  <a:pt x="67" y="22"/>
                </a:cubicBezTo>
                <a:cubicBezTo>
                  <a:pt x="70" y="22"/>
                  <a:pt x="73" y="23"/>
                  <a:pt x="76" y="25"/>
                </a:cubicBezTo>
                <a:cubicBezTo>
                  <a:pt x="81" y="27"/>
                  <a:pt x="85" y="31"/>
                  <a:pt x="88" y="34"/>
                </a:cubicBezTo>
                <a:cubicBezTo>
                  <a:pt x="89" y="36"/>
                  <a:pt x="90" y="37"/>
                  <a:pt x="91" y="38"/>
                </a:cubicBezTo>
                <a:cubicBezTo>
                  <a:pt x="92" y="39"/>
                  <a:pt x="92" y="39"/>
                  <a:pt x="92" y="40"/>
                </a:cubicBezTo>
                <a:cubicBezTo>
                  <a:pt x="92" y="40"/>
                  <a:pt x="92" y="40"/>
                  <a:pt x="92" y="40"/>
                </a:cubicBezTo>
                <a:cubicBezTo>
                  <a:pt x="92" y="40"/>
                  <a:pt x="92" y="40"/>
                  <a:pt x="92" y="40"/>
                </a:cubicBezTo>
                <a:cubicBezTo>
                  <a:pt x="92" y="40"/>
                  <a:pt x="92" y="40"/>
                  <a:pt x="92" y="40"/>
                </a:cubicBezTo>
                <a:cubicBezTo>
                  <a:pt x="93" y="41"/>
                  <a:pt x="94" y="41"/>
                  <a:pt x="95" y="41"/>
                </a:cubicBezTo>
                <a:cubicBezTo>
                  <a:pt x="96" y="41"/>
                  <a:pt x="96" y="41"/>
                  <a:pt x="97" y="41"/>
                </a:cubicBezTo>
                <a:cubicBezTo>
                  <a:pt x="98" y="40"/>
                  <a:pt x="98" y="38"/>
                  <a:pt x="97" y="37"/>
                </a:cubicBezTo>
                <a:cubicBezTo>
                  <a:pt x="97" y="37"/>
                  <a:pt x="97" y="37"/>
                  <a:pt x="97" y="37"/>
                </a:cubicBezTo>
                <a:cubicBezTo>
                  <a:pt x="97" y="36"/>
                  <a:pt x="94" y="32"/>
                  <a:pt x="89" y="27"/>
                </a:cubicBezTo>
                <a:cubicBezTo>
                  <a:pt x="86" y="24"/>
                  <a:pt x="83" y="22"/>
                  <a:pt x="79" y="20"/>
                </a:cubicBezTo>
                <a:cubicBezTo>
                  <a:pt x="75" y="18"/>
                  <a:pt x="71" y="16"/>
                  <a:pt x="67" y="16"/>
                </a:cubicBezTo>
                <a:cubicBezTo>
                  <a:pt x="63" y="16"/>
                  <a:pt x="58" y="17"/>
                  <a:pt x="52" y="17"/>
                </a:cubicBezTo>
                <a:cubicBezTo>
                  <a:pt x="52" y="17"/>
                  <a:pt x="52" y="17"/>
                  <a:pt x="52" y="17"/>
                </a:cubicBezTo>
                <a:cubicBezTo>
                  <a:pt x="43" y="17"/>
                  <a:pt x="32" y="16"/>
                  <a:pt x="23" y="14"/>
                </a:cubicBezTo>
                <a:cubicBezTo>
                  <a:pt x="19" y="13"/>
                  <a:pt x="15" y="11"/>
                  <a:pt x="12" y="9"/>
                </a:cubicBezTo>
                <a:cubicBezTo>
                  <a:pt x="11" y="9"/>
                  <a:pt x="9" y="7"/>
                  <a:pt x="8" y="6"/>
                </a:cubicBezTo>
                <a:cubicBezTo>
                  <a:pt x="8" y="6"/>
                  <a:pt x="7" y="5"/>
                  <a:pt x="7" y="4"/>
                </a:cubicBezTo>
                <a:cubicBezTo>
                  <a:pt x="5" y="3"/>
                  <a:pt x="4" y="2"/>
                  <a:pt x="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3" name="Freeform 78"/>
          <p:cNvSpPr>
            <a:spLocks/>
          </p:cNvSpPr>
          <p:nvPr/>
        </p:nvSpPr>
        <p:spPr bwMode="auto">
          <a:xfrm>
            <a:off x="3335338" y="5434013"/>
            <a:ext cx="7938" cy="7937"/>
          </a:xfrm>
          <a:custGeom>
            <a:avLst/>
            <a:gdLst>
              <a:gd name="T0" fmla="*/ 0 w 4"/>
              <a:gd name="T1" fmla="*/ 0 h 4"/>
              <a:gd name="T2" fmla="*/ 0 w 4"/>
              <a:gd name="T3" fmla="*/ 0 h 4"/>
              <a:gd name="T4" fmla="*/ 4 w 4"/>
              <a:gd name="T5" fmla="*/ 4 h 4"/>
              <a:gd name="T6" fmla="*/ 3 w 4"/>
              <a:gd name="T7" fmla="*/ 3 h 4"/>
              <a:gd name="T8" fmla="*/ 0 w 4"/>
              <a:gd name="T9" fmla="*/ 0 h 4"/>
            </a:gdLst>
            <a:ahLst/>
            <a:cxnLst>
              <a:cxn ang="0">
                <a:pos x="T0" y="T1"/>
              </a:cxn>
              <a:cxn ang="0">
                <a:pos x="T2" y="T3"/>
              </a:cxn>
              <a:cxn ang="0">
                <a:pos x="T4" y="T5"/>
              </a:cxn>
              <a:cxn ang="0">
                <a:pos x="T6" y="T7"/>
              </a:cxn>
              <a:cxn ang="0">
                <a:pos x="T8" y="T9"/>
              </a:cxn>
            </a:cxnLst>
            <a:rect l="0" t="0" r="r" b="b"/>
            <a:pathLst>
              <a:path w="4" h="4">
                <a:moveTo>
                  <a:pt x="0" y="0"/>
                </a:moveTo>
                <a:cubicBezTo>
                  <a:pt x="0" y="0"/>
                  <a:pt x="0" y="0"/>
                  <a:pt x="0" y="0"/>
                </a:cubicBezTo>
                <a:cubicBezTo>
                  <a:pt x="1" y="2"/>
                  <a:pt x="2" y="3"/>
                  <a:pt x="4" y="4"/>
                </a:cubicBezTo>
                <a:cubicBezTo>
                  <a:pt x="4" y="3"/>
                  <a:pt x="3" y="3"/>
                  <a:pt x="3" y="3"/>
                </a:cubicBezTo>
                <a:cubicBezTo>
                  <a:pt x="3" y="1"/>
                  <a:pt x="2" y="0"/>
                  <a:pt x="0"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4" name="Freeform 79"/>
          <p:cNvSpPr>
            <a:spLocks noEditPoints="1"/>
          </p:cNvSpPr>
          <p:nvPr/>
        </p:nvSpPr>
        <p:spPr bwMode="auto">
          <a:xfrm>
            <a:off x="3332163" y="5407025"/>
            <a:ext cx="254000" cy="153987"/>
          </a:xfrm>
          <a:custGeom>
            <a:avLst/>
            <a:gdLst>
              <a:gd name="T0" fmla="*/ 4 w 149"/>
              <a:gd name="T1" fmla="*/ 62 h 90"/>
              <a:gd name="T2" fmla="*/ 70 w 149"/>
              <a:gd name="T3" fmla="*/ 0 h 90"/>
              <a:gd name="T4" fmla="*/ 72 w 149"/>
              <a:gd name="T5" fmla="*/ 9 h 90"/>
              <a:gd name="T6" fmla="*/ 93 w 149"/>
              <a:gd name="T7" fmla="*/ 22 h 90"/>
              <a:gd name="T8" fmla="*/ 135 w 149"/>
              <a:gd name="T9" fmla="*/ 50 h 90"/>
              <a:gd name="T10" fmla="*/ 141 w 149"/>
              <a:gd name="T11" fmla="*/ 66 h 90"/>
              <a:gd name="T12" fmla="*/ 143 w 149"/>
              <a:gd name="T13" fmla="*/ 79 h 90"/>
              <a:gd name="T14" fmla="*/ 137 w 149"/>
              <a:gd name="T15" fmla="*/ 78 h 90"/>
              <a:gd name="T16" fmla="*/ 118 w 149"/>
              <a:gd name="T17" fmla="*/ 82 h 90"/>
              <a:gd name="T18" fmla="*/ 104 w 149"/>
              <a:gd name="T19" fmla="*/ 84 h 90"/>
              <a:gd name="T20" fmla="*/ 96 w 149"/>
              <a:gd name="T21" fmla="*/ 83 h 90"/>
              <a:gd name="T22" fmla="*/ 47 w 149"/>
              <a:gd name="T23" fmla="*/ 65 h 90"/>
              <a:gd name="T24" fmla="*/ 31 w 149"/>
              <a:gd name="T25" fmla="*/ 57 h 90"/>
              <a:gd name="T26" fmla="*/ 18 w 149"/>
              <a:gd name="T27" fmla="*/ 53 h 90"/>
              <a:gd name="T28" fmla="*/ 7 w 149"/>
              <a:gd name="T29" fmla="*/ 55 h 90"/>
              <a:gd name="T30" fmla="*/ 1 w 149"/>
              <a:gd name="T31" fmla="*/ 62 h 90"/>
              <a:gd name="T32" fmla="*/ 5 w 149"/>
              <a:gd name="T33" fmla="*/ 63 h 90"/>
              <a:gd name="T34" fmla="*/ 5 w 149"/>
              <a:gd name="T35" fmla="*/ 63 h 90"/>
              <a:gd name="T36" fmla="*/ 18 w 149"/>
              <a:gd name="T37" fmla="*/ 59 h 90"/>
              <a:gd name="T38" fmla="*/ 25 w 149"/>
              <a:gd name="T39" fmla="*/ 61 h 90"/>
              <a:gd name="T40" fmla="*/ 30 w 149"/>
              <a:gd name="T41" fmla="*/ 64 h 90"/>
              <a:gd name="T42" fmla="*/ 87 w 149"/>
              <a:gd name="T43" fmla="*/ 87 h 90"/>
              <a:gd name="T44" fmla="*/ 104 w 149"/>
              <a:gd name="T45" fmla="*/ 90 h 90"/>
              <a:gd name="T46" fmla="*/ 124 w 149"/>
              <a:gd name="T47" fmla="*/ 87 h 90"/>
              <a:gd name="T48" fmla="*/ 137 w 149"/>
              <a:gd name="T49" fmla="*/ 84 h 90"/>
              <a:gd name="T50" fmla="*/ 137 w 149"/>
              <a:gd name="T51" fmla="*/ 84 h 90"/>
              <a:gd name="T52" fmla="*/ 140 w 149"/>
              <a:gd name="T53" fmla="*/ 85 h 90"/>
              <a:gd name="T54" fmla="*/ 144 w 149"/>
              <a:gd name="T55" fmla="*/ 87 h 90"/>
              <a:gd name="T56" fmla="*/ 146 w 149"/>
              <a:gd name="T57" fmla="*/ 86 h 90"/>
              <a:gd name="T58" fmla="*/ 148 w 149"/>
              <a:gd name="T59" fmla="*/ 83 h 90"/>
              <a:gd name="T60" fmla="*/ 149 w 149"/>
              <a:gd name="T61" fmla="*/ 77 h 90"/>
              <a:gd name="T62" fmla="*/ 143 w 149"/>
              <a:gd name="T63" fmla="*/ 53 h 90"/>
              <a:gd name="T64" fmla="*/ 119 w 149"/>
              <a:gd name="T65" fmla="*/ 29 h 90"/>
              <a:gd name="T66" fmla="*/ 95 w 149"/>
              <a:gd name="T67" fmla="*/ 16 h 90"/>
              <a:gd name="T68" fmla="*/ 77 w 149"/>
              <a:gd name="T69" fmla="*/ 6 h 90"/>
              <a:gd name="T70" fmla="*/ 70 w 149"/>
              <a:gd name="T71"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9" h="90">
                <a:moveTo>
                  <a:pt x="4" y="62"/>
                </a:moveTo>
                <a:cubicBezTo>
                  <a:pt x="4" y="62"/>
                  <a:pt x="4" y="62"/>
                  <a:pt x="4" y="62"/>
                </a:cubicBezTo>
                <a:moveTo>
                  <a:pt x="70" y="0"/>
                </a:moveTo>
                <a:cubicBezTo>
                  <a:pt x="70" y="0"/>
                  <a:pt x="70" y="0"/>
                  <a:pt x="70" y="0"/>
                </a:cubicBezTo>
                <a:cubicBezTo>
                  <a:pt x="70" y="1"/>
                  <a:pt x="70" y="1"/>
                  <a:pt x="70" y="2"/>
                </a:cubicBezTo>
                <a:cubicBezTo>
                  <a:pt x="70" y="4"/>
                  <a:pt x="71" y="7"/>
                  <a:pt x="72" y="9"/>
                </a:cubicBezTo>
                <a:cubicBezTo>
                  <a:pt x="73" y="12"/>
                  <a:pt x="76" y="15"/>
                  <a:pt x="80" y="17"/>
                </a:cubicBezTo>
                <a:cubicBezTo>
                  <a:pt x="84" y="19"/>
                  <a:pt x="88" y="21"/>
                  <a:pt x="93" y="22"/>
                </a:cubicBezTo>
                <a:cubicBezTo>
                  <a:pt x="96" y="23"/>
                  <a:pt x="100" y="24"/>
                  <a:pt x="104" y="26"/>
                </a:cubicBezTo>
                <a:cubicBezTo>
                  <a:pt x="115" y="32"/>
                  <a:pt x="127" y="43"/>
                  <a:pt x="135" y="50"/>
                </a:cubicBezTo>
                <a:cubicBezTo>
                  <a:pt x="136" y="52"/>
                  <a:pt x="137" y="53"/>
                  <a:pt x="138" y="55"/>
                </a:cubicBezTo>
                <a:cubicBezTo>
                  <a:pt x="140" y="59"/>
                  <a:pt x="141" y="63"/>
                  <a:pt x="141" y="66"/>
                </a:cubicBezTo>
                <a:cubicBezTo>
                  <a:pt x="142" y="70"/>
                  <a:pt x="143" y="74"/>
                  <a:pt x="143" y="77"/>
                </a:cubicBezTo>
                <a:cubicBezTo>
                  <a:pt x="143" y="78"/>
                  <a:pt x="143" y="79"/>
                  <a:pt x="143" y="79"/>
                </a:cubicBezTo>
                <a:cubicBezTo>
                  <a:pt x="142" y="79"/>
                  <a:pt x="142" y="79"/>
                  <a:pt x="141" y="79"/>
                </a:cubicBezTo>
                <a:cubicBezTo>
                  <a:pt x="140" y="78"/>
                  <a:pt x="139" y="78"/>
                  <a:pt x="137" y="78"/>
                </a:cubicBezTo>
                <a:cubicBezTo>
                  <a:pt x="135" y="78"/>
                  <a:pt x="133" y="78"/>
                  <a:pt x="130" y="79"/>
                </a:cubicBezTo>
                <a:cubicBezTo>
                  <a:pt x="126" y="80"/>
                  <a:pt x="122" y="81"/>
                  <a:pt x="118" y="82"/>
                </a:cubicBezTo>
                <a:cubicBezTo>
                  <a:pt x="114" y="83"/>
                  <a:pt x="109" y="84"/>
                  <a:pt x="105" y="84"/>
                </a:cubicBezTo>
                <a:cubicBezTo>
                  <a:pt x="104" y="84"/>
                  <a:pt x="104" y="84"/>
                  <a:pt x="104" y="84"/>
                </a:cubicBezTo>
                <a:cubicBezTo>
                  <a:pt x="104" y="84"/>
                  <a:pt x="104" y="84"/>
                  <a:pt x="104" y="84"/>
                </a:cubicBezTo>
                <a:cubicBezTo>
                  <a:pt x="102" y="84"/>
                  <a:pt x="99" y="84"/>
                  <a:pt x="96" y="83"/>
                </a:cubicBezTo>
                <a:cubicBezTo>
                  <a:pt x="91" y="82"/>
                  <a:pt x="84" y="80"/>
                  <a:pt x="78" y="78"/>
                </a:cubicBezTo>
                <a:cubicBezTo>
                  <a:pt x="67" y="74"/>
                  <a:pt x="56" y="70"/>
                  <a:pt x="47" y="65"/>
                </a:cubicBezTo>
                <a:cubicBezTo>
                  <a:pt x="42" y="63"/>
                  <a:pt x="38" y="61"/>
                  <a:pt x="35" y="60"/>
                </a:cubicBezTo>
                <a:cubicBezTo>
                  <a:pt x="33" y="59"/>
                  <a:pt x="32" y="58"/>
                  <a:pt x="31" y="57"/>
                </a:cubicBezTo>
                <a:cubicBezTo>
                  <a:pt x="29" y="57"/>
                  <a:pt x="29" y="56"/>
                  <a:pt x="28" y="56"/>
                </a:cubicBezTo>
                <a:cubicBezTo>
                  <a:pt x="25" y="54"/>
                  <a:pt x="21" y="53"/>
                  <a:pt x="18" y="53"/>
                </a:cubicBezTo>
                <a:cubicBezTo>
                  <a:pt x="18" y="53"/>
                  <a:pt x="18" y="53"/>
                  <a:pt x="18" y="53"/>
                </a:cubicBezTo>
                <a:cubicBezTo>
                  <a:pt x="14" y="53"/>
                  <a:pt x="10" y="54"/>
                  <a:pt x="7" y="55"/>
                </a:cubicBezTo>
                <a:cubicBezTo>
                  <a:pt x="4" y="56"/>
                  <a:pt x="2" y="58"/>
                  <a:pt x="2" y="58"/>
                </a:cubicBezTo>
                <a:cubicBezTo>
                  <a:pt x="0" y="58"/>
                  <a:pt x="0" y="60"/>
                  <a:pt x="1" y="62"/>
                </a:cubicBezTo>
                <a:cubicBezTo>
                  <a:pt x="1" y="63"/>
                  <a:pt x="2" y="63"/>
                  <a:pt x="3" y="63"/>
                </a:cubicBezTo>
                <a:cubicBezTo>
                  <a:pt x="4" y="63"/>
                  <a:pt x="4" y="63"/>
                  <a:pt x="5" y="63"/>
                </a:cubicBezTo>
                <a:cubicBezTo>
                  <a:pt x="5" y="63"/>
                  <a:pt x="5" y="63"/>
                  <a:pt x="5" y="63"/>
                </a:cubicBezTo>
                <a:cubicBezTo>
                  <a:pt x="5" y="63"/>
                  <a:pt x="5" y="63"/>
                  <a:pt x="5" y="63"/>
                </a:cubicBezTo>
                <a:cubicBezTo>
                  <a:pt x="5" y="63"/>
                  <a:pt x="7" y="62"/>
                  <a:pt x="9" y="61"/>
                </a:cubicBezTo>
                <a:cubicBezTo>
                  <a:pt x="12" y="60"/>
                  <a:pt x="15" y="59"/>
                  <a:pt x="18" y="59"/>
                </a:cubicBezTo>
                <a:cubicBezTo>
                  <a:pt x="18" y="59"/>
                  <a:pt x="18" y="59"/>
                  <a:pt x="18" y="59"/>
                </a:cubicBezTo>
                <a:cubicBezTo>
                  <a:pt x="21" y="59"/>
                  <a:pt x="23" y="59"/>
                  <a:pt x="25" y="61"/>
                </a:cubicBezTo>
                <a:cubicBezTo>
                  <a:pt x="25" y="61"/>
                  <a:pt x="25" y="61"/>
                  <a:pt x="25" y="61"/>
                </a:cubicBezTo>
                <a:cubicBezTo>
                  <a:pt x="26" y="62"/>
                  <a:pt x="28" y="63"/>
                  <a:pt x="30" y="64"/>
                </a:cubicBezTo>
                <a:cubicBezTo>
                  <a:pt x="38" y="68"/>
                  <a:pt x="52" y="75"/>
                  <a:pt x="67" y="80"/>
                </a:cubicBezTo>
                <a:cubicBezTo>
                  <a:pt x="74" y="83"/>
                  <a:pt x="81" y="85"/>
                  <a:pt x="87" y="87"/>
                </a:cubicBezTo>
                <a:cubicBezTo>
                  <a:pt x="90" y="88"/>
                  <a:pt x="93" y="89"/>
                  <a:pt x="96" y="89"/>
                </a:cubicBezTo>
                <a:cubicBezTo>
                  <a:pt x="99" y="90"/>
                  <a:pt x="102" y="90"/>
                  <a:pt x="104" y="90"/>
                </a:cubicBezTo>
                <a:cubicBezTo>
                  <a:pt x="104" y="90"/>
                  <a:pt x="105" y="90"/>
                  <a:pt x="105" y="90"/>
                </a:cubicBezTo>
                <a:cubicBezTo>
                  <a:pt x="112" y="90"/>
                  <a:pt x="118" y="88"/>
                  <a:pt x="124" y="87"/>
                </a:cubicBezTo>
                <a:cubicBezTo>
                  <a:pt x="127" y="86"/>
                  <a:pt x="129" y="85"/>
                  <a:pt x="131" y="85"/>
                </a:cubicBezTo>
                <a:cubicBezTo>
                  <a:pt x="134" y="84"/>
                  <a:pt x="136" y="84"/>
                  <a:pt x="137" y="84"/>
                </a:cubicBezTo>
                <a:cubicBezTo>
                  <a:pt x="137" y="84"/>
                  <a:pt x="137" y="84"/>
                  <a:pt x="137" y="84"/>
                </a:cubicBezTo>
                <a:cubicBezTo>
                  <a:pt x="137" y="84"/>
                  <a:pt x="137" y="84"/>
                  <a:pt x="137" y="84"/>
                </a:cubicBezTo>
                <a:cubicBezTo>
                  <a:pt x="138" y="84"/>
                  <a:pt x="139" y="84"/>
                  <a:pt x="139" y="84"/>
                </a:cubicBezTo>
                <a:cubicBezTo>
                  <a:pt x="140" y="84"/>
                  <a:pt x="140" y="85"/>
                  <a:pt x="140" y="85"/>
                </a:cubicBezTo>
                <a:cubicBezTo>
                  <a:pt x="141" y="85"/>
                  <a:pt x="141" y="86"/>
                  <a:pt x="142" y="86"/>
                </a:cubicBezTo>
                <a:cubicBezTo>
                  <a:pt x="142" y="86"/>
                  <a:pt x="143" y="87"/>
                  <a:pt x="144" y="87"/>
                </a:cubicBezTo>
                <a:cubicBezTo>
                  <a:pt x="144" y="87"/>
                  <a:pt x="144" y="87"/>
                  <a:pt x="144" y="87"/>
                </a:cubicBezTo>
                <a:cubicBezTo>
                  <a:pt x="145" y="87"/>
                  <a:pt x="145" y="87"/>
                  <a:pt x="146" y="86"/>
                </a:cubicBezTo>
                <a:cubicBezTo>
                  <a:pt x="146" y="86"/>
                  <a:pt x="147" y="86"/>
                  <a:pt x="147" y="85"/>
                </a:cubicBezTo>
                <a:cubicBezTo>
                  <a:pt x="147" y="85"/>
                  <a:pt x="148" y="84"/>
                  <a:pt x="148" y="83"/>
                </a:cubicBezTo>
                <a:cubicBezTo>
                  <a:pt x="148" y="82"/>
                  <a:pt x="148" y="82"/>
                  <a:pt x="148" y="80"/>
                </a:cubicBezTo>
                <a:cubicBezTo>
                  <a:pt x="148" y="79"/>
                  <a:pt x="149" y="78"/>
                  <a:pt x="149" y="77"/>
                </a:cubicBezTo>
                <a:cubicBezTo>
                  <a:pt x="149" y="73"/>
                  <a:pt x="148" y="67"/>
                  <a:pt x="146" y="61"/>
                </a:cubicBezTo>
                <a:cubicBezTo>
                  <a:pt x="146" y="58"/>
                  <a:pt x="145" y="55"/>
                  <a:pt x="143" y="53"/>
                </a:cubicBezTo>
                <a:cubicBezTo>
                  <a:pt x="142" y="50"/>
                  <a:pt x="141" y="48"/>
                  <a:pt x="139" y="46"/>
                </a:cubicBezTo>
                <a:cubicBezTo>
                  <a:pt x="134" y="41"/>
                  <a:pt x="126" y="35"/>
                  <a:pt x="119" y="29"/>
                </a:cubicBezTo>
                <a:cubicBezTo>
                  <a:pt x="115" y="26"/>
                  <a:pt x="111" y="23"/>
                  <a:pt x="106" y="21"/>
                </a:cubicBezTo>
                <a:cubicBezTo>
                  <a:pt x="102" y="19"/>
                  <a:pt x="98" y="17"/>
                  <a:pt x="95" y="16"/>
                </a:cubicBezTo>
                <a:cubicBezTo>
                  <a:pt x="88" y="15"/>
                  <a:pt x="84" y="13"/>
                  <a:pt x="80" y="10"/>
                </a:cubicBezTo>
                <a:cubicBezTo>
                  <a:pt x="79" y="9"/>
                  <a:pt x="78" y="7"/>
                  <a:pt x="77" y="6"/>
                </a:cubicBezTo>
                <a:cubicBezTo>
                  <a:pt x="76" y="5"/>
                  <a:pt x="76" y="4"/>
                  <a:pt x="76" y="3"/>
                </a:cubicBezTo>
                <a:cubicBezTo>
                  <a:pt x="74" y="2"/>
                  <a:pt x="72" y="1"/>
                  <a:pt x="70"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5" name="Freeform 80"/>
          <p:cNvSpPr>
            <a:spLocks/>
          </p:cNvSpPr>
          <p:nvPr/>
        </p:nvSpPr>
        <p:spPr bwMode="auto">
          <a:xfrm>
            <a:off x="3451226" y="5403850"/>
            <a:ext cx="11113" cy="9525"/>
          </a:xfrm>
          <a:custGeom>
            <a:avLst/>
            <a:gdLst>
              <a:gd name="T0" fmla="*/ 3 w 6"/>
              <a:gd name="T1" fmla="*/ 0 h 5"/>
              <a:gd name="T2" fmla="*/ 0 w 6"/>
              <a:gd name="T3" fmla="*/ 2 h 5"/>
              <a:gd name="T4" fmla="*/ 6 w 6"/>
              <a:gd name="T5" fmla="*/ 5 h 5"/>
              <a:gd name="T6" fmla="*/ 6 w 6"/>
              <a:gd name="T7" fmla="*/ 4 h 5"/>
              <a:gd name="T8" fmla="*/ 6 w 6"/>
              <a:gd name="T9" fmla="*/ 3 h 5"/>
              <a:gd name="T10" fmla="*/ 3 w 6"/>
              <a:gd name="T11" fmla="*/ 0 h 5"/>
              <a:gd name="T12" fmla="*/ 3 w 6"/>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6" h="5">
                <a:moveTo>
                  <a:pt x="3" y="0"/>
                </a:moveTo>
                <a:cubicBezTo>
                  <a:pt x="2" y="0"/>
                  <a:pt x="1" y="0"/>
                  <a:pt x="0" y="2"/>
                </a:cubicBezTo>
                <a:cubicBezTo>
                  <a:pt x="2" y="3"/>
                  <a:pt x="4" y="4"/>
                  <a:pt x="6" y="5"/>
                </a:cubicBezTo>
                <a:cubicBezTo>
                  <a:pt x="6" y="5"/>
                  <a:pt x="6" y="4"/>
                  <a:pt x="6" y="4"/>
                </a:cubicBezTo>
                <a:cubicBezTo>
                  <a:pt x="6" y="4"/>
                  <a:pt x="6" y="3"/>
                  <a:pt x="6" y="3"/>
                </a:cubicBezTo>
                <a:cubicBezTo>
                  <a:pt x="6" y="1"/>
                  <a:pt x="5" y="0"/>
                  <a:pt x="3" y="0"/>
                </a:cubicBezTo>
                <a:cubicBezTo>
                  <a:pt x="3" y="0"/>
                  <a:pt x="3" y="0"/>
                  <a:pt x="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6" name="Freeform 81"/>
          <p:cNvSpPr>
            <a:spLocks/>
          </p:cNvSpPr>
          <p:nvPr/>
        </p:nvSpPr>
        <p:spPr bwMode="auto">
          <a:xfrm>
            <a:off x="3379788" y="550227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7" name="Freeform 82"/>
          <p:cNvSpPr>
            <a:spLocks noEditPoints="1"/>
          </p:cNvSpPr>
          <p:nvPr/>
        </p:nvSpPr>
        <p:spPr bwMode="auto">
          <a:xfrm>
            <a:off x="3563938" y="5419725"/>
            <a:ext cx="95250" cy="131762"/>
          </a:xfrm>
          <a:custGeom>
            <a:avLst/>
            <a:gdLst>
              <a:gd name="T0" fmla="*/ 56 w 56"/>
              <a:gd name="T1" fmla="*/ 62 h 78"/>
              <a:gd name="T2" fmla="*/ 51 w 56"/>
              <a:gd name="T3" fmla="*/ 63 h 78"/>
              <a:gd name="T4" fmla="*/ 50 w 56"/>
              <a:gd name="T5" fmla="*/ 63 h 78"/>
              <a:gd name="T6" fmla="*/ 50 w 56"/>
              <a:gd name="T7" fmla="*/ 65 h 78"/>
              <a:gd name="T8" fmla="*/ 50 w 56"/>
              <a:gd name="T9" fmla="*/ 75 h 78"/>
              <a:gd name="T10" fmla="*/ 53 w 56"/>
              <a:gd name="T11" fmla="*/ 78 h 78"/>
              <a:gd name="T12" fmla="*/ 54 w 56"/>
              <a:gd name="T13" fmla="*/ 78 h 78"/>
              <a:gd name="T14" fmla="*/ 56 w 56"/>
              <a:gd name="T15" fmla="*/ 75 h 78"/>
              <a:gd name="T16" fmla="*/ 56 w 56"/>
              <a:gd name="T17" fmla="*/ 75 h 78"/>
              <a:gd name="T18" fmla="*/ 56 w 56"/>
              <a:gd name="T19" fmla="*/ 65 h 78"/>
              <a:gd name="T20" fmla="*/ 56 w 56"/>
              <a:gd name="T21" fmla="*/ 62 h 78"/>
              <a:gd name="T22" fmla="*/ 4 w 56"/>
              <a:gd name="T23" fmla="*/ 0 h 78"/>
              <a:gd name="T24" fmla="*/ 1 w 56"/>
              <a:gd name="T25" fmla="*/ 2 h 78"/>
              <a:gd name="T26" fmla="*/ 2 w 56"/>
              <a:gd name="T27" fmla="*/ 6 h 78"/>
              <a:gd name="T28" fmla="*/ 19 w 56"/>
              <a:gd name="T29" fmla="*/ 17 h 78"/>
              <a:gd name="T30" fmla="*/ 42 w 56"/>
              <a:gd name="T31" fmla="*/ 38 h 78"/>
              <a:gd name="T32" fmla="*/ 45 w 56"/>
              <a:gd name="T33" fmla="*/ 41 h 78"/>
              <a:gd name="T34" fmla="*/ 50 w 56"/>
              <a:gd name="T35" fmla="*/ 38 h 78"/>
              <a:gd name="T36" fmla="*/ 40 w 56"/>
              <a:gd name="T37" fmla="*/ 27 h 78"/>
              <a:gd name="T38" fmla="*/ 23 w 56"/>
              <a:gd name="T39" fmla="*/ 12 h 78"/>
              <a:gd name="T40" fmla="*/ 5 w 56"/>
              <a:gd name="T41" fmla="*/ 1 h 78"/>
              <a:gd name="T42" fmla="*/ 4 w 56"/>
              <a:gd name="T43"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78">
                <a:moveTo>
                  <a:pt x="56" y="62"/>
                </a:moveTo>
                <a:cubicBezTo>
                  <a:pt x="55" y="63"/>
                  <a:pt x="53" y="63"/>
                  <a:pt x="51" y="63"/>
                </a:cubicBezTo>
                <a:cubicBezTo>
                  <a:pt x="51" y="63"/>
                  <a:pt x="51" y="63"/>
                  <a:pt x="50" y="63"/>
                </a:cubicBezTo>
                <a:cubicBezTo>
                  <a:pt x="50" y="64"/>
                  <a:pt x="50" y="64"/>
                  <a:pt x="50" y="65"/>
                </a:cubicBezTo>
                <a:cubicBezTo>
                  <a:pt x="50" y="71"/>
                  <a:pt x="50" y="75"/>
                  <a:pt x="50" y="75"/>
                </a:cubicBezTo>
                <a:cubicBezTo>
                  <a:pt x="51" y="77"/>
                  <a:pt x="52" y="78"/>
                  <a:pt x="53" y="78"/>
                </a:cubicBezTo>
                <a:cubicBezTo>
                  <a:pt x="53" y="78"/>
                  <a:pt x="54" y="78"/>
                  <a:pt x="54" y="78"/>
                </a:cubicBezTo>
                <a:cubicBezTo>
                  <a:pt x="55" y="78"/>
                  <a:pt x="56" y="77"/>
                  <a:pt x="56" y="75"/>
                </a:cubicBezTo>
                <a:cubicBezTo>
                  <a:pt x="56" y="75"/>
                  <a:pt x="56" y="75"/>
                  <a:pt x="56" y="75"/>
                </a:cubicBezTo>
                <a:cubicBezTo>
                  <a:pt x="56" y="74"/>
                  <a:pt x="56" y="70"/>
                  <a:pt x="56" y="65"/>
                </a:cubicBezTo>
                <a:cubicBezTo>
                  <a:pt x="56" y="64"/>
                  <a:pt x="56" y="63"/>
                  <a:pt x="56" y="62"/>
                </a:cubicBezTo>
                <a:moveTo>
                  <a:pt x="4" y="0"/>
                </a:moveTo>
                <a:cubicBezTo>
                  <a:pt x="3" y="0"/>
                  <a:pt x="1" y="1"/>
                  <a:pt x="1" y="2"/>
                </a:cubicBezTo>
                <a:cubicBezTo>
                  <a:pt x="0" y="4"/>
                  <a:pt x="1" y="6"/>
                  <a:pt x="2" y="6"/>
                </a:cubicBezTo>
                <a:cubicBezTo>
                  <a:pt x="8" y="9"/>
                  <a:pt x="14" y="12"/>
                  <a:pt x="19" y="17"/>
                </a:cubicBezTo>
                <a:cubicBezTo>
                  <a:pt x="28" y="24"/>
                  <a:pt x="36" y="32"/>
                  <a:pt x="42" y="38"/>
                </a:cubicBezTo>
                <a:cubicBezTo>
                  <a:pt x="43" y="39"/>
                  <a:pt x="44" y="40"/>
                  <a:pt x="45" y="41"/>
                </a:cubicBezTo>
                <a:cubicBezTo>
                  <a:pt x="46" y="40"/>
                  <a:pt x="48" y="39"/>
                  <a:pt x="50" y="38"/>
                </a:cubicBezTo>
                <a:cubicBezTo>
                  <a:pt x="47" y="35"/>
                  <a:pt x="44" y="31"/>
                  <a:pt x="40" y="27"/>
                </a:cubicBezTo>
                <a:cubicBezTo>
                  <a:pt x="35" y="22"/>
                  <a:pt x="29" y="17"/>
                  <a:pt x="23" y="12"/>
                </a:cubicBezTo>
                <a:cubicBezTo>
                  <a:pt x="17" y="7"/>
                  <a:pt x="11" y="3"/>
                  <a:pt x="5" y="1"/>
                </a:cubicBezTo>
                <a:cubicBezTo>
                  <a:pt x="4" y="1"/>
                  <a:pt x="4" y="0"/>
                  <a:pt x="4"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8" name="Freeform 83"/>
          <p:cNvSpPr>
            <a:spLocks/>
          </p:cNvSpPr>
          <p:nvPr/>
        </p:nvSpPr>
        <p:spPr bwMode="auto">
          <a:xfrm>
            <a:off x="3640138" y="5483225"/>
            <a:ext cx="20638" cy="42862"/>
          </a:xfrm>
          <a:custGeom>
            <a:avLst/>
            <a:gdLst>
              <a:gd name="T0" fmla="*/ 5 w 12"/>
              <a:gd name="T1" fmla="*/ 0 h 25"/>
              <a:gd name="T2" fmla="*/ 0 w 12"/>
              <a:gd name="T3" fmla="*/ 3 h 25"/>
              <a:gd name="T4" fmla="*/ 4 w 12"/>
              <a:gd name="T5" fmla="*/ 8 h 25"/>
              <a:gd name="T6" fmla="*/ 6 w 12"/>
              <a:gd name="T7" fmla="*/ 10 h 25"/>
              <a:gd name="T8" fmla="*/ 5 w 12"/>
              <a:gd name="T9" fmla="*/ 25 h 25"/>
              <a:gd name="T10" fmla="*/ 6 w 12"/>
              <a:gd name="T11" fmla="*/ 25 h 25"/>
              <a:gd name="T12" fmla="*/ 11 w 12"/>
              <a:gd name="T13" fmla="*/ 24 h 25"/>
              <a:gd name="T14" fmla="*/ 12 w 12"/>
              <a:gd name="T15" fmla="*/ 11 h 25"/>
              <a:gd name="T16" fmla="*/ 11 w 12"/>
              <a:gd name="T17" fmla="*/ 11 h 25"/>
              <a:gd name="T18" fmla="*/ 9 w 12"/>
              <a:gd name="T19" fmla="*/ 12 h 25"/>
              <a:gd name="T20" fmla="*/ 7 w 12"/>
              <a:gd name="T21" fmla="*/ 11 h 25"/>
              <a:gd name="T22" fmla="*/ 7 w 12"/>
              <a:gd name="T23" fmla="*/ 7 h 25"/>
              <a:gd name="T24" fmla="*/ 10 w 12"/>
              <a:gd name="T25" fmla="*/ 5 h 25"/>
              <a:gd name="T26" fmla="*/ 5 w 12"/>
              <a:gd name="T2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 h="25">
                <a:moveTo>
                  <a:pt x="5" y="0"/>
                </a:moveTo>
                <a:cubicBezTo>
                  <a:pt x="3" y="1"/>
                  <a:pt x="1" y="2"/>
                  <a:pt x="0" y="3"/>
                </a:cubicBezTo>
                <a:cubicBezTo>
                  <a:pt x="2" y="5"/>
                  <a:pt x="3" y="7"/>
                  <a:pt x="4" y="8"/>
                </a:cubicBezTo>
                <a:cubicBezTo>
                  <a:pt x="5" y="9"/>
                  <a:pt x="6" y="10"/>
                  <a:pt x="6" y="10"/>
                </a:cubicBezTo>
                <a:cubicBezTo>
                  <a:pt x="5" y="15"/>
                  <a:pt x="5" y="20"/>
                  <a:pt x="5" y="25"/>
                </a:cubicBezTo>
                <a:cubicBezTo>
                  <a:pt x="6" y="25"/>
                  <a:pt x="6" y="25"/>
                  <a:pt x="6" y="25"/>
                </a:cubicBezTo>
                <a:cubicBezTo>
                  <a:pt x="8" y="25"/>
                  <a:pt x="10" y="25"/>
                  <a:pt x="11" y="24"/>
                </a:cubicBezTo>
                <a:cubicBezTo>
                  <a:pt x="11" y="20"/>
                  <a:pt x="12" y="15"/>
                  <a:pt x="12" y="11"/>
                </a:cubicBezTo>
                <a:cubicBezTo>
                  <a:pt x="12" y="11"/>
                  <a:pt x="12" y="11"/>
                  <a:pt x="11" y="11"/>
                </a:cubicBezTo>
                <a:cubicBezTo>
                  <a:pt x="11" y="12"/>
                  <a:pt x="10" y="12"/>
                  <a:pt x="9" y="12"/>
                </a:cubicBezTo>
                <a:cubicBezTo>
                  <a:pt x="9" y="12"/>
                  <a:pt x="8" y="12"/>
                  <a:pt x="7" y="11"/>
                </a:cubicBezTo>
                <a:cubicBezTo>
                  <a:pt x="6" y="10"/>
                  <a:pt x="6" y="8"/>
                  <a:pt x="7" y="7"/>
                </a:cubicBezTo>
                <a:cubicBezTo>
                  <a:pt x="8" y="6"/>
                  <a:pt x="9" y="6"/>
                  <a:pt x="10" y="5"/>
                </a:cubicBezTo>
                <a:cubicBezTo>
                  <a:pt x="9" y="4"/>
                  <a:pt x="7" y="2"/>
                  <a:pt x="5"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9" name="Freeform 84"/>
          <p:cNvSpPr>
            <a:spLocks noEditPoints="1"/>
          </p:cNvSpPr>
          <p:nvPr/>
        </p:nvSpPr>
        <p:spPr bwMode="auto">
          <a:xfrm>
            <a:off x="3327401" y="5121275"/>
            <a:ext cx="234950" cy="57150"/>
          </a:xfrm>
          <a:custGeom>
            <a:avLst/>
            <a:gdLst>
              <a:gd name="T0" fmla="*/ 135 w 138"/>
              <a:gd name="T1" fmla="*/ 19 h 34"/>
              <a:gd name="T2" fmla="*/ 135 w 138"/>
              <a:gd name="T3" fmla="*/ 19 h 34"/>
              <a:gd name="T4" fmla="*/ 135 w 138"/>
              <a:gd name="T5" fmla="*/ 15 h 34"/>
              <a:gd name="T6" fmla="*/ 134 w 138"/>
              <a:gd name="T7" fmla="*/ 15 h 34"/>
              <a:gd name="T8" fmla="*/ 125 w 138"/>
              <a:gd name="T9" fmla="*/ 19 h 34"/>
              <a:gd name="T10" fmla="*/ 113 w 138"/>
              <a:gd name="T11" fmla="*/ 31 h 34"/>
              <a:gd name="T12" fmla="*/ 118 w 138"/>
              <a:gd name="T13" fmla="*/ 34 h 34"/>
              <a:gd name="T14" fmla="*/ 129 w 138"/>
              <a:gd name="T15" fmla="*/ 24 h 34"/>
              <a:gd name="T16" fmla="*/ 134 w 138"/>
              <a:gd name="T17" fmla="*/ 22 h 34"/>
              <a:gd name="T18" fmla="*/ 135 w 138"/>
              <a:gd name="T19" fmla="*/ 21 h 34"/>
              <a:gd name="T20" fmla="*/ 135 w 138"/>
              <a:gd name="T21" fmla="*/ 21 h 34"/>
              <a:gd name="T22" fmla="*/ 135 w 138"/>
              <a:gd name="T23" fmla="*/ 21 h 34"/>
              <a:gd name="T24" fmla="*/ 135 w 138"/>
              <a:gd name="T25" fmla="*/ 21 h 34"/>
              <a:gd name="T26" fmla="*/ 138 w 138"/>
              <a:gd name="T27" fmla="*/ 18 h 34"/>
              <a:gd name="T28" fmla="*/ 135 w 138"/>
              <a:gd name="T29" fmla="*/ 15 h 34"/>
              <a:gd name="T30" fmla="*/ 10 w 138"/>
              <a:gd name="T31" fmla="*/ 13 h 34"/>
              <a:gd name="T32" fmla="*/ 1 w 138"/>
              <a:gd name="T33" fmla="*/ 24 h 34"/>
              <a:gd name="T34" fmla="*/ 2 w 138"/>
              <a:gd name="T35" fmla="*/ 28 h 34"/>
              <a:gd name="T36" fmla="*/ 3 w 138"/>
              <a:gd name="T37" fmla="*/ 29 h 34"/>
              <a:gd name="T38" fmla="*/ 6 w 138"/>
              <a:gd name="T39" fmla="*/ 27 h 34"/>
              <a:gd name="T40" fmla="*/ 15 w 138"/>
              <a:gd name="T41" fmla="*/ 16 h 34"/>
              <a:gd name="T42" fmla="*/ 12 w 138"/>
              <a:gd name="T43" fmla="*/ 14 h 34"/>
              <a:gd name="T44" fmla="*/ 10 w 138"/>
              <a:gd name="T45" fmla="*/ 13 h 34"/>
              <a:gd name="T46" fmla="*/ 39 w 138"/>
              <a:gd name="T47" fmla="*/ 0 h 34"/>
              <a:gd name="T48" fmla="*/ 34 w 138"/>
              <a:gd name="T49" fmla="*/ 5 h 34"/>
              <a:gd name="T50" fmla="*/ 54 w 138"/>
              <a:gd name="T51" fmla="*/ 10 h 34"/>
              <a:gd name="T52" fmla="*/ 93 w 138"/>
              <a:gd name="T53" fmla="*/ 29 h 34"/>
              <a:gd name="T54" fmla="*/ 100 w 138"/>
              <a:gd name="T55" fmla="*/ 34 h 34"/>
              <a:gd name="T56" fmla="*/ 106 w 138"/>
              <a:gd name="T57" fmla="*/ 30 h 34"/>
              <a:gd name="T58" fmla="*/ 85 w 138"/>
              <a:gd name="T59" fmla="*/ 17 h 34"/>
              <a:gd name="T60" fmla="*/ 56 w 138"/>
              <a:gd name="T61" fmla="*/ 4 h 34"/>
              <a:gd name="T62" fmla="*/ 39 w 138"/>
              <a:gd name="T6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8" h="34">
                <a:moveTo>
                  <a:pt x="135" y="19"/>
                </a:moveTo>
                <a:cubicBezTo>
                  <a:pt x="135" y="19"/>
                  <a:pt x="135" y="19"/>
                  <a:pt x="135" y="19"/>
                </a:cubicBezTo>
                <a:moveTo>
                  <a:pt x="135" y="15"/>
                </a:moveTo>
                <a:cubicBezTo>
                  <a:pt x="134" y="15"/>
                  <a:pt x="134" y="15"/>
                  <a:pt x="134" y="15"/>
                </a:cubicBezTo>
                <a:cubicBezTo>
                  <a:pt x="134" y="15"/>
                  <a:pt x="130" y="16"/>
                  <a:pt x="125" y="19"/>
                </a:cubicBezTo>
                <a:cubicBezTo>
                  <a:pt x="122" y="22"/>
                  <a:pt x="117" y="25"/>
                  <a:pt x="113" y="31"/>
                </a:cubicBezTo>
                <a:cubicBezTo>
                  <a:pt x="115" y="32"/>
                  <a:pt x="117" y="33"/>
                  <a:pt x="118" y="34"/>
                </a:cubicBezTo>
                <a:cubicBezTo>
                  <a:pt x="122" y="30"/>
                  <a:pt x="125" y="26"/>
                  <a:pt x="129" y="24"/>
                </a:cubicBezTo>
                <a:cubicBezTo>
                  <a:pt x="131" y="23"/>
                  <a:pt x="132" y="22"/>
                  <a:pt x="134" y="22"/>
                </a:cubicBezTo>
                <a:cubicBezTo>
                  <a:pt x="134" y="22"/>
                  <a:pt x="135" y="21"/>
                  <a:pt x="135" y="21"/>
                </a:cubicBezTo>
                <a:cubicBezTo>
                  <a:pt x="135" y="21"/>
                  <a:pt x="135" y="21"/>
                  <a:pt x="135" y="21"/>
                </a:cubicBezTo>
                <a:cubicBezTo>
                  <a:pt x="135" y="21"/>
                  <a:pt x="135" y="21"/>
                  <a:pt x="135" y="21"/>
                </a:cubicBezTo>
                <a:cubicBezTo>
                  <a:pt x="135" y="21"/>
                  <a:pt x="135" y="21"/>
                  <a:pt x="135" y="21"/>
                </a:cubicBezTo>
                <a:cubicBezTo>
                  <a:pt x="137" y="21"/>
                  <a:pt x="138" y="19"/>
                  <a:pt x="138" y="18"/>
                </a:cubicBezTo>
                <a:cubicBezTo>
                  <a:pt x="137" y="16"/>
                  <a:pt x="136" y="15"/>
                  <a:pt x="135" y="15"/>
                </a:cubicBezTo>
                <a:moveTo>
                  <a:pt x="10" y="13"/>
                </a:moveTo>
                <a:cubicBezTo>
                  <a:pt x="1" y="24"/>
                  <a:pt x="1" y="24"/>
                  <a:pt x="1" y="24"/>
                </a:cubicBezTo>
                <a:cubicBezTo>
                  <a:pt x="0" y="25"/>
                  <a:pt x="0" y="27"/>
                  <a:pt x="2" y="28"/>
                </a:cubicBezTo>
                <a:cubicBezTo>
                  <a:pt x="2" y="28"/>
                  <a:pt x="3" y="29"/>
                  <a:pt x="3" y="29"/>
                </a:cubicBezTo>
                <a:cubicBezTo>
                  <a:pt x="4" y="29"/>
                  <a:pt x="5" y="28"/>
                  <a:pt x="6" y="27"/>
                </a:cubicBezTo>
                <a:cubicBezTo>
                  <a:pt x="15" y="16"/>
                  <a:pt x="15" y="16"/>
                  <a:pt x="15" y="16"/>
                </a:cubicBezTo>
                <a:cubicBezTo>
                  <a:pt x="14" y="16"/>
                  <a:pt x="13" y="15"/>
                  <a:pt x="12" y="14"/>
                </a:cubicBezTo>
                <a:cubicBezTo>
                  <a:pt x="11" y="14"/>
                  <a:pt x="10" y="13"/>
                  <a:pt x="10" y="13"/>
                </a:cubicBezTo>
                <a:moveTo>
                  <a:pt x="39" y="0"/>
                </a:moveTo>
                <a:cubicBezTo>
                  <a:pt x="37" y="2"/>
                  <a:pt x="36" y="3"/>
                  <a:pt x="34" y="5"/>
                </a:cubicBezTo>
                <a:cubicBezTo>
                  <a:pt x="41" y="6"/>
                  <a:pt x="48" y="8"/>
                  <a:pt x="54" y="10"/>
                </a:cubicBezTo>
                <a:cubicBezTo>
                  <a:pt x="69" y="15"/>
                  <a:pt x="83" y="23"/>
                  <a:pt x="93" y="29"/>
                </a:cubicBezTo>
                <a:cubicBezTo>
                  <a:pt x="96" y="31"/>
                  <a:pt x="98" y="32"/>
                  <a:pt x="100" y="34"/>
                </a:cubicBezTo>
                <a:cubicBezTo>
                  <a:pt x="102" y="32"/>
                  <a:pt x="104" y="31"/>
                  <a:pt x="106" y="30"/>
                </a:cubicBezTo>
                <a:cubicBezTo>
                  <a:pt x="101" y="27"/>
                  <a:pt x="94" y="22"/>
                  <a:pt x="85" y="17"/>
                </a:cubicBezTo>
                <a:cubicBezTo>
                  <a:pt x="76" y="13"/>
                  <a:pt x="66" y="8"/>
                  <a:pt x="56" y="4"/>
                </a:cubicBezTo>
                <a:cubicBezTo>
                  <a:pt x="50" y="2"/>
                  <a:pt x="45" y="1"/>
                  <a:pt x="39"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0" name="Freeform 85"/>
          <p:cNvSpPr>
            <a:spLocks/>
          </p:cNvSpPr>
          <p:nvPr/>
        </p:nvSpPr>
        <p:spPr bwMode="auto">
          <a:xfrm>
            <a:off x="3497263" y="5172075"/>
            <a:ext cx="30163" cy="17462"/>
          </a:xfrm>
          <a:custGeom>
            <a:avLst/>
            <a:gdLst>
              <a:gd name="T0" fmla="*/ 6 w 18"/>
              <a:gd name="T1" fmla="*/ 0 h 10"/>
              <a:gd name="T2" fmla="*/ 0 w 18"/>
              <a:gd name="T3" fmla="*/ 4 h 10"/>
              <a:gd name="T4" fmla="*/ 6 w 18"/>
              <a:gd name="T5" fmla="*/ 7 h 10"/>
              <a:gd name="T6" fmla="*/ 9 w 18"/>
              <a:gd name="T7" fmla="*/ 10 h 10"/>
              <a:gd name="T8" fmla="*/ 9 w 18"/>
              <a:gd name="T9" fmla="*/ 10 h 10"/>
              <a:gd name="T10" fmla="*/ 9 w 18"/>
              <a:gd name="T11" fmla="*/ 8 h 10"/>
              <a:gd name="T12" fmla="*/ 12 w 18"/>
              <a:gd name="T13" fmla="*/ 5 h 10"/>
              <a:gd name="T14" fmla="*/ 15 w 18"/>
              <a:gd name="T15" fmla="*/ 8 h 10"/>
              <a:gd name="T16" fmla="*/ 15 w 18"/>
              <a:gd name="T17" fmla="*/ 9 h 10"/>
              <a:gd name="T18" fmla="*/ 18 w 18"/>
              <a:gd name="T19" fmla="*/ 4 h 10"/>
              <a:gd name="T20" fmla="*/ 13 w 18"/>
              <a:gd name="T21" fmla="*/ 1 h 10"/>
              <a:gd name="T22" fmla="*/ 11 w 18"/>
              <a:gd name="T23" fmla="*/ 4 h 10"/>
              <a:gd name="T24" fmla="*/ 6 w 18"/>
              <a:gd name="T2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0">
                <a:moveTo>
                  <a:pt x="6" y="0"/>
                </a:moveTo>
                <a:cubicBezTo>
                  <a:pt x="4" y="1"/>
                  <a:pt x="2" y="2"/>
                  <a:pt x="0" y="4"/>
                </a:cubicBezTo>
                <a:cubicBezTo>
                  <a:pt x="2" y="5"/>
                  <a:pt x="4" y="6"/>
                  <a:pt x="6" y="7"/>
                </a:cubicBezTo>
                <a:cubicBezTo>
                  <a:pt x="7" y="8"/>
                  <a:pt x="8" y="9"/>
                  <a:pt x="9" y="10"/>
                </a:cubicBezTo>
                <a:cubicBezTo>
                  <a:pt x="9" y="10"/>
                  <a:pt x="9" y="10"/>
                  <a:pt x="9" y="10"/>
                </a:cubicBezTo>
                <a:cubicBezTo>
                  <a:pt x="9" y="9"/>
                  <a:pt x="9" y="9"/>
                  <a:pt x="9" y="8"/>
                </a:cubicBezTo>
                <a:cubicBezTo>
                  <a:pt x="9" y="7"/>
                  <a:pt x="10" y="5"/>
                  <a:pt x="12" y="5"/>
                </a:cubicBezTo>
                <a:cubicBezTo>
                  <a:pt x="13" y="5"/>
                  <a:pt x="15" y="7"/>
                  <a:pt x="15" y="8"/>
                </a:cubicBezTo>
                <a:cubicBezTo>
                  <a:pt x="15" y="9"/>
                  <a:pt x="15" y="9"/>
                  <a:pt x="15" y="9"/>
                </a:cubicBezTo>
                <a:cubicBezTo>
                  <a:pt x="16" y="7"/>
                  <a:pt x="17" y="6"/>
                  <a:pt x="18" y="4"/>
                </a:cubicBezTo>
                <a:cubicBezTo>
                  <a:pt x="17" y="3"/>
                  <a:pt x="15" y="2"/>
                  <a:pt x="13" y="1"/>
                </a:cubicBezTo>
                <a:cubicBezTo>
                  <a:pt x="12" y="2"/>
                  <a:pt x="12" y="3"/>
                  <a:pt x="11" y="4"/>
                </a:cubicBezTo>
                <a:cubicBezTo>
                  <a:pt x="10" y="3"/>
                  <a:pt x="8" y="2"/>
                  <a:pt x="6"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1" name="Freeform 86"/>
          <p:cNvSpPr>
            <a:spLocks/>
          </p:cNvSpPr>
          <p:nvPr/>
        </p:nvSpPr>
        <p:spPr bwMode="auto">
          <a:xfrm>
            <a:off x="3344863" y="5118100"/>
            <a:ext cx="49213" cy="30162"/>
          </a:xfrm>
          <a:custGeom>
            <a:avLst/>
            <a:gdLst>
              <a:gd name="T0" fmla="*/ 11 w 29"/>
              <a:gd name="T1" fmla="*/ 0 h 18"/>
              <a:gd name="T2" fmla="*/ 11 w 29"/>
              <a:gd name="T3" fmla="*/ 0 h 18"/>
              <a:gd name="T4" fmla="*/ 0 w 29"/>
              <a:gd name="T5" fmla="*/ 15 h 18"/>
              <a:gd name="T6" fmla="*/ 2 w 29"/>
              <a:gd name="T7" fmla="*/ 16 h 18"/>
              <a:gd name="T8" fmla="*/ 5 w 29"/>
              <a:gd name="T9" fmla="*/ 18 h 18"/>
              <a:gd name="T10" fmla="*/ 14 w 29"/>
              <a:gd name="T11" fmla="*/ 6 h 18"/>
              <a:gd name="T12" fmla="*/ 14 w 29"/>
              <a:gd name="T13" fmla="*/ 6 h 18"/>
              <a:gd name="T14" fmla="*/ 14 w 29"/>
              <a:gd name="T15" fmla="*/ 6 h 18"/>
              <a:gd name="T16" fmla="*/ 24 w 29"/>
              <a:gd name="T17" fmla="*/ 7 h 18"/>
              <a:gd name="T18" fmla="*/ 29 w 29"/>
              <a:gd name="T19" fmla="*/ 2 h 18"/>
              <a:gd name="T20" fmla="*/ 18 w 29"/>
              <a:gd name="T21" fmla="*/ 1 h 18"/>
              <a:gd name="T22" fmla="*/ 15 w 29"/>
              <a:gd name="T23" fmla="*/ 5 h 18"/>
              <a:gd name="T24" fmla="*/ 12 w 29"/>
              <a:gd name="T25" fmla="*/ 6 h 18"/>
              <a:gd name="T26" fmla="*/ 10 w 29"/>
              <a:gd name="T27" fmla="*/ 6 h 18"/>
              <a:gd name="T28" fmla="*/ 10 w 29"/>
              <a:gd name="T29" fmla="*/ 2 h 18"/>
              <a:gd name="T30" fmla="*/ 10 w 29"/>
              <a:gd name="T31" fmla="*/ 1 h 18"/>
              <a:gd name="T32" fmla="*/ 11 w 29"/>
              <a:gd name="T33" fmla="*/ 1 h 18"/>
              <a:gd name="T34" fmla="*/ 11 w 29"/>
              <a:gd name="T35"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 h="18">
                <a:moveTo>
                  <a:pt x="11" y="0"/>
                </a:moveTo>
                <a:cubicBezTo>
                  <a:pt x="11" y="0"/>
                  <a:pt x="11" y="0"/>
                  <a:pt x="11" y="0"/>
                </a:cubicBezTo>
                <a:cubicBezTo>
                  <a:pt x="0" y="15"/>
                  <a:pt x="0" y="15"/>
                  <a:pt x="0" y="15"/>
                </a:cubicBezTo>
                <a:cubicBezTo>
                  <a:pt x="0" y="15"/>
                  <a:pt x="1" y="16"/>
                  <a:pt x="2" y="16"/>
                </a:cubicBezTo>
                <a:cubicBezTo>
                  <a:pt x="3" y="17"/>
                  <a:pt x="4" y="18"/>
                  <a:pt x="5" y="18"/>
                </a:cubicBezTo>
                <a:cubicBezTo>
                  <a:pt x="14" y="6"/>
                  <a:pt x="14" y="6"/>
                  <a:pt x="14" y="6"/>
                </a:cubicBezTo>
                <a:cubicBezTo>
                  <a:pt x="14" y="6"/>
                  <a:pt x="14" y="6"/>
                  <a:pt x="14" y="6"/>
                </a:cubicBezTo>
                <a:cubicBezTo>
                  <a:pt x="14" y="6"/>
                  <a:pt x="14" y="6"/>
                  <a:pt x="14" y="6"/>
                </a:cubicBezTo>
                <a:cubicBezTo>
                  <a:pt x="17" y="6"/>
                  <a:pt x="21" y="7"/>
                  <a:pt x="24" y="7"/>
                </a:cubicBezTo>
                <a:cubicBezTo>
                  <a:pt x="26" y="5"/>
                  <a:pt x="27" y="4"/>
                  <a:pt x="29" y="2"/>
                </a:cubicBezTo>
                <a:cubicBezTo>
                  <a:pt x="25" y="1"/>
                  <a:pt x="22" y="1"/>
                  <a:pt x="18" y="1"/>
                </a:cubicBezTo>
                <a:cubicBezTo>
                  <a:pt x="16" y="3"/>
                  <a:pt x="15" y="5"/>
                  <a:pt x="15" y="5"/>
                </a:cubicBezTo>
                <a:cubicBezTo>
                  <a:pt x="14" y="6"/>
                  <a:pt x="13" y="6"/>
                  <a:pt x="12" y="6"/>
                </a:cubicBezTo>
                <a:cubicBezTo>
                  <a:pt x="12" y="6"/>
                  <a:pt x="11" y="6"/>
                  <a:pt x="10" y="6"/>
                </a:cubicBezTo>
                <a:cubicBezTo>
                  <a:pt x="9" y="5"/>
                  <a:pt x="9" y="3"/>
                  <a:pt x="10" y="2"/>
                </a:cubicBezTo>
                <a:cubicBezTo>
                  <a:pt x="10" y="1"/>
                  <a:pt x="10" y="1"/>
                  <a:pt x="10" y="1"/>
                </a:cubicBezTo>
                <a:cubicBezTo>
                  <a:pt x="10" y="1"/>
                  <a:pt x="10" y="1"/>
                  <a:pt x="11" y="1"/>
                </a:cubicBezTo>
                <a:cubicBezTo>
                  <a:pt x="11" y="1"/>
                  <a:pt x="11" y="1"/>
                  <a:pt x="11"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2" name="Freeform 87"/>
          <p:cNvSpPr>
            <a:spLocks/>
          </p:cNvSpPr>
          <p:nvPr/>
        </p:nvSpPr>
        <p:spPr bwMode="auto">
          <a:xfrm>
            <a:off x="3649663" y="5483225"/>
            <a:ext cx="61913" cy="20637"/>
          </a:xfrm>
          <a:custGeom>
            <a:avLst/>
            <a:gdLst>
              <a:gd name="T0" fmla="*/ 33 w 36"/>
              <a:gd name="T1" fmla="*/ 0 h 12"/>
              <a:gd name="T2" fmla="*/ 21 w 36"/>
              <a:gd name="T3" fmla="*/ 1 h 12"/>
              <a:gd name="T4" fmla="*/ 10 w 36"/>
              <a:gd name="T5" fmla="*/ 3 h 12"/>
              <a:gd name="T6" fmla="*/ 5 w 36"/>
              <a:gd name="T7" fmla="*/ 5 h 12"/>
              <a:gd name="T8" fmla="*/ 4 w 36"/>
              <a:gd name="T9" fmla="*/ 5 h 12"/>
              <a:gd name="T10" fmla="*/ 1 w 36"/>
              <a:gd name="T11" fmla="*/ 7 h 12"/>
              <a:gd name="T12" fmla="*/ 1 w 36"/>
              <a:gd name="T13" fmla="*/ 11 h 12"/>
              <a:gd name="T14" fmla="*/ 3 w 36"/>
              <a:gd name="T15" fmla="*/ 12 h 12"/>
              <a:gd name="T16" fmla="*/ 5 w 36"/>
              <a:gd name="T17" fmla="*/ 11 h 12"/>
              <a:gd name="T18" fmla="*/ 6 w 36"/>
              <a:gd name="T19" fmla="*/ 11 h 12"/>
              <a:gd name="T20" fmla="*/ 8 w 36"/>
              <a:gd name="T21" fmla="*/ 10 h 12"/>
              <a:gd name="T22" fmla="*/ 15 w 36"/>
              <a:gd name="T23" fmla="*/ 8 h 12"/>
              <a:gd name="T24" fmla="*/ 27 w 36"/>
              <a:gd name="T25" fmla="*/ 6 h 12"/>
              <a:gd name="T26" fmla="*/ 32 w 36"/>
              <a:gd name="T27" fmla="*/ 6 h 12"/>
              <a:gd name="T28" fmla="*/ 33 w 36"/>
              <a:gd name="T29" fmla="*/ 6 h 12"/>
              <a:gd name="T30" fmla="*/ 33 w 36"/>
              <a:gd name="T31" fmla="*/ 6 h 12"/>
              <a:gd name="T32" fmla="*/ 33 w 36"/>
              <a:gd name="T33" fmla="*/ 6 h 12"/>
              <a:gd name="T34" fmla="*/ 36 w 36"/>
              <a:gd name="T35" fmla="*/ 3 h 12"/>
              <a:gd name="T36" fmla="*/ 33 w 36"/>
              <a:gd name="T37" fmla="*/ 0 h 12"/>
              <a:gd name="T38" fmla="*/ 33 w 36"/>
              <a:gd name="T3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 h="12">
                <a:moveTo>
                  <a:pt x="33" y="0"/>
                </a:moveTo>
                <a:cubicBezTo>
                  <a:pt x="33" y="0"/>
                  <a:pt x="27" y="0"/>
                  <a:pt x="21" y="1"/>
                </a:cubicBezTo>
                <a:cubicBezTo>
                  <a:pt x="17" y="1"/>
                  <a:pt x="14" y="2"/>
                  <a:pt x="10" y="3"/>
                </a:cubicBezTo>
                <a:cubicBezTo>
                  <a:pt x="9" y="3"/>
                  <a:pt x="7" y="4"/>
                  <a:pt x="5" y="5"/>
                </a:cubicBezTo>
                <a:cubicBezTo>
                  <a:pt x="5" y="5"/>
                  <a:pt x="4" y="5"/>
                  <a:pt x="4" y="5"/>
                </a:cubicBezTo>
                <a:cubicBezTo>
                  <a:pt x="3" y="6"/>
                  <a:pt x="2" y="6"/>
                  <a:pt x="1" y="7"/>
                </a:cubicBezTo>
                <a:cubicBezTo>
                  <a:pt x="0" y="8"/>
                  <a:pt x="0" y="10"/>
                  <a:pt x="1" y="11"/>
                </a:cubicBezTo>
                <a:cubicBezTo>
                  <a:pt x="2" y="12"/>
                  <a:pt x="3" y="12"/>
                  <a:pt x="3" y="12"/>
                </a:cubicBezTo>
                <a:cubicBezTo>
                  <a:pt x="4" y="12"/>
                  <a:pt x="5" y="12"/>
                  <a:pt x="5" y="11"/>
                </a:cubicBezTo>
                <a:cubicBezTo>
                  <a:pt x="6" y="11"/>
                  <a:pt x="6" y="11"/>
                  <a:pt x="6" y="11"/>
                </a:cubicBezTo>
                <a:cubicBezTo>
                  <a:pt x="7" y="11"/>
                  <a:pt x="7" y="10"/>
                  <a:pt x="8" y="10"/>
                </a:cubicBezTo>
                <a:cubicBezTo>
                  <a:pt x="10" y="9"/>
                  <a:pt x="12" y="8"/>
                  <a:pt x="15" y="8"/>
                </a:cubicBezTo>
                <a:cubicBezTo>
                  <a:pt x="19" y="7"/>
                  <a:pt x="24" y="7"/>
                  <a:pt x="27" y="6"/>
                </a:cubicBezTo>
                <a:cubicBezTo>
                  <a:pt x="29" y="6"/>
                  <a:pt x="31" y="6"/>
                  <a:pt x="32" y="6"/>
                </a:cubicBezTo>
                <a:cubicBezTo>
                  <a:pt x="32" y="6"/>
                  <a:pt x="33" y="6"/>
                  <a:pt x="33" y="6"/>
                </a:cubicBezTo>
                <a:cubicBezTo>
                  <a:pt x="33" y="6"/>
                  <a:pt x="33" y="6"/>
                  <a:pt x="33" y="6"/>
                </a:cubicBezTo>
                <a:cubicBezTo>
                  <a:pt x="33" y="6"/>
                  <a:pt x="33" y="6"/>
                  <a:pt x="33" y="6"/>
                </a:cubicBezTo>
                <a:cubicBezTo>
                  <a:pt x="35" y="6"/>
                  <a:pt x="36" y="5"/>
                  <a:pt x="36" y="3"/>
                </a:cubicBezTo>
                <a:cubicBezTo>
                  <a:pt x="36" y="2"/>
                  <a:pt x="35" y="0"/>
                  <a:pt x="33" y="0"/>
                </a:cubicBezTo>
                <a:cubicBezTo>
                  <a:pt x="33" y="0"/>
                  <a:pt x="33" y="0"/>
                  <a:pt x="3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3" name="Freeform 88"/>
          <p:cNvSpPr>
            <a:spLocks/>
          </p:cNvSpPr>
          <p:nvPr/>
        </p:nvSpPr>
        <p:spPr bwMode="auto">
          <a:xfrm>
            <a:off x="3511551" y="5586413"/>
            <a:ext cx="36513" cy="34925"/>
          </a:xfrm>
          <a:custGeom>
            <a:avLst/>
            <a:gdLst>
              <a:gd name="T0" fmla="*/ 4 w 22"/>
              <a:gd name="T1" fmla="*/ 0 h 21"/>
              <a:gd name="T2" fmla="*/ 2 w 22"/>
              <a:gd name="T3" fmla="*/ 0 h 21"/>
              <a:gd name="T4" fmla="*/ 1 w 22"/>
              <a:gd name="T5" fmla="*/ 4 h 21"/>
              <a:gd name="T6" fmla="*/ 1 w 22"/>
              <a:gd name="T7" fmla="*/ 4 h 21"/>
              <a:gd name="T8" fmla="*/ 5 w 22"/>
              <a:gd name="T9" fmla="*/ 10 h 21"/>
              <a:gd name="T10" fmla="*/ 13 w 22"/>
              <a:gd name="T11" fmla="*/ 17 h 21"/>
              <a:gd name="T12" fmla="*/ 17 w 22"/>
              <a:gd name="T13" fmla="*/ 20 h 21"/>
              <a:gd name="T14" fmla="*/ 19 w 22"/>
              <a:gd name="T15" fmla="*/ 21 h 21"/>
              <a:gd name="T16" fmla="*/ 21 w 22"/>
              <a:gd name="T17" fmla="*/ 20 h 21"/>
              <a:gd name="T18" fmla="*/ 20 w 22"/>
              <a:gd name="T19" fmla="*/ 15 h 21"/>
              <a:gd name="T20" fmla="*/ 20 w 22"/>
              <a:gd name="T21" fmla="*/ 15 h 21"/>
              <a:gd name="T22" fmla="*/ 20 w 22"/>
              <a:gd name="T23" fmla="*/ 15 h 21"/>
              <a:gd name="T24" fmla="*/ 14 w 22"/>
              <a:gd name="T25" fmla="*/ 10 h 21"/>
              <a:gd name="T26" fmla="*/ 10 w 22"/>
              <a:gd name="T27" fmla="*/ 6 h 21"/>
              <a:gd name="T28" fmla="*/ 8 w 22"/>
              <a:gd name="T29" fmla="*/ 4 h 21"/>
              <a:gd name="T30" fmla="*/ 6 w 22"/>
              <a:gd name="T31" fmla="*/ 1 h 21"/>
              <a:gd name="T32" fmla="*/ 4 w 22"/>
              <a:gd name="T3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21">
                <a:moveTo>
                  <a:pt x="4" y="0"/>
                </a:moveTo>
                <a:cubicBezTo>
                  <a:pt x="3" y="0"/>
                  <a:pt x="3" y="0"/>
                  <a:pt x="2" y="0"/>
                </a:cubicBezTo>
                <a:cubicBezTo>
                  <a:pt x="1" y="1"/>
                  <a:pt x="0" y="3"/>
                  <a:pt x="1" y="4"/>
                </a:cubicBezTo>
                <a:cubicBezTo>
                  <a:pt x="1" y="4"/>
                  <a:pt x="1" y="4"/>
                  <a:pt x="1" y="4"/>
                </a:cubicBezTo>
                <a:cubicBezTo>
                  <a:pt x="2" y="6"/>
                  <a:pt x="4" y="8"/>
                  <a:pt x="5" y="10"/>
                </a:cubicBezTo>
                <a:cubicBezTo>
                  <a:pt x="8" y="13"/>
                  <a:pt x="11" y="15"/>
                  <a:pt x="13" y="17"/>
                </a:cubicBezTo>
                <a:cubicBezTo>
                  <a:pt x="15" y="19"/>
                  <a:pt x="17" y="20"/>
                  <a:pt x="17" y="20"/>
                </a:cubicBezTo>
                <a:cubicBezTo>
                  <a:pt x="18" y="21"/>
                  <a:pt x="18" y="21"/>
                  <a:pt x="19" y="21"/>
                </a:cubicBezTo>
                <a:cubicBezTo>
                  <a:pt x="20" y="21"/>
                  <a:pt x="21" y="20"/>
                  <a:pt x="21" y="20"/>
                </a:cubicBezTo>
                <a:cubicBezTo>
                  <a:pt x="22" y="18"/>
                  <a:pt x="22" y="16"/>
                  <a:pt x="20" y="15"/>
                </a:cubicBezTo>
                <a:cubicBezTo>
                  <a:pt x="20" y="15"/>
                  <a:pt x="20" y="15"/>
                  <a:pt x="20" y="15"/>
                </a:cubicBezTo>
                <a:cubicBezTo>
                  <a:pt x="20" y="15"/>
                  <a:pt x="20" y="15"/>
                  <a:pt x="20" y="15"/>
                </a:cubicBezTo>
                <a:cubicBezTo>
                  <a:pt x="20" y="15"/>
                  <a:pt x="17" y="13"/>
                  <a:pt x="14" y="10"/>
                </a:cubicBezTo>
                <a:cubicBezTo>
                  <a:pt x="13" y="9"/>
                  <a:pt x="11" y="8"/>
                  <a:pt x="10" y="6"/>
                </a:cubicBezTo>
                <a:cubicBezTo>
                  <a:pt x="9" y="5"/>
                  <a:pt x="9" y="5"/>
                  <a:pt x="8" y="4"/>
                </a:cubicBezTo>
                <a:cubicBezTo>
                  <a:pt x="7" y="3"/>
                  <a:pt x="7" y="2"/>
                  <a:pt x="6" y="1"/>
                </a:cubicBezTo>
                <a:cubicBezTo>
                  <a:pt x="6" y="0"/>
                  <a:pt x="5" y="0"/>
                  <a:pt x="4"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4" name="Freeform 89"/>
          <p:cNvSpPr>
            <a:spLocks/>
          </p:cNvSpPr>
          <p:nvPr/>
        </p:nvSpPr>
        <p:spPr bwMode="auto">
          <a:xfrm>
            <a:off x="3513138" y="5180013"/>
            <a:ext cx="25400" cy="53975"/>
          </a:xfrm>
          <a:custGeom>
            <a:avLst/>
            <a:gdLst>
              <a:gd name="T0" fmla="*/ 3 w 15"/>
              <a:gd name="T1" fmla="*/ 0 h 32"/>
              <a:gd name="T2" fmla="*/ 0 w 15"/>
              <a:gd name="T3" fmla="*/ 3 h 32"/>
              <a:gd name="T4" fmla="*/ 0 w 15"/>
              <a:gd name="T5" fmla="*/ 5 h 32"/>
              <a:gd name="T6" fmla="*/ 5 w 15"/>
              <a:gd name="T7" fmla="*/ 24 h 32"/>
              <a:gd name="T8" fmla="*/ 10 w 15"/>
              <a:gd name="T9" fmla="*/ 31 h 32"/>
              <a:gd name="T10" fmla="*/ 12 w 15"/>
              <a:gd name="T11" fmla="*/ 32 h 32"/>
              <a:gd name="T12" fmla="*/ 14 w 15"/>
              <a:gd name="T13" fmla="*/ 30 h 32"/>
              <a:gd name="T14" fmla="*/ 13 w 15"/>
              <a:gd name="T15" fmla="*/ 26 h 32"/>
              <a:gd name="T16" fmla="*/ 13 w 15"/>
              <a:gd name="T17" fmla="*/ 26 h 32"/>
              <a:gd name="T18" fmla="*/ 12 w 15"/>
              <a:gd name="T19" fmla="*/ 25 h 32"/>
              <a:gd name="T20" fmla="*/ 8 w 15"/>
              <a:gd name="T21" fmla="*/ 18 h 32"/>
              <a:gd name="T22" fmla="*/ 6 w 15"/>
              <a:gd name="T23" fmla="*/ 4 h 32"/>
              <a:gd name="T24" fmla="*/ 6 w 15"/>
              <a:gd name="T25" fmla="*/ 3 h 32"/>
              <a:gd name="T26" fmla="*/ 3 w 15"/>
              <a:gd name="T2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32">
                <a:moveTo>
                  <a:pt x="3" y="0"/>
                </a:moveTo>
                <a:cubicBezTo>
                  <a:pt x="1" y="0"/>
                  <a:pt x="0" y="2"/>
                  <a:pt x="0" y="3"/>
                </a:cubicBezTo>
                <a:cubicBezTo>
                  <a:pt x="0" y="4"/>
                  <a:pt x="0" y="4"/>
                  <a:pt x="0" y="5"/>
                </a:cubicBezTo>
                <a:cubicBezTo>
                  <a:pt x="0" y="14"/>
                  <a:pt x="2" y="20"/>
                  <a:pt x="5" y="24"/>
                </a:cubicBezTo>
                <a:cubicBezTo>
                  <a:pt x="7" y="29"/>
                  <a:pt x="9" y="31"/>
                  <a:pt x="10" y="31"/>
                </a:cubicBezTo>
                <a:cubicBezTo>
                  <a:pt x="10" y="31"/>
                  <a:pt x="11" y="32"/>
                  <a:pt x="12" y="32"/>
                </a:cubicBezTo>
                <a:cubicBezTo>
                  <a:pt x="12" y="32"/>
                  <a:pt x="13" y="31"/>
                  <a:pt x="14" y="30"/>
                </a:cubicBezTo>
                <a:cubicBezTo>
                  <a:pt x="15" y="29"/>
                  <a:pt x="15" y="27"/>
                  <a:pt x="13" y="26"/>
                </a:cubicBezTo>
                <a:cubicBezTo>
                  <a:pt x="13" y="26"/>
                  <a:pt x="13" y="26"/>
                  <a:pt x="13" y="26"/>
                </a:cubicBezTo>
                <a:cubicBezTo>
                  <a:pt x="13" y="26"/>
                  <a:pt x="13" y="26"/>
                  <a:pt x="12" y="25"/>
                </a:cubicBezTo>
                <a:cubicBezTo>
                  <a:pt x="11" y="24"/>
                  <a:pt x="10" y="22"/>
                  <a:pt x="8" y="18"/>
                </a:cubicBezTo>
                <a:cubicBezTo>
                  <a:pt x="7" y="15"/>
                  <a:pt x="6" y="10"/>
                  <a:pt x="6" y="4"/>
                </a:cubicBezTo>
                <a:cubicBezTo>
                  <a:pt x="6" y="4"/>
                  <a:pt x="6" y="4"/>
                  <a:pt x="6" y="3"/>
                </a:cubicBezTo>
                <a:cubicBezTo>
                  <a:pt x="6" y="2"/>
                  <a:pt x="4" y="0"/>
                  <a:pt x="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5" name="Freeform 90"/>
          <p:cNvSpPr>
            <a:spLocks/>
          </p:cNvSpPr>
          <p:nvPr/>
        </p:nvSpPr>
        <p:spPr bwMode="auto">
          <a:xfrm>
            <a:off x="3208338" y="5084763"/>
            <a:ext cx="7938" cy="3175"/>
          </a:xfrm>
          <a:custGeom>
            <a:avLst/>
            <a:gdLst>
              <a:gd name="T0" fmla="*/ 2 w 4"/>
              <a:gd name="T1" fmla="*/ 0 h 2"/>
              <a:gd name="T2" fmla="*/ 0 w 4"/>
              <a:gd name="T3" fmla="*/ 1 h 2"/>
              <a:gd name="T4" fmla="*/ 0 w 4"/>
              <a:gd name="T5" fmla="*/ 1 h 2"/>
              <a:gd name="T6" fmla="*/ 4 w 4"/>
              <a:gd name="T7" fmla="*/ 2 h 2"/>
              <a:gd name="T8" fmla="*/ 4 w 4"/>
              <a:gd name="T9" fmla="*/ 2 h 2"/>
              <a:gd name="T10" fmla="*/ 2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2" y="0"/>
                </a:moveTo>
                <a:cubicBezTo>
                  <a:pt x="1" y="0"/>
                  <a:pt x="1" y="0"/>
                  <a:pt x="0" y="1"/>
                </a:cubicBezTo>
                <a:cubicBezTo>
                  <a:pt x="0" y="1"/>
                  <a:pt x="0" y="1"/>
                  <a:pt x="0" y="1"/>
                </a:cubicBezTo>
                <a:cubicBezTo>
                  <a:pt x="1" y="1"/>
                  <a:pt x="3" y="2"/>
                  <a:pt x="4" y="2"/>
                </a:cubicBezTo>
                <a:cubicBezTo>
                  <a:pt x="4" y="2"/>
                  <a:pt x="4" y="2"/>
                  <a:pt x="4" y="2"/>
                </a:cubicBezTo>
                <a:cubicBezTo>
                  <a:pt x="4" y="1"/>
                  <a:pt x="3" y="0"/>
                  <a:pt x="2"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6" name="Freeform 91"/>
          <p:cNvSpPr>
            <a:spLocks/>
          </p:cNvSpPr>
          <p:nvPr/>
        </p:nvSpPr>
        <p:spPr bwMode="auto">
          <a:xfrm>
            <a:off x="3159126" y="5114925"/>
            <a:ext cx="50800" cy="188912"/>
          </a:xfrm>
          <a:custGeom>
            <a:avLst/>
            <a:gdLst>
              <a:gd name="T0" fmla="*/ 15 w 30"/>
              <a:gd name="T1" fmla="*/ 0 h 112"/>
              <a:gd name="T2" fmla="*/ 5 w 30"/>
              <a:gd name="T3" fmla="*/ 26 h 112"/>
              <a:gd name="T4" fmla="*/ 1 w 30"/>
              <a:gd name="T5" fmla="*/ 40 h 112"/>
              <a:gd name="T6" fmla="*/ 0 w 30"/>
              <a:gd name="T7" fmla="*/ 53 h 112"/>
              <a:gd name="T8" fmla="*/ 0 w 30"/>
              <a:gd name="T9" fmla="*/ 54 h 112"/>
              <a:gd name="T10" fmla="*/ 2 w 30"/>
              <a:gd name="T11" fmla="*/ 62 h 112"/>
              <a:gd name="T12" fmla="*/ 7 w 30"/>
              <a:gd name="T13" fmla="*/ 78 h 112"/>
              <a:gd name="T14" fmla="*/ 24 w 30"/>
              <a:gd name="T15" fmla="*/ 110 h 112"/>
              <a:gd name="T16" fmla="*/ 26 w 30"/>
              <a:gd name="T17" fmla="*/ 112 h 112"/>
              <a:gd name="T18" fmla="*/ 28 w 30"/>
              <a:gd name="T19" fmla="*/ 111 h 112"/>
              <a:gd name="T20" fmla="*/ 29 w 30"/>
              <a:gd name="T21" fmla="*/ 107 h 112"/>
              <a:gd name="T22" fmla="*/ 29 w 30"/>
              <a:gd name="T23" fmla="*/ 107 h 112"/>
              <a:gd name="T24" fmla="*/ 17 w 30"/>
              <a:gd name="T25" fmla="*/ 84 h 112"/>
              <a:gd name="T26" fmla="*/ 10 w 30"/>
              <a:gd name="T27" fmla="*/ 67 h 112"/>
              <a:gd name="T28" fmla="*/ 7 w 30"/>
              <a:gd name="T29" fmla="*/ 60 h 112"/>
              <a:gd name="T30" fmla="*/ 6 w 30"/>
              <a:gd name="T31" fmla="*/ 54 h 112"/>
              <a:gd name="T32" fmla="*/ 6 w 30"/>
              <a:gd name="T33" fmla="*/ 53 h 112"/>
              <a:gd name="T34" fmla="*/ 8 w 30"/>
              <a:gd name="T35" fmla="*/ 37 h 112"/>
              <a:gd name="T36" fmla="*/ 17 w 30"/>
              <a:gd name="T37" fmla="*/ 9 h 112"/>
              <a:gd name="T38" fmla="*/ 21 w 30"/>
              <a:gd name="T39" fmla="*/ 2 h 112"/>
              <a:gd name="T40" fmla="*/ 15 w 30"/>
              <a:gd name="T41"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112">
                <a:moveTo>
                  <a:pt x="15" y="0"/>
                </a:moveTo>
                <a:cubicBezTo>
                  <a:pt x="11" y="8"/>
                  <a:pt x="7" y="17"/>
                  <a:pt x="5" y="26"/>
                </a:cubicBezTo>
                <a:cubicBezTo>
                  <a:pt x="3" y="31"/>
                  <a:pt x="2" y="36"/>
                  <a:pt x="1" y="40"/>
                </a:cubicBezTo>
                <a:cubicBezTo>
                  <a:pt x="1" y="45"/>
                  <a:pt x="0" y="49"/>
                  <a:pt x="0" y="53"/>
                </a:cubicBezTo>
                <a:cubicBezTo>
                  <a:pt x="0" y="53"/>
                  <a:pt x="0" y="54"/>
                  <a:pt x="0" y="54"/>
                </a:cubicBezTo>
                <a:cubicBezTo>
                  <a:pt x="0" y="57"/>
                  <a:pt x="1" y="59"/>
                  <a:pt x="2" y="62"/>
                </a:cubicBezTo>
                <a:cubicBezTo>
                  <a:pt x="3" y="67"/>
                  <a:pt x="5" y="72"/>
                  <a:pt x="7" y="78"/>
                </a:cubicBezTo>
                <a:cubicBezTo>
                  <a:pt x="14" y="94"/>
                  <a:pt x="24" y="110"/>
                  <a:pt x="24" y="110"/>
                </a:cubicBezTo>
                <a:cubicBezTo>
                  <a:pt x="24" y="111"/>
                  <a:pt x="25" y="112"/>
                  <a:pt x="26" y="112"/>
                </a:cubicBezTo>
                <a:cubicBezTo>
                  <a:pt x="27" y="112"/>
                  <a:pt x="27" y="111"/>
                  <a:pt x="28" y="111"/>
                </a:cubicBezTo>
                <a:cubicBezTo>
                  <a:pt x="29" y="110"/>
                  <a:pt x="30" y="109"/>
                  <a:pt x="29" y="107"/>
                </a:cubicBezTo>
                <a:cubicBezTo>
                  <a:pt x="29" y="107"/>
                  <a:pt x="29" y="107"/>
                  <a:pt x="29" y="107"/>
                </a:cubicBezTo>
                <a:cubicBezTo>
                  <a:pt x="27" y="105"/>
                  <a:pt x="22" y="95"/>
                  <a:pt x="17" y="84"/>
                </a:cubicBezTo>
                <a:cubicBezTo>
                  <a:pt x="14" y="79"/>
                  <a:pt x="11" y="73"/>
                  <a:pt x="10" y="67"/>
                </a:cubicBezTo>
                <a:cubicBezTo>
                  <a:pt x="9" y="65"/>
                  <a:pt x="8" y="62"/>
                  <a:pt x="7" y="60"/>
                </a:cubicBezTo>
                <a:cubicBezTo>
                  <a:pt x="7" y="58"/>
                  <a:pt x="6" y="56"/>
                  <a:pt x="6" y="54"/>
                </a:cubicBezTo>
                <a:cubicBezTo>
                  <a:pt x="6" y="54"/>
                  <a:pt x="6" y="53"/>
                  <a:pt x="6" y="53"/>
                </a:cubicBezTo>
                <a:cubicBezTo>
                  <a:pt x="6" y="49"/>
                  <a:pt x="7" y="43"/>
                  <a:pt x="8" y="37"/>
                </a:cubicBezTo>
                <a:cubicBezTo>
                  <a:pt x="10" y="28"/>
                  <a:pt x="13" y="18"/>
                  <a:pt x="17" y="9"/>
                </a:cubicBezTo>
                <a:cubicBezTo>
                  <a:pt x="19" y="7"/>
                  <a:pt x="20" y="4"/>
                  <a:pt x="21" y="2"/>
                </a:cubicBezTo>
                <a:cubicBezTo>
                  <a:pt x="19" y="2"/>
                  <a:pt x="17" y="1"/>
                  <a:pt x="15"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7" name="Freeform 92"/>
          <p:cNvSpPr>
            <a:spLocks/>
          </p:cNvSpPr>
          <p:nvPr/>
        </p:nvSpPr>
        <p:spPr bwMode="auto">
          <a:xfrm>
            <a:off x="3184526" y="5095875"/>
            <a:ext cx="25400" cy="22225"/>
          </a:xfrm>
          <a:custGeom>
            <a:avLst/>
            <a:gdLst>
              <a:gd name="T0" fmla="*/ 8 w 15"/>
              <a:gd name="T1" fmla="*/ 0 h 13"/>
              <a:gd name="T2" fmla="*/ 2 w 15"/>
              <a:gd name="T3" fmla="*/ 8 h 13"/>
              <a:gd name="T4" fmla="*/ 0 w 15"/>
              <a:gd name="T5" fmla="*/ 11 h 13"/>
              <a:gd name="T6" fmla="*/ 6 w 15"/>
              <a:gd name="T7" fmla="*/ 13 h 13"/>
              <a:gd name="T8" fmla="*/ 9 w 15"/>
              <a:gd name="T9" fmla="*/ 8 h 13"/>
              <a:gd name="T10" fmla="*/ 15 w 15"/>
              <a:gd name="T11" fmla="*/ 1 h 13"/>
              <a:gd name="T12" fmla="*/ 8 w 15"/>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5" h="13">
                <a:moveTo>
                  <a:pt x="8" y="0"/>
                </a:moveTo>
                <a:cubicBezTo>
                  <a:pt x="6" y="2"/>
                  <a:pt x="4" y="5"/>
                  <a:pt x="2" y="8"/>
                </a:cubicBezTo>
                <a:cubicBezTo>
                  <a:pt x="1" y="9"/>
                  <a:pt x="1" y="10"/>
                  <a:pt x="0" y="11"/>
                </a:cubicBezTo>
                <a:cubicBezTo>
                  <a:pt x="2" y="12"/>
                  <a:pt x="4" y="13"/>
                  <a:pt x="6" y="13"/>
                </a:cubicBezTo>
                <a:cubicBezTo>
                  <a:pt x="7" y="11"/>
                  <a:pt x="8" y="10"/>
                  <a:pt x="9" y="8"/>
                </a:cubicBezTo>
                <a:cubicBezTo>
                  <a:pt x="11" y="5"/>
                  <a:pt x="13" y="3"/>
                  <a:pt x="15" y="1"/>
                </a:cubicBezTo>
                <a:cubicBezTo>
                  <a:pt x="13" y="1"/>
                  <a:pt x="11" y="0"/>
                  <a:pt x="8"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8" name="Freeform 93"/>
          <p:cNvSpPr>
            <a:spLocks/>
          </p:cNvSpPr>
          <p:nvPr/>
        </p:nvSpPr>
        <p:spPr bwMode="auto">
          <a:xfrm>
            <a:off x="3155951" y="5062538"/>
            <a:ext cx="87313" cy="38100"/>
          </a:xfrm>
          <a:custGeom>
            <a:avLst/>
            <a:gdLst>
              <a:gd name="T0" fmla="*/ 3 w 51"/>
              <a:gd name="T1" fmla="*/ 0 h 22"/>
              <a:gd name="T2" fmla="*/ 1 w 51"/>
              <a:gd name="T3" fmla="*/ 0 h 22"/>
              <a:gd name="T4" fmla="*/ 1 w 51"/>
              <a:gd name="T5" fmla="*/ 5 h 22"/>
              <a:gd name="T6" fmla="*/ 11 w 51"/>
              <a:gd name="T7" fmla="*/ 13 h 22"/>
              <a:gd name="T8" fmla="*/ 25 w 51"/>
              <a:gd name="T9" fmla="*/ 19 h 22"/>
              <a:gd name="T10" fmla="*/ 32 w 51"/>
              <a:gd name="T11" fmla="*/ 20 h 22"/>
              <a:gd name="T12" fmla="*/ 46 w 51"/>
              <a:gd name="T13" fmla="*/ 22 h 22"/>
              <a:gd name="T14" fmla="*/ 46 w 51"/>
              <a:gd name="T15" fmla="*/ 22 h 22"/>
              <a:gd name="T16" fmla="*/ 49 w 51"/>
              <a:gd name="T17" fmla="*/ 21 h 22"/>
              <a:gd name="T18" fmla="*/ 49 w 51"/>
              <a:gd name="T19" fmla="*/ 21 h 22"/>
              <a:gd name="T20" fmla="*/ 51 w 51"/>
              <a:gd name="T21" fmla="*/ 16 h 22"/>
              <a:gd name="T22" fmla="*/ 51 w 51"/>
              <a:gd name="T23" fmla="*/ 15 h 22"/>
              <a:gd name="T24" fmla="*/ 48 w 51"/>
              <a:gd name="T25" fmla="*/ 16 h 22"/>
              <a:gd name="T26" fmla="*/ 46 w 51"/>
              <a:gd name="T27" fmla="*/ 16 h 22"/>
              <a:gd name="T28" fmla="*/ 35 w 51"/>
              <a:gd name="T29" fmla="*/ 15 h 22"/>
              <a:gd name="T30" fmla="*/ 31 w 51"/>
              <a:gd name="T31" fmla="*/ 14 h 22"/>
              <a:gd name="T32" fmla="*/ 14 w 51"/>
              <a:gd name="T33" fmla="*/ 8 h 22"/>
              <a:gd name="T34" fmla="*/ 7 w 51"/>
              <a:gd name="T35" fmla="*/ 3 h 22"/>
              <a:gd name="T36" fmla="*/ 6 w 51"/>
              <a:gd name="T37" fmla="*/ 2 h 22"/>
              <a:gd name="T38" fmla="*/ 5 w 51"/>
              <a:gd name="T39" fmla="*/ 1 h 22"/>
              <a:gd name="T40" fmla="*/ 5 w 51"/>
              <a:gd name="T41" fmla="*/ 1 h 22"/>
              <a:gd name="T42" fmla="*/ 5 w 51"/>
              <a:gd name="T43" fmla="*/ 1 h 22"/>
              <a:gd name="T44" fmla="*/ 3 w 51"/>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1" h="22">
                <a:moveTo>
                  <a:pt x="3" y="0"/>
                </a:moveTo>
                <a:cubicBezTo>
                  <a:pt x="2" y="0"/>
                  <a:pt x="2" y="0"/>
                  <a:pt x="1" y="0"/>
                </a:cubicBezTo>
                <a:cubicBezTo>
                  <a:pt x="0" y="2"/>
                  <a:pt x="0" y="3"/>
                  <a:pt x="1" y="5"/>
                </a:cubicBezTo>
                <a:cubicBezTo>
                  <a:pt x="1" y="5"/>
                  <a:pt x="4" y="9"/>
                  <a:pt x="11" y="13"/>
                </a:cubicBezTo>
                <a:cubicBezTo>
                  <a:pt x="15" y="15"/>
                  <a:pt x="20" y="17"/>
                  <a:pt x="25" y="19"/>
                </a:cubicBezTo>
                <a:cubicBezTo>
                  <a:pt x="28" y="19"/>
                  <a:pt x="30" y="20"/>
                  <a:pt x="32" y="20"/>
                </a:cubicBezTo>
                <a:cubicBezTo>
                  <a:pt x="37" y="21"/>
                  <a:pt x="41" y="22"/>
                  <a:pt x="46" y="22"/>
                </a:cubicBezTo>
                <a:cubicBezTo>
                  <a:pt x="46" y="22"/>
                  <a:pt x="46" y="22"/>
                  <a:pt x="46" y="22"/>
                </a:cubicBezTo>
                <a:cubicBezTo>
                  <a:pt x="47" y="22"/>
                  <a:pt x="48" y="22"/>
                  <a:pt x="49" y="21"/>
                </a:cubicBezTo>
                <a:cubicBezTo>
                  <a:pt x="49" y="21"/>
                  <a:pt x="49" y="21"/>
                  <a:pt x="49" y="21"/>
                </a:cubicBezTo>
                <a:cubicBezTo>
                  <a:pt x="50" y="18"/>
                  <a:pt x="50" y="16"/>
                  <a:pt x="51" y="16"/>
                </a:cubicBezTo>
                <a:cubicBezTo>
                  <a:pt x="51" y="16"/>
                  <a:pt x="51" y="16"/>
                  <a:pt x="51" y="15"/>
                </a:cubicBezTo>
                <a:cubicBezTo>
                  <a:pt x="50" y="15"/>
                  <a:pt x="49" y="16"/>
                  <a:pt x="48" y="16"/>
                </a:cubicBezTo>
                <a:cubicBezTo>
                  <a:pt x="48" y="16"/>
                  <a:pt x="47" y="16"/>
                  <a:pt x="46" y="16"/>
                </a:cubicBezTo>
                <a:cubicBezTo>
                  <a:pt x="42" y="16"/>
                  <a:pt x="39" y="15"/>
                  <a:pt x="35" y="15"/>
                </a:cubicBezTo>
                <a:cubicBezTo>
                  <a:pt x="34" y="15"/>
                  <a:pt x="32" y="14"/>
                  <a:pt x="31" y="14"/>
                </a:cubicBezTo>
                <a:cubicBezTo>
                  <a:pt x="24" y="13"/>
                  <a:pt x="18" y="10"/>
                  <a:pt x="14" y="8"/>
                </a:cubicBezTo>
                <a:cubicBezTo>
                  <a:pt x="11" y="6"/>
                  <a:pt x="9" y="4"/>
                  <a:pt x="7" y="3"/>
                </a:cubicBezTo>
                <a:cubicBezTo>
                  <a:pt x="7" y="2"/>
                  <a:pt x="6" y="2"/>
                  <a:pt x="6" y="2"/>
                </a:cubicBezTo>
                <a:cubicBezTo>
                  <a:pt x="6" y="1"/>
                  <a:pt x="5" y="1"/>
                  <a:pt x="5" y="1"/>
                </a:cubicBezTo>
                <a:cubicBezTo>
                  <a:pt x="5" y="1"/>
                  <a:pt x="5" y="1"/>
                  <a:pt x="5" y="1"/>
                </a:cubicBezTo>
                <a:cubicBezTo>
                  <a:pt x="5" y="1"/>
                  <a:pt x="5" y="1"/>
                  <a:pt x="5" y="1"/>
                </a:cubicBezTo>
                <a:cubicBezTo>
                  <a:pt x="5" y="0"/>
                  <a:pt x="4" y="0"/>
                  <a:pt x="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9" name="Freeform 94"/>
          <p:cNvSpPr>
            <a:spLocks/>
          </p:cNvSpPr>
          <p:nvPr/>
        </p:nvSpPr>
        <p:spPr bwMode="auto">
          <a:xfrm>
            <a:off x="3238501" y="5086350"/>
            <a:ext cx="23813" cy="12700"/>
          </a:xfrm>
          <a:custGeom>
            <a:avLst/>
            <a:gdLst>
              <a:gd name="T0" fmla="*/ 14 w 14"/>
              <a:gd name="T1" fmla="*/ 0 h 7"/>
              <a:gd name="T2" fmla="*/ 2 w 14"/>
              <a:gd name="T3" fmla="*/ 1 h 7"/>
              <a:gd name="T4" fmla="*/ 2 w 14"/>
              <a:gd name="T5" fmla="*/ 2 h 7"/>
              <a:gd name="T6" fmla="*/ 0 w 14"/>
              <a:gd name="T7" fmla="*/ 7 h 7"/>
              <a:gd name="T8" fmla="*/ 11 w 14"/>
              <a:gd name="T9" fmla="*/ 7 h 7"/>
              <a:gd name="T10" fmla="*/ 13 w 14"/>
              <a:gd name="T11" fmla="*/ 1 h 7"/>
              <a:gd name="T12" fmla="*/ 13 w 14"/>
              <a:gd name="T13" fmla="*/ 1 h 7"/>
              <a:gd name="T14" fmla="*/ 14 w 14"/>
              <a:gd name="T15" fmla="*/ 0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7">
                <a:moveTo>
                  <a:pt x="14" y="0"/>
                </a:moveTo>
                <a:cubicBezTo>
                  <a:pt x="10" y="1"/>
                  <a:pt x="6" y="1"/>
                  <a:pt x="2" y="1"/>
                </a:cubicBezTo>
                <a:cubicBezTo>
                  <a:pt x="2" y="2"/>
                  <a:pt x="2" y="2"/>
                  <a:pt x="2" y="2"/>
                </a:cubicBezTo>
                <a:cubicBezTo>
                  <a:pt x="1" y="2"/>
                  <a:pt x="1" y="4"/>
                  <a:pt x="0" y="7"/>
                </a:cubicBezTo>
                <a:cubicBezTo>
                  <a:pt x="4" y="7"/>
                  <a:pt x="8" y="7"/>
                  <a:pt x="11" y="7"/>
                </a:cubicBezTo>
                <a:cubicBezTo>
                  <a:pt x="12" y="3"/>
                  <a:pt x="13" y="1"/>
                  <a:pt x="13" y="1"/>
                </a:cubicBezTo>
                <a:cubicBezTo>
                  <a:pt x="13" y="1"/>
                  <a:pt x="13" y="1"/>
                  <a:pt x="13" y="1"/>
                </a:cubicBezTo>
                <a:cubicBezTo>
                  <a:pt x="13" y="1"/>
                  <a:pt x="13" y="0"/>
                  <a:pt x="14"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0" name="Freeform 95"/>
          <p:cNvSpPr>
            <a:spLocks/>
          </p:cNvSpPr>
          <p:nvPr/>
        </p:nvSpPr>
        <p:spPr bwMode="auto">
          <a:xfrm>
            <a:off x="3276601" y="5062538"/>
            <a:ext cx="49213" cy="31750"/>
          </a:xfrm>
          <a:custGeom>
            <a:avLst/>
            <a:gdLst>
              <a:gd name="T0" fmla="*/ 26 w 29"/>
              <a:gd name="T1" fmla="*/ 0 h 18"/>
              <a:gd name="T2" fmla="*/ 24 w 29"/>
              <a:gd name="T3" fmla="*/ 1 h 18"/>
              <a:gd name="T4" fmla="*/ 24 w 29"/>
              <a:gd name="T5" fmla="*/ 1 h 18"/>
              <a:gd name="T6" fmla="*/ 24 w 29"/>
              <a:gd name="T7" fmla="*/ 1 h 18"/>
              <a:gd name="T8" fmla="*/ 12 w 29"/>
              <a:gd name="T9" fmla="*/ 8 h 18"/>
              <a:gd name="T10" fmla="*/ 0 w 29"/>
              <a:gd name="T11" fmla="*/ 12 h 18"/>
              <a:gd name="T12" fmla="*/ 3 w 29"/>
              <a:gd name="T13" fmla="*/ 18 h 18"/>
              <a:gd name="T14" fmla="*/ 15 w 29"/>
              <a:gd name="T15" fmla="*/ 13 h 18"/>
              <a:gd name="T16" fmla="*/ 28 w 29"/>
              <a:gd name="T17" fmla="*/ 5 h 18"/>
              <a:gd name="T18" fmla="*/ 28 w 29"/>
              <a:gd name="T19" fmla="*/ 1 h 18"/>
              <a:gd name="T20" fmla="*/ 26 w 29"/>
              <a:gd name="T21"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18">
                <a:moveTo>
                  <a:pt x="26" y="0"/>
                </a:moveTo>
                <a:cubicBezTo>
                  <a:pt x="25" y="0"/>
                  <a:pt x="24" y="0"/>
                  <a:pt x="24" y="1"/>
                </a:cubicBezTo>
                <a:cubicBezTo>
                  <a:pt x="24" y="1"/>
                  <a:pt x="24" y="1"/>
                  <a:pt x="24" y="1"/>
                </a:cubicBezTo>
                <a:cubicBezTo>
                  <a:pt x="24" y="1"/>
                  <a:pt x="24" y="1"/>
                  <a:pt x="24" y="1"/>
                </a:cubicBezTo>
                <a:cubicBezTo>
                  <a:pt x="24" y="1"/>
                  <a:pt x="20" y="4"/>
                  <a:pt x="12" y="8"/>
                </a:cubicBezTo>
                <a:cubicBezTo>
                  <a:pt x="9" y="9"/>
                  <a:pt x="5" y="11"/>
                  <a:pt x="0" y="12"/>
                </a:cubicBezTo>
                <a:cubicBezTo>
                  <a:pt x="1" y="14"/>
                  <a:pt x="2" y="16"/>
                  <a:pt x="3" y="18"/>
                </a:cubicBezTo>
                <a:cubicBezTo>
                  <a:pt x="8" y="16"/>
                  <a:pt x="12" y="15"/>
                  <a:pt x="15" y="13"/>
                </a:cubicBezTo>
                <a:cubicBezTo>
                  <a:pt x="24" y="9"/>
                  <a:pt x="28" y="5"/>
                  <a:pt x="28" y="5"/>
                </a:cubicBezTo>
                <a:cubicBezTo>
                  <a:pt x="29" y="4"/>
                  <a:pt x="29" y="2"/>
                  <a:pt x="28" y="1"/>
                </a:cubicBezTo>
                <a:cubicBezTo>
                  <a:pt x="28" y="0"/>
                  <a:pt x="27" y="0"/>
                  <a:pt x="26"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1" name="Freeform 96"/>
          <p:cNvSpPr>
            <a:spLocks/>
          </p:cNvSpPr>
          <p:nvPr/>
        </p:nvSpPr>
        <p:spPr bwMode="auto">
          <a:xfrm>
            <a:off x="3268663" y="5083175"/>
            <a:ext cx="12700" cy="12700"/>
          </a:xfrm>
          <a:custGeom>
            <a:avLst/>
            <a:gdLst>
              <a:gd name="T0" fmla="*/ 5 w 8"/>
              <a:gd name="T1" fmla="*/ 0 h 7"/>
              <a:gd name="T2" fmla="*/ 0 w 8"/>
              <a:gd name="T3" fmla="*/ 2 h 7"/>
              <a:gd name="T4" fmla="*/ 2 w 8"/>
              <a:gd name="T5" fmla="*/ 5 h 7"/>
              <a:gd name="T6" fmla="*/ 2 w 8"/>
              <a:gd name="T7" fmla="*/ 6 h 7"/>
              <a:gd name="T8" fmla="*/ 1 w 8"/>
              <a:gd name="T9" fmla="*/ 6 h 7"/>
              <a:gd name="T10" fmla="*/ 1 w 8"/>
              <a:gd name="T11" fmla="*/ 7 h 7"/>
              <a:gd name="T12" fmla="*/ 8 w 8"/>
              <a:gd name="T13" fmla="*/ 6 h 7"/>
              <a:gd name="T14" fmla="*/ 5 w 8"/>
              <a:gd name="T15" fmla="*/ 0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7">
                <a:moveTo>
                  <a:pt x="5" y="0"/>
                </a:moveTo>
                <a:cubicBezTo>
                  <a:pt x="3" y="1"/>
                  <a:pt x="2" y="1"/>
                  <a:pt x="0" y="2"/>
                </a:cubicBezTo>
                <a:cubicBezTo>
                  <a:pt x="2" y="2"/>
                  <a:pt x="2" y="4"/>
                  <a:pt x="2" y="5"/>
                </a:cubicBezTo>
                <a:cubicBezTo>
                  <a:pt x="2" y="5"/>
                  <a:pt x="2" y="5"/>
                  <a:pt x="2" y="6"/>
                </a:cubicBezTo>
                <a:cubicBezTo>
                  <a:pt x="2" y="6"/>
                  <a:pt x="1" y="6"/>
                  <a:pt x="1" y="6"/>
                </a:cubicBezTo>
                <a:cubicBezTo>
                  <a:pt x="1" y="7"/>
                  <a:pt x="1" y="7"/>
                  <a:pt x="1" y="7"/>
                </a:cubicBezTo>
                <a:cubicBezTo>
                  <a:pt x="3" y="7"/>
                  <a:pt x="5" y="6"/>
                  <a:pt x="8" y="6"/>
                </a:cubicBezTo>
                <a:cubicBezTo>
                  <a:pt x="7" y="4"/>
                  <a:pt x="6" y="2"/>
                  <a:pt x="5"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2" name="Freeform 97"/>
          <p:cNvSpPr>
            <a:spLocks noEditPoints="1"/>
          </p:cNvSpPr>
          <p:nvPr/>
        </p:nvSpPr>
        <p:spPr bwMode="auto">
          <a:xfrm>
            <a:off x="3241676" y="5084763"/>
            <a:ext cx="212725" cy="322262"/>
          </a:xfrm>
          <a:custGeom>
            <a:avLst/>
            <a:gdLst>
              <a:gd name="T0" fmla="*/ 45 w 126"/>
              <a:gd name="T1" fmla="*/ 171 h 190"/>
              <a:gd name="T2" fmla="*/ 45 w 126"/>
              <a:gd name="T3" fmla="*/ 183 h 190"/>
              <a:gd name="T4" fmla="*/ 45 w 126"/>
              <a:gd name="T5" fmla="*/ 186 h 190"/>
              <a:gd name="T6" fmla="*/ 47 w 126"/>
              <a:gd name="T7" fmla="*/ 190 h 190"/>
              <a:gd name="T8" fmla="*/ 50 w 126"/>
              <a:gd name="T9" fmla="*/ 187 h 190"/>
              <a:gd name="T10" fmla="*/ 51 w 126"/>
              <a:gd name="T11" fmla="*/ 168 h 190"/>
              <a:gd name="T12" fmla="*/ 13 w 126"/>
              <a:gd name="T13" fmla="*/ 1 h 190"/>
              <a:gd name="T14" fmla="*/ 12 w 126"/>
              <a:gd name="T15" fmla="*/ 2 h 190"/>
              <a:gd name="T16" fmla="*/ 7 w 126"/>
              <a:gd name="T17" fmla="*/ 18 h 190"/>
              <a:gd name="T18" fmla="*/ 1 w 126"/>
              <a:gd name="T19" fmla="*/ 48 h 190"/>
              <a:gd name="T20" fmla="*/ 1 w 126"/>
              <a:gd name="T21" fmla="*/ 68 h 190"/>
              <a:gd name="T22" fmla="*/ 10 w 126"/>
              <a:gd name="T23" fmla="*/ 78 h 190"/>
              <a:gd name="T24" fmla="*/ 29 w 126"/>
              <a:gd name="T25" fmla="*/ 79 h 190"/>
              <a:gd name="T26" fmla="*/ 43 w 126"/>
              <a:gd name="T27" fmla="*/ 78 h 190"/>
              <a:gd name="T28" fmla="*/ 91 w 126"/>
              <a:gd name="T29" fmla="*/ 84 h 190"/>
              <a:gd name="T30" fmla="*/ 99 w 126"/>
              <a:gd name="T31" fmla="*/ 87 h 190"/>
              <a:gd name="T32" fmla="*/ 119 w 126"/>
              <a:gd name="T33" fmla="*/ 102 h 190"/>
              <a:gd name="T34" fmla="*/ 116 w 126"/>
              <a:gd name="T35" fmla="*/ 115 h 190"/>
              <a:gd name="T36" fmla="*/ 89 w 126"/>
              <a:gd name="T37" fmla="*/ 138 h 190"/>
              <a:gd name="T38" fmla="*/ 55 w 126"/>
              <a:gd name="T39" fmla="*/ 150 h 190"/>
              <a:gd name="T40" fmla="*/ 54 w 126"/>
              <a:gd name="T41" fmla="*/ 157 h 190"/>
              <a:gd name="T42" fmla="*/ 78 w 126"/>
              <a:gd name="T43" fmla="*/ 150 h 190"/>
              <a:gd name="T44" fmla="*/ 113 w 126"/>
              <a:gd name="T45" fmla="*/ 129 h 190"/>
              <a:gd name="T46" fmla="*/ 126 w 126"/>
              <a:gd name="T47" fmla="*/ 103 h 190"/>
              <a:gd name="T48" fmla="*/ 125 w 126"/>
              <a:gd name="T49" fmla="*/ 100 h 190"/>
              <a:gd name="T50" fmla="*/ 102 w 126"/>
              <a:gd name="T51" fmla="*/ 82 h 190"/>
              <a:gd name="T52" fmla="*/ 88 w 126"/>
              <a:gd name="T53" fmla="*/ 77 h 190"/>
              <a:gd name="T54" fmla="*/ 28 w 126"/>
              <a:gd name="T55" fmla="*/ 73 h 190"/>
              <a:gd name="T56" fmla="*/ 20 w 126"/>
              <a:gd name="T57" fmla="*/ 73 h 190"/>
              <a:gd name="T58" fmla="*/ 9 w 126"/>
              <a:gd name="T59" fmla="*/ 70 h 190"/>
              <a:gd name="T60" fmla="*/ 6 w 126"/>
              <a:gd name="T61" fmla="*/ 60 h 190"/>
              <a:gd name="T62" fmla="*/ 7 w 126"/>
              <a:gd name="T63" fmla="*/ 48 h 190"/>
              <a:gd name="T64" fmla="*/ 16 w 126"/>
              <a:gd name="T65" fmla="*/ 9 h 190"/>
              <a:gd name="T66" fmla="*/ 17 w 126"/>
              <a:gd name="T67" fmla="*/ 5 h 190"/>
              <a:gd name="T68" fmla="*/ 18 w 126"/>
              <a:gd name="T69" fmla="*/ 4 h 190"/>
              <a:gd name="T70" fmla="*/ 16 w 126"/>
              <a:gd name="T71"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90">
                <a:moveTo>
                  <a:pt x="51" y="168"/>
                </a:moveTo>
                <a:cubicBezTo>
                  <a:pt x="49" y="169"/>
                  <a:pt x="47" y="171"/>
                  <a:pt x="45" y="171"/>
                </a:cubicBezTo>
                <a:cubicBezTo>
                  <a:pt x="45" y="172"/>
                  <a:pt x="45" y="174"/>
                  <a:pt x="45" y="175"/>
                </a:cubicBezTo>
                <a:cubicBezTo>
                  <a:pt x="45" y="178"/>
                  <a:pt x="45" y="181"/>
                  <a:pt x="45" y="183"/>
                </a:cubicBezTo>
                <a:cubicBezTo>
                  <a:pt x="45" y="184"/>
                  <a:pt x="45" y="185"/>
                  <a:pt x="45" y="185"/>
                </a:cubicBezTo>
                <a:cubicBezTo>
                  <a:pt x="45" y="186"/>
                  <a:pt x="45" y="186"/>
                  <a:pt x="45" y="186"/>
                </a:cubicBezTo>
                <a:cubicBezTo>
                  <a:pt x="44" y="186"/>
                  <a:pt x="44" y="186"/>
                  <a:pt x="44" y="186"/>
                </a:cubicBezTo>
                <a:cubicBezTo>
                  <a:pt x="44" y="188"/>
                  <a:pt x="46" y="189"/>
                  <a:pt x="47" y="190"/>
                </a:cubicBezTo>
                <a:cubicBezTo>
                  <a:pt x="47" y="190"/>
                  <a:pt x="47" y="190"/>
                  <a:pt x="47" y="190"/>
                </a:cubicBezTo>
                <a:cubicBezTo>
                  <a:pt x="49" y="190"/>
                  <a:pt x="50" y="188"/>
                  <a:pt x="50" y="187"/>
                </a:cubicBezTo>
                <a:cubicBezTo>
                  <a:pt x="50" y="187"/>
                  <a:pt x="51" y="181"/>
                  <a:pt x="51" y="175"/>
                </a:cubicBezTo>
                <a:cubicBezTo>
                  <a:pt x="51" y="173"/>
                  <a:pt x="51" y="170"/>
                  <a:pt x="51" y="168"/>
                </a:cubicBezTo>
                <a:moveTo>
                  <a:pt x="15" y="0"/>
                </a:moveTo>
                <a:cubicBezTo>
                  <a:pt x="14" y="0"/>
                  <a:pt x="13" y="1"/>
                  <a:pt x="13" y="1"/>
                </a:cubicBezTo>
                <a:cubicBezTo>
                  <a:pt x="12" y="1"/>
                  <a:pt x="12" y="2"/>
                  <a:pt x="12" y="2"/>
                </a:cubicBezTo>
                <a:cubicBezTo>
                  <a:pt x="12" y="2"/>
                  <a:pt x="12" y="2"/>
                  <a:pt x="12" y="2"/>
                </a:cubicBezTo>
                <a:cubicBezTo>
                  <a:pt x="12" y="2"/>
                  <a:pt x="11" y="4"/>
                  <a:pt x="10" y="8"/>
                </a:cubicBezTo>
                <a:cubicBezTo>
                  <a:pt x="9" y="10"/>
                  <a:pt x="8" y="14"/>
                  <a:pt x="7" y="18"/>
                </a:cubicBezTo>
                <a:cubicBezTo>
                  <a:pt x="4" y="27"/>
                  <a:pt x="2" y="38"/>
                  <a:pt x="1" y="48"/>
                </a:cubicBezTo>
                <a:cubicBezTo>
                  <a:pt x="1" y="48"/>
                  <a:pt x="1" y="48"/>
                  <a:pt x="1" y="48"/>
                </a:cubicBezTo>
                <a:cubicBezTo>
                  <a:pt x="0" y="52"/>
                  <a:pt x="0" y="56"/>
                  <a:pt x="0" y="60"/>
                </a:cubicBezTo>
                <a:cubicBezTo>
                  <a:pt x="0" y="63"/>
                  <a:pt x="0" y="65"/>
                  <a:pt x="1" y="68"/>
                </a:cubicBezTo>
                <a:cubicBezTo>
                  <a:pt x="1" y="69"/>
                  <a:pt x="2" y="71"/>
                  <a:pt x="3" y="72"/>
                </a:cubicBezTo>
                <a:cubicBezTo>
                  <a:pt x="4" y="75"/>
                  <a:pt x="7" y="76"/>
                  <a:pt x="10" y="78"/>
                </a:cubicBezTo>
                <a:cubicBezTo>
                  <a:pt x="13" y="79"/>
                  <a:pt x="16" y="79"/>
                  <a:pt x="20" y="79"/>
                </a:cubicBezTo>
                <a:cubicBezTo>
                  <a:pt x="23" y="79"/>
                  <a:pt x="26" y="79"/>
                  <a:pt x="29" y="79"/>
                </a:cubicBezTo>
                <a:cubicBezTo>
                  <a:pt x="33" y="78"/>
                  <a:pt x="38" y="78"/>
                  <a:pt x="43" y="78"/>
                </a:cubicBezTo>
                <a:cubicBezTo>
                  <a:pt x="43" y="78"/>
                  <a:pt x="43" y="78"/>
                  <a:pt x="43" y="78"/>
                </a:cubicBezTo>
                <a:cubicBezTo>
                  <a:pt x="55" y="78"/>
                  <a:pt x="68" y="79"/>
                  <a:pt x="78" y="81"/>
                </a:cubicBezTo>
                <a:cubicBezTo>
                  <a:pt x="83" y="82"/>
                  <a:pt x="88" y="83"/>
                  <a:pt x="91" y="84"/>
                </a:cubicBezTo>
                <a:cubicBezTo>
                  <a:pt x="93" y="85"/>
                  <a:pt x="95" y="85"/>
                  <a:pt x="96" y="86"/>
                </a:cubicBezTo>
                <a:cubicBezTo>
                  <a:pt x="97" y="86"/>
                  <a:pt x="98" y="87"/>
                  <a:pt x="99" y="87"/>
                </a:cubicBezTo>
                <a:cubicBezTo>
                  <a:pt x="103" y="90"/>
                  <a:pt x="109" y="94"/>
                  <a:pt x="113" y="98"/>
                </a:cubicBezTo>
                <a:cubicBezTo>
                  <a:pt x="115" y="99"/>
                  <a:pt x="117" y="101"/>
                  <a:pt x="119" y="102"/>
                </a:cubicBezTo>
                <a:cubicBezTo>
                  <a:pt x="119" y="103"/>
                  <a:pt x="119" y="103"/>
                  <a:pt x="120" y="103"/>
                </a:cubicBezTo>
                <a:cubicBezTo>
                  <a:pt x="119" y="108"/>
                  <a:pt x="117" y="112"/>
                  <a:pt x="116" y="115"/>
                </a:cubicBezTo>
                <a:cubicBezTo>
                  <a:pt x="113" y="121"/>
                  <a:pt x="109" y="125"/>
                  <a:pt x="105" y="128"/>
                </a:cubicBezTo>
                <a:cubicBezTo>
                  <a:pt x="100" y="132"/>
                  <a:pt x="95" y="135"/>
                  <a:pt x="89" y="138"/>
                </a:cubicBezTo>
                <a:cubicBezTo>
                  <a:pt x="85" y="140"/>
                  <a:pt x="80" y="142"/>
                  <a:pt x="75" y="144"/>
                </a:cubicBezTo>
                <a:cubicBezTo>
                  <a:pt x="68" y="147"/>
                  <a:pt x="61" y="149"/>
                  <a:pt x="55" y="150"/>
                </a:cubicBezTo>
                <a:cubicBezTo>
                  <a:pt x="53" y="151"/>
                  <a:pt x="52" y="151"/>
                  <a:pt x="51" y="151"/>
                </a:cubicBezTo>
                <a:cubicBezTo>
                  <a:pt x="53" y="153"/>
                  <a:pt x="54" y="155"/>
                  <a:pt x="54" y="157"/>
                </a:cubicBezTo>
                <a:cubicBezTo>
                  <a:pt x="57" y="156"/>
                  <a:pt x="59" y="155"/>
                  <a:pt x="63" y="154"/>
                </a:cubicBezTo>
                <a:cubicBezTo>
                  <a:pt x="67" y="153"/>
                  <a:pt x="73" y="152"/>
                  <a:pt x="78" y="150"/>
                </a:cubicBezTo>
                <a:cubicBezTo>
                  <a:pt x="83" y="148"/>
                  <a:pt x="87" y="146"/>
                  <a:pt x="92" y="143"/>
                </a:cubicBezTo>
                <a:cubicBezTo>
                  <a:pt x="100" y="139"/>
                  <a:pt x="107" y="135"/>
                  <a:pt x="113" y="129"/>
                </a:cubicBezTo>
                <a:cubicBezTo>
                  <a:pt x="116" y="126"/>
                  <a:pt x="119" y="122"/>
                  <a:pt x="121" y="118"/>
                </a:cubicBezTo>
                <a:cubicBezTo>
                  <a:pt x="123" y="113"/>
                  <a:pt x="125" y="108"/>
                  <a:pt x="126" y="103"/>
                </a:cubicBezTo>
                <a:cubicBezTo>
                  <a:pt x="126" y="101"/>
                  <a:pt x="126" y="101"/>
                  <a:pt x="126" y="101"/>
                </a:cubicBezTo>
                <a:cubicBezTo>
                  <a:pt x="125" y="100"/>
                  <a:pt x="125" y="100"/>
                  <a:pt x="125" y="100"/>
                </a:cubicBezTo>
                <a:cubicBezTo>
                  <a:pt x="125" y="100"/>
                  <a:pt x="121" y="97"/>
                  <a:pt x="117" y="93"/>
                </a:cubicBezTo>
                <a:cubicBezTo>
                  <a:pt x="112" y="89"/>
                  <a:pt x="107" y="85"/>
                  <a:pt x="102" y="82"/>
                </a:cubicBezTo>
                <a:cubicBezTo>
                  <a:pt x="101" y="81"/>
                  <a:pt x="100" y="81"/>
                  <a:pt x="98" y="80"/>
                </a:cubicBezTo>
                <a:cubicBezTo>
                  <a:pt x="96" y="79"/>
                  <a:pt x="92" y="78"/>
                  <a:pt x="88" y="77"/>
                </a:cubicBezTo>
                <a:cubicBezTo>
                  <a:pt x="77" y="74"/>
                  <a:pt x="60" y="72"/>
                  <a:pt x="43" y="72"/>
                </a:cubicBezTo>
                <a:cubicBezTo>
                  <a:pt x="38" y="72"/>
                  <a:pt x="33" y="72"/>
                  <a:pt x="28" y="73"/>
                </a:cubicBezTo>
                <a:cubicBezTo>
                  <a:pt x="25" y="73"/>
                  <a:pt x="23" y="73"/>
                  <a:pt x="20" y="73"/>
                </a:cubicBezTo>
                <a:cubicBezTo>
                  <a:pt x="20" y="73"/>
                  <a:pt x="20" y="73"/>
                  <a:pt x="20" y="73"/>
                </a:cubicBezTo>
                <a:cubicBezTo>
                  <a:pt x="17" y="73"/>
                  <a:pt x="14" y="73"/>
                  <a:pt x="12" y="72"/>
                </a:cubicBezTo>
                <a:cubicBezTo>
                  <a:pt x="11" y="72"/>
                  <a:pt x="10" y="71"/>
                  <a:pt x="9" y="70"/>
                </a:cubicBezTo>
                <a:cubicBezTo>
                  <a:pt x="8" y="70"/>
                  <a:pt x="7" y="68"/>
                  <a:pt x="7" y="67"/>
                </a:cubicBezTo>
                <a:cubicBezTo>
                  <a:pt x="6" y="65"/>
                  <a:pt x="6" y="63"/>
                  <a:pt x="6" y="60"/>
                </a:cubicBezTo>
                <a:cubicBezTo>
                  <a:pt x="6" y="57"/>
                  <a:pt x="6" y="53"/>
                  <a:pt x="7" y="48"/>
                </a:cubicBezTo>
                <a:cubicBezTo>
                  <a:pt x="7" y="48"/>
                  <a:pt x="7" y="48"/>
                  <a:pt x="7" y="48"/>
                </a:cubicBezTo>
                <a:cubicBezTo>
                  <a:pt x="7" y="39"/>
                  <a:pt x="10" y="28"/>
                  <a:pt x="13" y="20"/>
                </a:cubicBezTo>
                <a:cubicBezTo>
                  <a:pt x="14" y="15"/>
                  <a:pt x="15" y="11"/>
                  <a:pt x="16" y="9"/>
                </a:cubicBezTo>
                <a:cubicBezTo>
                  <a:pt x="16" y="8"/>
                  <a:pt x="17" y="7"/>
                  <a:pt x="17" y="6"/>
                </a:cubicBezTo>
                <a:cubicBezTo>
                  <a:pt x="17" y="6"/>
                  <a:pt x="17" y="6"/>
                  <a:pt x="17" y="5"/>
                </a:cubicBezTo>
                <a:cubicBezTo>
                  <a:pt x="17" y="5"/>
                  <a:pt x="18" y="5"/>
                  <a:pt x="18" y="5"/>
                </a:cubicBezTo>
                <a:cubicBezTo>
                  <a:pt x="18" y="4"/>
                  <a:pt x="18" y="4"/>
                  <a:pt x="18" y="4"/>
                </a:cubicBezTo>
                <a:cubicBezTo>
                  <a:pt x="18" y="3"/>
                  <a:pt x="18" y="1"/>
                  <a:pt x="16" y="1"/>
                </a:cubicBezTo>
                <a:cubicBezTo>
                  <a:pt x="16" y="1"/>
                  <a:pt x="16" y="1"/>
                  <a:pt x="16" y="0"/>
                </a:cubicBezTo>
                <a:cubicBezTo>
                  <a:pt x="16" y="0"/>
                  <a:pt x="15" y="0"/>
                  <a:pt x="15"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3" name="Freeform 98"/>
          <p:cNvSpPr>
            <a:spLocks/>
          </p:cNvSpPr>
          <p:nvPr/>
        </p:nvSpPr>
        <p:spPr bwMode="auto">
          <a:xfrm>
            <a:off x="3314701" y="5341938"/>
            <a:ext cx="17463" cy="33337"/>
          </a:xfrm>
          <a:custGeom>
            <a:avLst/>
            <a:gdLst>
              <a:gd name="T0" fmla="*/ 8 w 11"/>
              <a:gd name="T1" fmla="*/ 0 h 20"/>
              <a:gd name="T2" fmla="*/ 5 w 11"/>
              <a:gd name="T3" fmla="*/ 1 h 20"/>
              <a:gd name="T4" fmla="*/ 3 w 11"/>
              <a:gd name="T5" fmla="*/ 2 h 20"/>
              <a:gd name="T6" fmla="*/ 3 w 11"/>
              <a:gd name="T7" fmla="*/ 2 h 20"/>
              <a:gd name="T8" fmla="*/ 5 w 11"/>
              <a:gd name="T9" fmla="*/ 6 h 20"/>
              <a:gd name="T10" fmla="*/ 2 w 11"/>
              <a:gd name="T11" fmla="*/ 8 h 20"/>
              <a:gd name="T12" fmla="*/ 1 w 11"/>
              <a:gd name="T13" fmla="*/ 8 h 20"/>
              <a:gd name="T14" fmla="*/ 0 w 11"/>
              <a:gd name="T15" fmla="*/ 7 h 20"/>
              <a:gd name="T16" fmla="*/ 1 w 11"/>
              <a:gd name="T17" fmla="*/ 14 h 20"/>
              <a:gd name="T18" fmla="*/ 2 w 11"/>
              <a:gd name="T19" fmla="*/ 20 h 20"/>
              <a:gd name="T20" fmla="*/ 8 w 11"/>
              <a:gd name="T21" fmla="*/ 17 h 20"/>
              <a:gd name="T22" fmla="*/ 7 w 11"/>
              <a:gd name="T23" fmla="*/ 13 h 20"/>
              <a:gd name="T24" fmla="*/ 6 w 11"/>
              <a:gd name="T25" fmla="*/ 7 h 20"/>
              <a:gd name="T26" fmla="*/ 11 w 11"/>
              <a:gd name="T27" fmla="*/ 6 h 20"/>
              <a:gd name="T28" fmla="*/ 8 w 11"/>
              <a:gd name="T2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 h="20">
                <a:moveTo>
                  <a:pt x="8" y="0"/>
                </a:moveTo>
                <a:cubicBezTo>
                  <a:pt x="7" y="1"/>
                  <a:pt x="6" y="1"/>
                  <a:pt x="5" y="1"/>
                </a:cubicBezTo>
                <a:cubicBezTo>
                  <a:pt x="4" y="1"/>
                  <a:pt x="3" y="2"/>
                  <a:pt x="3" y="2"/>
                </a:cubicBezTo>
                <a:cubicBezTo>
                  <a:pt x="3" y="2"/>
                  <a:pt x="3" y="2"/>
                  <a:pt x="3" y="2"/>
                </a:cubicBezTo>
                <a:cubicBezTo>
                  <a:pt x="5" y="2"/>
                  <a:pt x="6" y="4"/>
                  <a:pt x="5" y="6"/>
                </a:cubicBezTo>
                <a:cubicBezTo>
                  <a:pt x="5" y="7"/>
                  <a:pt x="4" y="8"/>
                  <a:pt x="2" y="8"/>
                </a:cubicBezTo>
                <a:cubicBezTo>
                  <a:pt x="2" y="8"/>
                  <a:pt x="2" y="8"/>
                  <a:pt x="1" y="8"/>
                </a:cubicBezTo>
                <a:cubicBezTo>
                  <a:pt x="0" y="7"/>
                  <a:pt x="0" y="7"/>
                  <a:pt x="0" y="7"/>
                </a:cubicBezTo>
                <a:cubicBezTo>
                  <a:pt x="1" y="9"/>
                  <a:pt x="1" y="11"/>
                  <a:pt x="1" y="14"/>
                </a:cubicBezTo>
                <a:cubicBezTo>
                  <a:pt x="2" y="16"/>
                  <a:pt x="2" y="18"/>
                  <a:pt x="2" y="20"/>
                </a:cubicBezTo>
                <a:cubicBezTo>
                  <a:pt x="4" y="20"/>
                  <a:pt x="6" y="18"/>
                  <a:pt x="8" y="17"/>
                </a:cubicBezTo>
                <a:cubicBezTo>
                  <a:pt x="8" y="16"/>
                  <a:pt x="8" y="15"/>
                  <a:pt x="7" y="13"/>
                </a:cubicBezTo>
                <a:cubicBezTo>
                  <a:pt x="7" y="11"/>
                  <a:pt x="7" y="9"/>
                  <a:pt x="6" y="7"/>
                </a:cubicBezTo>
                <a:cubicBezTo>
                  <a:pt x="8" y="7"/>
                  <a:pt x="9" y="6"/>
                  <a:pt x="11" y="6"/>
                </a:cubicBezTo>
                <a:cubicBezTo>
                  <a:pt x="11" y="4"/>
                  <a:pt x="10" y="2"/>
                  <a:pt x="8"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4" name="Freeform 99"/>
          <p:cNvSpPr>
            <a:spLocks/>
          </p:cNvSpPr>
          <p:nvPr/>
        </p:nvSpPr>
        <p:spPr bwMode="auto">
          <a:xfrm>
            <a:off x="3714751" y="5446713"/>
            <a:ext cx="19050" cy="4762"/>
          </a:xfrm>
          <a:custGeom>
            <a:avLst/>
            <a:gdLst>
              <a:gd name="T0" fmla="*/ 0 w 11"/>
              <a:gd name="T1" fmla="*/ 0 h 3"/>
              <a:gd name="T2" fmla="*/ 2 w 11"/>
              <a:gd name="T3" fmla="*/ 2 h 3"/>
              <a:gd name="T4" fmla="*/ 8 w 11"/>
              <a:gd name="T5" fmla="*/ 3 h 3"/>
              <a:gd name="T6" fmla="*/ 8 w 11"/>
              <a:gd name="T7" fmla="*/ 3 h 3"/>
              <a:gd name="T8" fmla="*/ 11 w 11"/>
              <a:gd name="T9" fmla="*/ 1 h 3"/>
              <a:gd name="T10" fmla="*/ 11 w 11"/>
              <a:gd name="T11" fmla="*/ 0 h 3"/>
              <a:gd name="T12" fmla="*/ 8 w 11"/>
              <a:gd name="T13" fmla="*/ 0 h 3"/>
              <a:gd name="T14" fmla="*/ 0 w 11"/>
              <a:gd name="T15" fmla="*/ 0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3">
                <a:moveTo>
                  <a:pt x="0" y="0"/>
                </a:moveTo>
                <a:cubicBezTo>
                  <a:pt x="0" y="0"/>
                  <a:pt x="0" y="0"/>
                  <a:pt x="2" y="2"/>
                </a:cubicBezTo>
                <a:cubicBezTo>
                  <a:pt x="4" y="2"/>
                  <a:pt x="6" y="3"/>
                  <a:pt x="8" y="3"/>
                </a:cubicBezTo>
                <a:cubicBezTo>
                  <a:pt x="8" y="3"/>
                  <a:pt x="8" y="3"/>
                  <a:pt x="8" y="3"/>
                </a:cubicBezTo>
                <a:cubicBezTo>
                  <a:pt x="10" y="3"/>
                  <a:pt x="11" y="2"/>
                  <a:pt x="11" y="1"/>
                </a:cubicBezTo>
                <a:cubicBezTo>
                  <a:pt x="11" y="1"/>
                  <a:pt x="11" y="1"/>
                  <a:pt x="11" y="0"/>
                </a:cubicBezTo>
                <a:cubicBezTo>
                  <a:pt x="10" y="0"/>
                  <a:pt x="9" y="0"/>
                  <a:pt x="8" y="0"/>
                </a:cubicBezTo>
                <a:cubicBezTo>
                  <a:pt x="3" y="0"/>
                  <a:pt x="0" y="0"/>
                  <a:pt x="0" y="0"/>
                </a:cubicBezTo>
              </a:path>
            </a:pathLst>
          </a:custGeom>
          <a:solidFill>
            <a:srgbClr val="E3A1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5" name="Freeform 100"/>
          <p:cNvSpPr>
            <a:spLocks noEditPoints="1"/>
          </p:cNvSpPr>
          <p:nvPr/>
        </p:nvSpPr>
        <p:spPr bwMode="auto">
          <a:xfrm>
            <a:off x="3475038" y="5267325"/>
            <a:ext cx="258763" cy="182562"/>
          </a:xfrm>
          <a:custGeom>
            <a:avLst/>
            <a:gdLst>
              <a:gd name="T0" fmla="*/ 107 w 152"/>
              <a:gd name="T1" fmla="*/ 66 h 108"/>
              <a:gd name="T2" fmla="*/ 3 w 152"/>
              <a:gd name="T3" fmla="*/ 0 h 108"/>
              <a:gd name="T4" fmla="*/ 1 w 152"/>
              <a:gd name="T5" fmla="*/ 5 h 108"/>
              <a:gd name="T6" fmla="*/ 20 w 152"/>
              <a:gd name="T7" fmla="*/ 15 h 108"/>
              <a:gd name="T8" fmla="*/ 32 w 152"/>
              <a:gd name="T9" fmla="*/ 17 h 108"/>
              <a:gd name="T10" fmla="*/ 57 w 152"/>
              <a:gd name="T11" fmla="*/ 13 h 108"/>
              <a:gd name="T12" fmla="*/ 69 w 152"/>
              <a:gd name="T13" fmla="*/ 12 h 108"/>
              <a:gd name="T14" fmla="*/ 70 w 152"/>
              <a:gd name="T15" fmla="*/ 12 h 108"/>
              <a:gd name="T16" fmla="*/ 73 w 152"/>
              <a:gd name="T17" fmla="*/ 13 h 108"/>
              <a:gd name="T18" fmla="*/ 98 w 152"/>
              <a:gd name="T19" fmla="*/ 25 h 108"/>
              <a:gd name="T20" fmla="*/ 105 w 152"/>
              <a:gd name="T21" fmla="*/ 31 h 108"/>
              <a:gd name="T22" fmla="*/ 104 w 152"/>
              <a:gd name="T23" fmla="*/ 42 h 108"/>
              <a:gd name="T24" fmla="*/ 101 w 152"/>
              <a:gd name="T25" fmla="*/ 60 h 108"/>
              <a:gd name="T26" fmla="*/ 101 w 152"/>
              <a:gd name="T27" fmla="*/ 67 h 108"/>
              <a:gd name="T28" fmla="*/ 102 w 152"/>
              <a:gd name="T29" fmla="*/ 71 h 108"/>
              <a:gd name="T30" fmla="*/ 126 w 152"/>
              <a:gd name="T31" fmla="*/ 98 h 108"/>
              <a:gd name="T32" fmla="*/ 141 w 152"/>
              <a:gd name="T33" fmla="*/ 106 h 108"/>
              <a:gd name="T34" fmla="*/ 152 w 152"/>
              <a:gd name="T35" fmla="*/ 106 h 108"/>
              <a:gd name="T36" fmla="*/ 134 w 152"/>
              <a:gd name="T37" fmla="*/ 97 h 108"/>
              <a:gd name="T38" fmla="*/ 109 w 152"/>
              <a:gd name="T39" fmla="*/ 71 h 108"/>
              <a:gd name="T40" fmla="*/ 107 w 152"/>
              <a:gd name="T41" fmla="*/ 66 h 108"/>
              <a:gd name="T42" fmla="*/ 106 w 152"/>
              <a:gd name="T43" fmla="*/ 64 h 108"/>
              <a:gd name="T44" fmla="*/ 109 w 152"/>
              <a:gd name="T45" fmla="*/ 47 h 108"/>
              <a:gd name="T46" fmla="*/ 110 w 152"/>
              <a:gd name="T47" fmla="*/ 30 h 108"/>
              <a:gd name="T48" fmla="*/ 105 w 152"/>
              <a:gd name="T49" fmla="*/ 23 h 108"/>
              <a:gd name="T50" fmla="*/ 82 w 152"/>
              <a:gd name="T51" fmla="*/ 10 h 108"/>
              <a:gd name="T52" fmla="*/ 71 w 152"/>
              <a:gd name="T53" fmla="*/ 10 h 108"/>
              <a:gd name="T54" fmla="*/ 63 w 152"/>
              <a:gd name="T55" fmla="*/ 6 h 108"/>
              <a:gd name="T56" fmla="*/ 46 w 152"/>
              <a:gd name="T57" fmla="*/ 10 h 108"/>
              <a:gd name="T58" fmla="*/ 32 w 152"/>
              <a:gd name="T59" fmla="*/ 11 h 108"/>
              <a:gd name="T60" fmla="*/ 22 w 152"/>
              <a:gd name="T61" fmla="*/ 9 h 108"/>
              <a:gd name="T62" fmla="*/ 6 w 152"/>
              <a:gd name="T63" fmla="*/ 1 h 108"/>
              <a:gd name="T64" fmla="*/ 5 w 152"/>
              <a:gd name="T65" fmla="*/ 1 h 108"/>
              <a:gd name="T66" fmla="*/ 5 w 152"/>
              <a:gd name="T67" fmla="*/ 1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2" h="108">
                <a:moveTo>
                  <a:pt x="107" y="66"/>
                </a:moveTo>
                <a:cubicBezTo>
                  <a:pt x="107" y="66"/>
                  <a:pt x="107" y="66"/>
                  <a:pt x="107" y="66"/>
                </a:cubicBezTo>
                <a:cubicBezTo>
                  <a:pt x="107" y="66"/>
                  <a:pt x="107" y="66"/>
                  <a:pt x="107" y="66"/>
                </a:cubicBezTo>
                <a:moveTo>
                  <a:pt x="3" y="0"/>
                </a:moveTo>
                <a:cubicBezTo>
                  <a:pt x="2" y="0"/>
                  <a:pt x="1" y="0"/>
                  <a:pt x="0" y="1"/>
                </a:cubicBezTo>
                <a:cubicBezTo>
                  <a:pt x="0" y="3"/>
                  <a:pt x="0" y="4"/>
                  <a:pt x="1" y="5"/>
                </a:cubicBezTo>
                <a:cubicBezTo>
                  <a:pt x="1" y="5"/>
                  <a:pt x="5" y="8"/>
                  <a:pt x="11" y="11"/>
                </a:cubicBezTo>
                <a:cubicBezTo>
                  <a:pt x="13" y="12"/>
                  <a:pt x="16" y="14"/>
                  <a:pt x="20" y="15"/>
                </a:cubicBezTo>
                <a:cubicBezTo>
                  <a:pt x="23" y="16"/>
                  <a:pt x="26" y="17"/>
                  <a:pt x="30" y="17"/>
                </a:cubicBezTo>
                <a:cubicBezTo>
                  <a:pt x="30" y="17"/>
                  <a:pt x="31" y="17"/>
                  <a:pt x="32" y="17"/>
                </a:cubicBezTo>
                <a:cubicBezTo>
                  <a:pt x="35" y="17"/>
                  <a:pt x="38" y="17"/>
                  <a:pt x="42" y="16"/>
                </a:cubicBezTo>
                <a:cubicBezTo>
                  <a:pt x="47" y="16"/>
                  <a:pt x="52" y="14"/>
                  <a:pt x="57" y="13"/>
                </a:cubicBezTo>
                <a:cubicBezTo>
                  <a:pt x="60" y="13"/>
                  <a:pt x="62" y="13"/>
                  <a:pt x="64" y="12"/>
                </a:cubicBezTo>
                <a:cubicBezTo>
                  <a:pt x="66" y="12"/>
                  <a:pt x="68" y="12"/>
                  <a:pt x="69" y="12"/>
                </a:cubicBezTo>
                <a:cubicBezTo>
                  <a:pt x="69" y="12"/>
                  <a:pt x="69" y="12"/>
                  <a:pt x="69" y="12"/>
                </a:cubicBezTo>
                <a:cubicBezTo>
                  <a:pt x="69" y="12"/>
                  <a:pt x="70" y="12"/>
                  <a:pt x="70" y="12"/>
                </a:cubicBezTo>
                <a:cubicBezTo>
                  <a:pt x="70" y="12"/>
                  <a:pt x="70" y="12"/>
                  <a:pt x="70" y="12"/>
                </a:cubicBezTo>
                <a:cubicBezTo>
                  <a:pt x="70" y="12"/>
                  <a:pt x="71" y="12"/>
                  <a:pt x="73" y="13"/>
                </a:cubicBezTo>
                <a:cubicBezTo>
                  <a:pt x="77" y="14"/>
                  <a:pt x="84" y="17"/>
                  <a:pt x="90" y="20"/>
                </a:cubicBezTo>
                <a:cubicBezTo>
                  <a:pt x="93" y="22"/>
                  <a:pt x="96" y="23"/>
                  <a:pt x="98" y="25"/>
                </a:cubicBezTo>
                <a:cubicBezTo>
                  <a:pt x="101" y="27"/>
                  <a:pt x="103" y="28"/>
                  <a:pt x="104" y="30"/>
                </a:cubicBezTo>
                <a:cubicBezTo>
                  <a:pt x="104" y="30"/>
                  <a:pt x="104" y="30"/>
                  <a:pt x="105" y="31"/>
                </a:cubicBezTo>
                <a:cubicBezTo>
                  <a:pt x="105" y="32"/>
                  <a:pt x="105" y="34"/>
                  <a:pt x="105" y="35"/>
                </a:cubicBezTo>
                <a:cubicBezTo>
                  <a:pt x="105" y="37"/>
                  <a:pt x="105" y="39"/>
                  <a:pt x="104" y="42"/>
                </a:cubicBezTo>
                <a:cubicBezTo>
                  <a:pt x="104" y="46"/>
                  <a:pt x="103" y="50"/>
                  <a:pt x="102" y="54"/>
                </a:cubicBezTo>
                <a:cubicBezTo>
                  <a:pt x="102" y="56"/>
                  <a:pt x="101" y="58"/>
                  <a:pt x="101" y="60"/>
                </a:cubicBezTo>
                <a:cubicBezTo>
                  <a:pt x="101" y="61"/>
                  <a:pt x="101" y="63"/>
                  <a:pt x="101" y="64"/>
                </a:cubicBezTo>
                <a:cubicBezTo>
                  <a:pt x="101" y="65"/>
                  <a:pt x="101" y="66"/>
                  <a:pt x="101" y="67"/>
                </a:cubicBezTo>
                <a:cubicBezTo>
                  <a:pt x="101" y="67"/>
                  <a:pt x="101" y="67"/>
                  <a:pt x="101" y="67"/>
                </a:cubicBezTo>
                <a:cubicBezTo>
                  <a:pt x="101" y="68"/>
                  <a:pt x="102" y="70"/>
                  <a:pt x="102" y="71"/>
                </a:cubicBezTo>
                <a:cubicBezTo>
                  <a:pt x="104" y="74"/>
                  <a:pt x="106" y="78"/>
                  <a:pt x="109" y="81"/>
                </a:cubicBezTo>
                <a:cubicBezTo>
                  <a:pt x="114" y="87"/>
                  <a:pt x="119" y="93"/>
                  <a:pt x="126" y="98"/>
                </a:cubicBezTo>
                <a:cubicBezTo>
                  <a:pt x="131" y="102"/>
                  <a:pt x="137" y="105"/>
                  <a:pt x="143" y="108"/>
                </a:cubicBezTo>
                <a:cubicBezTo>
                  <a:pt x="141" y="106"/>
                  <a:pt x="141" y="106"/>
                  <a:pt x="141" y="106"/>
                </a:cubicBezTo>
                <a:cubicBezTo>
                  <a:pt x="141" y="106"/>
                  <a:pt x="144" y="106"/>
                  <a:pt x="149" y="106"/>
                </a:cubicBezTo>
                <a:cubicBezTo>
                  <a:pt x="150" y="106"/>
                  <a:pt x="151" y="106"/>
                  <a:pt x="152" y="106"/>
                </a:cubicBezTo>
                <a:cubicBezTo>
                  <a:pt x="152" y="105"/>
                  <a:pt x="151" y="104"/>
                  <a:pt x="150" y="103"/>
                </a:cubicBezTo>
                <a:cubicBezTo>
                  <a:pt x="145" y="102"/>
                  <a:pt x="139" y="100"/>
                  <a:pt x="134" y="97"/>
                </a:cubicBezTo>
                <a:cubicBezTo>
                  <a:pt x="127" y="92"/>
                  <a:pt x="120" y="85"/>
                  <a:pt x="115" y="79"/>
                </a:cubicBezTo>
                <a:cubicBezTo>
                  <a:pt x="113" y="76"/>
                  <a:pt x="110" y="73"/>
                  <a:pt x="109" y="71"/>
                </a:cubicBezTo>
                <a:cubicBezTo>
                  <a:pt x="108" y="70"/>
                  <a:pt x="108" y="69"/>
                  <a:pt x="107" y="68"/>
                </a:cubicBezTo>
                <a:cubicBezTo>
                  <a:pt x="107" y="67"/>
                  <a:pt x="107" y="66"/>
                  <a:pt x="107" y="66"/>
                </a:cubicBezTo>
                <a:cubicBezTo>
                  <a:pt x="107" y="66"/>
                  <a:pt x="107" y="66"/>
                  <a:pt x="107" y="66"/>
                </a:cubicBezTo>
                <a:cubicBezTo>
                  <a:pt x="107" y="65"/>
                  <a:pt x="106" y="65"/>
                  <a:pt x="106" y="64"/>
                </a:cubicBezTo>
                <a:cubicBezTo>
                  <a:pt x="106" y="63"/>
                  <a:pt x="107" y="61"/>
                  <a:pt x="107" y="59"/>
                </a:cubicBezTo>
                <a:cubicBezTo>
                  <a:pt x="108" y="55"/>
                  <a:pt x="109" y="51"/>
                  <a:pt x="109" y="47"/>
                </a:cubicBezTo>
                <a:cubicBezTo>
                  <a:pt x="110" y="43"/>
                  <a:pt x="111" y="39"/>
                  <a:pt x="111" y="35"/>
                </a:cubicBezTo>
                <a:cubicBezTo>
                  <a:pt x="111" y="33"/>
                  <a:pt x="111" y="32"/>
                  <a:pt x="110" y="30"/>
                </a:cubicBezTo>
                <a:cubicBezTo>
                  <a:pt x="110" y="28"/>
                  <a:pt x="109" y="27"/>
                  <a:pt x="108" y="26"/>
                </a:cubicBezTo>
                <a:cubicBezTo>
                  <a:pt x="107" y="25"/>
                  <a:pt x="106" y="24"/>
                  <a:pt x="105" y="23"/>
                </a:cubicBezTo>
                <a:cubicBezTo>
                  <a:pt x="103" y="21"/>
                  <a:pt x="100" y="19"/>
                  <a:pt x="97" y="17"/>
                </a:cubicBezTo>
                <a:cubicBezTo>
                  <a:pt x="92" y="14"/>
                  <a:pt x="87" y="12"/>
                  <a:pt x="82" y="10"/>
                </a:cubicBezTo>
                <a:cubicBezTo>
                  <a:pt x="81" y="9"/>
                  <a:pt x="79" y="8"/>
                  <a:pt x="77" y="8"/>
                </a:cubicBezTo>
                <a:cubicBezTo>
                  <a:pt x="75" y="9"/>
                  <a:pt x="73" y="10"/>
                  <a:pt x="71" y="10"/>
                </a:cubicBezTo>
                <a:cubicBezTo>
                  <a:pt x="70" y="10"/>
                  <a:pt x="69" y="10"/>
                  <a:pt x="68" y="9"/>
                </a:cubicBezTo>
                <a:cubicBezTo>
                  <a:pt x="66" y="9"/>
                  <a:pt x="64" y="8"/>
                  <a:pt x="63" y="6"/>
                </a:cubicBezTo>
                <a:cubicBezTo>
                  <a:pt x="62" y="7"/>
                  <a:pt x="61" y="7"/>
                  <a:pt x="61" y="7"/>
                </a:cubicBezTo>
                <a:cubicBezTo>
                  <a:pt x="56" y="8"/>
                  <a:pt x="51" y="9"/>
                  <a:pt x="46" y="10"/>
                </a:cubicBezTo>
                <a:cubicBezTo>
                  <a:pt x="41" y="10"/>
                  <a:pt x="36" y="11"/>
                  <a:pt x="32" y="11"/>
                </a:cubicBezTo>
                <a:cubicBezTo>
                  <a:pt x="32" y="11"/>
                  <a:pt x="32" y="11"/>
                  <a:pt x="32" y="11"/>
                </a:cubicBezTo>
                <a:cubicBezTo>
                  <a:pt x="31" y="11"/>
                  <a:pt x="31" y="11"/>
                  <a:pt x="30" y="11"/>
                </a:cubicBezTo>
                <a:cubicBezTo>
                  <a:pt x="27" y="11"/>
                  <a:pt x="24" y="10"/>
                  <a:pt x="22" y="9"/>
                </a:cubicBezTo>
                <a:cubicBezTo>
                  <a:pt x="17" y="8"/>
                  <a:pt x="13" y="6"/>
                  <a:pt x="10" y="4"/>
                </a:cubicBezTo>
                <a:cubicBezTo>
                  <a:pt x="8" y="3"/>
                  <a:pt x="7" y="2"/>
                  <a:pt x="6" y="1"/>
                </a:cubicBezTo>
                <a:cubicBezTo>
                  <a:pt x="6" y="1"/>
                  <a:pt x="5" y="1"/>
                  <a:pt x="5" y="1"/>
                </a:cubicBezTo>
                <a:cubicBezTo>
                  <a:pt x="5" y="1"/>
                  <a:pt x="5" y="1"/>
                  <a:pt x="5" y="1"/>
                </a:cubicBezTo>
                <a:cubicBezTo>
                  <a:pt x="5" y="1"/>
                  <a:pt x="5" y="1"/>
                  <a:pt x="5" y="1"/>
                </a:cubicBezTo>
                <a:cubicBezTo>
                  <a:pt x="5" y="1"/>
                  <a:pt x="5" y="1"/>
                  <a:pt x="5" y="1"/>
                </a:cubicBezTo>
                <a:cubicBezTo>
                  <a:pt x="4" y="0"/>
                  <a:pt x="4" y="0"/>
                  <a:pt x="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6" name="Freeform 101"/>
          <p:cNvSpPr>
            <a:spLocks/>
          </p:cNvSpPr>
          <p:nvPr/>
        </p:nvSpPr>
        <p:spPr bwMode="auto">
          <a:xfrm>
            <a:off x="3581401" y="5276850"/>
            <a:ext cx="23813" cy="6350"/>
          </a:xfrm>
          <a:custGeom>
            <a:avLst/>
            <a:gdLst>
              <a:gd name="T0" fmla="*/ 6 w 14"/>
              <a:gd name="T1" fmla="*/ 0 h 4"/>
              <a:gd name="T2" fmla="*/ 0 w 14"/>
              <a:gd name="T3" fmla="*/ 0 h 4"/>
              <a:gd name="T4" fmla="*/ 5 w 14"/>
              <a:gd name="T5" fmla="*/ 3 h 4"/>
              <a:gd name="T6" fmla="*/ 8 w 14"/>
              <a:gd name="T7" fmla="*/ 4 h 4"/>
              <a:gd name="T8" fmla="*/ 14 w 14"/>
              <a:gd name="T9" fmla="*/ 2 h 4"/>
              <a:gd name="T10" fmla="*/ 13 w 14"/>
              <a:gd name="T11" fmla="*/ 1 h 4"/>
              <a:gd name="T12" fmla="*/ 7 w 14"/>
              <a:gd name="T13" fmla="*/ 0 h 4"/>
              <a:gd name="T14" fmla="*/ 7 w 14"/>
              <a:gd name="T15" fmla="*/ 0 h 4"/>
              <a:gd name="T16" fmla="*/ 6 w 14"/>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4">
                <a:moveTo>
                  <a:pt x="6" y="0"/>
                </a:moveTo>
                <a:cubicBezTo>
                  <a:pt x="4" y="0"/>
                  <a:pt x="2" y="0"/>
                  <a:pt x="0" y="0"/>
                </a:cubicBezTo>
                <a:cubicBezTo>
                  <a:pt x="1" y="2"/>
                  <a:pt x="3" y="3"/>
                  <a:pt x="5" y="3"/>
                </a:cubicBezTo>
                <a:cubicBezTo>
                  <a:pt x="6" y="4"/>
                  <a:pt x="7" y="4"/>
                  <a:pt x="8" y="4"/>
                </a:cubicBezTo>
                <a:cubicBezTo>
                  <a:pt x="10" y="4"/>
                  <a:pt x="12" y="3"/>
                  <a:pt x="14" y="2"/>
                </a:cubicBezTo>
                <a:cubicBezTo>
                  <a:pt x="14" y="2"/>
                  <a:pt x="13" y="1"/>
                  <a:pt x="13" y="1"/>
                </a:cubicBezTo>
                <a:cubicBezTo>
                  <a:pt x="11" y="1"/>
                  <a:pt x="9" y="0"/>
                  <a:pt x="7" y="0"/>
                </a:cubicBezTo>
                <a:cubicBezTo>
                  <a:pt x="7" y="0"/>
                  <a:pt x="7" y="0"/>
                  <a:pt x="7" y="0"/>
                </a:cubicBezTo>
                <a:cubicBezTo>
                  <a:pt x="7" y="0"/>
                  <a:pt x="6" y="0"/>
                  <a:pt x="6"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7" name="Freeform 102"/>
          <p:cNvSpPr>
            <a:spLocks noEditPoints="1"/>
          </p:cNvSpPr>
          <p:nvPr/>
        </p:nvSpPr>
        <p:spPr bwMode="auto">
          <a:xfrm>
            <a:off x="3232151" y="5241925"/>
            <a:ext cx="146050" cy="111125"/>
          </a:xfrm>
          <a:custGeom>
            <a:avLst/>
            <a:gdLst>
              <a:gd name="T0" fmla="*/ 64 w 86"/>
              <a:gd name="T1" fmla="*/ 20 h 66"/>
              <a:gd name="T2" fmla="*/ 53 w 86"/>
              <a:gd name="T3" fmla="*/ 21 h 66"/>
              <a:gd name="T4" fmla="*/ 36 w 86"/>
              <a:gd name="T5" fmla="*/ 22 h 66"/>
              <a:gd name="T6" fmla="*/ 21 w 86"/>
              <a:gd name="T7" fmla="*/ 27 h 66"/>
              <a:gd name="T8" fmla="*/ 6 w 86"/>
              <a:gd name="T9" fmla="*/ 44 h 66"/>
              <a:gd name="T10" fmla="*/ 2 w 86"/>
              <a:gd name="T11" fmla="*/ 54 h 66"/>
              <a:gd name="T12" fmla="*/ 0 w 86"/>
              <a:gd name="T13" fmla="*/ 62 h 66"/>
              <a:gd name="T14" fmla="*/ 2 w 86"/>
              <a:gd name="T15" fmla="*/ 66 h 66"/>
              <a:gd name="T16" fmla="*/ 3 w 86"/>
              <a:gd name="T17" fmla="*/ 66 h 66"/>
              <a:gd name="T18" fmla="*/ 6 w 86"/>
              <a:gd name="T19" fmla="*/ 63 h 66"/>
              <a:gd name="T20" fmla="*/ 9 w 86"/>
              <a:gd name="T21" fmla="*/ 53 h 66"/>
              <a:gd name="T22" fmla="*/ 20 w 86"/>
              <a:gd name="T23" fmla="*/ 36 h 66"/>
              <a:gd name="T24" fmla="*/ 27 w 86"/>
              <a:gd name="T25" fmla="*/ 31 h 66"/>
              <a:gd name="T26" fmla="*/ 36 w 86"/>
              <a:gd name="T27" fmla="*/ 28 h 66"/>
              <a:gd name="T28" fmla="*/ 61 w 86"/>
              <a:gd name="T29" fmla="*/ 27 h 66"/>
              <a:gd name="T30" fmla="*/ 63 w 86"/>
              <a:gd name="T31" fmla="*/ 27 h 66"/>
              <a:gd name="T32" fmla="*/ 63 w 86"/>
              <a:gd name="T33" fmla="*/ 25 h 66"/>
              <a:gd name="T34" fmla="*/ 64 w 86"/>
              <a:gd name="T35" fmla="*/ 20 h 66"/>
              <a:gd name="T36" fmla="*/ 84 w 86"/>
              <a:gd name="T37" fmla="*/ 4 h 66"/>
              <a:gd name="T38" fmla="*/ 84 w 86"/>
              <a:gd name="T39" fmla="*/ 4 h 66"/>
              <a:gd name="T40" fmla="*/ 83 w 86"/>
              <a:gd name="T41" fmla="*/ 0 h 66"/>
              <a:gd name="T42" fmla="*/ 80 w 86"/>
              <a:gd name="T43" fmla="*/ 1 h 66"/>
              <a:gd name="T44" fmla="*/ 77 w 86"/>
              <a:gd name="T45" fmla="*/ 7 h 66"/>
              <a:gd name="T46" fmla="*/ 75 w 86"/>
              <a:gd name="T47" fmla="*/ 14 h 66"/>
              <a:gd name="T48" fmla="*/ 76 w 86"/>
              <a:gd name="T49" fmla="*/ 14 h 66"/>
              <a:gd name="T50" fmla="*/ 81 w 86"/>
              <a:gd name="T51" fmla="*/ 15 h 66"/>
              <a:gd name="T52" fmla="*/ 83 w 86"/>
              <a:gd name="T53" fmla="*/ 9 h 66"/>
              <a:gd name="T54" fmla="*/ 84 w 86"/>
              <a:gd name="T55" fmla="*/ 6 h 66"/>
              <a:gd name="T56" fmla="*/ 85 w 86"/>
              <a:gd name="T57" fmla="*/ 5 h 66"/>
              <a:gd name="T58" fmla="*/ 85 w 86"/>
              <a:gd name="T59" fmla="*/ 5 h 66"/>
              <a:gd name="T60" fmla="*/ 85 w 86"/>
              <a:gd name="T61" fmla="*/ 5 h 66"/>
              <a:gd name="T62" fmla="*/ 85 w 86"/>
              <a:gd name="T63" fmla="*/ 5 h 66"/>
              <a:gd name="T64" fmla="*/ 84 w 86"/>
              <a:gd name="T65" fmla="*/ 1 h 66"/>
              <a:gd name="T66" fmla="*/ 83 w 86"/>
              <a:gd name="T67"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6" h="66">
                <a:moveTo>
                  <a:pt x="64" y="20"/>
                </a:moveTo>
                <a:cubicBezTo>
                  <a:pt x="61" y="21"/>
                  <a:pt x="57" y="21"/>
                  <a:pt x="53" y="21"/>
                </a:cubicBezTo>
                <a:cubicBezTo>
                  <a:pt x="46" y="22"/>
                  <a:pt x="39" y="22"/>
                  <a:pt x="36" y="22"/>
                </a:cubicBezTo>
                <a:cubicBezTo>
                  <a:pt x="31" y="23"/>
                  <a:pt x="26" y="24"/>
                  <a:pt x="21" y="27"/>
                </a:cubicBezTo>
                <a:cubicBezTo>
                  <a:pt x="15" y="31"/>
                  <a:pt x="10" y="38"/>
                  <a:pt x="6" y="44"/>
                </a:cubicBezTo>
                <a:cubicBezTo>
                  <a:pt x="4" y="47"/>
                  <a:pt x="3" y="51"/>
                  <a:pt x="2" y="54"/>
                </a:cubicBezTo>
                <a:cubicBezTo>
                  <a:pt x="1" y="57"/>
                  <a:pt x="0" y="60"/>
                  <a:pt x="0" y="62"/>
                </a:cubicBezTo>
                <a:cubicBezTo>
                  <a:pt x="0" y="64"/>
                  <a:pt x="1" y="65"/>
                  <a:pt x="2" y="66"/>
                </a:cubicBezTo>
                <a:cubicBezTo>
                  <a:pt x="2" y="66"/>
                  <a:pt x="3" y="66"/>
                  <a:pt x="3" y="66"/>
                </a:cubicBezTo>
                <a:cubicBezTo>
                  <a:pt x="4" y="66"/>
                  <a:pt x="6" y="65"/>
                  <a:pt x="6" y="63"/>
                </a:cubicBezTo>
                <a:cubicBezTo>
                  <a:pt x="6" y="60"/>
                  <a:pt x="7" y="57"/>
                  <a:pt x="9" y="53"/>
                </a:cubicBezTo>
                <a:cubicBezTo>
                  <a:pt x="11" y="47"/>
                  <a:pt x="15" y="41"/>
                  <a:pt x="20" y="36"/>
                </a:cubicBezTo>
                <a:cubicBezTo>
                  <a:pt x="22" y="34"/>
                  <a:pt x="25" y="32"/>
                  <a:pt x="27" y="31"/>
                </a:cubicBezTo>
                <a:cubicBezTo>
                  <a:pt x="30" y="29"/>
                  <a:pt x="33" y="29"/>
                  <a:pt x="36" y="28"/>
                </a:cubicBezTo>
                <a:cubicBezTo>
                  <a:pt x="41" y="28"/>
                  <a:pt x="51" y="27"/>
                  <a:pt x="61" y="27"/>
                </a:cubicBezTo>
                <a:cubicBezTo>
                  <a:pt x="62" y="27"/>
                  <a:pt x="62" y="27"/>
                  <a:pt x="63" y="27"/>
                </a:cubicBezTo>
                <a:cubicBezTo>
                  <a:pt x="63" y="26"/>
                  <a:pt x="63" y="26"/>
                  <a:pt x="63" y="25"/>
                </a:cubicBezTo>
                <a:cubicBezTo>
                  <a:pt x="63" y="24"/>
                  <a:pt x="64" y="22"/>
                  <a:pt x="64" y="20"/>
                </a:cubicBezTo>
                <a:moveTo>
                  <a:pt x="84" y="4"/>
                </a:moveTo>
                <a:cubicBezTo>
                  <a:pt x="84" y="4"/>
                  <a:pt x="84" y="4"/>
                  <a:pt x="84" y="4"/>
                </a:cubicBezTo>
                <a:moveTo>
                  <a:pt x="83" y="0"/>
                </a:moveTo>
                <a:cubicBezTo>
                  <a:pt x="82" y="0"/>
                  <a:pt x="81" y="0"/>
                  <a:pt x="80" y="1"/>
                </a:cubicBezTo>
                <a:cubicBezTo>
                  <a:pt x="80" y="1"/>
                  <a:pt x="79" y="3"/>
                  <a:pt x="77" y="7"/>
                </a:cubicBezTo>
                <a:cubicBezTo>
                  <a:pt x="77" y="9"/>
                  <a:pt x="76" y="11"/>
                  <a:pt x="75" y="14"/>
                </a:cubicBezTo>
                <a:cubicBezTo>
                  <a:pt x="76" y="14"/>
                  <a:pt x="76" y="14"/>
                  <a:pt x="76" y="14"/>
                </a:cubicBezTo>
                <a:cubicBezTo>
                  <a:pt x="81" y="15"/>
                  <a:pt x="81" y="15"/>
                  <a:pt x="81" y="15"/>
                </a:cubicBezTo>
                <a:cubicBezTo>
                  <a:pt x="82" y="12"/>
                  <a:pt x="82" y="10"/>
                  <a:pt x="83" y="9"/>
                </a:cubicBezTo>
                <a:cubicBezTo>
                  <a:pt x="84" y="7"/>
                  <a:pt x="84" y="6"/>
                  <a:pt x="84" y="6"/>
                </a:cubicBezTo>
                <a:cubicBezTo>
                  <a:pt x="85" y="5"/>
                  <a:pt x="85" y="5"/>
                  <a:pt x="85" y="5"/>
                </a:cubicBezTo>
                <a:cubicBezTo>
                  <a:pt x="85" y="5"/>
                  <a:pt x="85" y="5"/>
                  <a:pt x="85" y="5"/>
                </a:cubicBezTo>
                <a:cubicBezTo>
                  <a:pt x="85" y="5"/>
                  <a:pt x="85" y="5"/>
                  <a:pt x="85" y="5"/>
                </a:cubicBezTo>
                <a:cubicBezTo>
                  <a:pt x="85" y="5"/>
                  <a:pt x="85" y="5"/>
                  <a:pt x="85" y="5"/>
                </a:cubicBezTo>
                <a:cubicBezTo>
                  <a:pt x="86" y="3"/>
                  <a:pt x="86" y="2"/>
                  <a:pt x="84" y="1"/>
                </a:cubicBezTo>
                <a:cubicBezTo>
                  <a:pt x="84" y="0"/>
                  <a:pt x="83" y="0"/>
                  <a:pt x="8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8" name="Freeform 103"/>
          <p:cNvSpPr>
            <a:spLocks/>
          </p:cNvSpPr>
          <p:nvPr/>
        </p:nvSpPr>
        <p:spPr bwMode="auto">
          <a:xfrm>
            <a:off x="3340101" y="5265738"/>
            <a:ext cx="30163" cy="22225"/>
          </a:xfrm>
          <a:custGeom>
            <a:avLst/>
            <a:gdLst>
              <a:gd name="T0" fmla="*/ 12 w 18"/>
              <a:gd name="T1" fmla="*/ 0 h 13"/>
              <a:gd name="T2" fmla="*/ 12 w 18"/>
              <a:gd name="T3" fmla="*/ 6 h 13"/>
              <a:gd name="T4" fmla="*/ 10 w 18"/>
              <a:gd name="T5" fmla="*/ 6 h 13"/>
              <a:gd name="T6" fmla="*/ 1 w 18"/>
              <a:gd name="T7" fmla="*/ 6 h 13"/>
              <a:gd name="T8" fmla="*/ 0 w 18"/>
              <a:gd name="T9" fmla="*/ 11 h 13"/>
              <a:gd name="T10" fmla="*/ 0 w 18"/>
              <a:gd name="T11" fmla="*/ 13 h 13"/>
              <a:gd name="T12" fmla="*/ 15 w 18"/>
              <a:gd name="T13" fmla="*/ 11 h 13"/>
              <a:gd name="T14" fmla="*/ 15 w 18"/>
              <a:gd name="T15" fmla="*/ 11 h 13"/>
              <a:gd name="T16" fmla="*/ 12 w 18"/>
              <a:gd name="T17" fmla="*/ 8 h 13"/>
              <a:gd name="T18" fmla="*/ 15 w 18"/>
              <a:gd name="T19" fmla="*/ 5 h 13"/>
              <a:gd name="T20" fmla="*/ 15 w 18"/>
              <a:gd name="T21" fmla="*/ 5 h 13"/>
              <a:gd name="T22" fmla="*/ 18 w 18"/>
              <a:gd name="T23" fmla="*/ 6 h 13"/>
              <a:gd name="T24" fmla="*/ 18 w 18"/>
              <a:gd name="T25" fmla="*/ 1 h 13"/>
              <a:gd name="T26" fmla="*/ 13 w 18"/>
              <a:gd name="T27" fmla="*/ 0 h 13"/>
              <a:gd name="T28" fmla="*/ 12 w 18"/>
              <a:gd name="T29"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13">
                <a:moveTo>
                  <a:pt x="12" y="0"/>
                </a:moveTo>
                <a:cubicBezTo>
                  <a:pt x="12" y="2"/>
                  <a:pt x="12" y="4"/>
                  <a:pt x="12" y="6"/>
                </a:cubicBezTo>
                <a:cubicBezTo>
                  <a:pt x="11" y="6"/>
                  <a:pt x="10" y="6"/>
                  <a:pt x="10" y="6"/>
                </a:cubicBezTo>
                <a:cubicBezTo>
                  <a:pt x="7" y="6"/>
                  <a:pt x="4" y="6"/>
                  <a:pt x="1" y="6"/>
                </a:cubicBezTo>
                <a:cubicBezTo>
                  <a:pt x="1" y="8"/>
                  <a:pt x="0" y="10"/>
                  <a:pt x="0" y="11"/>
                </a:cubicBezTo>
                <a:cubicBezTo>
                  <a:pt x="0" y="12"/>
                  <a:pt x="0" y="12"/>
                  <a:pt x="0" y="13"/>
                </a:cubicBezTo>
                <a:cubicBezTo>
                  <a:pt x="8" y="12"/>
                  <a:pt x="14" y="12"/>
                  <a:pt x="15" y="11"/>
                </a:cubicBezTo>
                <a:cubicBezTo>
                  <a:pt x="15" y="11"/>
                  <a:pt x="15" y="11"/>
                  <a:pt x="15" y="11"/>
                </a:cubicBezTo>
                <a:cubicBezTo>
                  <a:pt x="13" y="11"/>
                  <a:pt x="12" y="10"/>
                  <a:pt x="12" y="8"/>
                </a:cubicBezTo>
                <a:cubicBezTo>
                  <a:pt x="12" y="7"/>
                  <a:pt x="14" y="5"/>
                  <a:pt x="15" y="5"/>
                </a:cubicBezTo>
                <a:cubicBezTo>
                  <a:pt x="15" y="5"/>
                  <a:pt x="15" y="5"/>
                  <a:pt x="15" y="5"/>
                </a:cubicBezTo>
                <a:cubicBezTo>
                  <a:pt x="18" y="6"/>
                  <a:pt x="18" y="6"/>
                  <a:pt x="18" y="6"/>
                </a:cubicBezTo>
                <a:cubicBezTo>
                  <a:pt x="18" y="4"/>
                  <a:pt x="18" y="2"/>
                  <a:pt x="18" y="1"/>
                </a:cubicBezTo>
                <a:cubicBezTo>
                  <a:pt x="13" y="0"/>
                  <a:pt x="13" y="0"/>
                  <a:pt x="13" y="0"/>
                </a:cubicBezTo>
                <a:cubicBezTo>
                  <a:pt x="13" y="0"/>
                  <a:pt x="13" y="0"/>
                  <a:pt x="12"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9" name="Freeform 104"/>
          <p:cNvSpPr>
            <a:spLocks/>
          </p:cNvSpPr>
          <p:nvPr/>
        </p:nvSpPr>
        <p:spPr bwMode="auto">
          <a:xfrm>
            <a:off x="3359151" y="5273675"/>
            <a:ext cx="49213" cy="14287"/>
          </a:xfrm>
          <a:custGeom>
            <a:avLst/>
            <a:gdLst>
              <a:gd name="T0" fmla="*/ 3 w 29"/>
              <a:gd name="T1" fmla="*/ 0 h 8"/>
              <a:gd name="T2" fmla="*/ 0 w 29"/>
              <a:gd name="T3" fmla="*/ 3 h 8"/>
              <a:gd name="T4" fmla="*/ 3 w 29"/>
              <a:gd name="T5" fmla="*/ 6 h 8"/>
              <a:gd name="T6" fmla="*/ 3 w 29"/>
              <a:gd name="T7" fmla="*/ 6 h 8"/>
              <a:gd name="T8" fmla="*/ 25 w 29"/>
              <a:gd name="T9" fmla="*/ 8 h 8"/>
              <a:gd name="T10" fmla="*/ 25 w 29"/>
              <a:gd name="T11" fmla="*/ 8 h 8"/>
              <a:gd name="T12" fmla="*/ 28 w 29"/>
              <a:gd name="T13" fmla="*/ 5 h 8"/>
              <a:gd name="T14" fmla="*/ 26 w 29"/>
              <a:gd name="T15" fmla="*/ 2 h 8"/>
              <a:gd name="T16" fmla="*/ 6 w 29"/>
              <a:gd name="T17" fmla="*/ 1 h 8"/>
              <a:gd name="T18" fmla="*/ 3 w 29"/>
              <a:gd name="T19" fmla="*/ 0 h 8"/>
              <a:gd name="T20" fmla="*/ 3 w 29"/>
              <a:gd name="T21"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8">
                <a:moveTo>
                  <a:pt x="3" y="0"/>
                </a:moveTo>
                <a:cubicBezTo>
                  <a:pt x="2" y="0"/>
                  <a:pt x="0" y="2"/>
                  <a:pt x="0" y="3"/>
                </a:cubicBezTo>
                <a:cubicBezTo>
                  <a:pt x="0" y="5"/>
                  <a:pt x="1" y="6"/>
                  <a:pt x="3" y="6"/>
                </a:cubicBezTo>
                <a:cubicBezTo>
                  <a:pt x="3" y="6"/>
                  <a:pt x="3" y="6"/>
                  <a:pt x="3" y="6"/>
                </a:cubicBezTo>
                <a:cubicBezTo>
                  <a:pt x="25" y="8"/>
                  <a:pt x="25" y="8"/>
                  <a:pt x="25" y="8"/>
                </a:cubicBezTo>
                <a:cubicBezTo>
                  <a:pt x="25" y="8"/>
                  <a:pt x="25" y="8"/>
                  <a:pt x="25" y="8"/>
                </a:cubicBezTo>
                <a:cubicBezTo>
                  <a:pt x="27" y="8"/>
                  <a:pt x="28" y="7"/>
                  <a:pt x="28" y="5"/>
                </a:cubicBezTo>
                <a:cubicBezTo>
                  <a:pt x="29" y="3"/>
                  <a:pt x="27" y="2"/>
                  <a:pt x="26" y="2"/>
                </a:cubicBezTo>
                <a:cubicBezTo>
                  <a:pt x="6" y="1"/>
                  <a:pt x="6" y="1"/>
                  <a:pt x="6" y="1"/>
                </a:cubicBezTo>
                <a:cubicBezTo>
                  <a:pt x="3" y="0"/>
                  <a:pt x="3" y="0"/>
                  <a:pt x="3" y="0"/>
                </a:cubicBezTo>
                <a:cubicBezTo>
                  <a:pt x="3" y="0"/>
                  <a:pt x="3" y="0"/>
                  <a:pt x="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0" name="Freeform 105"/>
          <p:cNvSpPr>
            <a:spLocks noEditPoints="1"/>
          </p:cNvSpPr>
          <p:nvPr/>
        </p:nvSpPr>
        <p:spPr bwMode="auto">
          <a:xfrm>
            <a:off x="3660776" y="4930775"/>
            <a:ext cx="169863" cy="347662"/>
          </a:xfrm>
          <a:custGeom>
            <a:avLst/>
            <a:gdLst>
              <a:gd name="T0" fmla="*/ 29 w 100"/>
              <a:gd name="T1" fmla="*/ 98 h 205"/>
              <a:gd name="T2" fmla="*/ 28 w 100"/>
              <a:gd name="T3" fmla="*/ 102 h 205"/>
              <a:gd name="T4" fmla="*/ 35 w 100"/>
              <a:gd name="T5" fmla="*/ 122 h 205"/>
              <a:gd name="T6" fmla="*/ 35 w 100"/>
              <a:gd name="T7" fmla="*/ 126 h 205"/>
              <a:gd name="T8" fmla="*/ 4 w 100"/>
              <a:gd name="T9" fmla="*/ 165 h 205"/>
              <a:gd name="T10" fmla="*/ 1 w 100"/>
              <a:gd name="T11" fmla="*/ 171 h 205"/>
              <a:gd name="T12" fmla="*/ 2 w 100"/>
              <a:gd name="T13" fmla="*/ 192 h 205"/>
              <a:gd name="T14" fmla="*/ 10 w 100"/>
              <a:gd name="T15" fmla="*/ 205 h 205"/>
              <a:gd name="T16" fmla="*/ 13 w 100"/>
              <a:gd name="T17" fmla="*/ 200 h 205"/>
              <a:gd name="T18" fmla="*/ 6 w 100"/>
              <a:gd name="T19" fmla="*/ 179 h 205"/>
              <a:gd name="T20" fmla="*/ 9 w 100"/>
              <a:gd name="T21" fmla="*/ 169 h 205"/>
              <a:gd name="T22" fmla="*/ 24 w 100"/>
              <a:gd name="T23" fmla="*/ 150 h 205"/>
              <a:gd name="T24" fmla="*/ 37 w 100"/>
              <a:gd name="T25" fmla="*/ 133 h 205"/>
              <a:gd name="T26" fmla="*/ 41 w 100"/>
              <a:gd name="T27" fmla="*/ 121 h 205"/>
              <a:gd name="T28" fmla="*/ 31 w 100"/>
              <a:gd name="T29" fmla="*/ 94 h 205"/>
              <a:gd name="T30" fmla="*/ 77 w 100"/>
              <a:gd name="T31" fmla="*/ 37 h 205"/>
              <a:gd name="T32" fmla="*/ 61 w 100"/>
              <a:gd name="T33" fmla="*/ 53 h 205"/>
              <a:gd name="T34" fmla="*/ 54 w 100"/>
              <a:gd name="T35" fmla="*/ 59 h 205"/>
              <a:gd name="T36" fmla="*/ 29 w 100"/>
              <a:gd name="T37" fmla="*/ 79 h 205"/>
              <a:gd name="T38" fmla="*/ 26 w 100"/>
              <a:gd name="T39" fmla="*/ 81 h 205"/>
              <a:gd name="T40" fmla="*/ 40 w 100"/>
              <a:gd name="T41" fmla="*/ 78 h 205"/>
              <a:gd name="T42" fmla="*/ 58 w 100"/>
              <a:gd name="T43" fmla="*/ 64 h 205"/>
              <a:gd name="T44" fmla="*/ 65 w 100"/>
              <a:gd name="T45" fmla="*/ 57 h 205"/>
              <a:gd name="T46" fmla="*/ 85 w 100"/>
              <a:gd name="T47" fmla="*/ 38 h 205"/>
              <a:gd name="T48" fmla="*/ 99 w 100"/>
              <a:gd name="T49" fmla="*/ 4 h 205"/>
              <a:gd name="T50" fmla="*/ 97 w 100"/>
              <a:gd name="T51" fmla="*/ 0 h 205"/>
              <a:gd name="T52" fmla="*/ 92 w 100"/>
              <a:gd name="T53" fmla="*/ 7 h 205"/>
              <a:gd name="T54" fmla="*/ 94 w 100"/>
              <a:gd name="T55" fmla="*/ 16 h 205"/>
              <a:gd name="T56" fmla="*/ 98 w 100"/>
              <a:gd name="T57" fmla="*/ 9 h 205"/>
              <a:gd name="T58" fmla="*/ 99 w 100"/>
              <a:gd name="T59" fmla="*/ 5 h 205"/>
              <a:gd name="T60" fmla="*/ 100 w 100"/>
              <a:gd name="T61" fmla="*/ 5 h 205"/>
              <a:gd name="T62" fmla="*/ 100 w 100"/>
              <a:gd name="T63" fmla="*/ 5 h 205"/>
              <a:gd name="T64" fmla="*/ 97 w 100"/>
              <a:gd name="T65" fmla="*/ 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0" h="205">
                <a:moveTo>
                  <a:pt x="31" y="94"/>
                </a:moveTo>
                <a:cubicBezTo>
                  <a:pt x="30" y="95"/>
                  <a:pt x="30" y="96"/>
                  <a:pt x="29" y="98"/>
                </a:cubicBezTo>
                <a:cubicBezTo>
                  <a:pt x="28" y="98"/>
                  <a:pt x="28" y="99"/>
                  <a:pt x="27" y="100"/>
                </a:cubicBezTo>
                <a:cubicBezTo>
                  <a:pt x="27" y="100"/>
                  <a:pt x="28" y="101"/>
                  <a:pt x="28" y="102"/>
                </a:cubicBezTo>
                <a:cubicBezTo>
                  <a:pt x="30" y="105"/>
                  <a:pt x="32" y="109"/>
                  <a:pt x="33" y="113"/>
                </a:cubicBezTo>
                <a:cubicBezTo>
                  <a:pt x="34" y="116"/>
                  <a:pt x="35" y="120"/>
                  <a:pt x="35" y="122"/>
                </a:cubicBezTo>
                <a:cubicBezTo>
                  <a:pt x="35" y="124"/>
                  <a:pt x="35" y="125"/>
                  <a:pt x="35" y="126"/>
                </a:cubicBezTo>
                <a:cubicBezTo>
                  <a:pt x="35" y="126"/>
                  <a:pt x="35" y="126"/>
                  <a:pt x="35" y="126"/>
                </a:cubicBezTo>
                <a:cubicBezTo>
                  <a:pt x="33" y="128"/>
                  <a:pt x="31" y="132"/>
                  <a:pt x="28" y="135"/>
                </a:cubicBezTo>
                <a:cubicBezTo>
                  <a:pt x="21" y="146"/>
                  <a:pt x="9" y="159"/>
                  <a:pt x="4" y="165"/>
                </a:cubicBezTo>
                <a:cubicBezTo>
                  <a:pt x="4" y="165"/>
                  <a:pt x="4" y="165"/>
                  <a:pt x="4" y="165"/>
                </a:cubicBezTo>
                <a:cubicBezTo>
                  <a:pt x="3" y="166"/>
                  <a:pt x="2" y="169"/>
                  <a:pt x="1" y="171"/>
                </a:cubicBezTo>
                <a:cubicBezTo>
                  <a:pt x="0" y="174"/>
                  <a:pt x="0" y="176"/>
                  <a:pt x="0" y="179"/>
                </a:cubicBezTo>
                <a:cubicBezTo>
                  <a:pt x="0" y="183"/>
                  <a:pt x="1" y="188"/>
                  <a:pt x="2" y="192"/>
                </a:cubicBezTo>
                <a:cubicBezTo>
                  <a:pt x="3" y="196"/>
                  <a:pt x="5" y="200"/>
                  <a:pt x="8" y="204"/>
                </a:cubicBezTo>
                <a:cubicBezTo>
                  <a:pt x="9" y="204"/>
                  <a:pt x="9" y="205"/>
                  <a:pt x="10" y="205"/>
                </a:cubicBezTo>
                <a:cubicBezTo>
                  <a:pt x="11" y="205"/>
                  <a:pt x="12" y="204"/>
                  <a:pt x="12" y="204"/>
                </a:cubicBezTo>
                <a:cubicBezTo>
                  <a:pt x="13" y="203"/>
                  <a:pt x="14" y="201"/>
                  <a:pt x="13" y="200"/>
                </a:cubicBezTo>
                <a:cubicBezTo>
                  <a:pt x="11" y="197"/>
                  <a:pt x="9" y="194"/>
                  <a:pt x="8" y="190"/>
                </a:cubicBezTo>
                <a:cubicBezTo>
                  <a:pt x="6" y="186"/>
                  <a:pt x="6" y="182"/>
                  <a:pt x="6" y="179"/>
                </a:cubicBezTo>
                <a:cubicBezTo>
                  <a:pt x="6" y="177"/>
                  <a:pt x="6" y="175"/>
                  <a:pt x="7" y="173"/>
                </a:cubicBezTo>
                <a:cubicBezTo>
                  <a:pt x="7" y="171"/>
                  <a:pt x="8" y="170"/>
                  <a:pt x="9" y="169"/>
                </a:cubicBezTo>
                <a:cubicBezTo>
                  <a:pt x="9" y="169"/>
                  <a:pt x="9" y="169"/>
                  <a:pt x="9" y="169"/>
                </a:cubicBezTo>
                <a:cubicBezTo>
                  <a:pt x="12" y="165"/>
                  <a:pt x="18" y="158"/>
                  <a:pt x="24" y="150"/>
                </a:cubicBezTo>
                <a:cubicBezTo>
                  <a:pt x="28" y="146"/>
                  <a:pt x="31" y="142"/>
                  <a:pt x="33" y="139"/>
                </a:cubicBezTo>
                <a:cubicBezTo>
                  <a:pt x="35" y="137"/>
                  <a:pt x="36" y="135"/>
                  <a:pt x="37" y="133"/>
                </a:cubicBezTo>
                <a:cubicBezTo>
                  <a:pt x="37" y="130"/>
                  <a:pt x="37" y="127"/>
                  <a:pt x="38" y="125"/>
                </a:cubicBezTo>
                <a:cubicBezTo>
                  <a:pt x="39" y="123"/>
                  <a:pt x="40" y="122"/>
                  <a:pt x="41" y="121"/>
                </a:cubicBezTo>
                <a:cubicBezTo>
                  <a:pt x="41" y="117"/>
                  <a:pt x="40" y="114"/>
                  <a:pt x="39" y="110"/>
                </a:cubicBezTo>
                <a:cubicBezTo>
                  <a:pt x="36" y="104"/>
                  <a:pt x="33" y="99"/>
                  <a:pt x="31" y="94"/>
                </a:cubicBezTo>
                <a:moveTo>
                  <a:pt x="81" y="33"/>
                </a:moveTo>
                <a:cubicBezTo>
                  <a:pt x="80" y="34"/>
                  <a:pt x="79" y="35"/>
                  <a:pt x="77" y="37"/>
                </a:cubicBezTo>
                <a:cubicBezTo>
                  <a:pt x="73" y="41"/>
                  <a:pt x="69" y="45"/>
                  <a:pt x="65" y="48"/>
                </a:cubicBezTo>
                <a:cubicBezTo>
                  <a:pt x="64" y="50"/>
                  <a:pt x="62" y="52"/>
                  <a:pt x="61" y="53"/>
                </a:cubicBezTo>
                <a:cubicBezTo>
                  <a:pt x="59" y="54"/>
                  <a:pt x="58" y="56"/>
                  <a:pt x="57" y="56"/>
                </a:cubicBezTo>
                <a:cubicBezTo>
                  <a:pt x="57" y="57"/>
                  <a:pt x="56" y="58"/>
                  <a:pt x="54" y="59"/>
                </a:cubicBezTo>
                <a:cubicBezTo>
                  <a:pt x="52" y="61"/>
                  <a:pt x="49" y="64"/>
                  <a:pt x="45" y="67"/>
                </a:cubicBezTo>
                <a:cubicBezTo>
                  <a:pt x="39" y="71"/>
                  <a:pt x="33" y="75"/>
                  <a:pt x="29" y="79"/>
                </a:cubicBezTo>
                <a:cubicBezTo>
                  <a:pt x="28" y="79"/>
                  <a:pt x="27" y="80"/>
                  <a:pt x="26" y="81"/>
                </a:cubicBezTo>
                <a:cubicBezTo>
                  <a:pt x="26" y="81"/>
                  <a:pt x="26" y="81"/>
                  <a:pt x="26" y="81"/>
                </a:cubicBezTo>
                <a:cubicBezTo>
                  <a:pt x="28" y="82"/>
                  <a:pt x="29" y="84"/>
                  <a:pt x="30" y="85"/>
                </a:cubicBezTo>
                <a:cubicBezTo>
                  <a:pt x="33" y="83"/>
                  <a:pt x="36" y="80"/>
                  <a:pt x="40" y="78"/>
                </a:cubicBezTo>
                <a:cubicBezTo>
                  <a:pt x="45" y="74"/>
                  <a:pt x="49" y="71"/>
                  <a:pt x="53" y="68"/>
                </a:cubicBezTo>
                <a:cubicBezTo>
                  <a:pt x="55" y="67"/>
                  <a:pt x="57" y="65"/>
                  <a:pt x="58" y="64"/>
                </a:cubicBezTo>
                <a:cubicBezTo>
                  <a:pt x="60" y="63"/>
                  <a:pt x="61" y="61"/>
                  <a:pt x="62" y="60"/>
                </a:cubicBezTo>
                <a:cubicBezTo>
                  <a:pt x="62" y="60"/>
                  <a:pt x="64" y="59"/>
                  <a:pt x="65" y="57"/>
                </a:cubicBezTo>
                <a:cubicBezTo>
                  <a:pt x="70" y="52"/>
                  <a:pt x="78" y="45"/>
                  <a:pt x="84" y="38"/>
                </a:cubicBezTo>
                <a:cubicBezTo>
                  <a:pt x="85" y="38"/>
                  <a:pt x="85" y="38"/>
                  <a:pt x="85" y="38"/>
                </a:cubicBezTo>
                <a:cubicBezTo>
                  <a:pt x="83" y="36"/>
                  <a:pt x="82" y="35"/>
                  <a:pt x="81" y="33"/>
                </a:cubicBezTo>
                <a:moveTo>
                  <a:pt x="99" y="4"/>
                </a:moveTo>
                <a:cubicBezTo>
                  <a:pt x="99" y="4"/>
                  <a:pt x="99" y="4"/>
                  <a:pt x="99" y="4"/>
                </a:cubicBezTo>
                <a:moveTo>
                  <a:pt x="97" y="0"/>
                </a:moveTo>
                <a:cubicBezTo>
                  <a:pt x="96" y="0"/>
                  <a:pt x="95" y="1"/>
                  <a:pt x="94" y="2"/>
                </a:cubicBezTo>
                <a:cubicBezTo>
                  <a:pt x="94" y="2"/>
                  <a:pt x="93" y="4"/>
                  <a:pt x="92" y="7"/>
                </a:cubicBezTo>
                <a:cubicBezTo>
                  <a:pt x="91" y="9"/>
                  <a:pt x="91" y="13"/>
                  <a:pt x="90" y="16"/>
                </a:cubicBezTo>
                <a:cubicBezTo>
                  <a:pt x="92" y="16"/>
                  <a:pt x="93" y="16"/>
                  <a:pt x="94" y="16"/>
                </a:cubicBezTo>
                <a:cubicBezTo>
                  <a:pt x="95" y="16"/>
                  <a:pt x="96" y="16"/>
                  <a:pt x="96" y="16"/>
                </a:cubicBezTo>
                <a:cubicBezTo>
                  <a:pt x="97" y="13"/>
                  <a:pt x="97" y="11"/>
                  <a:pt x="98" y="9"/>
                </a:cubicBezTo>
                <a:cubicBezTo>
                  <a:pt x="98" y="7"/>
                  <a:pt x="99" y="6"/>
                  <a:pt x="99" y="6"/>
                </a:cubicBezTo>
                <a:cubicBezTo>
                  <a:pt x="99" y="5"/>
                  <a:pt x="99" y="5"/>
                  <a:pt x="99" y="5"/>
                </a:cubicBezTo>
                <a:cubicBezTo>
                  <a:pt x="100" y="5"/>
                  <a:pt x="100" y="5"/>
                  <a:pt x="100" y="5"/>
                </a:cubicBezTo>
                <a:cubicBezTo>
                  <a:pt x="100" y="5"/>
                  <a:pt x="100" y="5"/>
                  <a:pt x="100" y="5"/>
                </a:cubicBezTo>
                <a:cubicBezTo>
                  <a:pt x="100" y="5"/>
                  <a:pt x="100" y="5"/>
                  <a:pt x="100" y="5"/>
                </a:cubicBezTo>
                <a:cubicBezTo>
                  <a:pt x="100" y="5"/>
                  <a:pt x="100" y="5"/>
                  <a:pt x="100" y="5"/>
                </a:cubicBezTo>
                <a:cubicBezTo>
                  <a:pt x="100" y="3"/>
                  <a:pt x="100" y="1"/>
                  <a:pt x="98" y="1"/>
                </a:cubicBezTo>
                <a:cubicBezTo>
                  <a:pt x="98" y="0"/>
                  <a:pt x="97" y="0"/>
                  <a:pt x="97"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1" name="Freeform 106"/>
          <p:cNvSpPr>
            <a:spLocks/>
          </p:cNvSpPr>
          <p:nvPr/>
        </p:nvSpPr>
        <p:spPr bwMode="auto">
          <a:xfrm>
            <a:off x="3797301" y="4957763"/>
            <a:ext cx="26988" cy="38100"/>
          </a:xfrm>
          <a:custGeom>
            <a:avLst/>
            <a:gdLst>
              <a:gd name="T0" fmla="*/ 13 w 16"/>
              <a:gd name="T1" fmla="*/ 0 h 22"/>
              <a:gd name="T2" fmla="*/ 9 w 16"/>
              <a:gd name="T3" fmla="*/ 0 h 22"/>
              <a:gd name="T4" fmla="*/ 9 w 16"/>
              <a:gd name="T5" fmla="*/ 2 h 22"/>
              <a:gd name="T6" fmla="*/ 10 w 16"/>
              <a:gd name="T7" fmla="*/ 7 h 22"/>
              <a:gd name="T8" fmla="*/ 0 w 16"/>
              <a:gd name="T9" fmla="*/ 17 h 22"/>
              <a:gd name="T10" fmla="*/ 4 w 16"/>
              <a:gd name="T11" fmla="*/ 22 h 22"/>
              <a:gd name="T12" fmla="*/ 12 w 16"/>
              <a:gd name="T13" fmla="*/ 14 h 22"/>
              <a:gd name="T14" fmla="*/ 15 w 16"/>
              <a:gd name="T15" fmla="*/ 11 h 22"/>
              <a:gd name="T16" fmla="*/ 15 w 16"/>
              <a:gd name="T17" fmla="*/ 11 h 22"/>
              <a:gd name="T18" fmla="*/ 14 w 16"/>
              <a:gd name="T19" fmla="*/ 11 h 22"/>
              <a:gd name="T20" fmla="*/ 14 w 16"/>
              <a:gd name="T21" fmla="*/ 11 h 22"/>
              <a:gd name="T22" fmla="*/ 11 w 16"/>
              <a:gd name="T23" fmla="*/ 9 h 22"/>
              <a:gd name="T24" fmla="*/ 13 w 16"/>
              <a:gd name="T25" fmla="*/ 5 h 22"/>
              <a:gd name="T26" fmla="*/ 16 w 16"/>
              <a:gd name="T27" fmla="*/ 5 h 22"/>
              <a:gd name="T28" fmla="*/ 15 w 16"/>
              <a:gd name="T29" fmla="*/ 2 h 22"/>
              <a:gd name="T30" fmla="*/ 15 w 16"/>
              <a:gd name="T31" fmla="*/ 0 h 22"/>
              <a:gd name="T32" fmla="*/ 13 w 16"/>
              <a:gd name="T33"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 h="22">
                <a:moveTo>
                  <a:pt x="13" y="0"/>
                </a:moveTo>
                <a:cubicBezTo>
                  <a:pt x="12" y="0"/>
                  <a:pt x="11" y="0"/>
                  <a:pt x="9" y="0"/>
                </a:cubicBezTo>
                <a:cubicBezTo>
                  <a:pt x="9" y="1"/>
                  <a:pt x="9" y="1"/>
                  <a:pt x="9" y="2"/>
                </a:cubicBezTo>
                <a:cubicBezTo>
                  <a:pt x="9" y="4"/>
                  <a:pt x="10" y="6"/>
                  <a:pt x="10" y="7"/>
                </a:cubicBezTo>
                <a:cubicBezTo>
                  <a:pt x="8" y="9"/>
                  <a:pt x="4" y="13"/>
                  <a:pt x="0" y="17"/>
                </a:cubicBezTo>
                <a:cubicBezTo>
                  <a:pt x="1" y="19"/>
                  <a:pt x="2" y="20"/>
                  <a:pt x="4" y="22"/>
                </a:cubicBezTo>
                <a:cubicBezTo>
                  <a:pt x="7" y="18"/>
                  <a:pt x="10" y="16"/>
                  <a:pt x="12" y="14"/>
                </a:cubicBezTo>
                <a:cubicBezTo>
                  <a:pt x="13" y="13"/>
                  <a:pt x="14" y="12"/>
                  <a:pt x="15" y="11"/>
                </a:cubicBezTo>
                <a:cubicBezTo>
                  <a:pt x="15" y="11"/>
                  <a:pt x="15" y="11"/>
                  <a:pt x="15" y="11"/>
                </a:cubicBezTo>
                <a:cubicBezTo>
                  <a:pt x="15" y="11"/>
                  <a:pt x="15" y="11"/>
                  <a:pt x="14" y="11"/>
                </a:cubicBezTo>
                <a:cubicBezTo>
                  <a:pt x="14" y="11"/>
                  <a:pt x="14" y="11"/>
                  <a:pt x="14" y="11"/>
                </a:cubicBezTo>
                <a:cubicBezTo>
                  <a:pt x="12" y="11"/>
                  <a:pt x="11" y="10"/>
                  <a:pt x="11" y="9"/>
                </a:cubicBezTo>
                <a:cubicBezTo>
                  <a:pt x="10" y="7"/>
                  <a:pt x="11" y="6"/>
                  <a:pt x="13" y="5"/>
                </a:cubicBezTo>
                <a:cubicBezTo>
                  <a:pt x="14" y="5"/>
                  <a:pt x="15" y="5"/>
                  <a:pt x="16" y="5"/>
                </a:cubicBezTo>
                <a:cubicBezTo>
                  <a:pt x="15" y="4"/>
                  <a:pt x="15" y="3"/>
                  <a:pt x="15" y="2"/>
                </a:cubicBezTo>
                <a:cubicBezTo>
                  <a:pt x="15" y="1"/>
                  <a:pt x="15" y="0"/>
                  <a:pt x="15" y="0"/>
                </a:cubicBezTo>
                <a:cubicBezTo>
                  <a:pt x="15" y="0"/>
                  <a:pt x="14" y="0"/>
                  <a:pt x="1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2" name="Freeform 107"/>
          <p:cNvSpPr>
            <a:spLocks/>
          </p:cNvSpPr>
          <p:nvPr/>
        </p:nvSpPr>
        <p:spPr bwMode="auto">
          <a:xfrm>
            <a:off x="3722688" y="5135563"/>
            <a:ext cx="6350" cy="20637"/>
          </a:xfrm>
          <a:custGeom>
            <a:avLst/>
            <a:gdLst>
              <a:gd name="T0" fmla="*/ 4 w 4"/>
              <a:gd name="T1" fmla="*/ 0 h 12"/>
              <a:gd name="T2" fmla="*/ 1 w 4"/>
              <a:gd name="T3" fmla="*/ 4 h 12"/>
              <a:gd name="T4" fmla="*/ 0 w 4"/>
              <a:gd name="T5" fmla="*/ 12 h 12"/>
              <a:gd name="T6" fmla="*/ 3 w 4"/>
              <a:gd name="T7" fmla="*/ 8 h 12"/>
              <a:gd name="T8" fmla="*/ 3 w 4"/>
              <a:gd name="T9" fmla="*/ 8 h 12"/>
              <a:gd name="T10" fmla="*/ 4 w 4"/>
              <a:gd name="T11" fmla="*/ 1 h 12"/>
              <a:gd name="T12" fmla="*/ 4 w 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 h="12">
                <a:moveTo>
                  <a:pt x="4" y="0"/>
                </a:moveTo>
                <a:cubicBezTo>
                  <a:pt x="3" y="1"/>
                  <a:pt x="2" y="2"/>
                  <a:pt x="1" y="4"/>
                </a:cubicBezTo>
                <a:cubicBezTo>
                  <a:pt x="0" y="6"/>
                  <a:pt x="0" y="9"/>
                  <a:pt x="0" y="12"/>
                </a:cubicBezTo>
                <a:cubicBezTo>
                  <a:pt x="1" y="10"/>
                  <a:pt x="2" y="9"/>
                  <a:pt x="3" y="8"/>
                </a:cubicBezTo>
                <a:cubicBezTo>
                  <a:pt x="3" y="8"/>
                  <a:pt x="3" y="8"/>
                  <a:pt x="3" y="8"/>
                </a:cubicBezTo>
                <a:cubicBezTo>
                  <a:pt x="4" y="6"/>
                  <a:pt x="4" y="3"/>
                  <a:pt x="4" y="1"/>
                </a:cubicBezTo>
                <a:cubicBezTo>
                  <a:pt x="4" y="1"/>
                  <a:pt x="4" y="0"/>
                  <a:pt x="4"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3" name="Freeform 108"/>
          <p:cNvSpPr>
            <a:spLocks/>
          </p:cNvSpPr>
          <p:nvPr/>
        </p:nvSpPr>
        <p:spPr bwMode="auto">
          <a:xfrm>
            <a:off x="3694113" y="5068888"/>
            <a:ext cx="19050" cy="31750"/>
          </a:xfrm>
          <a:custGeom>
            <a:avLst/>
            <a:gdLst>
              <a:gd name="T0" fmla="*/ 6 w 11"/>
              <a:gd name="T1" fmla="*/ 0 h 19"/>
              <a:gd name="T2" fmla="*/ 3 w 11"/>
              <a:gd name="T3" fmla="*/ 2 h 19"/>
              <a:gd name="T4" fmla="*/ 2 w 11"/>
              <a:gd name="T5" fmla="*/ 2 h 19"/>
              <a:gd name="T6" fmla="*/ 4 w 11"/>
              <a:gd name="T7" fmla="*/ 3 h 19"/>
              <a:gd name="T8" fmla="*/ 5 w 11"/>
              <a:gd name="T9" fmla="*/ 8 h 19"/>
              <a:gd name="T10" fmla="*/ 2 w 11"/>
              <a:gd name="T11" fmla="*/ 9 h 19"/>
              <a:gd name="T12" fmla="*/ 0 w 11"/>
              <a:gd name="T13" fmla="*/ 8 h 19"/>
              <a:gd name="T14" fmla="*/ 0 w 11"/>
              <a:gd name="T15" fmla="*/ 8 h 19"/>
              <a:gd name="T16" fmla="*/ 7 w 11"/>
              <a:gd name="T17" fmla="*/ 19 h 19"/>
              <a:gd name="T18" fmla="*/ 9 w 11"/>
              <a:gd name="T19" fmla="*/ 17 h 19"/>
              <a:gd name="T20" fmla="*/ 11 w 11"/>
              <a:gd name="T21" fmla="*/ 13 h 19"/>
              <a:gd name="T22" fmla="*/ 10 w 11"/>
              <a:gd name="T23" fmla="*/ 12 h 19"/>
              <a:gd name="T24" fmla="*/ 6 w 11"/>
              <a:gd name="T25" fmla="*/ 7 h 19"/>
              <a:gd name="T26" fmla="*/ 10 w 11"/>
              <a:gd name="T27" fmla="*/ 4 h 19"/>
              <a:gd name="T28" fmla="*/ 6 w 11"/>
              <a:gd name="T29" fmla="*/ 0 h 19"/>
              <a:gd name="T30" fmla="*/ 6 w 11"/>
              <a:gd name="T31"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 h="19">
                <a:moveTo>
                  <a:pt x="6" y="0"/>
                </a:moveTo>
                <a:cubicBezTo>
                  <a:pt x="5" y="0"/>
                  <a:pt x="4" y="1"/>
                  <a:pt x="3" y="2"/>
                </a:cubicBezTo>
                <a:cubicBezTo>
                  <a:pt x="3" y="2"/>
                  <a:pt x="2" y="2"/>
                  <a:pt x="2" y="2"/>
                </a:cubicBezTo>
                <a:cubicBezTo>
                  <a:pt x="3" y="3"/>
                  <a:pt x="4" y="3"/>
                  <a:pt x="4" y="3"/>
                </a:cubicBezTo>
                <a:cubicBezTo>
                  <a:pt x="5" y="4"/>
                  <a:pt x="6" y="6"/>
                  <a:pt x="5" y="8"/>
                </a:cubicBezTo>
                <a:cubicBezTo>
                  <a:pt x="4" y="8"/>
                  <a:pt x="3" y="9"/>
                  <a:pt x="2" y="9"/>
                </a:cubicBezTo>
                <a:cubicBezTo>
                  <a:pt x="2" y="9"/>
                  <a:pt x="1" y="9"/>
                  <a:pt x="0" y="8"/>
                </a:cubicBezTo>
                <a:cubicBezTo>
                  <a:pt x="0" y="8"/>
                  <a:pt x="0" y="8"/>
                  <a:pt x="0" y="8"/>
                </a:cubicBezTo>
                <a:cubicBezTo>
                  <a:pt x="1" y="9"/>
                  <a:pt x="4" y="13"/>
                  <a:pt x="7" y="19"/>
                </a:cubicBezTo>
                <a:cubicBezTo>
                  <a:pt x="8" y="18"/>
                  <a:pt x="8" y="17"/>
                  <a:pt x="9" y="17"/>
                </a:cubicBezTo>
                <a:cubicBezTo>
                  <a:pt x="10" y="15"/>
                  <a:pt x="10" y="14"/>
                  <a:pt x="11" y="13"/>
                </a:cubicBezTo>
                <a:cubicBezTo>
                  <a:pt x="10" y="13"/>
                  <a:pt x="10" y="12"/>
                  <a:pt x="10" y="12"/>
                </a:cubicBezTo>
                <a:cubicBezTo>
                  <a:pt x="9" y="10"/>
                  <a:pt x="7" y="8"/>
                  <a:pt x="6" y="7"/>
                </a:cubicBezTo>
                <a:cubicBezTo>
                  <a:pt x="7" y="6"/>
                  <a:pt x="8" y="5"/>
                  <a:pt x="10" y="4"/>
                </a:cubicBezTo>
                <a:cubicBezTo>
                  <a:pt x="9" y="3"/>
                  <a:pt x="8" y="1"/>
                  <a:pt x="6" y="0"/>
                </a:cubicBezTo>
                <a:cubicBezTo>
                  <a:pt x="6" y="0"/>
                  <a:pt x="6" y="0"/>
                  <a:pt x="6"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4" name="Freeform 109"/>
          <p:cNvSpPr>
            <a:spLocks/>
          </p:cNvSpPr>
          <p:nvPr/>
        </p:nvSpPr>
        <p:spPr bwMode="auto">
          <a:xfrm>
            <a:off x="3814763" y="4967288"/>
            <a:ext cx="49213" cy="22225"/>
          </a:xfrm>
          <a:custGeom>
            <a:avLst/>
            <a:gdLst>
              <a:gd name="T0" fmla="*/ 6 w 29"/>
              <a:gd name="T1" fmla="*/ 0 h 14"/>
              <a:gd name="T2" fmla="*/ 6 w 29"/>
              <a:gd name="T3" fmla="*/ 0 h 14"/>
              <a:gd name="T4" fmla="*/ 3 w 29"/>
              <a:gd name="T5" fmla="*/ 0 h 14"/>
              <a:gd name="T6" fmla="*/ 1 w 29"/>
              <a:gd name="T7" fmla="*/ 4 h 14"/>
              <a:gd name="T8" fmla="*/ 4 w 29"/>
              <a:gd name="T9" fmla="*/ 6 h 14"/>
              <a:gd name="T10" fmla="*/ 4 w 29"/>
              <a:gd name="T11" fmla="*/ 6 h 14"/>
              <a:gd name="T12" fmla="*/ 5 w 29"/>
              <a:gd name="T13" fmla="*/ 6 h 14"/>
              <a:gd name="T14" fmla="*/ 6 w 29"/>
              <a:gd name="T15" fmla="*/ 6 h 14"/>
              <a:gd name="T16" fmla="*/ 6 w 29"/>
              <a:gd name="T17" fmla="*/ 6 h 14"/>
              <a:gd name="T18" fmla="*/ 12 w 29"/>
              <a:gd name="T19" fmla="*/ 7 h 14"/>
              <a:gd name="T20" fmla="*/ 20 w 29"/>
              <a:gd name="T21" fmla="*/ 11 h 14"/>
              <a:gd name="T22" fmla="*/ 22 w 29"/>
              <a:gd name="T23" fmla="*/ 13 h 14"/>
              <a:gd name="T24" fmla="*/ 23 w 29"/>
              <a:gd name="T25" fmla="*/ 13 h 14"/>
              <a:gd name="T26" fmla="*/ 23 w 29"/>
              <a:gd name="T27" fmla="*/ 14 h 14"/>
              <a:gd name="T28" fmla="*/ 23 w 29"/>
              <a:gd name="T29" fmla="*/ 14 h 14"/>
              <a:gd name="T30" fmla="*/ 23 w 29"/>
              <a:gd name="T31" fmla="*/ 14 h 14"/>
              <a:gd name="T32" fmla="*/ 23 w 29"/>
              <a:gd name="T33" fmla="*/ 14 h 14"/>
              <a:gd name="T34" fmla="*/ 23 w 29"/>
              <a:gd name="T35" fmla="*/ 14 h 14"/>
              <a:gd name="T36" fmla="*/ 25 w 29"/>
              <a:gd name="T37" fmla="*/ 14 h 14"/>
              <a:gd name="T38" fmla="*/ 27 w 29"/>
              <a:gd name="T39" fmla="*/ 13 h 14"/>
              <a:gd name="T40" fmla="*/ 27 w 29"/>
              <a:gd name="T41" fmla="*/ 9 h 14"/>
              <a:gd name="T42" fmla="*/ 21 w 29"/>
              <a:gd name="T43" fmla="*/ 5 h 14"/>
              <a:gd name="T44" fmla="*/ 14 w 29"/>
              <a:gd name="T45" fmla="*/ 1 h 14"/>
              <a:gd name="T46" fmla="*/ 6 w 29"/>
              <a:gd name="T4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14">
                <a:moveTo>
                  <a:pt x="6" y="0"/>
                </a:moveTo>
                <a:cubicBezTo>
                  <a:pt x="6" y="0"/>
                  <a:pt x="6" y="0"/>
                  <a:pt x="6" y="0"/>
                </a:cubicBezTo>
                <a:cubicBezTo>
                  <a:pt x="5" y="0"/>
                  <a:pt x="4" y="0"/>
                  <a:pt x="3" y="0"/>
                </a:cubicBezTo>
                <a:cubicBezTo>
                  <a:pt x="1" y="1"/>
                  <a:pt x="0" y="2"/>
                  <a:pt x="1" y="4"/>
                </a:cubicBezTo>
                <a:cubicBezTo>
                  <a:pt x="1" y="5"/>
                  <a:pt x="2" y="6"/>
                  <a:pt x="4" y="6"/>
                </a:cubicBezTo>
                <a:cubicBezTo>
                  <a:pt x="4" y="6"/>
                  <a:pt x="4" y="6"/>
                  <a:pt x="4" y="6"/>
                </a:cubicBezTo>
                <a:cubicBezTo>
                  <a:pt x="5" y="6"/>
                  <a:pt x="5" y="6"/>
                  <a:pt x="5" y="6"/>
                </a:cubicBezTo>
                <a:cubicBezTo>
                  <a:pt x="5" y="6"/>
                  <a:pt x="6" y="6"/>
                  <a:pt x="6" y="6"/>
                </a:cubicBezTo>
                <a:cubicBezTo>
                  <a:pt x="6" y="6"/>
                  <a:pt x="6" y="6"/>
                  <a:pt x="6" y="6"/>
                </a:cubicBezTo>
                <a:cubicBezTo>
                  <a:pt x="8" y="6"/>
                  <a:pt x="10" y="6"/>
                  <a:pt x="12" y="7"/>
                </a:cubicBezTo>
                <a:cubicBezTo>
                  <a:pt x="15" y="8"/>
                  <a:pt x="18" y="10"/>
                  <a:pt x="20" y="11"/>
                </a:cubicBezTo>
                <a:cubicBezTo>
                  <a:pt x="21" y="12"/>
                  <a:pt x="22" y="12"/>
                  <a:pt x="22" y="13"/>
                </a:cubicBezTo>
                <a:cubicBezTo>
                  <a:pt x="23" y="13"/>
                  <a:pt x="23" y="13"/>
                  <a:pt x="23" y="13"/>
                </a:cubicBezTo>
                <a:cubicBezTo>
                  <a:pt x="23" y="14"/>
                  <a:pt x="23" y="14"/>
                  <a:pt x="23" y="14"/>
                </a:cubicBezTo>
                <a:cubicBezTo>
                  <a:pt x="23" y="14"/>
                  <a:pt x="23" y="14"/>
                  <a:pt x="23" y="14"/>
                </a:cubicBezTo>
                <a:cubicBezTo>
                  <a:pt x="23" y="14"/>
                  <a:pt x="23" y="14"/>
                  <a:pt x="23" y="14"/>
                </a:cubicBezTo>
                <a:cubicBezTo>
                  <a:pt x="23" y="14"/>
                  <a:pt x="23" y="14"/>
                  <a:pt x="23" y="14"/>
                </a:cubicBezTo>
                <a:cubicBezTo>
                  <a:pt x="23" y="14"/>
                  <a:pt x="23" y="14"/>
                  <a:pt x="23" y="14"/>
                </a:cubicBezTo>
                <a:cubicBezTo>
                  <a:pt x="24" y="14"/>
                  <a:pt x="25" y="14"/>
                  <a:pt x="25" y="14"/>
                </a:cubicBezTo>
                <a:cubicBezTo>
                  <a:pt x="26" y="14"/>
                  <a:pt x="27" y="14"/>
                  <a:pt x="27" y="13"/>
                </a:cubicBezTo>
                <a:cubicBezTo>
                  <a:pt x="29" y="12"/>
                  <a:pt x="28" y="10"/>
                  <a:pt x="27" y="9"/>
                </a:cubicBezTo>
                <a:cubicBezTo>
                  <a:pt x="27" y="9"/>
                  <a:pt x="25" y="7"/>
                  <a:pt x="21" y="5"/>
                </a:cubicBezTo>
                <a:cubicBezTo>
                  <a:pt x="19" y="3"/>
                  <a:pt x="17" y="2"/>
                  <a:pt x="14" y="1"/>
                </a:cubicBezTo>
                <a:cubicBezTo>
                  <a:pt x="12" y="0"/>
                  <a:pt x="9" y="0"/>
                  <a:pt x="6"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5" name="Freeform 110"/>
          <p:cNvSpPr>
            <a:spLocks noEditPoints="1"/>
          </p:cNvSpPr>
          <p:nvPr/>
        </p:nvSpPr>
        <p:spPr bwMode="auto">
          <a:xfrm>
            <a:off x="3816351" y="5091113"/>
            <a:ext cx="65088" cy="231775"/>
          </a:xfrm>
          <a:custGeom>
            <a:avLst/>
            <a:gdLst>
              <a:gd name="T0" fmla="*/ 4 w 38"/>
              <a:gd name="T1" fmla="*/ 111 h 137"/>
              <a:gd name="T2" fmla="*/ 2 w 38"/>
              <a:gd name="T3" fmla="*/ 116 h 137"/>
              <a:gd name="T4" fmla="*/ 0 w 38"/>
              <a:gd name="T5" fmla="*/ 126 h 137"/>
              <a:gd name="T6" fmla="*/ 1 w 38"/>
              <a:gd name="T7" fmla="*/ 135 h 137"/>
              <a:gd name="T8" fmla="*/ 4 w 38"/>
              <a:gd name="T9" fmla="*/ 137 h 137"/>
              <a:gd name="T10" fmla="*/ 5 w 38"/>
              <a:gd name="T11" fmla="*/ 137 h 137"/>
              <a:gd name="T12" fmla="*/ 7 w 38"/>
              <a:gd name="T13" fmla="*/ 133 h 137"/>
              <a:gd name="T14" fmla="*/ 6 w 38"/>
              <a:gd name="T15" fmla="*/ 126 h 137"/>
              <a:gd name="T16" fmla="*/ 7 w 38"/>
              <a:gd name="T17" fmla="*/ 118 h 137"/>
              <a:gd name="T18" fmla="*/ 10 w 38"/>
              <a:gd name="T19" fmla="*/ 111 h 137"/>
              <a:gd name="T20" fmla="*/ 4 w 38"/>
              <a:gd name="T21" fmla="*/ 111 h 137"/>
              <a:gd name="T22" fmla="*/ 38 w 38"/>
              <a:gd name="T23" fmla="*/ 0 h 137"/>
              <a:gd name="T24" fmla="*/ 34 w 38"/>
              <a:gd name="T25" fmla="*/ 3 h 137"/>
              <a:gd name="T26" fmla="*/ 27 w 38"/>
              <a:gd name="T27" fmla="*/ 10 h 137"/>
              <a:gd name="T28" fmla="*/ 24 w 38"/>
              <a:gd name="T29" fmla="*/ 20 h 137"/>
              <a:gd name="T30" fmla="*/ 24 w 38"/>
              <a:gd name="T31" fmla="*/ 21 h 137"/>
              <a:gd name="T32" fmla="*/ 26 w 38"/>
              <a:gd name="T33" fmla="*/ 43 h 137"/>
              <a:gd name="T34" fmla="*/ 28 w 38"/>
              <a:gd name="T35" fmla="*/ 67 h 137"/>
              <a:gd name="T36" fmla="*/ 28 w 38"/>
              <a:gd name="T37" fmla="*/ 73 h 137"/>
              <a:gd name="T38" fmla="*/ 27 w 38"/>
              <a:gd name="T39" fmla="*/ 75 h 137"/>
              <a:gd name="T40" fmla="*/ 27 w 38"/>
              <a:gd name="T41" fmla="*/ 76 h 137"/>
              <a:gd name="T42" fmla="*/ 27 w 38"/>
              <a:gd name="T43" fmla="*/ 76 h 137"/>
              <a:gd name="T44" fmla="*/ 23 w 38"/>
              <a:gd name="T45" fmla="*/ 82 h 137"/>
              <a:gd name="T46" fmla="*/ 19 w 38"/>
              <a:gd name="T47" fmla="*/ 89 h 137"/>
              <a:gd name="T48" fmla="*/ 23 w 38"/>
              <a:gd name="T49" fmla="*/ 92 h 137"/>
              <a:gd name="T50" fmla="*/ 28 w 38"/>
              <a:gd name="T51" fmla="*/ 86 h 137"/>
              <a:gd name="T52" fmla="*/ 32 w 38"/>
              <a:gd name="T53" fmla="*/ 79 h 137"/>
              <a:gd name="T54" fmla="*/ 32 w 38"/>
              <a:gd name="T55" fmla="*/ 79 h 137"/>
              <a:gd name="T56" fmla="*/ 33 w 38"/>
              <a:gd name="T57" fmla="*/ 76 h 137"/>
              <a:gd name="T58" fmla="*/ 34 w 38"/>
              <a:gd name="T59" fmla="*/ 72 h 137"/>
              <a:gd name="T60" fmla="*/ 34 w 38"/>
              <a:gd name="T61" fmla="*/ 70 h 137"/>
              <a:gd name="T62" fmla="*/ 34 w 38"/>
              <a:gd name="T63" fmla="*/ 61 h 137"/>
              <a:gd name="T64" fmla="*/ 32 w 38"/>
              <a:gd name="T65" fmla="*/ 42 h 137"/>
              <a:gd name="T66" fmla="*/ 30 w 38"/>
              <a:gd name="T67" fmla="*/ 21 h 137"/>
              <a:gd name="T68" fmla="*/ 30 w 38"/>
              <a:gd name="T69" fmla="*/ 20 h 137"/>
              <a:gd name="T70" fmla="*/ 32 w 38"/>
              <a:gd name="T71" fmla="*/ 14 h 137"/>
              <a:gd name="T72" fmla="*/ 38 w 38"/>
              <a:gd name="T73"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 h="137">
                <a:moveTo>
                  <a:pt x="4" y="111"/>
                </a:moveTo>
                <a:cubicBezTo>
                  <a:pt x="3" y="112"/>
                  <a:pt x="2" y="114"/>
                  <a:pt x="2" y="116"/>
                </a:cubicBezTo>
                <a:cubicBezTo>
                  <a:pt x="0" y="119"/>
                  <a:pt x="0" y="123"/>
                  <a:pt x="0" y="126"/>
                </a:cubicBezTo>
                <a:cubicBezTo>
                  <a:pt x="0" y="129"/>
                  <a:pt x="0" y="132"/>
                  <a:pt x="1" y="135"/>
                </a:cubicBezTo>
                <a:cubicBezTo>
                  <a:pt x="2" y="136"/>
                  <a:pt x="3" y="137"/>
                  <a:pt x="4" y="137"/>
                </a:cubicBezTo>
                <a:cubicBezTo>
                  <a:pt x="5" y="137"/>
                  <a:pt x="5" y="137"/>
                  <a:pt x="5" y="137"/>
                </a:cubicBezTo>
                <a:cubicBezTo>
                  <a:pt x="7" y="136"/>
                  <a:pt x="7" y="134"/>
                  <a:pt x="7" y="133"/>
                </a:cubicBezTo>
                <a:cubicBezTo>
                  <a:pt x="6" y="131"/>
                  <a:pt x="6" y="129"/>
                  <a:pt x="6" y="126"/>
                </a:cubicBezTo>
                <a:cubicBezTo>
                  <a:pt x="6" y="124"/>
                  <a:pt x="6" y="121"/>
                  <a:pt x="7" y="118"/>
                </a:cubicBezTo>
                <a:cubicBezTo>
                  <a:pt x="8" y="115"/>
                  <a:pt x="9" y="113"/>
                  <a:pt x="10" y="111"/>
                </a:cubicBezTo>
                <a:cubicBezTo>
                  <a:pt x="8" y="111"/>
                  <a:pt x="6" y="111"/>
                  <a:pt x="4" y="111"/>
                </a:cubicBezTo>
                <a:moveTo>
                  <a:pt x="38" y="0"/>
                </a:moveTo>
                <a:cubicBezTo>
                  <a:pt x="36" y="1"/>
                  <a:pt x="35" y="2"/>
                  <a:pt x="34" y="3"/>
                </a:cubicBezTo>
                <a:cubicBezTo>
                  <a:pt x="31" y="5"/>
                  <a:pt x="29" y="7"/>
                  <a:pt x="27" y="10"/>
                </a:cubicBezTo>
                <a:cubicBezTo>
                  <a:pt x="25" y="13"/>
                  <a:pt x="24" y="16"/>
                  <a:pt x="24" y="20"/>
                </a:cubicBezTo>
                <a:cubicBezTo>
                  <a:pt x="24" y="21"/>
                  <a:pt x="24" y="21"/>
                  <a:pt x="24" y="21"/>
                </a:cubicBezTo>
                <a:cubicBezTo>
                  <a:pt x="25" y="26"/>
                  <a:pt x="25" y="34"/>
                  <a:pt x="26" y="43"/>
                </a:cubicBezTo>
                <a:cubicBezTo>
                  <a:pt x="27" y="51"/>
                  <a:pt x="28" y="60"/>
                  <a:pt x="28" y="67"/>
                </a:cubicBezTo>
                <a:cubicBezTo>
                  <a:pt x="28" y="69"/>
                  <a:pt x="28" y="71"/>
                  <a:pt x="28" y="73"/>
                </a:cubicBezTo>
                <a:cubicBezTo>
                  <a:pt x="27" y="74"/>
                  <a:pt x="27" y="74"/>
                  <a:pt x="27" y="75"/>
                </a:cubicBezTo>
                <a:cubicBezTo>
                  <a:pt x="27" y="75"/>
                  <a:pt x="27" y="76"/>
                  <a:pt x="27" y="76"/>
                </a:cubicBezTo>
                <a:cubicBezTo>
                  <a:pt x="27" y="76"/>
                  <a:pt x="27" y="76"/>
                  <a:pt x="27" y="76"/>
                </a:cubicBezTo>
                <a:cubicBezTo>
                  <a:pt x="26" y="77"/>
                  <a:pt x="25" y="80"/>
                  <a:pt x="23" y="82"/>
                </a:cubicBezTo>
                <a:cubicBezTo>
                  <a:pt x="21" y="84"/>
                  <a:pt x="20" y="86"/>
                  <a:pt x="19" y="89"/>
                </a:cubicBezTo>
                <a:cubicBezTo>
                  <a:pt x="20" y="89"/>
                  <a:pt x="22" y="91"/>
                  <a:pt x="23" y="92"/>
                </a:cubicBezTo>
                <a:cubicBezTo>
                  <a:pt x="25" y="90"/>
                  <a:pt x="26" y="88"/>
                  <a:pt x="28" y="86"/>
                </a:cubicBezTo>
                <a:cubicBezTo>
                  <a:pt x="30" y="83"/>
                  <a:pt x="31" y="80"/>
                  <a:pt x="32" y="79"/>
                </a:cubicBezTo>
                <a:cubicBezTo>
                  <a:pt x="32" y="79"/>
                  <a:pt x="32" y="79"/>
                  <a:pt x="32" y="79"/>
                </a:cubicBezTo>
                <a:cubicBezTo>
                  <a:pt x="32" y="78"/>
                  <a:pt x="33" y="77"/>
                  <a:pt x="33" y="76"/>
                </a:cubicBezTo>
                <a:cubicBezTo>
                  <a:pt x="33" y="75"/>
                  <a:pt x="33" y="74"/>
                  <a:pt x="34" y="72"/>
                </a:cubicBezTo>
                <a:cubicBezTo>
                  <a:pt x="34" y="71"/>
                  <a:pt x="34" y="71"/>
                  <a:pt x="34" y="70"/>
                </a:cubicBezTo>
                <a:cubicBezTo>
                  <a:pt x="33" y="68"/>
                  <a:pt x="33" y="64"/>
                  <a:pt x="34" y="61"/>
                </a:cubicBezTo>
                <a:cubicBezTo>
                  <a:pt x="33" y="55"/>
                  <a:pt x="33" y="49"/>
                  <a:pt x="32" y="42"/>
                </a:cubicBezTo>
                <a:cubicBezTo>
                  <a:pt x="31" y="34"/>
                  <a:pt x="30" y="26"/>
                  <a:pt x="30" y="21"/>
                </a:cubicBezTo>
                <a:cubicBezTo>
                  <a:pt x="30" y="21"/>
                  <a:pt x="30" y="21"/>
                  <a:pt x="30" y="20"/>
                </a:cubicBezTo>
                <a:cubicBezTo>
                  <a:pt x="30" y="18"/>
                  <a:pt x="31" y="16"/>
                  <a:pt x="32" y="14"/>
                </a:cubicBezTo>
                <a:cubicBezTo>
                  <a:pt x="34" y="8"/>
                  <a:pt x="36" y="3"/>
                  <a:pt x="38"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6" name="Freeform 111"/>
          <p:cNvSpPr>
            <a:spLocks/>
          </p:cNvSpPr>
          <p:nvPr/>
        </p:nvSpPr>
        <p:spPr bwMode="auto">
          <a:xfrm>
            <a:off x="3822701" y="5241925"/>
            <a:ext cx="33338" cy="36512"/>
          </a:xfrm>
          <a:custGeom>
            <a:avLst/>
            <a:gdLst>
              <a:gd name="T0" fmla="*/ 15 w 19"/>
              <a:gd name="T1" fmla="*/ 0 h 22"/>
              <a:gd name="T2" fmla="*/ 12 w 19"/>
              <a:gd name="T3" fmla="*/ 4 h 22"/>
              <a:gd name="T4" fmla="*/ 13 w 19"/>
              <a:gd name="T5" fmla="*/ 4 h 22"/>
              <a:gd name="T6" fmla="*/ 13 w 19"/>
              <a:gd name="T7" fmla="*/ 4 h 22"/>
              <a:gd name="T8" fmla="*/ 16 w 19"/>
              <a:gd name="T9" fmla="*/ 7 h 22"/>
              <a:gd name="T10" fmla="*/ 13 w 19"/>
              <a:gd name="T11" fmla="*/ 10 h 22"/>
              <a:gd name="T12" fmla="*/ 13 w 19"/>
              <a:gd name="T13" fmla="*/ 10 h 22"/>
              <a:gd name="T14" fmla="*/ 8 w 19"/>
              <a:gd name="T15" fmla="*/ 9 h 22"/>
              <a:gd name="T16" fmla="*/ 2 w 19"/>
              <a:gd name="T17" fmla="*/ 18 h 22"/>
              <a:gd name="T18" fmla="*/ 0 w 19"/>
              <a:gd name="T19" fmla="*/ 22 h 22"/>
              <a:gd name="T20" fmla="*/ 6 w 19"/>
              <a:gd name="T21" fmla="*/ 22 h 22"/>
              <a:gd name="T22" fmla="*/ 7 w 19"/>
              <a:gd name="T23" fmla="*/ 21 h 22"/>
              <a:gd name="T24" fmla="*/ 18 w 19"/>
              <a:gd name="T25" fmla="*/ 5 h 22"/>
              <a:gd name="T26" fmla="*/ 19 w 19"/>
              <a:gd name="T27" fmla="*/ 3 h 22"/>
              <a:gd name="T28" fmla="*/ 15 w 19"/>
              <a:gd name="T29"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2">
                <a:moveTo>
                  <a:pt x="15" y="0"/>
                </a:moveTo>
                <a:cubicBezTo>
                  <a:pt x="14" y="1"/>
                  <a:pt x="13" y="2"/>
                  <a:pt x="12" y="4"/>
                </a:cubicBezTo>
                <a:cubicBezTo>
                  <a:pt x="12" y="4"/>
                  <a:pt x="12" y="4"/>
                  <a:pt x="13" y="4"/>
                </a:cubicBezTo>
                <a:cubicBezTo>
                  <a:pt x="13" y="4"/>
                  <a:pt x="13" y="4"/>
                  <a:pt x="13" y="4"/>
                </a:cubicBezTo>
                <a:cubicBezTo>
                  <a:pt x="15" y="4"/>
                  <a:pt x="16" y="5"/>
                  <a:pt x="16" y="7"/>
                </a:cubicBezTo>
                <a:cubicBezTo>
                  <a:pt x="16" y="9"/>
                  <a:pt x="14" y="10"/>
                  <a:pt x="13" y="10"/>
                </a:cubicBezTo>
                <a:cubicBezTo>
                  <a:pt x="13" y="10"/>
                  <a:pt x="13" y="10"/>
                  <a:pt x="13" y="10"/>
                </a:cubicBezTo>
                <a:cubicBezTo>
                  <a:pt x="13" y="10"/>
                  <a:pt x="11" y="10"/>
                  <a:pt x="8" y="9"/>
                </a:cubicBezTo>
                <a:cubicBezTo>
                  <a:pt x="6" y="13"/>
                  <a:pt x="3" y="16"/>
                  <a:pt x="2" y="18"/>
                </a:cubicBezTo>
                <a:cubicBezTo>
                  <a:pt x="1" y="19"/>
                  <a:pt x="1" y="20"/>
                  <a:pt x="0" y="22"/>
                </a:cubicBezTo>
                <a:cubicBezTo>
                  <a:pt x="2" y="22"/>
                  <a:pt x="4" y="22"/>
                  <a:pt x="6" y="22"/>
                </a:cubicBezTo>
                <a:cubicBezTo>
                  <a:pt x="7" y="22"/>
                  <a:pt x="7" y="21"/>
                  <a:pt x="7" y="21"/>
                </a:cubicBezTo>
                <a:cubicBezTo>
                  <a:pt x="9" y="18"/>
                  <a:pt x="14" y="12"/>
                  <a:pt x="18" y="5"/>
                </a:cubicBezTo>
                <a:cubicBezTo>
                  <a:pt x="18" y="5"/>
                  <a:pt x="19" y="4"/>
                  <a:pt x="19" y="3"/>
                </a:cubicBezTo>
                <a:cubicBezTo>
                  <a:pt x="18" y="2"/>
                  <a:pt x="16" y="0"/>
                  <a:pt x="15"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7" name="Freeform 112"/>
          <p:cNvSpPr>
            <a:spLocks noEditPoints="1"/>
          </p:cNvSpPr>
          <p:nvPr/>
        </p:nvSpPr>
        <p:spPr bwMode="auto">
          <a:xfrm>
            <a:off x="3862388" y="5219700"/>
            <a:ext cx="7938" cy="4762"/>
          </a:xfrm>
          <a:custGeom>
            <a:avLst/>
            <a:gdLst>
              <a:gd name="T0" fmla="*/ 5 w 5"/>
              <a:gd name="T1" fmla="*/ 3 h 3"/>
              <a:gd name="T2" fmla="*/ 5 w 5"/>
              <a:gd name="T3" fmla="*/ 3 h 3"/>
              <a:gd name="T4" fmla="*/ 5 w 5"/>
              <a:gd name="T5" fmla="*/ 3 h 3"/>
              <a:gd name="T6" fmla="*/ 5 w 5"/>
              <a:gd name="T7" fmla="*/ 3 h 3"/>
              <a:gd name="T8" fmla="*/ 0 w 5"/>
              <a:gd name="T9" fmla="*/ 0 h 3"/>
              <a:gd name="T10" fmla="*/ 0 w 5"/>
              <a:gd name="T11" fmla="*/ 0 h 3"/>
              <a:gd name="T12" fmla="*/ 0 w 5"/>
              <a:gd name="T13" fmla="*/ 0 h 3"/>
              <a:gd name="T14" fmla="*/ 0 w 5"/>
              <a:gd name="T15" fmla="*/ 0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3">
                <a:moveTo>
                  <a:pt x="5" y="3"/>
                </a:moveTo>
                <a:cubicBezTo>
                  <a:pt x="5" y="3"/>
                  <a:pt x="5" y="3"/>
                  <a:pt x="5" y="3"/>
                </a:cubicBezTo>
                <a:cubicBezTo>
                  <a:pt x="5" y="3"/>
                  <a:pt x="5" y="3"/>
                  <a:pt x="5" y="3"/>
                </a:cubicBezTo>
                <a:cubicBezTo>
                  <a:pt x="5" y="3"/>
                  <a:pt x="5" y="3"/>
                  <a:pt x="5" y="3"/>
                </a:cubicBezTo>
                <a:moveTo>
                  <a:pt x="0" y="0"/>
                </a:moveTo>
                <a:cubicBezTo>
                  <a:pt x="0" y="0"/>
                  <a:pt x="0" y="0"/>
                  <a:pt x="0" y="0"/>
                </a:cubicBezTo>
                <a:cubicBezTo>
                  <a:pt x="0" y="0"/>
                  <a:pt x="0" y="0"/>
                  <a:pt x="0" y="0"/>
                </a:cubicBezTo>
                <a:cubicBezTo>
                  <a:pt x="0" y="0"/>
                  <a:pt x="0" y="0"/>
                  <a:pt x="0"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8" name="Freeform 113"/>
          <p:cNvSpPr>
            <a:spLocks/>
          </p:cNvSpPr>
          <p:nvPr/>
        </p:nvSpPr>
        <p:spPr bwMode="auto">
          <a:xfrm>
            <a:off x="3743326" y="5140325"/>
            <a:ext cx="55563" cy="84137"/>
          </a:xfrm>
          <a:custGeom>
            <a:avLst/>
            <a:gdLst>
              <a:gd name="T0" fmla="*/ 3 w 33"/>
              <a:gd name="T1" fmla="*/ 0 h 50"/>
              <a:gd name="T2" fmla="*/ 0 w 33"/>
              <a:gd name="T3" fmla="*/ 2 h 50"/>
              <a:gd name="T4" fmla="*/ 2 w 33"/>
              <a:gd name="T5" fmla="*/ 6 h 50"/>
              <a:gd name="T6" fmla="*/ 2 w 33"/>
              <a:gd name="T7" fmla="*/ 6 h 50"/>
              <a:gd name="T8" fmla="*/ 2 w 33"/>
              <a:gd name="T9" fmla="*/ 6 h 50"/>
              <a:gd name="T10" fmla="*/ 15 w 33"/>
              <a:gd name="T11" fmla="*/ 15 h 50"/>
              <a:gd name="T12" fmla="*/ 23 w 33"/>
              <a:gd name="T13" fmla="*/ 24 h 50"/>
              <a:gd name="T14" fmla="*/ 27 w 33"/>
              <a:gd name="T15" fmla="*/ 34 h 50"/>
              <a:gd name="T16" fmla="*/ 25 w 33"/>
              <a:gd name="T17" fmla="*/ 42 h 50"/>
              <a:gd name="T18" fmla="*/ 22 w 33"/>
              <a:gd name="T19" fmla="*/ 46 h 50"/>
              <a:gd name="T20" fmla="*/ 26 w 33"/>
              <a:gd name="T21" fmla="*/ 49 h 50"/>
              <a:gd name="T22" fmla="*/ 27 w 33"/>
              <a:gd name="T23" fmla="*/ 50 h 50"/>
              <a:gd name="T24" fmla="*/ 30 w 33"/>
              <a:gd name="T25" fmla="*/ 45 h 50"/>
              <a:gd name="T26" fmla="*/ 33 w 33"/>
              <a:gd name="T27" fmla="*/ 34 h 50"/>
              <a:gd name="T28" fmla="*/ 28 w 33"/>
              <a:gd name="T29" fmla="*/ 20 h 50"/>
              <a:gd name="T30" fmla="*/ 13 w 33"/>
              <a:gd name="T31" fmla="*/ 6 h 50"/>
              <a:gd name="T32" fmla="*/ 4 w 33"/>
              <a:gd name="T33" fmla="*/ 1 h 50"/>
              <a:gd name="T34" fmla="*/ 3 w 33"/>
              <a:gd name="T3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3" h="50">
                <a:moveTo>
                  <a:pt x="3" y="0"/>
                </a:moveTo>
                <a:cubicBezTo>
                  <a:pt x="2" y="0"/>
                  <a:pt x="1" y="1"/>
                  <a:pt x="0" y="2"/>
                </a:cubicBezTo>
                <a:cubicBezTo>
                  <a:pt x="0" y="4"/>
                  <a:pt x="0" y="5"/>
                  <a:pt x="2" y="6"/>
                </a:cubicBezTo>
                <a:cubicBezTo>
                  <a:pt x="2" y="6"/>
                  <a:pt x="2" y="6"/>
                  <a:pt x="2" y="6"/>
                </a:cubicBezTo>
                <a:cubicBezTo>
                  <a:pt x="2" y="6"/>
                  <a:pt x="2" y="6"/>
                  <a:pt x="2" y="6"/>
                </a:cubicBezTo>
                <a:cubicBezTo>
                  <a:pt x="2" y="6"/>
                  <a:pt x="9" y="9"/>
                  <a:pt x="15" y="15"/>
                </a:cubicBezTo>
                <a:cubicBezTo>
                  <a:pt x="18" y="17"/>
                  <a:pt x="21" y="20"/>
                  <a:pt x="23" y="24"/>
                </a:cubicBezTo>
                <a:cubicBezTo>
                  <a:pt x="25" y="27"/>
                  <a:pt x="27" y="31"/>
                  <a:pt x="27" y="34"/>
                </a:cubicBezTo>
                <a:cubicBezTo>
                  <a:pt x="27" y="37"/>
                  <a:pt x="26" y="39"/>
                  <a:pt x="25" y="42"/>
                </a:cubicBezTo>
                <a:cubicBezTo>
                  <a:pt x="24" y="44"/>
                  <a:pt x="23" y="45"/>
                  <a:pt x="22" y="46"/>
                </a:cubicBezTo>
                <a:cubicBezTo>
                  <a:pt x="24" y="47"/>
                  <a:pt x="25" y="48"/>
                  <a:pt x="26" y="49"/>
                </a:cubicBezTo>
                <a:cubicBezTo>
                  <a:pt x="26" y="49"/>
                  <a:pt x="27" y="50"/>
                  <a:pt x="27" y="50"/>
                </a:cubicBezTo>
                <a:cubicBezTo>
                  <a:pt x="28" y="48"/>
                  <a:pt x="29" y="47"/>
                  <a:pt x="30" y="45"/>
                </a:cubicBezTo>
                <a:cubicBezTo>
                  <a:pt x="32" y="41"/>
                  <a:pt x="33" y="38"/>
                  <a:pt x="33" y="34"/>
                </a:cubicBezTo>
                <a:cubicBezTo>
                  <a:pt x="33" y="29"/>
                  <a:pt x="31" y="24"/>
                  <a:pt x="28" y="20"/>
                </a:cubicBezTo>
                <a:cubicBezTo>
                  <a:pt x="24" y="14"/>
                  <a:pt x="18" y="9"/>
                  <a:pt x="13" y="6"/>
                </a:cubicBezTo>
                <a:cubicBezTo>
                  <a:pt x="8" y="3"/>
                  <a:pt x="4" y="1"/>
                  <a:pt x="4" y="1"/>
                </a:cubicBezTo>
                <a:cubicBezTo>
                  <a:pt x="4" y="0"/>
                  <a:pt x="4" y="0"/>
                  <a:pt x="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9" name="Freeform 114"/>
          <p:cNvSpPr>
            <a:spLocks noEditPoints="1"/>
          </p:cNvSpPr>
          <p:nvPr/>
        </p:nvSpPr>
        <p:spPr bwMode="auto">
          <a:xfrm>
            <a:off x="3773488" y="5218113"/>
            <a:ext cx="15875" cy="14287"/>
          </a:xfrm>
          <a:custGeom>
            <a:avLst/>
            <a:gdLst>
              <a:gd name="T0" fmla="*/ 4 w 9"/>
              <a:gd name="T1" fmla="*/ 9 h 9"/>
              <a:gd name="T2" fmla="*/ 4 w 9"/>
              <a:gd name="T3" fmla="*/ 9 h 9"/>
              <a:gd name="T4" fmla="*/ 4 w 9"/>
              <a:gd name="T5" fmla="*/ 9 h 9"/>
              <a:gd name="T6" fmla="*/ 4 w 9"/>
              <a:gd name="T7" fmla="*/ 9 h 9"/>
              <a:gd name="T8" fmla="*/ 4 w 9"/>
              <a:gd name="T9" fmla="*/ 0 h 9"/>
              <a:gd name="T10" fmla="*/ 0 w 9"/>
              <a:gd name="T11" fmla="*/ 5 h 9"/>
              <a:gd name="T12" fmla="*/ 0 w 9"/>
              <a:gd name="T13" fmla="*/ 5 h 9"/>
              <a:gd name="T14" fmla="*/ 0 w 9"/>
              <a:gd name="T15" fmla="*/ 5 h 9"/>
              <a:gd name="T16" fmla="*/ 2 w 9"/>
              <a:gd name="T17" fmla="*/ 4 h 9"/>
              <a:gd name="T18" fmla="*/ 4 w 9"/>
              <a:gd name="T19" fmla="*/ 5 h 9"/>
              <a:gd name="T20" fmla="*/ 4 w 9"/>
              <a:gd name="T21" fmla="*/ 9 h 9"/>
              <a:gd name="T22" fmla="*/ 9 w 9"/>
              <a:gd name="T23" fmla="*/ 4 h 9"/>
              <a:gd name="T24" fmla="*/ 8 w 9"/>
              <a:gd name="T25" fmla="*/ 3 h 9"/>
              <a:gd name="T26" fmla="*/ 4 w 9"/>
              <a:gd name="T2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9">
                <a:moveTo>
                  <a:pt x="4" y="9"/>
                </a:moveTo>
                <a:cubicBezTo>
                  <a:pt x="4" y="9"/>
                  <a:pt x="4" y="9"/>
                  <a:pt x="4" y="9"/>
                </a:cubicBezTo>
                <a:cubicBezTo>
                  <a:pt x="4" y="9"/>
                  <a:pt x="4" y="9"/>
                  <a:pt x="4" y="9"/>
                </a:cubicBezTo>
                <a:cubicBezTo>
                  <a:pt x="4" y="9"/>
                  <a:pt x="4" y="9"/>
                  <a:pt x="4" y="9"/>
                </a:cubicBezTo>
                <a:moveTo>
                  <a:pt x="4" y="0"/>
                </a:moveTo>
                <a:cubicBezTo>
                  <a:pt x="3" y="2"/>
                  <a:pt x="2" y="4"/>
                  <a:pt x="0" y="5"/>
                </a:cubicBezTo>
                <a:cubicBezTo>
                  <a:pt x="0" y="5"/>
                  <a:pt x="0" y="5"/>
                  <a:pt x="0" y="5"/>
                </a:cubicBezTo>
                <a:cubicBezTo>
                  <a:pt x="0" y="5"/>
                  <a:pt x="0" y="5"/>
                  <a:pt x="0" y="5"/>
                </a:cubicBezTo>
                <a:cubicBezTo>
                  <a:pt x="1" y="5"/>
                  <a:pt x="1" y="4"/>
                  <a:pt x="2" y="4"/>
                </a:cubicBezTo>
                <a:cubicBezTo>
                  <a:pt x="3" y="4"/>
                  <a:pt x="4" y="5"/>
                  <a:pt x="4" y="5"/>
                </a:cubicBezTo>
                <a:cubicBezTo>
                  <a:pt x="6" y="6"/>
                  <a:pt x="6" y="8"/>
                  <a:pt x="4" y="9"/>
                </a:cubicBezTo>
                <a:cubicBezTo>
                  <a:pt x="6" y="8"/>
                  <a:pt x="8" y="6"/>
                  <a:pt x="9" y="4"/>
                </a:cubicBezTo>
                <a:cubicBezTo>
                  <a:pt x="9" y="4"/>
                  <a:pt x="8" y="3"/>
                  <a:pt x="8" y="3"/>
                </a:cubicBezTo>
                <a:cubicBezTo>
                  <a:pt x="7" y="2"/>
                  <a:pt x="6" y="1"/>
                  <a:pt x="4"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0" name="Freeform 115"/>
          <p:cNvSpPr>
            <a:spLocks/>
          </p:cNvSpPr>
          <p:nvPr/>
        </p:nvSpPr>
        <p:spPr bwMode="auto">
          <a:xfrm>
            <a:off x="3789363" y="5240338"/>
            <a:ext cx="60325" cy="17462"/>
          </a:xfrm>
          <a:custGeom>
            <a:avLst/>
            <a:gdLst>
              <a:gd name="T0" fmla="*/ 2 w 36"/>
              <a:gd name="T1" fmla="*/ 0 h 11"/>
              <a:gd name="T2" fmla="*/ 0 w 36"/>
              <a:gd name="T3" fmla="*/ 5 h 11"/>
              <a:gd name="T4" fmla="*/ 7 w 36"/>
              <a:gd name="T5" fmla="*/ 7 h 11"/>
              <a:gd name="T6" fmla="*/ 28 w 36"/>
              <a:gd name="T7" fmla="*/ 10 h 11"/>
              <a:gd name="T8" fmla="*/ 33 w 36"/>
              <a:gd name="T9" fmla="*/ 11 h 11"/>
              <a:gd name="T10" fmla="*/ 33 w 36"/>
              <a:gd name="T11" fmla="*/ 11 h 11"/>
              <a:gd name="T12" fmla="*/ 36 w 36"/>
              <a:gd name="T13" fmla="*/ 8 h 11"/>
              <a:gd name="T14" fmla="*/ 33 w 36"/>
              <a:gd name="T15" fmla="*/ 5 h 11"/>
              <a:gd name="T16" fmla="*/ 33 w 36"/>
              <a:gd name="T17" fmla="*/ 5 h 11"/>
              <a:gd name="T18" fmla="*/ 32 w 36"/>
              <a:gd name="T19" fmla="*/ 5 h 11"/>
              <a:gd name="T20" fmla="*/ 11 w 36"/>
              <a:gd name="T21" fmla="*/ 2 h 11"/>
              <a:gd name="T22" fmla="*/ 2 w 36"/>
              <a:gd name="T23"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11">
                <a:moveTo>
                  <a:pt x="2" y="0"/>
                </a:moveTo>
                <a:cubicBezTo>
                  <a:pt x="2" y="2"/>
                  <a:pt x="1" y="4"/>
                  <a:pt x="0" y="5"/>
                </a:cubicBezTo>
                <a:cubicBezTo>
                  <a:pt x="2" y="6"/>
                  <a:pt x="4" y="7"/>
                  <a:pt x="7" y="7"/>
                </a:cubicBezTo>
                <a:cubicBezTo>
                  <a:pt x="15" y="9"/>
                  <a:pt x="23" y="10"/>
                  <a:pt x="28" y="10"/>
                </a:cubicBezTo>
                <a:cubicBezTo>
                  <a:pt x="31" y="11"/>
                  <a:pt x="33" y="11"/>
                  <a:pt x="33" y="11"/>
                </a:cubicBezTo>
                <a:cubicBezTo>
                  <a:pt x="33" y="11"/>
                  <a:pt x="33" y="11"/>
                  <a:pt x="33" y="11"/>
                </a:cubicBezTo>
                <a:cubicBezTo>
                  <a:pt x="34" y="11"/>
                  <a:pt x="36" y="10"/>
                  <a:pt x="36" y="8"/>
                </a:cubicBezTo>
                <a:cubicBezTo>
                  <a:pt x="36" y="6"/>
                  <a:pt x="35" y="5"/>
                  <a:pt x="33" y="5"/>
                </a:cubicBezTo>
                <a:cubicBezTo>
                  <a:pt x="33" y="5"/>
                  <a:pt x="33" y="5"/>
                  <a:pt x="33" y="5"/>
                </a:cubicBezTo>
                <a:cubicBezTo>
                  <a:pt x="32" y="5"/>
                  <a:pt x="32" y="5"/>
                  <a:pt x="32" y="5"/>
                </a:cubicBezTo>
                <a:cubicBezTo>
                  <a:pt x="28" y="4"/>
                  <a:pt x="19" y="4"/>
                  <a:pt x="11" y="2"/>
                </a:cubicBezTo>
                <a:cubicBezTo>
                  <a:pt x="8" y="1"/>
                  <a:pt x="5" y="1"/>
                  <a:pt x="2"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1" name="Freeform 116"/>
          <p:cNvSpPr>
            <a:spLocks/>
          </p:cNvSpPr>
          <p:nvPr/>
        </p:nvSpPr>
        <p:spPr bwMode="auto">
          <a:xfrm>
            <a:off x="3773488" y="5232400"/>
            <a:ext cx="19050" cy="15875"/>
          </a:xfrm>
          <a:custGeom>
            <a:avLst/>
            <a:gdLst>
              <a:gd name="T0" fmla="*/ 4 w 11"/>
              <a:gd name="T1" fmla="*/ 0 h 9"/>
              <a:gd name="T2" fmla="*/ 4 w 11"/>
              <a:gd name="T3" fmla="*/ 0 h 9"/>
              <a:gd name="T4" fmla="*/ 0 w 11"/>
              <a:gd name="T5" fmla="*/ 5 h 9"/>
              <a:gd name="T6" fmla="*/ 1 w 11"/>
              <a:gd name="T7" fmla="*/ 6 h 9"/>
              <a:gd name="T8" fmla="*/ 5 w 11"/>
              <a:gd name="T9" fmla="*/ 8 h 9"/>
              <a:gd name="T10" fmla="*/ 9 w 11"/>
              <a:gd name="T11" fmla="*/ 9 h 9"/>
              <a:gd name="T12" fmla="*/ 11 w 11"/>
              <a:gd name="T13" fmla="*/ 4 h 9"/>
              <a:gd name="T14" fmla="*/ 8 w 11"/>
              <a:gd name="T15" fmla="*/ 3 h 9"/>
              <a:gd name="T16" fmla="*/ 4 w 11"/>
              <a:gd name="T17" fmla="*/ 1 h 9"/>
              <a:gd name="T18" fmla="*/ 4 w 11"/>
              <a:gd name="T19" fmla="*/ 1 h 9"/>
              <a:gd name="T20" fmla="*/ 4 w 11"/>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9">
                <a:moveTo>
                  <a:pt x="4" y="0"/>
                </a:moveTo>
                <a:cubicBezTo>
                  <a:pt x="4" y="0"/>
                  <a:pt x="4" y="0"/>
                  <a:pt x="4" y="0"/>
                </a:cubicBezTo>
                <a:cubicBezTo>
                  <a:pt x="3" y="2"/>
                  <a:pt x="1" y="4"/>
                  <a:pt x="0" y="5"/>
                </a:cubicBezTo>
                <a:cubicBezTo>
                  <a:pt x="0" y="5"/>
                  <a:pt x="1" y="6"/>
                  <a:pt x="1" y="6"/>
                </a:cubicBezTo>
                <a:cubicBezTo>
                  <a:pt x="2" y="7"/>
                  <a:pt x="4" y="8"/>
                  <a:pt x="5" y="8"/>
                </a:cubicBezTo>
                <a:cubicBezTo>
                  <a:pt x="6" y="9"/>
                  <a:pt x="7" y="9"/>
                  <a:pt x="9" y="9"/>
                </a:cubicBezTo>
                <a:cubicBezTo>
                  <a:pt x="10" y="8"/>
                  <a:pt x="11" y="6"/>
                  <a:pt x="11" y="4"/>
                </a:cubicBezTo>
                <a:cubicBezTo>
                  <a:pt x="10" y="4"/>
                  <a:pt x="9" y="3"/>
                  <a:pt x="8" y="3"/>
                </a:cubicBezTo>
                <a:cubicBezTo>
                  <a:pt x="6" y="2"/>
                  <a:pt x="5" y="2"/>
                  <a:pt x="4" y="1"/>
                </a:cubicBezTo>
                <a:cubicBezTo>
                  <a:pt x="4" y="1"/>
                  <a:pt x="4" y="1"/>
                  <a:pt x="4" y="1"/>
                </a:cubicBezTo>
                <a:cubicBezTo>
                  <a:pt x="4" y="1"/>
                  <a:pt x="4" y="1"/>
                  <a:pt x="4"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2" name="Freeform 117"/>
          <p:cNvSpPr>
            <a:spLocks/>
          </p:cNvSpPr>
          <p:nvPr/>
        </p:nvSpPr>
        <p:spPr bwMode="auto">
          <a:xfrm>
            <a:off x="3741738" y="5224463"/>
            <a:ext cx="42863" cy="130175"/>
          </a:xfrm>
          <a:custGeom>
            <a:avLst/>
            <a:gdLst>
              <a:gd name="T0" fmla="*/ 21 w 25"/>
              <a:gd name="T1" fmla="*/ 0 h 77"/>
              <a:gd name="T2" fmla="*/ 19 w 25"/>
              <a:gd name="T3" fmla="*/ 1 h 77"/>
              <a:gd name="T4" fmla="*/ 19 w 25"/>
              <a:gd name="T5" fmla="*/ 1 h 77"/>
              <a:gd name="T6" fmla="*/ 5 w 25"/>
              <a:gd name="T7" fmla="*/ 22 h 77"/>
              <a:gd name="T8" fmla="*/ 0 w 25"/>
              <a:gd name="T9" fmla="*/ 41 h 77"/>
              <a:gd name="T10" fmla="*/ 7 w 25"/>
              <a:gd name="T11" fmla="*/ 66 h 77"/>
              <a:gd name="T12" fmla="*/ 15 w 25"/>
              <a:gd name="T13" fmla="*/ 76 h 77"/>
              <a:gd name="T14" fmla="*/ 17 w 25"/>
              <a:gd name="T15" fmla="*/ 77 h 77"/>
              <a:gd name="T16" fmla="*/ 19 w 25"/>
              <a:gd name="T17" fmla="*/ 76 h 77"/>
              <a:gd name="T18" fmla="*/ 19 w 25"/>
              <a:gd name="T19" fmla="*/ 72 h 77"/>
              <a:gd name="T20" fmla="*/ 19 w 25"/>
              <a:gd name="T21" fmla="*/ 72 h 77"/>
              <a:gd name="T22" fmla="*/ 13 w 25"/>
              <a:gd name="T23" fmla="*/ 63 h 77"/>
              <a:gd name="T24" fmla="*/ 6 w 25"/>
              <a:gd name="T25" fmla="*/ 41 h 77"/>
              <a:gd name="T26" fmla="*/ 10 w 25"/>
              <a:gd name="T27" fmla="*/ 24 h 77"/>
              <a:gd name="T28" fmla="*/ 19 w 25"/>
              <a:gd name="T29" fmla="*/ 10 h 77"/>
              <a:gd name="T30" fmla="*/ 23 w 25"/>
              <a:gd name="T31" fmla="*/ 5 h 77"/>
              <a:gd name="T32" fmla="*/ 23 w 25"/>
              <a:gd name="T33" fmla="*/ 5 h 77"/>
              <a:gd name="T34" fmla="*/ 23 w 25"/>
              <a:gd name="T35" fmla="*/ 5 h 77"/>
              <a:gd name="T36" fmla="*/ 23 w 25"/>
              <a:gd name="T37" fmla="*/ 5 h 77"/>
              <a:gd name="T38" fmla="*/ 23 w 25"/>
              <a:gd name="T39" fmla="*/ 5 h 77"/>
              <a:gd name="T40" fmla="*/ 23 w 25"/>
              <a:gd name="T41" fmla="*/ 1 h 77"/>
              <a:gd name="T42" fmla="*/ 21 w 25"/>
              <a:gd name="T43"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 h="77">
                <a:moveTo>
                  <a:pt x="21" y="0"/>
                </a:moveTo>
                <a:cubicBezTo>
                  <a:pt x="20" y="0"/>
                  <a:pt x="20" y="1"/>
                  <a:pt x="19" y="1"/>
                </a:cubicBezTo>
                <a:cubicBezTo>
                  <a:pt x="19" y="1"/>
                  <a:pt x="19" y="1"/>
                  <a:pt x="19" y="1"/>
                </a:cubicBezTo>
                <a:cubicBezTo>
                  <a:pt x="12" y="8"/>
                  <a:pt x="7" y="15"/>
                  <a:pt x="5" y="22"/>
                </a:cubicBezTo>
                <a:cubicBezTo>
                  <a:pt x="2" y="28"/>
                  <a:pt x="0" y="35"/>
                  <a:pt x="0" y="41"/>
                </a:cubicBezTo>
                <a:cubicBezTo>
                  <a:pt x="0" y="51"/>
                  <a:pt x="4" y="60"/>
                  <a:pt x="7" y="66"/>
                </a:cubicBezTo>
                <a:cubicBezTo>
                  <a:pt x="11" y="72"/>
                  <a:pt x="14" y="76"/>
                  <a:pt x="15" y="76"/>
                </a:cubicBezTo>
                <a:cubicBezTo>
                  <a:pt x="15" y="77"/>
                  <a:pt x="16" y="77"/>
                  <a:pt x="17" y="77"/>
                </a:cubicBezTo>
                <a:cubicBezTo>
                  <a:pt x="18" y="77"/>
                  <a:pt x="18" y="77"/>
                  <a:pt x="19" y="76"/>
                </a:cubicBezTo>
                <a:cubicBezTo>
                  <a:pt x="20" y="75"/>
                  <a:pt x="20" y="73"/>
                  <a:pt x="19" y="72"/>
                </a:cubicBezTo>
                <a:cubicBezTo>
                  <a:pt x="19" y="72"/>
                  <a:pt x="19" y="72"/>
                  <a:pt x="19" y="72"/>
                </a:cubicBezTo>
                <a:cubicBezTo>
                  <a:pt x="19" y="72"/>
                  <a:pt x="16" y="69"/>
                  <a:pt x="13" y="63"/>
                </a:cubicBezTo>
                <a:cubicBezTo>
                  <a:pt x="9" y="57"/>
                  <a:pt x="6" y="50"/>
                  <a:pt x="6" y="41"/>
                </a:cubicBezTo>
                <a:cubicBezTo>
                  <a:pt x="6" y="35"/>
                  <a:pt x="7" y="30"/>
                  <a:pt x="10" y="24"/>
                </a:cubicBezTo>
                <a:cubicBezTo>
                  <a:pt x="12" y="20"/>
                  <a:pt x="15" y="15"/>
                  <a:pt x="19" y="10"/>
                </a:cubicBezTo>
                <a:cubicBezTo>
                  <a:pt x="20" y="9"/>
                  <a:pt x="22" y="7"/>
                  <a:pt x="23" y="5"/>
                </a:cubicBezTo>
                <a:cubicBezTo>
                  <a:pt x="23" y="5"/>
                  <a:pt x="23" y="5"/>
                  <a:pt x="23" y="5"/>
                </a:cubicBezTo>
                <a:cubicBezTo>
                  <a:pt x="23" y="5"/>
                  <a:pt x="23" y="5"/>
                  <a:pt x="23" y="5"/>
                </a:cubicBezTo>
                <a:cubicBezTo>
                  <a:pt x="23" y="5"/>
                  <a:pt x="23" y="5"/>
                  <a:pt x="23" y="5"/>
                </a:cubicBezTo>
                <a:cubicBezTo>
                  <a:pt x="23" y="5"/>
                  <a:pt x="23" y="5"/>
                  <a:pt x="23" y="5"/>
                </a:cubicBezTo>
                <a:cubicBezTo>
                  <a:pt x="25" y="4"/>
                  <a:pt x="25" y="2"/>
                  <a:pt x="23" y="1"/>
                </a:cubicBezTo>
                <a:cubicBezTo>
                  <a:pt x="23" y="1"/>
                  <a:pt x="22" y="0"/>
                  <a:pt x="21"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3" name="Freeform 118"/>
          <p:cNvSpPr>
            <a:spLocks noEditPoints="1"/>
          </p:cNvSpPr>
          <p:nvPr/>
        </p:nvSpPr>
        <p:spPr bwMode="auto">
          <a:xfrm>
            <a:off x="3351213" y="5314950"/>
            <a:ext cx="254000" cy="107950"/>
          </a:xfrm>
          <a:custGeom>
            <a:avLst/>
            <a:gdLst>
              <a:gd name="T0" fmla="*/ 30 w 150"/>
              <a:gd name="T1" fmla="*/ 30 h 64"/>
              <a:gd name="T2" fmla="*/ 24 w 150"/>
              <a:gd name="T3" fmla="*/ 34 h 64"/>
              <a:gd name="T4" fmla="*/ 9 w 150"/>
              <a:gd name="T5" fmla="*/ 46 h 64"/>
              <a:gd name="T6" fmla="*/ 4 w 150"/>
              <a:gd name="T7" fmla="*/ 53 h 64"/>
              <a:gd name="T8" fmla="*/ 1 w 150"/>
              <a:gd name="T9" fmla="*/ 60 h 64"/>
              <a:gd name="T10" fmla="*/ 3 w 150"/>
              <a:gd name="T11" fmla="*/ 64 h 64"/>
              <a:gd name="T12" fmla="*/ 4 w 150"/>
              <a:gd name="T13" fmla="*/ 64 h 64"/>
              <a:gd name="T14" fmla="*/ 7 w 150"/>
              <a:gd name="T15" fmla="*/ 61 h 64"/>
              <a:gd name="T16" fmla="*/ 9 w 150"/>
              <a:gd name="T17" fmla="*/ 56 h 64"/>
              <a:gd name="T18" fmla="*/ 18 w 150"/>
              <a:gd name="T19" fmla="*/ 45 h 64"/>
              <a:gd name="T20" fmla="*/ 32 w 150"/>
              <a:gd name="T21" fmla="*/ 36 h 64"/>
              <a:gd name="T22" fmla="*/ 30 w 150"/>
              <a:gd name="T23" fmla="*/ 30 h 64"/>
              <a:gd name="T24" fmla="*/ 148 w 150"/>
              <a:gd name="T25" fmla="*/ 5 h 64"/>
              <a:gd name="T26" fmla="*/ 148 w 150"/>
              <a:gd name="T27" fmla="*/ 5 h 64"/>
              <a:gd name="T28" fmla="*/ 147 w 150"/>
              <a:gd name="T29" fmla="*/ 0 h 64"/>
              <a:gd name="T30" fmla="*/ 146 w 150"/>
              <a:gd name="T31" fmla="*/ 0 h 64"/>
              <a:gd name="T32" fmla="*/ 146 w 150"/>
              <a:gd name="T33" fmla="*/ 0 h 64"/>
              <a:gd name="T34" fmla="*/ 130 w 150"/>
              <a:gd name="T35" fmla="*/ 11 h 64"/>
              <a:gd name="T36" fmla="*/ 119 w 150"/>
              <a:gd name="T37" fmla="*/ 26 h 64"/>
              <a:gd name="T38" fmla="*/ 114 w 150"/>
              <a:gd name="T39" fmla="*/ 47 h 64"/>
              <a:gd name="T40" fmla="*/ 101 w 150"/>
              <a:gd name="T41" fmla="*/ 49 h 64"/>
              <a:gd name="T42" fmla="*/ 101 w 150"/>
              <a:gd name="T43" fmla="*/ 49 h 64"/>
              <a:gd name="T44" fmla="*/ 86 w 150"/>
              <a:gd name="T45" fmla="*/ 46 h 64"/>
              <a:gd name="T46" fmla="*/ 60 w 150"/>
              <a:gd name="T47" fmla="*/ 32 h 64"/>
              <a:gd name="T48" fmla="*/ 59 w 150"/>
              <a:gd name="T49" fmla="*/ 31 h 64"/>
              <a:gd name="T50" fmla="*/ 54 w 150"/>
              <a:gd name="T51" fmla="*/ 35 h 64"/>
              <a:gd name="T52" fmla="*/ 57 w 150"/>
              <a:gd name="T53" fmla="*/ 37 h 64"/>
              <a:gd name="T54" fmla="*/ 84 w 150"/>
              <a:gd name="T55" fmla="*/ 52 h 64"/>
              <a:gd name="T56" fmla="*/ 101 w 150"/>
              <a:gd name="T57" fmla="*/ 55 h 64"/>
              <a:gd name="T58" fmla="*/ 101 w 150"/>
              <a:gd name="T59" fmla="*/ 55 h 64"/>
              <a:gd name="T60" fmla="*/ 118 w 150"/>
              <a:gd name="T61" fmla="*/ 52 h 64"/>
              <a:gd name="T62" fmla="*/ 120 w 150"/>
              <a:gd name="T63" fmla="*/ 51 h 64"/>
              <a:gd name="T64" fmla="*/ 120 w 150"/>
              <a:gd name="T65" fmla="*/ 49 h 64"/>
              <a:gd name="T66" fmla="*/ 125 w 150"/>
              <a:gd name="T67" fmla="*/ 29 h 64"/>
              <a:gd name="T68" fmla="*/ 139 w 150"/>
              <a:gd name="T69" fmla="*/ 11 h 64"/>
              <a:gd name="T70" fmla="*/ 146 w 150"/>
              <a:gd name="T71" fmla="*/ 7 h 64"/>
              <a:gd name="T72" fmla="*/ 147 w 150"/>
              <a:gd name="T73" fmla="*/ 6 h 64"/>
              <a:gd name="T74" fmla="*/ 148 w 150"/>
              <a:gd name="T75" fmla="*/ 5 h 64"/>
              <a:gd name="T76" fmla="*/ 148 w 150"/>
              <a:gd name="T77" fmla="*/ 5 h 64"/>
              <a:gd name="T78" fmla="*/ 148 w 150"/>
              <a:gd name="T79" fmla="*/ 5 h 64"/>
              <a:gd name="T80" fmla="*/ 150 w 150"/>
              <a:gd name="T81" fmla="*/ 1 h 64"/>
              <a:gd name="T82" fmla="*/ 147 w 150"/>
              <a:gd name="T83"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64">
                <a:moveTo>
                  <a:pt x="30" y="30"/>
                </a:moveTo>
                <a:cubicBezTo>
                  <a:pt x="28" y="31"/>
                  <a:pt x="26" y="33"/>
                  <a:pt x="24" y="34"/>
                </a:cubicBezTo>
                <a:cubicBezTo>
                  <a:pt x="19" y="37"/>
                  <a:pt x="13" y="41"/>
                  <a:pt x="9" y="46"/>
                </a:cubicBezTo>
                <a:cubicBezTo>
                  <a:pt x="7" y="48"/>
                  <a:pt x="5" y="50"/>
                  <a:pt x="4" y="53"/>
                </a:cubicBezTo>
                <a:cubicBezTo>
                  <a:pt x="2" y="55"/>
                  <a:pt x="1" y="58"/>
                  <a:pt x="1" y="60"/>
                </a:cubicBezTo>
                <a:cubicBezTo>
                  <a:pt x="0" y="62"/>
                  <a:pt x="1" y="63"/>
                  <a:pt x="3" y="64"/>
                </a:cubicBezTo>
                <a:cubicBezTo>
                  <a:pt x="3" y="64"/>
                  <a:pt x="3" y="64"/>
                  <a:pt x="4" y="64"/>
                </a:cubicBezTo>
                <a:cubicBezTo>
                  <a:pt x="5" y="64"/>
                  <a:pt x="6" y="63"/>
                  <a:pt x="7" y="61"/>
                </a:cubicBezTo>
                <a:cubicBezTo>
                  <a:pt x="7" y="59"/>
                  <a:pt x="8" y="58"/>
                  <a:pt x="9" y="56"/>
                </a:cubicBezTo>
                <a:cubicBezTo>
                  <a:pt x="11" y="52"/>
                  <a:pt x="14" y="49"/>
                  <a:pt x="18" y="45"/>
                </a:cubicBezTo>
                <a:cubicBezTo>
                  <a:pt x="22" y="42"/>
                  <a:pt x="27" y="39"/>
                  <a:pt x="32" y="36"/>
                </a:cubicBezTo>
                <a:cubicBezTo>
                  <a:pt x="30" y="34"/>
                  <a:pt x="30" y="32"/>
                  <a:pt x="30" y="30"/>
                </a:cubicBezTo>
                <a:moveTo>
                  <a:pt x="148" y="5"/>
                </a:moveTo>
                <a:cubicBezTo>
                  <a:pt x="148" y="5"/>
                  <a:pt x="148" y="5"/>
                  <a:pt x="148" y="5"/>
                </a:cubicBezTo>
                <a:moveTo>
                  <a:pt x="147" y="0"/>
                </a:moveTo>
                <a:cubicBezTo>
                  <a:pt x="146" y="0"/>
                  <a:pt x="146" y="0"/>
                  <a:pt x="146" y="0"/>
                </a:cubicBezTo>
                <a:cubicBezTo>
                  <a:pt x="146" y="0"/>
                  <a:pt x="146" y="0"/>
                  <a:pt x="146" y="0"/>
                </a:cubicBezTo>
                <a:cubicBezTo>
                  <a:pt x="145" y="0"/>
                  <a:pt x="138" y="3"/>
                  <a:pt x="130" y="11"/>
                </a:cubicBezTo>
                <a:cubicBezTo>
                  <a:pt x="126" y="15"/>
                  <a:pt x="122" y="20"/>
                  <a:pt x="119" y="26"/>
                </a:cubicBezTo>
                <a:cubicBezTo>
                  <a:pt x="116" y="32"/>
                  <a:pt x="115" y="39"/>
                  <a:pt x="114" y="47"/>
                </a:cubicBezTo>
                <a:cubicBezTo>
                  <a:pt x="112" y="48"/>
                  <a:pt x="107" y="49"/>
                  <a:pt x="101" y="49"/>
                </a:cubicBezTo>
                <a:cubicBezTo>
                  <a:pt x="101" y="49"/>
                  <a:pt x="101" y="49"/>
                  <a:pt x="101" y="49"/>
                </a:cubicBezTo>
                <a:cubicBezTo>
                  <a:pt x="96" y="49"/>
                  <a:pt x="91" y="48"/>
                  <a:pt x="86" y="46"/>
                </a:cubicBezTo>
                <a:cubicBezTo>
                  <a:pt x="78" y="43"/>
                  <a:pt x="68" y="37"/>
                  <a:pt x="60" y="32"/>
                </a:cubicBezTo>
                <a:cubicBezTo>
                  <a:pt x="59" y="32"/>
                  <a:pt x="59" y="32"/>
                  <a:pt x="59" y="31"/>
                </a:cubicBezTo>
                <a:cubicBezTo>
                  <a:pt x="54" y="35"/>
                  <a:pt x="54" y="35"/>
                  <a:pt x="54" y="35"/>
                </a:cubicBezTo>
                <a:cubicBezTo>
                  <a:pt x="55" y="36"/>
                  <a:pt x="56" y="37"/>
                  <a:pt x="57" y="37"/>
                </a:cubicBezTo>
                <a:cubicBezTo>
                  <a:pt x="65" y="42"/>
                  <a:pt x="75" y="48"/>
                  <a:pt x="84" y="52"/>
                </a:cubicBezTo>
                <a:cubicBezTo>
                  <a:pt x="90" y="54"/>
                  <a:pt x="96" y="55"/>
                  <a:pt x="101" y="55"/>
                </a:cubicBezTo>
                <a:cubicBezTo>
                  <a:pt x="101" y="55"/>
                  <a:pt x="101" y="55"/>
                  <a:pt x="101" y="55"/>
                </a:cubicBezTo>
                <a:cubicBezTo>
                  <a:pt x="111" y="55"/>
                  <a:pt x="118" y="52"/>
                  <a:pt x="118" y="52"/>
                </a:cubicBezTo>
                <a:cubicBezTo>
                  <a:pt x="120" y="51"/>
                  <a:pt x="120" y="51"/>
                  <a:pt x="120" y="51"/>
                </a:cubicBezTo>
                <a:cubicBezTo>
                  <a:pt x="120" y="49"/>
                  <a:pt x="120" y="49"/>
                  <a:pt x="120" y="49"/>
                </a:cubicBezTo>
                <a:cubicBezTo>
                  <a:pt x="120" y="41"/>
                  <a:pt x="122" y="34"/>
                  <a:pt x="125" y="29"/>
                </a:cubicBezTo>
                <a:cubicBezTo>
                  <a:pt x="129" y="20"/>
                  <a:pt x="135" y="14"/>
                  <a:pt x="139" y="11"/>
                </a:cubicBezTo>
                <a:cubicBezTo>
                  <a:pt x="142" y="9"/>
                  <a:pt x="144" y="7"/>
                  <a:pt x="146" y="7"/>
                </a:cubicBezTo>
                <a:cubicBezTo>
                  <a:pt x="146" y="6"/>
                  <a:pt x="147" y="6"/>
                  <a:pt x="147" y="6"/>
                </a:cubicBezTo>
                <a:cubicBezTo>
                  <a:pt x="148" y="5"/>
                  <a:pt x="148" y="5"/>
                  <a:pt x="148" y="5"/>
                </a:cubicBezTo>
                <a:cubicBezTo>
                  <a:pt x="148" y="5"/>
                  <a:pt x="148" y="5"/>
                  <a:pt x="148" y="5"/>
                </a:cubicBezTo>
                <a:cubicBezTo>
                  <a:pt x="148" y="5"/>
                  <a:pt x="148" y="5"/>
                  <a:pt x="148" y="5"/>
                </a:cubicBezTo>
                <a:cubicBezTo>
                  <a:pt x="150" y="5"/>
                  <a:pt x="150" y="3"/>
                  <a:pt x="150" y="1"/>
                </a:cubicBezTo>
                <a:cubicBezTo>
                  <a:pt x="149" y="0"/>
                  <a:pt x="148" y="0"/>
                  <a:pt x="147"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4" name="Freeform 119"/>
          <p:cNvSpPr>
            <a:spLocks/>
          </p:cNvSpPr>
          <p:nvPr/>
        </p:nvSpPr>
        <p:spPr bwMode="auto">
          <a:xfrm>
            <a:off x="3402013" y="5353050"/>
            <a:ext cx="49213" cy="22225"/>
          </a:xfrm>
          <a:custGeom>
            <a:avLst/>
            <a:gdLst>
              <a:gd name="T0" fmla="*/ 13 w 29"/>
              <a:gd name="T1" fmla="*/ 0 h 13"/>
              <a:gd name="T2" fmla="*/ 0 w 29"/>
              <a:gd name="T3" fmla="*/ 7 h 13"/>
              <a:gd name="T4" fmla="*/ 2 w 29"/>
              <a:gd name="T5" fmla="*/ 13 h 13"/>
              <a:gd name="T6" fmla="*/ 6 w 29"/>
              <a:gd name="T7" fmla="*/ 10 h 13"/>
              <a:gd name="T8" fmla="*/ 13 w 29"/>
              <a:gd name="T9" fmla="*/ 7 h 13"/>
              <a:gd name="T10" fmla="*/ 14 w 29"/>
              <a:gd name="T11" fmla="*/ 6 h 13"/>
              <a:gd name="T12" fmla="*/ 24 w 29"/>
              <a:gd name="T13" fmla="*/ 12 h 13"/>
              <a:gd name="T14" fmla="*/ 29 w 29"/>
              <a:gd name="T15" fmla="*/ 8 h 13"/>
              <a:gd name="T16" fmla="*/ 20 w 29"/>
              <a:gd name="T17" fmla="*/ 3 h 13"/>
              <a:gd name="T18" fmla="*/ 20 w 29"/>
              <a:gd name="T19" fmla="*/ 3 h 13"/>
              <a:gd name="T20" fmla="*/ 16 w 29"/>
              <a:gd name="T21" fmla="*/ 5 h 13"/>
              <a:gd name="T22" fmla="*/ 15 w 29"/>
              <a:gd name="T23" fmla="*/ 6 h 13"/>
              <a:gd name="T24" fmla="*/ 12 w 29"/>
              <a:gd name="T25" fmla="*/ 4 h 13"/>
              <a:gd name="T26" fmla="*/ 13 w 29"/>
              <a:gd name="T27" fmla="*/ 0 h 13"/>
              <a:gd name="T28" fmla="*/ 13 w 29"/>
              <a:gd name="T29"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13">
                <a:moveTo>
                  <a:pt x="13" y="0"/>
                </a:moveTo>
                <a:cubicBezTo>
                  <a:pt x="12" y="1"/>
                  <a:pt x="6" y="3"/>
                  <a:pt x="0" y="7"/>
                </a:cubicBezTo>
                <a:cubicBezTo>
                  <a:pt x="0" y="9"/>
                  <a:pt x="0" y="11"/>
                  <a:pt x="2" y="13"/>
                </a:cubicBezTo>
                <a:cubicBezTo>
                  <a:pt x="3" y="12"/>
                  <a:pt x="5" y="11"/>
                  <a:pt x="6" y="10"/>
                </a:cubicBezTo>
                <a:cubicBezTo>
                  <a:pt x="9" y="9"/>
                  <a:pt x="11" y="7"/>
                  <a:pt x="13" y="7"/>
                </a:cubicBezTo>
                <a:cubicBezTo>
                  <a:pt x="14" y="6"/>
                  <a:pt x="14" y="6"/>
                  <a:pt x="14" y="6"/>
                </a:cubicBezTo>
                <a:cubicBezTo>
                  <a:pt x="16" y="7"/>
                  <a:pt x="19" y="10"/>
                  <a:pt x="24" y="12"/>
                </a:cubicBezTo>
                <a:cubicBezTo>
                  <a:pt x="29" y="8"/>
                  <a:pt x="29" y="8"/>
                  <a:pt x="29" y="8"/>
                </a:cubicBezTo>
                <a:cubicBezTo>
                  <a:pt x="25" y="6"/>
                  <a:pt x="22" y="4"/>
                  <a:pt x="20" y="3"/>
                </a:cubicBezTo>
                <a:cubicBezTo>
                  <a:pt x="20" y="3"/>
                  <a:pt x="20" y="3"/>
                  <a:pt x="20" y="3"/>
                </a:cubicBezTo>
                <a:cubicBezTo>
                  <a:pt x="16" y="5"/>
                  <a:pt x="16" y="5"/>
                  <a:pt x="16" y="5"/>
                </a:cubicBezTo>
                <a:cubicBezTo>
                  <a:pt x="16" y="5"/>
                  <a:pt x="15" y="6"/>
                  <a:pt x="15" y="6"/>
                </a:cubicBezTo>
                <a:cubicBezTo>
                  <a:pt x="14" y="6"/>
                  <a:pt x="13" y="5"/>
                  <a:pt x="12" y="4"/>
                </a:cubicBezTo>
                <a:cubicBezTo>
                  <a:pt x="11" y="3"/>
                  <a:pt x="12" y="1"/>
                  <a:pt x="13" y="0"/>
                </a:cubicBezTo>
                <a:cubicBezTo>
                  <a:pt x="13" y="0"/>
                  <a:pt x="13" y="0"/>
                  <a:pt x="1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5" name="Freeform 120"/>
          <p:cNvSpPr>
            <a:spLocks/>
          </p:cNvSpPr>
          <p:nvPr/>
        </p:nvSpPr>
        <p:spPr bwMode="auto">
          <a:xfrm>
            <a:off x="3421063" y="5313363"/>
            <a:ext cx="92075" cy="50800"/>
          </a:xfrm>
          <a:custGeom>
            <a:avLst/>
            <a:gdLst>
              <a:gd name="T0" fmla="*/ 34 w 54"/>
              <a:gd name="T1" fmla="*/ 0 h 30"/>
              <a:gd name="T2" fmla="*/ 2 w 54"/>
              <a:gd name="T3" fmla="*/ 24 h 30"/>
              <a:gd name="T4" fmla="*/ 2 w 54"/>
              <a:gd name="T5" fmla="*/ 24 h 30"/>
              <a:gd name="T6" fmla="*/ 1 w 54"/>
              <a:gd name="T7" fmla="*/ 28 h 30"/>
              <a:gd name="T8" fmla="*/ 4 w 54"/>
              <a:gd name="T9" fmla="*/ 30 h 30"/>
              <a:gd name="T10" fmla="*/ 5 w 54"/>
              <a:gd name="T11" fmla="*/ 29 h 30"/>
              <a:gd name="T12" fmla="*/ 9 w 54"/>
              <a:gd name="T13" fmla="*/ 27 h 30"/>
              <a:gd name="T14" fmla="*/ 35 w 54"/>
              <a:gd name="T15" fmla="*/ 7 h 30"/>
              <a:gd name="T16" fmla="*/ 50 w 54"/>
              <a:gd name="T17" fmla="*/ 11 h 30"/>
              <a:gd name="T18" fmla="*/ 51 w 54"/>
              <a:gd name="T19" fmla="*/ 11 h 30"/>
              <a:gd name="T20" fmla="*/ 53 w 54"/>
              <a:gd name="T21" fmla="*/ 9 h 30"/>
              <a:gd name="T22" fmla="*/ 51 w 54"/>
              <a:gd name="T23" fmla="*/ 5 h 30"/>
              <a:gd name="T24" fmla="*/ 34 w 54"/>
              <a:gd name="T2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 h="30">
                <a:moveTo>
                  <a:pt x="34" y="0"/>
                </a:moveTo>
                <a:cubicBezTo>
                  <a:pt x="2" y="24"/>
                  <a:pt x="2" y="24"/>
                  <a:pt x="2" y="24"/>
                </a:cubicBezTo>
                <a:cubicBezTo>
                  <a:pt x="2" y="24"/>
                  <a:pt x="2" y="24"/>
                  <a:pt x="2" y="24"/>
                </a:cubicBezTo>
                <a:cubicBezTo>
                  <a:pt x="1" y="25"/>
                  <a:pt x="0" y="27"/>
                  <a:pt x="1" y="28"/>
                </a:cubicBezTo>
                <a:cubicBezTo>
                  <a:pt x="2" y="29"/>
                  <a:pt x="3" y="30"/>
                  <a:pt x="4" y="30"/>
                </a:cubicBezTo>
                <a:cubicBezTo>
                  <a:pt x="4" y="30"/>
                  <a:pt x="5" y="29"/>
                  <a:pt x="5" y="29"/>
                </a:cubicBezTo>
                <a:cubicBezTo>
                  <a:pt x="9" y="27"/>
                  <a:pt x="9" y="27"/>
                  <a:pt x="9" y="27"/>
                </a:cubicBezTo>
                <a:cubicBezTo>
                  <a:pt x="35" y="7"/>
                  <a:pt x="35" y="7"/>
                  <a:pt x="35" y="7"/>
                </a:cubicBezTo>
                <a:cubicBezTo>
                  <a:pt x="50" y="11"/>
                  <a:pt x="50" y="11"/>
                  <a:pt x="50" y="11"/>
                </a:cubicBezTo>
                <a:cubicBezTo>
                  <a:pt x="50" y="11"/>
                  <a:pt x="50" y="11"/>
                  <a:pt x="51" y="11"/>
                </a:cubicBezTo>
                <a:cubicBezTo>
                  <a:pt x="52" y="11"/>
                  <a:pt x="53" y="10"/>
                  <a:pt x="53" y="9"/>
                </a:cubicBezTo>
                <a:cubicBezTo>
                  <a:pt x="54" y="7"/>
                  <a:pt x="53" y="6"/>
                  <a:pt x="51" y="5"/>
                </a:cubicBezTo>
                <a:cubicBezTo>
                  <a:pt x="34" y="0"/>
                  <a:pt x="34" y="0"/>
                  <a:pt x="34"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6" name="Freeform 121"/>
          <p:cNvSpPr>
            <a:spLocks noEditPoints="1"/>
          </p:cNvSpPr>
          <p:nvPr/>
        </p:nvSpPr>
        <p:spPr bwMode="auto">
          <a:xfrm>
            <a:off x="3459163" y="5081588"/>
            <a:ext cx="169863" cy="179387"/>
          </a:xfrm>
          <a:custGeom>
            <a:avLst/>
            <a:gdLst>
              <a:gd name="T0" fmla="*/ 3 w 100"/>
              <a:gd name="T1" fmla="*/ 4 h 106"/>
              <a:gd name="T2" fmla="*/ 1 w 100"/>
              <a:gd name="T3" fmla="*/ 5 h 106"/>
              <a:gd name="T4" fmla="*/ 0 w 100"/>
              <a:gd name="T5" fmla="*/ 9 h 106"/>
              <a:gd name="T6" fmla="*/ 3 w 100"/>
              <a:gd name="T7" fmla="*/ 10 h 106"/>
              <a:gd name="T8" fmla="*/ 5 w 100"/>
              <a:gd name="T9" fmla="*/ 10 h 106"/>
              <a:gd name="T10" fmla="*/ 8 w 100"/>
              <a:gd name="T11" fmla="*/ 9 h 106"/>
              <a:gd name="T12" fmla="*/ 3 w 100"/>
              <a:gd name="T13" fmla="*/ 4 h 106"/>
              <a:gd name="T14" fmla="*/ 35 w 100"/>
              <a:gd name="T15" fmla="*/ 0 h 106"/>
              <a:gd name="T16" fmla="*/ 36 w 100"/>
              <a:gd name="T17" fmla="*/ 6 h 106"/>
              <a:gd name="T18" fmla="*/ 52 w 100"/>
              <a:gd name="T19" fmla="*/ 7 h 106"/>
              <a:gd name="T20" fmla="*/ 68 w 100"/>
              <a:gd name="T21" fmla="*/ 10 h 106"/>
              <a:gd name="T22" fmla="*/ 86 w 100"/>
              <a:gd name="T23" fmla="*/ 22 h 106"/>
              <a:gd name="T24" fmla="*/ 92 w 100"/>
              <a:gd name="T25" fmla="*/ 31 h 106"/>
              <a:gd name="T26" fmla="*/ 94 w 100"/>
              <a:gd name="T27" fmla="*/ 38 h 106"/>
              <a:gd name="T28" fmla="*/ 94 w 100"/>
              <a:gd name="T29" fmla="*/ 38 h 106"/>
              <a:gd name="T30" fmla="*/ 94 w 100"/>
              <a:gd name="T31" fmla="*/ 39 h 106"/>
              <a:gd name="T32" fmla="*/ 93 w 100"/>
              <a:gd name="T33" fmla="*/ 45 h 106"/>
              <a:gd name="T34" fmla="*/ 90 w 100"/>
              <a:gd name="T35" fmla="*/ 61 h 106"/>
              <a:gd name="T36" fmla="*/ 84 w 100"/>
              <a:gd name="T37" fmla="*/ 89 h 106"/>
              <a:gd name="T38" fmla="*/ 81 w 100"/>
              <a:gd name="T39" fmla="*/ 98 h 106"/>
              <a:gd name="T40" fmla="*/ 80 w 100"/>
              <a:gd name="T41" fmla="*/ 101 h 106"/>
              <a:gd name="T42" fmla="*/ 80 w 100"/>
              <a:gd name="T43" fmla="*/ 102 h 106"/>
              <a:gd name="T44" fmla="*/ 82 w 100"/>
              <a:gd name="T45" fmla="*/ 106 h 106"/>
              <a:gd name="T46" fmla="*/ 83 w 100"/>
              <a:gd name="T47" fmla="*/ 106 h 106"/>
              <a:gd name="T48" fmla="*/ 86 w 100"/>
              <a:gd name="T49" fmla="*/ 104 h 106"/>
              <a:gd name="T50" fmla="*/ 93 w 100"/>
              <a:gd name="T51" fmla="*/ 76 h 106"/>
              <a:gd name="T52" fmla="*/ 98 w 100"/>
              <a:gd name="T53" fmla="*/ 54 h 106"/>
              <a:gd name="T54" fmla="*/ 99 w 100"/>
              <a:gd name="T55" fmla="*/ 45 h 106"/>
              <a:gd name="T56" fmla="*/ 100 w 100"/>
              <a:gd name="T57" fmla="*/ 39 h 106"/>
              <a:gd name="T58" fmla="*/ 100 w 100"/>
              <a:gd name="T59" fmla="*/ 38 h 106"/>
              <a:gd name="T60" fmla="*/ 100 w 100"/>
              <a:gd name="T61" fmla="*/ 38 h 106"/>
              <a:gd name="T62" fmla="*/ 97 w 100"/>
              <a:gd name="T63" fmla="*/ 28 h 106"/>
              <a:gd name="T64" fmla="*/ 87 w 100"/>
              <a:gd name="T65" fmla="*/ 14 h 106"/>
              <a:gd name="T66" fmla="*/ 69 w 100"/>
              <a:gd name="T67" fmla="*/ 4 h 106"/>
              <a:gd name="T68" fmla="*/ 53 w 100"/>
              <a:gd name="T69" fmla="*/ 1 h 106"/>
              <a:gd name="T70" fmla="*/ 35 w 100"/>
              <a:gd name="T7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06">
                <a:moveTo>
                  <a:pt x="3" y="4"/>
                </a:moveTo>
                <a:cubicBezTo>
                  <a:pt x="3" y="4"/>
                  <a:pt x="2" y="5"/>
                  <a:pt x="1" y="5"/>
                </a:cubicBezTo>
                <a:cubicBezTo>
                  <a:pt x="0" y="6"/>
                  <a:pt x="0" y="8"/>
                  <a:pt x="0" y="9"/>
                </a:cubicBezTo>
                <a:cubicBezTo>
                  <a:pt x="1" y="10"/>
                  <a:pt x="2" y="10"/>
                  <a:pt x="3" y="10"/>
                </a:cubicBezTo>
                <a:cubicBezTo>
                  <a:pt x="4" y="10"/>
                  <a:pt x="4" y="10"/>
                  <a:pt x="5" y="10"/>
                </a:cubicBezTo>
                <a:cubicBezTo>
                  <a:pt x="5" y="10"/>
                  <a:pt x="7" y="9"/>
                  <a:pt x="8" y="9"/>
                </a:cubicBezTo>
                <a:cubicBezTo>
                  <a:pt x="7" y="7"/>
                  <a:pt x="5" y="6"/>
                  <a:pt x="3" y="4"/>
                </a:cubicBezTo>
                <a:moveTo>
                  <a:pt x="35" y="0"/>
                </a:moveTo>
                <a:cubicBezTo>
                  <a:pt x="36" y="2"/>
                  <a:pt x="36" y="4"/>
                  <a:pt x="36" y="6"/>
                </a:cubicBezTo>
                <a:cubicBezTo>
                  <a:pt x="42" y="6"/>
                  <a:pt x="47" y="6"/>
                  <a:pt x="52" y="7"/>
                </a:cubicBezTo>
                <a:cubicBezTo>
                  <a:pt x="58" y="8"/>
                  <a:pt x="64" y="9"/>
                  <a:pt x="68" y="10"/>
                </a:cubicBezTo>
                <a:cubicBezTo>
                  <a:pt x="75" y="12"/>
                  <a:pt x="82" y="17"/>
                  <a:pt x="86" y="22"/>
                </a:cubicBezTo>
                <a:cubicBezTo>
                  <a:pt x="89" y="25"/>
                  <a:pt x="91" y="28"/>
                  <a:pt x="92" y="31"/>
                </a:cubicBezTo>
                <a:cubicBezTo>
                  <a:pt x="93" y="34"/>
                  <a:pt x="94" y="36"/>
                  <a:pt x="94" y="38"/>
                </a:cubicBezTo>
                <a:cubicBezTo>
                  <a:pt x="94" y="38"/>
                  <a:pt x="94" y="38"/>
                  <a:pt x="94" y="38"/>
                </a:cubicBezTo>
                <a:cubicBezTo>
                  <a:pt x="94" y="38"/>
                  <a:pt x="94" y="39"/>
                  <a:pt x="94" y="39"/>
                </a:cubicBezTo>
                <a:cubicBezTo>
                  <a:pt x="94" y="40"/>
                  <a:pt x="94" y="42"/>
                  <a:pt x="93" y="45"/>
                </a:cubicBezTo>
                <a:cubicBezTo>
                  <a:pt x="93" y="49"/>
                  <a:pt x="92" y="55"/>
                  <a:pt x="90" y="61"/>
                </a:cubicBezTo>
                <a:cubicBezTo>
                  <a:pt x="88" y="70"/>
                  <a:pt x="86" y="81"/>
                  <a:pt x="84" y="89"/>
                </a:cubicBezTo>
                <a:cubicBezTo>
                  <a:pt x="82" y="93"/>
                  <a:pt x="82" y="96"/>
                  <a:pt x="81" y="98"/>
                </a:cubicBezTo>
                <a:cubicBezTo>
                  <a:pt x="81" y="100"/>
                  <a:pt x="80" y="101"/>
                  <a:pt x="80" y="101"/>
                </a:cubicBezTo>
                <a:cubicBezTo>
                  <a:pt x="80" y="102"/>
                  <a:pt x="80" y="102"/>
                  <a:pt x="80" y="102"/>
                </a:cubicBezTo>
                <a:cubicBezTo>
                  <a:pt x="80" y="104"/>
                  <a:pt x="80" y="105"/>
                  <a:pt x="82" y="106"/>
                </a:cubicBezTo>
                <a:cubicBezTo>
                  <a:pt x="82" y="106"/>
                  <a:pt x="83" y="106"/>
                  <a:pt x="83" y="106"/>
                </a:cubicBezTo>
                <a:cubicBezTo>
                  <a:pt x="84" y="106"/>
                  <a:pt x="85" y="105"/>
                  <a:pt x="86" y="104"/>
                </a:cubicBezTo>
                <a:cubicBezTo>
                  <a:pt x="86" y="104"/>
                  <a:pt x="89" y="91"/>
                  <a:pt x="93" y="76"/>
                </a:cubicBezTo>
                <a:cubicBezTo>
                  <a:pt x="95" y="69"/>
                  <a:pt x="96" y="61"/>
                  <a:pt x="98" y="54"/>
                </a:cubicBezTo>
                <a:cubicBezTo>
                  <a:pt x="98" y="51"/>
                  <a:pt x="99" y="48"/>
                  <a:pt x="99" y="45"/>
                </a:cubicBezTo>
                <a:cubicBezTo>
                  <a:pt x="100" y="43"/>
                  <a:pt x="100" y="41"/>
                  <a:pt x="100" y="39"/>
                </a:cubicBezTo>
                <a:cubicBezTo>
                  <a:pt x="100" y="39"/>
                  <a:pt x="100" y="38"/>
                  <a:pt x="100" y="38"/>
                </a:cubicBezTo>
                <a:cubicBezTo>
                  <a:pt x="100" y="38"/>
                  <a:pt x="100" y="38"/>
                  <a:pt x="100" y="38"/>
                </a:cubicBezTo>
                <a:cubicBezTo>
                  <a:pt x="100" y="35"/>
                  <a:pt x="99" y="32"/>
                  <a:pt x="97" y="28"/>
                </a:cubicBezTo>
                <a:cubicBezTo>
                  <a:pt x="95" y="24"/>
                  <a:pt x="91" y="18"/>
                  <a:pt x="87" y="14"/>
                </a:cubicBezTo>
                <a:cubicBezTo>
                  <a:pt x="82" y="9"/>
                  <a:pt x="76" y="6"/>
                  <a:pt x="69" y="4"/>
                </a:cubicBezTo>
                <a:cubicBezTo>
                  <a:pt x="65" y="3"/>
                  <a:pt x="59" y="2"/>
                  <a:pt x="53" y="1"/>
                </a:cubicBezTo>
                <a:cubicBezTo>
                  <a:pt x="47" y="0"/>
                  <a:pt x="41" y="0"/>
                  <a:pt x="35"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7" name="Freeform 122"/>
          <p:cNvSpPr>
            <a:spLocks/>
          </p:cNvSpPr>
          <p:nvPr/>
        </p:nvSpPr>
        <p:spPr bwMode="auto">
          <a:xfrm>
            <a:off x="3465513" y="5081588"/>
            <a:ext cx="55563" cy="15875"/>
          </a:xfrm>
          <a:custGeom>
            <a:avLst/>
            <a:gdLst>
              <a:gd name="T0" fmla="*/ 30 w 33"/>
              <a:gd name="T1" fmla="*/ 0 h 9"/>
              <a:gd name="T2" fmla="*/ 26 w 33"/>
              <a:gd name="T3" fmla="*/ 0 h 9"/>
              <a:gd name="T4" fmla="*/ 27 w 33"/>
              <a:gd name="T5" fmla="*/ 4 h 9"/>
              <a:gd name="T6" fmla="*/ 25 w 33"/>
              <a:gd name="T7" fmla="*/ 5 h 9"/>
              <a:gd name="T8" fmla="*/ 23 w 33"/>
              <a:gd name="T9" fmla="*/ 5 h 9"/>
              <a:gd name="T10" fmla="*/ 17 w 33"/>
              <a:gd name="T11" fmla="*/ 1 h 9"/>
              <a:gd name="T12" fmla="*/ 17 w 33"/>
              <a:gd name="T13" fmla="*/ 0 h 9"/>
              <a:gd name="T14" fmla="*/ 12 w 33"/>
              <a:gd name="T15" fmla="*/ 1 h 9"/>
              <a:gd name="T16" fmla="*/ 4 w 33"/>
              <a:gd name="T17" fmla="*/ 3 h 9"/>
              <a:gd name="T18" fmla="*/ 0 w 33"/>
              <a:gd name="T19" fmla="*/ 4 h 9"/>
              <a:gd name="T20" fmla="*/ 5 w 33"/>
              <a:gd name="T21" fmla="*/ 9 h 9"/>
              <a:gd name="T22" fmla="*/ 6 w 33"/>
              <a:gd name="T23" fmla="*/ 8 h 9"/>
              <a:gd name="T24" fmla="*/ 16 w 33"/>
              <a:gd name="T25" fmla="*/ 7 h 9"/>
              <a:gd name="T26" fmla="*/ 30 w 33"/>
              <a:gd name="T27" fmla="*/ 6 h 9"/>
              <a:gd name="T28" fmla="*/ 30 w 33"/>
              <a:gd name="T29" fmla="*/ 6 h 9"/>
              <a:gd name="T30" fmla="*/ 33 w 33"/>
              <a:gd name="T31" fmla="*/ 6 h 9"/>
              <a:gd name="T32" fmla="*/ 32 w 33"/>
              <a:gd name="T33" fmla="*/ 0 h 9"/>
              <a:gd name="T34" fmla="*/ 30 w 33"/>
              <a:gd name="T3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3" h="9">
                <a:moveTo>
                  <a:pt x="30" y="0"/>
                </a:moveTo>
                <a:cubicBezTo>
                  <a:pt x="29" y="0"/>
                  <a:pt x="28" y="0"/>
                  <a:pt x="26" y="0"/>
                </a:cubicBezTo>
                <a:cubicBezTo>
                  <a:pt x="28" y="1"/>
                  <a:pt x="28" y="2"/>
                  <a:pt x="27" y="4"/>
                </a:cubicBezTo>
                <a:cubicBezTo>
                  <a:pt x="27" y="5"/>
                  <a:pt x="26" y="5"/>
                  <a:pt x="25" y="5"/>
                </a:cubicBezTo>
                <a:cubicBezTo>
                  <a:pt x="24" y="5"/>
                  <a:pt x="24" y="5"/>
                  <a:pt x="23" y="5"/>
                </a:cubicBezTo>
                <a:cubicBezTo>
                  <a:pt x="23" y="5"/>
                  <a:pt x="21" y="3"/>
                  <a:pt x="17" y="1"/>
                </a:cubicBezTo>
                <a:cubicBezTo>
                  <a:pt x="17" y="1"/>
                  <a:pt x="17" y="1"/>
                  <a:pt x="17" y="0"/>
                </a:cubicBezTo>
                <a:cubicBezTo>
                  <a:pt x="15" y="1"/>
                  <a:pt x="13" y="1"/>
                  <a:pt x="12" y="1"/>
                </a:cubicBezTo>
                <a:cubicBezTo>
                  <a:pt x="9" y="1"/>
                  <a:pt x="7" y="2"/>
                  <a:pt x="4" y="3"/>
                </a:cubicBezTo>
                <a:cubicBezTo>
                  <a:pt x="3" y="3"/>
                  <a:pt x="2" y="3"/>
                  <a:pt x="0" y="4"/>
                </a:cubicBezTo>
                <a:cubicBezTo>
                  <a:pt x="2" y="6"/>
                  <a:pt x="4" y="7"/>
                  <a:pt x="5" y="9"/>
                </a:cubicBezTo>
                <a:cubicBezTo>
                  <a:pt x="5" y="8"/>
                  <a:pt x="6" y="8"/>
                  <a:pt x="6" y="8"/>
                </a:cubicBezTo>
                <a:cubicBezTo>
                  <a:pt x="9" y="8"/>
                  <a:pt x="12" y="7"/>
                  <a:pt x="16" y="7"/>
                </a:cubicBezTo>
                <a:cubicBezTo>
                  <a:pt x="20" y="6"/>
                  <a:pt x="25" y="6"/>
                  <a:pt x="30" y="6"/>
                </a:cubicBezTo>
                <a:cubicBezTo>
                  <a:pt x="30" y="6"/>
                  <a:pt x="30" y="6"/>
                  <a:pt x="30" y="6"/>
                </a:cubicBezTo>
                <a:cubicBezTo>
                  <a:pt x="31" y="6"/>
                  <a:pt x="32" y="6"/>
                  <a:pt x="33" y="6"/>
                </a:cubicBezTo>
                <a:cubicBezTo>
                  <a:pt x="33" y="4"/>
                  <a:pt x="33" y="2"/>
                  <a:pt x="32" y="0"/>
                </a:cubicBezTo>
                <a:cubicBezTo>
                  <a:pt x="31" y="0"/>
                  <a:pt x="30" y="0"/>
                  <a:pt x="30"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8" name="Freeform 123"/>
          <p:cNvSpPr>
            <a:spLocks/>
          </p:cNvSpPr>
          <p:nvPr/>
        </p:nvSpPr>
        <p:spPr bwMode="auto">
          <a:xfrm>
            <a:off x="3408363" y="5035550"/>
            <a:ext cx="11113" cy="9525"/>
          </a:xfrm>
          <a:custGeom>
            <a:avLst/>
            <a:gdLst>
              <a:gd name="T0" fmla="*/ 3 w 6"/>
              <a:gd name="T1" fmla="*/ 0 h 5"/>
              <a:gd name="T2" fmla="*/ 3 w 6"/>
              <a:gd name="T3" fmla="*/ 0 h 5"/>
              <a:gd name="T4" fmla="*/ 0 w 6"/>
              <a:gd name="T5" fmla="*/ 4 h 5"/>
              <a:gd name="T6" fmla="*/ 0 w 6"/>
              <a:gd name="T7" fmla="*/ 4 h 5"/>
              <a:gd name="T8" fmla="*/ 0 w 6"/>
              <a:gd name="T9" fmla="*/ 5 h 5"/>
              <a:gd name="T10" fmla="*/ 3 w 6"/>
              <a:gd name="T11" fmla="*/ 5 h 5"/>
              <a:gd name="T12" fmla="*/ 6 w 6"/>
              <a:gd name="T13" fmla="*/ 4 h 5"/>
              <a:gd name="T14" fmla="*/ 6 w 6"/>
              <a:gd name="T15" fmla="*/ 3 h 5"/>
              <a:gd name="T16" fmla="*/ 3 w 6"/>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5">
                <a:moveTo>
                  <a:pt x="3" y="0"/>
                </a:moveTo>
                <a:cubicBezTo>
                  <a:pt x="3" y="0"/>
                  <a:pt x="3" y="0"/>
                  <a:pt x="3" y="0"/>
                </a:cubicBezTo>
                <a:cubicBezTo>
                  <a:pt x="1" y="0"/>
                  <a:pt x="0" y="2"/>
                  <a:pt x="0" y="4"/>
                </a:cubicBezTo>
                <a:cubicBezTo>
                  <a:pt x="0" y="4"/>
                  <a:pt x="0" y="4"/>
                  <a:pt x="0" y="4"/>
                </a:cubicBezTo>
                <a:cubicBezTo>
                  <a:pt x="0" y="4"/>
                  <a:pt x="0" y="4"/>
                  <a:pt x="0" y="5"/>
                </a:cubicBezTo>
                <a:cubicBezTo>
                  <a:pt x="2" y="5"/>
                  <a:pt x="3" y="5"/>
                  <a:pt x="3" y="5"/>
                </a:cubicBezTo>
                <a:cubicBezTo>
                  <a:pt x="3" y="5"/>
                  <a:pt x="4" y="5"/>
                  <a:pt x="6" y="4"/>
                </a:cubicBezTo>
                <a:cubicBezTo>
                  <a:pt x="6" y="4"/>
                  <a:pt x="6" y="3"/>
                  <a:pt x="6" y="3"/>
                </a:cubicBezTo>
                <a:cubicBezTo>
                  <a:pt x="6" y="1"/>
                  <a:pt x="5" y="0"/>
                  <a:pt x="3" y="0"/>
                </a:cubicBezTo>
              </a:path>
            </a:pathLst>
          </a:custGeom>
          <a:solidFill>
            <a:srgbClr val="E3A1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9" name="Freeform 124"/>
          <p:cNvSpPr>
            <a:spLocks/>
          </p:cNvSpPr>
          <p:nvPr/>
        </p:nvSpPr>
        <p:spPr bwMode="auto">
          <a:xfrm>
            <a:off x="3359151" y="5043488"/>
            <a:ext cx="60325" cy="84137"/>
          </a:xfrm>
          <a:custGeom>
            <a:avLst/>
            <a:gdLst>
              <a:gd name="T0" fmla="*/ 35 w 35"/>
              <a:gd name="T1" fmla="*/ 0 h 50"/>
              <a:gd name="T2" fmla="*/ 32 w 35"/>
              <a:gd name="T3" fmla="*/ 1 h 50"/>
              <a:gd name="T4" fmla="*/ 29 w 35"/>
              <a:gd name="T5" fmla="*/ 1 h 50"/>
              <a:gd name="T6" fmla="*/ 28 w 35"/>
              <a:gd name="T7" fmla="*/ 5 h 50"/>
              <a:gd name="T8" fmla="*/ 22 w 35"/>
              <a:gd name="T9" fmla="*/ 17 h 50"/>
              <a:gd name="T10" fmla="*/ 8 w 35"/>
              <a:gd name="T11" fmla="*/ 36 h 50"/>
              <a:gd name="T12" fmla="*/ 3 w 35"/>
              <a:gd name="T13" fmla="*/ 43 h 50"/>
              <a:gd name="T14" fmla="*/ 2 w 35"/>
              <a:gd name="T15" fmla="*/ 44 h 50"/>
              <a:gd name="T16" fmla="*/ 2 w 35"/>
              <a:gd name="T17" fmla="*/ 45 h 50"/>
              <a:gd name="T18" fmla="*/ 1 w 35"/>
              <a:gd name="T19" fmla="*/ 45 h 50"/>
              <a:gd name="T20" fmla="*/ 1 w 35"/>
              <a:gd name="T21" fmla="*/ 46 h 50"/>
              <a:gd name="T22" fmla="*/ 1 w 35"/>
              <a:gd name="T23" fmla="*/ 50 h 50"/>
              <a:gd name="T24" fmla="*/ 3 w 35"/>
              <a:gd name="T25" fmla="*/ 50 h 50"/>
              <a:gd name="T26" fmla="*/ 6 w 35"/>
              <a:gd name="T27" fmla="*/ 49 h 50"/>
              <a:gd name="T28" fmla="*/ 9 w 35"/>
              <a:gd name="T29" fmla="*/ 45 h 50"/>
              <a:gd name="T30" fmla="*/ 20 w 35"/>
              <a:gd name="T31" fmla="*/ 30 h 50"/>
              <a:gd name="T32" fmla="*/ 30 w 35"/>
              <a:gd name="T33" fmla="*/ 14 h 50"/>
              <a:gd name="T34" fmla="*/ 34 w 35"/>
              <a:gd name="T35" fmla="*/ 7 h 50"/>
              <a:gd name="T36" fmla="*/ 35 w 35"/>
              <a:gd name="T37" fmla="*/ 0 h 50"/>
              <a:gd name="T38" fmla="*/ 35 w 35"/>
              <a:gd name="T3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50">
                <a:moveTo>
                  <a:pt x="35" y="0"/>
                </a:moveTo>
                <a:cubicBezTo>
                  <a:pt x="33" y="1"/>
                  <a:pt x="32" y="1"/>
                  <a:pt x="32" y="1"/>
                </a:cubicBezTo>
                <a:cubicBezTo>
                  <a:pt x="32" y="1"/>
                  <a:pt x="31" y="1"/>
                  <a:pt x="29" y="1"/>
                </a:cubicBezTo>
                <a:cubicBezTo>
                  <a:pt x="29" y="2"/>
                  <a:pt x="29" y="3"/>
                  <a:pt x="28" y="5"/>
                </a:cubicBezTo>
                <a:cubicBezTo>
                  <a:pt x="27" y="8"/>
                  <a:pt x="25" y="12"/>
                  <a:pt x="22" y="17"/>
                </a:cubicBezTo>
                <a:cubicBezTo>
                  <a:pt x="18" y="24"/>
                  <a:pt x="12" y="31"/>
                  <a:pt x="8" y="36"/>
                </a:cubicBezTo>
                <a:cubicBezTo>
                  <a:pt x="6" y="39"/>
                  <a:pt x="4" y="41"/>
                  <a:pt x="3" y="43"/>
                </a:cubicBezTo>
                <a:cubicBezTo>
                  <a:pt x="3" y="44"/>
                  <a:pt x="2" y="44"/>
                  <a:pt x="2" y="44"/>
                </a:cubicBezTo>
                <a:cubicBezTo>
                  <a:pt x="2" y="45"/>
                  <a:pt x="2" y="45"/>
                  <a:pt x="2" y="45"/>
                </a:cubicBezTo>
                <a:cubicBezTo>
                  <a:pt x="1" y="45"/>
                  <a:pt x="1" y="45"/>
                  <a:pt x="1" y="45"/>
                </a:cubicBezTo>
                <a:cubicBezTo>
                  <a:pt x="1" y="46"/>
                  <a:pt x="1" y="46"/>
                  <a:pt x="1" y="46"/>
                </a:cubicBezTo>
                <a:cubicBezTo>
                  <a:pt x="0" y="47"/>
                  <a:pt x="0" y="49"/>
                  <a:pt x="1" y="50"/>
                </a:cubicBezTo>
                <a:cubicBezTo>
                  <a:pt x="2" y="50"/>
                  <a:pt x="3" y="50"/>
                  <a:pt x="3" y="50"/>
                </a:cubicBezTo>
                <a:cubicBezTo>
                  <a:pt x="4" y="50"/>
                  <a:pt x="5" y="50"/>
                  <a:pt x="6" y="49"/>
                </a:cubicBezTo>
                <a:cubicBezTo>
                  <a:pt x="6" y="49"/>
                  <a:pt x="7" y="47"/>
                  <a:pt x="9" y="45"/>
                </a:cubicBezTo>
                <a:cubicBezTo>
                  <a:pt x="12" y="41"/>
                  <a:pt x="16" y="36"/>
                  <a:pt x="20" y="30"/>
                </a:cubicBezTo>
                <a:cubicBezTo>
                  <a:pt x="24" y="25"/>
                  <a:pt x="28" y="19"/>
                  <a:pt x="30" y="14"/>
                </a:cubicBezTo>
                <a:cubicBezTo>
                  <a:pt x="32" y="11"/>
                  <a:pt x="33" y="9"/>
                  <a:pt x="34" y="7"/>
                </a:cubicBezTo>
                <a:cubicBezTo>
                  <a:pt x="35" y="4"/>
                  <a:pt x="35" y="2"/>
                  <a:pt x="35" y="0"/>
                </a:cubicBezTo>
                <a:cubicBezTo>
                  <a:pt x="35" y="0"/>
                  <a:pt x="35" y="0"/>
                  <a:pt x="35"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0" name="Freeform 125"/>
          <p:cNvSpPr>
            <a:spLocks/>
          </p:cNvSpPr>
          <p:nvPr/>
        </p:nvSpPr>
        <p:spPr bwMode="auto">
          <a:xfrm>
            <a:off x="3467101" y="5037138"/>
            <a:ext cx="46038" cy="53975"/>
          </a:xfrm>
          <a:custGeom>
            <a:avLst/>
            <a:gdLst>
              <a:gd name="T0" fmla="*/ 3 w 27"/>
              <a:gd name="T1" fmla="*/ 0 h 31"/>
              <a:gd name="T2" fmla="*/ 3 w 27"/>
              <a:gd name="T3" fmla="*/ 0 h 31"/>
              <a:gd name="T4" fmla="*/ 1 w 27"/>
              <a:gd name="T5" fmla="*/ 3 h 31"/>
              <a:gd name="T6" fmla="*/ 5 w 27"/>
              <a:gd name="T7" fmla="*/ 15 h 31"/>
              <a:gd name="T8" fmla="*/ 16 w 27"/>
              <a:gd name="T9" fmla="*/ 26 h 31"/>
              <a:gd name="T10" fmla="*/ 16 w 27"/>
              <a:gd name="T11" fmla="*/ 27 h 31"/>
              <a:gd name="T12" fmla="*/ 22 w 27"/>
              <a:gd name="T13" fmla="*/ 31 h 31"/>
              <a:gd name="T14" fmla="*/ 24 w 27"/>
              <a:gd name="T15" fmla="*/ 31 h 31"/>
              <a:gd name="T16" fmla="*/ 26 w 27"/>
              <a:gd name="T17" fmla="*/ 30 h 31"/>
              <a:gd name="T18" fmla="*/ 25 w 27"/>
              <a:gd name="T19" fmla="*/ 26 h 31"/>
              <a:gd name="T20" fmla="*/ 25 w 27"/>
              <a:gd name="T21" fmla="*/ 26 h 31"/>
              <a:gd name="T22" fmla="*/ 25 w 27"/>
              <a:gd name="T23" fmla="*/ 26 h 31"/>
              <a:gd name="T24" fmla="*/ 25 w 27"/>
              <a:gd name="T25" fmla="*/ 26 h 31"/>
              <a:gd name="T26" fmla="*/ 16 w 27"/>
              <a:gd name="T27" fmla="*/ 19 h 31"/>
              <a:gd name="T28" fmla="*/ 10 w 27"/>
              <a:gd name="T29" fmla="*/ 12 h 31"/>
              <a:gd name="T30" fmla="*/ 6 w 27"/>
              <a:gd name="T31" fmla="*/ 2 h 31"/>
              <a:gd name="T32" fmla="*/ 3 w 27"/>
              <a:gd name="T3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31">
                <a:moveTo>
                  <a:pt x="3" y="0"/>
                </a:moveTo>
                <a:cubicBezTo>
                  <a:pt x="3" y="0"/>
                  <a:pt x="3" y="0"/>
                  <a:pt x="3" y="0"/>
                </a:cubicBezTo>
                <a:cubicBezTo>
                  <a:pt x="1" y="0"/>
                  <a:pt x="0" y="2"/>
                  <a:pt x="1" y="3"/>
                </a:cubicBezTo>
                <a:cubicBezTo>
                  <a:pt x="1" y="8"/>
                  <a:pt x="3" y="12"/>
                  <a:pt x="5" y="15"/>
                </a:cubicBezTo>
                <a:cubicBezTo>
                  <a:pt x="9" y="20"/>
                  <a:pt x="13" y="24"/>
                  <a:pt x="16" y="26"/>
                </a:cubicBezTo>
                <a:cubicBezTo>
                  <a:pt x="16" y="27"/>
                  <a:pt x="16" y="27"/>
                  <a:pt x="16" y="27"/>
                </a:cubicBezTo>
                <a:cubicBezTo>
                  <a:pt x="20" y="29"/>
                  <a:pt x="22" y="31"/>
                  <a:pt x="22" y="31"/>
                </a:cubicBezTo>
                <a:cubicBezTo>
                  <a:pt x="23" y="31"/>
                  <a:pt x="23" y="31"/>
                  <a:pt x="24" y="31"/>
                </a:cubicBezTo>
                <a:cubicBezTo>
                  <a:pt x="25" y="31"/>
                  <a:pt x="26" y="31"/>
                  <a:pt x="26" y="30"/>
                </a:cubicBezTo>
                <a:cubicBezTo>
                  <a:pt x="27" y="28"/>
                  <a:pt x="27" y="27"/>
                  <a:pt x="25" y="26"/>
                </a:cubicBezTo>
                <a:cubicBezTo>
                  <a:pt x="25" y="26"/>
                  <a:pt x="25" y="26"/>
                  <a:pt x="25" y="26"/>
                </a:cubicBezTo>
                <a:cubicBezTo>
                  <a:pt x="25" y="26"/>
                  <a:pt x="25" y="26"/>
                  <a:pt x="25" y="26"/>
                </a:cubicBezTo>
                <a:cubicBezTo>
                  <a:pt x="25" y="26"/>
                  <a:pt x="25" y="26"/>
                  <a:pt x="25" y="26"/>
                </a:cubicBezTo>
                <a:cubicBezTo>
                  <a:pt x="25" y="26"/>
                  <a:pt x="21" y="23"/>
                  <a:pt x="16" y="19"/>
                </a:cubicBezTo>
                <a:cubicBezTo>
                  <a:pt x="14" y="17"/>
                  <a:pt x="12" y="15"/>
                  <a:pt x="10" y="12"/>
                </a:cubicBezTo>
                <a:cubicBezTo>
                  <a:pt x="8" y="9"/>
                  <a:pt x="7" y="6"/>
                  <a:pt x="6" y="2"/>
                </a:cubicBezTo>
                <a:cubicBezTo>
                  <a:pt x="6" y="1"/>
                  <a:pt x="5" y="0"/>
                  <a:pt x="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1" name="Freeform 126"/>
          <p:cNvSpPr>
            <a:spLocks/>
          </p:cNvSpPr>
          <p:nvPr/>
        </p:nvSpPr>
        <p:spPr bwMode="auto">
          <a:xfrm>
            <a:off x="3621088" y="5003800"/>
            <a:ext cx="82550" cy="79375"/>
          </a:xfrm>
          <a:custGeom>
            <a:avLst/>
            <a:gdLst>
              <a:gd name="T0" fmla="*/ 3 w 49"/>
              <a:gd name="T1" fmla="*/ 0 h 47"/>
              <a:gd name="T2" fmla="*/ 2 w 49"/>
              <a:gd name="T3" fmla="*/ 0 h 47"/>
              <a:gd name="T4" fmla="*/ 0 w 49"/>
              <a:gd name="T5" fmla="*/ 3 h 47"/>
              <a:gd name="T6" fmla="*/ 1 w 49"/>
              <a:gd name="T7" fmla="*/ 19 h 47"/>
              <a:gd name="T8" fmla="*/ 3 w 49"/>
              <a:gd name="T9" fmla="*/ 20 h 47"/>
              <a:gd name="T10" fmla="*/ 7 w 49"/>
              <a:gd name="T11" fmla="*/ 22 h 47"/>
              <a:gd name="T12" fmla="*/ 18 w 49"/>
              <a:gd name="T13" fmla="*/ 28 h 47"/>
              <a:gd name="T14" fmla="*/ 35 w 49"/>
              <a:gd name="T15" fmla="*/ 40 h 47"/>
              <a:gd name="T16" fmla="*/ 41 w 49"/>
              <a:gd name="T17" fmla="*/ 45 h 47"/>
              <a:gd name="T18" fmla="*/ 43 w 49"/>
              <a:gd name="T19" fmla="*/ 46 h 47"/>
              <a:gd name="T20" fmla="*/ 43 w 49"/>
              <a:gd name="T21" fmla="*/ 46 h 47"/>
              <a:gd name="T22" fmla="*/ 43 w 49"/>
              <a:gd name="T23" fmla="*/ 46 h 47"/>
              <a:gd name="T24" fmla="*/ 45 w 49"/>
              <a:gd name="T25" fmla="*/ 47 h 47"/>
              <a:gd name="T26" fmla="*/ 48 w 49"/>
              <a:gd name="T27" fmla="*/ 46 h 47"/>
              <a:gd name="T28" fmla="*/ 47 w 49"/>
              <a:gd name="T29" fmla="*/ 41 h 47"/>
              <a:gd name="T30" fmla="*/ 45 w 49"/>
              <a:gd name="T31" fmla="*/ 40 h 47"/>
              <a:gd name="T32" fmla="*/ 30 w 49"/>
              <a:gd name="T33" fmla="*/ 29 h 47"/>
              <a:gd name="T34" fmla="*/ 16 w 49"/>
              <a:gd name="T35" fmla="*/ 20 h 47"/>
              <a:gd name="T36" fmla="*/ 10 w 49"/>
              <a:gd name="T37" fmla="*/ 17 h 47"/>
              <a:gd name="T38" fmla="*/ 7 w 49"/>
              <a:gd name="T39" fmla="*/ 15 h 47"/>
              <a:gd name="T40" fmla="*/ 6 w 49"/>
              <a:gd name="T41" fmla="*/ 2 h 47"/>
              <a:gd name="T42" fmla="*/ 3 w 49"/>
              <a:gd name="T43"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9" h="47">
                <a:moveTo>
                  <a:pt x="3" y="0"/>
                </a:moveTo>
                <a:cubicBezTo>
                  <a:pt x="3" y="0"/>
                  <a:pt x="3" y="0"/>
                  <a:pt x="2" y="0"/>
                </a:cubicBezTo>
                <a:cubicBezTo>
                  <a:pt x="1" y="0"/>
                  <a:pt x="0" y="1"/>
                  <a:pt x="0" y="3"/>
                </a:cubicBezTo>
                <a:cubicBezTo>
                  <a:pt x="1" y="19"/>
                  <a:pt x="1" y="19"/>
                  <a:pt x="1" y="19"/>
                </a:cubicBezTo>
                <a:cubicBezTo>
                  <a:pt x="3" y="20"/>
                  <a:pt x="3" y="20"/>
                  <a:pt x="3" y="20"/>
                </a:cubicBezTo>
                <a:cubicBezTo>
                  <a:pt x="4" y="20"/>
                  <a:pt x="5" y="21"/>
                  <a:pt x="7" y="22"/>
                </a:cubicBezTo>
                <a:cubicBezTo>
                  <a:pt x="10" y="23"/>
                  <a:pt x="14" y="26"/>
                  <a:pt x="18" y="28"/>
                </a:cubicBezTo>
                <a:cubicBezTo>
                  <a:pt x="24" y="32"/>
                  <a:pt x="30" y="37"/>
                  <a:pt x="35" y="40"/>
                </a:cubicBezTo>
                <a:cubicBezTo>
                  <a:pt x="38" y="42"/>
                  <a:pt x="40" y="44"/>
                  <a:pt x="41" y="45"/>
                </a:cubicBezTo>
                <a:cubicBezTo>
                  <a:pt x="42" y="45"/>
                  <a:pt x="42" y="46"/>
                  <a:pt x="43" y="46"/>
                </a:cubicBezTo>
                <a:cubicBezTo>
                  <a:pt x="43" y="46"/>
                  <a:pt x="43" y="46"/>
                  <a:pt x="43" y="46"/>
                </a:cubicBezTo>
                <a:cubicBezTo>
                  <a:pt x="43" y="46"/>
                  <a:pt x="43" y="46"/>
                  <a:pt x="43" y="46"/>
                </a:cubicBezTo>
                <a:cubicBezTo>
                  <a:pt x="44" y="47"/>
                  <a:pt x="45" y="47"/>
                  <a:pt x="45" y="47"/>
                </a:cubicBezTo>
                <a:cubicBezTo>
                  <a:pt x="46" y="47"/>
                  <a:pt x="47" y="46"/>
                  <a:pt x="48" y="46"/>
                </a:cubicBezTo>
                <a:cubicBezTo>
                  <a:pt x="49" y="44"/>
                  <a:pt x="48" y="42"/>
                  <a:pt x="47" y="41"/>
                </a:cubicBezTo>
                <a:cubicBezTo>
                  <a:pt x="47" y="41"/>
                  <a:pt x="46" y="41"/>
                  <a:pt x="45" y="40"/>
                </a:cubicBezTo>
                <a:cubicBezTo>
                  <a:pt x="42" y="38"/>
                  <a:pt x="36" y="34"/>
                  <a:pt x="30" y="29"/>
                </a:cubicBezTo>
                <a:cubicBezTo>
                  <a:pt x="25" y="26"/>
                  <a:pt x="20" y="23"/>
                  <a:pt x="16" y="20"/>
                </a:cubicBezTo>
                <a:cubicBezTo>
                  <a:pt x="14" y="19"/>
                  <a:pt x="12" y="18"/>
                  <a:pt x="10" y="17"/>
                </a:cubicBezTo>
                <a:cubicBezTo>
                  <a:pt x="9" y="16"/>
                  <a:pt x="8" y="15"/>
                  <a:pt x="7" y="15"/>
                </a:cubicBezTo>
                <a:cubicBezTo>
                  <a:pt x="6" y="2"/>
                  <a:pt x="6" y="2"/>
                  <a:pt x="6" y="2"/>
                </a:cubicBezTo>
                <a:cubicBezTo>
                  <a:pt x="6" y="1"/>
                  <a:pt x="4" y="0"/>
                  <a:pt x="3"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2" name="Freeform 127"/>
          <p:cNvSpPr>
            <a:spLocks/>
          </p:cNvSpPr>
          <p:nvPr/>
        </p:nvSpPr>
        <p:spPr bwMode="auto">
          <a:xfrm>
            <a:off x="3281363" y="5334000"/>
            <a:ext cx="42863" cy="20637"/>
          </a:xfrm>
          <a:custGeom>
            <a:avLst/>
            <a:gdLst>
              <a:gd name="T0" fmla="*/ 4 w 25"/>
              <a:gd name="T1" fmla="*/ 0 h 12"/>
              <a:gd name="T2" fmla="*/ 1 w 25"/>
              <a:gd name="T3" fmla="*/ 2 h 12"/>
              <a:gd name="T4" fmla="*/ 3 w 25"/>
              <a:gd name="T5" fmla="*/ 5 h 12"/>
              <a:gd name="T6" fmla="*/ 19 w 25"/>
              <a:gd name="T7" fmla="*/ 11 h 12"/>
              <a:gd name="T8" fmla="*/ 20 w 25"/>
              <a:gd name="T9" fmla="*/ 12 h 12"/>
              <a:gd name="T10" fmla="*/ 21 w 25"/>
              <a:gd name="T11" fmla="*/ 12 h 12"/>
              <a:gd name="T12" fmla="*/ 24 w 25"/>
              <a:gd name="T13" fmla="*/ 10 h 12"/>
              <a:gd name="T14" fmla="*/ 22 w 25"/>
              <a:gd name="T15" fmla="*/ 6 h 12"/>
              <a:gd name="T16" fmla="*/ 22 w 25"/>
              <a:gd name="T17" fmla="*/ 6 h 12"/>
              <a:gd name="T18" fmla="*/ 5 w 25"/>
              <a:gd name="T19" fmla="*/ 0 h 12"/>
              <a:gd name="T20" fmla="*/ 4 w 25"/>
              <a:gd name="T2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12">
                <a:moveTo>
                  <a:pt x="4" y="0"/>
                </a:moveTo>
                <a:cubicBezTo>
                  <a:pt x="2" y="0"/>
                  <a:pt x="1" y="0"/>
                  <a:pt x="1" y="2"/>
                </a:cubicBezTo>
                <a:cubicBezTo>
                  <a:pt x="0" y="3"/>
                  <a:pt x="1" y="5"/>
                  <a:pt x="3" y="5"/>
                </a:cubicBezTo>
                <a:cubicBezTo>
                  <a:pt x="19" y="11"/>
                  <a:pt x="19" y="11"/>
                  <a:pt x="19" y="11"/>
                </a:cubicBezTo>
                <a:cubicBezTo>
                  <a:pt x="20" y="12"/>
                  <a:pt x="20" y="12"/>
                  <a:pt x="20" y="12"/>
                </a:cubicBezTo>
                <a:cubicBezTo>
                  <a:pt x="21" y="12"/>
                  <a:pt x="21" y="12"/>
                  <a:pt x="21" y="12"/>
                </a:cubicBezTo>
                <a:cubicBezTo>
                  <a:pt x="23" y="12"/>
                  <a:pt x="24" y="11"/>
                  <a:pt x="24" y="10"/>
                </a:cubicBezTo>
                <a:cubicBezTo>
                  <a:pt x="25" y="8"/>
                  <a:pt x="24" y="6"/>
                  <a:pt x="22" y="6"/>
                </a:cubicBezTo>
                <a:cubicBezTo>
                  <a:pt x="22" y="6"/>
                  <a:pt x="22" y="6"/>
                  <a:pt x="22" y="6"/>
                </a:cubicBezTo>
                <a:cubicBezTo>
                  <a:pt x="5" y="0"/>
                  <a:pt x="5" y="0"/>
                  <a:pt x="5" y="0"/>
                </a:cubicBezTo>
                <a:cubicBezTo>
                  <a:pt x="4" y="0"/>
                  <a:pt x="4" y="0"/>
                  <a:pt x="4" y="0"/>
                </a:cubicBezTo>
              </a:path>
            </a:pathLst>
          </a:custGeom>
          <a:solidFill>
            <a:srgbClr val="E0A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4" name="Freeform 133"/>
          <p:cNvSpPr>
            <a:spLocks/>
          </p:cNvSpPr>
          <p:nvPr/>
        </p:nvSpPr>
        <p:spPr bwMode="auto">
          <a:xfrm>
            <a:off x="2811463" y="2381250"/>
            <a:ext cx="1247775" cy="2482850"/>
          </a:xfrm>
          <a:custGeom>
            <a:avLst/>
            <a:gdLst>
              <a:gd name="T0" fmla="*/ 363 w 735"/>
              <a:gd name="T1" fmla="*/ 707 h 1464"/>
              <a:gd name="T2" fmla="*/ 382 w 735"/>
              <a:gd name="T3" fmla="*/ 999 h 1464"/>
              <a:gd name="T4" fmla="*/ 461 w 735"/>
              <a:gd name="T5" fmla="*/ 1172 h 1464"/>
              <a:gd name="T6" fmla="*/ 490 w 735"/>
              <a:gd name="T7" fmla="*/ 1274 h 1464"/>
              <a:gd name="T8" fmla="*/ 357 w 735"/>
              <a:gd name="T9" fmla="*/ 1270 h 1464"/>
              <a:gd name="T10" fmla="*/ 262 w 735"/>
              <a:gd name="T11" fmla="*/ 1373 h 1464"/>
              <a:gd name="T12" fmla="*/ 262 w 735"/>
              <a:gd name="T13" fmla="*/ 1464 h 1464"/>
              <a:gd name="T14" fmla="*/ 312 w 735"/>
              <a:gd name="T15" fmla="*/ 1464 h 1464"/>
              <a:gd name="T16" fmla="*/ 308 w 735"/>
              <a:gd name="T17" fmla="*/ 1402 h 1464"/>
              <a:gd name="T18" fmla="*/ 370 w 735"/>
              <a:gd name="T19" fmla="*/ 1358 h 1464"/>
              <a:gd name="T20" fmla="*/ 506 w 735"/>
              <a:gd name="T21" fmla="*/ 1400 h 1464"/>
              <a:gd name="T22" fmla="*/ 715 w 735"/>
              <a:gd name="T23" fmla="*/ 1212 h 1464"/>
              <a:gd name="T24" fmla="*/ 651 w 735"/>
              <a:gd name="T25" fmla="*/ 1067 h 1464"/>
              <a:gd name="T26" fmla="*/ 527 w 735"/>
              <a:gd name="T27" fmla="*/ 1117 h 1464"/>
              <a:gd name="T28" fmla="*/ 454 w 735"/>
              <a:gd name="T29" fmla="*/ 1069 h 1464"/>
              <a:gd name="T30" fmla="*/ 423 w 735"/>
              <a:gd name="T31" fmla="*/ 867 h 1464"/>
              <a:gd name="T32" fmla="*/ 406 w 735"/>
              <a:gd name="T33" fmla="*/ 702 h 1464"/>
              <a:gd name="T34" fmla="*/ 349 w 735"/>
              <a:gd name="T35" fmla="*/ 186 h 1464"/>
              <a:gd name="T36" fmla="*/ 329 w 735"/>
              <a:gd name="T37" fmla="*/ 107 h 1464"/>
              <a:gd name="T38" fmla="*/ 281 w 735"/>
              <a:gd name="T39" fmla="*/ 70 h 1464"/>
              <a:gd name="T40" fmla="*/ 251 w 735"/>
              <a:gd name="T41" fmla="*/ 12 h 1464"/>
              <a:gd name="T42" fmla="*/ 204 w 735"/>
              <a:gd name="T43" fmla="*/ 3 h 1464"/>
              <a:gd name="T44" fmla="*/ 161 w 735"/>
              <a:gd name="T45" fmla="*/ 2 h 1464"/>
              <a:gd name="T46" fmla="*/ 91 w 735"/>
              <a:gd name="T47" fmla="*/ 19 h 1464"/>
              <a:gd name="T48" fmla="*/ 38 w 735"/>
              <a:gd name="T49" fmla="*/ 75 h 1464"/>
              <a:gd name="T50" fmla="*/ 2 w 735"/>
              <a:gd name="T51" fmla="*/ 135 h 1464"/>
              <a:gd name="T52" fmla="*/ 19 w 735"/>
              <a:gd name="T53" fmla="*/ 143 h 1464"/>
              <a:gd name="T54" fmla="*/ 46 w 735"/>
              <a:gd name="T55" fmla="*/ 105 h 1464"/>
              <a:gd name="T56" fmla="*/ 134 w 735"/>
              <a:gd name="T57" fmla="*/ 59 h 1464"/>
              <a:gd name="T58" fmla="*/ 191 w 735"/>
              <a:gd name="T59" fmla="*/ 68 h 1464"/>
              <a:gd name="T60" fmla="*/ 229 w 735"/>
              <a:gd name="T61" fmla="*/ 104 h 1464"/>
              <a:gd name="T62" fmla="*/ 272 w 735"/>
              <a:gd name="T63" fmla="*/ 139 h 1464"/>
              <a:gd name="T64" fmla="*/ 265 w 735"/>
              <a:gd name="T65" fmla="*/ 168 h 1464"/>
              <a:gd name="T66" fmla="*/ 199 w 735"/>
              <a:gd name="T67" fmla="*/ 138 h 1464"/>
              <a:gd name="T68" fmla="*/ 132 w 735"/>
              <a:gd name="T69" fmla="*/ 143 h 1464"/>
              <a:gd name="T70" fmla="*/ 106 w 735"/>
              <a:gd name="T71" fmla="*/ 166 h 1464"/>
              <a:gd name="T72" fmla="*/ 88 w 735"/>
              <a:gd name="T73" fmla="*/ 199 h 1464"/>
              <a:gd name="T74" fmla="*/ 73 w 735"/>
              <a:gd name="T75" fmla="*/ 186 h 1464"/>
              <a:gd name="T76" fmla="*/ 70 w 735"/>
              <a:gd name="T77" fmla="*/ 159 h 1464"/>
              <a:gd name="T78" fmla="*/ 57 w 735"/>
              <a:gd name="T79" fmla="*/ 190 h 1464"/>
              <a:gd name="T80" fmla="*/ 57 w 735"/>
              <a:gd name="T81" fmla="*/ 213 h 1464"/>
              <a:gd name="T82" fmla="*/ 66 w 735"/>
              <a:gd name="T83" fmla="*/ 224 h 1464"/>
              <a:gd name="T84" fmla="*/ 72 w 735"/>
              <a:gd name="T85" fmla="*/ 261 h 1464"/>
              <a:gd name="T86" fmla="*/ 85 w 735"/>
              <a:gd name="T87" fmla="*/ 222 h 1464"/>
              <a:gd name="T88" fmla="*/ 95 w 735"/>
              <a:gd name="T89" fmla="*/ 237 h 1464"/>
              <a:gd name="T90" fmla="*/ 134 w 735"/>
              <a:gd name="T91" fmla="*/ 261 h 1464"/>
              <a:gd name="T92" fmla="*/ 135 w 735"/>
              <a:gd name="T93" fmla="*/ 240 h 1464"/>
              <a:gd name="T94" fmla="*/ 104 w 735"/>
              <a:gd name="T95" fmla="*/ 225 h 1464"/>
              <a:gd name="T96" fmla="*/ 128 w 735"/>
              <a:gd name="T97" fmla="*/ 188 h 1464"/>
              <a:gd name="T98" fmla="*/ 193 w 735"/>
              <a:gd name="T99" fmla="*/ 177 h 1464"/>
              <a:gd name="T100" fmla="*/ 264 w 735"/>
              <a:gd name="T101" fmla="*/ 197 h 1464"/>
              <a:gd name="T102" fmla="*/ 277 w 735"/>
              <a:gd name="T103" fmla="*/ 222 h 1464"/>
              <a:gd name="T104" fmla="*/ 279 w 735"/>
              <a:gd name="T105" fmla="*/ 247 h 1464"/>
              <a:gd name="T106" fmla="*/ 288 w 735"/>
              <a:gd name="T107" fmla="*/ 270 h 1464"/>
              <a:gd name="T108" fmla="*/ 266 w 735"/>
              <a:gd name="T109" fmla="*/ 300 h 1464"/>
              <a:gd name="T110" fmla="*/ 308 w 735"/>
              <a:gd name="T111" fmla="*/ 354 h 1464"/>
              <a:gd name="T112" fmla="*/ 363 w 735"/>
              <a:gd name="T113" fmla="*/ 707 h 1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35" h="1464">
                <a:moveTo>
                  <a:pt x="363" y="707"/>
                </a:moveTo>
                <a:cubicBezTo>
                  <a:pt x="365" y="743"/>
                  <a:pt x="382" y="926"/>
                  <a:pt x="382" y="999"/>
                </a:cubicBezTo>
                <a:cubicBezTo>
                  <a:pt x="382" y="1073"/>
                  <a:pt x="438" y="1152"/>
                  <a:pt x="461" y="1172"/>
                </a:cubicBezTo>
                <a:cubicBezTo>
                  <a:pt x="485" y="1191"/>
                  <a:pt x="541" y="1237"/>
                  <a:pt x="490" y="1274"/>
                </a:cubicBezTo>
                <a:cubicBezTo>
                  <a:pt x="440" y="1311"/>
                  <a:pt x="411" y="1282"/>
                  <a:pt x="357" y="1270"/>
                </a:cubicBezTo>
                <a:cubicBezTo>
                  <a:pt x="303" y="1259"/>
                  <a:pt x="268" y="1334"/>
                  <a:pt x="262" y="1373"/>
                </a:cubicBezTo>
                <a:cubicBezTo>
                  <a:pt x="256" y="1412"/>
                  <a:pt x="262" y="1464"/>
                  <a:pt x="262" y="1464"/>
                </a:cubicBezTo>
                <a:cubicBezTo>
                  <a:pt x="312" y="1464"/>
                  <a:pt x="312" y="1464"/>
                  <a:pt x="312" y="1464"/>
                </a:cubicBezTo>
                <a:cubicBezTo>
                  <a:pt x="312" y="1464"/>
                  <a:pt x="310" y="1456"/>
                  <a:pt x="308" y="1402"/>
                </a:cubicBezTo>
                <a:cubicBezTo>
                  <a:pt x="306" y="1348"/>
                  <a:pt x="353" y="1350"/>
                  <a:pt x="370" y="1358"/>
                </a:cubicBezTo>
                <a:cubicBezTo>
                  <a:pt x="388" y="1365"/>
                  <a:pt x="392" y="1392"/>
                  <a:pt x="506" y="1400"/>
                </a:cubicBezTo>
                <a:cubicBezTo>
                  <a:pt x="620" y="1408"/>
                  <a:pt x="696" y="1292"/>
                  <a:pt x="715" y="1212"/>
                </a:cubicBezTo>
                <a:cubicBezTo>
                  <a:pt x="735" y="1133"/>
                  <a:pt x="688" y="1082"/>
                  <a:pt x="651" y="1067"/>
                </a:cubicBezTo>
                <a:cubicBezTo>
                  <a:pt x="614" y="1051"/>
                  <a:pt x="541" y="1102"/>
                  <a:pt x="527" y="1117"/>
                </a:cubicBezTo>
                <a:cubicBezTo>
                  <a:pt x="514" y="1133"/>
                  <a:pt x="487" y="1112"/>
                  <a:pt x="454" y="1069"/>
                </a:cubicBezTo>
                <a:cubicBezTo>
                  <a:pt x="421" y="1026"/>
                  <a:pt x="424" y="910"/>
                  <a:pt x="423" y="867"/>
                </a:cubicBezTo>
                <a:cubicBezTo>
                  <a:pt x="421" y="814"/>
                  <a:pt x="409" y="735"/>
                  <a:pt x="406" y="702"/>
                </a:cubicBezTo>
                <a:cubicBezTo>
                  <a:pt x="402" y="641"/>
                  <a:pt x="353" y="220"/>
                  <a:pt x="349" y="186"/>
                </a:cubicBezTo>
                <a:cubicBezTo>
                  <a:pt x="345" y="152"/>
                  <a:pt x="345" y="118"/>
                  <a:pt x="329" y="107"/>
                </a:cubicBezTo>
                <a:cubicBezTo>
                  <a:pt x="313" y="96"/>
                  <a:pt x="290" y="88"/>
                  <a:pt x="281" y="70"/>
                </a:cubicBezTo>
                <a:cubicBezTo>
                  <a:pt x="272" y="52"/>
                  <a:pt x="268" y="12"/>
                  <a:pt x="251" y="12"/>
                </a:cubicBezTo>
                <a:cubicBezTo>
                  <a:pt x="233" y="12"/>
                  <a:pt x="215" y="5"/>
                  <a:pt x="204" y="3"/>
                </a:cubicBezTo>
                <a:cubicBezTo>
                  <a:pt x="193" y="2"/>
                  <a:pt x="184" y="3"/>
                  <a:pt x="161" y="2"/>
                </a:cubicBezTo>
                <a:cubicBezTo>
                  <a:pt x="138" y="0"/>
                  <a:pt x="106" y="7"/>
                  <a:pt x="91" y="19"/>
                </a:cubicBezTo>
                <a:cubicBezTo>
                  <a:pt x="77" y="32"/>
                  <a:pt x="45" y="64"/>
                  <a:pt x="38" y="75"/>
                </a:cubicBezTo>
                <a:cubicBezTo>
                  <a:pt x="30" y="86"/>
                  <a:pt x="7" y="127"/>
                  <a:pt x="2" y="135"/>
                </a:cubicBezTo>
                <a:cubicBezTo>
                  <a:pt x="0" y="139"/>
                  <a:pt x="19" y="143"/>
                  <a:pt x="19" y="143"/>
                </a:cubicBezTo>
                <a:cubicBezTo>
                  <a:pt x="19" y="143"/>
                  <a:pt x="32" y="122"/>
                  <a:pt x="46" y="105"/>
                </a:cubicBezTo>
                <a:cubicBezTo>
                  <a:pt x="61" y="89"/>
                  <a:pt x="97" y="59"/>
                  <a:pt x="134" y="59"/>
                </a:cubicBezTo>
                <a:cubicBezTo>
                  <a:pt x="172" y="59"/>
                  <a:pt x="184" y="55"/>
                  <a:pt x="191" y="68"/>
                </a:cubicBezTo>
                <a:cubicBezTo>
                  <a:pt x="199" y="80"/>
                  <a:pt x="217" y="95"/>
                  <a:pt x="229" y="104"/>
                </a:cubicBezTo>
                <a:cubicBezTo>
                  <a:pt x="242" y="113"/>
                  <a:pt x="268" y="127"/>
                  <a:pt x="272" y="139"/>
                </a:cubicBezTo>
                <a:cubicBezTo>
                  <a:pt x="276" y="152"/>
                  <a:pt x="285" y="181"/>
                  <a:pt x="265" y="168"/>
                </a:cubicBezTo>
                <a:cubicBezTo>
                  <a:pt x="245" y="156"/>
                  <a:pt x="218" y="138"/>
                  <a:pt x="199" y="138"/>
                </a:cubicBezTo>
                <a:cubicBezTo>
                  <a:pt x="179" y="138"/>
                  <a:pt x="143" y="139"/>
                  <a:pt x="132" y="143"/>
                </a:cubicBezTo>
                <a:cubicBezTo>
                  <a:pt x="122" y="147"/>
                  <a:pt x="113" y="156"/>
                  <a:pt x="106" y="166"/>
                </a:cubicBezTo>
                <a:cubicBezTo>
                  <a:pt x="98" y="177"/>
                  <a:pt x="95" y="191"/>
                  <a:pt x="88" y="199"/>
                </a:cubicBezTo>
                <a:cubicBezTo>
                  <a:pt x="80" y="206"/>
                  <a:pt x="73" y="199"/>
                  <a:pt x="73" y="186"/>
                </a:cubicBezTo>
                <a:cubicBezTo>
                  <a:pt x="73" y="173"/>
                  <a:pt x="75" y="159"/>
                  <a:pt x="70" y="159"/>
                </a:cubicBezTo>
                <a:cubicBezTo>
                  <a:pt x="64" y="159"/>
                  <a:pt x="66" y="184"/>
                  <a:pt x="57" y="190"/>
                </a:cubicBezTo>
                <a:cubicBezTo>
                  <a:pt x="57" y="213"/>
                  <a:pt x="57" y="213"/>
                  <a:pt x="57" y="213"/>
                </a:cubicBezTo>
                <a:cubicBezTo>
                  <a:pt x="57" y="213"/>
                  <a:pt x="68" y="216"/>
                  <a:pt x="66" y="224"/>
                </a:cubicBezTo>
                <a:cubicBezTo>
                  <a:pt x="64" y="231"/>
                  <a:pt x="64" y="261"/>
                  <a:pt x="72" y="261"/>
                </a:cubicBezTo>
                <a:cubicBezTo>
                  <a:pt x="79" y="261"/>
                  <a:pt x="78" y="222"/>
                  <a:pt x="85" y="222"/>
                </a:cubicBezTo>
                <a:cubicBezTo>
                  <a:pt x="92" y="222"/>
                  <a:pt x="95" y="230"/>
                  <a:pt x="95" y="237"/>
                </a:cubicBezTo>
                <a:cubicBezTo>
                  <a:pt x="95" y="244"/>
                  <a:pt x="119" y="265"/>
                  <a:pt x="134" y="261"/>
                </a:cubicBezTo>
                <a:cubicBezTo>
                  <a:pt x="148" y="256"/>
                  <a:pt x="144" y="246"/>
                  <a:pt x="135" y="240"/>
                </a:cubicBezTo>
                <a:cubicBezTo>
                  <a:pt x="125" y="234"/>
                  <a:pt x="109" y="237"/>
                  <a:pt x="104" y="225"/>
                </a:cubicBezTo>
                <a:cubicBezTo>
                  <a:pt x="99" y="213"/>
                  <a:pt x="117" y="196"/>
                  <a:pt x="128" y="188"/>
                </a:cubicBezTo>
                <a:cubicBezTo>
                  <a:pt x="138" y="179"/>
                  <a:pt x="177" y="177"/>
                  <a:pt x="193" y="177"/>
                </a:cubicBezTo>
                <a:cubicBezTo>
                  <a:pt x="210" y="177"/>
                  <a:pt x="253" y="181"/>
                  <a:pt x="264" y="197"/>
                </a:cubicBezTo>
                <a:cubicBezTo>
                  <a:pt x="274" y="214"/>
                  <a:pt x="277" y="212"/>
                  <a:pt x="277" y="222"/>
                </a:cubicBezTo>
                <a:cubicBezTo>
                  <a:pt x="277" y="233"/>
                  <a:pt x="276" y="243"/>
                  <a:pt x="279" y="247"/>
                </a:cubicBezTo>
                <a:cubicBezTo>
                  <a:pt x="283" y="252"/>
                  <a:pt x="295" y="259"/>
                  <a:pt x="288" y="270"/>
                </a:cubicBezTo>
                <a:cubicBezTo>
                  <a:pt x="280" y="281"/>
                  <a:pt x="261" y="294"/>
                  <a:pt x="266" y="300"/>
                </a:cubicBezTo>
                <a:cubicBezTo>
                  <a:pt x="271" y="306"/>
                  <a:pt x="305" y="342"/>
                  <a:pt x="308" y="354"/>
                </a:cubicBezTo>
                <a:cubicBezTo>
                  <a:pt x="310" y="366"/>
                  <a:pt x="363" y="707"/>
                  <a:pt x="363" y="707"/>
                </a:cubicBezTo>
              </a:path>
            </a:pathLst>
          </a:custGeom>
          <a:solidFill>
            <a:srgbClr val="DA8D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5" name="Freeform 134"/>
          <p:cNvSpPr>
            <a:spLocks noEditPoints="1"/>
          </p:cNvSpPr>
          <p:nvPr/>
        </p:nvSpPr>
        <p:spPr bwMode="auto">
          <a:xfrm>
            <a:off x="3273426" y="4230688"/>
            <a:ext cx="730250" cy="627062"/>
          </a:xfrm>
          <a:custGeom>
            <a:avLst/>
            <a:gdLst>
              <a:gd name="T0" fmla="*/ 59 w 430"/>
              <a:gd name="T1" fmla="*/ 234 h 370"/>
              <a:gd name="T2" fmla="*/ 47 w 430"/>
              <a:gd name="T3" fmla="*/ 242 h 370"/>
              <a:gd name="T4" fmla="*/ 15 w 430"/>
              <a:gd name="T5" fmla="*/ 258 h 370"/>
              <a:gd name="T6" fmla="*/ 5 w 430"/>
              <a:gd name="T7" fmla="*/ 370 h 370"/>
              <a:gd name="T8" fmla="*/ 16 w 430"/>
              <a:gd name="T9" fmla="*/ 368 h 370"/>
              <a:gd name="T10" fmla="*/ 23 w 430"/>
              <a:gd name="T11" fmla="*/ 369 h 370"/>
              <a:gd name="T12" fmla="*/ 61 w 430"/>
              <a:gd name="T13" fmla="*/ 250 h 370"/>
              <a:gd name="T14" fmla="*/ 59 w 430"/>
              <a:gd name="T15" fmla="*/ 234 h 370"/>
              <a:gd name="T16" fmla="*/ 354 w 430"/>
              <a:gd name="T17" fmla="*/ 0 h 370"/>
              <a:gd name="T18" fmla="*/ 338 w 430"/>
              <a:gd name="T19" fmla="*/ 3 h 370"/>
              <a:gd name="T20" fmla="*/ 334 w 430"/>
              <a:gd name="T21" fmla="*/ 11 h 370"/>
              <a:gd name="T22" fmla="*/ 258 w 430"/>
              <a:gd name="T23" fmla="*/ 108 h 370"/>
              <a:gd name="T24" fmla="*/ 275 w 430"/>
              <a:gd name="T25" fmla="*/ 130 h 370"/>
              <a:gd name="T26" fmla="*/ 233 w 430"/>
              <a:gd name="T27" fmla="*/ 232 h 370"/>
              <a:gd name="T28" fmla="*/ 209 w 430"/>
              <a:gd name="T29" fmla="*/ 236 h 370"/>
              <a:gd name="T30" fmla="*/ 145 w 430"/>
              <a:gd name="T31" fmla="*/ 224 h 370"/>
              <a:gd name="T32" fmla="*/ 89 w 430"/>
              <a:gd name="T33" fmla="*/ 211 h 370"/>
              <a:gd name="T34" fmla="*/ 69 w 430"/>
              <a:gd name="T35" fmla="*/ 228 h 370"/>
              <a:gd name="T36" fmla="*/ 69 w 430"/>
              <a:gd name="T37" fmla="*/ 249 h 370"/>
              <a:gd name="T38" fmla="*/ 70 w 430"/>
              <a:gd name="T39" fmla="*/ 249 h 370"/>
              <a:gd name="T40" fmla="*/ 136 w 430"/>
              <a:gd name="T41" fmla="*/ 271 h 370"/>
              <a:gd name="T42" fmla="*/ 212 w 430"/>
              <a:gd name="T43" fmla="*/ 290 h 370"/>
              <a:gd name="T44" fmla="*/ 355 w 430"/>
              <a:gd name="T45" fmla="*/ 224 h 370"/>
              <a:gd name="T46" fmla="*/ 376 w 430"/>
              <a:gd name="T47" fmla="*/ 7 h 370"/>
              <a:gd name="T48" fmla="*/ 354 w 430"/>
              <a:gd name="T49" fmla="*/ 0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30" h="370">
                <a:moveTo>
                  <a:pt x="59" y="234"/>
                </a:moveTo>
                <a:cubicBezTo>
                  <a:pt x="55" y="237"/>
                  <a:pt x="51" y="240"/>
                  <a:pt x="47" y="242"/>
                </a:cubicBezTo>
                <a:cubicBezTo>
                  <a:pt x="37" y="248"/>
                  <a:pt x="27" y="253"/>
                  <a:pt x="15" y="258"/>
                </a:cubicBezTo>
                <a:cubicBezTo>
                  <a:pt x="0" y="296"/>
                  <a:pt x="3" y="347"/>
                  <a:pt x="5" y="370"/>
                </a:cubicBezTo>
                <a:cubicBezTo>
                  <a:pt x="8" y="369"/>
                  <a:pt x="12" y="368"/>
                  <a:pt x="16" y="368"/>
                </a:cubicBezTo>
                <a:cubicBezTo>
                  <a:pt x="18" y="368"/>
                  <a:pt x="21" y="369"/>
                  <a:pt x="23" y="369"/>
                </a:cubicBezTo>
                <a:cubicBezTo>
                  <a:pt x="14" y="289"/>
                  <a:pt x="30" y="255"/>
                  <a:pt x="61" y="250"/>
                </a:cubicBezTo>
                <a:cubicBezTo>
                  <a:pt x="61" y="245"/>
                  <a:pt x="60" y="240"/>
                  <a:pt x="59" y="234"/>
                </a:cubicBezTo>
                <a:moveTo>
                  <a:pt x="354" y="0"/>
                </a:moveTo>
                <a:cubicBezTo>
                  <a:pt x="349" y="0"/>
                  <a:pt x="344" y="1"/>
                  <a:pt x="338" y="3"/>
                </a:cubicBezTo>
                <a:cubicBezTo>
                  <a:pt x="337" y="6"/>
                  <a:pt x="335" y="8"/>
                  <a:pt x="334" y="11"/>
                </a:cubicBezTo>
                <a:cubicBezTo>
                  <a:pt x="320" y="40"/>
                  <a:pt x="292" y="82"/>
                  <a:pt x="258" y="108"/>
                </a:cubicBezTo>
                <a:cubicBezTo>
                  <a:pt x="262" y="113"/>
                  <a:pt x="268" y="120"/>
                  <a:pt x="275" y="130"/>
                </a:cubicBezTo>
                <a:cubicBezTo>
                  <a:pt x="293" y="158"/>
                  <a:pt x="299" y="205"/>
                  <a:pt x="233" y="232"/>
                </a:cubicBezTo>
                <a:cubicBezTo>
                  <a:pt x="226" y="235"/>
                  <a:pt x="218" y="236"/>
                  <a:pt x="209" y="236"/>
                </a:cubicBezTo>
                <a:cubicBezTo>
                  <a:pt x="189" y="236"/>
                  <a:pt x="167" y="230"/>
                  <a:pt x="145" y="224"/>
                </a:cubicBezTo>
                <a:cubicBezTo>
                  <a:pt x="126" y="218"/>
                  <a:pt x="106" y="213"/>
                  <a:pt x="89" y="211"/>
                </a:cubicBezTo>
                <a:cubicBezTo>
                  <a:pt x="83" y="217"/>
                  <a:pt x="76" y="222"/>
                  <a:pt x="69" y="228"/>
                </a:cubicBezTo>
                <a:cubicBezTo>
                  <a:pt x="69" y="234"/>
                  <a:pt x="69" y="241"/>
                  <a:pt x="69" y="249"/>
                </a:cubicBezTo>
                <a:cubicBezTo>
                  <a:pt x="70" y="249"/>
                  <a:pt x="70" y="249"/>
                  <a:pt x="70" y="249"/>
                </a:cubicBezTo>
                <a:cubicBezTo>
                  <a:pt x="89" y="249"/>
                  <a:pt x="111" y="257"/>
                  <a:pt x="136" y="271"/>
                </a:cubicBezTo>
                <a:cubicBezTo>
                  <a:pt x="159" y="284"/>
                  <a:pt x="185" y="290"/>
                  <a:pt x="212" y="290"/>
                </a:cubicBezTo>
                <a:cubicBezTo>
                  <a:pt x="258" y="290"/>
                  <a:pt x="308" y="270"/>
                  <a:pt x="355" y="224"/>
                </a:cubicBezTo>
                <a:cubicBezTo>
                  <a:pt x="430" y="152"/>
                  <a:pt x="410" y="33"/>
                  <a:pt x="376" y="7"/>
                </a:cubicBezTo>
                <a:cubicBezTo>
                  <a:pt x="370" y="3"/>
                  <a:pt x="362" y="0"/>
                  <a:pt x="354" y="0"/>
                </a:cubicBezTo>
              </a:path>
            </a:pathLst>
          </a:custGeom>
          <a:solidFill>
            <a:srgbClr val="E1A4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6" name="Freeform 135"/>
          <p:cNvSpPr>
            <a:spLocks/>
          </p:cNvSpPr>
          <p:nvPr/>
        </p:nvSpPr>
        <p:spPr bwMode="auto">
          <a:xfrm>
            <a:off x="3333751" y="4724400"/>
            <a:ext cx="46038" cy="49212"/>
          </a:xfrm>
          <a:custGeom>
            <a:avLst/>
            <a:gdLst>
              <a:gd name="T0" fmla="*/ 26 w 27"/>
              <a:gd name="T1" fmla="*/ 0 h 29"/>
              <a:gd name="T2" fmla="*/ 0 w 27"/>
              <a:gd name="T3" fmla="*/ 15 h 29"/>
              <a:gd name="T4" fmla="*/ 0 w 27"/>
              <a:gd name="T5" fmla="*/ 21 h 29"/>
              <a:gd name="T6" fmla="*/ 1 w 27"/>
              <a:gd name="T7" fmla="*/ 29 h 29"/>
              <a:gd name="T8" fmla="*/ 2 w 27"/>
              <a:gd name="T9" fmla="*/ 29 h 29"/>
              <a:gd name="T10" fmla="*/ 16 w 27"/>
              <a:gd name="T11" fmla="*/ 7 h 29"/>
              <a:gd name="T12" fmla="*/ 18 w 27"/>
              <a:gd name="T13" fmla="*/ 5 h 29"/>
              <a:gd name="T14" fmla="*/ 27 w 27"/>
              <a:gd name="T15" fmla="*/ 1 h 29"/>
              <a:gd name="T16" fmla="*/ 27 w 27"/>
              <a:gd name="T17" fmla="*/ 0 h 29"/>
              <a:gd name="T18" fmla="*/ 26 w 27"/>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 h="29">
                <a:moveTo>
                  <a:pt x="26" y="0"/>
                </a:moveTo>
                <a:cubicBezTo>
                  <a:pt x="16" y="0"/>
                  <a:pt x="7" y="5"/>
                  <a:pt x="0" y="15"/>
                </a:cubicBezTo>
                <a:cubicBezTo>
                  <a:pt x="0" y="17"/>
                  <a:pt x="0" y="19"/>
                  <a:pt x="0" y="21"/>
                </a:cubicBezTo>
                <a:cubicBezTo>
                  <a:pt x="0" y="24"/>
                  <a:pt x="1" y="27"/>
                  <a:pt x="1" y="29"/>
                </a:cubicBezTo>
                <a:cubicBezTo>
                  <a:pt x="1" y="29"/>
                  <a:pt x="2" y="29"/>
                  <a:pt x="2" y="29"/>
                </a:cubicBezTo>
                <a:cubicBezTo>
                  <a:pt x="5" y="19"/>
                  <a:pt x="9" y="12"/>
                  <a:pt x="16" y="7"/>
                </a:cubicBezTo>
                <a:cubicBezTo>
                  <a:pt x="16" y="6"/>
                  <a:pt x="17" y="5"/>
                  <a:pt x="18" y="5"/>
                </a:cubicBezTo>
                <a:cubicBezTo>
                  <a:pt x="21" y="4"/>
                  <a:pt x="24" y="2"/>
                  <a:pt x="27" y="1"/>
                </a:cubicBezTo>
                <a:cubicBezTo>
                  <a:pt x="27" y="1"/>
                  <a:pt x="27" y="0"/>
                  <a:pt x="27" y="0"/>
                </a:cubicBezTo>
                <a:cubicBezTo>
                  <a:pt x="27" y="0"/>
                  <a:pt x="26" y="0"/>
                  <a:pt x="26" y="0"/>
                </a:cubicBezTo>
              </a:path>
            </a:pathLst>
          </a:custGeom>
          <a:solidFill>
            <a:srgbClr val="E4A3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7" name="Freeform 136"/>
          <p:cNvSpPr>
            <a:spLocks noEditPoints="1"/>
          </p:cNvSpPr>
          <p:nvPr/>
        </p:nvSpPr>
        <p:spPr bwMode="auto">
          <a:xfrm>
            <a:off x="3335338" y="4732338"/>
            <a:ext cx="30163" cy="50800"/>
          </a:xfrm>
          <a:custGeom>
            <a:avLst/>
            <a:gdLst>
              <a:gd name="T0" fmla="*/ 1 w 17"/>
              <a:gd name="T1" fmla="*/ 24 h 30"/>
              <a:gd name="T2" fmla="*/ 0 w 17"/>
              <a:gd name="T3" fmla="*/ 24 h 30"/>
              <a:gd name="T4" fmla="*/ 0 w 17"/>
              <a:gd name="T5" fmla="*/ 30 h 30"/>
              <a:gd name="T6" fmla="*/ 1 w 17"/>
              <a:gd name="T7" fmla="*/ 24 h 30"/>
              <a:gd name="T8" fmla="*/ 17 w 17"/>
              <a:gd name="T9" fmla="*/ 0 h 30"/>
              <a:gd name="T10" fmla="*/ 15 w 17"/>
              <a:gd name="T11" fmla="*/ 2 h 30"/>
              <a:gd name="T12" fmla="*/ 17 w 17"/>
              <a:gd name="T13" fmla="*/ 0 h 30"/>
            </a:gdLst>
            <a:ahLst/>
            <a:cxnLst>
              <a:cxn ang="0">
                <a:pos x="T0" y="T1"/>
              </a:cxn>
              <a:cxn ang="0">
                <a:pos x="T2" y="T3"/>
              </a:cxn>
              <a:cxn ang="0">
                <a:pos x="T4" y="T5"/>
              </a:cxn>
              <a:cxn ang="0">
                <a:pos x="T6" y="T7"/>
              </a:cxn>
              <a:cxn ang="0">
                <a:pos x="T8" y="T9"/>
              </a:cxn>
              <a:cxn ang="0">
                <a:pos x="T10" y="T11"/>
              </a:cxn>
              <a:cxn ang="0">
                <a:pos x="T12" y="T13"/>
              </a:cxn>
            </a:cxnLst>
            <a:rect l="0" t="0" r="r" b="b"/>
            <a:pathLst>
              <a:path w="17" h="30">
                <a:moveTo>
                  <a:pt x="1" y="24"/>
                </a:moveTo>
                <a:cubicBezTo>
                  <a:pt x="1" y="24"/>
                  <a:pt x="0" y="24"/>
                  <a:pt x="0" y="24"/>
                </a:cubicBezTo>
                <a:cubicBezTo>
                  <a:pt x="0" y="26"/>
                  <a:pt x="0" y="28"/>
                  <a:pt x="0" y="30"/>
                </a:cubicBezTo>
                <a:cubicBezTo>
                  <a:pt x="0" y="28"/>
                  <a:pt x="1" y="26"/>
                  <a:pt x="1" y="24"/>
                </a:cubicBezTo>
                <a:moveTo>
                  <a:pt x="17" y="0"/>
                </a:moveTo>
                <a:cubicBezTo>
                  <a:pt x="16" y="0"/>
                  <a:pt x="15" y="1"/>
                  <a:pt x="15" y="2"/>
                </a:cubicBezTo>
                <a:cubicBezTo>
                  <a:pt x="16" y="1"/>
                  <a:pt x="16" y="1"/>
                  <a:pt x="17" y="0"/>
                </a:cubicBezTo>
              </a:path>
            </a:pathLst>
          </a:custGeom>
          <a:solidFill>
            <a:srgbClr val="E17C0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8" name="Freeform 137"/>
          <p:cNvSpPr>
            <a:spLocks/>
          </p:cNvSpPr>
          <p:nvPr/>
        </p:nvSpPr>
        <p:spPr bwMode="auto">
          <a:xfrm>
            <a:off x="3317876" y="4749800"/>
            <a:ext cx="20638" cy="111125"/>
          </a:xfrm>
          <a:custGeom>
            <a:avLst/>
            <a:gdLst>
              <a:gd name="T0" fmla="*/ 10 w 12"/>
              <a:gd name="T1" fmla="*/ 0 h 66"/>
              <a:gd name="T2" fmla="*/ 1 w 12"/>
              <a:gd name="T3" fmla="*/ 32 h 66"/>
              <a:gd name="T4" fmla="*/ 0 w 12"/>
              <a:gd name="T5" fmla="*/ 63 h 66"/>
              <a:gd name="T6" fmla="*/ 3 w 12"/>
              <a:gd name="T7" fmla="*/ 64 h 66"/>
              <a:gd name="T8" fmla="*/ 12 w 12"/>
              <a:gd name="T9" fmla="*/ 66 h 66"/>
              <a:gd name="T10" fmla="*/ 10 w 12"/>
              <a:gd name="T11" fmla="*/ 33 h 66"/>
              <a:gd name="T12" fmla="*/ 11 w 12"/>
              <a:gd name="T13" fmla="*/ 20 h 66"/>
              <a:gd name="T14" fmla="*/ 11 w 12"/>
              <a:gd name="T15" fmla="*/ 14 h 66"/>
              <a:gd name="T16" fmla="*/ 10 w 12"/>
              <a:gd name="T17" fmla="*/ 6 h 66"/>
              <a:gd name="T18" fmla="*/ 10 w 12"/>
              <a:gd name="T1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66">
                <a:moveTo>
                  <a:pt x="10" y="0"/>
                </a:moveTo>
                <a:cubicBezTo>
                  <a:pt x="5" y="8"/>
                  <a:pt x="1" y="19"/>
                  <a:pt x="1" y="32"/>
                </a:cubicBezTo>
                <a:cubicBezTo>
                  <a:pt x="0" y="45"/>
                  <a:pt x="0" y="55"/>
                  <a:pt x="0" y="63"/>
                </a:cubicBezTo>
                <a:cubicBezTo>
                  <a:pt x="1" y="63"/>
                  <a:pt x="2" y="64"/>
                  <a:pt x="3" y="64"/>
                </a:cubicBezTo>
                <a:cubicBezTo>
                  <a:pt x="6" y="64"/>
                  <a:pt x="9" y="65"/>
                  <a:pt x="12" y="66"/>
                </a:cubicBezTo>
                <a:cubicBezTo>
                  <a:pt x="11" y="58"/>
                  <a:pt x="11" y="47"/>
                  <a:pt x="10" y="33"/>
                </a:cubicBezTo>
                <a:cubicBezTo>
                  <a:pt x="10" y="28"/>
                  <a:pt x="10" y="24"/>
                  <a:pt x="11" y="20"/>
                </a:cubicBezTo>
                <a:cubicBezTo>
                  <a:pt x="11" y="18"/>
                  <a:pt x="11" y="16"/>
                  <a:pt x="11" y="14"/>
                </a:cubicBezTo>
                <a:cubicBezTo>
                  <a:pt x="11" y="12"/>
                  <a:pt x="10" y="9"/>
                  <a:pt x="10" y="6"/>
                </a:cubicBezTo>
                <a:cubicBezTo>
                  <a:pt x="10" y="4"/>
                  <a:pt x="10" y="2"/>
                  <a:pt x="10" y="0"/>
                </a:cubicBezTo>
              </a:path>
            </a:pathLst>
          </a:custGeom>
          <a:solidFill>
            <a:srgbClr val="D47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9" name="Freeform 138"/>
          <p:cNvSpPr>
            <a:spLocks noEditPoints="1"/>
          </p:cNvSpPr>
          <p:nvPr/>
        </p:nvSpPr>
        <p:spPr bwMode="auto">
          <a:xfrm>
            <a:off x="3887788" y="4191000"/>
            <a:ext cx="146050" cy="482600"/>
          </a:xfrm>
          <a:custGeom>
            <a:avLst/>
            <a:gdLst>
              <a:gd name="T0" fmla="*/ 77 w 86"/>
              <a:gd name="T1" fmla="*/ 159 h 284"/>
              <a:gd name="T2" fmla="*/ 0 w 86"/>
              <a:gd name="T3" fmla="*/ 284 h 284"/>
              <a:gd name="T4" fmla="*/ 0 w 86"/>
              <a:gd name="T5" fmla="*/ 284 h 284"/>
              <a:gd name="T6" fmla="*/ 77 w 86"/>
              <a:gd name="T7" fmla="*/ 159 h 284"/>
              <a:gd name="T8" fmla="*/ 16 w 86"/>
              <a:gd name="T9" fmla="*/ 0 h 284"/>
              <a:gd name="T10" fmla="*/ 17 w 86"/>
              <a:gd name="T11" fmla="*/ 0 h 284"/>
              <a:gd name="T12" fmla="*/ 86 w 86"/>
              <a:gd name="T13" fmla="*/ 109 h 284"/>
              <a:gd name="T14" fmla="*/ 17 w 86"/>
              <a:gd name="T15" fmla="*/ 0 h 284"/>
              <a:gd name="T16" fmla="*/ 16 w 86"/>
              <a:gd name="T17" fmla="*/ 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 h="284">
                <a:moveTo>
                  <a:pt x="77" y="159"/>
                </a:moveTo>
                <a:cubicBezTo>
                  <a:pt x="64" y="201"/>
                  <a:pt x="38" y="249"/>
                  <a:pt x="0" y="284"/>
                </a:cubicBezTo>
                <a:cubicBezTo>
                  <a:pt x="0" y="284"/>
                  <a:pt x="0" y="284"/>
                  <a:pt x="0" y="284"/>
                </a:cubicBezTo>
                <a:cubicBezTo>
                  <a:pt x="38" y="249"/>
                  <a:pt x="64" y="201"/>
                  <a:pt x="77" y="159"/>
                </a:cubicBezTo>
                <a:moveTo>
                  <a:pt x="16" y="0"/>
                </a:moveTo>
                <a:cubicBezTo>
                  <a:pt x="17" y="0"/>
                  <a:pt x="17" y="0"/>
                  <a:pt x="17" y="0"/>
                </a:cubicBezTo>
                <a:cubicBezTo>
                  <a:pt x="48" y="13"/>
                  <a:pt x="86" y="50"/>
                  <a:pt x="86" y="109"/>
                </a:cubicBezTo>
                <a:cubicBezTo>
                  <a:pt x="86" y="50"/>
                  <a:pt x="48" y="13"/>
                  <a:pt x="17" y="0"/>
                </a:cubicBezTo>
                <a:cubicBezTo>
                  <a:pt x="17" y="0"/>
                  <a:pt x="17" y="0"/>
                  <a:pt x="16" y="0"/>
                </a:cubicBezTo>
              </a:path>
            </a:pathLst>
          </a:custGeom>
          <a:solidFill>
            <a:srgbClr val="DB908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0" name="Freeform 139"/>
          <p:cNvSpPr>
            <a:spLocks noEditPoints="1"/>
          </p:cNvSpPr>
          <p:nvPr/>
        </p:nvSpPr>
        <p:spPr bwMode="auto">
          <a:xfrm>
            <a:off x="3748088" y="4673600"/>
            <a:ext cx="139700" cy="77787"/>
          </a:xfrm>
          <a:custGeom>
            <a:avLst/>
            <a:gdLst>
              <a:gd name="T0" fmla="*/ 11 w 82"/>
              <a:gd name="T1" fmla="*/ 43 h 46"/>
              <a:gd name="T2" fmla="*/ 0 w 82"/>
              <a:gd name="T3" fmla="*/ 46 h 46"/>
              <a:gd name="T4" fmla="*/ 11 w 82"/>
              <a:gd name="T5" fmla="*/ 43 h 46"/>
              <a:gd name="T6" fmla="*/ 11 w 82"/>
              <a:gd name="T7" fmla="*/ 43 h 46"/>
              <a:gd name="T8" fmla="*/ 56 w 82"/>
              <a:gd name="T9" fmla="*/ 21 h 46"/>
              <a:gd name="T10" fmla="*/ 26 w 82"/>
              <a:gd name="T11" fmla="*/ 37 h 46"/>
              <a:gd name="T12" fmla="*/ 26 w 82"/>
              <a:gd name="T13" fmla="*/ 37 h 46"/>
              <a:gd name="T14" fmla="*/ 56 w 82"/>
              <a:gd name="T15" fmla="*/ 21 h 46"/>
              <a:gd name="T16" fmla="*/ 56 w 82"/>
              <a:gd name="T17" fmla="*/ 21 h 46"/>
              <a:gd name="T18" fmla="*/ 82 w 82"/>
              <a:gd name="T19" fmla="*/ 0 h 46"/>
              <a:gd name="T20" fmla="*/ 56 w 82"/>
              <a:gd name="T21" fmla="*/ 20 h 46"/>
              <a:gd name="T22" fmla="*/ 56 w 82"/>
              <a:gd name="T23" fmla="*/ 20 h 46"/>
              <a:gd name="T24" fmla="*/ 82 w 82"/>
              <a:gd name="T25" fmla="*/ 0 h 46"/>
              <a:gd name="T26" fmla="*/ 82 w 82"/>
              <a:gd name="T2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2" h="46">
                <a:moveTo>
                  <a:pt x="11" y="43"/>
                </a:moveTo>
                <a:cubicBezTo>
                  <a:pt x="7" y="44"/>
                  <a:pt x="3" y="45"/>
                  <a:pt x="0" y="46"/>
                </a:cubicBezTo>
                <a:cubicBezTo>
                  <a:pt x="3" y="45"/>
                  <a:pt x="7" y="44"/>
                  <a:pt x="11" y="43"/>
                </a:cubicBezTo>
                <a:cubicBezTo>
                  <a:pt x="11" y="43"/>
                  <a:pt x="11" y="43"/>
                  <a:pt x="11" y="43"/>
                </a:cubicBezTo>
                <a:moveTo>
                  <a:pt x="56" y="21"/>
                </a:moveTo>
                <a:cubicBezTo>
                  <a:pt x="47" y="27"/>
                  <a:pt x="37" y="32"/>
                  <a:pt x="26" y="37"/>
                </a:cubicBezTo>
                <a:cubicBezTo>
                  <a:pt x="26" y="37"/>
                  <a:pt x="26" y="37"/>
                  <a:pt x="26" y="37"/>
                </a:cubicBezTo>
                <a:cubicBezTo>
                  <a:pt x="37" y="32"/>
                  <a:pt x="47" y="27"/>
                  <a:pt x="56" y="21"/>
                </a:cubicBezTo>
                <a:cubicBezTo>
                  <a:pt x="56" y="21"/>
                  <a:pt x="56" y="21"/>
                  <a:pt x="56" y="21"/>
                </a:cubicBezTo>
                <a:moveTo>
                  <a:pt x="82" y="0"/>
                </a:moveTo>
                <a:cubicBezTo>
                  <a:pt x="74" y="7"/>
                  <a:pt x="66" y="14"/>
                  <a:pt x="56" y="20"/>
                </a:cubicBezTo>
                <a:cubicBezTo>
                  <a:pt x="56" y="20"/>
                  <a:pt x="56" y="20"/>
                  <a:pt x="56" y="20"/>
                </a:cubicBezTo>
                <a:cubicBezTo>
                  <a:pt x="66" y="14"/>
                  <a:pt x="74" y="7"/>
                  <a:pt x="82" y="0"/>
                </a:cubicBezTo>
                <a:cubicBezTo>
                  <a:pt x="82" y="0"/>
                  <a:pt x="82" y="0"/>
                  <a:pt x="82" y="0"/>
                </a:cubicBezTo>
              </a:path>
            </a:pathLst>
          </a:custGeom>
          <a:solidFill>
            <a:srgbClr val="D8690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1" name="Freeform 140"/>
          <p:cNvSpPr>
            <a:spLocks/>
          </p:cNvSpPr>
          <p:nvPr/>
        </p:nvSpPr>
        <p:spPr bwMode="auto">
          <a:xfrm>
            <a:off x="3767138" y="4735513"/>
            <a:ext cx="25400" cy="11112"/>
          </a:xfrm>
          <a:custGeom>
            <a:avLst/>
            <a:gdLst>
              <a:gd name="T0" fmla="*/ 15 w 15"/>
              <a:gd name="T1" fmla="*/ 0 h 6"/>
              <a:gd name="T2" fmla="*/ 0 w 15"/>
              <a:gd name="T3" fmla="*/ 6 h 6"/>
              <a:gd name="T4" fmla="*/ 0 w 15"/>
              <a:gd name="T5" fmla="*/ 6 h 6"/>
              <a:gd name="T6" fmla="*/ 15 w 15"/>
              <a:gd name="T7" fmla="*/ 0 h 6"/>
              <a:gd name="T8" fmla="*/ 15 w 15"/>
              <a:gd name="T9" fmla="*/ 0 h 6"/>
            </a:gdLst>
            <a:ahLst/>
            <a:cxnLst>
              <a:cxn ang="0">
                <a:pos x="T0" y="T1"/>
              </a:cxn>
              <a:cxn ang="0">
                <a:pos x="T2" y="T3"/>
              </a:cxn>
              <a:cxn ang="0">
                <a:pos x="T4" y="T5"/>
              </a:cxn>
              <a:cxn ang="0">
                <a:pos x="T6" y="T7"/>
              </a:cxn>
              <a:cxn ang="0">
                <a:pos x="T8" y="T9"/>
              </a:cxn>
            </a:cxnLst>
            <a:rect l="0" t="0" r="r" b="b"/>
            <a:pathLst>
              <a:path w="15" h="6">
                <a:moveTo>
                  <a:pt x="15" y="0"/>
                </a:moveTo>
                <a:cubicBezTo>
                  <a:pt x="10" y="2"/>
                  <a:pt x="5" y="4"/>
                  <a:pt x="0" y="6"/>
                </a:cubicBezTo>
                <a:cubicBezTo>
                  <a:pt x="0" y="6"/>
                  <a:pt x="0" y="6"/>
                  <a:pt x="0" y="6"/>
                </a:cubicBezTo>
                <a:cubicBezTo>
                  <a:pt x="5" y="4"/>
                  <a:pt x="10" y="2"/>
                  <a:pt x="15" y="0"/>
                </a:cubicBezTo>
                <a:cubicBezTo>
                  <a:pt x="15" y="0"/>
                  <a:pt x="15" y="0"/>
                  <a:pt x="15" y="0"/>
                </a:cubicBezTo>
              </a:path>
            </a:pathLst>
          </a:custGeom>
          <a:solidFill>
            <a:srgbClr val="DD8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2" name="Freeform 141"/>
          <p:cNvSpPr>
            <a:spLocks/>
          </p:cNvSpPr>
          <p:nvPr/>
        </p:nvSpPr>
        <p:spPr bwMode="auto">
          <a:xfrm>
            <a:off x="3843338" y="4706938"/>
            <a:ext cx="0" cy="1587"/>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1"/>
                  <a:pt x="0" y="1"/>
                </a:cubicBezTo>
                <a:cubicBezTo>
                  <a:pt x="0" y="1"/>
                  <a:pt x="0" y="1"/>
                  <a:pt x="0" y="1"/>
                </a:cubicBezTo>
                <a:cubicBezTo>
                  <a:pt x="0" y="1"/>
                  <a:pt x="0" y="0"/>
                  <a:pt x="0" y="0"/>
                </a:cubicBezTo>
                <a:cubicBezTo>
                  <a:pt x="0" y="0"/>
                  <a:pt x="0" y="0"/>
                  <a:pt x="0" y="0"/>
                </a:cubicBezTo>
              </a:path>
            </a:pathLst>
          </a:custGeom>
          <a:solidFill>
            <a:srgbClr val="DD87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3" name="Freeform 142"/>
          <p:cNvSpPr>
            <a:spLocks/>
          </p:cNvSpPr>
          <p:nvPr/>
        </p:nvSpPr>
        <p:spPr bwMode="auto">
          <a:xfrm>
            <a:off x="3670301" y="4186238"/>
            <a:ext cx="363538" cy="571500"/>
          </a:xfrm>
          <a:custGeom>
            <a:avLst/>
            <a:gdLst>
              <a:gd name="T0" fmla="*/ 129 w 214"/>
              <a:gd name="T1" fmla="*/ 0 h 337"/>
              <a:gd name="T2" fmla="*/ 118 w 214"/>
              <a:gd name="T3" fmla="*/ 1 h 337"/>
              <a:gd name="T4" fmla="*/ 124 w 214"/>
              <a:gd name="T5" fmla="*/ 3 h 337"/>
              <a:gd name="T6" fmla="*/ 188 w 214"/>
              <a:gd name="T7" fmla="*/ 148 h 337"/>
              <a:gd name="T8" fmla="*/ 0 w 214"/>
              <a:gd name="T9" fmla="*/ 336 h 337"/>
              <a:gd name="T10" fmla="*/ 11 w 214"/>
              <a:gd name="T11" fmla="*/ 337 h 337"/>
              <a:gd name="T12" fmla="*/ 46 w 214"/>
              <a:gd name="T13" fmla="*/ 333 h 337"/>
              <a:gd name="T14" fmla="*/ 57 w 214"/>
              <a:gd name="T15" fmla="*/ 330 h 337"/>
              <a:gd name="T16" fmla="*/ 72 w 214"/>
              <a:gd name="T17" fmla="*/ 324 h 337"/>
              <a:gd name="T18" fmla="*/ 102 w 214"/>
              <a:gd name="T19" fmla="*/ 308 h 337"/>
              <a:gd name="T20" fmla="*/ 102 w 214"/>
              <a:gd name="T21" fmla="*/ 307 h 337"/>
              <a:gd name="T22" fmla="*/ 128 w 214"/>
              <a:gd name="T23" fmla="*/ 287 h 337"/>
              <a:gd name="T24" fmla="*/ 205 w 214"/>
              <a:gd name="T25" fmla="*/ 162 h 337"/>
              <a:gd name="T26" fmla="*/ 209 w 214"/>
              <a:gd name="T27" fmla="*/ 148 h 337"/>
              <a:gd name="T28" fmla="*/ 214 w 214"/>
              <a:gd name="T29" fmla="*/ 112 h 337"/>
              <a:gd name="T30" fmla="*/ 145 w 214"/>
              <a:gd name="T31" fmla="*/ 3 h 337"/>
              <a:gd name="T32" fmla="*/ 144 w 214"/>
              <a:gd name="T33" fmla="*/ 3 h 337"/>
              <a:gd name="T34" fmla="*/ 129 w 214"/>
              <a:gd name="T35" fmla="*/ 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4" h="337">
                <a:moveTo>
                  <a:pt x="129" y="0"/>
                </a:moveTo>
                <a:cubicBezTo>
                  <a:pt x="126" y="0"/>
                  <a:pt x="122" y="1"/>
                  <a:pt x="118" y="1"/>
                </a:cubicBezTo>
                <a:cubicBezTo>
                  <a:pt x="120" y="2"/>
                  <a:pt x="122" y="2"/>
                  <a:pt x="124" y="3"/>
                </a:cubicBezTo>
                <a:cubicBezTo>
                  <a:pt x="161" y="18"/>
                  <a:pt x="207" y="69"/>
                  <a:pt x="188" y="148"/>
                </a:cubicBezTo>
                <a:cubicBezTo>
                  <a:pt x="170" y="223"/>
                  <a:pt x="102" y="329"/>
                  <a:pt x="0" y="336"/>
                </a:cubicBezTo>
                <a:cubicBezTo>
                  <a:pt x="4" y="336"/>
                  <a:pt x="7" y="337"/>
                  <a:pt x="11" y="337"/>
                </a:cubicBezTo>
                <a:cubicBezTo>
                  <a:pt x="23" y="337"/>
                  <a:pt x="34" y="335"/>
                  <a:pt x="46" y="333"/>
                </a:cubicBezTo>
                <a:cubicBezTo>
                  <a:pt x="49" y="332"/>
                  <a:pt x="53" y="331"/>
                  <a:pt x="57" y="330"/>
                </a:cubicBezTo>
                <a:cubicBezTo>
                  <a:pt x="62" y="328"/>
                  <a:pt x="67" y="326"/>
                  <a:pt x="72" y="324"/>
                </a:cubicBezTo>
                <a:cubicBezTo>
                  <a:pt x="83" y="319"/>
                  <a:pt x="93" y="314"/>
                  <a:pt x="102" y="308"/>
                </a:cubicBezTo>
                <a:cubicBezTo>
                  <a:pt x="102" y="308"/>
                  <a:pt x="102" y="307"/>
                  <a:pt x="102" y="307"/>
                </a:cubicBezTo>
                <a:cubicBezTo>
                  <a:pt x="112" y="301"/>
                  <a:pt x="120" y="294"/>
                  <a:pt x="128" y="287"/>
                </a:cubicBezTo>
                <a:cubicBezTo>
                  <a:pt x="166" y="252"/>
                  <a:pt x="192" y="204"/>
                  <a:pt x="205" y="162"/>
                </a:cubicBezTo>
                <a:cubicBezTo>
                  <a:pt x="207" y="158"/>
                  <a:pt x="208" y="153"/>
                  <a:pt x="209" y="148"/>
                </a:cubicBezTo>
                <a:cubicBezTo>
                  <a:pt x="212" y="135"/>
                  <a:pt x="214" y="123"/>
                  <a:pt x="214" y="112"/>
                </a:cubicBezTo>
                <a:cubicBezTo>
                  <a:pt x="214" y="53"/>
                  <a:pt x="176" y="16"/>
                  <a:pt x="145" y="3"/>
                </a:cubicBezTo>
                <a:cubicBezTo>
                  <a:pt x="145" y="3"/>
                  <a:pt x="145" y="3"/>
                  <a:pt x="144" y="3"/>
                </a:cubicBezTo>
                <a:cubicBezTo>
                  <a:pt x="140" y="1"/>
                  <a:pt x="135" y="0"/>
                  <a:pt x="129" y="0"/>
                </a:cubicBezTo>
              </a:path>
            </a:pathLst>
          </a:custGeom>
          <a:solidFill>
            <a:srgbClr val="CB60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7" name="Freeform 155"/>
          <p:cNvSpPr>
            <a:spLocks/>
          </p:cNvSpPr>
          <p:nvPr/>
        </p:nvSpPr>
        <p:spPr bwMode="auto">
          <a:xfrm>
            <a:off x="3403601" y="4797425"/>
            <a:ext cx="639763" cy="1236662"/>
          </a:xfrm>
          <a:custGeom>
            <a:avLst/>
            <a:gdLst>
              <a:gd name="T0" fmla="*/ 38 w 377"/>
              <a:gd name="T1" fmla="*/ 729 h 729"/>
              <a:gd name="T2" fmla="*/ 50 w 377"/>
              <a:gd name="T3" fmla="*/ 729 h 729"/>
              <a:gd name="T4" fmla="*/ 53 w 377"/>
              <a:gd name="T5" fmla="*/ 712 h 729"/>
              <a:gd name="T6" fmla="*/ 74 w 377"/>
              <a:gd name="T7" fmla="*/ 665 h 729"/>
              <a:gd name="T8" fmla="*/ 61 w 377"/>
              <a:gd name="T9" fmla="*/ 620 h 729"/>
              <a:gd name="T10" fmla="*/ 78 w 377"/>
              <a:gd name="T11" fmla="*/ 589 h 729"/>
              <a:gd name="T12" fmla="*/ 64 w 377"/>
              <a:gd name="T13" fmla="*/ 550 h 729"/>
              <a:gd name="T14" fmla="*/ 138 w 377"/>
              <a:gd name="T15" fmla="*/ 579 h 729"/>
              <a:gd name="T16" fmla="*/ 266 w 377"/>
              <a:gd name="T17" fmla="*/ 540 h 729"/>
              <a:gd name="T18" fmla="*/ 309 w 377"/>
              <a:gd name="T19" fmla="*/ 477 h 729"/>
              <a:gd name="T20" fmla="*/ 331 w 377"/>
              <a:gd name="T21" fmla="*/ 449 h 729"/>
              <a:gd name="T22" fmla="*/ 329 w 377"/>
              <a:gd name="T23" fmla="*/ 432 h 729"/>
              <a:gd name="T24" fmla="*/ 344 w 377"/>
              <a:gd name="T25" fmla="*/ 387 h 729"/>
              <a:gd name="T26" fmla="*/ 361 w 377"/>
              <a:gd name="T27" fmla="*/ 352 h 729"/>
              <a:gd name="T28" fmla="*/ 356 w 377"/>
              <a:gd name="T29" fmla="*/ 337 h 729"/>
              <a:gd name="T30" fmla="*/ 372 w 377"/>
              <a:gd name="T31" fmla="*/ 300 h 729"/>
              <a:gd name="T32" fmla="*/ 360 w 377"/>
              <a:gd name="T33" fmla="*/ 275 h 729"/>
              <a:gd name="T34" fmla="*/ 372 w 377"/>
              <a:gd name="T35" fmla="*/ 239 h 729"/>
              <a:gd name="T36" fmla="*/ 363 w 377"/>
              <a:gd name="T37" fmla="*/ 214 h 729"/>
              <a:gd name="T38" fmla="*/ 372 w 377"/>
              <a:gd name="T39" fmla="*/ 185 h 729"/>
              <a:gd name="T40" fmla="*/ 363 w 377"/>
              <a:gd name="T41" fmla="*/ 163 h 729"/>
              <a:gd name="T42" fmla="*/ 373 w 377"/>
              <a:gd name="T43" fmla="*/ 135 h 729"/>
              <a:gd name="T44" fmla="*/ 365 w 377"/>
              <a:gd name="T45" fmla="*/ 115 h 729"/>
              <a:gd name="T46" fmla="*/ 376 w 377"/>
              <a:gd name="T47" fmla="*/ 79 h 729"/>
              <a:gd name="T48" fmla="*/ 365 w 377"/>
              <a:gd name="T49" fmla="*/ 48 h 729"/>
              <a:gd name="T50" fmla="*/ 362 w 377"/>
              <a:gd name="T51" fmla="*/ 32 h 729"/>
              <a:gd name="T52" fmla="*/ 358 w 377"/>
              <a:gd name="T53" fmla="*/ 5 h 729"/>
              <a:gd name="T54" fmla="*/ 273 w 377"/>
              <a:gd name="T55" fmla="*/ 53 h 729"/>
              <a:gd name="T56" fmla="*/ 269 w 377"/>
              <a:gd name="T57" fmla="*/ 95 h 729"/>
              <a:gd name="T58" fmla="*/ 286 w 377"/>
              <a:gd name="T59" fmla="*/ 126 h 729"/>
              <a:gd name="T60" fmla="*/ 276 w 377"/>
              <a:gd name="T61" fmla="*/ 152 h 729"/>
              <a:gd name="T62" fmla="*/ 282 w 377"/>
              <a:gd name="T63" fmla="*/ 172 h 729"/>
              <a:gd name="T64" fmla="*/ 274 w 377"/>
              <a:gd name="T65" fmla="*/ 196 h 729"/>
              <a:gd name="T66" fmla="*/ 282 w 377"/>
              <a:gd name="T67" fmla="*/ 216 h 729"/>
              <a:gd name="T68" fmla="*/ 280 w 377"/>
              <a:gd name="T69" fmla="*/ 251 h 729"/>
              <a:gd name="T70" fmla="*/ 292 w 377"/>
              <a:gd name="T71" fmla="*/ 265 h 729"/>
              <a:gd name="T72" fmla="*/ 276 w 377"/>
              <a:gd name="T73" fmla="*/ 299 h 729"/>
              <a:gd name="T74" fmla="*/ 283 w 377"/>
              <a:gd name="T75" fmla="*/ 317 h 729"/>
              <a:gd name="T76" fmla="*/ 273 w 377"/>
              <a:gd name="T77" fmla="*/ 337 h 729"/>
              <a:gd name="T78" fmla="*/ 276 w 377"/>
              <a:gd name="T79" fmla="*/ 355 h 729"/>
              <a:gd name="T80" fmla="*/ 243 w 377"/>
              <a:gd name="T81" fmla="*/ 371 h 729"/>
              <a:gd name="T82" fmla="*/ 245 w 377"/>
              <a:gd name="T83" fmla="*/ 404 h 729"/>
              <a:gd name="T84" fmla="*/ 220 w 377"/>
              <a:gd name="T85" fmla="*/ 427 h 729"/>
              <a:gd name="T86" fmla="*/ 225 w 377"/>
              <a:gd name="T87" fmla="*/ 457 h 729"/>
              <a:gd name="T88" fmla="*/ 188 w 377"/>
              <a:gd name="T89" fmla="*/ 476 h 729"/>
              <a:gd name="T90" fmla="*/ 176 w 377"/>
              <a:gd name="T91" fmla="*/ 508 h 729"/>
              <a:gd name="T92" fmla="*/ 141 w 377"/>
              <a:gd name="T93" fmla="*/ 506 h 729"/>
              <a:gd name="T94" fmla="*/ 61 w 377"/>
              <a:gd name="T95" fmla="*/ 493 h 729"/>
              <a:gd name="T96" fmla="*/ 4 w 377"/>
              <a:gd name="T97" fmla="*/ 570 h 729"/>
              <a:gd name="T98" fmla="*/ 24 w 377"/>
              <a:gd name="T99" fmla="*/ 619 h 729"/>
              <a:gd name="T100" fmla="*/ 15 w 377"/>
              <a:gd name="T101" fmla="*/ 664 h 729"/>
              <a:gd name="T102" fmla="*/ 34 w 377"/>
              <a:gd name="T103" fmla="*/ 706 h 729"/>
              <a:gd name="T104" fmla="*/ 38 w 377"/>
              <a:gd name="T105" fmla="*/ 729 h 7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77" h="729">
                <a:moveTo>
                  <a:pt x="38" y="729"/>
                </a:moveTo>
                <a:cubicBezTo>
                  <a:pt x="50" y="729"/>
                  <a:pt x="50" y="729"/>
                  <a:pt x="50" y="729"/>
                </a:cubicBezTo>
                <a:cubicBezTo>
                  <a:pt x="50" y="729"/>
                  <a:pt x="49" y="719"/>
                  <a:pt x="53" y="712"/>
                </a:cubicBezTo>
                <a:cubicBezTo>
                  <a:pt x="57" y="706"/>
                  <a:pt x="77" y="682"/>
                  <a:pt x="74" y="665"/>
                </a:cubicBezTo>
                <a:cubicBezTo>
                  <a:pt x="71" y="648"/>
                  <a:pt x="57" y="624"/>
                  <a:pt x="61" y="620"/>
                </a:cubicBezTo>
                <a:cubicBezTo>
                  <a:pt x="64" y="616"/>
                  <a:pt x="78" y="604"/>
                  <a:pt x="78" y="589"/>
                </a:cubicBezTo>
                <a:cubicBezTo>
                  <a:pt x="78" y="573"/>
                  <a:pt x="58" y="554"/>
                  <a:pt x="64" y="550"/>
                </a:cubicBezTo>
                <a:cubicBezTo>
                  <a:pt x="71" y="546"/>
                  <a:pt x="113" y="579"/>
                  <a:pt x="138" y="579"/>
                </a:cubicBezTo>
                <a:cubicBezTo>
                  <a:pt x="163" y="579"/>
                  <a:pt x="244" y="563"/>
                  <a:pt x="266" y="540"/>
                </a:cubicBezTo>
                <a:cubicBezTo>
                  <a:pt x="288" y="516"/>
                  <a:pt x="306" y="484"/>
                  <a:pt x="309" y="477"/>
                </a:cubicBezTo>
                <a:cubicBezTo>
                  <a:pt x="312" y="469"/>
                  <a:pt x="330" y="457"/>
                  <a:pt x="331" y="449"/>
                </a:cubicBezTo>
                <a:cubicBezTo>
                  <a:pt x="332" y="440"/>
                  <a:pt x="331" y="434"/>
                  <a:pt x="329" y="432"/>
                </a:cubicBezTo>
                <a:cubicBezTo>
                  <a:pt x="329" y="432"/>
                  <a:pt x="357" y="423"/>
                  <a:pt x="344" y="387"/>
                </a:cubicBezTo>
                <a:cubicBezTo>
                  <a:pt x="344" y="387"/>
                  <a:pt x="366" y="368"/>
                  <a:pt x="361" y="352"/>
                </a:cubicBezTo>
                <a:cubicBezTo>
                  <a:pt x="356" y="337"/>
                  <a:pt x="356" y="337"/>
                  <a:pt x="356" y="337"/>
                </a:cubicBezTo>
                <a:cubicBezTo>
                  <a:pt x="356" y="337"/>
                  <a:pt x="376" y="314"/>
                  <a:pt x="372" y="300"/>
                </a:cubicBezTo>
                <a:cubicBezTo>
                  <a:pt x="369" y="286"/>
                  <a:pt x="364" y="278"/>
                  <a:pt x="360" y="275"/>
                </a:cubicBezTo>
                <a:cubicBezTo>
                  <a:pt x="360" y="275"/>
                  <a:pt x="376" y="257"/>
                  <a:pt x="372" y="239"/>
                </a:cubicBezTo>
                <a:cubicBezTo>
                  <a:pt x="367" y="221"/>
                  <a:pt x="370" y="222"/>
                  <a:pt x="363" y="214"/>
                </a:cubicBezTo>
                <a:cubicBezTo>
                  <a:pt x="363" y="214"/>
                  <a:pt x="372" y="197"/>
                  <a:pt x="372" y="185"/>
                </a:cubicBezTo>
                <a:cubicBezTo>
                  <a:pt x="372" y="173"/>
                  <a:pt x="363" y="163"/>
                  <a:pt x="363" y="163"/>
                </a:cubicBezTo>
                <a:cubicBezTo>
                  <a:pt x="363" y="163"/>
                  <a:pt x="373" y="143"/>
                  <a:pt x="373" y="135"/>
                </a:cubicBezTo>
                <a:cubicBezTo>
                  <a:pt x="373" y="127"/>
                  <a:pt x="365" y="115"/>
                  <a:pt x="365" y="115"/>
                </a:cubicBezTo>
                <a:cubicBezTo>
                  <a:pt x="365" y="115"/>
                  <a:pt x="375" y="94"/>
                  <a:pt x="376" y="79"/>
                </a:cubicBezTo>
                <a:cubicBezTo>
                  <a:pt x="377" y="63"/>
                  <a:pt x="368" y="52"/>
                  <a:pt x="365" y="48"/>
                </a:cubicBezTo>
                <a:cubicBezTo>
                  <a:pt x="362" y="44"/>
                  <a:pt x="361" y="38"/>
                  <a:pt x="362" y="32"/>
                </a:cubicBezTo>
                <a:cubicBezTo>
                  <a:pt x="363" y="27"/>
                  <a:pt x="370" y="11"/>
                  <a:pt x="358" y="5"/>
                </a:cubicBezTo>
                <a:cubicBezTo>
                  <a:pt x="346" y="0"/>
                  <a:pt x="269" y="26"/>
                  <a:pt x="273" y="53"/>
                </a:cubicBezTo>
                <a:cubicBezTo>
                  <a:pt x="277" y="80"/>
                  <a:pt x="265" y="78"/>
                  <a:pt x="269" y="95"/>
                </a:cubicBezTo>
                <a:cubicBezTo>
                  <a:pt x="273" y="113"/>
                  <a:pt x="286" y="126"/>
                  <a:pt x="286" y="126"/>
                </a:cubicBezTo>
                <a:cubicBezTo>
                  <a:pt x="286" y="126"/>
                  <a:pt x="277" y="143"/>
                  <a:pt x="276" y="152"/>
                </a:cubicBezTo>
                <a:cubicBezTo>
                  <a:pt x="275" y="161"/>
                  <a:pt x="278" y="168"/>
                  <a:pt x="282" y="172"/>
                </a:cubicBezTo>
                <a:cubicBezTo>
                  <a:pt x="282" y="172"/>
                  <a:pt x="273" y="186"/>
                  <a:pt x="274" y="196"/>
                </a:cubicBezTo>
                <a:cubicBezTo>
                  <a:pt x="275" y="205"/>
                  <a:pt x="282" y="216"/>
                  <a:pt x="282" y="216"/>
                </a:cubicBezTo>
                <a:cubicBezTo>
                  <a:pt x="282" y="216"/>
                  <a:pt x="271" y="240"/>
                  <a:pt x="280" y="251"/>
                </a:cubicBezTo>
                <a:cubicBezTo>
                  <a:pt x="288" y="261"/>
                  <a:pt x="292" y="265"/>
                  <a:pt x="292" y="265"/>
                </a:cubicBezTo>
                <a:cubicBezTo>
                  <a:pt x="292" y="265"/>
                  <a:pt x="274" y="285"/>
                  <a:pt x="276" y="299"/>
                </a:cubicBezTo>
                <a:cubicBezTo>
                  <a:pt x="278" y="313"/>
                  <a:pt x="283" y="317"/>
                  <a:pt x="283" y="317"/>
                </a:cubicBezTo>
                <a:cubicBezTo>
                  <a:pt x="283" y="317"/>
                  <a:pt x="274" y="329"/>
                  <a:pt x="273" y="337"/>
                </a:cubicBezTo>
                <a:cubicBezTo>
                  <a:pt x="272" y="344"/>
                  <a:pt x="276" y="355"/>
                  <a:pt x="276" y="355"/>
                </a:cubicBezTo>
                <a:cubicBezTo>
                  <a:pt x="276" y="355"/>
                  <a:pt x="249" y="358"/>
                  <a:pt x="243" y="371"/>
                </a:cubicBezTo>
                <a:cubicBezTo>
                  <a:pt x="237" y="385"/>
                  <a:pt x="241" y="395"/>
                  <a:pt x="245" y="404"/>
                </a:cubicBezTo>
                <a:cubicBezTo>
                  <a:pt x="245" y="404"/>
                  <a:pt x="222" y="412"/>
                  <a:pt x="220" y="427"/>
                </a:cubicBezTo>
                <a:cubicBezTo>
                  <a:pt x="218" y="443"/>
                  <a:pt x="222" y="451"/>
                  <a:pt x="225" y="457"/>
                </a:cubicBezTo>
                <a:cubicBezTo>
                  <a:pt x="225" y="457"/>
                  <a:pt x="197" y="464"/>
                  <a:pt x="188" y="476"/>
                </a:cubicBezTo>
                <a:cubicBezTo>
                  <a:pt x="179" y="487"/>
                  <a:pt x="177" y="497"/>
                  <a:pt x="176" y="508"/>
                </a:cubicBezTo>
                <a:cubicBezTo>
                  <a:pt x="176" y="508"/>
                  <a:pt x="154" y="510"/>
                  <a:pt x="141" y="506"/>
                </a:cubicBezTo>
                <a:cubicBezTo>
                  <a:pt x="127" y="502"/>
                  <a:pt x="89" y="485"/>
                  <a:pt x="61" y="493"/>
                </a:cubicBezTo>
                <a:cubicBezTo>
                  <a:pt x="34" y="501"/>
                  <a:pt x="0" y="534"/>
                  <a:pt x="4" y="570"/>
                </a:cubicBezTo>
                <a:cubicBezTo>
                  <a:pt x="7" y="607"/>
                  <a:pt x="24" y="609"/>
                  <a:pt x="24" y="619"/>
                </a:cubicBezTo>
                <a:cubicBezTo>
                  <a:pt x="24" y="628"/>
                  <a:pt x="14" y="654"/>
                  <a:pt x="15" y="664"/>
                </a:cubicBezTo>
                <a:cubicBezTo>
                  <a:pt x="18" y="681"/>
                  <a:pt x="31" y="693"/>
                  <a:pt x="34" y="706"/>
                </a:cubicBezTo>
                <a:cubicBezTo>
                  <a:pt x="38" y="720"/>
                  <a:pt x="38" y="729"/>
                  <a:pt x="38" y="729"/>
                </a:cubicBezTo>
              </a:path>
            </a:pathLst>
          </a:custGeom>
          <a:solidFill>
            <a:srgbClr val="A5A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8" name="Freeform 156"/>
          <p:cNvSpPr>
            <a:spLocks noEditPoints="1"/>
          </p:cNvSpPr>
          <p:nvPr/>
        </p:nvSpPr>
        <p:spPr bwMode="auto">
          <a:xfrm>
            <a:off x="4019551" y="4989513"/>
            <a:ext cx="3175" cy="84137"/>
          </a:xfrm>
          <a:custGeom>
            <a:avLst/>
            <a:gdLst>
              <a:gd name="T0" fmla="*/ 0 w 2"/>
              <a:gd name="T1" fmla="*/ 49 h 49"/>
              <a:gd name="T2" fmla="*/ 0 w 2"/>
              <a:gd name="T3" fmla="*/ 49 h 49"/>
              <a:gd name="T4" fmla="*/ 0 w 2"/>
              <a:gd name="T5" fmla="*/ 49 h 49"/>
              <a:gd name="T6" fmla="*/ 2 w 2"/>
              <a:gd name="T7" fmla="*/ 1 h 49"/>
              <a:gd name="T8" fmla="*/ 2 w 2"/>
              <a:gd name="T9" fmla="*/ 1 h 49"/>
              <a:gd name="T10" fmla="*/ 2 w 2"/>
              <a:gd name="T11" fmla="*/ 1 h 49"/>
              <a:gd name="T12" fmla="*/ 2 w 2"/>
              <a:gd name="T13" fmla="*/ 1 h 49"/>
              <a:gd name="T14" fmla="*/ 2 w 2"/>
              <a:gd name="T15" fmla="*/ 0 h 49"/>
              <a:gd name="T16" fmla="*/ 2 w 2"/>
              <a:gd name="T17" fmla="*/ 0 h 49"/>
              <a:gd name="T18" fmla="*/ 2 w 2"/>
              <a:gd name="T19" fmla="*/ 0 h 49"/>
              <a:gd name="T20" fmla="*/ 2 w 2"/>
              <a:gd name="T2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 h="49">
                <a:moveTo>
                  <a:pt x="0" y="49"/>
                </a:moveTo>
                <a:cubicBezTo>
                  <a:pt x="0" y="49"/>
                  <a:pt x="0" y="49"/>
                  <a:pt x="0" y="49"/>
                </a:cubicBezTo>
                <a:cubicBezTo>
                  <a:pt x="0" y="49"/>
                  <a:pt x="0" y="49"/>
                  <a:pt x="0" y="49"/>
                </a:cubicBezTo>
                <a:moveTo>
                  <a:pt x="2" y="1"/>
                </a:moveTo>
                <a:cubicBezTo>
                  <a:pt x="2" y="1"/>
                  <a:pt x="2" y="1"/>
                  <a:pt x="2" y="1"/>
                </a:cubicBezTo>
                <a:cubicBezTo>
                  <a:pt x="2" y="1"/>
                  <a:pt x="2" y="1"/>
                  <a:pt x="2" y="1"/>
                </a:cubicBezTo>
                <a:cubicBezTo>
                  <a:pt x="2" y="1"/>
                  <a:pt x="2" y="1"/>
                  <a:pt x="2" y="1"/>
                </a:cubicBezTo>
                <a:moveTo>
                  <a:pt x="2" y="0"/>
                </a:moveTo>
                <a:cubicBezTo>
                  <a:pt x="2" y="0"/>
                  <a:pt x="2" y="0"/>
                  <a:pt x="2" y="0"/>
                </a:cubicBezTo>
                <a:cubicBezTo>
                  <a:pt x="2" y="0"/>
                  <a:pt x="2" y="0"/>
                  <a:pt x="2" y="0"/>
                </a:cubicBezTo>
                <a:cubicBezTo>
                  <a:pt x="2" y="0"/>
                  <a:pt x="2" y="0"/>
                  <a:pt x="2" y="0"/>
                </a:cubicBezTo>
              </a:path>
            </a:pathLst>
          </a:custGeom>
          <a:solidFill>
            <a:srgbClr val="C9B7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9" name="Freeform 157"/>
          <p:cNvSpPr>
            <a:spLocks noEditPoints="1"/>
          </p:cNvSpPr>
          <p:nvPr/>
        </p:nvSpPr>
        <p:spPr bwMode="auto">
          <a:xfrm>
            <a:off x="4019551" y="5157788"/>
            <a:ext cx="0" cy="3175"/>
          </a:xfrm>
          <a:custGeom>
            <a:avLst/>
            <a:gdLst>
              <a:gd name="T0" fmla="*/ 1 h 2"/>
              <a:gd name="T1" fmla="*/ 1 h 2"/>
              <a:gd name="T2" fmla="*/ 2 h 2"/>
              <a:gd name="T3" fmla="*/ 1 h 2"/>
              <a:gd name="T4" fmla="*/ 1 h 2"/>
              <a:gd name="T5" fmla="*/ 1 h 2"/>
              <a:gd name="T6" fmla="*/ 1 h 2"/>
              <a:gd name="T7" fmla="*/ 1 h 2"/>
              <a:gd name="T8" fmla="*/ 1 h 2"/>
              <a:gd name="T9" fmla="*/ 1 h 2"/>
              <a:gd name="T10" fmla="*/ 0 h 2"/>
              <a:gd name="T11" fmla="*/ 1 h 2"/>
              <a:gd name="T12" fmla="*/ 0 h 2"/>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 ang="0">
                <a:pos x="0" y="T11"/>
              </a:cxn>
              <a:cxn ang="0">
                <a:pos x="0" y="T12"/>
              </a:cxn>
            </a:cxnLst>
            <a:rect l="0" t="0" r="r" b="b"/>
            <a:pathLst>
              <a:path h="2">
                <a:moveTo>
                  <a:pt x="0" y="1"/>
                </a:moveTo>
                <a:cubicBezTo>
                  <a:pt x="0" y="1"/>
                  <a:pt x="0" y="1"/>
                  <a:pt x="0" y="1"/>
                </a:cubicBezTo>
                <a:cubicBezTo>
                  <a:pt x="0" y="1"/>
                  <a:pt x="0" y="1"/>
                  <a:pt x="0" y="2"/>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0"/>
                </a:moveTo>
                <a:cubicBezTo>
                  <a:pt x="0" y="1"/>
                  <a:pt x="0" y="1"/>
                  <a:pt x="0" y="1"/>
                </a:cubicBezTo>
                <a:cubicBezTo>
                  <a:pt x="0" y="1"/>
                  <a:pt x="0" y="1"/>
                  <a:pt x="0" y="0"/>
                </a:cubicBezTo>
              </a:path>
            </a:pathLst>
          </a:custGeom>
          <a:solidFill>
            <a:srgbClr val="C9B7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0" name="Freeform 158"/>
          <p:cNvSpPr>
            <a:spLocks/>
          </p:cNvSpPr>
          <p:nvPr/>
        </p:nvSpPr>
        <p:spPr bwMode="auto">
          <a:xfrm>
            <a:off x="3883026" y="5162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A853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1" name="Freeform 159"/>
          <p:cNvSpPr>
            <a:spLocks/>
          </p:cNvSpPr>
          <p:nvPr/>
        </p:nvSpPr>
        <p:spPr bwMode="auto">
          <a:xfrm>
            <a:off x="3883026" y="5162550"/>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2" name="Rectangle 160"/>
          <p:cNvSpPr>
            <a:spLocks noChangeArrowheads="1"/>
          </p:cNvSpPr>
          <p:nvPr/>
        </p:nvSpPr>
        <p:spPr bwMode="auto">
          <a:xfrm>
            <a:off x="3884613" y="5334000"/>
            <a:ext cx="1588" cy="1587"/>
          </a:xfrm>
          <a:prstGeom prst="rect">
            <a:avLst/>
          </a:prstGeom>
          <a:solidFill>
            <a:srgbClr val="AD532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3" name="Freeform 161"/>
          <p:cNvSpPr>
            <a:spLocks/>
          </p:cNvSpPr>
          <p:nvPr/>
        </p:nvSpPr>
        <p:spPr bwMode="auto">
          <a:xfrm>
            <a:off x="3884613" y="5334000"/>
            <a:ext cx="0" cy="0"/>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4" name="Freeform 162"/>
          <p:cNvSpPr>
            <a:spLocks noEditPoints="1"/>
          </p:cNvSpPr>
          <p:nvPr/>
        </p:nvSpPr>
        <p:spPr bwMode="auto">
          <a:xfrm>
            <a:off x="3865563" y="5378450"/>
            <a:ext cx="6350" cy="22225"/>
          </a:xfrm>
          <a:custGeom>
            <a:avLst/>
            <a:gdLst>
              <a:gd name="T0" fmla="*/ 4 w 4"/>
              <a:gd name="T1" fmla="*/ 12 h 13"/>
              <a:gd name="T2" fmla="*/ 0 w 4"/>
              <a:gd name="T3" fmla="*/ 13 h 13"/>
              <a:gd name="T4" fmla="*/ 0 w 4"/>
              <a:gd name="T5" fmla="*/ 13 h 13"/>
              <a:gd name="T6" fmla="*/ 4 w 4"/>
              <a:gd name="T7" fmla="*/ 12 h 13"/>
              <a:gd name="T8" fmla="*/ 4 w 4"/>
              <a:gd name="T9" fmla="*/ 12 h 13"/>
              <a:gd name="T10" fmla="*/ 4 w 4"/>
              <a:gd name="T11" fmla="*/ 12 h 13"/>
              <a:gd name="T12" fmla="*/ 4 w 4"/>
              <a:gd name="T13" fmla="*/ 12 h 13"/>
              <a:gd name="T14" fmla="*/ 4 w 4"/>
              <a:gd name="T15" fmla="*/ 12 h 13"/>
              <a:gd name="T16" fmla="*/ 1 w 4"/>
              <a:gd name="T17" fmla="*/ 0 h 13"/>
              <a:gd name="T18" fmla="*/ 1 w 4"/>
              <a:gd name="T19" fmla="*/ 0 h 13"/>
              <a:gd name="T20" fmla="*/ 4 w 4"/>
              <a:gd name="T21" fmla="*/ 12 h 13"/>
              <a:gd name="T22" fmla="*/ 1 w 4"/>
              <a:gd name="T23"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 h="13">
                <a:moveTo>
                  <a:pt x="4" y="12"/>
                </a:moveTo>
                <a:cubicBezTo>
                  <a:pt x="4" y="12"/>
                  <a:pt x="2" y="12"/>
                  <a:pt x="0" y="13"/>
                </a:cubicBezTo>
                <a:cubicBezTo>
                  <a:pt x="0" y="13"/>
                  <a:pt x="0" y="13"/>
                  <a:pt x="0" y="13"/>
                </a:cubicBezTo>
                <a:cubicBezTo>
                  <a:pt x="2" y="12"/>
                  <a:pt x="4" y="12"/>
                  <a:pt x="4" y="12"/>
                </a:cubicBezTo>
                <a:moveTo>
                  <a:pt x="4" y="12"/>
                </a:moveTo>
                <a:cubicBezTo>
                  <a:pt x="4" y="12"/>
                  <a:pt x="4" y="12"/>
                  <a:pt x="4" y="12"/>
                </a:cubicBezTo>
                <a:cubicBezTo>
                  <a:pt x="4" y="12"/>
                  <a:pt x="4" y="12"/>
                  <a:pt x="4" y="12"/>
                </a:cubicBezTo>
                <a:cubicBezTo>
                  <a:pt x="4" y="12"/>
                  <a:pt x="4" y="12"/>
                  <a:pt x="4" y="12"/>
                </a:cubicBezTo>
                <a:moveTo>
                  <a:pt x="1" y="0"/>
                </a:moveTo>
                <a:cubicBezTo>
                  <a:pt x="1" y="0"/>
                  <a:pt x="1" y="0"/>
                  <a:pt x="1" y="0"/>
                </a:cubicBezTo>
                <a:cubicBezTo>
                  <a:pt x="2" y="6"/>
                  <a:pt x="4" y="12"/>
                  <a:pt x="4" y="12"/>
                </a:cubicBezTo>
                <a:cubicBezTo>
                  <a:pt x="4" y="12"/>
                  <a:pt x="2" y="6"/>
                  <a:pt x="1" y="0"/>
                </a:cubicBezTo>
              </a:path>
            </a:pathLst>
          </a:custGeom>
          <a:solidFill>
            <a:srgbClr val="C9B7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5" name="Freeform 163"/>
          <p:cNvSpPr>
            <a:spLocks noEditPoints="1"/>
          </p:cNvSpPr>
          <p:nvPr/>
        </p:nvSpPr>
        <p:spPr bwMode="auto">
          <a:xfrm>
            <a:off x="3822701" y="4848225"/>
            <a:ext cx="204788" cy="744537"/>
          </a:xfrm>
          <a:custGeom>
            <a:avLst/>
            <a:gdLst>
              <a:gd name="T0" fmla="*/ 28 w 120"/>
              <a:gd name="T1" fmla="*/ 23 h 439"/>
              <a:gd name="T2" fmla="*/ 48 w 120"/>
              <a:gd name="T3" fmla="*/ 63 h 439"/>
              <a:gd name="T4" fmla="*/ 22 w 120"/>
              <a:gd name="T5" fmla="*/ 56 h 439"/>
              <a:gd name="T6" fmla="*/ 33 w 120"/>
              <a:gd name="T7" fmla="*/ 140 h 439"/>
              <a:gd name="T8" fmla="*/ 35 w 120"/>
              <a:gd name="T9" fmla="*/ 142 h 439"/>
              <a:gd name="T10" fmla="*/ 35 w 120"/>
              <a:gd name="T11" fmla="*/ 142 h 439"/>
              <a:gd name="T12" fmla="*/ 58 w 120"/>
              <a:gd name="T13" fmla="*/ 166 h 439"/>
              <a:gd name="T14" fmla="*/ 35 w 120"/>
              <a:gd name="T15" fmla="*/ 186 h 439"/>
              <a:gd name="T16" fmla="*/ 35 w 120"/>
              <a:gd name="T17" fmla="*/ 186 h 439"/>
              <a:gd name="T18" fmla="*/ 35 w 120"/>
              <a:gd name="T19" fmla="*/ 186 h 439"/>
              <a:gd name="T20" fmla="*/ 33 w 120"/>
              <a:gd name="T21" fmla="*/ 191 h 439"/>
              <a:gd name="T22" fmla="*/ 40 w 120"/>
              <a:gd name="T23" fmla="*/ 229 h 439"/>
              <a:gd name="T24" fmla="*/ 45 w 120"/>
              <a:gd name="T25" fmla="*/ 235 h 439"/>
              <a:gd name="T26" fmla="*/ 45 w 120"/>
              <a:gd name="T27" fmla="*/ 235 h 439"/>
              <a:gd name="T28" fmla="*/ 56 w 120"/>
              <a:gd name="T29" fmla="*/ 253 h 439"/>
              <a:gd name="T30" fmla="*/ 36 w 120"/>
              <a:gd name="T31" fmla="*/ 287 h 439"/>
              <a:gd name="T32" fmla="*/ 36 w 120"/>
              <a:gd name="T33" fmla="*/ 287 h 439"/>
              <a:gd name="T34" fmla="*/ 34 w 120"/>
              <a:gd name="T35" fmla="*/ 290 h 439"/>
              <a:gd name="T36" fmla="*/ 26 w 120"/>
              <a:gd name="T37" fmla="*/ 313 h 439"/>
              <a:gd name="T38" fmla="*/ 29 w 120"/>
              <a:gd name="T39" fmla="*/ 325 h 439"/>
              <a:gd name="T40" fmla="*/ 29 w 120"/>
              <a:gd name="T41" fmla="*/ 325 h 439"/>
              <a:gd name="T42" fmla="*/ 29 w 120"/>
              <a:gd name="T43" fmla="*/ 325 h 439"/>
              <a:gd name="T44" fmla="*/ 44 w 120"/>
              <a:gd name="T45" fmla="*/ 355 h 439"/>
              <a:gd name="T46" fmla="*/ 31 w 120"/>
              <a:gd name="T47" fmla="*/ 404 h 439"/>
              <a:gd name="T48" fmla="*/ 0 w 120"/>
              <a:gd name="T49" fmla="*/ 412 h 439"/>
              <a:gd name="T50" fmla="*/ 67 w 120"/>
              <a:gd name="T51" fmla="*/ 312 h 439"/>
              <a:gd name="T52" fmla="*/ 63 w 120"/>
              <a:gd name="T53" fmla="*/ 24 h 439"/>
              <a:gd name="T54" fmla="*/ 95 w 120"/>
              <a:gd name="T55" fmla="*/ 0 h 439"/>
              <a:gd name="T56" fmla="*/ 84 w 120"/>
              <a:gd name="T57" fmla="*/ 167 h 439"/>
              <a:gd name="T58" fmla="*/ 115 w 120"/>
              <a:gd name="T59" fmla="*/ 247 h 439"/>
              <a:gd name="T60" fmla="*/ 113 w 120"/>
              <a:gd name="T61" fmla="*/ 245 h 439"/>
              <a:gd name="T62" fmla="*/ 113 w 120"/>
              <a:gd name="T63" fmla="*/ 245 h 439"/>
              <a:gd name="T64" fmla="*/ 113 w 120"/>
              <a:gd name="T65" fmla="*/ 245 h 439"/>
              <a:gd name="T66" fmla="*/ 87 w 120"/>
              <a:gd name="T67" fmla="*/ 210 h 439"/>
              <a:gd name="T68" fmla="*/ 116 w 120"/>
              <a:gd name="T69" fmla="*/ 185 h 439"/>
              <a:gd name="T70" fmla="*/ 116 w 120"/>
              <a:gd name="T71" fmla="*/ 184 h 439"/>
              <a:gd name="T72" fmla="*/ 116 w 120"/>
              <a:gd name="T73" fmla="*/ 184 h 439"/>
              <a:gd name="T74" fmla="*/ 116 w 120"/>
              <a:gd name="T75" fmla="*/ 184 h 439"/>
              <a:gd name="T76" fmla="*/ 116 w 120"/>
              <a:gd name="T77" fmla="*/ 184 h 439"/>
              <a:gd name="T78" fmla="*/ 118 w 120"/>
              <a:gd name="T79" fmla="*/ 180 h 439"/>
              <a:gd name="T80" fmla="*/ 119 w 120"/>
              <a:gd name="T81" fmla="*/ 137 h 439"/>
              <a:gd name="T82" fmla="*/ 116 w 120"/>
              <a:gd name="T83" fmla="*/ 133 h 439"/>
              <a:gd name="T84" fmla="*/ 116 w 120"/>
              <a:gd name="T85" fmla="*/ 133 h 439"/>
              <a:gd name="T86" fmla="*/ 116 w 120"/>
              <a:gd name="T87" fmla="*/ 133 h 439"/>
              <a:gd name="T88" fmla="*/ 89 w 120"/>
              <a:gd name="T89" fmla="*/ 111 h 439"/>
              <a:gd name="T90" fmla="*/ 118 w 120"/>
              <a:gd name="T91" fmla="*/ 85 h 439"/>
              <a:gd name="T92" fmla="*/ 118 w 120"/>
              <a:gd name="T93" fmla="*/ 85 h 439"/>
              <a:gd name="T94" fmla="*/ 118 w 120"/>
              <a:gd name="T95" fmla="*/ 84 h 439"/>
              <a:gd name="T96" fmla="*/ 99 w 120"/>
              <a:gd name="T97" fmla="*/ 68 h 439"/>
              <a:gd name="T98" fmla="*/ 112 w 120"/>
              <a:gd name="T99" fmla="*/ 5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0" h="439">
                <a:moveTo>
                  <a:pt x="37" y="15"/>
                </a:moveTo>
                <a:cubicBezTo>
                  <a:pt x="37" y="15"/>
                  <a:pt x="33" y="18"/>
                  <a:pt x="28" y="23"/>
                </a:cubicBezTo>
                <a:cubicBezTo>
                  <a:pt x="39" y="34"/>
                  <a:pt x="54" y="53"/>
                  <a:pt x="52" y="60"/>
                </a:cubicBezTo>
                <a:cubicBezTo>
                  <a:pt x="52" y="62"/>
                  <a:pt x="50" y="63"/>
                  <a:pt x="48" y="63"/>
                </a:cubicBezTo>
                <a:cubicBezTo>
                  <a:pt x="41" y="63"/>
                  <a:pt x="30" y="57"/>
                  <a:pt x="22" y="53"/>
                </a:cubicBezTo>
                <a:cubicBezTo>
                  <a:pt x="22" y="54"/>
                  <a:pt x="22" y="55"/>
                  <a:pt x="22" y="56"/>
                </a:cubicBezTo>
                <a:cubicBezTo>
                  <a:pt x="35" y="72"/>
                  <a:pt x="62" y="106"/>
                  <a:pt x="63" y="118"/>
                </a:cubicBezTo>
                <a:cubicBezTo>
                  <a:pt x="63" y="131"/>
                  <a:pt x="46" y="138"/>
                  <a:pt x="33" y="140"/>
                </a:cubicBezTo>
                <a:cubicBezTo>
                  <a:pt x="34" y="140"/>
                  <a:pt x="34" y="141"/>
                  <a:pt x="35" y="142"/>
                </a:cubicBezTo>
                <a:cubicBezTo>
                  <a:pt x="35" y="142"/>
                  <a:pt x="35" y="142"/>
                  <a:pt x="35" y="142"/>
                </a:cubicBezTo>
                <a:cubicBezTo>
                  <a:pt x="35" y="142"/>
                  <a:pt x="35" y="142"/>
                  <a:pt x="35" y="142"/>
                </a:cubicBezTo>
                <a:cubicBezTo>
                  <a:pt x="35" y="142"/>
                  <a:pt x="35" y="142"/>
                  <a:pt x="35" y="142"/>
                </a:cubicBezTo>
                <a:cubicBezTo>
                  <a:pt x="35" y="142"/>
                  <a:pt x="33" y="145"/>
                  <a:pt x="31" y="150"/>
                </a:cubicBezTo>
                <a:cubicBezTo>
                  <a:pt x="41" y="151"/>
                  <a:pt x="58" y="154"/>
                  <a:pt x="58" y="166"/>
                </a:cubicBezTo>
                <a:cubicBezTo>
                  <a:pt x="58" y="175"/>
                  <a:pt x="44" y="180"/>
                  <a:pt x="33" y="182"/>
                </a:cubicBezTo>
                <a:cubicBezTo>
                  <a:pt x="34" y="184"/>
                  <a:pt x="35" y="186"/>
                  <a:pt x="35" y="186"/>
                </a:cubicBezTo>
                <a:cubicBezTo>
                  <a:pt x="35" y="186"/>
                  <a:pt x="35" y="186"/>
                  <a:pt x="35" y="186"/>
                </a:cubicBezTo>
                <a:cubicBezTo>
                  <a:pt x="35" y="186"/>
                  <a:pt x="35" y="186"/>
                  <a:pt x="35" y="186"/>
                </a:cubicBezTo>
                <a:cubicBezTo>
                  <a:pt x="35" y="186"/>
                  <a:pt x="35" y="186"/>
                  <a:pt x="35" y="186"/>
                </a:cubicBezTo>
                <a:cubicBezTo>
                  <a:pt x="35" y="186"/>
                  <a:pt x="35" y="186"/>
                  <a:pt x="35" y="186"/>
                </a:cubicBezTo>
                <a:cubicBezTo>
                  <a:pt x="35" y="186"/>
                  <a:pt x="35" y="186"/>
                  <a:pt x="35" y="186"/>
                </a:cubicBezTo>
                <a:cubicBezTo>
                  <a:pt x="35" y="186"/>
                  <a:pt x="34" y="188"/>
                  <a:pt x="33" y="191"/>
                </a:cubicBezTo>
                <a:cubicBezTo>
                  <a:pt x="44" y="192"/>
                  <a:pt x="57" y="195"/>
                  <a:pt x="58" y="205"/>
                </a:cubicBezTo>
                <a:cubicBezTo>
                  <a:pt x="59" y="217"/>
                  <a:pt x="49" y="225"/>
                  <a:pt x="40" y="229"/>
                </a:cubicBezTo>
                <a:cubicBezTo>
                  <a:pt x="44" y="234"/>
                  <a:pt x="45" y="235"/>
                  <a:pt x="45" y="235"/>
                </a:cubicBezTo>
                <a:cubicBezTo>
                  <a:pt x="45" y="235"/>
                  <a:pt x="45" y="235"/>
                  <a:pt x="45" y="235"/>
                </a:cubicBezTo>
                <a:cubicBezTo>
                  <a:pt x="45" y="235"/>
                  <a:pt x="45" y="235"/>
                  <a:pt x="45" y="235"/>
                </a:cubicBezTo>
                <a:cubicBezTo>
                  <a:pt x="45" y="235"/>
                  <a:pt x="45" y="235"/>
                  <a:pt x="45" y="235"/>
                </a:cubicBezTo>
                <a:cubicBezTo>
                  <a:pt x="45" y="235"/>
                  <a:pt x="43" y="238"/>
                  <a:pt x="40" y="242"/>
                </a:cubicBezTo>
                <a:cubicBezTo>
                  <a:pt x="48" y="244"/>
                  <a:pt x="56" y="248"/>
                  <a:pt x="56" y="253"/>
                </a:cubicBezTo>
                <a:cubicBezTo>
                  <a:pt x="56" y="259"/>
                  <a:pt x="48" y="274"/>
                  <a:pt x="33" y="283"/>
                </a:cubicBezTo>
                <a:cubicBezTo>
                  <a:pt x="34" y="286"/>
                  <a:pt x="36" y="287"/>
                  <a:pt x="36" y="287"/>
                </a:cubicBezTo>
                <a:cubicBezTo>
                  <a:pt x="36" y="287"/>
                  <a:pt x="36" y="287"/>
                  <a:pt x="36" y="287"/>
                </a:cubicBezTo>
                <a:cubicBezTo>
                  <a:pt x="36" y="287"/>
                  <a:pt x="36" y="287"/>
                  <a:pt x="36" y="287"/>
                </a:cubicBezTo>
                <a:cubicBezTo>
                  <a:pt x="36" y="287"/>
                  <a:pt x="36" y="287"/>
                  <a:pt x="36" y="287"/>
                </a:cubicBezTo>
                <a:cubicBezTo>
                  <a:pt x="36" y="287"/>
                  <a:pt x="35" y="289"/>
                  <a:pt x="34" y="290"/>
                </a:cubicBezTo>
                <a:cubicBezTo>
                  <a:pt x="42" y="293"/>
                  <a:pt x="51" y="297"/>
                  <a:pt x="51" y="303"/>
                </a:cubicBezTo>
                <a:cubicBezTo>
                  <a:pt x="51" y="309"/>
                  <a:pt x="37" y="312"/>
                  <a:pt x="26" y="313"/>
                </a:cubicBezTo>
                <a:cubicBezTo>
                  <a:pt x="27" y="319"/>
                  <a:pt x="29" y="325"/>
                  <a:pt x="29" y="325"/>
                </a:cubicBezTo>
                <a:cubicBezTo>
                  <a:pt x="29" y="325"/>
                  <a:pt x="29" y="325"/>
                  <a:pt x="29" y="325"/>
                </a:cubicBezTo>
                <a:cubicBezTo>
                  <a:pt x="29" y="325"/>
                  <a:pt x="29" y="325"/>
                  <a:pt x="29" y="325"/>
                </a:cubicBezTo>
                <a:cubicBezTo>
                  <a:pt x="29" y="325"/>
                  <a:pt x="29" y="325"/>
                  <a:pt x="29" y="325"/>
                </a:cubicBezTo>
                <a:cubicBezTo>
                  <a:pt x="29" y="325"/>
                  <a:pt x="29" y="325"/>
                  <a:pt x="29" y="325"/>
                </a:cubicBezTo>
                <a:cubicBezTo>
                  <a:pt x="29" y="325"/>
                  <a:pt x="29" y="325"/>
                  <a:pt x="29" y="325"/>
                </a:cubicBezTo>
                <a:cubicBezTo>
                  <a:pt x="29" y="325"/>
                  <a:pt x="27" y="325"/>
                  <a:pt x="25" y="326"/>
                </a:cubicBezTo>
                <a:cubicBezTo>
                  <a:pt x="34" y="335"/>
                  <a:pt x="45" y="348"/>
                  <a:pt x="44" y="355"/>
                </a:cubicBezTo>
                <a:cubicBezTo>
                  <a:pt x="43" y="367"/>
                  <a:pt x="16" y="371"/>
                  <a:pt x="16" y="371"/>
                </a:cubicBezTo>
                <a:cubicBezTo>
                  <a:pt x="16" y="371"/>
                  <a:pt x="38" y="392"/>
                  <a:pt x="31" y="404"/>
                </a:cubicBezTo>
                <a:cubicBezTo>
                  <a:pt x="27" y="411"/>
                  <a:pt x="18" y="413"/>
                  <a:pt x="10" y="413"/>
                </a:cubicBezTo>
                <a:cubicBezTo>
                  <a:pt x="4" y="413"/>
                  <a:pt x="0" y="412"/>
                  <a:pt x="0" y="412"/>
                </a:cubicBezTo>
                <a:cubicBezTo>
                  <a:pt x="0" y="412"/>
                  <a:pt x="25" y="419"/>
                  <a:pt x="24" y="439"/>
                </a:cubicBezTo>
                <a:cubicBezTo>
                  <a:pt x="33" y="424"/>
                  <a:pt x="57" y="383"/>
                  <a:pt x="67" y="312"/>
                </a:cubicBezTo>
                <a:cubicBezTo>
                  <a:pt x="79" y="225"/>
                  <a:pt x="75" y="175"/>
                  <a:pt x="64" y="24"/>
                </a:cubicBezTo>
                <a:cubicBezTo>
                  <a:pt x="64" y="24"/>
                  <a:pt x="63" y="24"/>
                  <a:pt x="63" y="24"/>
                </a:cubicBezTo>
                <a:cubicBezTo>
                  <a:pt x="50" y="24"/>
                  <a:pt x="37" y="15"/>
                  <a:pt x="37" y="15"/>
                </a:cubicBezTo>
                <a:moveTo>
                  <a:pt x="95" y="0"/>
                </a:moveTo>
                <a:cubicBezTo>
                  <a:pt x="95" y="0"/>
                  <a:pt x="88" y="15"/>
                  <a:pt x="73" y="22"/>
                </a:cubicBezTo>
                <a:cubicBezTo>
                  <a:pt x="76" y="52"/>
                  <a:pt x="82" y="115"/>
                  <a:pt x="84" y="167"/>
                </a:cubicBezTo>
                <a:cubicBezTo>
                  <a:pt x="85" y="190"/>
                  <a:pt x="85" y="226"/>
                  <a:pt x="81" y="265"/>
                </a:cubicBezTo>
                <a:cubicBezTo>
                  <a:pt x="87" y="255"/>
                  <a:pt x="101" y="249"/>
                  <a:pt x="115" y="247"/>
                </a:cubicBezTo>
                <a:cubicBezTo>
                  <a:pt x="114" y="246"/>
                  <a:pt x="114" y="245"/>
                  <a:pt x="113" y="245"/>
                </a:cubicBezTo>
                <a:cubicBezTo>
                  <a:pt x="113" y="245"/>
                  <a:pt x="113" y="245"/>
                  <a:pt x="113" y="245"/>
                </a:cubicBezTo>
                <a:cubicBezTo>
                  <a:pt x="113" y="245"/>
                  <a:pt x="113" y="245"/>
                  <a:pt x="113" y="245"/>
                </a:cubicBezTo>
                <a:cubicBezTo>
                  <a:pt x="113" y="245"/>
                  <a:pt x="113" y="245"/>
                  <a:pt x="113" y="245"/>
                </a:cubicBezTo>
                <a:cubicBezTo>
                  <a:pt x="113" y="245"/>
                  <a:pt x="113" y="245"/>
                  <a:pt x="113" y="245"/>
                </a:cubicBezTo>
                <a:cubicBezTo>
                  <a:pt x="113" y="245"/>
                  <a:pt x="113" y="245"/>
                  <a:pt x="113" y="245"/>
                </a:cubicBezTo>
                <a:cubicBezTo>
                  <a:pt x="113" y="245"/>
                  <a:pt x="114" y="243"/>
                  <a:pt x="116" y="241"/>
                </a:cubicBezTo>
                <a:cubicBezTo>
                  <a:pt x="104" y="233"/>
                  <a:pt x="86" y="220"/>
                  <a:pt x="87" y="210"/>
                </a:cubicBezTo>
                <a:cubicBezTo>
                  <a:pt x="88" y="199"/>
                  <a:pt x="105" y="191"/>
                  <a:pt x="119" y="188"/>
                </a:cubicBezTo>
                <a:cubicBezTo>
                  <a:pt x="118" y="187"/>
                  <a:pt x="117" y="186"/>
                  <a:pt x="116" y="185"/>
                </a:cubicBezTo>
                <a:cubicBezTo>
                  <a:pt x="116" y="184"/>
                  <a:pt x="116" y="184"/>
                  <a:pt x="116" y="184"/>
                </a:cubicBezTo>
                <a:cubicBezTo>
                  <a:pt x="116" y="184"/>
                  <a:pt x="116" y="184"/>
                  <a:pt x="116" y="184"/>
                </a:cubicBezTo>
                <a:cubicBezTo>
                  <a:pt x="116" y="184"/>
                  <a:pt x="116" y="184"/>
                  <a:pt x="116" y="184"/>
                </a:cubicBezTo>
                <a:cubicBezTo>
                  <a:pt x="116" y="184"/>
                  <a:pt x="116" y="184"/>
                  <a:pt x="116" y="184"/>
                </a:cubicBezTo>
                <a:cubicBezTo>
                  <a:pt x="116" y="184"/>
                  <a:pt x="116" y="184"/>
                  <a:pt x="116" y="184"/>
                </a:cubicBezTo>
                <a:cubicBezTo>
                  <a:pt x="116" y="184"/>
                  <a:pt x="116" y="184"/>
                  <a:pt x="116" y="184"/>
                </a:cubicBezTo>
                <a:cubicBezTo>
                  <a:pt x="116" y="184"/>
                  <a:pt x="116" y="184"/>
                  <a:pt x="116" y="184"/>
                </a:cubicBezTo>
                <a:cubicBezTo>
                  <a:pt x="116" y="184"/>
                  <a:pt x="116" y="184"/>
                  <a:pt x="116" y="184"/>
                </a:cubicBezTo>
                <a:cubicBezTo>
                  <a:pt x="116" y="184"/>
                  <a:pt x="116" y="184"/>
                  <a:pt x="116" y="183"/>
                </a:cubicBezTo>
                <a:cubicBezTo>
                  <a:pt x="117" y="182"/>
                  <a:pt x="117" y="181"/>
                  <a:pt x="118" y="180"/>
                </a:cubicBezTo>
                <a:cubicBezTo>
                  <a:pt x="107" y="175"/>
                  <a:pt x="94" y="166"/>
                  <a:pt x="96" y="160"/>
                </a:cubicBezTo>
                <a:cubicBezTo>
                  <a:pt x="97" y="152"/>
                  <a:pt x="108" y="142"/>
                  <a:pt x="119" y="137"/>
                </a:cubicBezTo>
                <a:cubicBezTo>
                  <a:pt x="117" y="134"/>
                  <a:pt x="116" y="133"/>
                  <a:pt x="116" y="133"/>
                </a:cubicBezTo>
                <a:cubicBezTo>
                  <a:pt x="116" y="133"/>
                  <a:pt x="116" y="133"/>
                  <a:pt x="116" y="133"/>
                </a:cubicBezTo>
                <a:cubicBezTo>
                  <a:pt x="116" y="133"/>
                  <a:pt x="116" y="133"/>
                  <a:pt x="116" y="133"/>
                </a:cubicBezTo>
                <a:cubicBezTo>
                  <a:pt x="116" y="133"/>
                  <a:pt x="116" y="133"/>
                  <a:pt x="116" y="133"/>
                </a:cubicBezTo>
                <a:cubicBezTo>
                  <a:pt x="116" y="133"/>
                  <a:pt x="116" y="133"/>
                  <a:pt x="116" y="133"/>
                </a:cubicBezTo>
                <a:cubicBezTo>
                  <a:pt x="116" y="133"/>
                  <a:pt x="116" y="133"/>
                  <a:pt x="116" y="133"/>
                </a:cubicBezTo>
                <a:cubicBezTo>
                  <a:pt x="116" y="133"/>
                  <a:pt x="116" y="132"/>
                  <a:pt x="117" y="131"/>
                </a:cubicBezTo>
                <a:cubicBezTo>
                  <a:pt x="105" y="127"/>
                  <a:pt x="89" y="120"/>
                  <a:pt x="89" y="111"/>
                </a:cubicBezTo>
                <a:cubicBezTo>
                  <a:pt x="89" y="99"/>
                  <a:pt x="108" y="92"/>
                  <a:pt x="120" y="89"/>
                </a:cubicBezTo>
                <a:cubicBezTo>
                  <a:pt x="119" y="86"/>
                  <a:pt x="118" y="85"/>
                  <a:pt x="118" y="85"/>
                </a:cubicBezTo>
                <a:cubicBezTo>
                  <a:pt x="118" y="85"/>
                  <a:pt x="118" y="85"/>
                  <a:pt x="118" y="85"/>
                </a:cubicBezTo>
                <a:cubicBezTo>
                  <a:pt x="118" y="85"/>
                  <a:pt x="118" y="85"/>
                  <a:pt x="118" y="85"/>
                </a:cubicBezTo>
                <a:cubicBezTo>
                  <a:pt x="118" y="85"/>
                  <a:pt x="118" y="85"/>
                  <a:pt x="118" y="85"/>
                </a:cubicBezTo>
                <a:cubicBezTo>
                  <a:pt x="118" y="85"/>
                  <a:pt x="118" y="84"/>
                  <a:pt x="118" y="84"/>
                </a:cubicBezTo>
                <a:cubicBezTo>
                  <a:pt x="118" y="84"/>
                  <a:pt x="118" y="84"/>
                  <a:pt x="118" y="84"/>
                </a:cubicBezTo>
                <a:cubicBezTo>
                  <a:pt x="110" y="81"/>
                  <a:pt x="101" y="76"/>
                  <a:pt x="99" y="68"/>
                </a:cubicBezTo>
                <a:cubicBezTo>
                  <a:pt x="97" y="54"/>
                  <a:pt x="98" y="32"/>
                  <a:pt x="104" y="25"/>
                </a:cubicBezTo>
                <a:cubicBezTo>
                  <a:pt x="107" y="20"/>
                  <a:pt x="110" y="12"/>
                  <a:pt x="112" y="5"/>
                </a:cubicBezTo>
                <a:cubicBezTo>
                  <a:pt x="103" y="4"/>
                  <a:pt x="95" y="0"/>
                  <a:pt x="95"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6" name="Freeform 164"/>
          <p:cNvSpPr>
            <a:spLocks noEditPoints="1"/>
          </p:cNvSpPr>
          <p:nvPr/>
        </p:nvSpPr>
        <p:spPr bwMode="auto">
          <a:xfrm>
            <a:off x="3987801" y="5368925"/>
            <a:ext cx="22225" cy="84137"/>
          </a:xfrm>
          <a:custGeom>
            <a:avLst/>
            <a:gdLst>
              <a:gd name="T0" fmla="*/ 0 w 13"/>
              <a:gd name="T1" fmla="*/ 50 h 50"/>
              <a:gd name="T2" fmla="*/ 0 w 13"/>
              <a:gd name="T3" fmla="*/ 50 h 50"/>
              <a:gd name="T4" fmla="*/ 0 w 13"/>
              <a:gd name="T5" fmla="*/ 50 h 50"/>
              <a:gd name="T6" fmla="*/ 3 w 13"/>
              <a:gd name="T7" fmla="*/ 47 h 50"/>
              <a:gd name="T8" fmla="*/ 0 w 13"/>
              <a:gd name="T9" fmla="*/ 50 h 50"/>
              <a:gd name="T10" fmla="*/ 3 w 13"/>
              <a:gd name="T11" fmla="*/ 47 h 50"/>
              <a:gd name="T12" fmla="*/ 3 w 13"/>
              <a:gd name="T13" fmla="*/ 47 h 50"/>
              <a:gd name="T14" fmla="*/ 12 w 13"/>
              <a:gd name="T15" fmla="*/ 0 h 50"/>
              <a:gd name="T16" fmla="*/ 13 w 13"/>
              <a:gd name="T17" fmla="*/ 1 h 50"/>
              <a:gd name="T18" fmla="*/ 13 w 13"/>
              <a:gd name="T19" fmla="*/ 1 h 50"/>
              <a:gd name="T20" fmla="*/ 12 w 13"/>
              <a:gd name="T21" fmla="*/ 0 h 50"/>
              <a:gd name="T22" fmla="*/ 12 w 13"/>
              <a:gd name="T23" fmla="*/ 0 h 50"/>
              <a:gd name="T24" fmla="*/ 12 w 13"/>
              <a:gd name="T25" fmla="*/ 0 h 50"/>
              <a:gd name="T26" fmla="*/ 12 w 13"/>
              <a:gd name="T27"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 h="50">
                <a:moveTo>
                  <a:pt x="0" y="50"/>
                </a:moveTo>
                <a:cubicBezTo>
                  <a:pt x="0" y="50"/>
                  <a:pt x="0" y="50"/>
                  <a:pt x="0" y="50"/>
                </a:cubicBezTo>
                <a:cubicBezTo>
                  <a:pt x="0" y="50"/>
                  <a:pt x="0" y="50"/>
                  <a:pt x="0" y="50"/>
                </a:cubicBezTo>
                <a:moveTo>
                  <a:pt x="3" y="47"/>
                </a:moveTo>
                <a:cubicBezTo>
                  <a:pt x="2" y="49"/>
                  <a:pt x="1" y="50"/>
                  <a:pt x="0" y="50"/>
                </a:cubicBezTo>
                <a:cubicBezTo>
                  <a:pt x="1" y="50"/>
                  <a:pt x="2" y="49"/>
                  <a:pt x="3" y="47"/>
                </a:cubicBezTo>
                <a:cubicBezTo>
                  <a:pt x="3" y="47"/>
                  <a:pt x="3" y="47"/>
                  <a:pt x="3" y="47"/>
                </a:cubicBezTo>
                <a:moveTo>
                  <a:pt x="12" y="0"/>
                </a:moveTo>
                <a:cubicBezTo>
                  <a:pt x="12" y="0"/>
                  <a:pt x="12" y="0"/>
                  <a:pt x="13" y="1"/>
                </a:cubicBezTo>
                <a:cubicBezTo>
                  <a:pt x="13" y="1"/>
                  <a:pt x="13" y="1"/>
                  <a:pt x="13" y="1"/>
                </a:cubicBezTo>
                <a:cubicBezTo>
                  <a:pt x="12" y="0"/>
                  <a:pt x="12" y="0"/>
                  <a:pt x="12" y="0"/>
                </a:cubicBezTo>
                <a:moveTo>
                  <a:pt x="12" y="0"/>
                </a:moveTo>
                <a:cubicBezTo>
                  <a:pt x="12" y="0"/>
                  <a:pt x="12" y="0"/>
                  <a:pt x="12" y="0"/>
                </a:cubicBezTo>
                <a:cubicBezTo>
                  <a:pt x="12" y="0"/>
                  <a:pt x="12" y="0"/>
                  <a:pt x="12" y="0"/>
                </a:cubicBezTo>
              </a:path>
            </a:pathLst>
          </a:custGeom>
          <a:solidFill>
            <a:srgbClr val="C9B7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7" name="Freeform 165"/>
          <p:cNvSpPr>
            <a:spLocks/>
          </p:cNvSpPr>
          <p:nvPr/>
        </p:nvSpPr>
        <p:spPr bwMode="auto">
          <a:xfrm>
            <a:off x="3825876" y="5321300"/>
            <a:ext cx="187325" cy="330200"/>
          </a:xfrm>
          <a:custGeom>
            <a:avLst/>
            <a:gdLst>
              <a:gd name="T0" fmla="*/ 78 w 110"/>
              <a:gd name="T1" fmla="*/ 0 h 195"/>
              <a:gd name="T2" fmla="*/ 21 w 110"/>
              <a:gd name="T3" fmla="*/ 164 h 195"/>
              <a:gd name="T4" fmla="*/ 0 w 110"/>
              <a:gd name="T5" fmla="*/ 195 h 195"/>
              <a:gd name="T6" fmla="*/ 53 w 110"/>
              <a:gd name="T7" fmla="*/ 162 h 195"/>
              <a:gd name="T8" fmla="*/ 59 w 110"/>
              <a:gd name="T9" fmla="*/ 135 h 195"/>
              <a:gd name="T10" fmla="*/ 78 w 110"/>
              <a:gd name="T11" fmla="*/ 127 h 195"/>
              <a:gd name="T12" fmla="*/ 82 w 110"/>
              <a:gd name="T13" fmla="*/ 127 h 195"/>
              <a:gd name="T14" fmla="*/ 80 w 110"/>
              <a:gd name="T15" fmla="*/ 123 h 195"/>
              <a:gd name="T16" fmla="*/ 80 w 110"/>
              <a:gd name="T17" fmla="*/ 123 h 195"/>
              <a:gd name="T18" fmla="*/ 80 w 110"/>
              <a:gd name="T19" fmla="*/ 123 h 195"/>
              <a:gd name="T20" fmla="*/ 80 w 110"/>
              <a:gd name="T21" fmla="*/ 123 h 195"/>
              <a:gd name="T22" fmla="*/ 83 w 110"/>
              <a:gd name="T23" fmla="*/ 122 h 195"/>
              <a:gd name="T24" fmla="*/ 63 w 110"/>
              <a:gd name="T25" fmla="*/ 92 h 195"/>
              <a:gd name="T26" fmla="*/ 93 w 110"/>
              <a:gd name="T27" fmla="*/ 80 h 195"/>
              <a:gd name="T28" fmla="*/ 96 w 110"/>
              <a:gd name="T29" fmla="*/ 80 h 195"/>
              <a:gd name="T30" fmla="*/ 95 w 110"/>
              <a:gd name="T31" fmla="*/ 78 h 195"/>
              <a:gd name="T32" fmla="*/ 95 w 110"/>
              <a:gd name="T33" fmla="*/ 78 h 195"/>
              <a:gd name="T34" fmla="*/ 95 w 110"/>
              <a:gd name="T35" fmla="*/ 78 h 195"/>
              <a:gd name="T36" fmla="*/ 95 w 110"/>
              <a:gd name="T37" fmla="*/ 78 h 195"/>
              <a:gd name="T38" fmla="*/ 95 w 110"/>
              <a:gd name="T39" fmla="*/ 78 h 195"/>
              <a:gd name="T40" fmla="*/ 95 w 110"/>
              <a:gd name="T41" fmla="*/ 78 h 195"/>
              <a:gd name="T42" fmla="*/ 95 w 110"/>
              <a:gd name="T43" fmla="*/ 78 h 195"/>
              <a:gd name="T44" fmla="*/ 98 w 110"/>
              <a:gd name="T45" fmla="*/ 75 h 195"/>
              <a:gd name="T46" fmla="*/ 76 w 110"/>
              <a:gd name="T47" fmla="*/ 49 h 195"/>
              <a:gd name="T48" fmla="*/ 108 w 110"/>
              <a:gd name="T49" fmla="*/ 29 h 195"/>
              <a:gd name="T50" fmla="*/ 107 w 110"/>
              <a:gd name="T51" fmla="*/ 28 h 195"/>
              <a:gd name="T52" fmla="*/ 107 w 110"/>
              <a:gd name="T53" fmla="*/ 28 h 195"/>
              <a:gd name="T54" fmla="*/ 107 w 110"/>
              <a:gd name="T55" fmla="*/ 28 h 195"/>
              <a:gd name="T56" fmla="*/ 107 w 110"/>
              <a:gd name="T57" fmla="*/ 28 h 195"/>
              <a:gd name="T58" fmla="*/ 107 w 110"/>
              <a:gd name="T59" fmla="*/ 28 h 195"/>
              <a:gd name="T60" fmla="*/ 107 w 110"/>
              <a:gd name="T61" fmla="*/ 28 h 195"/>
              <a:gd name="T62" fmla="*/ 107 w 110"/>
              <a:gd name="T63" fmla="*/ 28 h 195"/>
              <a:gd name="T64" fmla="*/ 110 w 110"/>
              <a:gd name="T65" fmla="*/ 25 h 195"/>
              <a:gd name="T66" fmla="*/ 78 w 110"/>
              <a:gd name="T6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0" h="195">
                <a:moveTo>
                  <a:pt x="78" y="0"/>
                </a:moveTo>
                <a:cubicBezTo>
                  <a:pt x="71" y="69"/>
                  <a:pt x="55" y="142"/>
                  <a:pt x="21" y="164"/>
                </a:cubicBezTo>
                <a:cubicBezTo>
                  <a:pt x="19" y="172"/>
                  <a:pt x="13" y="182"/>
                  <a:pt x="0" y="195"/>
                </a:cubicBezTo>
                <a:cubicBezTo>
                  <a:pt x="0" y="195"/>
                  <a:pt x="36" y="162"/>
                  <a:pt x="53" y="162"/>
                </a:cubicBezTo>
                <a:cubicBezTo>
                  <a:pt x="53" y="162"/>
                  <a:pt x="53" y="145"/>
                  <a:pt x="59" y="135"/>
                </a:cubicBezTo>
                <a:cubicBezTo>
                  <a:pt x="62" y="129"/>
                  <a:pt x="70" y="127"/>
                  <a:pt x="78" y="127"/>
                </a:cubicBezTo>
                <a:cubicBezTo>
                  <a:pt x="79" y="127"/>
                  <a:pt x="80" y="127"/>
                  <a:pt x="82" y="127"/>
                </a:cubicBezTo>
                <a:cubicBezTo>
                  <a:pt x="81" y="125"/>
                  <a:pt x="81" y="124"/>
                  <a:pt x="80" y="123"/>
                </a:cubicBezTo>
                <a:cubicBezTo>
                  <a:pt x="80" y="123"/>
                  <a:pt x="80" y="123"/>
                  <a:pt x="80" y="123"/>
                </a:cubicBezTo>
                <a:cubicBezTo>
                  <a:pt x="80" y="123"/>
                  <a:pt x="80" y="123"/>
                  <a:pt x="80" y="123"/>
                </a:cubicBezTo>
                <a:cubicBezTo>
                  <a:pt x="80" y="123"/>
                  <a:pt x="80" y="123"/>
                  <a:pt x="80" y="123"/>
                </a:cubicBezTo>
                <a:cubicBezTo>
                  <a:pt x="80" y="123"/>
                  <a:pt x="81" y="123"/>
                  <a:pt x="83" y="122"/>
                </a:cubicBezTo>
                <a:cubicBezTo>
                  <a:pt x="74" y="114"/>
                  <a:pt x="62" y="101"/>
                  <a:pt x="63" y="92"/>
                </a:cubicBezTo>
                <a:cubicBezTo>
                  <a:pt x="63" y="83"/>
                  <a:pt x="80" y="80"/>
                  <a:pt x="93" y="80"/>
                </a:cubicBezTo>
                <a:cubicBezTo>
                  <a:pt x="94" y="80"/>
                  <a:pt x="95" y="80"/>
                  <a:pt x="96" y="80"/>
                </a:cubicBezTo>
                <a:cubicBezTo>
                  <a:pt x="96" y="79"/>
                  <a:pt x="96" y="79"/>
                  <a:pt x="95" y="78"/>
                </a:cubicBezTo>
                <a:cubicBezTo>
                  <a:pt x="95" y="78"/>
                  <a:pt x="95" y="78"/>
                  <a:pt x="95" y="78"/>
                </a:cubicBezTo>
                <a:cubicBezTo>
                  <a:pt x="95" y="78"/>
                  <a:pt x="95" y="78"/>
                  <a:pt x="95" y="78"/>
                </a:cubicBezTo>
                <a:cubicBezTo>
                  <a:pt x="95" y="78"/>
                  <a:pt x="95" y="78"/>
                  <a:pt x="95" y="78"/>
                </a:cubicBezTo>
                <a:cubicBezTo>
                  <a:pt x="95" y="78"/>
                  <a:pt x="95" y="78"/>
                  <a:pt x="95" y="78"/>
                </a:cubicBezTo>
                <a:cubicBezTo>
                  <a:pt x="95" y="78"/>
                  <a:pt x="95" y="78"/>
                  <a:pt x="95" y="78"/>
                </a:cubicBezTo>
                <a:cubicBezTo>
                  <a:pt x="95" y="78"/>
                  <a:pt x="95" y="78"/>
                  <a:pt x="95" y="78"/>
                </a:cubicBezTo>
                <a:cubicBezTo>
                  <a:pt x="96" y="78"/>
                  <a:pt x="97" y="77"/>
                  <a:pt x="98" y="75"/>
                </a:cubicBezTo>
                <a:cubicBezTo>
                  <a:pt x="88" y="68"/>
                  <a:pt x="75" y="57"/>
                  <a:pt x="76" y="49"/>
                </a:cubicBezTo>
                <a:cubicBezTo>
                  <a:pt x="78" y="41"/>
                  <a:pt x="97" y="33"/>
                  <a:pt x="108" y="29"/>
                </a:cubicBezTo>
                <a:cubicBezTo>
                  <a:pt x="107" y="28"/>
                  <a:pt x="107" y="28"/>
                  <a:pt x="107" y="28"/>
                </a:cubicBezTo>
                <a:cubicBezTo>
                  <a:pt x="107" y="28"/>
                  <a:pt x="107" y="28"/>
                  <a:pt x="107" y="28"/>
                </a:cubicBezTo>
                <a:cubicBezTo>
                  <a:pt x="107" y="28"/>
                  <a:pt x="107" y="28"/>
                  <a:pt x="107" y="28"/>
                </a:cubicBezTo>
                <a:cubicBezTo>
                  <a:pt x="107" y="28"/>
                  <a:pt x="107" y="28"/>
                  <a:pt x="107" y="28"/>
                </a:cubicBezTo>
                <a:cubicBezTo>
                  <a:pt x="107" y="28"/>
                  <a:pt x="107" y="28"/>
                  <a:pt x="107" y="28"/>
                </a:cubicBezTo>
                <a:cubicBezTo>
                  <a:pt x="107" y="28"/>
                  <a:pt x="107" y="28"/>
                  <a:pt x="107" y="28"/>
                </a:cubicBezTo>
                <a:cubicBezTo>
                  <a:pt x="107" y="28"/>
                  <a:pt x="107" y="28"/>
                  <a:pt x="107" y="28"/>
                </a:cubicBezTo>
                <a:cubicBezTo>
                  <a:pt x="107" y="28"/>
                  <a:pt x="108" y="26"/>
                  <a:pt x="110" y="25"/>
                </a:cubicBezTo>
                <a:cubicBezTo>
                  <a:pt x="101" y="21"/>
                  <a:pt x="83" y="11"/>
                  <a:pt x="78"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8" name="Freeform 166"/>
          <p:cNvSpPr>
            <a:spLocks noEditPoints="1"/>
          </p:cNvSpPr>
          <p:nvPr/>
        </p:nvSpPr>
        <p:spPr bwMode="auto">
          <a:xfrm>
            <a:off x="3856038" y="5297488"/>
            <a:ext cx="104775" cy="304800"/>
          </a:xfrm>
          <a:custGeom>
            <a:avLst/>
            <a:gdLst>
              <a:gd name="T0" fmla="*/ 5 w 62"/>
              <a:gd name="T1" fmla="*/ 174 h 180"/>
              <a:gd name="T2" fmla="*/ 0 w 62"/>
              <a:gd name="T3" fmla="*/ 180 h 180"/>
              <a:gd name="T4" fmla="*/ 4 w 62"/>
              <a:gd name="T5" fmla="*/ 178 h 180"/>
              <a:gd name="T6" fmla="*/ 5 w 62"/>
              <a:gd name="T7" fmla="*/ 174 h 180"/>
              <a:gd name="T8" fmla="*/ 62 w 62"/>
              <a:gd name="T9" fmla="*/ 0 h 180"/>
              <a:gd name="T10" fmla="*/ 60 w 62"/>
              <a:gd name="T11" fmla="*/ 7 h 180"/>
              <a:gd name="T12" fmla="*/ 61 w 62"/>
              <a:gd name="T13" fmla="*/ 14 h 180"/>
              <a:gd name="T14" fmla="*/ 62 w 62"/>
              <a:gd name="T15" fmla="*/ 0 h 1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 h="180">
                <a:moveTo>
                  <a:pt x="5" y="174"/>
                </a:moveTo>
                <a:cubicBezTo>
                  <a:pt x="2" y="178"/>
                  <a:pt x="0" y="180"/>
                  <a:pt x="0" y="180"/>
                </a:cubicBezTo>
                <a:cubicBezTo>
                  <a:pt x="2" y="179"/>
                  <a:pt x="3" y="178"/>
                  <a:pt x="4" y="178"/>
                </a:cubicBezTo>
                <a:cubicBezTo>
                  <a:pt x="4" y="176"/>
                  <a:pt x="5" y="175"/>
                  <a:pt x="5" y="174"/>
                </a:cubicBezTo>
                <a:moveTo>
                  <a:pt x="62" y="0"/>
                </a:moveTo>
                <a:cubicBezTo>
                  <a:pt x="61" y="2"/>
                  <a:pt x="61" y="4"/>
                  <a:pt x="60" y="7"/>
                </a:cubicBezTo>
                <a:cubicBezTo>
                  <a:pt x="60" y="9"/>
                  <a:pt x="60" y="12"/>
                  <a:pt x="61" y="14"/>
                </a:cubicBezTo>
                <a:cubicBezTo>
                  <a:pt x="62" y="10"/>
                  <a:pt x="62" y="5"/>
                  <a:pt x="62" y="0"/>
                </a:cubicBezTo>
              </a:path>
            </a:pathLst>
          </a:custGeom>
          <a:solidFill>
            <a:srgbClr val="C9C6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9" name="Freeform 167"/>
          <p:cNvSpPr>
            <a:spLocks/>
          </p:cNvSpPr>
          <p:nvPr/>
        </p:nvSpPr>
        <p:spPr bwMode="auto">
          <a:xfrm>
            <a:off x="3862388" y="4884738"/>
            <a:ext cx="104775" cy="714375"/>
          </a:xfrm>
          <a:custGeom>
            <a:avLst/>
            <a:gdLst>
              <a:gd name="T0" fmla="*/ 50 w 62"/>
              <a:gd name="T1" fmla="*/ 0 h 421"/>
              <a:gd name="T2" fmla="*/ 50 w 62"/>
              <a:gd name="T3" fmla="*/ 0 h 421"/>
              <a:gd name="T4" fmla="*/ 41 w 62"/>
              <a:gd name="T5" fmla="*/ 2 h 421"/>
              <a:gd name="T6" fmla="*/ 44 w 62"/>
              <a:gd name="T7" fmla="*/ 290 h 421"/>
              <a:gd name="T8" fmla="*/ 1 w 62"/>
              <a:gd name="T9" fmla="*/ 417 h 421"/>
              <a:gd name="T10" fmla="*/ 0 w 62"/>
              <a:gd name="T11" fmla="*/ 421 h 421"/>
              <a:gd name="T12" fmla="*/ 57 w 62"/>
              <a:gd name="T13" fmla="*/ 257 h 421"/>
              <a:gd name="T14" fmla="*/ 56 w 62"/>
              <a:gd name="T15" fmla="*/ 250 h 421"/>
              <a:gd name="T16" fmla="*/ 58 w 62"/>
              <a:gd name="T17" fmla="*/ 243 h 421"/>
              <a:gd name="T18" fmla="*/ 61 w 62"/>
              <a:gd name="T19" fmla="*/ 145 h 421"/>
              <a:gd name="T20" fmla="*/ 50 w 62"/>
              <a:gd name="T21" fmla="*/ 0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421">
                <a:moveTo>
                  <a:pt x="50" y="0"/>
                </a:moveTo>
                <a:cubicBezTo>
                  <a:pt x="50" y="0"/>
                  <a:pt x="50" y="0"/>
                  <a:pt x="50" y="0"/>
                </a:cubicBezTo>
                <a:cubicBezTo>
                  <a:pt x="47" y="1"/>
                  <a:pt x="44" y="2"/>
                  <a:pt x="41" y="2"/>
                </a:cubicBezTo>
                <a:cubicBezTo>
                  <a:pt x="52" y="153"/>
                  <a:pt x="56" y="203"/>
                  <a:pt x="44" y="290"/>
                </a:cubicBezTo>
                <a:cubicBezTo>
                  <a:pt x="34" y="361"/>
                  <a:pt x="10" y="402"/>
                  <a:pt x="1" y="417"/>
                </a:cubicBezTo>
                <a:cubicBezTo>
                  <a:pt x="1" y="418"/>
                  <a:pt x="0" y="419"/>
                  <a:pt x="0" y="421"/>
                </a:cubicBezTo>
                <a:cubicBezTo>
                  <a:pt x="34" y="399"/>
                  <a:pt x="50" y="326"/>
                  <a:pt x="57" y="257"/>
                </a:cubicBezTo>
                <a:cubicBezTo>
                  <a:pt x="56" y="255"/>
                  <a:pt x="56" y="252"/>
                  <a:pt x="56" y="250"/>
                </a:cubicBezTo>
                <a:cubicBezTo>
                  <a:pt x="57" y="247"/>
                  <a:pt x="57" y="245"/>
                  <a:pt x="58" y="243"/>
                </a:cubicBezTo>
                <a:cubicBezTo>
                  <a:pt x="62" y="204"/>
                  <a:pt x="62" y="168"/>
                  <a:pt x="61" y="145"/>
                </a:cubicBezTo>
                <a:cubicBezTo>
                  <a:pt x="59" y="93"/>
                  <a:pt x="53" y="30"/>
                  <a:pt x="50" y="0"/>
                </a:cubicBezTo>
              </a:path>
            </a:pathLst>
          </a:custGeom>
          <a:solidFill>
            <a:srgbClr val="B9B6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0" name="Freeform 168"/>
          <p:cNvSpPr>
            <a:spLocks/>
          </p:cNvSpPr>
          <p:nvPr/>
        </p:nvSpPr>
        <p:spPr bwMode="auto">
          <a:xfrm>
            <a:off x="2890838" y="4803775"/>
            <a:ext cx="320675" cy="919162"/>
          </a:xfrm>
          <a:custGeom>
            <a:avLst/>
            <a:gdLst>
              <a:gd name="T0" fmla="*/ 150 w 189"/>
              <a:gd name="T1" fmla="*/ 536 h 542"/>
              <a:gd name="T2" fmla="*/ 153 w 189"/>
              <a:gd name="T3" fmla="*/ 517 h 542"/>
              <a:gd name="T4" fmla="*/ 136 w 189"/>
              <a:gd name="T5" fmla="*/ 497 h 542"/>
              <a:gd name="T6" fmla="*/ 148 w 189"/>
              <a:gd name="T7" fmla="*/ 467 h 542"/>
              <a:gd name="T8" fmla="*/ 186 w 189"/>
              <a:gd name="T9" fmla="*/ 394 h 542"/>
              <a:gd name="T10" fmla="*/ 157 w 189"/>
              <a:gd name="T11" fmla="*/ 343 h 542"/>
              <a:gd name="T12" fmla="*/ 137 w 189"/>
              <a:gd name="T13" fmla="*/ 299 h 542"/>
              <a:gd name="T14" fmla="*/ 131 w 189"/>
              <a:gd name="T15" fmla="*/ 253 h 542"/>
              <a:gd name="T16" fmla="*/ 134 w 189"/>
              <a:gd name="T17" fmla="*/ 211 h 542"/>
              <a:gd name="T18" fmla="*/ 144 w 189"/>
              <a:gd name="T19" fmla="*/ 178 h 542"/>
              <a:gd name="T20" fmla="*/ 147 w 189"/>
              <a:gd name="T21" fmla="*/ 139 h 542"/>
              <a:gd name="T22" fmla="*/ 158 w 189"/>
              <a:gd name="T23" fmla="*/ 113 h 542"/>
              <a:gd name="T24" fmla="*/ 177 w 189"/>
              <a:gd name="T25" fmla="*/ 79 h 542"/>
              <a:gd name="T26" fmla="*/ 149 w 189"/>
              <a:gd name="T27" fmla="*/ 18 h 542"/>
              <a:gd name="T28" fmla="*/ 104 w 189"/>
              <a:gd name="T29" fmla="*/ 17 h 542"/>
              <a:gd name="T30" fmla="*/ 102 w 189"/>
              <a:gd name="T31" fmla="*/ 44 h 542"/>
              <a:gd name="T32" fmla="*/ 80 w 189"/>
              <a:gd name="T33" fmla="*/ 70 h 542"/>
              <a:gd name="T34" fmla="*/ 61 w 189"/>
              <a:gd name="T35" fmla="*/ 112 h 542"/>
              <a:gd name="T36" fmla="*/ 52 w 189"/>
              <a:gd name="T37" fmla="*/ 148 h 542"/>
              <a:gd name="T38" fmla="*/ 49 w 189"/>
              <a:gd name="T39" fmla="*/ 186 h 542"/>
              <a:gd name="T40" fmla="*/ 51 w 189"/>
              <a:gd name="T41" fmla="*/ 188 h 542"/>
              <a:gd name="T42" fmla="*/ 36 w 189"/>
              <a:gd name="T43" fmla="*/ 256 h 542"/>
              <a:gd name="T44" fmla="*/ 31 w 189"/>
              <a:gd name="T45" fmla="*/ 331 h 542"/>
              <a:gd name="T46" fmla="*/ 41 w 189"/>
              <a:gd name="T47" fmla="*/ 375 h 542"/>
              <a:gd name="T48" fmla="*/ 67 w 189"/>
              <a:gd name="T49" fmla="*/ 452 h 542"/>
              <a:gd name="T50" fmla="*/ 124 w 189"/>
              <a:gd name="T51" fmla="*/ 487 h 542"/>
              <a:gd name="T52" fmla="*/ 150 w 189"/>
              <a:gd name="T53" fmla="*/ 536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9" h="542">
                <a:moveTo>
                  <a:pt x="150" y="536"/>
                </a:moveTo>
                <a:cubicBezTo>
                  <a:pt x="158" y="533"/>
                  <a:pt x="161" y="521"/>
                  <a:pt x="153" y="517"/>
                </a:cubicBezTo>
                <a:cubicBezTo>
                  <a:pt x="145" y="513"/>
                  <a:pt x="137" y="507"/>
                  <a:pt x="136" y="497"/>
                </a:cubicBezTo>
                <a:cubicBezTo>
                  <a:pt x="134" y="487"/>
                  <a:pt x="139" y="477"/>
                  <a:pt x="148" y="467"/>
                </a:cubicBezTo>
                <a:cubicBezTo>
                  <a:pt x="157" y="457"/>
                  <a:pt x="189" y="416"/>
                  <a:pt x="186" y="394"/>
                </a:cubicBezTo>
                <a:cubicBezTo>
                  <a:pt x="183" y="371"/>
                  <a:pt x="184" y="354"/>
                  <a:pt x="157" y="343"/>
                </a:cubicBezTo>
                <a:cubicBezTo>
                  <a:pt x="157" y="343"/>
                  <a:pt x="172" y="300"/>
                  <a:pt x="137" y="299"/>
                </a:cubicBezTo>
                <a:cubicBezTo>
                  <a:pt x="137" y="299"/>
                  <a:pt x="155" y="269"/>
                  <a:pt x="131" y="253"/>
                </a:cubicBezTo>
                <a:cubicBezTo>
                  <a:pt x="131" y="253"/>
                  <a:pt x="153" y="223"/>
                  <a:pt x="134" y="211"/>
                </a:cubicBezTo>
                <a:cubicBezTo>
                  <a:pt x="134" y="211"/>
                  <a:pt x="156" y="190"/>
                  <a:pt x="144" y="178"/>
                </a:cubicBezTo>
                <a:cubicBezTo>
                  <a:pt x="144" y="178"/>
                  <a:pt x="167" y="150"/>
                  <a:pt x="147" y="139"/>
                </a:cubicBezTo>
                <a:cubicBezTo>
                  <a:pt x="147" y="139"/>
                  <a:pt x="170" y="118"/>
                  <a:pt x="158" y="113"/>
                </a:cubicBezTo>
                <a:cubicBezTo>
                  <a:pt x="158" y="113"/>
                  <a:pt x="175" y="88"/>
                  <a:pt x="177" y="79"/>
                </a:cubicBezTo>
                <a:cubicBezTo>
                  <a:pt x="179" y="69"/>
                  <a:pt x="161" y="23"/>
                  <a:pt x="149" y="18"/>
                </a:cubicBezTo>
                <a:cubicBezTo>
                  <a:pt x="137" y="13"/>
                  <a:pt x="108" y="0"/>
                  <a:pt x="104" y="17"/>
                </a:cubicBezTo>
                <a:cubicBezTo>
                  <a:pt x="100" y="33"/>
                  <a:pt x="102" y="44"/>
                  <a:pt x="102" y="44"/>
                </a:cubicBezTo>
                <a:cubicBezTo>
                  <a:pt x="102" y="44"/>
                  <a:pt x="76" y="48"/>
                  <a:pt x="80" y="70"/>
                </a:cubicBezTo>
                <a:cubicBezTo>
                  <a:pt x="80" y="70"/>
                  <a:pt x="50" y="86"/>
                  <a:pt x="61" y="112"/>
                </a:cubicBezTo>
                <a:cubicBezTo>
                  <a:pt x="61" y="112"/>
                  <a:pt x="36" y="133"/>
                  <a:pt x="52" y="148"/>
                </a:cubicBezTo>
                <a:cubicBezTo>
                  <a:pt x="52" y="148"/>
                  <a:pt x="31" y="167"/>
                  <a:pt x="49" y="186"/>
                </a:cubicBezTo>
                <a:cubicBezTo>
                  <a:pt x="49" y="187"/>
                  <a:pt x="50" y="187"/>
                  <a:pt x="51" y="188"/>
                </a:cubicBezTo>
                <a:cubicBezTo>
                  <a:pt x="72" y="207"/>
                  <a:pt x="0" y="208"/>
                  <a:pt x="36" y="256"/>
                </a:cubicBezTo>
                <a:cubicBezTo>
                  <a:pt x="36" y="256"/>
                  <a:pt x="5" y="301"/>
                  <a:pt x="31" y="331"/>
                </a:cubicBezTo>
                <a:cubicBezTo>
                  <a:pt x="31" y="331"/>
                  <a:pt x="15" y="357"/>
                  <a:pt x="41" y="375"/>
                </a:cubicBezTo>
                <a:cubicBezTo>
                  <a:pt x="41" y="375"/>
                  <a:pt x="33" y="435"/>
                  <a:pt x="67" y="452"/>
                </a:cubicBezTo>
                <a:cubicBezTo>
                  <a:pt x="101" y="470"/>
                  <a:pt x="120" y="473"/>
                  <a:pt x="124" y="487"/>
                </a:cubicBezTo>
                <a:cubicBezTo>
                  <a:pt x="128" y="502"/>
                  <a:pt x="127" y="542"/>
                  <a:pt x="150" y="536"/>
                </a:cubicBezTo>
              </a:path>
            </a:pathLst>
          </a:custGeom>
          <a:solidFill>
            <a:srgbClr val="A5A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1" name="Freeform 169"/>
          <p:cNvSpPr>
            <a:spLocks noEditPoints="1"/>
          </p:cNvSpPr>
          <p:nvPr/>
        </p:nvSpPr>
        <p:spPr bwMode="auto">
          <a:xfrm>
            <a:off x="2936876" y="4894263"/>
            <a:ext cx="250825" cy="533400"/>
          </a:xfrm>
          <a:custGeom>
            <a:avLst/>
            <a:gdLst>
              <a:gd name="T0" fmla="*/ 87 w 148"/>
              <a:gd name="T1" fmla="*/ 299 h 315"/>
              <a:gd name="T2" fmla="*/ 84 w 148"/>
              <a:gd name="T3" fmla="*/ 312 h 315"/>
              <a:gd name="T4" fmla="*/ 72 w 148"/>
              <a:gd name="T5" fmla="*/ 248 h 315"/>
              <a:gd name="T6" fmla="*/ 100 w 148"/>
              <a:gd name="T7" fmla="*/ 254 h 315"/>
              <a:gd name="T8" fmla="*/ 72 w 148"/>
              <a:gd name="T9" fmla="*/ 248 h 315"/>
              <a:gd name="T10" fmla="*/ 70 w 148"/>
              <a:gd name="T11" fmla="*/ 228 h 315"/>
              <a:gd name="T12" fmla="*/ 111 w 148"/>
              <a:gd name="T13" fmla="*/ 207 h 315"/>
              <a:gd name="T14" fmla="*/ 106 w 148"/>
              <a:gd name="T15" fmla="*/ 202 h 315"/>
              <a:gd name="T16" fmla="*/ 67 w 148"/>
              <a:gd name="T17" fmla="*/ 183 h 315"/>
              <a:gd name="T18" fmla="*/ 32 w 148"/>
              <a:gd name="T19" fmla="*/ 172 h 315"/>
              <a:gd name="T20" fmla="*/ 51 w 148"/>
              <a:gd name="T21" fmla="*/ 184 h 315"/>
              <a:gd name="T22" fmla="*/ 21 w 148"/>
              <a:gd name="T23" fmla="*/ 206 h 315"/>
              <a:gd name="T24" fmla="*/ 54 w 148"/>
              <a:gd name="T25" fmla="*/ 255 h 315"/>
              <a:gd name="T26" fmla="*/ 56 w 148"/>
              <a:gd name="T27" fmla="*/ 303 h 315"/>
              <a:gd name="T28" fmla="*/ 1 w 148"/>
              <a:gd name="T29" fmla="*/ 286 h 315"/>
              <a:gd name="T30" fmla="*/ 49 w 148"/>
              <a:gd name="T31" fmla="*/ 314 h 315"/>
              <a:gd name="T32" fmla="*/ 72 w 148"/>
              <a:gd name="T33" fmla="*/ 314 h 315"/>
              <a:gd name="T34" fmla="*/ 54 w 148"/>
              <a:gd name="T35" fmla="*/ 164 h 315"/>
              <a:gd name="T36" fmla="*/ 48 w 148"/>
              <a:gd name="T37" fmla="*/ 140 h 315"/>
              <a:gd name="T38" fmla="*/ 55 w 148"/>
              <a:gd name="T39" fmla="*/ 150 h 315"/>
              <a:gd name="T40" fmla="*/ 57 w 148"/>
              <a:gd name="T41" fmla="*/ 137 h 315"/>
              <a:gd name="T42" fmla="*/ 68 w 148"/>
              <a:gd name="T43" fmla="*/ 162 h 315"/>
              <a:gd name="T44" fmla="*/ 81 w 148"/>
              <a:gd name="T45" fmla="*/ 157 h 315"/>
              <a:gd name="T46" fmla="*/ 112 w 148"/>
              <a:gd name="T47" fmla="*/ 163 h 315"/>
              <a:gd name="T48" fmla="*/ 75 w 148"/>
              <a:gd name="T49" fmla="*/ 141 h 315"/>
              <a:gd name="T50" fmla="*/ 68 w 148"/>
              <a:gd name="T51" fmla="*/ 92 h 315"/>
              <a:gd name="T52" fmla="*/ 64 w 148"/>
              <a:gd name="T53" fmla="*/ 105 h 315"/>
              <a:gd name="T54" fmla="*/ 81 w 148"/>
              <a:gd name="T55" fmla="*/ 56 h 315"/>
              <a:gd name="T56" fmla="*/ 55 w 148"/>
              <a:gd name="T57" fmla="*/ 62 h 315"/>
              <a:gd name="T58" fmla="*/ 81 w 148"/>
              <a:gd name="T59" fmla="*/ 56 h 315"/>
              <a:gd name="T60" fmla="*/ 123 w 148"/>
              <a:gd name="T61" fmla="*/ 27 h 315"/>
              <a:gd name="T62" fmla="*/ 110 w 148"/>
              <a:gd name="T63" fmla="*/ 23 h 315"/>
              <a:gd name="T64" fmla="*/ 72 w 148"/>
              <a:gd name="T65" fmla="*/ 123 h 315"/>
              <a:gd name="T66" fmla="*/ 98 w 148"/>
              <a:gd name="T67" fmla="*/ 129 h 315"/>
              <a:gd name="T68" fmla="*/ 86 w 148"/>
              <a:gd name="T69" fmla="*/ 87 h 315"/>
              <a:gd name="T70" fmla="*/ 109 w 148"/>
              <a:gd name="T71" fmla="*/ 86 h 315"/>
              <a:gd name="T72" fmla="*/ 108 w 148"/>
              <a:gd name="T73" fmla="*/ 51 h 315"/>
              <a:gd name="T74" fmla="*/ 134 w 148"/>
              <a:gd name="T75" fmla="*/ 64 h 315"/>
              <a:gd name="T76" fmla="*/ 131 w 148"/>
              <a:gd name="T77" fmla="*/ 60 h 315"/>
              <a:gd name="T78" fmla="*/ 131 w 148"/>
              <a:gd name="T79" fmla="*/ 60 h 315"/>
              <a:gd name="T80" fmla="*/ 143 w 148"/>
              <a:gd name="T81" fmla="*/ 19 h 315"/>
              <a:gd name="T82" fmla="*/ 98 w 148"/>
              <a:gd name="T83" fmla="*/ 0 h 315"/>
              <a:gd name="T84" fmla="*/ 84 w 148"/>
              <a:gd name="T85" fmla="*/ 27 h 315"/>
              <a:gd name="T86" fmla="*/ 53 w 148"/>
              <a:gd name="T87" fmla="*/ 9 h 315"/>
              <a:gd name="T88" fmla="*/ 88 w 148"/>
              <a:gd name="T89" fmla="*/ 37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8" h="315">
                <a:moveTo>
                  <a:pt x="122" y="287"/>
                </a:moveTo>
                <a:cubicBezTo>
                  <a:pt x="122" y="287"/>
                  <a:pt x="101" y="299"/>
                  <a:pt x="87" y="299"/>
                </a:cubicBezTo>
                <a:cubicBezTo>
                  <a:pt x="85" y="299"/>
                  <a:pt x="82" y="298"/>
                  <a:pt x="80" y="297"/>
                </a:cubicBezTo>
                <a:cubicBezTo>
                  <a:pt x="82" y="302"/>
                  <a:pt x="83" y="307"/>
                  <a:pt x="84" y="312"/>
                </a:cubicBezTo>
                <a:cubicBezTo>
                  <a:pt x="98" y="308"/>
                  <a:pt x="111" y="301"/>
                  <a:pt x="122" y="287"/>
                </a:cubicBezTo>
                <a:moveTo>
                  <a:pt x="72" y="248"/>
                </a:moveTo>
                <a:cubicBezTo>
                  <a:pt x="73" y="259"/>
                  <a:pt x="75" y="269"/>
                  <a:pt x="76" y="279"/>
                </a:cubicBezTo>
                <a:cubicBezTo>
                  <a:pt x="79" y="268"/>
                  <a:pt x="88" y="257"/>
                  <a:pt x="100" y="254"/>
                </a:cubicBezTo>
                <a:cubicBezTo>
                  <a:pt x="100" y="254"/>
                  <a:pt x="98" y="254"/>
                  <a:pt x="96" y="254"/>
                </a:cubicBezTo>
                <a:cubicBezTo>
                  <a:pt x="89" y="254"/>
                  <a:pt x="77" y="253"/>
                  <a:pt x="72" y="248"/>
                </a:cubicBezTo>
                <a:moveTo>
                  <a:pt x="67" y="183"/>
                </a:moveTo>
                <a:cubicBezTo>
                  <a:pt x="68" y="198"/>
                  <a:pt x="68" y="213"/>
                  <a:pt x="70" y="228"/>
                </a:cubicBezTo>
                <a:cubicBezTo>
                  <a:pt x="72" y="217"/>
                  <a:pt x="79" y="206"/>
                  <a:pt x="99" y="206"/>
                </a:cubicBezTo>
                <a:cubicBezTo>
                  <a:pt x="103" y="206"/>
                  <a:pt x="107" y="207"/>
                  <a:pt x="111" y="207"/>
                </a:cubicBezTo>
                <a:cubicBezTo>
                  <a:pt x="110" y="206"/>
                  <a:pt x="108" y="204"/>
                  <a:pt x="106" y="202"/>
                </a:cubicBezTo>
                <a:cubicBezTo>
                  <a:pt x="106" y="202"/>
                  <a:pt x="106" y="202"/>
                  <a:pt x="106" y="202"/>
                </a:cubicBezTo>
                <a:cubicBezTo>
                  <a:pt x="94" y="202"/>
                  <a:pt x="77" y="200"/>
                  <a:pt x="69" y="186"/>
                </a:cubicBezTo>
                <a:cubicBezTo>
                  <a:pt x="68" y="185"/>
                  <a:pt x="68" y="184"/>
                  <a:pt x="67" y="183"/>
                </a:cubicBezTo>
                <a:moveTo>
                  <a:pt x="54" y="164"/>
                </a:moveTo>
                <a:cubicBezTo>
                  <a:pt x="47" y="171"/>
                  <a:pt x="36" y="172"/>
                  <a:pt x="32" y="172"/>
                </a:cubicBezTo>
                <a:cubicBezTo>
                  <a:pt x="32" y="172"/>
                  <a:pt x="31" y="172"/>
                  <a:pt x="31" y="172"/>
                </a:cubicBezTo>
                <a:cubicBezTo>
                  <a:pt x="31" y="172"/>
                  <a:pt x="50" y="175"/>
                  <a:pt x="51" y="184"/>
                </a:cubicBezTo>
                <a:cubicBezTo>
                  <a:pt x="51" y="191"/>
                  <a:pt x="45" y="206"/>
                  <a:pt x="26" y="206"/>
                </a:cubicBezTo>
                <a:cubicBezTo>
                  <a:pt x="24" y="206"/>
                  <a:pt x="23" y="206"/>
                  <a:pt x="21" y="206"/>
                </a:cubicBezTo>
                <a:cubicBezTo>
                  <a:pt x="33" y="210"/>
                  <a:pt x="46" y="215"/>
                  <a:pt x="48" y="219"/>
                </a:cubicBezTo>
                <a:cubicBezTo>
                  <a:pt x="52" y="227"/>
                  <a:pt x="60" y="244"/>
                  <a:pt x="54" y="255"/>
                </a:cubicBezTo>
                <a:cubicBezTo>
                  <a:pt x="49" y="265"/>
                  <a:pt x="52" y="268"/>
                  <a:pt x="54" y="273"/>
                </a:cubicBezTo>
                <a:cubicBezTo>
                  <a:pt x="57" y="278"/>
                  <a:pt x="65" y="298"/>
                  <a:pt x="56" y="303"/>
                </a:cubicBezTo>
                <a:cubicBezTo>
                  <a:pt x="55" y="304"/>
                  <a:pt x="53" y="304"/>
                  <a:pt x="51" y="304"/>
                </a:cubicBezTo>
                <a:cubicBezTo>
                  <a:pt x="40" y="304"/>
                  <a:pt x="17" y="296"/>
                  <a:pt x="1" y="286"/>
                </a:cubicBezTo>
                <a:cubicBezTo>
                  <a:pt x="1" y="287"/>
                  <a:pt x="0" y="287"/>
                  <a:pt x="0" y="288"/>
                </a:cubicBezTo>
                <a:cubicBezTo>
                  <a:pt x="11" y="299"/>
                  <a:pt x="30" y="314"/>
                  <a:pt x="49" y="314"/>
                </a:cubicBezTo>
                <a:cubicBezTo>
                  <a:pt x="51" y="315"/>
                  <a:pt x="54" y="315"/>
                  <a:pt x="56" y="315"/>
                </a:cubicBezTo>
                <a:cubicBezTo>
                  <a:pt x="62" y="315"/>
                  <a:pt x="67" y="314"/>
                  <a:pt x="72" y="314"/>
                </a:cubicBezTo>
                <a:cubicBezTo>
                  <a:pt x="71" y="312"/>
                  <a:pt x="70" y="310"/>
                  <a:pt x="70" y="307"/>
                </a:cubicBezTo>
                <a:cubicBezTo>
                  <a:pt x="58" y="272"/>
                  <a:pt x="52" y="215"/>
                  <a:pt x="54" y="164"/>
                </a:cubicBezTo>
                <a:moveTo>
                  <a:pt x="57" y="137"/>
                </a:moveTo>
                <a:cubicBezTo>
                  <a:pt x="55" y="139"/>
                  <a:pt x="52" y="140"/>
                  <a:pt x="48" y="140"/>
                </a:cubicBezTo>
                <a:cubicBezTo>
                  <a:pt x="47" y="140"/>
                  <a:pt x="46" y="140"/>
                  <a:pt x="45" y="140"/>
                </a:cubicBezTo>
                <a:cubicBezTo>
                  <a:pt x="45" y="140"/>
                  <a:pt x="52" y="144"/>
                  <a:pt x="55" y="150"/>
                </a:cubicBezTo>
                <a:cubicBezTo>
                  <a:pt x="56" y="148"/>
                  <a:pt x="56" y="146"/>
                  <a:pt x="56" y="143"/>
                </a:cubicBezTo>
                <a:cubicBezTo>
                  <a:pt x="56" y="141"/>
                  <a:pt x="56" y="139"/>
                  <a:pt x="57" y="137"/>
                </a:cubicBezTo>
                <a:moveTo>
                  <a:pt x="70" y="132"/>
                </a:moveTo>
                <a:cubicBezTo>
                  <a:pt x="69" y="142"/>
                  <a:pt x="68" y="152"/>
                  <a:pt x="68" y="162"/>
                </a:cubicBezTo>
                <a:cubicBezTo>
                  <a:pt x="68" y="163"/>
                  <a:pt x="68" y="163"/>
                  <a:pt x="68" y="163"/>
                </a:cubicBezTo>
                <a:cubicBezTo>
                  <a:pt x="71" y="159"/>
                  <a:pt x="77" y="157"/>
                  <a:pt x="81" y="157"/>
                </a:cubicBezTo>
                <a:cubicBezTo>
                  <a:pt x="82" y="157"/>
                  <a:pt x="82" y="157"/>
                  <a:pt x="82" y="157"/>
                </a:cubicBezTo>
                <a:cubicBezTo>
                  <a:pt x="87" y="158"/>
                  <a:pt x="102" y="161"/>
                  <a:pt x="112" y="163"/>
                </a:cubicBezTo>
                <a:cubicBezTo>
                  <a:pt x="112" y="163"/>
                  <a:pt x="111" y="162"/>
                  <a:pt x="111" y="161"/>
                </a:cubicBezTo>
                <a:cubicBezTo>
                  <a:pt x="98" y="156"/>
                  <a:pt x="79" y="148"/>
                  <a:pt x="75" y="141"/>
                </a:cubicBezTo>
                <a:cubicBezTo>
                  <a:pt x="73" y="137"/>
                  <a:pt x="71" y="135"/>
                  <a:pt x="70" y="132"/>
                </a:cubicBezTo>
                <a:moveTo>
                  <a:pt x="68" y="92"/>
                </a:moveTo>
                <a:cubicBezTo>
                  <a:pt x="64" y="94"/>
                  <a:pt x="59" y="96"/>
                  <a:pt x="51" y="97"/>
                </a:cubicBezTo>
                <a:cubicBezTo>
                  <a:pt x="51" y="97"/>
                  <a:pt x="60" y="100"/>
                  <a:pt x="64" y="105"/>
                </a:cubicBezTo>
                <a:cubicBezTo>
                  <a:pt x="65" y="101"/>
                  <a:pt x="67" y="96"/>
                  <a:pt x="68" y="92"/>
                </a:cubicBezTo>
                <a:moveTo>
                  <a:pt x="81" y="56"/>
                </a:moveTo>
                <a:cubicBezTo>
                  <a:pt x="75" y="60"/>
                  <a:pt x="66" y="62"/>
                  <a:pt x="57" y="62"/>
                </a:cubicBezTo>
                <a:cubicBezTo>
                  <a:pt x="56" y="62"/>
                  <a:pt x="56" y="62"/>
                  <a:pt x="55" y="62"/>
                </a:cubicBezTo>
                <a:cubicBezTo>
                  <a:pt x="62" y="63"/>
                  <a:pt x="73" y="64"/>
                  <a:pt x="77" y="67"/>
                </a:cubicBezTo>
                <a:cubicBezTo>
                  <a:pt x="79" y="63"/>
                  <a:pt x="80" y="60"/>
                  <a:pt x="81" y="56"/>
                </a:cubicBezTo>
                <a:moveTo>
                  <a:pt x="141" y="18"/>
                </a:moveTo>
                <a:cubicBezTo>
                  <a:pt x="138" y="21"/>
                  <a:pt x="132" y="25"/>
                  <a:pt x="123" y="27"/>
                </a:cubicBezTo>
                <a:cubicBezTo>
                  <a:pt x="122" y="27"/>
                  <a:pt x="121" y="27"/>
                  <a:pt x="120" y="27"/>
                </a:cubicBezTo>
                <a:cubicBezTo>
                  <a:pt x="116" y="27"/>
                  <a:pt x="113" y="25"/>
                  <a:pt x="110" y="23"/>
                </a:cubicBezTo>
                <a:cubicBezTo>
                  <a:pt x="101" y="37"/>
                  <a:pt x="80" y="74"/>
                  <a:pt x="72" y="123"/>
                </a:cubicBezTo>
                <a:cubicBezTo>
                  <a:pt x="72" y="123"/>
                  <a:pt x="72" y="123"/>
                  <a:pt x="72" y="123"/>
                </a:cubicBezTo>
                <a:cubicBezTo>
                  <a:pt x="73" y="123"/>
                  <a:pt x="73" y="123"/>
                  <a:pt x="74" y="123"/>
                </a:cubicBezTo>
                <a:cubicBezTo>
                  <a:pt x="84" y="124"/>
                  <a:pt x="98" y="129"/>
                  <a:pt x="98" y="129"/>
                </a:cubicBezTo>
                <a:cubicBezTo>
                  <a:pt x="98" y="129"/>
                  <a:pt x="82" y="121"/>
                  <a:pt x="81" y="114"/>
                </a:cubicBezTo>
                <a:cubicBezTo>
                  <a:pt x="80" y="106"/>
                  <a:pt x="75" y="91"/>
                  <a:pt x="86" y="87"/>
                </a:cubicBezTo>
                <a:cubicBezTo>
                  <a:pt x="92" y="86"/>
                  <a:pt x="98" y="85"/>
                  <a:pt x="102" y="85"/>
                </a:cubicBezTo>
                <a:cubicBezTo>
                  <a:pt x="106" y="85"/>
                  <a:pt x="109" y="86"/>
                  <a:pt x="109" y="86"/>
                </a:cubicBezTo>
                <a:cubicBezTo>
                  <a:pt x="109" y="86"/>
                  <a:pt x="96" y="83"/>
                  <a:pt x="95" y="72"/>
                </a:cubicBezTo>
                <a:cubicBezTo>
                  <a:pt x="94" y="61"/>
                  <a:pt x="101" y="51"/>
                  <a:pt x="108" y="51"/>
                </a:cubicBezTo>
                <a:cubicBezTo>
                  <a:pt x="114" y="51"/>
                  <a:pt x="126" y="59"/>
                  <a:pt x="126" y="59"/>
                </a:cubicBezTo>
                <a:cubicBezTo>
                  <a:pt x="134" y="64"/>
                  <a:pt x="134" y="64"/>
                  <a:pt x="134" y="64"/>
                </a:cubicBezTo>
                <a:cubicBezTo>
                  <a:pt x="134" y="62"/>
                  <a:pt x="133" y="61"/>
                  <a:pt x="131" y="60"/>
                </a:cubicBezTo>
                <a:cubicBezTo>
                  <a:pt x="131" y="60"/>
                  <a:pt x="131" y="60"/>
                  <a:pt x="131" y="60"/>
                </a:cubicBezTo>
                <a:cubicBezTo>
                  <a:pt x="131" y="60"/>
                  <a:pt x="131" y="60"/>
                  <a:pt x="131" y="60"/>
                </a:cubicBezTo>
                <a:cubicBezTo>
                  <a:pt x="131" y="60"/>
                  <a:pt x="131" y="60"/>
                  <a:pt x="131" y="60"/>
                </a:cubicBezTo>
                <a:cubicBezTo>
                  <a:pt x="131" y="60"/>
                  <a:pt x="143" y="43"/>
                  <a:pt x="148" y="32"/>
                </a:cubicBezTo>
                <a:cubicBezTo>
                  <a:pt x="144" y="28"/>
                  <a:pt x="143" y="23"/>
                  <a:pt x="143" y="19"/>
                </a:cubicBezTo>
                <a:cubicBezTo>
                  <a:pt x="141" y="18"/>
                  <a:pt x="141" y="18"/>
                  <a:pt x="141" y="18"/>
                </a:cubicBezTo>
                <a:moveTo>
                  <a:pt x="98" y="0"/>
                </a:moveTo>
                <a:cubicBezTo>
                  <a:pt x="97" y="1"/>
                  <a:pt x="96" y="1"/>
                  <a:pt x="94" y="2"/>
                </a:cubicBezTo>
                <a:cubicBezTo>
                  <a:pt x="93" y="12"/>
                  <a:pt x="90" y="27"/>
                  <a:pt x="84" y="27"/>
                </a:cubicBezTo>
                <a:cubicBezTo>
                  <a:pt x="77" y="27"/>
                  <a:pt x="62" y="19"/>
                  <a:pt x="53" y="7"/>
                </a:cubicBezTo>
                <a:cubicBezTo>
                  <a:pt x="53" y="8"/>
                  <a:pt x="53" y="8"/>
                  <a:pt x="53" y="9"/>
                </a:cubicBezTo>
                <a:cubicBezTo>
                  <a:pt x="57" y="16"/>
                  <a:pt x="65" y="27"/>
                  <a:pt x="79" y="32"/>
                </a:cubicBezTo>
                <a:cubicBezTo>
                  <a:pt x="83" y="34"/>
                  <a:pt x="86" y="36"/>
                  <a:pt x="88" y="37"/>
                </a:cubicBezTo>
                <a:cubicBezTo>
                  <a:pt x="93" y="24"/>
                  <a:pt x="97" y="12"/>
                  <a:pt x="98"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2" name="Freeform 170"/>
          <p:cNvSpPr>
            <a:spLocks noEditPoints="1"/>
          </p:cNvSpPr>
          <p:nvPr/>
        </p:nvSpPr>
        <p:spPr bwMode="auto">
          <a:xfrm>
            <a:off x="3028951" y="4956175"/>
            <a:ext cx="93663" cy="560387"/>
          </a:xfrm>
          <a:custGeom>
            <a:avLst/>
            <a:gdLst>
              <a:gd name="T0" fmla="*/ 30 w 55"/>
              <a:gd name="T1" fmla="*/ 275 h 330"/>
              <a:gd name="T2" fmla="*/ 18 w 55"/>
              <a:gd name="T3" fmla="*/ 277 h 330"/>
              <a:gd name="T4" fmla="*/ 55 w 55"/>
              <a:gd name="T5" fmla="*/ 330 h 330"/>
              <a:gd name="T6" fmla="*/ 30 w 55"/>
              <a:gd name="T7" fmla="*/ 275 h 330"/>
              <a:gd name="T8" fmla="*/ 22 w 55"/>
              <a:gd name="T9" fmla="*/ 242 h 330"/>
              <a:gd name="T10" fmla="*/ 24 w 55"/>
              <a:gd name="T11" fmla="*/ 257 h 330"/>
              <a:gd name="T12" fmla="*/ 26 w 55"/>
              <a:gd name="T13" fmla="*/ 260 h 330"/>
              <a:gd name="T14" fmla="*/ 22 w 55"/>
              <a:gd name="T15" fmla="*/ 242 h 330"/>
              <a:gd name="T16" fmla="*/ 16 w 55"/>
              <a:gd name="T17" fmla="*/ 191 h 330"/>
              <a:gd name="T18" fmla="*/ 15 w 55"/>
              <a:gd name="T19" fmla="*/ 206 h 330"/>
              <a:gd name="T20" fmla="*/ 18 w 55"/>
              <a:gd name="T21" fmla="*/ 211 h 330"/>
              <a:gd name="T22" fmla="*/ 16 w 55"/>
              <a:gd name="T23" fmla="*/ 191 h 330"/>
              <a:gd name="T24" fmla="*/ 14 w 55"/>
              <a:gd name="T25" fmla="*/ 126 h 330"/>
              <a:gd name="T26" fmla="*/ 13 w 55"/>
              <a:gd name="T27" fmla="*/ 146 h 330"/>
              <a:gd name="T28" fmla="*/ 14 w 55"/>
              <a:gd name="T29" fmla="*/ 126 h 330"/>
              <a:gd name="T30" fmla="*/ 1 w 55"/>
              <a:gd name="T31" fmla="*/ 113 h 330"/>
              <a:gd name="T32" fmla="*/ 0 w 55"/>
              <a:gd name="T33" fmla="*/ 127 h 330"/>
              <a:gd name="T34" fmla="*/ 1 w 55"/>
              <a:gd name="T35" fmla="*/ 126 h 330"/>
              <a:gd name="T36" fmla="*/ 1 w 55"/>
              <a:gd name="T37" fmla="*/ 113 h 330"/>
              <a:gd name="T38" fmla="*/ 18 w 55"/>
              <a:gd name="T39" fmla="*/ 86 h 330"/>
              <a:gd name="T40" fmla="*/ 16 w 55"/>
              <a:gd name="T41" fmla="*/ 95 h 330"/>
              <a:gd name="T42" fmla="*/ 18 w 55"/>
              <a:gd name="T43" fmla="*/ 86 h 330"/>
              <a:gd name="T44" fmla="*/ 10 w 55"/>
              <a:gd name="T45" fmla="*/ 68 h 330"/>
              <a:gd name="T46" fmla="*/ 3 w 55"/>
              <a:gd name="T47" fmla="*/ 100 h 330"/>
              <a:gd name="T48" fmla="*/ 12 w 55"/>
              <a:gd name="T49" fmla="*/ 74 h 330"/>
              <a:gd name="T50" fmla="*/ 10 w 55"/>
              <a:gd name="T51" fmla="*/ 68 h 330"/>
              <a:gd name="T52" fmla="*/ 23 w 55"/>
              <a:gd name="T53" fmla="*/ 30 h 330"/>
              <a:gd name="T54" fmla="*/ 14 w 55"/>
              <a:gd name="T55" fmla="*/ 55 h 330"/>
              <a:gd name="T56" fmla="*/ 25 w 55"/>
              <a:gd name="T57" fmla="*/ 32 h 330"/>
              <a:gd name="T58" fmla="*/ 23 w 55"/>
              <a:gd name="T59" fmla="*/ 30 h 330"/>
              <a:gd name="T60" fmla="*/ 34 w 55"/>
              <a:gd name="T61" fmla="*/ 0 h 330"/>
              <a:gd name="T62" fmla="*/ 27 w 55"/>
              <a:gd name="T63" fmla="*/ 19 h 330"/>
              <a:gd name="T64" fmla="*/ 36 w 55"/>
              <a:gd name="T65" fmla="*/ 10 h 330"/>
              <a:gd name="T66" fmla="*/ 34 w 55"/>
              <a:gd name="T67"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 h="330">
                <a:moveTo>
                  <a:pt x="30" y="275"/>
                </a:moveTo>
                <a:cubicBezTo>
                  <a:pt x="26" y="276"/>
                  <a:pt x="22" y="276"/>
                  <a:pt x="18" y="277"/>
                </a:cubicBezTo>
                <a:cubicBezTo>
                  <a:pt x="30" y="309"/>
                  <a:pt x="55" y="330"/>
                  <a:pt x="55" y="330"/>
                </a:cubicBezTo>
                <a:cubicBezTo>
                  <a:pt x="45" y="318"/>
                  <a:pt x="37" y="298"/>
                  <a:pt x="30" y="275"/>
                </a:cubicBezTo>
                <a:moveTo>
                  <a:pt x="22" y="242"/>
                </a:moveTo>
                <a:cubicBezTo>
                  <a:pt x="21" y="247"/>
                  <a:pt x="21" y="253"/>
                  <a:pt x="24" y="257"/>
                </a:cubicBezTo>
                <a:cubicBezTo>
                  <a:pt x="24" y="258"/>
                  <a:pt x="25" y="259"/>
                  <a:pt x="26" y="260"/>
                </a:cubicBezTo>
                <a:cubicBezTo>
                  <a:pt x="25" y="254"/>
                  <a:pt x="24" y="248"/>
                  <a:pt x="22" y="242"/>
                </a:cubicBezTo>
                <a:moveTo>
                  <a:pt x="16" y="191"/>
                </a:moveTo>
                <a:cubicBezTo>
                  <a:pt x="14" y="196"/>
                  <a:pt x="15" y="202"/>
                  <a:pt x="15" y="206"/>
                </a:cubicBezTo>
                <a:cubicBezTo>
                  <a:pt x="15" y="208"/>
                  <a:pt x="16" y="210"/>
                  <a:pt x="18" y="211"/>
                </a:cubicBezTo>
                <a:cubicBezTo>
                  <a:pt x="17" y="204"/>
                  <a:pt x="16" y="198"/>
                  <a:pt x="16" y="191"/>
                </a:cubicBezTo>
                <a:moveTo>
                  <a:pt x="14" y="126"/>
                </a:moveTo>
                <a:cubicBezTo>
                  <a:pt x="10" y="131"/>
                  <a:pt x="9" y="137"/>
                  <a:pt x="13" y="146"/>
                </a:cubicBezTo>
                <a:cubicBezTo>
                  <a:pt x="13" y="140"/>
                  <a:pt x="13" y="133"/>
                  <a:pt x="14" y="126"/>
                </a:cubicBezTo>
                <a:moveTo>
                  <a:pt x="1" y="113"/>
                </a:moveTo>
                <a:cubicBezTo>
                  <a:pt x="1" y="118"/>
                  <a:pt x="1" y="122"/>
                  <a:pt x="0" y="127"/>
                </a:cubicBezTo>
                <a:cubicBezTo>
                  <a:pt x="1" y="127"/>
                  <a:pt x="1" y="126"/>
                  <a:pt x="1" y="126"/>
                </a:cubicBezTo>
                <a:cubicBezTo>
                  <a:pt x="5" y="122"/>
                  <a:pt x="4" y="117"/>
                  <a:pt x="1" y="113"/>
                </a:cubicBezTo>
                <a:moveTo>
                  <a:pt x="18" y="86"/>
                </a:moveTo>
                <a:cubicBezTo>
                  <a:pt x="12" y="86"/>
                  <a:pt x="13" y="90"/>
                  <a:pt x="16" y="95"/>
                </a:cubicBezTo>
                <a:cubicBezTo>
                  <a:pt x="17" y="92"/>
                  <a:pt x="17" y="89"/>
                  <a:pt x="18" y="86"/>
                </a:cubicBezTo>
                <a:moveTo>
                  <a:pt x="10" y="68"/>
                </a:moveTo>
                <a:cubicBezTo>
                  <a:pt x="7" y="79"/>
                  <a:pt x="4" y="89"/>
                  <a:pt x="3" y="100"/>
                </a:cubicBezTo>
                <a:cubicBezTo>
                  <a:pt x="10" y="94"/>
                  <a:pt x="11" y="79"/>
                  <a:pt x="12" y="74"/>
                </a:cubicBezTo>
                <a:cubicBezTo>
                  <a:pt x="12" y="72"/>
                  <a:pt x="11" y="70"/>
                  <a:pt x="10" y="68"/>
                </a:cubicBezTo>
                <a:moveTo>
                  <a:pt x="23" y="30"/>
                </a:moveTo>
                <a:cubicBezTo>
                  <a:pt x="20" y="38"/>
                  <a:pt x="17" y="46"/>
                  <a:pt x="14" y="55"/>
                </a:cubicBezTo>
                <a:cubicBezTo>
                  <a:pt x="25" y="48"/>
                  <a:pt x="24" y="36"/>
                  <a:pt x="25" y="32"/>
                </a:cubicBezTo>
                <a:cubicBezTo>
                  <a:pt x="25" y="31"/>
                  <a:pt x="24" y="31"/>
                  <a:pt x="23" y="30"/>
                </a:cubicBezTo>
                <a:moveTo>
                  <a:pt x="34" y="0"/>
                </a:moveTo>
                <a:cubicBezTo>
                  <a:pt x="32" y="6"/>
                  <a:pt x="30" y="13"/>
                  <a:pt x="27" y="19"/>
                </a:cubicBezTo>
                <a:cubicBezTo>
                  <a:pt x="33" y="16"/>
                  <a:pt x="36" y="13"/>
                  <a:pt x="36" y="10"/>
                </a:cubicBezTo>
                <a:cubicBezTo>
                  <a:pt x="36" y="4"/>
                  <a:pt x="44" y="4"/>
                  <a:pt x="34" y="0"/>
                </a:cubicBezTo>
              </a:path>
            </a:pathLst>
          </a:custGeom>
          <a:solidFill>
            <a:srgbClr val="C9C6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3" name="Freeform 171"/>
          <p:cNvSpPr>
            <a:spLocks/>
          </p:cNvSpPr>
          <p:nvPr/>
        </p:nvSpPr>
        <p:spPr bwMode="auto">
          <a:xfrm>
            <a:off x="3025776" y="4894263"/>
            <a:ext cx="98425" cy="531812"/>
          </a:xfrm>
          <a:custGeom>
            <a:avLst/>
            <a:gdLst>
              <a:gd name="T0" fmla="*/ 46 w 58"/>
              <a:gd name="T1" fmla="*/ 0 h 314"/>
              <a:gd name="T2" fmla="*/ 46 w 58"/>
              <a:gd name="T3" fmla="*/ 0 h 314"/>
              <a:gd name="T4" fmla="*/ 36 w 58"/>
              <a:gd name="T5" fmla="*/ 37 h 314"/>
              <a:gd name="T6" fmla="*/ 38 w 58"/>
              <a:gd name="T7" fmla="*/ 47 h 314"/>
              <a:gd name="T8" fmla="*/ 29 w 58"/>
              <a:gd name="T9" fmla="*/ 56 h 314"/>
              <a:gd name="T10" fmla="*/ 25 w 58"/>
              <a:gd name="T11" fmla="*/ 67 h 314"/>
              <a:gd name="T12" fmla="*/ 27 w 58"/>
              <a:gd name="T13" fmla="*/ 69 h 314"/>
              <a:gd name="T14" fmla="*/ 16 w 58"/>
              <a:gd name="T15" fmla="*/ 92 h 314"/>
              <a:gd name="T16" fmla="*/ 12 w 58"/>
              <a:gd name="T17" fmla="*/ 105 h 314"/>
              <a:gd name="T18" fmla="*/ 14 w 58"/>
              <a:gd name="T19" fmla="*/ 111 h 314"/>
              <a:gd name="T20" fmla="*/ 5 w 58"/>
              <a:gd name="T21" fmla="*/ 137 h 314"/>
              <a:gd name="T22" fmla="*/ 4 w 58"/>
              <a:gd name="T23" fmla="*/ 143 h 314"/>
              <a:gd name="T24" fmla="*/ 3 w 58"/>
              <a:gd name="T25" fmla="*/ 150 h 314"/>
              <a:gd name="T26" fmla="*/ 3 w 58"/>
              <a:gd name="T27" fmla="*/ 163 h 314"/>
              <a:gd name="T28" fmla="*/ 2 w 58"/>
              <a:gd name="T29" fmla="*/ 164 h 314"/>
              <a:gd name="T30" fmla="*/ 18 w 58"/>
              <a:gd name="T31" fmla="*/ 307 h 314"/>
              <a:gd name="T32" fmla="*/ 20 w 58"/>
              <a:gd name="T33" fmla="*/ 314 h 314"/>
              <a:gd name="T34" fmla="*/ 32 w 58"/>
              <a:gd name="T35" fmla="*/ 312 h 314"/>
              <a:gd name="T36" fmla="*/ 28 w 58"/>
              <a:gd name="T37" fmla="*/ 297 h 314"/>
              <a:gd name="T38" fmla="*/ 26 w 58"/>
              <a:gd name="T39" fmla="*/ 294 h 314"/>
              <a:gd name="T40" fmla="*/ 24 w 58"/>
              <a:gd name="T41" fmla="*/ 279 h 314"/>
              <a:gd name="T42" fmla="*/ 20 w 58"/>
              <a:gd name="T43" fmla="*/ 248 h 314"/>
              <a:gd name="T44" fmla="*/ 17 w 58"/>
              <a:gd name="T45" fmla="*/ 243 h 314"/>
              <a:gd name="T46" fmla="*/ 18 w 58"/>
              <a:gd name="T47" fmla="*/ 228 h 314"/>
              <a:gd name="T48" fmla="*/ 15 w 58"/>
              <a:gd name="T49" fmla="*/ 183 h 314"/>
              <a:gd name="T50" fmla="*/ 16 w 58"/>
              <a:gd name="T51" fmla="*/ 163 h 314"/>
              <a:gd name="T52" fmla="*/ 16 w 58"/>
              <a:gd name="T53" fmla="*/ 162 h 314"/>
              <a:gd name="T54" fmla="*/ 18 w 58"/>
              <a:gd name="T55" fmla="*/ 132 h 314"/>
              <a:gd name="T56" fmla="*/ 20 w 58"/>
              <a:gd name="T57" fmla="*/ 123 h 314"/>
              <a:gd name="T58" fmla="*/ 58 w 58"/>
              <a:gd name="T59" fmla="*/ 23 h 314"/>
              <a:gd name="T60" fmla="*/ 46 w 58"/>
              <a:gd name="T61"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8" h="314">
                <a:moveTo>
                  <a:pt x="46" y="0"/>
                </a:moveTo>
                <a:cubicBezTo>
                  <a:pt x="46" y="0"/>
                  <a:pt x="46" y="0"/>
                  <a:pt x="46" y="0"/>
                </a:cubicBezTo>
                <a:cubicBezTo>
                  <a:pt x="45" y="12"/>
                  <a:pt x="41" y="24"/>
                  <a:pt x="36" y="37"/>
                </a:cubicBezTo>
                <a:cubicBezTo>
                  <a:pt x="46" y="41"/>
                  <a:pt x="38" y="41"/>
                  <a:pt x="38" y="47"/>
                </a:cubicBezTo>
                <a:cubicBezTo>
                  <a:pt x="38" y="50"/>
                  <a:pt x="35" y="53"/>
                  <a:pt x="29" y="56"/>
                </a:cubicBezTo>
                <a:cubicBezTo>
                  <a:pt x="28" y="60"/>
                  <a:pt x="27" y="63"/>
                  <a:pt x="25" y="67"/>
                </a:cubicBezTo>
                <a:cubicBezTo>
                  <a:pt x="26" y="68"/>
                  <a:pt x="27" y="68"/>
                  <a:pt x="27" y="69"/>
                </a:cubicBezTo>
                <a:cubicBezTo>
                  <a:pt x="26" y="73"/>
                  <a:pt x="27" y="85"/>
                  <a:pt x="16" y="92"/>
                </a:cubicBezTo>
                <a:cubicBezTo>
                  <a:pt x="15" y="96"/>
                  <a:pt x="13" y="101"/>
                  <a:pt x="12" y="105"/>
                </a:cubicBezTo>
                <a:cubicBezTo>
                  <a:pt x="13" y="107"/>
                  <a:pt x="14" y="109"/>
                  <a:pt x="14" y="111"/>
                </a:cubicBezTo>
                <a:cubicBezTo>
                  <a:pt x="13" y="116"/>
                  <a:pt x="12" y="131"/>
                  <a:pt x="5" y="137"/>
                </a:cubicBezTo>
                <a:cubicBezTo>
                  <a:pt x="4" y="139"/>
                  <a:pt x="4" y="141"/>
                  <a:pt x="4" y="143"/>
                </a:cubicBezTo>
                <a:cubicBezTo>
                  <a:pt x="4" y="146"/>
                  <a:pt x="4" y="148"/>
                  <a:pt x="3" y="150"/>
                </a:cubicBezTo>
                <a:cubicBezTo>
                  <a:pt x="6" y="154"/>
                  <a:pt x="7" y="159"/>
                  <a:pt x="3" y="163"/>
                </a:cubicBezTo>
                <a:cubicBezTo>
                  <a:pt x="3" y="163"/>
                  <a:pt x="3" y="164"/>
                  <a:pt x="2" y="164"/>
                </a:cubicBezTo>
                <a:cubicBezTo>
                  <a:pt x="0" y="215"/>
                  <a:pt x="6" y="272"/>
                  <a:pt x="18" y="307"/>
                </a:cubicBezTo>
                <a:cubicBezTo>
                  <a:pt x="18" y="310"/>
                  <a:pt x="19" y="312"/>
                  <a:pt x="20" y="314"/>
                </a:cubicBezTo>
                <a:cubicBezTo>
                  <a:pt x="24" y="313"/>
                  <a:pt x="28" y="313"/>
                  <a:pt x="32" y="312"/>
                </a:cubicBezTo>
                <a:cubicBezTo>
                  <a:pt x="31" y="307"/>
                  <a:pt x="30" y="302"/>
                  <a:pt x="28" y="297"/>
                </a:cubicBezTo>
                <a:cubicBezTo>
                  <a:pt x="27" y="296"/>
                  <a:pt x="26" y="295"/>
                  <a:pt x="26" y="294"/>
                </a:cubicBezTo>
                <a:cubicBezTo>
                  <a:pt x="23" y="290"/>
                  <a:pt x="23" y="284"/>
                  <a:pt x="24" y="279"/>
                </a:cubicBezTo>
                <a:cubicBezTo>
                  <a:pt x="23" y="269"/>
                  <a:pt x="21" y="259"/>
                  <a:pt x="20" y="248"/>
                </a:cubicBezTo>
                <a:cubicBezTo>
                  <a:pt x="18" y="247"/>
                  <a:pt x="17" y="245"/>
                  <a:pt x="17" y="243"/>
                </a:cubicBezTo>
                <a:cubicBezTo>
                  <a:pt x="17" y="239"/>
                  <a:pt x="16" y="233"/>
                  <a:pt x="18" y="228"/>
                </a:cubicBezTo>
                <a:cubicBezTo>
                  <a:pt x="16" y="213"/>
                  <a:pt x="16" y="198"/>
                  <a:pt x="15" y="183"/>
                </a:cubicBezTo>
                <a:cubicBezTo>
                  <a:pt x="11" y="174"/>
                  <a:pt x="12" y="168"/>
                  <a:pt x="16" y="163"/>
                </a:cubicBezTo>
                <a:cubicBezTo>
                  <a:pt x="16" y="163"/>
                  <a:pt x="16" y="163"/>
                  <a:pt x="16" y="162"/>
                </a:cubicBezTo>
                <a:cubicBezTo>
                  <a:pt x="16" y="152"/>
                  <a:pt x="17" y="142"/>
                  <a:pt x="18" y="132"/>
                </a:cubicBezTo>
                <a:cubicBezTo>
                  <a:pt x="15" y="127"/>
                  <a:pt x="14" y="123"/>
                  <a:pt x="20" y="123"/>
                </a:cubicBezTo>
                <a:cubicBezTo>
                  <a:pt x="28" y="74"/>
                  <a:pt x="49" y="37"/>
                  <a:pt x="58" y="23"/>
                </a:cubicBezTo>
                <a:cubicBezTo>
                  <a:pt x="51" y="15"/>
                  <a:pt x="46" y="0"/>
                  <a:pt x="46" y="0"/>
                </a:cubicBezTo>
              </a:path>
            </a:pathLst>
          </a:custGeom>
          <a:solidFill>
            <a:srgbClr val="B9B6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4" name="Freeform 172"/>
          <p:cNvSpPr>
            <a:spLocks/>
          </p:cNvSpPr>
          <p:nvPr/>
        </p:nvSpPr>
        <p:spPr bwMode="auto">
          <a:xfrm>
            <a:off x="3046413" y="4695825"/>
            <a:ext cx="1008063" cy="333375"/>
          </a:xfrm>
          <a:custGeom>
            <a:avLst/>
            <a:gdLst>
              <a:gd name="T0" fmla="*/ 495 w 594"/>
              <a:gd name="T1" fmla="*/ 105 h 197"/>
              <a:gd name="T2" fmla="*/ 531 w 594"/>
              <a:gd name="T3" fmla="*/ 112 h 197"/>
              <a:gd name="T4" fmla="*/ 553 w 594"/>
              <a:gd name="T5" fmla="*/ 90 h 197"/>
              <a:gd name="T6" fmla="*/ 583 w 594"/>
              <a:gd name="T7" fmla="*/ 91 h 197"/>
              <a:gd name="T8" fmla="*/ 577 w 594"/>
              <a:gd name="T9" fmla="*/ 34 h 197"/>
              <a:gd name="T10" fmla="*/ 471 w 594"/>
              <a:gd name="T11" fmla="*/ 42 h 197"/>
              <a:gd name="T12" fmla="*/ 427 w 594"/>
              <a:gd name="T13" fmla="*/ 57 h 197"/>
              <a:gd name="T14" fmla="*/ 395 w 594"/>
              <a:gd name="T15" fmla="*/ 73 h 197"/>
              <a:gd name="T16" fmla="*/ 374 w 594"/>
              <a:gd name="T17" fmla="*/ 77 h 197"/>
              <a:gd name="T18" fmla="*/ 331 w 594"/>
              <a:gd name="T19" fmla="*/ 86 h 197"/>
              <a:gd name="T20" fmla="*/ 288 w 594"/>
              <a:gd name="T21" fmla="*/ 100 h 197"/>
              <a:gd name="T22" fmla="*/ 243 w 594"/>
              <a:gd name="T23" fmla="*/ 103 h 197"/>
              <a:gd name="T24" fmla="*/ 209 w 594"/>
              <a:gd name="T25" fmla="*/ 112 h 197"/>
              <a:gd name="T26" fmla="*/ 163 w 594"/>
              <a:gd name="T27" fmla="*/ 96 h 197"/>
              <a:gd name="T28" fmla="*/ 133 w 594"/>
              <a:gd name="T29" fmla="*/ 98 h 197"/>
              <a:gd name="T30" fmla="*/ 113 w 594"/>
              <a:gd name="T31" fmla="*/ 75 h 197"/>
              <a:gd name="T32" fmla="*/ 80 w 594"/>
              <a:gd name="T33" fmla="*/ 78 h 197"/>
              <a:gd name="T34" fmla="*/ 52 w 594"/>
              <a:gd name="T35" fmla="*/ 58 h 197"/>
              <a:gd name="T36" fmla="*/ 3 w 594"/>
              <a:gd name="T37" fmla="*/ 99 h 197"/>
              <a:gd name="T38" fmla="*/ 34 w 594"/>
              <a:gd name="T39" fmla="*/ 117 h 197"/>
              <a:gd name="T40" fmla="*/ 59 w 594"/>
              <a:gd name="T41" fmla="*/ 144 h 197"/>
              <a:gd name="T42" fmla="*/ 79 w 594"/>
              <a:gd name="T43" fmla="*/ 133 h 197"/>
              <a:gd name="T44" fmla="*/ 90 w 594"/>
              <a:gd name="T45" fmla="*/ 153 h 197"/>
              <a:gd name="T46" fmla="*/ 117 w 594"/>
              <a:gd name="T47" fmla="*/ 164 h 197"/>
              <a:gd name="T48" fmla="*/ 136 w 594"/>
              <a:gd name="T49" fmla="*/ 185 h 197"/>
              <a:gd name="T50" fmla="*/ 162 w 594"/>
              <a:gd name="T51" fmla="*/ 170 h 197"/>
              <a:gd name="T52" fmla="*/ 176 w 594"/>
              <a:gd name="T53" fmla="*/ 192 h 197"/>
              <a:gd name="T54" fmla="*/ 205 w 594"/>
              <a:gd name="T55" fmla="*/ 185 h 197"/>
              <a:gd name="T56" fmla="*/ 236 w 594"/>
              <a:gd name="T57" fmla="*/ 190 h 197"/>
              <a:gd name="T58" fmla="*/ 248 w 594"/>
              <a:gd name="T59" fmla="*/ 179 h 197"/>
              <a:gd name="T60" fmla="*/ 276 w 594"/>
              <a:gd name="T61" fmla="*/ 182 h 197"/>
              <a:gd name="T62" fmla="*/ 301 w 594"/>
              <a:gd name="T63" fmla="*/ 158 h 197"/>
              <a:gd name="T64" fmla="*/ 328 w 594"/>
              <a:gd name="T65" fmla="*/ 169 h 197"/>
              <a:gd name="T66" fmla="*/ 342 w 594"/>
              <a:gd name="T67" fmla="*/ 145 h 197"/>
              <a:gd name="T68" fmla="*/ 370 w 594"/>
              <a:gd name="T69" fmla="*/ 161 h 197"/>
              <a:gd name="T70" fmla="*/ 386 w 594"/>
              <a:gd name="T71" fmla="*/ 139 h 197"/>
              <a:gd name="T72" fmla="*/ 425 w 594"/>
              <a:gd name="T73" fmla="*/ 129 h 197"/>
              <a:gd name="T74" fmla="*/ 446 w 594"/>
              <a:gd name="T75" fmla="*/ 125 h 197"/>
              <a:gd name="T76" fmla="*/ 475 w 594"/>
              <a:gd name="T77" fmla="*/ 124 h 197"/>
              <a:gd name="T78" fmla="*/ 495 w 594"/>
              <a:gd name="T79" fmla="*/ 10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4" h="197">
                <a:moveTo>
                  <a:pt x="495" y="105"/>
                </a:moveTo>
                <a:cubicBezTo>
                  <a:pt x="495" y="105"/>
                  <a:pt x="515" y="119"/>
                  <a:pt x="531" y="112"/>
                </a:cubicBezTo>
                <a:cubicBezTo>
                  <a:pt x="546" y="105"/>
                  <a:pt x="553" y="90"/>
                  <a:pt x="553" y="90"/>
                </a:cubicBezTo>
                <a:cubicBezTo>
                  <a:pt x="553" y="90"/>
                  <a:pt x="572" y="100"/>
                  <a:pt x="583" y="91"/>
                </a:cubicBezTo>
                <a:cubicBezTo>
                  <a:pt x="594" y="82"/>
                  <a:pt x="594" y="48"/>
                  <a:pt x="577" y="34"/>
                </a:cubicBezTo>
                <a:cubicBezTo>
                  <a:pt x="561" y="20"/>
                  <a:pt x="500" y="0"/>
                  <a:pt x="471" y="42"/>
                </a:cubicBezTo>
                <a:cubicBezTo>
                  <a:pt x="471" y="42"/>
                  <a:pt x="439" y="26"/>
                  <a:pt x="427" y="57"/>
                </a:cubicBezTo>
                <a:cubicBezTo>
                  <a:pt x="427" y="57"/>
                  <a:pt x="394" y="46"/>
                  <a:pt x="395" y="73"/>
                </a:cubicBezTo>
                <a:cubicBezTo>
                  <a:pt x="395" y="73"/>
                  <a:pt x="376" y="59"/>
                  <a:pt x="374" y="77"/>
                </a:cubicBezTo>
                <a:cubicBezTo>
                  <a:pt x="374" y="77"/>
                  <a:pt x="343" y="59"/>
                  <a:pt x="331" y="86"/>
                </a:cubicBezTo>
                <a:cubicBezTo>
                  <a:pt x="331" y="86"/>
                  <a:pt x="299" y="79"/>
                  <a:pt x="288" y="100"/>
                </a:cubicBezTo>
                <a:cubicBezTo>
                  <a:pt x="288" y="100"/>
                  <a:pt x="248" y="82"/>
                  <a:pt x="243" y="103"/>
                </a:cubicBezTo>
                <a:cubicBezTo>
                  <a:pt x="243" y="103"/>
                  <a:pt x="207" y="89"/>
                  <a:pt x="209" y="112"/>
                </a:cubicBezTo>
                <a:cubicBezTo>
                  <a:pt x="209" y="112"/>
                  <a:pt x="181" y="100"/>
                  <a:pt x="163" y="96"/>
                </a:cubicBezTo>
                <a:cubicBezTo>
                  <a:pt x="145" y="92"/>
                  <a:pt x="133" y="98"/>
                  <a:pt x="133" y="98"/>
                </a:cubicBezTo>
                <a:cubicBezTo>
                  <a:pt x="133" y="98"/>
                  <a:pt x="126" y="76"/>
                  <a:pt x="113" y="75"/>
                </a:cubicBezTo>
                <a:cubicBezTo>
                  <a:pt x="99" y="73"/>
                  <a:pt x="87" y="74"/>
                  <a:pt x="80" y="78"/>
                </a:cubicBezTo>
                <a:cubicBezTo>
                  <a:pt x="80" y="78"/>
                  <a:pt x="74" y="60"/>
                  <a:pt x="52" y="58"/>
                </a:cubicBezTo>
                <a:cubicBezTo>
                  <a:pt x="30" y="56"/>
                  <a:pt x="0" y="63"/>
                  <a:pt x="3" y="99"/>
                </a:cubicBezTo>
                <a:cubicBezTo>
                  <a:pt x="7" y="134"/>
                  <a:pt x="34" y="117"/>
                  <a:pt x="34" y="117"/>
                </a:cubicBezTo>
                <a:cubicBezTo>
                  <a:pt x="34" y="117"/>
                  <a:pt x="43" y="148"/>
                  <a:pt x="59" y="144"/>
                </a:cubicBezTo>
                <a:cubicBezTo>
                  <a:pt x="74" y="140"/>
                  <a:pt x="79" y="133"/>
                  <a:pt x="79" y="133"/>
                </a:cubicBezTo>
                <a:cubicBezTo>
                  <a:pt x="79" y="133"/>
                  <a:pt x="78" y="150"/>
                  <a:pt x="90" y="153"/>
                </a:cubicBezTo>
                <a:cubicBezTo>
                  <a:pt x="90" y="153"/>
                  <a:pt x="92" y="177"/>
                  <a:pt x="117" y="164"/>
                </a:cubicBezTo>
                <a:cubicBezTo>
                  <a:pt x="117" y="164"/>
                  <a:pt x="118" y="189"/>
                  <a:pt x="136" y="185"/>
                </a:cubicBezTo>
                <a:cubicBezTo>
                  <a:pt x="153" y="181"/>
                  <a:pt x="162" y="170"/>
                  <a:pt x="162" y="170"/>
                </a:cubicBezTo>
                <a:cubicBezTo>
                  <a:pt x="162" y="170"/>
                  <a:pt x="167" y="190"/>
                  <a:pt x="176" y="192"/>
                </a:cubicBezTo>
                <a:cubicBezTo>
                  <a:pt x="194" y="196"/>
                  <a:pt x="205" y="185"/>
                  <a:pt x="205" y="185"/>
                </a:cubicBezTo>
                <a:cubicBezTo>
                  <a:pt x="205" y="185"/>
                  <a:pt x="226" y="197"/>
                  <a:pt x="236" y="190"/>
                </a:cubicBezTo>
                <a:cubicBezTo>
                  <a:pt x="247" y="184"/>
                  <a:pt x="248" y="179"/>
                  <a:pt x="248" y="179"/>
                </a:cubicBezTo>
                <a:cubicBezTo>
                  <a:pt x="248" y="179"/>
                  <a:pt x="266" y="188"/>
                  <a:pt x="276" y="182"/>
                </a:cubicBezTo>
                <a:cubicBezTo>
                  <a:pt x="286" y="176"/>
                  <a:pt x="301" y="158"/>
                  <a:pt x="301" y="158"/>
                </a:cubicBezTo>
                <a:cubicBezTo>
                  <a:pt x="301" y="158"/>
                  <a:pt x="318" y="172"/>
                  <a:pt x="328" y="169"/>
                </a:cubicBezTo>
                <a:cubicBezTo>
                  <a:pt x="338" y="166"/>
                  <a:pt x="345" y="151"/>
                  <a:pt x="342" y="145"/>
                </a:cubicBezTo>
                <a:cubicBezTo>
                  <a:pt x="342" y="145"/>
                  <a:pt x="351" y="165"/>
                  <a:pt x="370" y="161"/>
                </a:cubicBezTo>
                <a:cubicBezTo>
                  <a:pt x="388" y="156"/>
                  <a:pt x="386" y="139"/>
                  <a:pt x="386" y="139"/>
                </a:cubicBezTo>
                <a:cubicBezTo>
                  <a:pt x="386" y="139"/>
                  <a:pt x="419" y="147"/>
                  <a:pt x="425" y="129"/>
                </a:cubicBezTo>
                <a:cubicBezTo>
                  <a:pt x="425" y="129"/>
                  <a:pt x="443" y="137"/>
                  <a:pt x="446" y="125"/>
                </a:cubicBezTo>
                <a:cubicBezTo>
                  <a:pt x="446" y="125"/>
                  <a:pt x="464" y="135"/>
                  <a:pt x="475" y="124"/>
                </a:cubicBezTo>
                <a:cubicBezTo>
                  <a:pt x="485" y="112"/>
                  <a:pt x="495" y="105"/>
                  <a:pt x="495" y="105"/>
                </a:cubicBezTo>
              </a:path>
            </a:pathLst>
          </a:custGeom>
          <a:solidFill>
            <a:srgbClr val="A5A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5" name="Freeform 173"/>
          <p:cNvSpPr>
            <a:spLocks/>
          </p:cNvSpPr>
          <p:nvPr/>
        </p:nvSpPr>
        <p:spPr bwMode="auto">
          <a:xfrm>
            <a:off x="3449638" y="4903788"/>
            <a:ext cx="271463" cy="112712"/>
          </a:xfrm>
          <a:custGeom>
            <a:avLst/>
            <a:gdLst>
              <a:gd name="T0" fmla="*/ 133 w 160"/>
              <a:gd name="T1" fmla="*/ 0 h 66"/>
              <a:gd name="T2" fmla="*/ 139 w 160"/>
              <a:gd name="T3" fmla="*/ 17 h 66"/>
              <a:gd name="T4" fmla="*/ 126 w 160"/>
              <a:gd name="T5" fmla="*/ 28 h 66"/>
              <a:gd name="T6" fmla="*/ 120 w 160"/>
              <a:gd name="T7" fmla="*/ 27 h 66"/>
              <a:gd name="T8" fmla="*/ 94 w 160"/>
              <a:gd name="T9" fmla="*/ 6 h 66"/>
              <a:gd name="T10" fmla="*/ 94 w 160"/>
              <a:gd name="T11" fmla="*/ 6 h 66"/>
              <a:gd name="T12" fmla="*/ 97 w 160"/>
              <a:gd name="T13" fmla="*/ 31 h 66"/>
              <a:gd name="T14" fmla="*/ 82 w 160"/>
              <a:gd name="T15" fmla="*/ 40 h 66"/>
              <a:gd name="T16" fmla="*/ 76 w 160"/>
              <a:gd name="T17" fmla="*/ 38 h 66"/>
              <a:gd name="T18" fmla="*/ 52 w 160"/>
              <a:gd name="T19" fmla="*/ 14 h 66"/>
              <a:gd name="T20" fmla="*/ 51 w 160"/>
              <a:gd name="T21" fmla="*/ 12 h 66"/>
              <a:gd name="T22" fmla="*/ 55 w 160"/>
              <a:gd name="T23" fmla="*/ 35 h 66"/>
              <a:gd name="T24" fmla="*/ 27 w 160"/>
              <a:gd name="T25" fmla="*/ 53 h 66"/>
              <a:gd name="T26" fmla="*/ 23 w 160"/>
              <a:gd name="T27" fmla="*/ 53 h 66"/>
              <a:gd name="T28" fmla="*/ 3 w 160"/>
              <a:gd name="T29" fmla="*/ 43 h 66"/>
              <a:gd name="T30" fmla="*/ 3 w 160"/>
              <a:gd name="T31" fmla="*/ 42 h 66"/>
              <a:gd name="T32" fmla="*/ 1 w 160"/>
              <a:gd name="T33" fmla="*/ 65 h 66"/>
              <a:gd name="T34" fmla="*/ 0 w 160"/>
              <a:gd name="T35" fmla="*/ 66 h 66"/>
              <a:gd name="T36" fmla="*/ 10 w 160"/>
              <a:gd name="T37" fmla="*/ 56 h 66"/>
              <a:gd name="T38" fmla="*/ 29 w 160"/>
              <a:gd name="T39" fmla="*/ 61 h 66"/>
              <a:gd name="T40" fmla="*/ 38 w 160"/>
              <a:gd name="T41" fmla="*/ 59 h 66"/>
              <a:gd name="T42" fmla="*/ 63 w 160"/>
              <a:gd name="T43" fmla="*/ 35 h 66"/>
              <a:gd name="T44" fmla="*/ 87 w 160"/>
              <a:gd name="T45" fmla="*/ 47 h 66"/>
              <a:gd name="T46" fmla="*/ 90 w 160"/>
              <a:gd name="T47" fmla="*/ 46 h 66"/>
              <a:gd name="T48" fmla="*/ 105 w 160"/>
              <a:gd name="T49" fmla="*/ 26 h 66"/>
              <a:gd name="T50" fmla="*/ 104 w 160"/>
              <a:gd name="T51" fmla="*/ 23 h 66"/>
              <a:gd name="T52" fmla="*/ 104 w 160"/>
              <a:gd name="T53" fmla="*/ 23 h 66"/>
              <a:gd name="T54" fmla="*/ 104 w 160"/>
              <a:gd name="T55" fmla="*/ 23 h 66"/>
              <a:gd name="T56" fmla="*/ 126 w 160"/>
              <a:gd name="T57" fmla="*/ 38 h 66"/>
              <a:gd name="T58" fmla="*/ 132 w 160"/>
              <a:gd name="T59" fmla="*/ 38 h 66"/>
              <a:gd name="T60" fmla="*/ 148 w 160"/>
              <a:gd name="T61" fmla="*/ 18 h 66"/>
              <a:gd name="T62" fmla="*/ 148 w 160"/>
              <a:gd name="T63" fmla="*/ 16 h 66"/>
              <a:gd name="T64" fmla="*/ 148 w 160"/>
              <a:gd name="T65" fmla="*/ 16 h 66"/>
              <a:gd name="T66" fmla="*/ 148 w 160"/>
              <a:gd name="T67" fmla="*/ 16 h 66"/>
              <a:gd name="T68" fmla="*/ 148 w 160"/>
              <a:gd name="T69" fmla="*/ 16 h 66"/>
              <a:gd name="T70" fmla="*/ 148 w 160"/>
              <a:gd name="T71" fmla="*/ 16 h 66"/>
              <a:gd name="T72" fmla="*/ 160 w 160"/>
              <a:gd name="T73" fmla="*/ 18 h 66"/>
              <a:gd name="T74" fmla="*/ 136 w 160"/>
              <a:gd name="T75" fmla="*/ 2 h 66"/>
              <a:gd name="T76" fmla="*/ 133 w 160"/>
              <a:gd name="T77"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0" h="66">
                <a:moveTo>
                  <a:pt x="133" y="0"/>
                </a:moveTo>
                <a:cubicBezTo>
                  <a:pt x="132" y="0"/>
                  <a:pt x="138" y="9"/>
                  <a:pt x="139" y="17"/>
                </a:cubicBezTo>
                <a:cubicBezTo>
                  <a:pt x="140" y="24"/>
                  <a:pt x="134" y="28"/>
                  <a:pt x="126" y="28"/>
                </a:cubicBezTo>
                <a:cubicBezTo>
                  <a:pt x="124" y="28"/>
                  <a:pt x="122" y="28"/>
                  <a:pt x="120" y="27"/>
                </a:cubicBezTo>
                <a:cubicBezTo>
                  <a:pt x="110" y="24"/>
                  <a:pt x="97" y="11"/>
                  <a:pt x="94" y="6"/>
                </a:cubicBezTo>
                <a:cubicBezTo>
                  <a:pt x="94" y="6"/>
                  <a:pt x="94" y="6"/>
                  <a:pt x="94" y="6"/>
                </a:cubicBezTo>
                <a:cubicBezTo>
                  <a:pt x="93" y="6"/>
                  <a:pt x="101" y="24"/>
                  <a:pt x="97" y="31"/>
                </a:cubicBezTo>
                <a:cubicBezTo>
                  <a:pt x="95" y="36"/>
                  <a:pt x="88" y="40"/>
                  <a:pt x="82" y="40"/>
                </a:cubicBezTo>
                <a:cubicBezTo>
                  <a:pt x="80" y="40"/>
                  <a:pt x="78" y="39"/>
                  <a:pt x="76" y="38"/>
                </a:cubicBezTo>
                <a:cubicBezTo>
                  <a:pt x="71" y="32"/>
                  <a:pt x="56" y="22"/>
                  <a:pt x="52" y="14"/>
                </a:cubicBezTo>
                <a:cubicBezTo>
                  <a:pt x="52" y="12"/>
                  <a:pt x="52" y="12"/>
                  <a:pt x="51" y="12"/>
                </a:cubicBezTo>
                <a:cubicBezTo>
                  <a:pt x="51" y="12"/>
                  <a:pt x="57" y="29"/>
                  <a:pt x="55" y="35"/>
                </a:cubicBezTo>
                <a:cubicBezTo>
                  <a:pt x="52" y="42"/>
                  <a:pt x="39" y="53"/>
                  <a:pt x="27" y="53"/>
                </a:cubicBezTo>
                <a:cubicBezTo>
                  <a:pt x="25" y="53"/>
                  <a:pt x="24" y="53"/>
                  <a:pt x="23" y="53"/>
                </a:cubicBezTo>
                <a:cubicBezTo>
                  <a:pt x="9" y="50"/>
                  <a:pt x="5" y="45"/>
                  <a:pt x="3" y="43"/>
                </a:cubicBezTo>
                <a:cubicBezTo>
                  <a:pt x="3" y="42"/>
                  <a:pt x="3" y="42"/>
                  <a:pt x="3" y="42"/>
                </a:cubicBezTo>
                <a:cubicBezTo>
                  <a:pt x="2" y="42"/>
                  <a:pt x="4" y="56"/>
                  <a:pt x="1" y="65"/>
                </a:cubicBezTo>
                <a:cubicBezTo>
                  <a:pt x="1" y="65"/>
                  <a:pt x="1" y="66"/>
                  <a:pt x="0" y="66"/>
                </a:cubicBezTo>
                <a:cubicBezTo>
                  <a:pt x="9" y="60"/>
                  <a:pt x="10" y="56"/>
                  <a:pt x="10" y="56"/>
                </a:cubicBezTo>
                <a:cubicBezTo>
                  <a:pt x="10" y="56"/>
                  <a:pt x="20" y="61"/>
                  <a:pt x="29" y="61"/>
                </a:cubicBezTo>
                <a:cubicBezTo>
                  <a:pt x="33" y="61"/>
                  <a:pt x="35" y="60"/>
                  <a:pt x="38" y="59"/>
                </a:cubicBezTo>
                <a:cubicBezTo>
                  <a:pt x="48" y="53"/>
                  <a:pt x="63" y="35"/>
                  <a:pt x="63" y="35"/>
                </a:cubicBezTo>
                <a:cubicBezTo>
                  <a:pt x="63" y="35"/>
                  <a:pt x="77" y="47"/>
                  <a:pt x="87" y="47"/>
                </a:cubicBezTo>
                <a:cubicBezTo>
                  <a:pt x="88" y="47"/>
                  <a:pt x="89" y="46"/>
                  <a:pt x="90" y="46"/>
                </a:cubicBezTo>
                <a:cubicBezTo>
                  <a:pt x="98" y="44"/>
                  <a:pt x="105" y="33"/>
                  <a:pt x="105" y="26"/>
                </a:cubicBezTo>
                <a:cubicBezTo>
                  <a:pt x="105" y="25"/>
                  <a:pt x="104" y="24"/>
                  <a:pt x="104" y="23"/>
                </a:cubicBezTo>
                <a:cubicBezTo>
                  <a:pt x="104" y="23"/>
                  <a:pt x="104" y="23"/>
                  <a:pt x="104" y="23"/>
                </a:cubicBezTo>
                <a:cubicBezTo>
                  <a:pt x="104" y="23"/>
                  <a:pt x="104" y="23"/>
                  <a:pt x="104" y="23"/>
                </a:cubicBezTo>
                <a:cubicBezTo>
                  <a:pt x="106" y="26"/>
                  <a:pt x="113" y="38"/>
                  <a:pt x="126" y="38"/>
                </a:cubicBezTo>
                <a:cubicBezTo>
                  <a:pt x="128" y="38"/>
                  <a:pt x="130" y="38"/>
                  <a:pt x="132" y="38"/>
                </a:cubicBezTo>
                <a:cubicBezTo>
                  <a:pt x="147" y="34"/>
                  <a:pt x="148" y="22"/>
                  <a:pt x="148" y="18"/>
                </a:cubicBezTo>
                <a:cubicBezTo>
                  <a:pt x="148" y="17"/>
                  <a:pt x="148" y="16"/>
                  <a:pt x="148" y="16"/>
                </a:cubicBezTo>
                <a:cubicBezTo>
                  <a:pt x="148" y="16"/>
                  <a:pt x="148" y="16"/>
                  <a:pt x="148" y="16"/>
                </a:cubicBezTo>
                <a:cubicBezTo>
                  <a:pt x="148" y="16"/>
                  <a:pt x="148" y="16"/>
                  <a:pt x="148" y="16"/>
                </a:cubicBezTo>
                <a:cubicBezTo>
                  <a:pt x="148" y="16"/>
                  <a:pt x="148" y="16"/>
                  <a:pt x="148" y="16"/>
                </a:cubicBezTo>
                <a:cubicBezTo>
                  <a:pt x="148" y="16"/>
                  <a:pt x="148" y="16"/>
                  <a:pt x="148" y="16"/>
                </a:cubicBezTo>
                <a:cubicBezTo>
                  <a:pt x="148" y="16"/>
                  <a:pt x="154" y="18"/>
                  <a:pt x="160" y="18"/>
                </a:cubicBezTo>
                <a:cubicBezTo>
                  <a:pt x="151" y="13"/>
                  <a:pt x="140" y="5"/>
                  <a:pt x="136" y="2"/>
                </a:cubicBezTo>
                <a:cubicBezTo>
                  <a:pt x="134" y="1"/>
                  <a:pt x="134" y="0"/>
                  <a:pt x="133"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6" name="Freeform 174"/>
          <p:cNvSpPr>
            <a:spLocks/>
          </p:cNvSpPr>
          <p:nvPr/>
        </p:nvSpPr>
        <p:spPr bwMode="auto">
          <a:xfrm>
            <a:off x="3794126" y="4787900"/>
            <a:ext cx="228600" cy="130175"/>
          </a:xfrm>
          <a:custGeom>
            <a:avLst/>
            <a:gdLst>
              <a:gd name="T0" fmla="*/ 84 w 135"/>
              <a:gd name="T1" fmla="*/ 0 h 76"/>
              <a:gd name="T2" fmla="*/ 104 w 135"/>
              <a:gd name="T3" fmla="*/ 33 h 76"/>
              <a:gd name="T4" fmla="*/ 79 w 135"/>
              <a:gd name="T5" fmla="*/ 48 h 76"/>
              <a:gd name="T6" fmla="*/ 69 w 135"/>
              <a:gd name="T7" fmla="*/ 46 h 76"/>
              <a:gd name="T8" fmla="*/ 44 w 135"/>
              <a:gd name="T9" fmla="*/ 27 h 76"/>
              <a:gd name="T10" fmla="*/ 44 w 135"/>
              <a:gd name="T11" fmla="*/ 50 h 76"/>
              <a:gd name="T12" fmla="*/ 22 w 135"/>
              <a:gd name="T13" fmla="*/ 67 h 76"/>
              <a:gd name="T14" fmla="*/ 21 w 135"/>
              <a:gd name="T15" fmla="*/ 67 h 76"/>
              <a:gd name="T16" fmla="*/ 1 w 135"/>
              <a:gd name="T17" fmla="*/ 49 h 76"/>
              <a:gd name="T18" fmla="*/ 0 w 135"/>
              <a:gd name="T19" fmla="*/ 76 h 76"/>
              <a:gd name="T20" fmla="*/ 5 w 135"/>
              <a:gd name="T21" fmla="*/ 70 h 76"/>
              <a:gd name="T22" fmla="*/ 21 w 135"/>
              <a:gd name="T23" fmla="*/ 74 h 76"/>
              <a:gd name="T24" fmla="*/ 34 w 135"/>
              <a:gd name="T25" fmla="*/ 69 h 76"/>
              <a:gd name="T26" fmla="*/ 54 w 135"/>
              <a:gd name="T27" fmla="*/ 50 h 76"/>
              <a:gd name="T28" fmla="*/ 80 w 135"/>
              <a:gd name="T29" fmla="*/ 59 h 76"/>
              <a:gd name="T30" fmla="*/ 90 w 135"/>
              <a:gd name="T31" fmla="*/ 57 h 76"/>
              <a:gd name="T32" fmla="*/ 112 w 135"/>
              <a:gd name="T33" fmla="*/ 35 h 76"/>
              <a:gd name="T34" fmla="*/ 120 w 135"/>
              <a:gd name="T35" fmla="*/ 38 h 76"/>
              <a:gd name="T36" fmla="*/ 135 w 135"/>
              <a:gd name="T37" fmla="*/ 15 h 76"/>
              <a:gd name="T38" fmla="*/ 120 w 135"/>
              <a:gd name="T39" fmla="*/ 21 h 76"/>
              <a:gd name="T40" fmla="*/ 107 w 135"/>
              <a:gd name="T41" fmla="*/ 16 h 76"/>
              <a:gd name="T42" fmla="*/ 84 w 135"/>
              <a:gd name="T43"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5" h="76">
                <a:moveTo>
                  <a:pt x="84" y="0"/>
                </a:moveTo>
                <a:cubicBezTo>
                  <a:pt x="84" y="0"/>
                  <a:pt x="105" y="27"/>
                  <a:pt x="104" y="33"/>
                </a:cubicBezTo>
                <a:cubicBezTo>
                  <a:pt x="102" y="38"/>
                  <a:pt x="92" y="48"/>
                  <a:pt x="79" y="48"/>
                </a:cubicBezTo>
                <a:cubicBezTo>
                  <a:pt x="76" y="48"/>
                  <a:pt x="72" y="47"/>
                  <a:pt x="69" y="46"/>
                </a:cubicBezTo>
                <a:cubicBezTo>
                  <a:pt x="51" y="40"/>
                  <a:pt x="44" y="27"/>
                  <a:pt x="44" y="27"/>
                </a:cubicBezTo>
                <a:cubicBezTo>
                  <a:pt x="44" y="27"/>
                  <a:pt x="48" y="44"/>
                  <a:pt x="44" y="50"/>
                </a:cubicBezTo>
                <a:cubicBezTo>
                  <a:pt x="39" y="57"/>
                  <a:pt x="30" y="67"/>
                  <a:pt x="22" y="67"/>
                </a:cubicBezTo>
                <a:cubicBezTo>
                  <a:pt x="22" y="67"/>
                  <a:pt x="21" y="67"/>
                  <a:pt x="21" y="67"/>
                </a:cubicBezTo>
                <a:cubicBezTo>
                  <a:pt x="12" y="66"/>
                  <a:pt x="1" y="49"/>
                  <a:pt x="1" y="49"/>
                </a:cubicBezTo>
                <a:cubicBezTo>
                  <a:pt x="1" y="49"/>
                  <a:pt x="3" y="67"/>
                  <a:pt x="0" y="76"/>
                </a:cubicBezTo>
                <a:cubicBezTo>
                  <a:pt x="2" y="75"/>
                  <a:pt x="4" y="73"/>
                  <a:pt x="5" y="70"/>
                </a:cubicBezTo>
                <a:cubicBezTo>
                  <a:pt x="5" y="70"/>
                  <a:pt x="13" y="74"/>
                  <a:pt x="21" y="74"/>
                </a:cubicBezTo>
                <a:cubicBezTo>
                  <a:pt x="25" y="74"/>
                  <a:pt x="30" y="73"/>
                  <a:pt x="34" y="69"/>
                </a:cubicBezTo>
                <a:cubicBezTo>
                  <a:pt x="44" y="57"/>
                  <a:pt x="54" y="50"/>
                  <a:pt x="54" y="50"/>
                </a:cubicBezTo>
                <a:cubicBezTo>
                  <a:pt x="54" y="50"/>
                  <a:pt x="67" y="59"/>
                  <a:pt x="80" y="59"/>
                </a:cubicBezTo>
                <a:cubicBezTo>
                  <a:pt x="83" y="59"/>
                  <a:pt x="87" y="59"/>
                  <a:pt x="90" y="57"/>
                </a:cubicBezTo>
                <a:cubicBezTo>
                  <a:pt x="105" y="50"/>
                  <a:pt x="112" y="35"/>
                  <a:pt x="112" y="35"/>
                </a:cubicBezTo>
                <a:cubicBezTo>
                  <a:pt x="112" y="35"/>
                  <a:pt x="116" y="37"/>
                  <a:pt x="120" y="38"/>
                </a:cubicBezTo>
                <a:cubicBezTo>
                  <a:pt x="128" y="29"/>
                  <a:pt x="133" y="22"/>
                  <a:pt x="135" y="15"/>
                </a:cubicBezTo>
                <a:cubicBezTo>
                  <a:pt x="135" y="15"/>
                  <a:pt x="129" y="21"/>
                  <a:pt x="120" y="21"/>
                </a:cubicBezTo>
                <a:cubicBezTo>
                  <a:pt x="116" y="21"/>
                  <a:pt x="112" y="20"/>
                  <a:pt x="107" y="16"/>
                </a:cubicBezTo>
                <a:cubicBezTo>
                  <a:pt x="90" y="6"/>
                  <a:pt x="84" y="0"/>
                  <a:pt x="84"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7" name="Freeform 175"/>
          <p:cNvSpPr>
            <a:spLocks/>
          </p:cNvSpPr>
          <p:nvPr/>
        </p:nvSpPr>
        <p:spPr bwMode="auto">
          <a:xfrm>
            <a:off x="3159126" y="4899025"/>
            <a:ext cx="61913" cy="34925"/>
          </a:xfrm>
          <a:custGeom>
            <a:avLst/>
            <a:gdLst>
              <a:gd name="T0" fmla="*/ 34 w 36"/>
              <a:gd name="T1" fmla="*/ 0 h 21"/>
              <a:gd name="T2" fmla="*/ 2 w 36"/>
              <a:gd name="T3" fmla="*/ 19 h 21"/>
              <a:gd name="T4" fmla="*/ 0 w 36"/>
              <a:gd name="T5" fmla="*/ 21 h 21"/>
              <a:gd name="T6" fmla="*/ 12 w 36"/>
              <a:gd name="T7" fmla="*/ 13 h 21"/>
              <a:gd name="T8" fmla="*/ 12 w 36"/>
              <a:gd name="T9" fmla="*/ 13 h 21"/>
              <a:gd name="T10" fmla="*/ 12 w 36"/>
              <a:gd name="T11" fmla="*/ 13 h 21"/>
              <a:gd name="T12" fmla="*/ 12 w 36"/>
              <a:gd name="T13" fmla="*/ 13 h 21"/>
              <a:gd name="T14" fmla="*/ 13 w 36"/>
              <a:gd name="T15" fmla="*/ 21 h 21"/>
              <a:gd name="T16" fmla="*/ 22 w 36"/>
              <a:gd name="T17" fmla="*/ 6 h 21"/>
              <a:gd name="T18" fmla="*/ 36 w 36"/>
              <a:gd name="T19" fmla="*/ 0 h 21"/>
              <a:gd name="T20" fmla="*/ 34 w 36"/>
              <a:gd name="T21"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21">
                <a:moveTo>
                  <a:pt x="34" y="0"/>
                </a:moveTo>
                <a:cubicBezTo>
                  <a:pt x="29" y="0"/>
                  <a:pt x="14" y="2"/>
                  <a:pt x="2" y="19"/>
                </a:cubicBezTo>
                <a:cubicBezTo>
                  <a:pt x="1" y="20"/>
                  <a:pt x="1" y="20"/>
                  <a:pt x="0" y="21"/>
                </a:cubicBezTo>
                <a:cubicBezTo>
                  <a:pt x="9" y="17"/>
                  <a:pt x="12" y="13"/>
                  <a:pt x="12" y="13"/>
                </a:cubicBezTo>
                <a:cubicBezTo>
                  <a:pt x="12" y="13"/>
                  <a:pt x="12" y="13"/>
                  <a:pt x="12" y="13"/>
                </a:cubicBezTo>
                <a:cubicBezTo>
                  <a:pt x="12" y="13"/>
                  <a:pt x="12" y="13"/>
                  <a:pt x="12" y="13"/>
                </a:cubicBezTo>
                <a:cubicBezTo>
                  <a:pt x="12" y="13"/>
                  <a:pt x="12" y="13"/>
                  <a:pt x="12" y="13"/>
                </a:cubicBezTo>
                <a:cubicBezTo>
                  <a:pt x="12" y="13"/>
                  <a:pt x="12" y="17"/>
                  <a:pt x="13" y="21"/>
                </a:cubicBezTo>
                <a:cubicBezTo>
                  <a:pt x="15" y="16"/>
                  <a:pt x="18" y="9"/>
                  <a:pt x="22" y="6"/>
                </a:cubicBezTo>
                <a:cubicBezTo>
                  <a:pt x="31" y="0"/>
                  <a:pt x="36" y="0"/>
                  <a:pt x="36" y="0"/>
                </a:cubicBezTo>
                <a:cubicBezTo>
                  <a:pt x="36" y="0"/>
                  <a:pt x="36" y="0"/>
                  <a:pt x="34"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8" name="Freeform 176"/>
          <p:cNvSpPr>
            <a:spLocks/>
          </p:cNvSpPr>
          <p:nvPr/>
        </p:nvSpPr>
        <p:spPr bwMode="auto">
          <a:xfrm>
            <a:off x="3198813" y="495458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C9B7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9" name="Freeform 177"/>
          <p:cNvSpPr>
            <a:spLocks/>
          </p:cNvSpPr>
          <p:nvPr/>
        </p:nvSpPr>
        <p:spPr bwMode="auto">
          <a:xfrm>
            <a:off x="3194051" y="4935538"/>
            <a:ext cx="23813" cy="42862"/>
          </a:xfrm>
          <a:custGeom>
            <a:avLst/>
            <a:gdLst>
              <a:gd name="T0" fmla="*/ 13 w 14"/>
              <a:gd name="T1" fmla="*/ 0 h 25"/>
              <a:gd name="T2" fmla="*/ 0 w 14"/>
              <a:gd name="T3" fmla="*/ 9 h 25"/>
              <a:gd name="T4" fmla="*/ 3 w 14"/>
              <a:gd name="T5" fmla="*/ 11 h 25"/>
              <a:gd name="T6" fmla="*/ 3 w 14"/>
              <a:gd name="T7" fmla="*/ 11 h 25"/>
              <a:gd name="T8" fmla="*/ 3 w 14"/>
              <a:gd name="T9" fmla="*/ 11 h 25"/>
              <a:gd name="T10" fmla="*/ 12 w 14"/>
              <a:gd name="T11" fmla="*/ 25 h 25"/>
              <a:gd name="T12" fmla="*/ 12 w 14"/>
              <a:gd name="T13" fmla="*/ 2 h 25"/>
              <a:gd name="T14" fmla="*/ 13 w 14"/>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25">
                <a:moveTo>
                  <a:pt x="13" y="0"/>
                </a:moveTo>
                <a:cubicBezTo>
                  <a:pt x="13" y="0"/>
                  <a:pt x="6" y="6"/>
                  <a:pt x="0" y="9"/>
                </a:cubicBezTo>
                <a:cubicBezTo>
                  <a:pt x="1" y="10"/>
                  <a:pt x="2" y="10"/>
                  <a:pt x="3" y="11"/>
                </a:cubicBezTo>
                <a:cubicBezTo>
                  <a:pt x="3" y="11"/>
                  <a:pt x="3" y="11"/>
                  <a:pt x="3" y="11"/>
                </a:cubicBezTo>
                <a:cubicBezTo>
                  <a:pt x="3" y="11"/>
                  <a:pt x="3" y="11"/>
                  <a:pt x="3" y="11"/>
                </a:cubicBezTo>
                <a:cubicBezTo>
                  <a:pt x="3" y="11"/>
                  <a:pt x="4" y="21"/>
                  <a:pt x="12" y="25"/>
                </a:cubicBezTo>
                <a:cubicBezTo>
                  <a:pt x="9" y="19"/>
                  <a:pt x="8" y="6"/>
                  <a:pt x="12" y="2"/>
                </a:cubicBezTo>
                <a:cubicBezTo>
                  <a:pt x="13" y="1"/>
                  <a:pt x="14" y="0"/>
                  <a:pt x="13"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0" name="Freeform 178"/>
          <p:cNvSpPr>
            <a:spLocks/>
          </p:cNvSpPr>
          <p:nvPr/>
        </p:nvSpPr>
        <p:spPr bwMode="auto">
          <a:xfrm>
            <a:off x="3321051" y="498316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C9B7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1" name="Freeform 179"/>
          <p:cNvSpPr>
            <a:spLocks/>
          </p:cNvSpPr>
          <p:nvPr/>
        </p:nvSpPr>
        <p:spPr bwMode="auto">
          <a:xfrm>
            <a:off x="3228976" y="4927600"/>
            <a:ext cx="131763" cy="80962"/>
          </a:xfrm>
          <a:custGeom>
            <a:avLst/>
            <a:gdLst>
              <a:gd name="T0" fmla="*/ 78 w 78"/>
              <a:gd name="T1" fmla="*/ 0 h 48"/>
              <a:gd name="T2" fmla="*/ 49 w 78"/>
              <a:gd name="T3" fmla="*/ 26 h 48"/>
              <a:gd name="T4" fmla="*/ 27 w 78"/>
              <a:gd name="T5" fmla="*/ 42 h 48"/>
              <a:gd name="T6" fmla="*/ 25 w 78"/>
              <a:gd name="T7" fmla="*/ 42 h 48"/>
              <a:gd name="T8" fmla="*/ 22 w 78"/>
              <a:gd name="T9" fmla="*/ 16 h 48"/>
              <a:gd name="T10" fmla="*/ 30 w 78"/>
              <a:gd name="T11" fmla="*/ 7 h 48"/>
              <a:gd name="T12" fmla="*/ 0 w 78"/>
              <a:gd name="T13" fmla="*/ 31 h 48"/>
              <a:gd name="T14" fmla="*/ 9 w 78"/>
              <a:gd name="T15" fmla="*/ 27 h 48"/>
              <a:gd name="T16" fmla="*/ 24 w 78"/>
              <a:gd name="T17" fmla="*/ 48 h 48"/>
              <a:gd name="T18" fmla="*/ 28 w 78"/>
              <a:gd name="T19" fmla="*/ 48 h 48"/>
              <a:gd name="T20" fmla="*/ 54 w 78"/>
              <a:gd name="T21" fmla="*/ 33 h 48"/>
              <a:gd name="T22" fmla="*/ 54 w 78"/>
              <a:gd name="T23" fmla="*/ 33 h 48"/>
              <a:gd name="T24" fmla="*/ 54 w 78"/>
              <a:gd name="T25" fmla="*/ 33 h 48"/>
              <a:gd name="T26" fmla="*/ 56 w 78"/>
              <a:gd name="T27" fmla="*/ 39 h 48"/>
              <a:gd name="T28" fmla="*/ 67 w 78"/>
              <a:gd name="T29" fmla="*/ 12 h 48"/>
              <a:gd name="T30" fmla="*/ 78 w 78"/>
              <a:gd name="T3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8" h="48">
                <a:moveTo>
                  <a:pt x="78" y="0"/>
                </a:moveTo>
                <a:cubicBezTo>
                  <a:pt x="78" y="0"/>
                  <a:pt x="52" y="22"/>
                  <a:pt x="49" y="26"/>
                </a:cubicBezTo>
                <a:cubicBezTo>
                  <a:pt x="46" y="31"/>
                  <a:pt x="37" y="42"/>
                  <a:pt x="27" y="42"/>
                </a:cubicBezTo>
                <a:cubicBezTo>
                  <a:pt x="26" y="42"/>
                  <a:pt x="26" y="42"/>
                  <a:pt x="25" y="42"/>
                </a:cubicBezTo>
                <a:cubicBezTo>
                  <a:pt x="14" y="40"/>
                  <a:pt x="16" y="24"/>
                  <a:pt x="22" y="16"/>
                </a:cubicBezTo>
                <a:cubicBezTo>
                  <a:pt x="25" y="12"/>
                  <a:pt x="28" y="9"/>
                  <a:pt x="30" y="7"/>
                </a:cubicBezTo>
                <a:cubicBezTo>
                  <a:pt x="24" y="12"/>
                  <a:pt x="8" y="25"/>
                  <a:pt x="0" y="31"/>
                </a:cubicBezTo>
                <a:cubicBezTo>
                  <a:pt x="2" y="30"/>
                  <a:pt x="6" y="29"/>
                  <a:pt x="9" y="27"/>
                </a:cubicBezTo>
                <a:cubicBezTo>
                  <a:pt x="9" y="27"/>
                  <a:pt x="10" y="48"/>
                  <a:pt x="24" y="48"/>
                </a:cubicBezTo>
                <a:cubicBezTo>
                  <a:pt x="25" y="48"/>
                  <a:pt x="27" y="48"/>
                  <a:pt x="28" y="48"/>
                </a:cubicBezTo>
                <a:cubicBezTo>
                  <a:pt x="45" y="44"/>
                  <a:pt x="54" y="33"/>
                  <a:pt x="54" y="33"/>
                </a:cubicBezTo>
                <a:cubicBezTo>
                  <a:pt x="54" y="33"/>
                  <a:pt x="54" y="33"/>
                  <a:pt x="54" y="33"/>
                </a:cubicBezTo>
                <a:cubicBezTo>
                  <a:pt x="54" y="33"/>
                  <a:pt x="54" y="33"/>
                  <a:pt x="54" y="33"/>
                </a:cubicBezTo>
                <a:cubicBezTo>
                  <a:pt x="54" y="33"/>
                  <a:pt x="55" y="36"/>
                  <a:pt x="56" y="39"/>
                </a:cubicBezTo>
                <a:cubicBezTo>
                  <a:pt x="58" y="28"/>
                  <a:pt x="62" y="18"/>
                  <a:pt x="67" y="12"/>
                </a:cubicBezTo>
                <a:cubicBezTo>
                  <a:pt x="78" y="0"/>
                  <a:pt x="78" y="0"/>
                  <a:pt x="78"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00" name="Freeform 180"/>
          <p:cNvSpPr>
            <a:spLocks/>
          </p:cNvSpPr>
          <p:nvPr/>
        </p:nvSpPr>
        <p:spPr bwMode="auto">
          <a:xfrm>
            <a:off x="3751263" y="4892675"/>
            <a:ext cx="14288" cy="34925"/>
          </a:xfrm>
          <a:custGeom>
            <a:avLst/>
            <a:gdLst>
              <a:gd name="T0" fmla="*/ 0 w 8"/>
              <a:gd name="T1" fmla="*/ 0 h 21"/>
              <a:gd name="T2" fmla="*/ 1 w 8"/>
              <a:gd name="T3" fmla="*/ 21 h 21"/>
              <a:gd name="T4" fmla="*/ 8 w 8"/>
              <a:gd name="T5" fmla="*/ 13 h 21"/>
              <a:gd name="T6" fmla="*/ 0 w 8"/>
              <a:gd name="T7" fmla="*/ 0 h 21"/>
              <a:gd name="T8" fmla="*/ 0 w 8"/>
              <a:gd name="T9" fmla="*/ 0 h 21"/>
            </a:gdLst>
            <a:ahLst/>
            <a:cxnLst>
              <a:cxn ang="0">
                <a:pos x="T0" y="T1"/>
              </a:cxn>
              <a:cxn ang="0">
                <a:pos x="T2" y="T3"/>
              </a:cxn>
              <a:cxn ang="0">
                <a:pos x="T4" y="T5"/>
              </a:cxn>
              <a:cxn ang="0">
                <a:pos x="T6" y="T7"/>
              </a:cxn>
              <a:cxn ang="0">
                <a:pos x="T8" y="T9"/>
              </a:cxn>
            </a:cxnLst>
            <a:rect l="0" t="0" r="r" b="b"/>
            <a:pathLst>
              <a:path w="8" h="21">
                <a:moveTo>
                  <a:pt x="0" y="0"/>
                </a:moveTo>
                <a:cubicBezTo>
                  <a:pt x="0" y="0"/>
                  <a:pt x="3" y="13"/>
                  <a:pt x="1" y="21"/>
                </a:cubicBezTo>
                <a:cubicBezTo>
                  <a:pt x="4" y="20"/>
                  <a:pt x="7" y="17"/>
                  <a:pt x="8" y="13"/>
                </a:cubicBezTo>
                <a:cubicBezTo>
                  <a:pt x="4" y="8"/>
                  <a:pt x="1" y="2"/>
                  <a:pt x="0" y="0"/>
                </a:cubicBezTo>
                <a:cubicBezTo>
                  <a:pt x="0" y="0"/>
                  <a:pt x="0" y="0"/>
                  <a:pt x="0"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05" name="Freeform 181"/>
          <p:cNvSpPr>
            <a:spLocks/>
          </p:cNvSpPr>
          <p:nvPr/>
        </p:nvSpPr>
        <p:spPr bwMode="auto">
          <a:xfrm>
            <a:off x="3575051" y="4835525"/>
            <a:ext cx="61913" cy="42862"/>
          </a:xfrm>
          <a:custGeom>
            <a:avLst/>
            <a:gdLst>
              <a:gd name="T0" fmla="*/ 21 w 36"/>
              <a:gd name="T1" fmla="*/ 0 h 25"/>
              <a:gd name="T2" fmla="*/ 19 w 36"/>
              <a:gd name="T3" fmla="*/ 3 h 25"/>
              <a:gd name="T4" fmla="*/ 19 w 36"/>
              <a:gd name="T5" fmla="*/ 3 h 25"/>
              <a:gd name="T6" fmla="*/ 19 w 36"/>
              <a:gd name="T7" fmla="*/ 3 h 25"/>
              <a:gd name="T8" fmla="*/ 7 w 36"/>
              <a:gd name="T9" fmla="*/ 2 h 25"/>
              <a:gd name="T10" fmla="*/ 0 w 36"/>
              <a:gd name="T11" fmla="*/ 2 h 25"/>
              <a:gd name="T12" fmla="*/ 12 w 36"/>
              <a:gd name="T13" fmla="*/ 9 h 25"/>
              <a:gd name="T14" fmla="*/ 34 w 36"/>
              <a:gd name="T15" fmla="*/ 25 h 25"/>
              <a:gd name="T16" fmla="*/ 36 w 36"/>
              <a:gd name="T17" fmla="*/ 25 h 25"/>
              <a:gd name="T18" fmla="*/ 21 w 36"/>
              <a:gd name="T1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5">
                <a:moveTo>
                  <a:pt x="21" y="0"/>
                </a:moveTo>
                <a:cubicBezTo>
                  <a:pt x="20" y="1"/>
                  <a:pt x="20" y="2"/>
                  <a:pt x="19" y="3"/>
                </a:cubicBezTo>
                <a:cubicBezTo>
                  <a:pt x="19" y="3"/>
                  <a:pt x="19" y="3"/>
                  <a:pt x="19" y="3"/>
                </a:cubicBezTo>
                <a:cubicBezTo>
                  <a:pt x="19" y="3"/>
                  <a:pt x="19" y="3"/>
                  <a:pt x="19" y="3"/>
                </a:cubicBezTo>
                <a:cubicBezTo>
                  <a:pt x="19" y="3"/>
                  <a:pt x="14" y="2"/>
                  <a:pt x="7" y="2"/>
                </a:cubicBezTo>
                <a:cubicBezTo>
                  <a:pt x="5" y="2"/>
                  <a:pt x="3" y="2"/>
                  <a:pt x="0" y="2"/>
                </a:cubicBezTo>
                <a:cubicBezTo>
                  <a:pt x="5" y="4"/>
                  <a:pt x="9" y="7"/>
                  <a:pt x="12" y="9"/>
                </a:cubicBezTo>
                <a:cubicBezTo>
                  <a:pt x="18" y="12"/>
                  <a:pt x="29" y="21"/>
                  <a:pt x="34" y="25"/>
                </a:cubicBezTo>
                <a:cubicBezTo>
                  <a:pt x="35" y="25"/>
                  <a:pt x="35" y="25"/>
                  <a:pt x="36" y="25"/>
                </a:cubicBezTo>
                <a:cubicBezTo>
                  <a:pt x="28" y="18"/>
                  <a:pt x="23" y="8"/>
                  <a:pt x="21"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06" name="Freeform 182"/>
          <p:cNvSpPr>
            <a:spLocks noEditPoints="1"/>
          </p:cNvSpPr>
          <p:nvPr/>
        </p:nvSpPr>
        <p:spPr bwMode="auto">
          <a:xfrm>
            <a:off x="3271838" y="4860925"/>
            <a:ext cx="0" cy="0"/>
          </a:xfrm>
          <a:custGeom>
            <a:avLst/>
            <a:gdLst/>
            <a:ahLst/>
            <a:cxnLst>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close/>
                <a:moveTo>
                  <a:pt x="0" y="0"/>
                </a:moveTo>
                <a:lnTo>
                  <a:pt x="0" y="0"/>
                </a:lnTo>
                <a:lnTo>
                  <a:pt x="0" y="0"/>
                </a:lnTo>
                <a:close/>
              </a:path>
            </a:pathLst>
          </a:custGeom>
          <a:solidFill>
            <a:srgbClr val="B477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07" name="Freeform 183"/>
          <p:cNvSpPr>
            <a:spLocks noEditPoints="1"/>
          </p:cNvSpPr>
          <p:nvPr/>
        </p:nvSpPr>
        <p:spPr bwMode="auto">
          <a:xfrm>
            <a:off x="3271838" y="4860925"/>
            <a:ext cx="0" cy="0"/>
          </a:xfrm>
          <a:custGeom>
            <a:avLst/>
            <a:gdLst/>
            <a:ahLst/>
            <a:cxnLst>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08" name="Freeform 184"/>
          <p:cNvSpPr>
            <a:spLocks noEditPoints="1"/>
          </p:cNvSpPr>
          <p:nvPr/>
        </p:nvSpPr>
        <p:spPr bwMode="auto">
          <a:xfrm>
            <a:off x="3248026" y="4826000"/>
            <a:ext cx="36513" cy="88900"/>
          </a:xfrm>
          <a:custGeom>
            <a:avLst/>
            <a:gdLst>
              <a:gd name="T0" fmla="*/ 18 w 22"/>
              <a:gd name="T1" fmla="*/ 46 h 53"/>
              <a:gd name="T2" fmla="*/ 19 w 22"/>
              <a:gd name="T3" fmla="*/ 49 h 53"/>
              <a:gd name="T4" fmla="*/ 22 w 22"/>
              <a:gd name="T5" fmla="*/ 53 h 53"/>
              <a:gd name="T6" fmla="*/ 22 w 22"/>
              <a:gd name="T7" fmla="*/ 47 h 53"/>
              <a:gd name="T8" fmla="*/ 18 w 22"/>
              <a:gd name="T9" fmla="*/ 46 h 53"/>
              <a:gd name="T10" fmla="*/ 0 w 22"/>
              <a:gd name="T11" fmla="*/ 0 h 53"/>
              <a:gd name="T12" fmla="*/ 14 w 22"/>
              <a:gd name="T13" fmla="*/ 35 h 53"/>
              <a:gd name="T14" fmla="*/ 20 w 22"/>
              <a:gd name="T15" fmla="*/ 37 h 53"/>
              <a:gd name="T16" fmla="*/ 19 w 22"/>
              <a:gd name="T17" fmla="*/ 31 h 53"/>
              <a:gd name="T18" fmla="*/ 19 w 22"/>
              <a:gd name="T19" fmla="*/ 19 h 53"/>
              <a:gd name="T20" fmla="*/ 14 w 22"/>
              <a:gd name="T21" fmla="*/ 21 h 53"/>
              <a:gd name="T22" fmla="*/ 14 w 22"/>
              <a:gd name="T23" fmla="*/ 21 h 53"/>
              <a:gd name="T24" fmla="*/ 14 w 22"/>
              <a:gd name="T25" fmla="*/ 21 h 53"/>
              <a:gd name="T26" fmla="*/ 14 w 22"/>
              <a:gd name="T27" fmla="*/ 21 h 53"/>
              <a:gd name="T28" fmla="*/ 14 w 22"/>
              <a:gd name="T29" fmla="*/ 21 h 53"/>
              <a:gd name="T30" fmla="*/ 0 w 22"/>
              <a:gd name="T3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53">
                <a:moveTo>
                  <a:pt x="18" y="46"/>
                </a:moveTo>
                <a:cubicBezTo>
                  <a:pt x="19" y="47"/>
                  <a:pt x="19" y="48"/>
                  <a:pt x="19" y="49"/>
                </a:cubicBezTo>
                <a:cubicBezTo>
                  <a:pt x="20" y="52"/>
                  <a:pt x="21" y="53"/>
                  <a:pt x="22" y="53"/>
                </a:cubicBezTo>
                <a:cubicBezTo>
                  <a:pt x="22" y="53"/>
                  <a:pt x="22" y="51"/>
                  <a:pt x="22" y="47"/>
                </a:cubicBezTo>
                <a:cubicBezTo>
                  <a:pt x="21" y="47"/>
                  <a:pt x="19" y="47"/>
                  <a:pt x="18" y="46"/>
                </a:cubicBezTo>
                <a:moveTo>
                  <a:pt x="0" y="0"/>
                </a:moveTo>
                <a:cubicBezTo>
                  <a:pt x="5" y="10"/>
                  <a:pt x="10" y="24"/>
                  <a:pt x="14" y="35"/>
                </a:cubicBezTo>
                <a:cubicBezTo>
                  <a:pt x="16" y="36"/>
                  <a:pt x="18" y="37"/>
                  <a:pt x="20" y="37"/>
                </a:cubicBezTo>
                <a:cubicBezTo>
                  <a:pt x="20" y="35"/>
                  <a:pt x="19" y="32"/>
                  <a:pt x="19" y="31"/>
                </a:cubicBezTo>
                <a:cubicBezTo>
                  <a:pt x="17" y="27"/>
                  <a:pt x="18" y="23"/>
                  <a:pt x="19" y="19"/>
                </a:cubicBezTo>
                <a:cubicBezTo>
                  <a:pt x="16" y="20"/>
                  <a:pt x="14" y="21"/>
                  <a:pt x="14" y="21"/>
                </a:cubicBezTo>
                <a:cubicBezTo>
                  <a:pt x="14" y="21"/>
                  <a:pt x="14" y="21"/>
                  <a:pt x="14" y="21"/>
                </a:cubicBezTo>
                <a:cubicBezTo>
                  <a:pt x="14" y="21"/>
                  <a:pt x="14" y="21"/>
                  <a:pt x="14" y="21"/>
                </a:cubicBezTo>
                <a:cubicBezTo>
                  <a:pt x="14" y="21"/>
                  <a:pt x="14" y="21"/>
                  <a:pt x="14" y="21"/>
                </a:cubicBezTo>
                <a:cubicBezTo>
                  <a:pt x="14" y="21"/>
                  <a:pt x="14" y="21"/>
                  <a:pt x="14" y="21"/>
                </a:cubicBezTo>
                <a:cubicBezTo>
                  <a:pt x="14" y="21"/>
                  <a:pt x="9" y="6"/>
                  <a:pt x="0"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09" name="Freeform 185"/>
          <p:cNvSpPr>
            <a:spLocks/>
          </p:cNvSpPr>
          <p:nvPr/>
        </p:nvSpPr>
        <p:spPr bwMode="auto">
          <a:xfrm>
            <a:off x="3397251" y="4883150"/>
            <a:ext cx="3175" cy="1587"/>
          </a:xfrm>
          <a:custGeom>
            <a:avLst/>
            <a:gdLst>
              <a:gd name="T0" fmla="*/ 0 w 2"/>
              <a:gd name="T1" fmla="*/ 0 h 1"/>
              <a:gd name="T2" fmla="*/ 0 w 2"/>
              <a:gd name="T3" fmla="*/ 0 h 1"/>
              <a:gd name="T4" fmla="*/ 2 w 2"/>
              <a:gd name="T5" fmla="*/ 1 h 1"/>
              <a:gd name="T6" fmla="*/ 0 w 2"/>
              <a:gd name="T7" fmla="*/ 0 h 1"/>
            </a:gdLst>
            <a:ahLst/>
            <a:cxnLst>
              <a:cxn ang="0">
                <a:pos x="T0" y="T1"/>
              </a:cxn>
              <a:cxn ang="0">
                <a:pos x="T2" y="T3"/>
              </a:cxn>
              <a:cxn ang="0">
                <a:pos x="T4" y="T5"/>
              </a:cxn>
              <a:cxn ang="0">
                <a:pos x="T6" y="T7"/>
              </a:cxn>
            </a:cxnLst>
            <a:rect l="0" t="0" r="r" b="b"/>
            <a:pathLst>
              <a:path w="2" h="1">
                <a:moveTo>
                  <a:pt x="0" y="0"/>
                </a:moveTo>
                <a:cubicBezTo>
                  <a:pt x="0" y="0"/>
                  <a:pt x="0" y="0"/>
                  <a:pt x="0" y="0"/>
                </a:cubicBezTo>
                <a:cubicBezTo>
                  <a:pt x="1" y="1"/>
                  <a:pt x="1" y="1"/>
                  <a:pt x="2" y="1"/>
                </a:cubicBezTo>
                <a:cubicBezTo>
                  <a:pt x="1" y="1"/>
                  <a:pt x="1" y="1"/>
                  <a:pt x="0" y="0"/>
                </a:cubicBezTo>
              </a:path>
            </a:pathLst>
          </a:custGeom>
          <a:solidFill>
            <a:srgbClr val="6B6B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10" name="Freeform 186"/>
          <p:cNvSpPr>
            <a:spLocks noEditPoints="1"/>
          </p:cNvSpPr>
          <p:nvPr/>
        </p:nvSpPr>
        <p:spPr bwMode="auto">
          <a:xfrm>
            <a:off x="3397251" y="4862513"/>
            <a:ext cx="30163" cy="73025"/>
          </a:xfrm>
          <a:custGeom>
            <a:avLst/>
            <a:gdLst>
              <a:gd name="T0" fmla="*/ 11 w 18"/>
              <a:gd name="T1" fmla="*/ 35 h 43"/>
              <a:gd name="T2" fmla="*/ 14 w 18"/>
              <a:gd name="T3" fmla="*/ 43 h 43"/>
              <a:gd name="T4" fmla="*/ 17 w 18"/>
              <a:gd name="T5" fmla="*/ 38 h 43"/>
              <a:gd name="T6" fmla="*/ 18 w 18"/>
              <a:gd name="T7" fmla="*/ 35 h 43"/>
              <a:gd name="T8" fmla="*/ 17 w 18"/>
              <a:gd name="T9" fmla="*/ 35 h 43"/>
              <a:gd name="T10" fmla="*/ 11 w 18"/>
              <a:gd name="T11" fmla="*/ 35 h 43"/>
              <a:gd name="T12" fmla="*/ 10 w 18"/>
              <a:gd name="T13" fmla="*/ 0 h 43"/>
              <a:gd name="T14" fmla="*/ 2 w 18"/>
              <a:gd name="T15" fmla="*/ 13 h 43"/>
              <a:gd name="T16" fmla="*/ 2 w 18"/>
              <a:gd name="T17" fmla="*/ 13 h 43"/>
              <a:gd name="T18" fmla="*/ 2 w 18"/>
              <a:gd name="T19" fmla="*/ 13 h 43"/>
              <a:gd name="T20" fmla="*/ 2 w 18"/>
              <a:gd name="T21" fmla="*/ 13 h 43"/>
              <a:gd name="T22" fmla="*/ 2 w 18"/>
              <a:gd name="T23" fmla="*/ 13 h 43"/>
              <a:gd name="T24" fmla="*/ 0 w 18"/>
              <a:gd name="T25" fmla="*/ 12 h 43"/>
              <a:gd name="T26" fmla="*/ 8 w 18"/>
              <a:gd name="T27" fmla="*/ 25 h 43"/>
              <a:gd name="T28" fmla="*/ 9 w 18"/>
              <a:gd name="T29" fmla="*/ 25 h 43"/>
              <a:gd name="T30" fmla="*/ 16 w 18"/>
              <a:gd name="T31" fmla="*/ 25 h 43"/>
              <a:gd name="T32" fmla="*/ 10 w 18"/>
              <a:gd name="T3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43">
                <a:moveTo>
                  <a:pt x="11" y="35"/>
                </a:moveTo>
                <a:cubicBezTo>
                  <a:pt x="11" y="39"/>
                  <a:pt x="13" y="43"/>
                  <a:pt x="14" y="43"/>
                </a:cubicBezTo>
                <a:cubicBezTo>
                  <a:pt x="15" y="43"/>
                  <a:pt x="16" y="41"/>
                  <a:pt x="17" y="38"/>
                </a:cubicBezTo>
                <a:cubicBezTo>
                  <a:pt x="18" y="37"/>
                  <a:pt x="18" y="36"/>
                  <a:pt x="18" y="35"/>
                </a:cubicBezTo>
                <a:cubicBezTo>
                  <a:pt x="18" y="35"/>
                  <a:pt x="18" y="35"/>
                  <a:pt x="17" y="35"/>
                </a:cubicBezTo>
                <a:cubicBezTo>
                  <a:pt x="15" y="35"/>
                  <a:pt x="13" y="35"/>
                  <a:pt x="11" y="35"/>
                </a:cubicBezTo>
                <a:moveTo>
                  <a:pt x="10" y="0"/>
                </a:moveTo>
                <a:cubicBezTo>
                  <a:pt x="5" y="2"/>
                  <a:pt x="2" y="5"/>
                  <a:pt x="2" y="13"/>
                </a:cubicBezTo>
                <a:cubicBezTo>
                  <a:pt x="2" y="13"/>
                  <a:pt x="2" y="13"/>
                  <a:pt x="2" y="13"/>
                </a:cubicBezTo>
                <a:cubicBezTo>
                  <a:pt x="2" y="13"/>
                  <a:pt x="2" y="13"/>
                  <a:pt x="2" y="13"/>
                </a:cubicBezTo>
                <a:cubicBezTo>
                  <a:pt x="2" y="13"/>
                  <a:pt x="2" y="13"/>
                  <a:pt x="2" y="13"/>
                </a:cubicBezTo>
                <a:cubicBezTo>
                  <a:pt x="2" y="13"/>
                  <a:pt x="2" y="13"/>
                  <a:pt x="2" y="13"/>
                </a:cubicBezTo>
                <a:cubicBezTo>
                  <a:pt x="1" y="13"/>
                  <a:pt x="1" y="13"/>
                  <a:pt x="0" y="12"/>
                </a:cubicBezTo>
                <a:cubicBezTo>
                  <a:pt x="3" y="17"/>
                  <a:pt x="6" y="21"/>
                  <a:pt x="8" y="25"/>
                </a:cubicBezTo>
                <a:cubicBezTo>
                  <a:pt x="9" y="25"/>
                  <a:pt x="9" y="25"/>
                  <a:pt x="9" y="25"/>
                </a:cubicBezTo>
                <a:cubicBezTo>
                  <a:pt x="12" y="25"/>
                  <a:pt x="14" y="25"/>
                  <a:pt x="16" y="25"/>
                </a:cubicBezTo>
                <a:cubicBezTo>
                  <a:pt x="14" y="16"/>
                  <a:pt x="10" y="6"/>
                  <a:pt x="10"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11" name="Freeform 187"/>
          <p:cNvSpPr>
            <a:spLocks noEditPoints="1"/>
          </p:cNvSpPr>
          <p:nvPr/>
        </p:nvSpPr>
        <p:spPr bwMode="auto">
          <a:xfrm>
            <a:off x="3844926" y="4764088"/>
            <a:ext cx="0" cy="1587"/>
          </a:xfrm>
          <a:custGeom>
            <a:avLst/>
            <a:gdLst>
              <a:gd name="T0" fmla="*/ 1 h 1"/>
              <a:gd name="T1" fmla="*/ 1 h 1"/>
              <a:gd name="T2" fmla="*/ 1 h 1"/>
              <a:gd name="T3" fmla="*/ 0 h 1"/>
              <a:gd name="T4" fmla="*/ 1 h 1"/>
              <a:gd name="T5" fmla="*/ 1 h 1"/>
              <a:gd name="T6" fmla="*/ 1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1"/>
                </a:moveTo>
                <a:cubicBezTo>
                  <a:pt x="0" y="1"/>
                  <a:pt x="0" y="1"/>
                  <a:pt x="0" y="1"/>
                </a:cubicBezTo>
                <a:cubicBezTo>
                  <a:pt x="0" y="1"/>
                  <a:pt x="0" y="1"/>
                  <a:pt x="0" y="1"/>
                </a:cubicBezTo>
                <a:moveTo>
                  <a:pt x="0" y="0"/>
                </a:moveTo>
                <a:cubicBezTo>
                  <a:pt x="0" y="1"/>
                  <a:pt x="0" y="1"/>
                  <a:pt x="0" y="1"/>
                </a:cubicBezTo>
                <a:cubicBezTo>
                  <a:pt x="0" y="1"/>
                  <a:pt x="0" y="1"/>
                  <a:pt x="0" y="1"/>
                </a:cubicBezTo>
                <a:cubicBezTo>
                  <a:pt x="0" y="1"/>
                  <a:pt x="0" y="1"/>
                  <a:pt x="0" y="1"/>
                </a:cubicBezTo>
                <a:cubicBezTo>
                  <a:pt x="0" y="1"/>
                  <a:pt x="0" y="1"/>
                  <a:pt x="0" y="0"/>
                </a:cubicBezTo>
              </a:path>
            </a:pathLst>
          </a:custGeom>
          <a:solidFill>
            <a:srgbClr val="C5830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12" name="Freeform 188"/>
          <p:cNvSpPr>
            <a:spLocks/>
          </p:cNvSpPr>
          <p:nvPr/>
        </p:nvSpPr>
        <p:spPr bwMode="auto">
          <a:xfrm>
            <a:off x="3790951" y="4746625"/>
            <a:ext cx="73025" cy="53975"/>
          </a:xfrm>
          <a:custGeom>
            <a:avLst/>
            <a:gdLst>
              <a:gd name="T0" fmla="*/ 43 w 43"/>
              <a:gd name="T1" fmla="*/ 0 h 32"/>
              <a:gd name="T2" fmla="*/ 32 w 43"/>
              <a:gd name="T3" fmla="*/ 11 h 32"/>
              <a:gd name="T4" fmla="*/ 32 w 43"/>
              <a:gd name="T5" fmla="*/ 12 h 32"/>
              <a:gd name="T6" fmla="*/ 32 w 43"/>
              <a:gd name="T7" fmla="*/ 12 h 32"/>
              <a:gd name="T8" fmla="*/ 32 w 43"/>
              <a:gd name="T9" fmla="*/ 12 h 32"/>
              <a:gd name="T10" fmla="*/ 32 w 43"/>
              <a:gd name="T11" fmla="*/ 12 h 32"/>
              <a:gd name="T12" fmla="*/ 15 w 43"/>
              <a:gd name="T13" fmla="*/ 8 h 32"/>
              <a:gd name="T14" fmla="*/ 0 w 43"/>
              <a:gd name="T15" fmla="*/ 11 h 32"/>
              <a:gd name="T16" fmla="*/ 15 w 43"/>
              <a:gd name="T17" fmla="*/ 15 h 32"/>
              <a:gd name="T18" fmla="*/ 35 w 43"/>
              <a:gd name="T19" fmla="*/ 32 h 32"/>
              <a:gd name="T20" fmla="*/ 39 w 43"/>
              <a:gd name="T21" fmla="*/ 30 h 32"/>
              <a:gd name="T22" fmla="*/ 38 w 43"/>
              <a:gd name="T23" fmla="*/ 28 h 32"/>
              <a:gd name="T24" fmla="*/ 43 w 43"/>
              <a:gd name="T25"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32">
                <a:moveTo>
                  <a:pt x="43" y="0"/>
                </a:moveTo>
                <a:cubicBezTo>
                  <a:pt x="39" y="3"/>
                  <a:pt x="35" y="7"/>
                  <a:pt x="32" y="11"/>
                </a:cubicBezTo>
                <a:cubicBezTo>
                  <a:pt x="32" y="12"/>
                  <a:pt x="32" y="12"/>
                  <a:pt x="32" y="12"/>
                </a:cubicBezTo>
                <a:cubicBezTo>
                  <a:pt x="32" y="12"/>
                  <a:pt x="32" y="12"/>
                  <a:pt x="32" y="12"/>
                </a:cubicBezTo>
                <a:cubicBezTo>
                  <a:pt x="32" y="12"/>
                  <a:pt x="32" y="12"/>
                  <a:pt x="32" y="12"/>
                </a:cubicBezTo>
                <a:cubicBezTo>
                  <a:pt x="32" y="12"/>
                  <a:pt x="32" y="12"/>
                  <a:pt x="32" y="12"/>
                </a:cubicBezTo>
                <a:cubicBezTo>
                  <a:pt x="32" y="12"/>
                  <a:pt x="24" y="8"/>
                  <a:pt x="15" y="8"/>
                </a:cubicBezTo>
                <a:cubicBezTo>
                  <a:pt x="10" y="8"/>
                  <a:pt x="5" y="9"/>
                  <a:pt x="0" y="11"/>
                </a:cubicBezTo>
                <a:cubicBezTo>
                  <a:pt x="4" y="12"/>
                  <a:pt x="9" y="13"/>
                  <a:pt x="15" y="15"/>
                </a:cubicBezTo>
                <a:cubicBezTo>
                  <a:pt x="26" y="17"/>
                  <a:pt x="32" y="27"/>
                  <a:pt x="35" y="32"/>
                </a:cubicBezTo>
                <a:cubicBezTo>
                  <a:pt x="36" y="32"/>
                  <a:pt x="38" y="31"/>
                  <a:pt x="39" y="30"/>
                </a:cubicBezTo>
                <a:cubicBezTo>
                  <a:pt x="39" y="30"/>
                  <a:pt x="39" y="29"/>
                  <a:pt x="38" y="28"/>
                </a:cubicBezTo>
                <a:cubicBezTo>
                  <a:pt x="35" y="22"/>
                  <a:pt x="39" y="9"/>
                  <a:pt x="43"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13" name="Freeform 189"/>
          <p:cNvSpPr>
            <a:spLocks noEditPoints="1"/>
          </p:cNvSpPr>
          <p:nvPr/>
        </p:nvSpPr>
        <p:spPr bwMode="auto">
          <a:xfrm>
            <a:off x="3457576" y="4868863"/>
            <a:ext cx="0" cy="1587"/>
          </a:xfrm>
          <a:custGeom>
            <a:avLst/>
            <a:gdLst>
              <a:gd name="T0" fmla="*/ 1 h 1"/>
              <a:gd name="T1" fmla="*/ 1 h 1"/>
              <a:gd name="T2" fmla="*/ 1 h 1"/>
              <a:gd name="T3" fmla="*/ 1 h 1"/>
              <a:gd name="T4" fmla="*/ 1 h 1"/>
              <a:gd name="T5" fmla="*/ 0 h 1"/>
              <a:gd name="T6" fmla="*/ 1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1"/>
                </a:moveTo>
                <a:cubicBezTo>
                  <a:pt x="0" y="1"/>
                  <a:pt x="0" y="1"/>
                  <a:pt x="0" y="1"/>
                </a:cubicBezTo>
                <a:cubicBezTo>
                  <a:pt x="0" y="1"/>
                  <a:pt x="0" y="1"/>
                  <a:pt x="0" y="1"/>
                </a:cubicBezTo>
                <a:cubicBezTo>
                  <a:pt x="0" y="1"/>
                  <a:pt x="0" y="1"/>
                  <a:pt x="0" y="1"/>
                </a:cubicBezTo>
                <a:cubicBezTo>
                  <a:pt x="0" y="1"/>
                  <a:pt x="0" y="1"/>
                  <a:pt x="0" y="1"/>
                </a:cubicBezTo>
                <a:moveTo>
                  <a:pt x="0" y="0"/>
                </a:moveTo>
                <a:cubicBezTo>
                  <a:pt x="0" y="0"/>
                  <a:pt x="0" y="0"/>
                  <a:pt x="0" y="1"/>
                </a:cubicBezTo>
                <a:cubicBezTo>
                  <a:pt x="0" y="0"/>
                  <a:pt x="0" y="0"/>
                  <a:pt x="0" y="0"/>
                </a:cubicBezTo>
              </a:path>
            </a:pathLst>
          </a:custGeom>
          <a:solidFill>
            <a:srgbClr val="C5830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14" name="Freeform 190"/>
          <p:cNvSpPr>
            <a:spLocks/>
          </p:cNvSpPr>
          <p:nvPr/>
        </p:nvSpPr>
        <p:spPr bwMode="auto">
          <a:xfrm>
            <a:off x="3433763" y="4862513"/>
            <a:ext cx="60325" cy="31750"/>
          </a:xfrm>
          <a:custGeom>
            <a:avLst/>
            <a:gdLst>
              <a:gd name="T0" fmla="*/ 15 w 35"/>
              <a:gd name="T1" fmla="*/ 0 h 18"/>
              <a:gd name="T2" fmla="*/ 14 w 35"/>
              <a:gd name="T3" fmla="*/ 3 h 18"/>
              <a:gd name="T4" fmla="*/ 14 w 35"/>
              <a:gd name="T5" fmla="*/ 4 h 18"/>
              <a:gd name="T6" fmla="*/ 14 w 35"/>
              <a:gd name="T7" fmla="*/ 4 h 18"/>
              <a:gd name="T8" fmla="*/ 14 w 35"/>
              <a:gd name="T9" fmla="*/ 4 h 18"/>
              <a:gd name="T10" fmla="*/ 14 w 35"/>
              <a:gd name="T11" fmla="*/ 4 h 18"/>
              <a:gd name="T12" fmla="*/ 0 w 35"/>
              <a:gd name="T13" fmla="*/ 0 h 18"/>
              <a:gd name="T14" fmla="*/ 35 w 35"/>
              <a:gd name="T15" fmla="*/ 18 h 18"/>
              <a:gd name="T16" fmla="*/ 35 w 35"/>
              <a:gd name="T17" fmla="*/ 17 h 18"/>
              <a:gd name="T18" fmla="*/ 15 w 35"/>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18">
                <a:moveTo>
                  <a:pt x="15" y="0"/>
                </a:moveTo>
                <a:cubicBezTo>
                  <a:pt x="15" y="1"/>
                  <a:pt x="14" y="2"/>
                  <a:pt x="14" y="3"/>
                </a:cubicBezTo>
                <a:cubicBezTo>
                  <a:pt x="14" y="3"/>
                  <a:pt x="14" y="3"/>
                  <a:pt x="14" y="4"/>
                </a:cubicBezTo>
                <a:cubicBezTo>
                  <a:pt x="14" y="4"/>
                  <a:pt x="14" y="4"/>
                  <a:pt x="14" y="4"/>
                </a:cubicBezTo>
                <a:cubicBezTo>
                  <a:pt x="14" y="4"/>
                  <a:pt x="14" y="4"/>
                  <a:pt x="14" y="4"/>
                </a:cubicBezTo>
                <a:cubicBezTo>
                  <a:pt x="14" y="4"/>
                  <a:pt x="14" y="4"/>
                  <a:pt x="14" y="4"/>
                </a:cubicBezTo>
                <a:cubicBezTo>
                  <a:pt x="14" y="4"/>
                  <a:pt x="8" y="1"/>
                  <a:pt x="0" y="0"/>
                </a:cubicBezTo>
                <a:cubicBezTo>
                  <a:pt x="13" y="6"/>
                  <a:pt x="31" y="18"/>
                  <a:pt x="35" y="18"/>
                </a:cubicBezTo>
                <a:cubicBezTo>
                  <a:pt x="35" y="18"/>
                  <a:pt x="35" y="18"/>
                  <a:pt x="35" y="17"/>
                </a:cubicBezTo>
                <a:cubicBezTo>
                  <a:pt x="34" y="13"/>
                  <a:pt x="24" y="6"/>
                  <a:pt x="15"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24" name="Freeform 191"/>
          <p:cNvSpPr>
            <a:spLocks noEditPoints="1"/>
          </p:cNvSpPr>
          <p:nvPr/>
        </p:nvSpPr>
        <p:spPr bwMode="auto">
          <a:xfrm>
            <a:off x="3519488" y="4857750"/>
            <a:ext cx="15875" cy="6350"/>
          </a:xfrm>
          <a:custGeom>
            <a:avLst/>
            <a:gdLst>
              <a:gd name="T0" fmla="*/ 9 w 9"/>
              <a:gd name="T1" fmla="*/ 4 h 4"/>
              <a:gd name="T2" fmla="*/ 9 w 9"/>
              <a:gd name="T3" fmla="*/ 4 h 4"/>
              <a:gd name="T4" fmla="*/ 9 w 9"/>
              <a:gd name="T5" fmla="*/ 4 h 4"/>
              <a:gd name="T6" fmla="*/ 9 w 9"/>
              <a:gd name="T7" fmla="*/ 4 h 4"/>
              <a:gd name="T8" fmla="*/ 9 w 9"/>
              <a:gd name="T9" fmla="*/ 4 h 4"/>
              <a:gd name="T10" fmla="*/ 0 w 9"/>
              <a:gd name="T11" fmla="*/ 0 h 4"/>
              <a:gd name="T12" fmla="*/ 0 w 9"/>
              <a:gd name="T13" fmla="*/ 0 h 4"/>
              <a:gd name="T14" fmla="*/ 2 w 9"/>
              <a:gd name="T15" fmla="*/ 1 h 4"/>
              <a:gd name="T16" fmla="*/ 0 w 9"/>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4">
                <a:moveTo>
                  <a:pt x="9" y="4"/>
                </a:moveTo>
                <a:cubicBezTo>
                  <a:pt x="9" y="4"/>
                  <a:pt x="9" y="4"/>
                  <a:pt x="9" y="4"/>
                </a:cubicBezTo>
                <a:cubicBezTo>
                  <a:pt x="9" y="4"/>
                  <a:pt x="9" y="4"/>
                  <a:pt x="9" y="4"/>
                </a:cubicBezTo>
                <a:cubicBezTo>
                  <a:pt x="9" y="4"/>
                  <a:pt x="9" y="4"/>
                  <a:pt x="9" y="4"/>
                </a:cubicBezTo>
                <a:cubicBezTo>
                  <a:pt x="9" y="4"/>
                  <a:pt x="9" y="4"/>
                  <a:pt x="9" y="4"/>
                </a:cubicBezTo>
                <a:moveTo>
                  <a:pt x="0" y="0"/>
                </a:moveTo>
                <a:cubicBezTo>
                  <a:pt x="0" y="0"/>
                  <a:pt x="0" y="0"/>
                  <a:pt x="0" y="0"/>
                </a:cubicBezTo>
                <a:cubicBezTo>
                  <a:pt x="1" y="1"/>
                  <a:pt x="2" y="1"/>
                  <a:pt x="2" y="1"/>
                </a:cubicBezTo>
                <a:cubicBezTo>
                  <a:pt x="2" y="1"/>
                  <a:pt x="1" y="1"/>
                  <a:pt x="0" y="0"/>
                </a:cubicBezTo>
              </a:path>
            </a:pathLst>
          </a:custGeom>
          <a:solidFill>
            <a:srgbClr val="C5830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25" name="Freeform 192"/>
          <p:cNvSpPr>
            <a:spLocks/>
          </p:cNvSpPr>
          <p:nvPr/>
        </p:nvSpPr>
        <p:spPr bwMode="auto">
          <a:xfrm>
            <a:off x="3519488" y="4856163"/>
            <a:ext cx="47625" cy="26987"/>
          </a:xfrm>
          <a:custGeom>
            <a:avLst/>
            <a:gdLst>
              <a:gd name="T0" fmla="*/ 13 w 28"/>
              <a:gd name="T1" fmla="*/ 0 h 16"/>
              <a:gd name="T2" fmla="*/ 9 w 28"/>
              <a:gd name="T3" fmla="*/ 5 h 16"/>
              <a:gd name="T4" fmla="*/ 9 w 28"/>
              <a:gd name="T5" fmla="*/ 5 h 16"/>
              <a:gd name="T6" fmla="*/ 9 w 28"/>
              <a:gd name="T7" fmla="*/ 5 h 16"/>
              <a:gd name="T8" fmla="*/ 2 w 28"/>
              <a:gd name="T9" fmla="*/ 2 h 16"/>
              <a:gd name="T10" fmla="*/ 0 w 28"/>
              <a:gd name="T11" fmla="*/ 1 h 16"/>
              <a:gd name="T12" fmla="*/ 28 w 28"/>
              <a:gd name="T13" fmla="*/ 16 h 16"/>
              <a:gd name="T14" fmla="*/ 26 w 28"/>
              <a:gd name="T15" fmla="*/ 14 h 16"/>
              <a:gd name="T16" fmla="*/ 13 w 28"/>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16">
                <a:moveTo>
                  <a:pt x="13" y="0"/>
                </a:moveTo>
                <a:cubicBezTo>
                  <a:pt x="12" y="1"/>
                  <a:pt x="10" y="3"/>
                  <a:pt x="9" y="5"/>
                </a:cubicBezTo>
                <a:cubicBezTo>
                  <a:pt x="9" y="5"/>
                  <a:pt x="9" y="5"/>
                  <a:pt x="9" y="5"/>
                </a:cubicBezTo>
                <a:cubicBezTo>
                  <a:pt x="9" y="5"/>
                  <a:pt x="9" y="5"/>
                  <a:pt x="9" y="5"/>
                </a:cubicBezTo>
                <a:cubicBezTo>
                  <a:pt x="9" y="5"/>
                  <a:pt x="7" y="3"/>
                  <a:pt x="2" y="2"/>
                </a:cubicBezTo>
                <a:cubicBezTo>
                  <a:pt x="2" y="2"/>
                  <a:pt x="1" y="2"/>
                  <a:pt x="0" y="1"/>
                </a:cubicBezTo>
                <a:cubicBezTo>
                  <a:pt x="11" y="9"/>
                  <a:pt x="26" y="16"/>
                  <a:pt x="28" y="16"/>
                </a:cubicBezTo>
                <a:cubicBezTo>
                  <a:pt x="28" y="16"/>
                  <a:pt x="28" y="15"/>
                  <a:pt x="26" y="14"/>
                </a:cubicBezTo>
                <a:cubicBezTo>
                  <a:pt x="21" y="10"/>
                  <a:pt x="16" y="5"/>
                  <a:pt x="13"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26" name="Freeform 193"/>
          <p:cNvSpPr>
            <a:spLocks noEditPoints="1"/>
          </p:cNvSpPr>
          <p:nvPr/>
        </p:nvSpPr>
        <p:spPr bwMode="auto">
          <a:xfrm>
            <a:off x="3133726" y="4794250"/>
            <a:ext cx="47625" cy="33337"/>
          </a:xfrm>
          <a:custGeom>
            <a:avLst/>
            <a:gdLst>
              <a:gd name="T0" fmla="*/ 28 w 28"/>
              <a:gd name="T1" fmla="*/ 20 h 20"/>
              <a:gd name="T2" fmla="*/ 28 w 28"/>
              <a:gd name="T3" fmla="*/ 20 h 20"/>
              <a:gd name="T4" fmla="*/ 28 w 28"/>
              <a:gd name="T5" fmla="*/ 20 h 20"/>
              <a:gd name="T6" fmla="*/ 28 w 28"/>
              <a:gd name="T7" fmla="*/ 20 h 20"/>
              <a:gd name="T8" fmla="*/ 28 w 28"/>
              <a:gd name="T9" fmla="*/ 20 h 20"/>
              <a:gd name="T10" fmla="*/ 28 w 28"/>
              <a:gd name="T11" fmla="*/ 20 h 20"/>
              <a:gd name="T12" fmla="*/ 0 w 28"/>
              <a:gd name="T13" fmla="*/ 0 h 20"/>
              <a:gd name="T14" fmla="*/ 0 w 28"/>
              <a:gd name="T15" fmla="*/ 0 h 20"/>
              <a:gd name="T16" fmla="*/ 28 w 28"/>
              <a:gd name="T17" fmla="*/ 20 h 20"/>
              <a:gd name="T18" fmla="*/ 28 w 28"/>
              <a:gd name="T19" fmla="*/ 20 h 20"/>
              <a:gd name="T20" fmla="*/ 28 w 28"/>
              <a:gd name="T21" fmla="*/ 20 h 20"/>
              <a:gd name="T22" fmla="*/ 0 w 28"/>
              <a:gd name="T23" fmla="*/ 0 h 20"/>
              <a:gd name="T24" fmla="*/ 0 w 28"/>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28" y="20"/>
                </a:moveTo>
                <a:cubicBezTo>
                  <a:pt x="28" y="20"/>
                  <a:pt x="28" y="20"/>
                  <a:pt x="28" y="20"/>
                </a:cubicBezTo>
                <a:cubicBezTo>
                  <a:pt x="28" y="20"/>
                  <a:pt x="28" y="20"/>
                  <a:pt x="28" y="20"/>
                </a:cubicBezTo>
                <a:moveTo>
                  <a:pt x="28" y="20"/>
                </a:moveTo>
                <a:cubicBezTo>
                  <a:pt x="28" y="20"/>
                  <a:pt x="28" y="20"/>
                  <a:pt x="28" y="20"/>
                </a:cubicBezTo>
                <a:cubicBezTo>
                  <a:pt x="28" y="20"/>
                  <a:pt x="28" y="20"/>
                  <a:pt x="28" y="20"/>
                </a:cubicBezTo>
                <a:moveTo>
                  <a:pt x="0" y="0"/>
                </a:moveTo>
                <a:cubicBezTo>
                  <a:pt x="0" y="0"/>
                  <a:pt x="0" y="0"/>
                  <a:pt x="0" y="0"/>
                </a:cubicBezTo>
                <a:cubicBezTo>
                  <a:pt x="22" y="2"/>
                  <a:pt x="28" y="20"/>
                  <a:pt x="28" y="20"/>
                </a:cubicBezTo>
                <a:cubicBezTo>
                  <a:pt x="28" y="20"/>
                  <a:pt x="28" y="20"/>
                  <a:pt x="28" y="20"/>
                </a:cubicBezTo>
                <a:cubicBezTo>
                  <a:pt x="28" y="20"/>
                  <a:pt x="28" y="20"/>
                  <a:pt x="28" y="20"/>
                </a:cubicBezTo>
                <a:cubicBezTo>
                  <a:pt x="28" y="20"/>
                  <a:pt x="22" y="2"/>
                  <a:pt x="0" y="0"/>
                </a:cubicBezTo>
                <a:cubicBezTo>
                  <a:pt x="0" y="0"/>
                  <a:pt x="0" y="0"/>
                  <a:pt x="0" y="0"/>
                </a:cubicBezTo>
              </a:path>
            </a:pathLst>
          </a:custGeom>
          <a:solidFill>
            <a:srgbClr val="C9B7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27" name="Freeform 194"/>
          <p:cNvSpPr>
            <a:spLocks/>
          </p:cNvSpPr>
          <p:nvPr/>
        </p:nvSpPr>
        <p:spPr bwMode="auto">
          <a:xfrm>
            <a:off x="3128963" y="4794250"/>
            <a:ext cx="82550" cy="79375"/>
          </a:xfrm>
          <a:custGeom>
            <a:avLst/>
            <a:gdLst>
              <a:gd name="T0" fmla="*/ 0 w 49"/>
              <a:gd name="T1" fmla="*/ 0 h 47"/>
              <a:gd name="T2" fmla="*/ 17 w 49"/>
              <a:gd name="T3" fmla="*/ 11 h 47"/>
              <a:gd name="T4" fmla="*/ 48 w 49"/>
              <a:gd name="T5" fmla="*/ 47 h 47"/>
              <a:gd name="T6" fmla="*/ 49 w 49"/>
              <a:gd name="T7" fmla="*/ 47 h 47"/>
              <a:gd name="T8" fmla="*/ 47 w 49"/>
              <a:gd name="T9" fmla="*/ 43 h 47"/>
              <a:gd name="T10" fmla="*/ 34 w 49"/>
              <a:gd name="T11" fmla="*/ 21 h 47"/>
              <a:gd name="T12" fmla="*/ 40 w 49"/>
              <a:gd name="T13" fmla="*/ 28 h 47"/>
              <a:gd name="T14" fmla="*/ 38 w 49"/>
              <a:gd name="T15" fmla="*/ 17 h 47"/>
              <a:gd name="T16" fmla="*/ 31 w 49"/>
              <a:gd name="T17" fmla="*/ 20 h 47"/>
              <a:gd name="T18" fmla="*/ 31 w 49"/>
              <a:gd name="T19" fmla="*/ 20 h 47"/>
              <a:gd name="T20" fmla="*/ 31 w 49"/>
              <a:gd name="T21" fmla="*/ 20 h 47"/>
              <a:gd name="T22" fmla="*/ 31 w 49"/>
              <a:gd name="T23" fmla="*/ 20 h 47"/>
              <a:gd name="T24" fmla="*/ 31 w 49"/>
              <a:gd name="T25" fmla="*/ 20 h 47"/>
              <a:gd name="T26" fmla="*/ 31 w 49"/>
              <a:gd name="T27" fmla="*/ 20 h 47"/>
              <a:gd name="T28" fmla="*/ 3 w 49"/>
              <a:gd name="T29" fmla="*/ 0 h 47"/>
              <a:gd name="T30" fmla="*/ 3 w 49"/>
              <a:gd name="T31" fmla="*/ 0 h 47"/>
              <a:gd name="T32" fmla="*/ 0 w 49"/>
              <a:gd name="T33"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 h="47">
                <a:moveTo>
                  <a:pt x="0" y="0"/>
                </a:moveTo>
                <a:cubicBezTo>
                  <a:pt x="5" y="4"/>
                  <a:pt x="13" y="7"/>
                  <a:pt x="17" y="11"/>
                </a:cubicBezTo>
                <a:cubicBezTo>
                  <a:pt x="23" y="16"/>
                  <a:pt x="48" y="47"/>
                  <a:pt x="48" y="47"/>
                </a:cubicBezTo>
                <a:cubicBezTo>
                  <a:pt x="48" y="47"/>
                  <a:pt x="49" y="47"/>
                  <a:pt x="49" y="47"/>
                </a:cubicBezTo>
                <a:cubicBezTo>
                  <a:pt x="49" y="47"/>
                  <a:pt x="49" y="47"/>
                  <a:pt x="47" y="43"/>
                </a:cubicBezTo>
                <a:cubicBezTo>
                  <a:pt x="38" y="35"/>
                  <a:pt x="35" y="27"/>
                  <a:pt x="34" y="21"/>
                </a:cubicBezTo>
                <a:cubicBezTo>
                  <a:pt x="34" y="21"/>
                  <a:pt x="36" y="24"/>
                  <a:pt x="40" y="28"/>
                </a:cubicBezTo>
                <a:cubicBezTo>
                  <a:pt x="39" y="24"/>
                  <a:pt x="38" y="21"/>
                  <a:pt x="38" y="17"/>
                </a:cubicBezTo>
                <a:cubicBezTo>
                  <a:pt x="35" y="18"/>
                  <a:pt x="33" y="19"/>
                  <a:pt x="31" y="20"/>
                </a:cubicBezTo>
                <a:cubicBezTo>
                  <a:pt x="31" y="20"/>
                  <a:pt x="31" y="20"/>
                  <a:pt x="31" y="20"/>
                </a:cubicBezTo>
                <a:cubicBezTo>
                  <a:pt x="31" y="20"/>
                  <a:pt x="31" y="20"/>
                  <a:pt x="31" y="20"/>
                </a:cubicBezTo>
                <a:cubicBezTo>
                  <a:pt x="31" y="20"/>
                  <a:pt x="31" y="20"/>
                  <a:pt x="31" y="20"/>
                </a:cubicBezTo>
                <a:cubicBezTo>
                  <a:pt x="31" y="20"/>
                  <a:pt x="31" y="20"/>
                  <a:pt x="31" y="20"/>
                </a:cubicBezTo>
                <a:cubicBezTo>
                  <a:pt x="31" y="20"/>
                  <a:pt x="31" y="20"/>
                  <a:pt x="31" y="20"/>
                </a:cubicBezTo>
                <a:cubicBezTo>
                  <a:pt x="31" y="20"/>
                  <a:pt x="25" y="2"/>
                  <a:pt x="3" y="0"/>
                </a:cubicBezTo>
                <a:cubicBezTo>
                  <a:pt x="3" y="0"/>
                  <a:pt x="3" y="0"/>
                  <a:pt x="3" y="0"/>
                </a:cubicBezTo>
                <a:cubicBezTo>
                  <a:pt x="2" y="0"/>
                  <a:pt x="1" y="0"/>
                  <a:pt x="0"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28" name="Freeform 195"/>
          <p:cNvSpPr>
            <a:spLocks/>
          </p:cNvSpPr>
          <p:nvPr/>
        </p:nvSpPr>
        <p:spPr bwMode="auto">
          <a:xfrm>
            <a:off x="3689351" y="4786313"/>
            <a:ext cx="103188" cy="60325"/>
          </a:xfrm>
          <a:custGeom>
            <a:avLst/>
            <a:gdLst>
              <a:gd name="T0" fmla="*/ 49 w 61"/>
              <a:gd name="T1" fmla="*/ 0 h 35"/>
              <a:gd name="T2" fmla="*/ 48 w 61"/>
              <a:gd name="T3" fmla="*/ 3 h 35"/>
              <a:gd name="T4" fmla="*/ 48 w 61"/>
              <a:gd name="T5" fmla="*/ 3 h 35"/>
              <a:gd name="T6" fmla="*/ 45 w 61"/>
              <a:gd name="T7" fmla="*/ 2 h 35"/>
              <a:gd name="T8" fmla="*/ 44 w 61"/>
              <a:gd name="T9" fmla="*/ 2 h 35"/>
              <a:gd name="T10" fmla="*/ 33 w 61"/>
              <a:gd name="T11" fmla="*/ 1 h 35"/>
              <a:gd name="T12" fmla="*/ 16 w 61"/>
              <a:gd name="T13" fmla="*/ 17 h 35"/>
              <a:gd name="T14" fmla="*/ 16 w 61"/>
              <a:gd name="T15" fmla="*/ 19 h 35"/>
              <a:gd name="T16" fmla="*/ 16 w 61"/>
              <a:gd name="T17" fmla="*/ 19 h 35"/>
              <a:gd name="T18" fmla="*/ 16 w 61"/>
              <a:gd name="T19" fmla="*/ 19 h 35"/>
              <a:gd name="T20" fmla="*/ 16 w 61"/>
              <a:gd name="T21" fmla="*/ 19 h 35"/>
              <a:gd name="T22" fmla="*/ 4 w 61"/>
              <a:gd name="T23" fmla="*/ 14 h 35"/>
              <a:gd name="T24" fmla="*/ 0 w 61"/>
              <a:gd name="T25" fmla="*/ 15 h 35"/>
              <a:gd name="T26" fmla="*/ 13 w 61"/>
              <a:gd name="T27" fmla="*/ 25 h 35"/>
              <a:gd name="T28" fmla="*/ 26 w 61"/>
              <a:gd name="T29" fmla="*/ 35 h 35"/>
              <a:gd name="T30" fmla="*/ 25 w 61"/>
              <a:gd name="T31" fmla="*/ 33 h 35"/>
              <a:gd name="T32" fmla="*/ 24 w 61"/>
              <a:gd name="T33" fmla="*/ 10 h 35"/>
              <a:gd name="T34" fmla="*/ 32 w 61"/>
              <a:gd name="T35" fmla="*/ 6 h 35"/>
              <a:gd name="T36" fmla="*/ 42 w 61"/>
              <a:gd name="T37" fmla="*/ 8 h 35"/>
              <a:gd name="T38" fmla="*/ 60 w 61"/>
              <a:gd name="T39" fmla="*/ 14 h 35"/>
              <a:gd name="T40" fmla="*/ 60 w 61"/>
              <a:gd name="T41" fmla="*/ 13 h 35"/>
              <a:gd name="T42" fmla="*/ 49 w 61"/>
              <a:gd name="T4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 h="35">
                <a:moveTo>
                  <a:pt x="49" y="0"/>
                </a:moveTo>
                <a:cubicBezTo>
                  <a:pt x="49" y="1"/>
                  <a:pt x="48" y="2"/>
                  <a:pt x="48" y="3"/>
                </a:cubicBezTo>
                <a:cubicBezTo>
                  <a:pt x="48" y="3"/>
                  <a:pt x="48" y="3"/>
                  <a:pt x="48" y="3"/>
                </a:cubicBezTo>
                <a:cubicBezTo>
                  <a:pt x="48" y="3"/>
                  <a:pt x="46" y="3"/>
                  <a:pt x="45" y="2"/>
                </a:cubicBezTo>
                <a:cubicBezTo>
                  <a:pt x="44" y="2"/>
                  <a:pt x="44" y="2"/>
                  <a:pt x="44" y="2"/>
                </a:cubicBezTo>
                <a:cubicBezTo>
                  <a:pt x="41" y="2"/>
                  <a:pt x="37" y="1"/>
                  <a:pt x="33" y="1"/>
                </a:cubicBezTo>
                <a:cubicBezTo>
                  <a:pt x="25" y="1"/>
                  <a:pt x="16" y="4"/>
                  <a:pt x="16" y="17"/>
                </a:cubicBezTo>
                <a:cubicBezTo>
                  <a:pt x="16" y="18"/>
                  <a:pt x="16" y="18"/>
                  <a:pt x="16" y="19"/>
                </a:cubicBezTo>
                <a:cubicBezTo>
                  <a:pt x="16" y="19"/>
                  <a:pt x="16" y="19"/>
                  <a:pt x="16" y="19"/>
                </a:cubicBezTo>
                <a:cubicBezTo>
                  <a:pt x="16" y="19"/>
                  <a:pt x="16" y="19"/>
                  <a:pt x="16" y="19"/>
                </a:cubicBezTo>
                <a:cubicBezTo>
                  <a:pt x="16" y="19"/>
                  <a:pt x="16" y="19"/>
                  <a:pt x="16" y="19"/>
                </a:cubicBezTo>
                <a:cubicBezTo>
                  <a:pt x="16" y="19"/>
                  <a:pt x="9" y="14"/>
                  <a:pt x="4" y="14"/>
                </a:cubicBezTo>
                <a:cubicBezTo>
                  <a:pt x="2" y="14"/>
                  <a:pt x="1" y="14"/>
                  <a:pt x="0" y="15"/>
                </a:cubicBezTo>
                <a:cubicBezTo>
                  <a:pt x="5" y="17"/>
                  <a:pt x="9" y="20"/>
                  <a:pt x="13" y="25"/>
                </a:cubicBezTo>
                <a:cubicBezTo>
                  <a:pt x="17" y="30"/>
                  <a:pt x="25" y="35"/>
                  <a:pt x="26" y="35"/>
                </a:cubicBezTo>
                <a:cubicBezTo>
                  <a:pt x="27" y="35"/>
                  <a:pt x="26" y="35"/>
                  <a:pt x="25" y="33"/>
                </a:cubicBezTo>
                <a:cubicBezTo>
                  <a:pt x="19" y="28"/>
                  <a:pt x="19" y="17"/>
                  <a:pt x="24" y="10"/>
                </a:cubicBezTo>
                <a:cubicBezTo>
                  <a:pt x="26" y="7"/>
                  <a:pt x="29" y="6"/>
                  <a:pt x="32" y="6"/>
                </a:cubicBezTo>
                <a:cubicBezTo>
                  <a:pt x="35" y="6"/>
                  <a:pt x="39" y="7"/>
                  <a:pt x="42" y="8"/>
                </a:cubicBezTo>
                <a:cubicBezTo>
                  <a:pt x="48" y="10"/>
                  <a:pt x="58" y="14"/>
                  <a:pt x="60" y="14"/>
                </a:cubicBezTo>
                <a:cubicBezTo>
                  <a:pt x="61" y="14"/>
                  <a:pt x="61" y="14"/>
                  <a:pt x="60" y="13"/>
                </a:cubicBezTo>
                <a:cubicBezTo>
                  <a:pt x="58" y="10"/>
                  <a:pt x="52" y="5"/>
                  <a:pt x="49" y="0"/>
                </a:cubicBezTo>
              </a:path>
            </a:pathLst>
          </a:custGeom>
          <a:solidFill>
            <a:srgbClr val="8A86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29" name="Freeform 196"/>
          <p:cNvSpPr>
            <a:spLocks/>
          </p:cNvSpPr>
          <p:nvPr/>
        </p:nvSpPr>
        <p:spPr bwMode="auto">
          <a:xfrm>
            <a:off x="3424238" y="4745038"/>
            <a:ext cx="523875" cy="177800"/>
          </a:xfrm>
          <a:custGeom>
            <a:avLst/>
            <a:gdLst>
              <a:gd name="T0" fmla="*/ 309 w 309"/>
              <a:gd name="T1" fmla="*/ 0 h 105"/>
              <a:gd name="T2" fmla="*/ 255 w 309"/>
              <a:gd name="T3" fmla="*/ 31 h 105"/>
              <a:gd name="T4" fmla="*/ 255 w 309"/>
              <a:gd name="T5" fmla="*/ 37 h 105"/>
              <a:gd name="T6" fmla="*/ 252 w 309"/>
              <a:gd name="T7" fmla="*/ 37 h 105"/>
              <a:gd name="T8" fmla="*/ 251 w 309"/>
              <a:gd name="T9" fmla="*/ 33 h 105"/>
              <a:gd name="T10" fmla="*/ 125 w 309"/>
              <a:gd name="T11" fmla="*/ 79 h 105"/>
              <a:gd name="T12" fmla="*/ 125 w 309"/>
              <a:gd name="T13" fmla="*/ 79 h 105"/>
              <a:gd name="T14" fmla="*/ 128 w 309"/>
              <a:gd name="T15" fmla="*/ 81 h 105"/>
              <a:gd name="T16" fmla="*/ 123 w 309"/>
              <a:gd name="T17" fmla="*/ 79 h 105"/>
              <a:gd name="T18" fmla="*/ 0 w 309"/>
              <a:gd name="T19" fmla="*/ 95 h 105"/>
              <a:gd name="T20" fmla="*/ 2 w 309"/>
              <a:gd name="T21" fmla="*/ 105 h 105"/>
              <a:gd name="T22" fmla="*/ 251 w 309"/>
              <a:gd name="T23" fmla="*/ 46 h 105"/>
              <a:gd name="T24" fmla="*/ 309 w 309"/>
              <a:gd name="T25"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9" h="105">
                <a:moveTo>
                  <a:pt x="309" y="0"/>
                </a:moveTo>
                <a:cubicBezTo>
                  <a:pt x="292" y="11"/>
                  <a:pt x="274" y="22"/>
                  <a:pt x="255" y="31"/>
                </a:cubicBezTo>
                <a:cubicBezTo>
                  <a:pt x="257" y="36"/>
                  <a:pt x="256" y="37"/>
                  <a:pt x="255" y="37"/>
                </a:cubicBezTo>
                <a:cubicBezTo>
                  <a:pt x="253" y="37"/>
                  <a:pt x="252" y="37"/>
                  <a:pt x="252" y="37"/>
                </a:cubicBezTo>
                <a:cubicBezTo>
                  <a:pt x="252" y="37"/>
                  <a:pt x="252" y="35"/>
                  <a:pt x="251" y="33"/>
                </a:cubicBezTo>
                <a:cubicBezTo>
                  <a:pt x="211" y="53"/>
                  <a:pt x="168" y="68"/>
                  <a:pt x="125" y="79"/>
                </a:cubicBezTo>
                <a:cubicBezTo>
                  <a:pt x="125" y="79"/>
                  <a:pt x="125" y="79"/>
                  <a:pt x="125" y="79"/>
                </a:cubicBezTo>
                <a:cubicBezTo>
                  <a:pt x="127" y="81"/>
                  <a:pt x="128" y="81"/>
                  <a:pt x="128" y="81"/>
                </a:cubicBezTo>
                <a:cubicBezTo>
                  <a:pt x="127" y="81"/>
                  <a:pt x="126" y="80"/>
                  <a:pt x="123" y="79"/>
                </a:cubicBezTo>
                <a:cubicBezTo>
                  <a:pt x="82" y="89"/>
                  <a:pt x="40" y="94"/>
                  <a:pt x="0" y="95"/>
                </a:cubicBezTo>
                <a:cubicBezTo>
                  <a:pt x="1" y="99"/>
                  <a:pt x="2" y="102"/>
                  <a:pt x="2" y="105"/>
                </a:cubicBezTo>
                <a:cubicBezTo>
                  <a:pt x="103" y="105"/>
                  <a:pt x="199" y="70"/>
                  <a:pt x="251" y="46"/>
                </a:cubicBezTo>
                <a:cubicBezTo>
                  <a:pt x="305" y="22"/>
                  <a:pt x="309" y="0"/>
                  <a:pt x="309" y="0"/>
                </a:cubicBezTo>
              </a:path>
            </a:pathLst>
          </a:custGeom>
          <a:solidFill>
            <a:srgbClr val="C9C6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30" name="Freeform 197"/>
          <p:cNvSpPr>
            <a:spLocks/>
          </p:cNvSpPr>
          <p:nvPr/>
        </p:nvSpPr>
        <p:spPr bwMode="auto">
          <a:xfrm>
            <a:off x="3633788" y="4878388"/>
            <a:ext cx="7938" cy="3175"/>
          </a:xfrm>
          <a:custGeom>
            <a:avLst/>
            <a:gdLst>
              <a:gd name="T0" fmla="*/ 2 w 5"/>
              <a:gd name="T1" fmla="*/ 0 h 2"/>
              <a:gd name="T2" fmla="*/ 0 w 5"/>
              <a:gd name="T3" fmla="*/ 0 h 2"/>
              <a:gd name="T4" fmla="*/ 5 w 5"/>
              <a:gd name="T5" fmla="*/ 2 h 2"/>
              <a:gd name="T6" fmla="*/ 2 w 5"/>
              <a:gd name="T7" fmla="*/ 0 h 2"/>
              <a:gd name="T8" fmla="*/ 2 w 5"/>
              <a:gd name="T9" fmla="*/ 0 h 2"/>
            </a:gdLst>
            <a:ahLst/>
            <a:cxnLst>
              <a:cxn ang="0">
                <a:pos x="T0" y="T1"/>
              </a:cxn>
              <a:cxn ang="0">
                <a:pos x="T2" y="T3"/>
              </a:cxn>
              <a:cxn ang="0">
                <a:pos x="T4" y="T5"/>
              </a:cxn>
              <a:cxn ang="0">
                <a:pos x="T6" y="T7"/>
              </a:cxn>
              <a:cxn ang="0">
                <a:pos x="T8" y="T9"/>
              </a:cxn>
            </a:cxnLst>
            <a:rect l="0" t="0" r="r" b="b"/>
            <a:pathLst>
              <a:path w="5" h="2">
                <a:moveTo>
                  <a:pt x="2" y="0"/>
                </a:moveTo>
                <a:cubicBezTo>
                  <a:pt x="1" y="0"/>
                  <a:pt x="1" y="0"/>
                  <a:pt x="0" y="0"/>
                </a:cubicBezTo>
                <a:cubicBezTo>
                  <a:pt x="3" y="1"/>
                  <a:pt x="4" y="2"/>
                  <a:pt x="5" y="2"/>
                </a:cubicBezTo>
                <a:cubicBezTo>
                  <a:pt x="5" y="2"/>
                  <a:pt x="4" y="2"/>
                  <a:pt x="2" y="0"/>
                </a:cubicBezTo>
                <a:cubicBezTo>
                  <a:pt x="2" y="0"/>
                  <a:pt x="2" y="0"/>
                  <a:pt x="2" y="0"/>
                </a:cubicBezTo>
              </a:path>
            </a:pathLst>
          </a:custGeom>
          <a:solidFill>
            <a:srgbClr val="B9B6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31" name="Freeform 198"/>
          <p:cNvSpPr>
            <a:spLocks noEditPoints="1"/>
          </p:cNvSpPr>
          <p:nvPr/>
        </p:nvSpPr>
        <p:spPr bwMode="auto">
          <a:xfrm>
            <a:off x="3197226" y="4840288"/>
            <a:ext cx="219075" cy="82550"/>
          </a:xfrm>
          <a:custGeom>
            <a:avLst/>
            <a:gdLst>
              <a:gd name="T0" fmla="*/ 50 w 129"/>
              <a:gd name="T1" fmla="*/ 28 h 48"/>
              <a:gd name="T2" fmla="*/ 52 w 129"/>
              <a:gd name="T3" fmla="*/ 38 h 48"/>
              <a:gd name="T4" fmla="*/ 127 w 129"/>
              <a:gd name="T5" fmla="*/ 48 h 48"/>
              <a:gd name="T6" fmla="*/ 129 w 129"/>
              <a:gd name="T7" fmla="*/ 48 h 48"/>
              <a:gd name="T8" fmla="*/ 128 w 129"/>
              <a:gd name="T9" fmla="*/ 45 h 48"/>
              <a:gd name="T10" fmla="*/ 126 w 129"/>
              <a:gd name="T11" fmla="*/ 38 h 48"/>
              <a:gd name="T12" fmla="*/ 124 w 129"/>
              <a:gd name="T13" fmla="*/ 38 h 48"/>
              <a:gd name="T14" fmla="*/ 50 w 129"/>
              <a:gd name="T15" fmla="*/ 28 h 48"/>
              <a:gd name="T16" fmla="*/ 0 w 129"/>
              <a:gd name="T17" fmla="*/ 0 h 48"/>
              <a:gd name="T18" fmla="*/ 6 w 129"/>
              <a:gd name="T19" fmla="*/ 14 h 48"/>
              <a:gd name="T20" fmla="*/ 7 w 129"/>
              <a:gd name="T21" fmla="*/ 15 h 48"/>
              <a:gd name="T22" fmla="*/ 48 w 129"/>
              <a:gd name="T23" fmla="*/ 37 h 48"/>
              <a:gd name="T24" fmla="*/ 44 w 129"/>
              <a:gd name="T25" fmla="*/ 26 h 48"/>
              <a:gd name="T26" fmla="*/ 0 w 129"/>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9" h="48">
                <a:moveTo>
                  <a:pt x="50" y="28"/>
                </a:moveTo>
                <a:cubicBezTo>
                  <a:pt x="51" y="32"/>
                  <a:pt x="51" y="35"/>
                  <a:pt x="52" y="38"/>
                </a:cubicBezTo>
                <a:cubicBezTo>
                  <a:pt x="71" y="44"/>
                  <a:pt x="96" y="47"/>
                  <a:pt x="127" y="48"/>
                </a:cubicBezTo>
                <a:cubicBezTo>
                  <a:pt x="128" y="48"/>
                  <a:pt x="128" y="48"/>
                  <a:pt x="129" y="48"/>
                </a:cubicBezTo>
                <a:cubicBezTo>
                  <a:pt x="128" y="47"/>
                  <a:pt x="128" y="46"/>
                  <a:pt x="128" y="45"/>
                </a:cubicBezTo>
                <a:cubicBezTo>
                  <a:pt x="128" y="43"/>
                  <a:pt x="127" y="41"/>
                  <a:pt x="126" y="38"/>
                </a:cubicBezTo>
                <a:cubicBezTo>
                  <a:pt x="125" y="38"/>
                  <a:pt x="125" y="38"/>
                  <a:pt x="124" y="38"/>
                </a:cubicBezTo>
                <a:cubicBezTo>
                  <a:pt x="93" y="38"/>
                  <a:pt x="69" y="34"/>
                  <a:pt x="50" y="28"/>
                </a:cubicBezTo>
                <a:moveTo>
                  <a:pt x="0" y="0"/>
                </a:moveTo>
                <a:cubicBezTo>
                  <a:pt x="1" y="5"/>
                  <a:pt x="4" y="10"/>
                  <a:pt x="6" y="14"/>
                </a:cubicBezTo>
                <a:cubicBezTo>
                  <a:pt x="6" y="14"/>
                  <a:pt x="7" y="15"/>
                  <a:pt x="7" y="15"/>
                </a:cubicBezTo>
                <a:cubicBezTo>
                  <a:pt x="15" y="23"/>
                  <a:pt x="28" y="31"/>
                  <a:pt x="48" y="37"/>
                </a:cubicBezTo>
                <a:cubicBezTo>
                  <a:pt x="47" y="34"/>
                  <a:pt x="46" y="30"/>
                  <a:pt x="44" y="26"/>
                </a:cubicBezTo>
                <a:cubicBezTo>
                  <a:pt x="20" y="18"/>
                  <a:pt x="7" y="7"/>
                  <a:pt x="0" y="0"/>
                </a:cubicBezTo>
              </a:path>
            </a:pathLst>
          </a:custGeom>
          <a:solidFill>
            <a:srgbClr val="C9C6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32" name="Freeform 199"/>
          <p:cNvSpPr>
            <a:spLocks/>
          </p:cNvSpPr>
          <p:nvPr/>
        </p:nvSpPr>
        <p:spPr bwMode="auto">
          <a:xfrm>
            <a:off x="3271838" y="4884738"/>
            <a:ext cx="12700" cy="20637"/>
          </a:xfrm>
          <a:custGeom>
            <a:avLst/>
            <a:gdLst>
              <a:gd name="T0" fmla="*/ 0 w 8"/>
              <a:gd name="T1" fmla="*/ 0 h 12"/>
              <a:gd name="T2" fmla="*/ 4 w 8"/>
              <a:gd name="T3" fmla="*/ 11 h 12"/>
              <a:gd name="T4" fmla="*/ 8 w 8"/>
              <a:gd name="T5" fmla="*/ 12 h 12"/>
              <a:gd name="T6" fmla="*/ 6 w 8"/>
              <a:gd name="T7" fmla="*/ 2 h 12"/>
              <a:gd name="T8" fmla="*/ 0 w 8"/>
              <a:gd name="T9" fmla="*/ 0 h 12"/>
            </a:gdLst>
            <a:ahLst/>
            <a:cxnLst>
              <a:cxn ang="0">
                <a:pos x="T0" y="T1"/>
              </a:cxn>
              <a:cxn ang="0">
                <a:pos x="T2" y="T3"/>
              </a:cxn>
              <a:cxn ang="0">
                <a:pos x="T4" y="T5"/>
              </a:cxn>
              <a:cxn ang="0">
                <a:pos x="T6" y="T7"/>
              </a:cxn>
              <a:cxn ang="0">
                <a:pos x="T8" y="T9"/>
              </a:cxn>
            </a:cxnLst>
            <a:rect l="0" t="0" r="r" b="b"/>
            <a:pathLst>
              <a:path w="8" h="12">
                <a:moveTo>
                  <a:pt x="0" y="0"/>
                </a:moveTo>
                <a:cubicBezTo>
                  <a:pt x="2" y="4"/>
                  <a:pt x="3" y="8"/>
                  <a:pt x="4" y="11"/>
                </a:cubicBezTo>
                <a:cubicBezTo>
                  <a:pt x="5" y="12"/>
                  <a:pt x="7" y="12"/>
                  <a:pt x="8" y="12"/>
                </a:cubicBezTo>
                <a:cubicBezTo>
                  <a:pt x="7" y="9"/>
                  <a:pt x="7" y="6"/>
                  <a:pt x="6" y="2"/>
                </a:cubicBezTo>
                <a:cubicBezTo>
                  <a:pt x="4" y="2"/>
                  <a:pt x="2" y="1"/>
                  <a:pt x="0" y="0"/>
                </a:cubicBezTo>
              </a:path>
            </a:pathLst>
          </a:custGeom>
          <a:solidFill>
            <a:srgbClr val="B9B6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33" name="Freeform 200"/>
          <p:cNvSpPr>
            <a:spLocks/>
          </p:cNvSpPr>
          <p:nvPr/>
        </p:nvSpPr>
        <p:spPr bwMode="auto">
          <a:xfrm>
            <a:off x="3409951" y="4905375"/>
            <a:ext cx="17463" cy="17462"/>
          </a:xfrm>
          <a:custGeom>
            <a:avLst/>
            <a:gdLst>
              <a:gd name="T0" fmla="*/ 8 w 10"/>
              <a:gd name="T1" fmla="*/ 0 h 10"/>
              <a:gd name="T2" fmla="*/ 1 w 10"/>
              <a:gd name="T3" fmla="*/ 0 h 10"/>
              <a:gd name="T4" fmla="*/ 0 w 10"/>
              <a:gd name="T5" fmla="*/ 0 h 10"/>
              <a:gd name="T6" fmla="*/ 2 w 10"/>
              <a:gd name="T7" fmla="*/ 7 h 10"/>
              <a:gd name="T8" fmla="*/ 3 w 10"/>
              <a:gd name="T9" fmla="*/ 10 h 10"/>
              <a:gd name="T10" fmla="*/ 9 w 10"/>
              <a:gd name="T11" fmla="*/ 10 h 10"/>
              <a:gd name="T12" fmla="*/ 10 w 10"/>
              <a:gd name="T13" fmla="*/ 10 h 10"/>
              <a:gd name="T14" fmla="*/ 8 w 10"/>
              <a:gd name="T15" fmla="*/ 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0">
                <a:moveTo>
                  <a:pt x="8" y="0"/>
                </a:moveTo>
                <a:cubicBezTo>
                  <a:pt x="6" y="0"/>
                  <a:pt x="4" y="0"/>
                  <a:pt x="1" y="0"/>
                </a:cubicBezTo>
                <a:cubicBezTo>
                  <a:pt x="1" y="0"/>
                  <a:pt x="1" y="0"/>
                  <a:pt x="0" y="0"/>
                </a:cubicBezTo>
                <a:cubicBezTo>
                  <a:pt x="1" y="3"/>
                  <a:pt x="2" y="5"/>
                  <a:pt x="2" y="7"/>
                </a:cubicBezTo>
                <a:cubicBezTo>
                  <a:pt x="2" y="8"/>
                  <a:pt x="2" y="9"/>
                  <a:pt x="3" y="10"/>
                </a:cubicBezTo>
                <a:cubicBezTo>
                  <a:pt x="5" y="10"/>
                  <a:pt x="7" y="10"/>
                  <a:pt x="9" y="10"/>
                </a:cubicBezTo>
                <a:cubicBezTo>
                  <a:pt x="10" y="10"/>
                  <a:pt x="10" y="10"/>
                  <a:pt x="10" y="10"/>
                </a:cubicBezTo>
                <a:cubicBezTo>
                  <a:pt x="10" y="7"/>
                  <a:pt x="9" y="4"/>
                  <a:pt x="8" y="0"/>
                </a:cubicBezTo>
              </a:path>
            </a:pathLst>
          </a:custGeom>
          <a:solidFill>
            <a:srgbClr val="B9B6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34" name="Freeform 201"/>
          <p:cNvSpPr>
            <a:spLocks/>
          </p:cNvSpPr>
          <p:nvPr/>
        </p:nvSpPr>
        <p:spPr bwMode="auto">
          <a:xfrm>
            <a:off x="3849688" y="4797425"/>
            <a:ext cx="11113" cy="9525"/>
          </a:xfrm>
          <a:custGeom>
            <a:avLst/>
            <a:gdLst>
              <a:gd name="T0" fmla="*/ 4 w 6"/>
              <a:gd name="T1" fmla="*/ 0 h 6"/>
              <a:gd name="T2" fmla="*/ 0 w 6"/>
              <a:gd name="T3" fmla="*/ 2 h 6"/>
              <a:gd name="T4" fmla="*/ 1 w 6"/>
              <a:gd name="T5" fmla="*/ 6 h 6"/>
              <a:gd name="T6" fmla="*/ 4 w 6"/>
              <a:gd name="T7" fmla="*/ 6 h 6"/>
              <a:gd name="T8" fmla="*/ 4 w 6"/>
              <a:gd name="T9" fmla="*/ 0 h 6"/>
            </a:gdLst>
            <a:ahLst/>
            <a:cxnLst>
              <a:cxn ang="0">
                <a:pos x="T0" y="T1"/>
              </a:cxn>
              <a:cxn ang="0">
                <a:pos x="T2" y="T3"/>
              </a:cxn>
              <a:cxn ang="0">
                <a:pos x="T4" y="T5"/>
              </a:cxn>
              <a:cxn ang="0">
                <a:pos x="T6" y="T7"/>
              </a:cxn>
              <a:cxn ang="0">
                <a:pos x="T8" y="T9"/>
              </a:cxn>
            </a:cxnLst>
            <a:rect l="0" t="0" r="r" b="b"/>
            <a:pathLst>
              <a:path w="6" h="6">
                <a:moveTo>
                  <a:pt x="4" y="0"/>
                </a:moveTo>
                <a:cubicBezTo>
                  <a:pt x="3" y="1"/>
                  <a:pt x="1" y="2"/>
                  <a:pt x="0" y="2"/>
                </a:cubicBezTo>
                <a:cubicBezTo>
                  <a:pt x="1" y="4"/>
                  <a:pt x="1" y="6"/>
                  <a:pt x="1" y="6"/>
                </a:cubicBezTo>
                <a:cubicBezTo>
                  <a:pt x="1" y="6"/>
                  <a:pt x="2" y="6"/>
                  <a:pt x="4" y="6"/>
                </a:cubicBezTo>
                <a:cubicBezTo>
                  <a:pt x="5" y="6"/>
                  <a:pt x="6" y="5"/>
                  <a:pt x="4" y="0"/>
                </a:cubicBezTo>
              </a:path>
            </a:pathLst>
          </a:custGeom>
          <a:solidFill>
            <a:srgbClr val="B9B6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35" name="Freeform 202"/>
          <p:cNvSpPr>
            <a:spLocks/>
          </p:cNvSpPr>
          <p:nvPr/>
        </p:nvSpPr>
        <p:spPr bwMode="auto">
          <a:xfrm>
            <a:off x="3186113" y="4829175"/>
            <a:ext cx="22225" cy="36512"/>
          </a:xfrm>
          <a:custGeom>
            <a:avLst/>
            <a:gdLst>
              <a:gd name="T0" fmla="*/ 0 w 13"/>
              <a:gd name="T1" fmla="*/ 0 h 22"/>
              <a:gd name="T2" fmla="*/ 13 w 13"/>
              <a:gd name="T3" fmla="*/ 22 h 22"/>
              <a:gd name="T4" fmla="*/ 12 w 13"/>
              <a:gd name="T5" fmla="*/ 21 h 22"/>
              <a:gd name="T6" fmla="*/ 6 w 13"/>
              <a:gd name="T7" fmla="*/ 7 h 22"/>
              <a:gd name="T8" fmla="*/ 0 w 13"/>
              <a:gd name="T9" fmla="*/ 0 h 22"/>
            </a:gdLst>
            <a:ahLst/>
            <a:cxnLst>
              <a:cxn ang="0">
                <a:pos x="T0" y="T1"/>
              </a:cxn>
              <a:cxn ang="0">
                <a:pos x="T2" y="T3"/>
              </a:cxn>
              <a:cxn ang="0">
                <a:pos x="T4" y="T5"/>
              </a:cxn>
              <a:cxn ang="0">
                <a:pos x="T6" y="T7"/>
              </a:cxn>
              <a:cxn ang="0">
                <a:pos x="T8" y="T9"/>
              </a:cxn>
            </a:cxnLst>
            <a:rect l="0" t="0" r="r" b="b"/>
            <a:pathLst>
              <a:path w="13" h="22">
                <a:moveTo>
                  <a:pt x="0" y="0"/>
                </a:moveTo>
                <a:cubicBezTo>
                  <a:pt x="1" y="6"/>
                  <a:pt x="4" y="14"/>
                  <a:pt x="13" y="22"/>
                </a:cubicBezTo>
                <a:cubicBezTo>
                  <a:pt x="13" y="22"/>
                  <a:pt x="12" y="21"/>
                  <a:pt x="12" y="21"/>
                </a:cubicBezTo>
                <a:cubicBezTo>
                  <a:pt x="10" y="17"/>
                  <a:pt x="7" y="12"/>
                  <a:pt x="6" y="7"/>
                </a:cubicBezTo>
                <a:cubicBezTo>
                  <a:pt x="2" y="3"/>
                  <a:pt x="0" y="0"/>
                  <a:pt x="0" y="0"/>
                </a:cubicBezTo>
              </a:path>
            </a:pathLst>
          </a:custGeom>
          <a:solidFill>
            <a:srgbClr val="B9B6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Text Placeholder 10"/>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8" name="Title 7"/>
          <p:cNvSpPr>
            <a:spLocks noGrp="1"/>
          </p:cNvSpPr>
          <p:nvPr>
            <p:ph type="title"/>
          </p:nvPr>
        </p:nvSpPr>
        <p:spPr/>
        <p:txBody>
          <a:bodyPr>
            <a:normAutofit/>
          </a:bodyPr>
          <a:lstStyle/>
          <a:p>
            <a:r>
              <a:rPr lang="en-GB"/>
              <a:t>Distribution of </a:t>
            </a:r>
            <a:r>
              <a:rPr lang="el-GR"/>
              <a:t>α-</a:t>
            </a:r>
            <a:r>
              <a:rPr lang="en-GB"/>
              <a:t>synuclein pathology in Parkinson’s disease</a:t>
            </a:r>
          </a:p>
        </p:txBody>
      </p:sp>
      <p:sp>
        <p:nvSpPr>
          <p:cNvPr id="9" name="Content Placeholder 8"/>
          <p:cNvSpPr>
            <a:spLocks noGrp="1"/>
          </p:cNvSpPr>
          <p:nvPr>
            <p:ph idx="20"/>
          </p:nvPr>
        </p:nvSpPr>
        <p:spPr/>
        <p:txBody>
          <a:bodyPr>
            <a:normAutofit/>
          </a:bodyPr>
          <a:lstStyle/>
          <a:p>
            <a:pPr marL="0" indent="0" algn="ctr">
              <a:buNone/>
            </a:pPr>
            <a:r>
              <a:rPr lang="en-GB" sz="1600" b="1">
                <a:solidFill>
                  <a:schemeClr val="accent2">
                    <a:lumMod val="50000"/>
                  </a:schemeClr>
                </a:solidFill>
              </a:rPr>
              <a:t>Multi-organ </a:t>
            </a:r>
            <a:r>
              <a:rPr lang="el-GR" sz="1600" b="1">
                <a:solidFill>
                  <a:schemeClr val="accent2">
                    <a:lumMod val="50000"/>
                  </a:schemeClr>
                </a:solidFill>
              </a:rPr>
              <a:t>α</a:t>
            </a:r>
            <a:r>
              <a:rPr lang="en-GB" sz="1600" b="1">
                <a:solidFill>
                  <a:schemeClr val="accent2">
                    <a:lumMod val="50000"/>
                  </a:schemeClr>
                </a:solidFill>
              </a:rPr>
              <a:t>-synuclein deposits in PD</a:t>
            </a:r>
            <a:r>
              <a:rPr lang="en-GB" sz="1600" b="1" baseline="30000">
                <a:solidFill>
                  <a:schemeClr val="accent2">
                    <a:lumMod val="50000"/>
                  </a:schemeClr>
                </a:solidFill>
              </a:rPr>
              <a:t>1</a:t>
            </a:r>
            <a:endParaRPr lang="en-GB" sz="1600" b="1">
              <a:solidFill>
                <a:schemeClr val="accent2">
                  <a:lumMod val="50000"/>
                </a:schemeClr>
              </a:solidFill>
            </a:endParaRPr>
          </a:p>
        </p:txBody>
      </p:sp>
      <p:sp>
        <p:nvSpPr>
          <p:cNvPr id="10" name="Content Placeholder 9"/>
          <p:cNvSpPr>
            <a:spLocks noGrp="1"/>
          </p:cNvSpPr>
          <p:nvPr>
            <p:ph idx="21"/>
          </p:nvPr>
        </p:nvSpPr>
        <p:spPr/>
        <p:txBody>
          <a:bodyPr>
            <a:normAutofit/>
          </a:bodyPr>
          <a:lstStyle/>
          <a:p>
            <a:r>
              <a:rPr lang="en-GB" sz="1800"/>
              <a:t>The </a:t>
            </a:r>
            <a:r>
              <a:rPr lang="el-GR" sz="1800"/>
              <a:t>α</a:t>
            </a:r>
            <a:r>
              <a:rPr lang="en-GB" sz="1800"/>
              <a:t>-</a:t>
            </a:r>
            <a:r>
              <a:rPr lang="en-GB" sz="1800" err="1"/>
              <a:t>synucleinopathy</a:t>
            </a:r>
            <a:r>
              <a:rPr lang="en-GB" sz="1800"/>
              <a:t> seen in PD does not appear to be restricted to the brain</a:t>
            </a:r>
            <a:r>
              <a:rPr lang="en-GB" sz="1800" baseline="30000"/>
              <a:t>1,2</a:t>
            </a:r>
            <a:endParaRPr lang="en-GB" sz="1800"/>
          </a:p>
          <a:p>
            <a:r>
              <a:rPr lang="en-GB" sz="1800"/>
              <a:t>Increasing evidence points to the usefulness of peripheral </a:t>
            </a:r>
            <a:r>
              <a:rPr lang="el-GR" sz="1800"/>
              <a:t>α-</a:t>
            </a:r>
            <a:r>
              <a:rPr lang="en-GB" sz="1800"/>
              <a:t>synuclein deposition as a biomarker for prodromal PD</a:t>
            </a:r>
            <a:r>
              <a:rPr lang="en-GB" sz="1800" baseline="30000"/>
              <a:t>1-3</a:t>
            </a:r>
          </a:p>
          <a:p>
            <a:r>
              <a:rPr lang="en-GB" sz="1800"/>
              <a:t>Phosphorylated </a:t>
            </a:r>
            <a:r>
              <a:rPr lang="el-GR" sz="1800"/>
              <a:t>α-</a:t>
            </a:r>
            <a:r>
              <a:rPr lang="en-GB" sz="1800"/>
              <a:t>synuclein – the type found at high concentrations in Lewy bodies – is more commonly found in the GI systems of individuals with prodromal PD than in healthy controls</a:t>
            </a:r>
            <a:r>
              <a:rPr lang="en-GB" sz="1800" baseline="30000"/>
              <a:t>2</a:t>
            </a:r>
          </a:p>
          <a:p>
            <a:r>
              <a:rPr lang="en-GB" sz="1800"/>
              <a:t>PD may originate in the gut – the so-called ‘gut–brain’ hypothesis – and its pathological progression to the brain, and within the brain, may be mediated by the prion-like properties of α-synuclein</a:t>
            </a:r>
            <a:r>
              <a:rPr lang="en-GB" sz="1800" baseline="30000"/>
              <a:t>3</a:t>
            </a:r>
            <a:endParaRPr lang="en-GB" sz="1800"/>
          </a:p>
        </p:txBody>
      </p:sp>
      <p:sp>
        <p:nvSpPr>
          <p:cNvPr id="2" name="Text Placeholder 1">
            <a:extLst>
              <a:ext uri="{FF2B5EF4-FFF2-40B4-BE49-F238E27FC236}">
                <a16:creationId xmlns:a16="http://schemas.microsoft.com/office/drawing/2014/main" id="{28406148-9EDD-490E-95EA-4DA4E0347DD2}"/>
              </a:ext>
            </a:extLst>
          </p:cNvPr>
          <p:cNvSpPr>
            <a:spLocks noGrp="1"/>
          </p:cNvSpPr>
          <p:nvPr>
            <p:ph type="body" sz="quarter" idx="18"/>
          </p:nvPr>
        </p:nvSpPr>
        <p:spPr/>
        <p:txBody>
          <a:bodyPr/>
          <a:lstStyle/>
          <a:p>
            <a:r>
              <a:rPr lang="en-GB" dirty="0"/>
              <a:t>GI=gastrointestinal; PD=Parkinson’s disease</a:t>
            </a:r>
          </a:p>
          <a:p>
            <a:endParaRPr lang="en-GB" dirty="0"/>
          </a:p>
          <a:p>
            <a:r>
              <a:rPr lang="en-GB" dirty="0"/>
              <a:t>1. </a:t>
            </a:r>
            <a:r>
              <a:rPr lang="en-GB" dirty="0" err="1"/>
              <a:t>Tolosa</a:t>
            </a:r>
            <a:r>
              <a:rPr lang="en-GB" dirty="0"/>
              <a:t> et al. Brain 2015;138(8):2120–2122; 2. Wood. Nat Rev </a:t>
            </a:r>
            <a:r>
              <a:rPr lang="en-GB" dirty="0" err="1"/>
              <a:t>Neurol</a:t>
            </a:r>
            <a:r>
              <a:rPr lang="en-GB" dirty="0"/>
              <a:t> 2016;12(5):249; 3. Fasano et al. </a:t>
            </a:r>
            <a:r>
              <a:rPr lang="fr-FR" dirty="0"/>
              <a:t>Lancet </a:t>
            </a:r>
            <a:r>
              <a:rPr lang="fr-FR" dirty="0" err="1"/>
              <a:t>Neurol</a:t>
            </a:r>
            <a:r>
              <a:rPr lang="fr-FR" dirty="0"/>
              <a:t> 2015;14(6):625–639</a:t>
            </a:r>
            <a:endParaRPr lang="en-GB" dirty="0"/>
          </a:p>
        </p:txBody>
      </p:sp>
      <p:sp>
        <p:nvSpPr>
          <p:cNvPr id="3" name="Slide Number Placeholder 2"/>
          <p:cNvSpPr>
            <a:spLocks noGrp="1"/>
          </p:cNvSpPr>
          <p:nvPr>
            <p:ph type="sldNum" sz="quarter" idx="4"/>
          </p:nvPr>
        </p:nvSpPr>
        <p:spPr/>
        <p:txBody>
          <a:bodyPr/>
          <a:lstStyle/>
          <a:p>
            <a:fld id="{6DBC486D-4FAB-B746-8B02-8D7C842291C6}" type="slidenum">
              <a:rPr lang="en-GB" smtClean="0"/>
              <a:pPr/>
              <a:t>15</a:t>
            </a:fld>
            <a:endParaRPr lang="en-GB"/>
          </a:p>
        </p:txBody>
      </p:sp>
      <p:sp>
        <p:nvSpPr>
          <p:cNvPr id="7" name="TextBox 6"/>
          <p:cNvSpPr txBox="1"/>
          <p:nvPr/>
        </p:nvSpPr>
        <p:spPr>
          <a:xfrm flipH="1">
            <a:off x="449040" y="3006324"/>
            <a:ext cx="1328956" cy="338554"/>
          </a:xfrm>
          <a:prstGeom prst="rect">
            <a:avLst/>
          </a:prstGeom>
          <a:noFill/>
        </p:spPr>
        <p:txBody>
          <a:bodyPr wrap="square" rtlCol="0">
            <a:spAutoFit/>
          </a:bodyPr>
          <a:lstStyle/>
          <a:p>
            <a:pPr algn="r"/>
            <a:r>
              <a:rPr lang="en-GB" sz="1600">
                <a:latin typeface="Arial" panose="020B0604020202020204" pitchFamily="34" charset="0"/>
                <a:cs typeface="Arial" panose="020B0604020202020204" pitchFamily="34" charset="0"/>
              </a:rPr>
              <a:t>Stomach</a:t>
            </a:r>
          </a:p>
        </p:txBody>
      </p:sp>
      <p:sp>
        <p:nvSpPr>
          <p:cNvPr id="16" name="TextBox 15"/>
          <p:cNvSpPr txBox="1"/>
          <p:nvPr/>
        </p:nvSpPr>
        <p:spPr>
          <a:xfrm flipH="1">
            <a:off x="4533134" y="1993612"/>
            <a:ext cx="1612267" cy="830997"/>
          </a:xfrm>
          <a:prstGeom prst="rect">
            <a:avLst/>
          </a:prstGeom>
          <a:noFill/>
        </p:spPr>
        <p:txBody>
          <a:bodyPr wrap="square" rtlCol="0">
            <a:spAutoFit/>
          </a:bodyPr>
          <a:lstStyle/>
          <a:p>
            <a:r>
              <a:rPr lang="en-GB" sz="1600">
                <a:latin typeface="Arial" panose="020B0604020202020204" pitchFamily="34" charset="0"/>
                <a:cs typeface="Arial" panose="020B0604020202020204" pitchFamily="34" charset="0"/>
              </a:rPr>
              <a:t>Salivary glands (including submandibular)</a:t>
            </a:r>
          </a:p>
        </p:txBody>
      </p:sp>
      <p:sp>
        <p:nvSpPr>
          <p:cNvPr id="35" name="TextBox 34"/>
          <p:cNvSpPr txBox="1"/>
          <p:nvPr/>
        </p:nvSpPr>
        <p:spPr>
          <a:xfrm flipH="1">
            <a:off x="978017" y="4056508"/>
            <a:ext cx="799979" cy="338554"/>
          </a:xfrm>
          <a:prstGeom prst="rect">
            <a:avLst/>
          </a:prstGeom>
          <a:noFill/>
        </p:spPr>
        <p:txBody>
          <a:bodyPr wrap="square" rtlCol="0">
            <a:spAutoFit/>
          </a:bodyPr>
          <a:lstStyle/>
          <a:p>
            <a:pPr algn="r"/>
            <a:r>
              <a:rPr lang="en-GB" sz="1600">
                <a:latin typeface="Arial" panose="020B0604020202020204" pitchFamily="34" charset="0"/>
                <a:cs typeface="Arial" panose="020B0604020202020204" pitchFamily="34" charset="0"/>
              </a:rPr>
              <a:t>Skin</a:t>
            </a:r>
          </a:p>
        </p:txBody>
      </p:sp>
      <p:cxnSp>
        <p:nvCxnSpPr>
          <p:cNvPr id="37" name="Straight Connector 36"/>
          <p:cNvCxnSpPr/>
          <p:nvPr/>
        </p:nvCxnSpPr>
        <p:spPr>
          <a:xfrm>
            <a:off x="1772895" y="4229428"/>
            <a:ext cx="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428030" y="5370171"/>
            <a:ext cx="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flipH="1">
            <a:off x="4560890" y="5190123"/>
            <a:ext cx="787662" cy="338554"/>
          </a:xfrm>
          <a:prstGeom prst="rect">
            <a:avLst/>
          </a:prstGeom>
          <a:noFill/>
        </p:spPr>
        <p:txBody>
          <a:bodyPr wrap="square" rtlCol="0">
            <a:spAutoFit/>
          </a:bodyPr>
          <a:lstStyle/>
          <a:p>
            <a:r>
              <a:rPr lang="en-GB" sz="1600">
                <a:latin typeface="Arial" panose="020B0604020202020204" pitchFamily="34" charset="0"/>
                <a:cs typeface="Arial" panose="020B0604020202020204" pitchFamily="34" charset="0"/>
              </a:rPr>
              <a:t>Colon</a:t>
            </a:r>
          </a:p>
        </p:txBody>
      </p:sp>
      <p:cxnSp>
        <p:nvCxnSpPr>
          <p:cNvPr id="36" name="Straight Arrow Connector 35"/>
          <p:cNvCxnSpPr>
            <a:cxnSpLocks/>
          </p:cNvCxnSpPr>
          <p:nvPr/>
        </p:nvCxnSpPr>
        <p:spPr>
          <a:xfrm flipV="1">
            <a:off x="1914525" y="3990975"/>
            <a:ext cx="452438" cy="238125"/>
          </a:xfrm>
          <a:prstGeom prst="straightConnector1">
            <a:avLst/>
          </a:prstGeom>
          <a:ln w="12700">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cxnSp>
        <p:nvCxnSpPr>
          <p:cNvPr id="4" name="Straight Arrow Connector 3"/>
          <p:cNvCxnSpPr>
            <a:cxnSpLocks/>
          </p:cNvCxnSpPr>
          <p:nvPr/>
        </p:nvCxnSpPr>
        <p:spPr>
          <a:xfrm>
            <a:off x="1916906" y="3178969"/>
            <a:ext cx="1869282" cy="1216819"/>
          </a:xfrm>
          <a:prstGeom prst="straightConnector1">
            <a:avLst/>
          </a:prstGeom>
          <a:ln w="12700">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cxnSpLocks/>
          </p:cNvCxnSpPr>
          <p:nvPr/>
        </p:nvCxnSpPr>
        <p:spPr>
          <a:xfrm flipH="1" flipV="1">
            <a:off x="3924301" y="4814891"/>
            <a:ext cx="507205" cy="557209"/>
          </a:xfrm>
          <a:prstGeom prst="straightConnector1">
            <a:avLst/>
          </a:prstGeom>
          <a:ln w="12700">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p:cNvCxnSpPr>
          <p:nvPr/>
        </p:nvCxnSpPr>
        <p:spPr>
          <a:xfrm flipH="1">
            <a:off x="3319463" y="2171700"/>
            <a:ext cx="1097757" cy="519113"/>
          </a:xfrm>
          <a:prstGeom prst="straightConnector1">
            <a:avLst/>
          </a:prstGeom>
          <a:ln w="12700">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427776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a:t>Parkinson’s disease – Course, natural history and prognosis</a:t>
            </a:r>
          </a:p>
        </p:txBody>
      </p:sp>
      <p:sp>
        <p:nvSpPr>
          <p:cNvPr id="2" name="Title 1"/>
          <p:cNvSpPr>
            <a:spLocks noGrp="1"/>
          </p:cNvSpPr>
          <p:nvPr>
            <p:ph type="title"/>
          </p:nvPr>
        </p:nvSpPr>
        <p:spPr/>
        <p:txBody>
          <a:bodyPr/>
          <a:lstStyle/>
          <a:p>
            <a:r>
              <a:rPr lang="en-GB"/>
              <a:t>The gastrointestinal system and Parkinson’s disease</a:t>
            </a:r>
          </a:p>
        </p:txBody>
      </p:sp>
      <p:sp>
        <p:nvSpPr>
          <p:cNvPr id="3" name="Content Placeholder 2"/>
          <p:cNvSpPr>
            <a:spLocks noGrp="1"/>
          </p:cNvSpPr>
          <p:nvPr>
            <p:ph idx="20"/>
          </p:nvPr>
        </p:nvSpPr>
        <p:spPr>
          <a:xfrm>
            <a:off x="539750" y="1427802"/>
            <a:ext cx="5419725" cy="4415215"/>
          </a:xfrm>
        </p:spPr>
        <p:txBody>
          <a:bodyPr>
            <a:normAutofit/>
          </a:bodyPr>
          <a:lstStyle/>
          <a:p>
            <a:r>
              <a:rPr lang="en-GB" dirty="0"/>
              <a:t>The functions of the GI system are controlled by the ‘enteric nervous system’ (ENS)</a:t>
            </a:r>
            <a:r>
              <a:rPr lang="en-GB" baseline="30000" dirty="0"/>
              <a:t>1</a:t>
            </a:r>
            <a:endParaRPr lang="en-GB" dirty="0"/>
          </a:p>
          <a:p>
            <a:r>
              <a:rPr lang="en-GB" dirty="0"/>
              <a:t>Mounting evidence suggests that diseases affecting the CNS could have a similar pathogenesis in the ENS – one theory holds that insults to the GI tract may result in </a:t>
            </a:r>
            <a:r>
              <a:rPr lang="el-GR" dirty="0"/>
              <a:t>α</a:t>
            </a:r>
            <a:r>
              <a:rPr lang="en-GB" dirty="0"/>
              <a:t>-synuclein pathology in the ENS, which then ascends along the gut–brain axis to the brain</a:t>
            </a:r>
            <a:r>
              <a:rPr lang="en-GB" baseline="30000" dirty="0"/>
              <a:t>1</a:t>
            </a:r>
            <a:r>
              <a:rPr lang="en-GB" dirty="0"/>
              <a:t> </a:t>
            </a:r>
          </a:p>
          <a:p>
            <a:r>
              <a:rPr lang="en-GB" dirty="0"/>
              <a:t>However, it is unclear whether α-synuclein pathology begins </a:t>
            </a:r>
            <a:r>
              <a:rPr lang="en-US" dirty="0"/>
              <a:t>‘brain-first’ or ‘gut-first’, or whether both processes exist within the PD population</a:t>
            </a:r>
            <a:r>
              <a:rPr lang="en-GB" baseline="30000" dirty="0"/>
              <a:t>2-4</a:t>
            </a:r>
            <a:endParaRPr lang="en-GB" dirty="0"/>
          </a:p>
          <a:p>
            <a:r>
              <a:rPr lang="en-GB" dirty="0"/>
              <a:t>The detection of ENS pathology may therefore be potentially useful for the diagnosis or monitoring of PD, and add to the exciting prospect of preventing or delaying the onset of PD</a:t>
            </a:r>
            <a:r>
              <a:rPr lang="en-GB" baseline="30000" dirty="0"/>
              <a:t>1</a:t>
            </a:r>
          </a:p>
        </p:txBody>
      </p:sp>
      <p:sp>
        <p:nvSpPr>
          <p:cNvPr id="5" name="Text Placeholder 4">
            <a:extLst>
              <a:ext uri="{FF2B5EF4-FFF2-40B4-BE49-F238E27FC236}">
                <a16:creationId xmlns:a16="http://schemas.microsoft.com/office/drawing/2014/main" id="{0C19257B-85A4-4341-B313-7FA952424499}"/>
              </a:ext>
            </a:extLst>
          </p:cNvPr>
          <p:cNvSpPr>
            <a:spLocks noGrp="1"/>
          </p:cNvSpPr>
          <p:nvPr>
            <p:ph type="body" sz="quarter" idx="18"/>
          </p:nvPr>
        </p:nvSpPr>
        <p:spPr/>
        <p:txBody>
          <a:bodyPr/>
          <a:lstStyle/>
          <a:p>
            <a:pPr marL="0" indent="0">
              <a:buNone/>
            </a:pPr>
            <a:r>
              <a:rPr lang="en-GB" dirty="0"/>
              <a:t>CNS=central nervous system; ENS=enteric nervous system; GI=gastrointestinal; PD=Parkinson’s disease</a:t>
            </a:r>
          </a:p>
          <a:p>
            <a:endParaRPr lang="en-GB" dirty="0"/>
          </a:p>
          <a:p>
            <a:pPr marL="0" indent="0">
              <a:buNone/>
            </a:pPr>
            <a:r>
              <a:rPr lang="en-GB" dirty="0"/>
              <a:t>1. Rao &amp; Gershon. Nat Rev Gastroenterol Hepatol 2016;13(9):517–528; 2. Beach et al. J </a:t>
            </a:r>
            <a:r>
              <a:rPr lang="en-GB" dirty="0" err="1"/>
              <a:t>Parkinsons</a:t>
            </a:r>
            <a:r>
              <a:rPr lang="en-GB" dirty="0"/>
              <a:t> Dis 2021;11(4):1833–1843; </a:t>
            </a:r>
            <a:br>
              <a:rPr lang="en-GB" dirty="0"/>
            </a:br>
            <a:r>
              <a:rPr lang="en-GB" dirty="0"/>
              <a:t>3. </a:t>
            </a:r>
            <a:r>
              <a:rPr lang="en-GB" dirty="0" err="1"/>
              <a:t>Gershanik</a:t>
            </a:r>
            <a:r>
              <a:rPr lang="en-GB" dirty="0"/>
              <a:t>. </a:t>
            </a:r>
            <a:r>
              <a:rPr lang="en-GB" dirty="0" err="1"/>
              <a:t>Arq</a:t>
            </a:r>
            <a:r>
              <a:rPr lang="en-GB" dirty="0"/>
              <a:t> </a:t>
            </a:r>
            <a:r>
              <a:rPr lang="en-GB" dirty="0" err="1"/>
              <a:t>Neuropsiquiatr</a:t>
            </a:r>
            <a:r>
              <a:rPr lang="en-GB" dirty="0"/>
              <a:t> 2018;76(2):67–70; 4. </a:t>
            </a:r>
            <a:r>
              <a:rPr lang="en-GB" dirty="0" err="1"/>
              <a:t>Borghammer</a:t>
            </a:r>
            <a:r>
              <a:rPr lang="en-GB" dirty="0"/>
              <a:t> &amp; Van Den Berge. J </a:t>
            </a:r>
            <a:r>
              <a:rPr lang="en-GB" dirty="0" err="1"/>
              <a:t>Parkinsons</a:t>
            </a:r>
            <a:r>
              <a:rPr lang="en-GB" dirty="0"/>
              <a:t> Dis 2019;9(s2):S281–S295; 5. Lema Tomé et al. Mol </a:t>
            </a:r>
            <a:r>
              <a:rPr lang="en-GB" dirty="0" err="1"/>
              <a:t>Neurobiol</a:t>
            </a:r>
            <a:r>
              <a:rPr lang="en-GB" dirty="0"/>
              <a:t> 2013;47(2):561–574 </a:t>
            </a:r>
          </a:p>
        </p:txBody>
      </p:sp>
      <p:sp>
        <p:nvSpPr>
          <p:cNvPr id="4" name="Slide Number Placeholder 3"/>
          <p:cNvSpPr>
            <a:spLocks noGrp="1"/>
          </p:cNvSpPr>
          <p:nvPr>
            <p:ph type="sldNum" sz="quarter" idx="4"/>
          </p:nvPr>
        </p:nvSpPr>
        <p:spPr/>
        <p:txBody>
          <a:bodyPr/>
          <a:lstStyle/>
          <a:p>
            <a:fld id="{6DBC486D-4FAB-B746-8B02-8D7C842291C6}" type="slidenum">
              <a:rPr lang="en-GB" smtClean="0"/>
              <a:t>16</a:t>
            </a:fld>
            <a:endParaRPr lang="en-GB"/>
          </a:p>
        </p:txBody>
      </p:sp>
      <p:grpSp>
        <p:nvGrpSpPr>
          <p:cNvPr id="120" name="Group 119">
            <a:extLst>
              <a:ext uri="{FF2B5EF4-FFF2-40B4-BE49-F238E27FC236}">
                <a16:creationId xmlns:a16="http://schemas.microsoft.com/office/drawing/2014/main" id="{795C546D-CB18-4B47-A89C-D215FE88AEF1}"/>
              </a:ext>
            </a:extLst>
          </p:cNvPr>
          <p:cNvGrpSpPr/>
          <p:nvPr/>
        </p:nvGrpSpPr>
        <p:grpSpPr>
          <a:xfrm>
            <a:off x="8184741" y="2148192"/>
            <a:ext cx="1584962" cy="1423190"/>
            <a:chOff x="837299" y="3004664"/>
            <a:chExt cx="1232677" cy="1106861"/>
          </a:xfrm>
        </p:grpSpPr>
        <p:sp>
          <p:nvSpPr>
            <p:cNvPr id="121" name="Freeform 357">
              <a:extLst>
                <a:ext uri="{FF2B5EF4-FFF2-40B4-BE49-F238E27FC236}">
                  <a16:creationId xmlns:a16="http://schemas.microsoft.com/office/drawing/2014/main" id="{4E4A8E45-001B-4624-A59A-C789C97D16A4}"/>
                </a:ext>
              </a:extLst>
            </p:cNvPr>
            <p:cNvSpPr>
              <a:spLocks/>
            </p:cNvSpPr>
            <p:nvPr/>
          </p:nvSpPr>
          <p:spPr bwMode="auto">
            <a:xfrm>
              <a:off x="1106449" y="3348667"/>
              <a:ext cx="848063" cy="652172"/>
            </a:xfrm>
            <a:custGeom>
              <a:avLst/>
              <a:gdLst>
                <a:gd name="T0" fmla="*/ 1111 w 1127"/>
                <a:gd name="T1" fmla="*/ 542 h 868"/>
                <a:gd name="T2" fmla="*/ 1103 w 1127"/>
                <a:gd name="T3" fmla="*/ 571 h 868"/>
                <a:gd name="T4" fmla="*/ 1098 w 1127"/>
                <a:gd name="T5" fmla="*/ 613 h 868"/>
                <a:gd name="T6" fmla="*/ 1081 w 1127"/>
                <a:gd name="T7" fmla="*/ 656 h 868"/>
                <a:gd name="T8" fmla="*/ 1060 w 1127"/>
                <a:gd name="T9" fmla="*/ 694 h 868"/>
                <a:gd name="T10" fmla="*/ 1054 w 1127"/>
                <a:gd name="T11" fmla="*/ 721 h 868"/>
                <a:gd name="T12" fmla="*/ 1021 w 1127"/>
                <a:gd name="T13" fmla="*/ 751 h 868"/>
                <a:gd name="T14" fmla="*/ 1013 w 1127"/>
                <a:gd name="T15" fmla="*/ 765 h 868"/>
                <a:gd name="T16" fmla="*/ 980 w 1127"/>
                <a:gd name="T17" fmla="*/ 784 h 868"/>
                <a:gd name="T18" fmla="*/ 934 w 1127"/>
                <a:gd name="T19" fmla="*/ 805 h 868"/>
                <a:gd name="T20" fmla="*/ 902 w 1127"/>
                <a:gd name="T21" fmla="*/ 812 h 868"/>
                <a:gd name="T22" fmla="*/ 864 w 1127"/>
                <a:gd name="T23" fmla="*/ 820 h 868"/>
                <a:gd name="T24" fmla="*/ 836 w 1127"/>
                <a:gd name="T25" fmla="*/ 820 h 868"/>
                <a:gd name="T26" fmla="*/ 799 w 1127"/>
                <a:gd name="T27" fmla="*/ 821 h 868"/>
                <a:gd name="T28" fmla="*/ 765 w 1127"/>
                <a:gd name="T29" fmla="*/ 816 h 868"/>
                <a:gd name="T30" fmla="*/ 723 w 1127"/>
                <a:gd name="T31" fmla="*/ 814 h 868"/>
                <a:gd name="T32" fmla="*/ 655 w 1127"/>
                <a:gd name="T33" fmla="*/ 856 h 868"/>
                <a:gd name="T34" fmla="*/ 620 w 1127"/>
                <a:gd name="T35" fmla="*/ 849 h 868"/>
                <a:gd name="T36" fmla="*/ 562 w 1127"/>
                <a:gd name="T37" fmla="*/ 708 h 868"/>
                <a:gd name="T38" fmla="*/ 426 w 1127"/>
                <a:gd name="T39" fmla="*/ 507 h 868"/>
                <a:gd name="T40" fmla="*/ 348 w 1127"/>
                <a:gd name="T41" fmla="*/ 516 h 868"/>
                <a:gd name="T42" fmla="*/ 317 w 1127"/>
                <a:gd name="T43" fmla="*/ 527 h 868"/>
                <a:gd name="T44" fmla="*/ 258 w 1127"/>
                <a:gd name="T45" fmla="*/ 530 h 868"/>
                <a:gd name="T46" fmla="*/ 211 w 1127"/>
                <a:gd name="T47" fmla="*/ 528 h 868"/>
                <a:gd name="T48" fmla="*/ 95 w 1127"/>
                <a:gd name="T49" fmla="*/ 495 h 868"/>
                <a:gd name="T50" fmla="*/ 76 w 1127"/>
                <a:gd name="T51" fmla="*/ 468 h 868"/>
                <a:gd name="T52" fmla="*/ 56 w 1127"/>
                <a:gd name="T53" fmla="*/ 452 h 868"/>
                <a:gd name="T54" fmla="*/ 5 w 1127"/>
                <a:gd name="T55" fmla="*/ 390 h 868"/>
                <a:gd name="T56" fmla="*/ 0 w 1127"/>
                <a:gd name="T57" fmla="*/ 338 h 868"/>
                <a:gd name="T58" fmla="*/ 178 w 1127"/>
                <a:gd name="T59" fmla="*/ 34 h 868"/>
                <a:gd name="T60" fmla="*/ 895 w 1127"/>
                <a:gd name="T61" fmla="*/ 0 h 868"/>
                <a:gd name="T62" fmla="*/ 1111 w 1127"/>
                <a:gd name="T63" fmla="*/ 542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7" h="868">
                  <a:moveTo>
                    <a:pt x="1111" y="542"/>
                  </a:moveTo>
                  <a:cubicBezTo>
                    <a:pt x="1111" y="542"/>
                    <a:pt x="1118" y="562"/>
                    <a:pt x="1103" y="571"/>
                  </a:cubicBezTo>
                  <a:cubicBezTo>
                    <a:pt x="1101" y="572"/>
                    <a:pt x="1127" y="590"/>
                    <a:pt x="1098" y="613"/>
                  </a:cubicBezTo>
                  <a:cubicBezTo>
                    <a:pt x="1095" y="616"/>
                    <a:pt x="1120" y="637"/>
                    <a:pt x="1081" y="656"/>
                  </a:cubicBezTo>
                  <a:cubicBezTo>
                    <a:pt x="1081" y="656"/>
                    <a:pt x="1091" y="684"/>
                    <a:pt x="1060" y="694"/>
                  </a:cubicBezTo>
                  <a:cubicBezTo>
                    <a:pt x="1060" y="694"/>
                    <a:pt x="1072" y="712"/>
                    <a:pt x="1054" y="721"/>
                  </a:cubicBezTo>
                  <a:cubicBezTo>
                    <a:pt x="1048" y="723"/>
                    <a:pt x="1068" y="742"/>
                    <a:pt x="1021" y="751"/>
                  </a:cubicBezTo>
                  <a:cubicBezTo>
                    <a:pt x="1021" y="751"/>
                    <a:pt x="1013" y="757"/>
                    <a:pt x="1013" y="765"/>
                  </a:cubicBezTo>
                  <a:cubicBezTo>
                    <a:pt x="1013" y="773"/>
                    <a:pt x="1006" y="790"/>
                    <a:pt x="980" y="784"/>
                  </a:cubicBezTo>
                  <a:cubicBezTo>
                    <a:pt x="980" y="784"/>
                    <a:pt x="971" y="812"/>
                    <a:pt x="934" y="805"/>
                  </a:cubicBezTo>
                  <a:cubicBezTo>
                    <a:pt x="928" y="803"/>
                    <a:pt x="930" y="819"/>
                    <a:pt x="902" y="812"/>
                  </a:cubicBezTo>
                  <a:cubicBezTo>
                    <a:pt x="902" y="812"/>
                    <a:pt x="889" y="832"/>
                    <a:pt x="864" y="820"/>
                  </a:cubicBezTo>
                  <a:cubicBezTo>
                    <a:pt x="864" y="820"/>
                    <a:pt x="848" y="831"/>
                    <a:pt x="836" y="820"/>
                  </a:cubicBezTo>
                  <a:cubicBezTo>
                    <a:pt x="836" y="820"/>
                    <a:pt x="819" y="835"/>
                    <a:pt x="799" y="821"/>
                  </a:cubicBezTo>
                  <a:cubicBezTo>
                    <a:pt x="799" y="821"/>
                    <a:pt x="779" y="830"/>
                    <a:pt x="765" y="816"/>
                  </a:cubicBezTo>
                  <a:cubicBezTo>
                    <a:pt x="765" y="816"/>
                    <a:pt x="744" y="826"/>
                    <a:pt x="723" y="814"/>
                  </a:cubicBezTo>
                  <a:cubicBezTo>
                    <a:pt x="723" y="814"/>
                    <a:pt x="703" y="844"/>
                    <a:pt x="655" y="856"/>
                  </a:cubicBezTo>
                  <a:cubicBezTo>
                    <a:pt x="606" y="868"/>
                    <a:pt x="620" y="856"/>
                    <a:pt x="620" y="849"/>
                  </a:cubicBezTo>
                  <a:cubicBezTo>
                    <a:pt x="620" y="841"/>
                    <a:pt x="572" y="735"/>
                    <a:pt x="562" y="708"/>
                  </a:cubicBezTo>
                  <a:cubicBezTo>
                    <a:pt x="552" y="682"/>
                    <a:pt x="518" y="495"/>
                    <a:pt x="426" y="507"/>
                  </a:cubicBezTo>
                  <a:cubicBezTo>
                    <a:pt x="372" y="514"/>
                    <a:pt x="348" y="516"/>
                    <a:pt x="348" y="516"/>
                  </a:cubicBezTo>
                  <a:cubicBezTo>
                    <a:pt x="348" y="516"/>
                    <a:pt x="328" y="523"/>
                    <a:pt x="317" y="527"/>
                  </a:cubicBezTo>
                  <a:cubicBezTo>
                    <a:pt x="306" y="531"/>
                    <a:pt x="276" y="536"/>
                    <a:pt x="258" y="530"/>
                  </a:cubicBezTo>
                  <a:cubicBezTo>
                    <a:pt x="240" y="525"/>
                    <a:pt x="224" y="527"/>
                    <a:pt x="211" y="528"/>
                  </a:cubicBezTo>
                  <a:cubicBezTo>
                    <a:pt x="198" y="530"/>
                    <a:pt x="149" y="536"/>
                    <a:pt x="95" y="495"/>
                  </a:cubicBezTo>
                  <a:cubicBezTo>
                    <a:pt x="73" y="478"/>
                    <a:pt x="79" y="473"/>
                    <a:pt x="76" y="468"/>
                  </a:cubicBezTo>
                  <a:cubicBezTo>
                    <a:pt x="76" y="468"/>
                    <a:pt x="77" y="462"/>
                    <a:pt x="56" y="452"/>
                  </a:cubicBezTo>
                  <a:cubicBezTo>
                    <a:pt x="35" y="443"/>
                    <a:pt x="6" y="423"/>
                    <a:pt x="5" y="390"/>
                  </a:cubicBezTo>
                  <a:cubicBezTo>
                    <a:pt x="5" y="357"/>
                    <a:pt x="0" y="338"/>
                    <a:pt x="0" y="338"/>
                  </a:cubicBezTo>
                  <a:cubicBezTo>
                    <a:pt x="178" y="34"/>
                    <a:pt x="178" y="34"/>
                    <a:pt x="178" y="34"/>
                  </a:cubicBezTo>
                  <a:cubicBezTo>
                    <a:pt x="895" y="0"/>
                    <a:pt x="895" y="0"/>
                    <a:pt x="895" y="0"/>
                  </a:cubicBezTo>
                  <a:lnTo>
                    <a:pt x="1111" y="542"/>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23" name="Freeform 360">
              <a:extLst>
                <a:ext uri="{FF2B5EF4-FFF2-40B4-BE49-F238E27FC236}">
                  <a16:creationId xmlns:a16="http://schemas.microsoft.com/office/drawing/2014/main" id="{ADFFB701-3F75-4D18-9C6F-6F1FC7A1BD79}"/>
                </a:ext>
              </a:extLst>
            </p:cNvPr>
            <p:cNvSpPr>
              <a:spLocks/>
            </p:cNvSpPr>
            <p:nvPr/>
          </p:nvSpPr>
          <p:spPr bwMode="auto">
            <a:xfrm>
              <a:off x="1838252" y="3750003"/>
              <a:ext cx="101131" cy="19908"/>
            </a:xfrm>
            <a:custGeom>
              <a:avLst/>
              <a:gdLst>
                <a:gd name="T0" fmla="*/ 134 w 134"/>
                <a:gd name="T1" fmla="*/ 0 h 27"/>
                <a:gd name="T2" fmla="*/ 0 w 134"/>
                <a:gd name="T3" fmla="*/ 17 h 27"/>
              </a:gdLst>
              <a:ahLst/>
              <a:cxnLst>
                <a:cxn ang="0">
                  <a:pos x="T0" y="T1"/>
                </a:cxn>
                <a:cxn ang="0">
                  <a:pos x="T2" y="T3"/>
                </a:cxn>
              </a:cxnLst>
              <a:rect l="0" t="0" r="r" b="b"/>
              <a:pathLst>
                <a:path w="134" h="27">
                  <a:moveTo>
                    <a:pt x="134" y="0"/>
                  </a:moveTo>
                  <a:cubicBezTo>
                    <a:pt x="134" y="0"/>
                    <a:pt x="125" y="27"/>
                    <a:pt x="0" y="17"/>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25" name="Freeform 361">
              <a:extLst>
                <a:ext uri="{FF2B5EF4-FFF2-40B4-BE49-F238E27FC236}">
                  <a16:creationId xmlns:a16="http://schemas.microsoft.com/office/drawing/2014/main" id="{84378B8C-4A38-4352-B3C5-01F6164AA828}"/>
                </a:ext>
              </a:extLst>
            </p:cNvPr>
            <p:cNvSpPr>
              <a:spLocks/>
            </p:cNvSpPr>
            <p:nvPr/>
          </p:nvSpPr>
          <p:spPr bwMode="auto">
            <a:xfrm>
              <a:off x="1836659" y="3768318"/>
              <a:ext cx="99538" cy="23889"/>
            </a:xfrm>
            <a:custGeom>
              <a:avLst/>
              <a:gdLst>
                <a:gd name="T0" fmla="*/ 132 w 132"/>
                <a:gd name="T1" fmla="*/ 13 h 32"/>
                <a:gd name="T2" fmla="*/ 0 w 132"/>
                <a:gd name="T3" fmla="*/ 0 h 32"/>
              </a:gdLst>
              <a:ahLst/>
              <a:cxnLst>
                <a:cxn ang="0">
                  <a:pos x="T0" y="T1"/>
                </a:cxn>
                <a:cxn ang="0">
                  <a:pos x="T2" y="T3"/>
                </a:cxn>
              </a:cxnLst>
              <a:rect l="0" t="0" r="r" b="b"/>
              <a:pathLst>
                <a:path w="132" h="32">
                  <a:moveTo>
                    <a:pt x="132" y="13"/>
                  </a:moveTo>
                  <a:cubicBezTo>
                    <a:pt x="132" y="13"/>
                    <a:pt x="70" y="32"/>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26" name="Freeform 362">
              <a:extLst>
                <a:ext uri="{FF2B5EF4-FFF2-40B4-BE49-F238E27FC236}">
                  <a16:creationId xmlns:a16="http://schemas.microsoft.com/office/drawing/2014/main" id="{1D1375DA-1BB1-4BE0-B511-1B878B2F8D8C}"/>
                </a:ext>
              </a:extLst>
            </p:cNvPr>
            <p:cNvSpPr>
              <a:spLocks/>
            </p:cNvSpPr>
            <p:nvPr/>
          </p:nvSpPr>
          <p:spPr bwMode="auto">
            <a:xfrm>
              <a:off x="1831881" y="3785837"/>
              <a:ext cx="100334" cy="41408"/>
            </a:xfrm>
            <a:custGeom>
              <a:avLst/>
              <a:gdLst>
                <a:gd name="T0" fmla="*/ 134 w 134"/>
                <a:gd name="T1" fmla="*/ 32 h 55"/>
                <a:gd name="T2" fmla="*/ 0 w 134"/>
                <a:gd name="T3" fmla="*/ 0 h 55"/>
              </a:gdLst>
              <a:ahLst/>
              <a:cxnLst>
                <a:cxn ang="0">
                  <a:pos x="T0" y="T1"/>
                </a:cxn>
                <a:cxn ang="0">
                  <a:pos x="T2" y="T3"/>
                </a:cxn>
              </a:cxnLst>
              <a:rect l="0" t="0" r="r" b="b"/>
              <a:pathLst>
                <a:path w="134" h="55">
                  <a:moveTo>
                    <a:pt x="134" y="32"/>
                  </a:moveTo>
                  <a:cubicBezTo>
                    <a:pt x="134" y="32"/>
                    <a:pt x="71" y="55"/>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27" name="Freeform 363">
              <a:extLst>
                <a:ext uri="{FF2B5EF4-FFF2-40B4-BE49-F238E27FC236}">
                  <a16:creationId xmlns:a16="http://schemas.microsoft.com/office/drawing/2014/main" id="{B5FC2866-1B17-4DE5-8F70-5D0CE0F3C738}"/>
                </a:ext>
              </a:extLst>
            </p:cNvPr>
            <p:cNvSpPr>
              <a:spLocks/>
            </p:cNvSpPr>
            <p:nvPr/>
          </p:nvSpPr>
          <p:spPr bwMode="auto">
            <a:xfrm>
              <a:off x="1827103" y="3807337"/>
              <a:ext cx="92371" cy="43000"/>
            </a:xfrm>
            <a:custGeom>
              <a:avLst/>
              <a:gdLst>
                <a:gd name="T0" fmla="*/ 123 w 123"/>
                <a:gd name="T1" fmla="*/ 46 h 57"/>
                <a:gd name="T2" fmla="*/ 0 w 123"/>
                <a:gd name="T3" fmla="*/ 0 h 57"/>
              </a:gdLst>
              <a:ahLst/>
              <a:cxnLst>
                <a:cxn ang="0">
                  <a:pos x="T0" y="T1"/>
                </a:cxn>
                <a:cxn ang="0">
                  <a:pos x="T2" y="T3"/>
                </a:cxn>
              </a:cxnLst>
              <a:rect l="0" t="0" r="r" b="b"/>
              <a:pathLst>
                <a:path w="123" h="57">
                  <a:moveTo>
                    <a:pt x="123" y="46"/>
                  </a:moveTo>
                  <a:cubicBezTo>
                    <a:pt x="123" y="46"/>
                    <a:pt x="75"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28" name="Freeform 364">
              <a:extLst>
                <a:ext uri="{FF2B5EF4-FFF2-40B4-BE49-F238E27FC236}">
                  <a16:creationId xmlns:a16="http://schemas.microsoft.com/office/drawing/2014/main" id="{5F0D5A9C-8A7D-48C5-B769-29EFB80FD8C8}"/>
                </a:ext>
              </a:extLst>
            </p:cNvPr>
            <p:cNvSpPr>
              <a:spLocks/>
            </p:cNvSpPr>
            <p:nvPr/>
          </p:nvSpPr>
          <p:spPr bwMode="auto">
            <a:xfrm>
              <a:off x="1806400" y="3828837"/>
              <a:ext cx="80427" cy="25482"/>
            </a:xfrm>
            <a:custGeom>
              <a:avLst/>
              <a:gdLst>
                <a:gd name="T0" fmla="*/ 0 w 106"/>
                <a:gd name="T1" fmla="*/ 0 h 34"/>
                <a:gd name="T2" fmla="*/ 106 w 106"/>
                <a:gd name="T3" fmla="*/ 13 h 34"/>
              </a:gdLst>
              <a:ahLst/>
              <a:cxnLst>
                <a:cxn ang="0">
                  <a:pos x="T0" y="T1"/>
                </a:cxn>
                <a:cxn ang="0">
                  <a:pos x="T2" y="T3"/>
                </a:cxn>
              </a:cxnLst>
              <a:rect l="0" t="0" r="r" b="b"/>
              <a:pathLst>
                <a:path w="106" h="34">
                  <a:moveTo>
                    <a:pt x="0" y="0"/>
                  </a:moveTo>
                  <a:cubicBezTo>
                    <a:pt x="66" y="34"/>
                    <a:pt x="106" y="13"/>
                    <a:pt x="106" y="13"/>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29" name="Freeform 365">
              <a:extLst>
                <a:ext uri="{FF2B5EF4-FFF2-40B4-BE49-F238E27FC236}">
                  <a16:creationId xmlns:a16="http://schemas.microsoft.com/office/drawing/2014/main" id="{5EE1E620-5D0C-48D0-BDE9-B0C57286EEA2}"/>
                </a:ext>
              </a:extLst>
            </p:cNvPr>
            <p:cNvSpPr>
              <a:spLocks/>
            </p:cNvSpPr>
            <p:nvPr/>
          </p:nvSpPr>
          <p:spPr bwMode="auto">
            <a:xfrm>
              <a:off x="1798437" y="3842374"/>
              <a:ext cx="105112" cy="43000"/>
            </a:xfrm>
            <a:custGeom>
              <a:avLst/>
              <a:gdLst>
                <a:gd name="T0" fmla="*/ 140 w 140"/>
                <a:gd name="T1" fmla="*/ 37 h 57"/>
                <a:gd name="T2" fmla="*/ 0 w 140"/>
                <a:gd name="T3" fmla="*/ 0 h 57"/>
              </a:gdLst>
              <a:ahLst/>
              <a:cxnLst>
                <a:cxn ang="0">
                  <a:pos x="T0" y="T1"/>
                </a:cxn>
                <a:cxn ang="0">
                  <a:pos x="T2" y="T3"/>
                </a:cxn>
              </a:cxnLst>
              <a:rect l="0" t="0" r="r" b="b"/>
              <a:pathLst>
                <a:path w="140" h="57">
                  <a:moveTo>
                    <a:pt x="140" y="37"/>
                  </a:moveTo>
                  <a:cubicBezTo>
                    <a:pt x="140" y="37"/>
                    <a:pt x="109"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0" name="Freeform 366">
              <a:extLst>
                <a:ext uri="{FF2B5EF4-FFF2-40B4-BE49-F238E27FC236}">
                  <a16:creationId xmlns:a16="http://schemas.microsoft.com/office/drawing/2014/main" id="{8B8EFF63-99F0-4C29-AF7B-ACC12E810491}"/>
                </a:ext>
              </a:extLst>
            </p:cNvPr>
            <p:cNvSpPr>
              <a:spLocks/>
            </p:cNvSpPr>
            <p:nvPr/>
          </p:nvSpPr>
          <p:spPr bwMode="auto">
            <a:xfrm>
              <a:off x="1814363" y="3864671"/>
              <a:ext cx="86001" cy="33445"/>
            </a:xfrm>
            <a:custGeom>
              <a:avLst/>
              <a:gdLst>
                <a:gd name="T0" fmla="*/ 114 w 114"/>
                <a:gd name="T1" fmla="*/ 33 h 44"/>
                <a:gd name="T2" fmla="*/ 0 w 114"/>
                <a:gd name="T3" fmla="*/ 0 h 44"/>
              </a:gdLst>
              <a:ahLst/>
              <a:cxnLst>
                <a:cxn ang="0">
                  <a:pos x="T0" y="T1"/>
                </a:cxn>
                <a:cxn ang="0">
                  <a:pos x="T2" y="T3"/>
                </a:cxn>
              </a:cxnLst>
              <a:rect l="0" t="0" r="r" b="b"/>
              <a:pathLst>
                <a:path w="114" h="44">
                  <a:moveTo>
                    <a:pt x="114" y="33"/>
                  </a:moveTo>
                  <a:cubicBezTo>
                    <a:pt x="114" y="33"/>
                    <a:pt x="65" y="44"/>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1" name="Freeform 367">
              <a:extLst>
                <a:ext uri="{FF2B5EF4-FFF2-40B4-BE49-F238E27FC236}">
                  <a16:creationId xmlns:a16="http://schemas.microsoft.com/office/drawing/2014/main" id="{2B8C6B9C-27DF-4CBF-96DB-C67DB1A6EA5F}"/>
                </a:ext>
              </a:extLst>
            </p:cNvPr>
            <p:cNvSpPr>
              <a:spLocks/>
            </p:cNvSpPr>
            <p:nvPr/>
          </p:nvSpPr>
          <p:spPr bwMode="auto">
            <a:xfrm>
              <a:off x="1800029" y="3867856"/>
              <a:ext cx="74056" cy="45389"/>
            </a:xfrm>
            <a:custGeom>
              <a:avLst/>
              <a:gdLst>
                <a:gd name="T0" fmla="*/ 99 w 99"/>
                <a:gd name="T1" fmla="*/ 60 h 60"/>
                <a:gd name="T2" fmla="*/ 0 w 99"/>
                <a:gd name="T3" fmla="*/ 0 h 60"/>
              </a:gdLst>
              <a:ahLst/>
              <a:cxnLst>
                <a:cxn ang="0">
                  <a:pos x="T0" y="T1"/>
                </a:cxn>
                <a:cxn ang="0">
                  <a:pos x="T2" y="T3"/>
                </a:cxn>
              </a:cxnLst>
              <a:rect l="0" t="0" r="r" b="b"/>
              <a:pathLst>
                <a:path w="99" h="60">
                  <a:moveTo>
                    <a:pt x="99" y="60"/>
                  </a:moveTo>
                  <a:cubicBezTo>
                    <a:pt x="99" y="60"/>
                    <a:pt x="34" y="42"/>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3" name="Freeform 368">
              <a:extLst>
                <a:ext uri="{FF2B5EF4-FFF2-40B4-BE49-F238E27FC236}">
                  <a16:creationId xmlns:a16="http://schemas.microsoft.com/office/drawing/2014/main" id="{63270F83-E91B-4E28-A4DB-DB2BDE4BECDB}"/>
                </a:ext>
              </a:extLst>
            </p:cNvPr>
            <p:cNvSpPr>
              <a:spLocks/>
            </p:cNvSpPr>
            <p:nvPr/>
          </p:nvSpPr>
          <p:spPr bwMode="auto">
            <a:xfrm>
              <a:off x="1792066" y="3873430"/>
              <a:ext cx="76445" cy="50167"/>
            </a:xfrm>
            <a:custGeom>
              <a:avLst/>
              <a:gdLst>
                <a:gd name="T0" fmla="*/ 101 w 101"/>
                <a:gd name="T1" fmla="*/ 67 h 67"/>
                <a:gd name="T2" fmla="*/ 0 w 101"/>
                <a:gd name="T3" fmla="*/ 0 h 67"/>
              </a:gdLst>
              <a:ahLst/>
              <a:cxnLst>
                <a:cxn ang="0">
                  <a:pos x="T0" y="T1"/>
                </a:cxn>
                <a:cxn ang="0">
                  <a:pos x="T2" y="T3"/>
                </a:cxn>
              </a:cxnLst>
              <a:rect l="0" t="0" r="r" b="b"/>
              <a:pathLst>
                <a:path w="101" h="67">
                  <a:moveTo>
                    <a:pt x="101" y="67"/>
                  </a:moveTo>
                  <a:cubicBezTo>
                    <a:pt x="101" y="67"/>
                    <a:pt x="26" y="36"/>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4" name="Freeform 369">
              <a:extLst>
                <a:ext uri="{FF2B5EF4-FFF2-40B4-BE49-F238E27FC236}">
                  <a16:creationId xmlns:a16="http://schemas.microsoft.com/office/drawing/2014/main" id="{81BB5D0E-F44E-4CD3-B3D1-0DC9BB4B5572}"/>
                </a:ext>
              </a:extLst>
            </p:cNvPr>
            <p:cNvSpPr>
              <a:spLocks/>
            </p:cNvSpPr>
            <p:nvPr/>
          </p:nvSpPr>
          <p:spPr bwMode="auto">
            <a:xfrm>
              <a:off x="1778529" y="3881393"/>
              <a:ext cx="65297" cy="56538"/>
            </a:xfrm>
            <a:custGeom>
              <a:avLst/>
              <a:gdLst>
                <a:gd name="T0" fmla="*/ 87 w 87"/>
                <a:gd name="T1" fmla="*/ 75 h 75"/>
                <a:gd name="T2" fmla="*/ 0 w 87"/>
                <a:gd name="T3" fmla="*/ 0 h 75"/>
              </a:gdLst>
              <a:ahLst/>
              <a:cxnLst>
                <a:cxn ang="0">
                  <a:pos x="T0" y="T1"/>
                </a:cxn>
                <a:cxn ang="0">
                  <a:pos x="T2" y="T3"/>
                </a:cxn>
              </a:cxnLst>
              <a:rect l="0" t="0" r="r" b="b"/>
              <a:pathLst>
                <a:path w="87" h="75">
                  <a:moveTo>
                    <a:pt x="87" y="75"/>
                  </a:moveTo>
                  <a:cubicBezTo>
                    <a:pt x="87" y="75"/>
                    <a:pt x="43" y="57"/>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8" name="Freeform 370">
              <a:extLst>
                <a:ext uri="{FF2B5EF4-FFF2-40B4-BE49-F238E27FC236}">
                  <a16:creationId xmlns:a16="http://schemas.microsoft.com/office/drawing/2014/main" id="{6F5156FF-F123-4899-AB22-F8338C04A297}"/>
                </a:ext>
              </a:extLst>
            </p:cNvPr>
            <p:cNvSpPr>
              <a:spLocks/>
            </p:cNvSpPr>
            <p:nvPr/>
          </p:nvSpPr>
          <p:spPr bwMode="auto">
            <a:xfrm>
              <a:off x="1753844" y="3893338"/>
              <a:ext cx="53353" cy="61316"/>
            </a:xfrm>
            <a:custGeom>
              <a:avLst/>
              <a:gdLst>
                <a:gd name="T0" fmla="*/ 71 w 71"/>
                <a:gd name="T1" fmla="*/ 81 h 81"/>
                <a:gd name="T2" fmla="*/ 0 w 71"/>
                <a:gd name="T3" fmla="*/ 0 h 81"/>
              </a:gdLst>
              <a:ahLst/>
              <a:cxnLst>
                <a:cxn ang="0">
                  <a:pos x="T0" y="T1"/>
                </a:cxn>
                <a:cxn ang="0">
                  <a:pos x="T2" y="T3"/>
                </a:cxn>
              </a:cxnLst>
              <a:rect l="0" t="0" r="r" b="b"/>
              <a:pathLst>
                <a:path w="71" h="81">
                  <a:moveTo>
                    <a:pt x="71" y="81"/>
                  </a:moveTo>
                  <a:cubicBezTo>
                    <a:pt x="71" y="81"/>
                    <a:pt x="20" y="40"/>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39" name="Freeform 371">
              <a:extLst>
                <a:ext uri="{FF2B5EF4-FFF2-40B4-BE49-F238E27FC236}">
                  <a16:creationId xmlns:a16="http://schemas.microsoft.com/office/drawing/2014/main" id="{835FE45D-2911-410E-8FDD-AAFC359059F4}"/>
                </a:ext>
              </a:extLst>
            </p:cNvPr>
            <p:cNvSpPr>
              <a:spLocks/>
            </p:cNvSpPr>
            <p:nvPr/>
          </p:nvSpPr>
          <p:spPr bwMode="auto">
            <a:xfrm>
              <a:off x="1750658" y="3904486"/>
              <a:ext cx="33445" cy="54149"/>
            </a:xfrm>
            <a:custGeom>
              <a:avLst/>
              <a:gdLst>
                <a:gd name="T0" fmla="*/ 45 w 45"/>
                <a:gd name="T1" fmla="*/ 73 h 73"/>
                <a:gd name="T2" fmla="*/ 0 w 45"/>
                <a:gd name="T3" fmla="*/ 0 h 73"/>
              </a:gdLst>
              <a:ahLst/>
              <a:cxnLst>
                <a:cxn ang="0">
                  <a:pos x="T0" y="T1"/>
                </a:cxn>
                <a:cxn ang="0">
                  <a:pos x="T2" y="T3"/>
                </a:cxn>
              </a:cxnLst>
              <a:rect l="0" t="0" r="r" b="b"/>
              <a:pathLst>
                <a:path w="45" h="73">
                  <a:moveTo>
                    <a:pt x="45" y="73"/>
                  </a:moveTo>
                  <a:cubicBezTo>
                    <a:pt x="45" y="73"/>
                    <a:pt x="13" y="33"/>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0" name="Freeform 372">
              <a:extLst>
                <a:ext uri="{FF2B5EF4-FFF2-40B4-BE49-F238E27FC236}">
                  <a16:creationId xmlns:a16="http://schemas.microsoft.com/office/drawing/2014/main" id="{C4053681-A072-455E-B361-C00BC26E3D92}"/>
                </a:ext>
              </a:extLst>
            </p:cNvPr>
            <p:cNvSpPr>
              <a:spLocks/>
            </p:cNvSpPr>
            <p:nvPr/>
          </p:nvSpPr>
          <p:spPr bwMode="auto">
            <a:xfrm>
              <a:off x="1756232" y="3916431"/>
              <a:ext cx="2389" cy="48575"/>
            </a:xfrm>
            <a:custGeom>
              <a:avLst/>
              <a:gdLst>
                <a:gd name="T0" fmla="*/ 0 w 3"/>
                <a:gd name="T1" fmla="*/ 65 h 65"/>
                <a:gd name="T2" fmla="*/ 0 w 3"/>
                <a:gd name="T3" fmla="*/ 0 h 65"/>
              </a:gdLst>
              <a:ahLst/>
              <a:cxnLst>
                <a:cxn ang="0">
                  <a:pos x="T0" y="T1"/>
                </a:cxn>
                <a:cxn ang="0">
                  <a:pos x="T2" y="T3"/>
                </a:cxn>
              </a:cxnLst>
              <a:rect l="0" t="0" r="r" b="b"/>
              <a:pathLst>
                <a:path w="3" h="65">
                  <a:moveTo>
                    <a:pt x="0" y="65"/>
                  </a:moveTo>
                  <a:cubicBezTo>
                    <a:pt x="0" y="65"/>
                    <a:pt x="3" y="14"/>
                    <a:pt x="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1" name="Freeform 373">
              <a:extLst>
                <a:ext uri="{FF2B5EF4-FFF2-40B4-BE49-F238E27FC236}">
                  <a16:creationId xmlns:a16="http://schemas.microsoft.com/office/drawing/2014/main" id="{D42291C9-616E-41D1-AF8A-008C618D85DB}"/>
                </a:ext>
              </a:extLst>
            </p:cNvPr>
            <p:cNvSpPr>
              <a:spLocks/>
            </p:cNvSpPr>
            <p:nvPr/>
          </p:nvSpPr>
          <p:spPr bwMode="auto">
            <a:xfrm>
              <a:off x="1735528" y="3904486"/>
              <a:ext cx="20704" cy="60519"/>
            </a:xfrm>
            <a:custGeom>
              <a:avLst/>
              <a:gdLst>
                <a:gd name="T0" fmla="*/ 0 w 28"/>
                <a:gd name="T1" fmla="*/ 80 h 80"/>
                <a:gd name="T2" fmla="*/ 7 w 28"/>
                <a:gd name="T3" fmla="*/ 0 h 80"/>
              </a:gdLst>
              <a:ahLst/>
              <a:cxnLst>
                <a:cxn ang="0">
                  <a:pos x="T0" y="T1"/>
                </a:cxn>
                <a:cxn ang="0">
                  <a:pos x="T2" y="T3"/>
                </a:cxn>
              </a:cxnLst>
              <a:rect l="0" t="0" r="r" b="b"/>
              <a:pathLst>
                <a:path w="28" h="80">
                  <a:moveTo>
                    <a:pt x="0" y="80"/>
                  </a:moveTo>
                  <a:cubicBezTo>
                    <a:pt x="0" y="80"/>
                    <a:pt x="28" y="49"/>
                    <a:pt x="7"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2" name="Freeform 374">
              <a:extLst>
                <a:ext uri="{FF2B5EF4-FFF2-40B4-BE49-F238E27FC236}">
                  <a16:creationId xmlns:a16="http://schemas.microsoft.com/office/drawing/2014/main" id="{AC47555E-3A65-462B-BB6C-0DA085546CAA}"/>
                </a:ext>
              </a:extLst>
            </p:cNvPr>
            <p:cNvSpPr>
              <a:spLocks/>
            </p:cNvSpPr>
            <p:nvPr/>
          </p:nvSpPr>
          <p:spPr bwMode="auto">
            <a:xfrm>
              <a:off x="1707658" y="3912449"/>
              <a:ext cx="32649" cy="53353"/>
            </a:xfrm>
            <a:custGeom>
              <a:avLst/>
              <a:gdLst>
                <a:gd name="T0" fmla="*/ 18 w 44"/>
                <a:gd name="T1" fmla="*/ 0 h 71"/>
                <a:gd name="T2" fmla="*/ 0 w 44"/>
                <a:gd name="T3" fmla="*/ 71 h 71"/>
              </a:gdLst>
              <a:ahLst/>
              <a:cxnLst>
                <a:cxn ang="0">
                  <a:pos x="T0" y="T1"/>
                </a:cxn>
                <a:cxn ang="0">
                  <a:pos x="T2" y="T3"/>
                </a:cxn>
              </a:cxnLst>
              <a:rect l="0" t="0" r="r" b="b"/>
              <a:pathLst>
                <a:path w="44" h="71">
                  <a:moveTo>
                    <a:pt x="18" y="0"/>
                  </a:moveTo>
                  <a:cubicBezTo>
                    <a:pt x="18" y="0"/>
                    <a:pt x="44" y="55"/>
                    <a:pt x="0" y="71"/>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3" name="Freeform 375">
              <a:extLst>
                <a:ext uri="{FF2B5EF4-FFF2-40B4-BE49-F238E27FC236}">
                  <a16:creationId xmlns:a16="http://schemas.microsoft.com/office/drawing/2014/main" id="{84EF3DF2-C3CE-43A8-A07B-F68512CCFFC5}"/>
                </a:ext>
              </a:extLst>
            </p:cNvPr>
            <p:cNvSpPr>
              <a:spLocks/>
            </p:cNvSpPr>
            <p:nvPr/>
          </p:nvSpPr>
          <p:spPr bwMode="auto">
            <a:xfrm>
              <a:off x="1682176" y="3914838"/>
              <a:ext cx="25482" cy="46982"/>
            </a:xfrm>
            <a:custGeom>
              <a:avLst/>
              <a:gdLst>
                <a:gd name="T0" fmla="*/ 23 w 34"/>
                <a:gd name="T1" fmla="*/ 0 h 63"/>
                <a:gd name="T2" fmla="*/ 0 w 34"/>
                <a:gd name="T3" fmla="*/ 63 h 63"/>
              </a:gdLst>
              <a:ahLst/>
              <a:cxnLst>
                <a:cxn ang="0">
                  <a:pos x="T0" y="T1"/>
                </a:cxn>
                <a:cxn ang="0">
                  <a:pos x="T2" y="T3"/>
                </a:cxn>
              </a:cxnLst>
              <a:rect l="0" t="0" r="r" b="b"/>
              <a:pathLst>
                <a:path w="34" h="63">
                  <a:moveTo>
                    <a:pt x="23" y="0"/>
                  </a:moveTo>
                  <a:cubicBezTo>
                    <a:pt x="23" y="0"/>
                    <a:pt x="34" y="47"/>
                    <a:pt x="0" y="63"/>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4" name="Freeform 376">
              <a:extLst>
                <a:ext uri="{FF2B5EF4-FFF2-40B4-BE49-F238E27FC236}">
                  <a16:creationId xmlns:a16="http://schemas.microsoft.com/office/drawing/2014/main" id="{4E18EA9C-CA9B-4619-8963-5E8007C693FD}"/>
                </a:ext>
              </a:extLst>
            </p:cNvPr>
            <p:cNvSpPr>
              <a:spLocks/>
            </p:cNvSpPr>
            <p:nvPr/>
          </p:nvSpPr>
          <p:spPr bwMode="auto">
            <a:xfrm>
              <a:off x="1650324" y="3901301"/>
              <a:ext cx="26278" cy="58926"/>
            </a:xfrm>
            <a:custGeom>
              <a:avLst/>
              <a:gdLst>
                <a:gd name="T0" fmla="*/ 0 w 35"/>
                <a:gd name="T1" fmla="*/ 79 h 79"/>
                <a:gd name="T2" fmla="*/ 24 w 35"/>
                <a:gd name="T3" fmla="*/ 0 h 79"/>
              </a:gdLst>
              <a:ahLst/>
              <a:cxnLst>
                <a:cxn ang="0">
                  <a:pos x="T0" y="T1"/>
                </a:cxn>
                <a:cxn ang="0">
                  <a:pos x="T2" y="T3"/>
                </a:cxn>
              </a:cxnLst>
              <a:rect l="0" t="0" r="r" b="b"/>
              <a:pathLst>
                <a:path w="35" h="79">
                  <a:moveTo>
                    <a:pt x="0" y="79"/>
                  </a:moveTo>
                  <a:cubicBezTo>
                    <a:pt x="0" y="79"/>
                    <a:pt x="35" y="65"/>
                    <a:pt x="24"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5" name="Freeform 377">
              <a:extLst>
                <a:ext uri="{FF2B5EF4-FFF2-40B4-BE49-F238E27FC236}">
                  <a16:creationId xmlns:a16="http://schemas.microsoft.com/office/drawing/2014/main" id="{75E343A4-0AF2-41B8-B3B1-C6067F244E02}"/>
                </a:ext>
              </a:extLst>
            </p:cNvPr>
            <p:cNvSpPr>
              <a:spLocks/>
            </p:cNvSpPr>
            <p:nvPr/>
          </p:nvSpPr>
          <p:spPr bwMode="auto">
            <a:xfrm>
              <a:off x="1596972" y="3938727"/>
              <a:ext cx="70075" cy="38223"/>
            </a:xfrm>
            <a:custGeom>
              <a:avLst/>
              <a:gdLst>
                <a:gd name="T0" fmla="*/ 0 w 93"/>
                <a:gd name="T1" fmla="*/ 51 h 51"/>
                <a:gd name="T2" fmla="*/ 93 w 93"/>
                <a:gd name="T3" fmla="*/ 0 h 51"/>
              </a:gdLst>
              <a:ahLst/>
              <a:cxnLst>
                <a:cxn ang="0">
                  <a:pos x="T0" y="T1"/>
                </a:cxn>
                <a:cxn ang="0">
                  <a:pos x="T2" y="T3"/>
                </a:cxn>
              </a:cxnLst>
              <a:rect l="0" t="0" r="r" b="b"/>
              <a:pathLst>
                <a:path w="93" h="51">
                  <a:moveTo>
                    <a:pt x="0" y="51"/>
                  </a:moveTo>
                  <a:cubicBezTo>
                    <a:pt x="0" y="51"/>
                    <a:pt x="67" y="35"/>
                    <a:pt x="93"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6" name="Freeform 378">
              <a:extLst>
                <a:ext uri="{FF2B5EF4-FFF2-40B4-BE49-F238E27FC236}">
                  <a16:creationId xmlns:a16="http://schemas.microsoft.com/office/drawing/2014/main" id="{82B55384-DD86-4F58-9EF1-57B6BBC1559B}"/>
                </a:ext>
              </a:extLst>
            </p:cNvPr>
            <p:cNvSpPr>
              <a:spLocks/>
            </p:cNvSpPr>
            <p:nvPr/>
          </p:nvSpPr>
          <p:spPr bwMode="auto">
            <a:xfrm>
              <a:off x="1596176" y="3914838"/>
              <a:ext cx="74852" cy="44593"/>
            </a:xfrm>
            <a:custGeom>
              <a:avLst/>
              <a:gdLst>
                <a:gd name="T0" fmla="*/ 0 w 99"/>
                <a:gd name="T1" fmla="*/ 56 h 60"/>
                <a:gd name="T2" fmla="*/ 99 w 99"/>
                <a:gd name="T3" fmla="*/ 0 h 60"/>
              </a:gdLst>
              <a:ahLst/>
              <a:cxnLst>
                <a:cxn ang="0">
                  <a:pos x="T0" y="T1"/>
                </a:cxn>
                <a:cxn ang="0">
                  <a:pos x="T2" y="T3"/>
                </a:cxn>
              </a:cxnLst>
              <a:rect l="0" t="0" r="r" b="b"/>
              <a:pathLst>
                <a:path w="99" h="60">
                  <a:moveTo>
                    <a:pt x="0" y="56"/>
                  </a:moveTo>
                  <a:cubicBezTo>
                    <a:pt x="0" y="56"/>
                    <a:pt x="51" y="60"/>
                    <a:pt x="99"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7" name="Freeform 379">
              <a:extLst>
                <a:ext uri="{FF2B5EF4-FFF2-40B4-BE49-F238E27FC236}">
                  <a16:creationId xmlns:a16="http://schemas.microsoft.com/office/drawing/2014/main" id="{BBB9A368-267D-422F-8598-8C1A1F978086}"/>
                </a:ext>
              </a:extLst>
            </p:cNvPr>
            <p:cNvSpPr>
              <a:spLocks/>
            </p:cNvSpPr>
            <p:nvPr/>
          </p:nvSpPr>
          <p:spPr bwMode="auto">
            <a:xfrm>
              <a:off x="1596176" y="3903690"/>
              <a:ext cx="52556" cy="39019"/>
            </a:xfrm>
            <a:custGeom>
              <a:avLst/>
              <a:gdLst>
                <a:gd name="T0" fmla="*/ 0 w 70"/>
                <a:gd name="T1" fmla="*/ 44 h 52"/>
                <a:gd name="T2" fmla="*/ 70 w 70"/>
                <a:gd name="T3" fmla="*/ 0 h 52"/>
              </a:gdLst>
              <a:ahLst/>
              <a:cxnLst>
                <a:cxn ang="0">
                  <a:pos x="T0" y="T1"/>
                </a:cxn>
                <a:cxn ang="0">
                  <a:pos x="T2" y="T3"/>
                </a:cxn>
              </a:cxnLst>
              <a:rect l="0" t="0" r="r" b="b"/>
              <a:pathLst>
                <a:path w="70" h="52">
                  <a:moveTo>
                    <a:pt x="0" y="44"/>
                  </a:moveTo>
                  <a:cubicBezTo>
                    <a:pt x="0" y="44"/>
                    <a:pt x="43" y="52"/>
                    <a:pt x="70"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8" name="Freeform 380">
              <a:extLst>
                <a:ext uri="{FF2B5EF4-FFF2-40B4-BE49-F238E27FC236}">
                  <a16:creationId xmlns:a16="http://schemas.microsoft.com/office/drawing/2014/main" id="{B65894C4-5BC4-42DC-8224-A2788D85B65B}"/>
                </a:ext>
              </a:extLst>
            </p:cNvPr>
            <p:cNvSpPr>
              <a:spLocks/>
            </p:cNvSpPr>
            <p:nvPr/>
          </p:nvSpPr>
          <p:spPr bwMode="auto">
            <a:xfrm>
              <a:off x="1594583" y="3894930"/>
              <a:ext cx="26278" cy="25482"/>
            </a:xfrm>
            <a:custGeom>
              <a:avLst/>
              <a:gdLst>
                <a:gd name="T0" fmla="*/ 0 w 35"/>
                <a:gd name="T1" fmla="*/ 34 h 34"/>
                <a:gd name="T2" fmla="*/ 35 w 35"/>
                <a:gd name="T3" fmla="*/ 0 h 34"/>
              </a:gdLst>
              <a:ahLst/>
              <a:cxnLst>
                <a:cxn ang="0">
                  <a:pos x="T0" y="T1"/>
                </a:cxn>
                <a:cxn ang="0">
                  <a:pos x="T2" y="T3"/>
                </a:cxn>
              </a:cxnLst>
              <a:rect l="0" t="0" r="r" b="b"/>
              <a:pathLst>
                <a:path w="35" h="34">
                  <a:moveTo>
                    <a:pt x="0" y="34"/>
                  </a:moveTo>
                  <a:cubicBezTo>
                    <a:pt x="0" y="34"/>
                    <a:pt x="24" y="34"/>
                    <a:pt x="35" y="0"/>
                  </a:cubicBezTo>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49" name="Line 381">
              <a:extLst>
                <a:ext uri="{FF2B5EF4-FFF2-40B4-BE49-F238E27FC236}">
                  <a16:creationId xmlns:a16="http://schemas.microsoft.com/office/drawing/2014/main" id="{A6B9B53E-4FC8-488C-BC89-568A4EA650CA}"/>
                </a:ext>
              </a:extLst>
            </p:cNvPr>
            <p:cNvSpPr>
              <a:spLocks noChangeShapeType="1"/>
            </p:cNvSpPr>
            <p:nvPr/>
          </p:nvSpPr>
          <p:spPr bwMode="auto">
            <a:xfrm>
              <a:off x="1800825" y="3842374"/>
              <a:ext cx="0" cy="0"/>
            </a:xfrm>
            <a:prstGeom prst="line">
              <a:avLst/>
            </a:prstGeom>
            <a:noFill/>
            <a:ln w="3175"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50" name="Freeform 382">
              <a:extLst>
                <a:ext uri="{FF2B5EF4-FFF2-40B4-BE49-F238E27FC236}">
                  <a16:creationId xmlns:a16="http://schemas.microsoft.com/office/drawing/2014/main" id="{A16BD2C7-CAD6-47E8-898F-04A64CB18DC0}"/>
                </a:ext>
              </a:extLst>
            </p:cNvPr>
            <p:cNvSpPr>
              <a:spLocks/>
            </p:cNvSpPr>
            <p:nvPr/>
          </p:nvSpPr>
          <p:spPr bwMode="auto">
            <a:xfrm>
              <a:off x="1186080" y="3355834"/>
              <a:ext cx="660931" cy="750117"/>
            </a:xfrm>
            <a:custGeom>
              <a:avLst/>
              <a:gdLst>
                <a:gd name="T0" fmla="*/ 480 w 879"/>
                <a:gd name="T1" fmla="*/ 525 h 997"/>
                <a:gd name="T2" fmla="*/ 418 w 879"/>
                <a:gd name="T3" fmla="*/ 315 h 997"/>
                <a:gd name="T4" fmla="*/ 451 w 879"/>
                <a:gd name="T5" fmla="*/ 218 h 997"/>
                <a:gd name="T6" fmla="*/ 558 w 879"/>
                <a:gd name="T7" fmla="*/ 210 h 997"/>
                <a:gd name="T8" fmla="*/ 425 w 879"/>
                <a:gd name="T9" fmla="*/ 5 h 997"/>
                <a:gd name="T10" fmla="*/ 19 w 879"/>
                <a:gd name="T11" fmla="*/ 35 h 997"/>
                <a:gd name="T12" fmla="*/ 102 w 879"/>
                <a:gd name="T13" fmla="*/ 209 h 997"/>
                <a:gd name="T14" fmla="*/ 111 w 879"/>
                <a:gd name="T15" fmla="*/ 326 h 997"/>
                <a:gd name="T16" fmla="*/ 210 w 879"/>
                <a:gd name="T17" fmla="*/ 305 h 997"/>
                <a:gd name="T18" fmla="*/ 364 w 879"/>
                <a:gd name="T19" fmla="*/ 379 h 997"/>
                <a:gd name="T20" fmla="*/ 514 w 879"/>
                <a:gd name="T21" fmla="*/ 997 h 997"/>
                <a:gd name="T22" fmla="*/ 534 w 879"/>
                <a:gd name="T23" fmla="*/ 803 h 997"/>
                <a:gd name="T24" fmla="*/ 584 w 879"/>
                <a:gd name="T25" fmla="*/ 729 h 997"/>
                <a:gd name="T26" fmla="*/ 597 w 879"/>
                <a:gd name="T27" fmla="*/ 739 h 997"/>
                <a:gd name="T28" fmla="*/ 640 w 879"/>
                <a:gd name="T29" fmla="*/ 739 h 997"/>
                <a:gd name="T30" fmla="*/ 636 w 879"/>
                <a:gd name="T31" fmla="*/ 700 h 997"/>
                <a:gd name="T32" fmla="*/ 623 w 879"/>
                <a:gd name="T33" fmla="*/ 640 h 997"/>
                <a:gd name="T34" fmla="*/ 647 w 879"/>
                <a:gd name="T35" fmla="*/ 702 h 997"/>
                <a:gd name="T36" fmla="*/ 657 w 879"/>
                <a:gd name="T37" fmla="*/ 756 h 997"/>
                <a:gd name="T38" fmla="*/ 701 w 879"/>
                <a:gd name="T39" fmla="*/ 767 h 997"/>
                <a:gd name="T40" fmla="*/ 730 w 879"/>
                <a:gd name="T41" fmla="*/ 754 h 997"/>
                <a:gd name="T42" fmla="*/ 757 w 879"/>
                <a:gd name="T43" fmla="*/ 734 h 997"/>
                <a:gd name="T44" fmla="*/ 743 w 879"/>
                <a:gd name="T45" fmla="*/ 695 h 997"/>
                <a:gd name="T46" fmla="*/ 720 w 879"/>
                <a:gd name="T47" fmla="*/ 667 h 997"/>
                <a:gd name="T48" fmla="*/ 695 w 879"/>
                <a:gd name="T49" fmla="*/ 616 h 997"/>
                <a:gd name="T50" fmla="*/ 759 w 879"/>
                <a:gd name="T51" fmla="*/ 678 h 997"/>
                <a:gd name="T52" fmla="*/ 766 w 879"/>
                <a:gd name="T53" fmla="*/ 716 h 997"/>
                <a:gd name="T54" fmla="*/ 802 w 879"/>
                <a:gd name="T55" fmla="*/ 702 h 997"/>
                <a:gd name="T56" fmla="*/ 827 w 879"/>
                <a:gd name="T57" fmla="*/ 668 h 997"/>
                <a:gd name="T58" fmla="*/ 825 w 879"/>
                <a:gd name="T59" fmla="*/ 636 h 997"/>
                <a:gd name="T60" fmla="*/ 823 w 879"/>
                <a:gd name="T61" fmla="*/ 627 h 997"/>
                <a:gd name="T62" fmla="*/ 852 w 879"/>
                <a:gd name="T63" fmla="*/ 609 h 997"/>
                <a:gd name="T64" fmla="*/ 863 w 879"/>
                <a:gd name="T65" fmla="*/ 577 h 997"/>
                <a:gd name="T66" fmla="*/ 865 w 879"/>
                <a:gd name="T67" fmla="*/ 546 h 997"/>
                <a:gd name="T68" fmla="*/ 866 w 879"/>
                <a:gd name="T69" fmla="*/ 521 h 997"/>
                <a:gd name="T70" fmla="*/ 840 w 879"/>
                <a:gd name="T71" fmla="*/ 494 h 997"/>
                <a:gd name="T72" fmla="*/ 828 w 879"/>
                <a:gd name="T73" fmla="*/ 462 h 997"/>
                <a:gd name="T74" fmla="*/ 804 w 879"/>
                <a:gd name="T75" fmla="*/ 441 h 997"/>
                <a:gd name="T76" fmla="*/ 780 w 879"/>
                <a:gd name="T77" fmla="*/ 423 h 997"/>
                <a:gd name="T78" fmla="*/ 780 w 879"/>
                <a:gd name="T79" fmla="*/ 398 h 997"/>
                <a:gd name="T80" fmla="*/ 759 w 879"/>
                <a:gd name="T81" fmla="*/ 368 h 997"/>
                <a:gd name="T82" fmla="*/ 722 w 879"/>
                <a:gd name="T83" fmla="*/ 346 h 997"/>
                <a:gd name="T84" fmla="*/ 687 w 879"/>
                <a:gd name="T85" fmla="*/ 333 h 997"/>
                <a:gd name="T86" fmla="*/ 665 w 879"/>
                <a:gd name="T87" fmla="*/ 323 h 997"/>
                <a:gd name="T88" fmla="*/ 625 w 879"/>
                <a:gd name="T89" fmla="*/ 317 h 997"/>
                <a:gd name="T90" fmla="*/ 598 w 879"/>
                <a:gd name="T91" fmla="*/ 354 h 997"/>
                <a:gd name="T92" fmla="*/ 563 w 879"/>
                <a:gd name="T93" fmla="*/ 360 h 997"/>
                <a:gd name="T94" fmla="*/ 512 w 879"/>
                <a:gd name="T95" fmla="*/ 387 h 997"/>
                <a:gd name="T96" fmla="*/ 536 w 879"/>
                <a:gd name="T97" fmla="*/ 432 h 997"/>
                <a:gd name="T98" fmla="*/ 531 w 879"/>
                <a:gd name="T99" fmla="*/ 447 h 997"/>
                <a:gd name="T100" fmla="*/ 496 w 879"/>
                <a:gd name="T101" fmla="*/ 449 h 997"/>
                <a:gd name="T102" fmla="*/ 503 w 879"/>
                <a:gd name="T103" fmla="*/ 486 h 997"/>
                <a:gd name="T104" fmla="*/ 519 w 879"/>
                <a:gd name="T105" fmla="*/ 497 h 997"/>
                <a:gd name="T106" fmla="*/ 522 w 879"/>
                <a:gd name="T107" fmla="*/ 541 h 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79" h="997">
                  <a:moveTo>
                    <a:pt x="521" y="552"/>
                  </a:moveTo>
                  <a:cubicBezTo>
                    <a:pt x="480" y="525"/>
                    <a:pt x="480" y="525"/>
                    <a:pt x="480" y="525"/>
                  </a:cubicBezTo>
                  <a:cubicBezTo>
                    <a:pt x="439" y="424"/>
                    <a:pt x="439" y="424"/>
                    <a:pt x="439" y="424"/>
                  </a:cubicBezTo>
                  <a:cubicBezTo>
                    <a:pt x="418" y="315"/>
                    <a:pt x="418" y="315"/>
                    <a:pt x="418" y="315"/>
                  </a:cubicBezTo>
                  <a:cubicBezTo>
                    <a:pt x="405" y="247"/>
                    <a:pt x="405" y="247"/>
                    <a:pt x="405" y="247"/>
                  </a:cubicBezTo>
                  <a:cubicBezTo>
                    <a:pt x="451" y="218"/>
                    <a:pt x="451" y="218"/>
                    <a:pt x="451" y="218"/>
                  </a:cubicBezTo>
                  <a:cubicBezTo>
                    <a:pt x="498" y="233"/>
                    <a:pt x="498" y="233"/>
                    <a:pt x="498" y="233"/>
                  </a:cubicBezTo>
                  <a:cubicBezTo>
                    <a:pt x="558" y="210"/>
                    <a:pt x="558" y="210"/>
                    <a:pt x="558" y="210"/>
                  </a:cubicBezTo>
                  <a:cubicBezTo>
                    <a:pt x="516" y="106"/>
                    <a:pt x="516" y="106"/>
                    <a:pt x="516" y="106"/>
                  </a:cubicBezTo>
                  <a:cubicBezTo>
                    <a:pt x="425" y="5"/>
                    <a:pt x="425" y="5"/>
                    <a:pt x="425" y="5"/>
                  </a:cubicBezTo>
                  <a:cubicBezTo>
                    <a:pt x="167" y="0"/>
                    <a:pt x="167" y="0"/>
                    <a:pt x="167" y="0"/>
                  </a:cubicBezTo>
                  <a:cubicBezTo>
                    <a:pt x="19" y="35"/>
                    <a:pt x="19" y="35"/>
                    <a:pt x="19" y="35"/>
                  </a:cubicBezTo>
                  <a:cubicBezTo>
                    <a:pt x="0" y="127"/>
                    <a:pt x="0" y="127"/>
                    <a:pt x="0" y="127"/>
                  </a:cubicBezTo>
                  <a:cubicBezTo>
                    <a:pt x="102" y="209"/>
                    <a:pt x="102" y="209"/>
                    <a:pt x="102" y="209"/>
                  </a:cubicBezTo>
                  <a:cubicBezTo>
                    <a:pt x="85" y="316"/>
                    <a:pt x="85" y="316"/>
                    <a:pt x="85" y="316"/>
                  </a:cubicBezTo>
                  <a:cubicBezTo>
                    <a:pt x="111" y="326"/>
                    <a:pt x="111" y="326"/>
                    <a:pt x="111" y="326"/>
                  </a:cubicBezTo>
                  <a:cubicBezTo>
                    <a:pt x="118" y="360"/>
                    <a:pt x="118" y="360"/>
                    <a:pt x="118" y="360"/>
                  </a:cubicBezTo>
                  <a:cubicBezTo>
                    <a:pt x="210" y="305"/>
                    <a:pt x="210" y="305"/>
                    <a:pt x="210" y="305"/>
                  </a:cubicBezTo>
                  <a:cubicBezTo>
                    <a:pt x="314" y="302"/>
                    <a:pt x="314" y="302"/>
                    <a:pt x="314" y="302"/>
                  </a:cubicBezTo>
                  <a:cubicBezTo>
                    <a:pt x="364" y="379"/>
                    <a:pt x="364" y="379"/>
                    <a:pt x="364" y="379"/>
                  </a:cubicBezTo>
                  <a:cubicBezTo>
                    <a:pt x="430" y="657"/>
                    <a:pt x="430" y="657"/>
                    <a:pt x="430" y="657"/>
                  </a:cubicBezTo>
                  <a:cubicBezTo>
                    <a:pt x="514" y="997"/>
                    <a:pt x="514" y="997"/>
                    <a:pt x="514" y="997"/>
                  </a:cubicBezTo>
                  <a:cubicBezTo>
                    <a:pt x="563" y="981"/>
                    <a:pt x="563" y="981"/>
                    <a:pt x="563" y="981"/>
                  </a:cubicBezTo>
                  <a:cubicBezTo>
                    <a:pt x="534" y="803"/>
                    <a:pt x="534" y="803"/>
                    <a:pt x="534" y="803"/>
                  </a:cubicBezTo>
                  <a:cubicBezTo>
                    <a:pt x="551" y="714"/>
                    <a:pt x="551" y="714"/>
                    <a:pt x="551" y="714"/>
                  </a:cubicBezTo>
                  <a:cubicBezTo>
                    <a:pt x="551" y="714"/>
                    <a:pt x="561" y="747"/>
                    <a:pt x="584" y="729"/>
                  </a:cubicBezTo>
                  <a:cubicBezTo>
                    <a:pt x="593" y="722"/>
                    <a:pt x="588" y="701"/>
                    <a:pt x="588" y="701"/>
                  </a:cubicBezTo>
                  <a:cubicBezTo>
                    <a:pt x="588" y="701"/>
                    <a:pt x="586" y="734"/>
                    <a:pt x="597" y="739"/>
                  </a:cubicBezTo>
                  <a:cubicBezTo>
                    <a:pt x="608" y="745"/>
                    <a:pt x="615" y="740"/>
                    <a:pt x="615" y="731"/>
                  </a:cubicBezTo>
                  <a:cubicBezTo>
                    <a:pt x="615" y="731"/>
                    <a:pt x="617" y="751"/>
                    <a:pt x="640" y="739"/>
                  </a:cubicBezTo>
                  <a:cubicBezTo>
                    <a:pt x="656" y="730"/>
                    <a:pt x="643" y="718"/>
                    <a:pt x="638" y="713"/>
                  </a:cubicBezTo>
                  <a:cubicBezTo>
                    <a:pt x="633" y="709"/>
                    <a:pt x="636" y="706"/>
                    <a:pt x="636" y="700"/>
                  </a:cubicBezTo>
                  <a:cubicBezTo>
                    <a:pt x="636" y="693"/>
                    <a:pt x="636" y="682"/>
                    <a:pt x="630" y="677"/>
                  </a:cubicBezTo>
                  <a:cubicBezTo>
                    <a:pt x="624" y="671"/>
                    <a:pt x="631" y="656"/>
                    <a:pt x="623" y="640"/>
                  </a:cubicBezTo>
                  <a:cubicBezTo>
                    <a:pt x="623" y="640"/>
                    <a:pt x="626" y="661"/>
                    <a:pt x="638" y="666"/>
                  </a:cubicBezTo>
                  <a:cubicBezTo>
                    <a:pt x="638" y="666"/>
                    <a:pt x="633" y="686"/>
                    <a:pt x="647" y="702"/>
                  </a:cubicBezTo>
                  <a:cubicBezTo>
                    <a:pt x="647" y="702"/>
                    <a:pt x="643" y="725"/>
                    <a:pt x="659" y="725"/>
                  </a:cubicBezTo>
                  <a:cubicBezTo>
                    <a:pt x="659" y="725"/>
                    <a:pt x="639" y="747"/>
                    <a:pt x="657" y="756"/>
                  </a:cubicBezTo>
                  <a:cubicBezTo>
                    <a:pt x="657" y="756"/>
                    <a:pt x="666" y="766"/>
                    <a:pt x="682" y="753"/>
                  </a:cubicBezTo>
                  <a:cubicBezTo>
                    <a:pt x="682" y="753"/>
                    <a:pt x="683" y="771"/>
                    <a:pt x="701" y="767"/>
                  </a:cubicBezTo>
                  <a:cubicBezTo>
                    <a:pt x="713" y="765"/>
                    <a:pt x="716" y="756"/>
                    <a:pt x="713" y="746"/>
                  </a:cubicBezTo>
                  <a:cubicBezTo>
                    <a:pt x="713" y="746"/>
                    <a:pt x="716" y="760"/>
                    <a:pt x="730" y="754"/>
                  </a:cubicBezTo>
                  <a:cubicBezTo>
                    <a:pt x="744" y="748"/>
                    <a:pt x="742" y="740"/>
                    <a:pt x="738" y="733"/>
                  </a:cubicBezTo>
                  <a:cubicBezTo>
                    <a:pt x="738" y="733"/>
                    <a:pt x="744" y="741"/>
                    <a:pt x="757" y="734"/>
                  </a:cubicBezTo>
                  <a:cubicBezTo>
                    <a:pt x="767" y="730"/>
                    <a:pt x="755" y="712"/>
                    <a:pt x="750" y="709"/>
                  </a:cubicBezTo>
                  <a:cubicBezTo>
                    <a:pt x="746" y="706"/>
                    <a:pt x="743" y="708"/>
                    <a:pt x="743" y="695"/>
                  </a:cubicBezTo>
                  <a:cubicBezTo>
                    <a:pt x="743" y="683"/>
                    <a:pt x="737" y="678"/>
                    <a:pt x="729" y="678"/>
                  </a:cubicBezTo>
                  <a:cubicBezTo>
                    <a:pt x="720" y="677"/>
                    <a:pt x="720" y="680"/>
                    <a:pt x="720" y="667"/>
                  </a:cubicBezTo>
                  <a:cubicBezTo>
                    <a:pt x="719" y="654"/>
                    <a:pt x="716" y="657"/>
                    <a:pt x="709" y="652"/>
                  </a:cubicBezTo>
                  <a:cubicBezTo>
                    <a:pt x="702" y="647"/>
                    <a:pt x="693" y="635"/>
                    <a:pt x="695" y="616"/>
                  </a:cubicBezTo>
                  <a:cubicBezTo>
                    <a:pt x="695" y="616"/>
                    <a:pt x="694" y="650"/>
                    <a:pt x="729" y="650"/>
                  </a:cubicBezTo>
                  <a:cubicBezTo>
                    <a:pt x="732" y="650"/>
                    <a:pt x="712" y="677"/>
                    <a:pt x="759" y="678"/>
                  </a:cubicBezTo>
                  <a:cubicBezTo>
                    <a:pt x="759" y="678"/>
                    <a:pt x="749" y="694"/>
                    <a:pt x="759" y="703"/>
                  </a:cubicBezTo>
                  <a:cubicBezTo>
                    <a:pt x="768" y="712"/>
                    <a:pt x="764" y="712"/>
                    <a:pt x="766" y="716"/>
                  </a:cubicBezTo>
                  <a:cubicBezTo>
                    <a:pt x="768" y="720"/>
                    <a:pt x="785" y="724"/>
                    <a:pt x="788" y="712"/>
                  </a:cubicBezTo>
                  <a:cubicBezTo>
                    <a:pt x="791" y="701"/>
                    <a:pt x="788" y="703"/>
                    <a:pt x="802" y="702"/>
                  </a:cubicBezTo>
                  <a:cubicBezTo>
                    <a:pt x="815" y="701"/>
                    <a:pt x="812" y="690"/>
                    <a:pt x="812" y="691"/>
                  </a:cubicBezTo>
                  <a:cubicBezTo>
                    <a:pt x="812" y="691"/>
                    <a:pt x="845" y="689"/>
                    <a:pt x="827" y="668"/>
                  </a:cubicBezTo>
                  <a:cubicBezTo>
                    <a:pt x="808" y="647"/>
                    <a:pt x="832" y="659"/>
                    <a:pt x="834" y="657"/>
                  </a:cubicBezTo>
                  <a:cubicBezTo>
                    <a:pt x="836" y="656"/>
                    <a:pt x="848" y="633"/>
                    <a:pt x="825" y="636"/>
                  </a:cubicBezTo>
                  <a:cubicBezTo>
                    <a:pt x="819" y="632"/>
                    <a:pt x="819" y="632"/>
                    <a:pt x="819" y="632"/>
                  </a:cubicBezTo>
                  <a:cubicBezTo>
                    <a:pt x="823" y="627"/>
                    <a:pt x="823" y="627"/>
                    <a:pt x="823" y="627"/>
                  </a:cubicBezTo>
                  <a:cubicBezTo>
                    <a:pt x="823" y="627"/>
                    <a:pt x="835" y="645"/>
                    <a:pt x="852" y="622"/>
                  </a:cubicBezTo>
                  <a:cubicBezTo>
                    <a:pt x="858" y="614"/>
                    <a:pt x="852" y="609"/>
                    <a:pt x="852" y="609"/>
                  </a:cubicBezTo>
                  <a:cubicBezTo>
                    <a:pt x="852" y="609"/>
                    <a:pt x="853" y="610"/>
                    <a:pt x="864" y="604"/>
                  </a:cubicBezTo>
                  <a:cubicBezTo>
                    <a:pt x="875" y="597"/>
                    <a:pt x="869" y="580"/>
                    <a:pt x="863" y="577"/>
                  </a:cubicBezTo>
                  <a:cubicBezTo>
                    <a:pt x="857" y="574"/>
                    <a:pt x="868" y="571"/>
                    <a:pt x="869" y="570"/>
                  </a:cubicBezTo>
                  <a:cubicBezTo>
                    <a:pt x="871" y="569"/>
                    <a:pt x="879" y="559"/>
                    <a:pt x="865" y="546"/>
                  </a:cubicBezTo>
                  <a:cubicBezTo>
                    <a:pt x="865" y="546"/>
                    <a:pt x="872" y="541"/>
                    <a:pt x="872" y="533"/>
                  </a:cubicBezTo>
                  <a:cubicBezTo>
                    <a:pt x="872" y="524"/>
                    <a:pt x="869" y="523"/>
                    <a:pt x="866" y="521"/>
                  </a:cubicBezTo>
                  <a:cubicBezTo>
                    <a:pt x="862" y="520"/>
                    <a:pt x="857" y="514"/>
                    <a:pt x="858" y="508"/>
                  </a:cubicBezTo>
                  <a:cubicBezTo>
                    <a:pt x="859" y="502"/>
                    <a:pt x="849" y="491"/>
                    <a:pt x="840" y="494"/>
                  </a:cubicBezTo>
                  <a:cubicBezTo>
                    <a:pt x="831" y="496"/>
                    <a:pt x="857" y="479"/>
                    <a:pt x="839" y="468"/>
                  </a:cubicBezTo>
                  <a:cubicBezTo>
                    <a:pt x="820" y="457"/>
                    <a:pt x="832" y="464"/>
                    <a:pt x="828" y="462"/>
                  </a:cubicBezTo>
                  <a:cubicBezTo>
                    <a:pt x="823" y="460"/>
                    <a:pt x="818" y="461"/>
                    <a:pt x="818" y="461"/>
                  </a:cubicBezTo>
                  <a:cubicBezTo>
                    <a:pt x="818" y="461"/>
                    <a:pt x="823" y="444"/>
                    <a:pt x="804" y="441"/>
                  </a:cubicBezTo>
                  <a:cubicBezTo>
                    <a:pt x="786" y="438"/>
                    <a:pt x="787" y="442"/>
                    <a:pt x="784" y="442"/>
                  </a:cubicBezTo>
                  <a:cubicBezTo>
                    <a:pt x="780" y="443"/>
                    <a:pt x="786" y="428"/>
                    <a:pt x="780" y="423"/>
                  </a:cubicBezTo>
                  <a:cubicBezTo>
                    <a:pt x="774" y="418"/>
                    <a:pt x="774" y="418"/>
                    <a:pt x="774" y="418"/>
                  </a:cubicBezTo>
                  <a:cubicBezTo>
                    <a:pt x="774" y="418"/>
                    <a:pt x="790" y="417"/>
                    <a:pt x="780" y="398"/>
                  </a:cubicBezTo>
                  <a:cubicBezTo>
                    <a:pt x="776" y="389"/>
                    <a:pt x="761" y="391"/>
                    <a:pt x="758" y="393"/>
                  </a:cubicBezTo>
                  <a:cubicBezTo>
                    <a:pt x="758" y="393"/>
                    <a:pt x="774" y="377"/>
                    <a:pt x="759" y="368"/>
                  </a:cubicBezTo>
                  <a:cubicBezTo>
                    <a:pt x="745" y="358"/>
                    <a:pt x="736" y="364"/>
                    <a:pt x="732" y="367"/>
                  </a:cubicBezTo>
                  <a:cubicBezTo>
                    <a:pt x="728" y="370"/>
                    <a:pt x="736" y="346"/>
                    <a:pt x="722" y="346"/>
                  </a:cubicBezTo>
                  <a:cubicBezTo>
                    <a:pt x="707" y="346"/>
                    <a:pt x="706" y="350"/>
                    <a:pt x="706" y="350"/>
                  </a:cubicBezTo>
                  <a:cubicBezTo>
                    <a:pt x="705" y="351"/>
                    <a:pt x="706" y="330"/>
                    <a:pt x="687" y="333"/>
                  </a:cubicBezTo>
                  <a:cubicBezTo>
                    <a:pt x="668" y="336"/>
                    <a:pt x="681" y="336"/>
                    <a:pt x="681" y="336"/>
                  </a:cubicBezTo>
                  <a:cubicBezTo>
                    <a:pt x="681" y="336"/>
                    <a:pt x="677" y="323"/>
                    <a:pt x="665" y="323"/>
                  </a:cubicBezTo>
                  <a:cubicBezTo>
                    <a:pt x="652" y="324"/>
                    <a:pt x="648" y="329"/>
                    <a:pt x="648" y="333"/>
                  </a:cubicBezTo>
                  <a:cubicBezTo>
                    <a:pt x="648" y="336"/>
                    <a:pt x="639" y="315"/>
                    <a:pt x="625" y="317"/>
                  </a:cubicBezTo>
                  <a:cubicBezTo>
                    <a:pt x="611" y="319"/>
                    <a:pt x="596" y="324"/>
                    <a:pt x="595" y="340"/>
                  </a:cubicBezTo>
                  <a:cubicBezTo>
                    <a:pt x="593" y="356"/>
                    <a:pt x="596" y="352"/>
                    <a:pt x="598" y="354"/>
                  </a:cubicBezTo>
                  <a:cubicBezTo>
                    <a:pt x="600" y="356"/>
                    <a:pt x="586" y="350"/>
                    <a:pt x="581" y="358"/>
                  </a:cubicBezTo>
                  <a:cubicBezTo>
                    <a:pt x="576" y="367"/>
                    <a:pt x="569" y="362"/>
                    <a:pt x="563" y="360"/>
                  </a:cubicBezTo>
                  <a:cubicBezTo>
                    <a:pt x="558" y="358"/>
                    <a:pt x="540" y="357"/>
                    <a:pt x="537" y="382"/>
                  </a:cubicBezTo>
                  <a:cubicBezTo>
                    <a:pt x="537" y="382"/>
                    <a:pt x="518" y="364"/>
                    <a:pt x="512" y="387"/>
                  </a:cubicBezTo>
                  <a:cubicBezTo>
                    <a:pt x="505" y="411"/>
                    <a:pt x="521" y="420"/>
                    <a:pt x="533" y="424"/>
                  </a:cubicBezTo>
                  <a:cubicBezTo>
                    <a:pt x="538" y="426"/>
                    <a:pt x="535" y="429"/>
                    <a:pt x="536" y="432"/>
                  </a:cubicBezTo>
                  <a:cubicBezTo>
                    <a:pt x="536" y="435"/>
                    <a:pt x="546" y="439"/>
                    <a:pt x="545" y="450"/>
                  </a:cubicBezTo>
                  <a:cubicBezTo>
                    <a:pt x="544" y="462"/>
                    <a:pt x="534" y="451"/>
                    <a:pt x="531" y="447"/>
                  </a:cubicBezTo>
                  <a:cubicBezTo>
                    <a:pt x="529" y="444"/>
                    <a:pt x="519" y="424"/>
                    <a:pt x="506" y="426"/>
                  </a:cubicBezTo>
                  <a:cubicBezTo>
                    <a:pt x="492" y="427"/>
                    <a:pt x="491" y="438"/>
                    <a:pt x="496" y="449"/>
                  </a:cubicBezTo>
                  <a:cubicBezTo>
                    <a:pt x="499" y="456"/>
                    <a:pt x="481" y="435"/>
                    <a:pt x="483" y="465"/>
                  </a:cubicBezTo>
                  <a:cubicBezTo>
                    <a:pt x="483" y="465"/>
                    <a:pt x="484" y="499"/>
                    <a:pt x="503" y="486"/>
                  </a:cubicBezTo>
                  <a:cubicBezTo>
                    <a:pt x="522" y="474"/>
                    <a:pt x="512" y="483"/>
                    <a:pt x="512" y="483"/>
                  </a:cubicBezTo>
                  <a:cubicBezTo>
                    <a:pt x="512" y="483"/>
                    <a:pt x="511" y="491"/>
                    <a:pt x="519" y="497"/>
                  </a:cubicBezTo>
                  <a:cubicBezTo>
                    <a:pt x="528" y="503"/>
                    <a:pt x="486" y="489"/>
                    <a:pt x="507" y="519"/>
                  </a:cubicBezTo>
                  <a:cubicBezTo>
                    <a:pt x="528" y="548"/>
                    <a:pt x="522" y="541"/>
                    <a:pt x="522" y="541"/>
                  </a:cubicBezTo>
                  <a:cubicBezTo>
                    <a:pt x="522" y="541"/>
                    <a:pt x="538" y="557"/>
                    <a:pt x="521" y="552"/>
                  </a:cubicBezTo>
                  <a:close/>
                </a:path>
              </a:pathLst>
            </a:custGeom>
            <a:solidFill>
              <a:schemeClr val="bg1">
                <a:lumMod val="8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1" name="Freeform 383">
              <a:extLst>
                <a:ext uri="{FF2B5EF4-FFF2-40B4-BE49-F238E27FC236}">
                  <a16:creationId xmlns:a16="http://schemas.microsoft.com/office/drawing/2014/main" id="{8FC26835-8C15-4C7C-9F0A-3931DBE7CEAB}"/>
                </a:ext>
              </a:extLst>
            </p:cNvPr>
            <p:cNvSpPr>
              <a:spLocks/>
            </p:cNvSpPr>
            <p:nvPr/>
          </p:nvSpPr>
          <p:spPr bwMode="auto">
            <a:xfrm>
              <a:off x="1721991" y="3646484"/>
              <a:ext cx="34241" cy="64501"/>
            </a:xfrm>
            <a:custGeom>
              <a:avLst/>
              <a:gdLst>
                <a:gd name="T0" fmla="*/ 26 w 46"/>
                <a:gd name="T1" fmla="*/ 0 h 86"/>
                <a:gd name="T2" fmla="*/ 13 w 46"/>
                <a:gd name="T3" fmla="*/ 18 h 86"/>
                <a:gd name="T4" fmla="*/ 22 w 46"/>
                <a:gd name="T5" fmla="*/ 32 h 86"/>
                <a:gd name="T6" fmla="*/ 8 w 46"/>
                <a:gd name="T7" fmla="*/ 56 h 86"/>
                <a:gd name="T8" fmla="*/ 8 w 46"/>
                <a:gd name="T9" fmla="*/ 74 h 86"/>
                <a:gd name="T10" fmla="*/ 2 w 46"/>
                <a:gd name="T11" fmla="*/ 86 h 86"/>
                <a:gd name="T12" fmla="*/ 22 w 46"/>
                <a:gd name="T13" fmla="*/ 71 h 86"/>
                <a:gd name="T14" fmla="*/ 23 w 46"/>
                <a:gd name="T15" fmla="*/ 54 h 86"/>
                <a:gd name="T16" fmla="*/ 37 w 46"/>
                <a:gd name="T17" fmla="*/ 50 h 86"/>
                <a:gd name="T18" fmla="*/ 33 w 46"/>
                <a:gd name="T19" fmla="*/ 38 h 86"/>
                <a:gd name="T20" fmla="*/ 42 w 46"/>
                <a:gd name="T21" fmla="*/ 29 h 86"/>
                <a:gd name="T22" fmla="*/ 26 w 46"/>
                <a:gd name="T23"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6" h="86">
                  <a:moveTo>
                    <a:pt x="26" y="0"/>
                  </a:moveTo>
                  <a:cubicBezTo>
                    <a:pt x="26" y="0"/>
                    <a:pt x="26" y="10"/>
                    <a:pt x="13" y="18"/>
                  </a:cubicBezTo>
                  <a:cubicBezTo>
                    <a:pt x="0" y="25"/>
                    <a:pt x="22" y="20"/>
                    <a:pt x="22" y="32"/>
                  </a:cubicBezTo>
                  <a:cubicBezTo>
                    <a:pt x="22" y="45"/>
                    <a:pt x="12" y="54"/>
                    <a:pt x="8" y="56"/>
                  </a:cubicBezTo>
                  <a:cubicBezTo>
                    <a:pt x="4" y="58"/>
                    <a:pt x="10" y="65"/>
                    <a:pt x="8" y="74"/>
                  </a:cubicBezTo>
                  <a:cubicBezTo>
                    <a:pt x="6" y="83"/>
                    <a:pt x="2" y="86"/>
                    <a:pt x="2" y="86"/>
                  </a:cubicBezTo>
                  <a:cubicBezTo>
                    <a:pt x="2" y="86"/>
                    <a:pt x="13" y="72"/>
                    <a:pt x="22" y="71"/>
                  </a:cubicBezTo>
                  <a:cubicBezTo>
                    <a:pt x="32" y="70"/>
                    <a:pt x="14" y="69"/>
                    <a:pt x="23" y="54"/>
                  </a:cubicBezTo>
                  <a:cubicBezTo>
                    <a:pt x="29" y="46"/>
                    <a:pt x="33" y="49"/>
                    <a:pt x="37" y="50"/>
                  </a:cubicBezTo>
                  <a:cubicBezTo>
                    <a:pt x="41" y="50"/>
                    <a:pt x="29" y="44"/>
                    <a:pt x="33" y="38"/>
                  </a:cubicBezTo>
                  <a:cubicBezTo>
                    <a:pt x="36" y="32"/>
                    <a:pt x="38" y="30"/>
                    <a:pt x="42" y="29"/>
                  </a:cubicBezTo>
                  <a:cubicBezTo>
                    <a:pt x="46" y="28"/>
                    <a:pt x="22" y="27"/>
                    <a:pt x="26" y="0"/>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2" name="Freeform 384">
              <a:extLst>
                <a:ext uri="{FF2B5EF4-FFF2-40B4-BE49-F238E27FC236}">
                  <a16:creationId xmlns:a16="http://schemas.microsoft.com/office/drawing/2014/main" id="{719F2B52-C453-42D9-9519-E5AD90CD3FAD}"/>
                </a:ext>
              </a:extLst>
            </p:cNvPr>
            <p:cNvSpPr>
              <a:spLocks/>
            </p:cNvSpPr>
            <p:nvPr/>
          </p:nvSpPr>
          <p:spPr bwMode="auto">
            <a:xfrm>
              <a:off x="1587416" y="3628169"/>
              <a:ext cx="240483" cy="276317"/>
            </a:xfrm>
            <a:custGeom>
              <a:avLst/>
              <a:gdLst>
                <a:gd name="T0" fmla="*/ 104 w 320"/>
                <a:gd name="T1" fmla="*/ 35 h 367"/>
                <a:gd name="T2" fmla="*/ 99 w 320"/>
                <a:gd name="T3" fmla="*/ 58 h 367"/>
                <a:gd name="T4" fmla="*/ 117 w 320"/>
                <a:gd name="T5" fmla="*/ 99 h 367"/>
                <a:gd name="T6" fmla="*/ 115 w 320"/>
                <a:gd name="T7" fmla="*/ 143 h 367"/>
                <a:gd name="T8" fmla="*/ 62 w 320"/>
                <a:gd name="T9" fmla="*/ 127 h 367"/>
                <a:gd name="T10" fmla="*/ 18 w 320"/>
                <a:gd name="T11" fmla="*/ 136 h 367"/>
                <a:gd name="T12" fmla="*/ 19 w 320"/>
                <a:gd name="T13" fmla="*/ 154 h 367"/>
                <a:gd name="T14" fmla="*/ 9 w 320"/>
                <a:gd name="T15" fmla="*/ 181 h 367"/>
                <a:gd name="T16" fmla="*/ 4 w 320"/>
                <a:gd name="T17" fmla="*/ 195 h 367"/>
                <a:gd name="T18" fmla="*/ 22 w 320"/>
                <a:gd name="T19" fmla="*/ 200 h 367"/>
                <a:gd name="T20" fmla="*/ 33 w 320"/>
                <a:gd name="T21" fmla="*/ 222 h 367"/>
                <a:gd name="T22" fmla="*/ 23 w 320"/>
                <a:gd name="T23" fmla="*/ 248 h 367"/>
                <a:gd name="T24" fmla="*/ 52 w 320"/>
                <a:gd name="T25" fmla="*/ 248 h 367"/>
                <a:gd name="T26" fmla="*/ 51 w 320"/>
                <a:gd name="T27" fmla="*/ 285 h 367"/>
                <a:gd name="T28" fmla="*/ 31 w 320"/>
                <a:gd name="T29" fmla="*/ 313 h 367"/>
                <a:gd name="T30" fmla="*/ 69 w 320"/>
                <a:gd name="T31" fmla="*/ 312 h 367"/>
                <a:gd name="T32" fmla="*/ 67 w 320"/>
                <a:gd name="T33" fmla="*/ 287 h 367"/>
                <a:gd name="T34" fmla="*/ 74 w 320"/>
                <a:gd name="T35" fmla="*/ 261 h 367"/>
                <a:gd name="T36" fmla="*/ 103 w 320"/>
                <a:gd name="T37" fmla="*/ 243 h 367"/>
                <a:gd name="T38" fmla="*/ 109 w 320"/>
                <a:gd name="T39" fmla="*/ 268 h 367"/>
                <a:gd name="T40" fmla="*/ 127 w 320"/>
                <a:gd name="T41" fmla="*/ 294 h 367"/>
                <a:gd name="T42" fmla="*/ 136 w 320"/>
                <a:gd name="T43" fmla="*/ 328 h 367"/>
                <a:gd name="T44" fmla="*/ 145 w 320"/>
                <a:gd name="T45" fmla="*/ 353 h 367"/>
                <a:gd name="T46" fmla="*/ 166 w 320"/>
                <a:gd name="T47" fmla="*/ 340 h 367"/>
                <a:gd name="T48" fmla="*/ 190 w 320"/>
                <a:gd name="T49" fmla="*/ 335 h 367"/>
                <a:gd name="T50" fmla="*/ 163 w 320"/>
                <a:gd name="T51" fmla="*/ 311 h 367"/>
                <a:gd name="T52" fmla="*/ 148 w 320"/>
                <a:gd name="T53" fmla="*/ 285 h 367"/>
                <a:gd name="T54" fmla="*/ 139 w 320"/>
                <a:gd name="T55" fmla="*/ 259 h 367"/>
                <a:gd name="T56" fmla="*/ 149 w 320"/>
                <a:gd name="T57" fmla="*/ 229 h 367"/>
                <a:gd name="T58" fmla="*/ 175 w 320"/>
                <a:gd name="T59" fmla="*/ 248 h 367"/>
                <a:gd name="T60" fmla="*/ 204 w 320"/>
                <a:gd name="T61" fmla="*/ 268 h 367"/>
                <a:gd name="T62" fmla="*/ 219 w 320"/>
                <a:gd name="T63" fmla="*/ 295 h 367"/>
                <a:gd name="T64" fmla="*/ 274 w 320"/>
                <a:gd name="T65" fmla="*/ 297 h 367"/>
                <a:gd name="T66" fmla="*/ 234 w 320"/>
                <a:gd name="T67" fmla="*/ 284 h 367"/>
                <a:gd name="T68" fmla="*/ 217 w 320"/>
                <a:gd name="T69" fmla="*/ 249 h 367"/>
                <a:gd name="T70" fmla="*/ 214 w 320"/>
                <a:gd name="T71" fmla="*/ 204 h 367"/>
                <a:gd name="T72" fmla="*/ 237 w 320"/>
                <a:gd name="T73" fmla="*/ 214 h 367"/>
                <a:gd name="T74" fmla="*/ 270 w 320"/>
                <a:gd name="T75" fmla="*/ 226 h 367"/>
                <a:gd name="T76" fmla="*/ 311 w 320"/>
                <a:gd name="T77" fmla="*/ 213 h 367"/>
                <a:gd name="T78" fmla="*/ 252 w 320"/>
                <a:gd name="T79" fmla="*/ 212 h 367"/>
                <a:gd name="T80" fmla="*/ 230 w 320"/>
                <a:gd name="T81" fmla="*/ 170 h 367"/>
                <a:gd name="T82" fmla="*/ 154 w 320"/>
                <a:gd name="T83" fmla="*/ 206 h 367"/>
                <a:gd name="T84" fmla="*/ 181 w 320"/>
                <a:gd name="T85" fmla="*/ 146 h 367"/>
                <a:gd name="T86" fmla="*/ 140 w 320"/>
                <a:gd name="T87" fmla="*/ 110 h 367"/>
                <a:gd name="T88" fmla="*/ 142 w 320"/>
                <a:gd name="T89" fmla="*/ 4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67">
                  <a:moveTo>
                    <a:pt x="136" y="0"/>
                  </a:moveTo>
                  <a:cubicBezTo>
                    <a:pt x="136" y="0"/>
                    <a:pt x="125" y="46"/>
                    <a:pt x="104" y="35"/>
                  </a:cubicBezTo>
                  <a:cubicBezTo>
                    <a:pt x="89" y="28"/>
                    <a:pt x="96" y="42"/>
                    <a:pt x="96" y="42"/>
                  </a:cubicBezTo>
                  <a:cubicBezTo>
                    <a:pt x="96" y="42"/>
                    <a:pt x="104" y="48"/>
                    <a:pt x="99" y="58"/>
                  </a:cubicBezTo>
                  <a:cubicBezTo>
                    <a:pt x="95" y="66"/>
                    <a:pt x="113" y="53"/>
                    <a:pt x="119" y="85"/>
                  </a:cubicBezTo>
                  <a:cubicBezTo>
                    <a:pt x="121" y="93"/>
                    <a:pt x="119" y="94"/>
                    <a:pt x="117" y="99"/>
                  </a:cubicBezTo>
                  <a:cubicBezTo>
                    <a:pt x="115" y="103"/>
                    <a:pt x="115" y="104"/>
                    <a:pt x="120" y="113"/>
                  </a:cubicBezTo>
                  <a:cubicBezTo>
                    <a:pt x="120" y="113"/>
                    <a:pt x="128" y="130"/>
                    <a:pt x="115" y="143"/>
                  </a:cubicBezTo>
                  <a:cubicBezTo>
                    <a:pt x="102" y="157"/>
                    <a:pt x="90" y="150"/>
                    <a:pt x="83" y="144"/>
                  </a:cubicBezTo>
                  <a:cubicBezTo>
                    <a:pt x="76" y="137"/>
                    <a:pt x="65" y="130"/>
                    <a:pt x="62" y="127"/>
                  </a:cubicBezTo>
                  <a:cubicBezTo>
                    <a:pt x="59" y="125"/>
                    <a:pt x="52" y="119"/>
                    <a:pt x="47" y="131"/>
                  </a:cubicBezTo>
                  <a:cubicBezTo>
                    <a:pt x="42" y="143"/>
                    <a:pt x="27" y="143"/>
                    <a:pt x="18" y="136"/>
                  </a:cubicBezTo>
                  <a:cubicBezTo>
                    <a:pt x="8" y="130"/>
                    <a:pt x="7" y="128"/>
                    <a:pt x="7" y="128"/>
                  </a:cubicBezTo>
                  <a:cubicBezTo>
                    <a:pt x="7" y="128"/>
                    <a:pt x="25" y="145"/>
                    <a:pt x="19" y="154"/>
                  </a:cubicBezTo>
                  <a:cubicBezTo>
                    <a:pt x="14" y="163"/>
                    <a:pt x="9" y="163"/>
                    <a:pt x="9" y="163"/>
                  </a:cubicBezTo>
                  <a:cubicBezTo>
                    <a:pt x="9" y="163"/>
                    <a:pt x="18" y="174"/>
                    <a:pt x="9" y="181"/>
                  </a:cubicBezTo>
                  <a:cubicBezTo>
                    <a:pt x="0" y="188"/>
                    <a:pt x="5" y="181"/>
                    <a:pt x="4" y="186"/>
                  </a:cubicBezTo>
                  <a:cubicBezTo>
                    <a:pt x="3" y="190"/>
                    <a:pt x="4" y="195"/>
                    <a:pt x="4" y="195"/>
                  </a:cubicBezTo>
                  <a:cubicBezTo>
                    <a:pt x="4" y="195"/>
                    <a:pt x="3" y="196"/>
                    <a:pt x="10" y="197"/>
                  </a:cubicBezTo>
                  <a:cubicBezTo>
                    <a:pt x="17" y="198"/>
                    <a:pt x="17" y="198"/>
                    <a:pt x="22" y="200"/>
                  </a:cubicBezTo>
                  <a:cubicBezTo>
                    <a:pt x="27" y="202"/>
                    <a:pt x="33" y="202"/>
                    <a:pt x="33" y="202"/>
                  </a:cubicBezTo>
                  <a:cubicBezTo>
                    <a:pt x="33" y="202"/>
                    <a:pt x="46" y="207"/>
                    <a:pt x="33" y="222"/>
                  </a:cubicBezTo>
                  <a:cubicBezTo>
                    <a:pt x="26" y="230"/>
                    <a:pt x="25" y="222"/>
                    <a:pt x="12" y="235"/>
                  </a:cubicBezTo>
                  <a:cubicBezTo>
                    <a:pt x="3" y="243"/>
                    <a:pt x="12" y="256"/>
                    <a:pt x="23" y="248"/>
                  </a:cubicBezTo>
                  <a:cubicBezTo>
                    <a:pt x="23" y="248"/>
                    <a:pt x="31" y="236"/>
                    <a:pt x="42" y="236"/>
                  </a:cubicBezTo>
                  <a:cubicBezTo>
                    <a:pt x="52" y="235"/>
                    <a:pt x="54" y="241"/>
                    <a:pt x="52" y="248"/>
                  </a:cubicBezTo>
                  <a:cubicBezTo>
                    <a:pt x="51" y="255"/>
                    <a:pt x="45" y="255"/>
                    <a:pt x="52" y="261"/>
                  </a:cubicBezTo>
                  <a:cubicBezTo>
                    <a:pt x="58" y="267"/>
                    <a:pt x="57" y="277"/>
                    <a:pt x="51" y="285"/>
                  </a:cubicBezTo>
                  <a:cubicBezTo>
                    <a:pt x="44" y="292"/>
                    <a:pt x="46" y="288"/>
                    <a:pt x="46" y="291"/>
                  </a:cubicBezTo>
                  <a:cubicBezTo>
                    <a:pt x="46" y="294"/>
                    <a:pt x="54" y="307"/>
                    <a:pt x="31" y="313"/>
                  </a:cubicBezTo>
                  <a:cubicBezTo>
                    <a:pt x="31" y="313"/>
                    <a:pt x="45" y="318"/>
                    <a:pt x="45" y="323"/>
                  </a:cubicBezTo>
                  <a:cubicBezTo>
                    <a:pt x="45" y="323"/>
                    <a:pt x="51" y="301"/>
                    <a:pt x="69" y="312"/>
                  </a:cubicBezTo>
                  <a:cubicBezTo>
                    <a:pt x="69" y="312"/>
                    <a:pt x="69" y="303"/>
                    <a:pt x="66" y="300"/>
                  </a:cubicBezTo>
                  <a:cubicBezTo>
                    <a:pt x="62" y="297"/>
                    <a:pt x="66" y="290"/>
                    <a:pt x="67" y="287"/>
                  </a:cubicBezTo>
                  <a:cubicBezTo>
                    <a:pt x="68" y="284"/>
                    <a:pt x="65" y="278"/>
                    <a:pt x="65" y="275"/>
                  </a:cubicBezTo>
                  <a:cubicBezTo>
                    <a:pt x="65" y="272"/>
                    <a:pt x="64" y="267"/>
                    <a:pt x="74" y="261"/>
                  </a:cubicBezTo>
                  <a:cubicBezTo>
                    <a:pt x="74" y="261"/>
                    <a:pt x="55" y="252"/>
                    <a:pt x="72" y="236"/>
                  </a:cubicBezTo>
                  <a:cubicBezTo>
                    <a:pt x="89" y="220"/>
                    <a:pt x="102" y="238"/>
                    <a:pt x="103" y="243"/>
                  </a:cubicBezTo>
                  <a:cubicBezTo>
                    <a:pt x="103" y="249"/>
                    <a:pt x="105" y="249"/>
                    <a:pt x="103" y="254"/>
                  </a:cubicBezTo>
                  <a:cubicBezTo>
                    <a:pt x="101" y="260"/>
                    <a:pt x="102" y="265"/>
                    <a:pt x="109" y="268"/>
                  </a:cubicBezTo>
                  <a:cubicBezTo>
                    <a:pt x="116" y="270"/>
                    <a:pt x="118" y="273"/>
                    <a:pt x="117" y="285"/>
                  </a:cubicBezTo>
                  <a:cubicBezTo>
                    <a:pt x="117" y="291"/>
                    <a:pt x="118" y="287"/>
                    <a:pt x="127" y="294"/>
                  </a:cubicBezTo>
                  <a:cubicBezTo>
                    <a:pt x="127" y="294"/>
                    <a:pt x="146" y="306"/>
                    <a:pt x="133" y="321"/>
                  </a:cubicBezTo>
                  <a:cubicBezTo>
                    <a:pt x="131" y="323"/>
                    <a:pt x="132" y="326"/>
                    <a:pt x="136" y="328"/>
                  </a:cubicBezTo>
                  <a:cubicBezTo>
                    <a:pt x="136" y="328"/>
                    <a:pt x="152" y="333"/>
                    <a:pt x="148" y="346"/>
                  </a:cubicBezTo>
                  <a:cubicBezTo>
                    <a:pt x="144" y="360"/>
                    <a:pt x="145" y="353"/>
                    <a:pt x="145" y="353"/>
                  </a:cubicBezTo>
                  <a:cubicBezTo>
                    <a:pt x="158" y="359"/>
                    <a:pt x="158" y="359"/>
                    <a:pt x="158" y="359"/>
                  </a:cubicBezTo>
                  <a:cubicBezTo>
                    <a:pt x="158" y="359"/>
                    <a:pt x="155" y="342"/>
                    <a:pt x="166" y="340"/>
                  </a:cubicBezTo>
                  <a:cubicBezTo>
                    <a:pt x="166" y="340"/>
                    <a:pt x="189" y="340"/>
                    <a:pt x="190" y="354"/>
                  </a:cubicBezTo>
                  <a:cubicBezTo>
                    <a:pt x="191" y="367"/>
                    <a:pt x="190" y="335"/>
                    <a:pt x="190" y="335"/>
                  </a:cubicBezTo>
                  <a:cubicBezTo>
                    <a:pt x="190" y="335"/>
                    <a:pt x="171" y="338"/>
                    <a:pt x="171" y="317"/>
                  </a:cubicBezTo>
                  <a:cubicBezTo>
                    <a:pt x="171" y="316"/>
                    <a:pt x="168" y="314"/>
                    <a:pt x="163" y="311"/>
                  </a:cubicBezTo>
                  <a:cubicBezTo>
                    <a:pt x="159" y="309"/>
                    <a:pt x="152" y="300"/>
                    <a:pt x="155" y="290"/>
                  </a:cubicBezTo>
                  <a:cubicBezTo>
                    <a:pt x="155" y="290"/>
                    <a:pt x="156" y="288"/>
                    <a:pt x="148" y="285"/>
                  </a:cubicBezTo>
                  <a:cubicBezTo>
                    <a:pt x="141" y="282"/>
                    <a:pt x="131" y="276"/>
                    <a:pt x="133" y="269"/>
                  </a:cubicBezTo>
                  <a:cubicBezTo>
                    <a:pt x="135" y="261"/>
                    <a:pt x="137" y="260"/>
                    <a:pt x="139" y="259"/>
                  </a:cubicBezTo>
                  <a:cubicBezTo>
                    <a:pt x="141" y="258"/>
                    <a:pt x="140" y="253"/>
                    <a:pt x="135" y="250"/>
                  </a:cubicBezTo>
                  <a:cubicBezTo>
                    <a:pt x="131" y="246"/>
                    <a:pt x="128" y="229"/>
                    <a:pt x="149" y="229"/>
                  </a:cubicBezTo>
                  <a:cubicBezTo>
                    <a:pt x="169" y="228"/>
                    <a:pt x="175" y="237"/>
                    <a:pt x="175" y="245"/>
                  </a:cubicBezTo>
                  <a:cubicBezTo>
                    <a:pt x="175" y="253"/>
                    <a:pt x="175" y="248"/>
                    <a:pt x="175" y="248"/>
                  </a:cubicBezTo>
                  <a:cubicBezTo>
                    <a:pt x="175" y="248"/>
                    <a:pt x="196" y="240"/>
                    <a:pt x="193" y="263"/>
                  </a:cubicBezTo>
                  <a:cubicBezTo>
                    <a:pt x="204" y="268"/>
                    <a:pt x="204" y="268"/>
                    <a:pt x="204" y="268"/>
                  </a:cubicBezTo>
                  <a:cubicBezTo>
                    <a:pt x="204" y="268"/>
                    <a:pt x="211" y="275"/>
                    <a:pt x="208" y="290"/>
                  </a:cubicBezTo>
                  <a:cubicBezTo>
                    <a:pt x="207" y="296"/>
                    <a:pt x="209" y="292"/>
                    <a:pt x="219" y="295"/>
                  </a:cubicBezTo>
                  <a:cubicBezTo>
                    <a:pt x="229" y="297"/>
                    <a:pt x="246" y="290"/>
                    <a:pt x="249" y="321"/>
                  </a:cubicBezTo>
                  <a:cubicBezTo>
                    <a:pt x="250" y="332"/>
                    <a:pt x="244" y="302"/>
                    <a:pt x="274" y="297"/>
                  </a:cubicBezTo>
                  <a:cubicBezTo>
                    <a:pt x="281" y="295"/>
                    <a:pt x="245" y="303"/>
                    <a:pt x="252" y="283"/>
                  </a:cubicBezTo>
                  <a:cubicBezTo>
                    <a:pt x="253" y="282"/>
                    <a:pt x="243" y="293"/>
                    <a:pt x="234" y="284"/>
                  </a:cubicBezTo>
                  <a:cubicBezTo>
                    <a:pt x="225" y="274"/>
                    <a:pt x="218" y="267"/>
                    <a:pt x="218" y="267"/>
                  </a:cubicBezTo>
                  <a:cubicBezTo>
                    <a:pt x="218" y="267"/>
                    <a:pt x="214" y="261"/>
                    <a:pt x="217" y="249"/>
                  </a:cubicBezTo>
                  <a:cubicBezTo>
                    <a:pt x="220" y="238"/>
                    <a:pt x="197" y="261"/>
                    <a:pt x="189" y="231"/>
                  </a:cubicBezTo>
                  <a:cubicBezTo>
                    <a:pt x="182" y="205"/>
                    <a:pt x="214" y="205"/>
                    <a:pt x="214" y="204"/>
                  </a:cubicBezTo>
                  <a:cubicBezTo>
                    <a:pt x="214" y="204"/>
                    <a:pt x="219" y="206"/>
                    <a:pt x="223" y="210"/>
                  </a:cubicBezTo>
                  <a:cubicBezTo>
                    <a:pt x="227" y="214"/>
                    <a:pt x="229" y="215"/>
                    <a:pt x="237" y="214"/>
                  </a:cubicBezTo>
                  <a:cubicBezTo>
                    <a:pt x="245" y="214"/>
                    <a:pt x="242" y="214"/>
                    <a:pt x="249" y="219"/>
                  </a:cubicBezTo>
                  <a:cubicBezTo>
                    <a:pt x="256" y="225"/>
                    <a:pt x="257" y="235"/>
                    <a:pt x="270" y="226"/>
                  </a:cubicBezTo>
                  <a:cubicBezTo>
                    <a:pt x="282" y="216"/>
                    <a:pt x="293" y="227"/>
                    <a:pt x="303" y="235"/>
                  </a:cubicBezTo>
                  <a:cubicBezTo>
                    <a:pt x="306" y="238"/>
                    <a:pt x="295" y="226"/>
                    <a:pt x="311" y="213"/>
                  </a:cubicBezTo>
                  <a:cubicBezTo>
                    <a:pt x="320" y="206"/>
                    <a:pt x="295" y="223"/>
                    <a:pt x="286" y="206"/>
                  </a:cubicBezTo>
                  <a:cubicBezTo>
                    <a:pt x="286" y="206"/>
                    <a:pt x="263" y="220"/>
                    <a:pt x="252" y="212"/>
                  </a:cubicBezTo>
                  <a:cubicBezTo>
                    <a:pt x="241" y="203"/>
                    <a:pt x="245" y="190"/>
                    <a:pt x="248" y="187"/>
                  </a:cubicBezTo>
                  <a:cubicBezTo>
                    <a:pt x="249" y="186"/>
                    <a:pt x="229" y="193"/>
                    <a:pt x="230" y="170"/>
                  </a:cubicBezTo>
                  <a:cubicBezTo>
                    <a:pt x="230" y="165"/>
                    <a:pt x="234" y="189"/>
                    <a:pt x="196" y="187"/>
                  </a:cubicBezTo>
                  <a:cubicBezTo>
                    <a:pt x="196" y="187"/>
                    <a:pt x="181" y="215"/>
                    <a:pt x="154" y="206"/>
                  </a:cubicBezTo>
                  <a:cubicBezTo>
                    <a:pt x="127" y="196"/>
                    <a:pt x="139" y="169"/>
                    <a:pt x="157" y="160"/>
                  </a:cubicBezTo>
                  <a:cubicBezTo>
                    <a:pt x="176" y="150"/>
                    <a:pt x="181" y="146"/>
                    <a:pt x="181" y="146"/>
                  </a:cubicBezTo>
                  <a:cubicBezTo>
                    <a:pt x="181" y="146"/>
                    <a:pt x="160" y="147"/>
                    <a:pt x="176" y="119"/>
                  </a:cubicBezTo>
                  <a:cubicBezTo>
                    <a:pt x="176" y="119"/>
                    <a:pt x="143" y="131"/>
                    <a:pt x="140" y="110"/>
                  </a:cubicBezTo>
                  <a:cubicBezTo>
                    <a:pt x="136" y="79"/>
                    <a:pt x="142" y="80"/>
                    <a:pt x="144" y="75"/>
                  </a:cubicBezTo>
                  <a:cubicBezTo>
                    <a:pt x="144" y="75"/>
                    <a:pt x="119" y="70"/>
                    <a:pt x="142" y="40"/>
                  </a:cubicBezTo>
                  <a:cubicBezTo>
                    <a:pt x="142" y="40"/>
                    <a:pt x="120" y="48"/>
                    <a:pt x="136" y="0"/>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3" name="Freeform 385">
              <a:extLst>
                <a:ext uri="{FF2B5EF4-FFF2-40B4-BE49-F238E27FC236}">
                  <a16:creationId xmlns:a16="http://schemas.microsoft.com/office/drawing/2014/main" id="{9E1A2000-ADBF-4E37-ABEB-211CC171DB37}"/>
                </a:ext>
              </a:extLst>
            </p:cNvPr>
            <p:cNvSpPr>
              <a:spLocks/>
            </p:cNvSpPr>
            <p:nvPr/>
          </p:nvSpPr>
          <p:spPr bwMode="auto">
            <a:xfrm>
              <a:off x="1694121" y="3617817"/>
              <a:ext cx="35834" cy="89982"/>
            </a:xfrm>
            <a:custGeom>
              <a:avLst/>
              <a:gdLst>
                <a:gd name="T0" fmla="*/ 31 w 48"/>
                <a:gd name="T1" fmla="*/ 0 h 120"/>
                <a:gd name="T2" fmla="*/ 38 w 48"/>
                <a:gd name="T3" fmla="*/ 31 h 120"/>
                <a:gd name="T4" fmla="*/ 30 w 48"/>
                <a:gd name="T5" fmla="*/ 51 h 120"/>
                <a:gd name="T6" fmla="*/ 37 w 48"/>
                <a:gd name="T7" fmla="*/ 69 h 120"/>
                <a:gd name="T8" fmla="*/ 25 w 48"/>
                <a:gd name="T9" fmla="*/ 100 h 120"/>
                <a:gd name="T10" fmla="*/ 17 w 48"/>
                <a:gd name="T11" fmla="*/ 61 h 120"/>
                <a:gd name="T12" fmla="*/ 10 w 48"/>
                <a:gd name="T13" fmla="*/ 31 h 120"/>
                <a:gd name="T14" fmla="*/ 31 w 48"/>
                <a:gd name="T15" fmla="*/ 0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20">
                  <a:moveTo>
                    <a:pt x="31" y="0"/>
                  </a:moveTo>
                  <a:cubicBezTo>
                    <a:pt x="31" y="0"/>
                    <a:pt x="27" y="21"/>
                    <a:pt x="38" y="31"/>
                  </a:cubicBezTo>
                  <a:cubicBezTo>
                    <a:pt x="48" y="41"/>
                    <a:pt x="28" y="30"/>
                    <a:pt x="30" y="51"/>
                  </a:cubicBezTo>
                  <a:cubicBezTo>
                    <a:pt x="32" y="72"/>
                    <a:pt x="34" y="66"/>
                    <a:pt x="37" y="69"/>
                  </a:cubicBezTo>
                  <a:cubicBezTo>
                    <a:pt x="39" y="73"/>
                    <a:pt x="26" y="81"/>
                    <a:pt x="25" y="100"/>
                  </a:cubicBezTo>
                  <a:cubicBezTo>
                    <a:pt x="23" y="120"/>
                    <a:pt x="26" y="73"/>
                    <a:pt x="17" y="61"/>
                  </a:cubicBezTo>
                  <a:cubicBezTo>
                    <a:pt x="8" y="48"/>
                    <a:pt x="37" y="55"/>
                    <a:pt x="10" y="31"/>
                  </a:cubicBezTo>
                  <a:cubicBezTo>
                    <a:pt x="0" y="22"/>
                    <a:pt x="21" y="38"/>
                    <a:pt x="31" y="0"/>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4" name="Freeform 386">
              <a:extLst>
                <a:ext uri="{FF2B5EF4-FFF2-40B4-BE49-F238E27FC236}">
                  <a16:creationId xmlns:a16="http://schemas.microsoft.com/office/drawing/2014/main" id="{0B47735C-5454-4E8C-89F0-6BE0EFF051FE}"/>
                </a:ext>
              </a:extLst>
            </p:cNvPr>
            <p:cNvSpPr>
              <a:spLocks/>
            </p:cNvSpPr>
            <p:nvPr/>
          </p:nvSpPr>
          <p:spPr bwMode="auto">
            <a:xfrm>
              <a:off x="1714825" y="3685503"/>
              <a:ext cx="76445" cy="78834"/>
            </a:xfrm>
            <a:custGeom>
              <a:avLst/>
              <a:gdLst>
                <a:gd name="T0" fmla="*/ 80 w 101"/>
                <a:gd name="T1" fmla="*/ 3 h 105"/>
                <a:gd name="T2" fmla="*/ 53 w 101"/>
                <a:gd name="T3" fmla="*/ 20 h 105"/>
                <a:gd name="T4" fmla="*/ 44 w 101"/>
                <a:gd name="T5" fmla="*/ 51 h 105"/>
                <a:gd name="T6" fmla="*/ 37 w 101"/>
                <a:gd name="T7" fmla="*/ 78 h 105"/>
                <a:gd name="T8" fmla="*/ 10 w 101"/>
                <a:gd name="T9" fmla="*/ 98 h 105"/>
                <a:gd name="T10" fmla="*/ 18 w 101"/>
                <a:gd name="T11" fmla="*/ 101 h 105"/>
                <a:gd name="T12" fmla="*/ 47 w 101"/>
                <a:gd name="T13" fmla="*/ 83 h 105"/>
                <a:gd name="T14" fmla="*/ 50 w 101"/>
                <a:gd name="T15" fmla="*/ 73 h 105"/>
                <a:gd name="T16" fmla="*/ 67 w 101"/>
                <a:gd name="T17" fmla="*/ 52 h 105"/>
                <a:gd name="T18" fmla="*/ 67 w 101"/>
                <a:gd name="T19" fmla="*/ 42 h 105"/>
                <a:gd name="T20" fmla="*/ 76 w 101"/>
                <a:gd name="T21" fmla="*/ 19 h 105"/>
                <a:gd name="T22" fmla="*/ 95 w 101"/>
                <a:gd name="T23" fmla="*/ 2 h 105"/>
                <a:gd name="T24" fmla="*/ 80 w 101"/>
                <a:gd name="T25" fmla="*/ 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1" h="105">
                  <a:moveTo>
                    <a:pt x="80" y="3"/>
                  </a:moveTo>
                  <a:cubicBezTo>
                    <a:pt x="80" y="3"/>
                    <a:pt x="74" y="23"/>
                    <a:pt x="53" y="20"/>
                  </a:cubicBezTo>
                  <a:cubicBezTo>
                    <a:pt x="48" y="19"/>
                    <a:pt x="71" y="35"/>
                    <a:pt x="44" y="51"/>
                  </a:cubicBezTo>
                  <a:cubicBezTo>
                    <a:pt x="44" y="51"/>
                    <a:pt x="43" y="71"/>
                    <a:pt x="37" y="78"/>
                  </a:cubicBezTo>
                  <a:cubicBezTo>
                    <a:pt x="31" y="85"/>
                    <a:pt x="21" y="95"/>
                    <a:pt x="10" y="98"/>
                  </a:cubicBezTo>
                  <a:cubicBezTo>
                    <a:pt x="0" y="101"/>
                    <a:pt x="11" y="105"/>
                    <a:pt x="18" y="101"/>
                  </a:cubicBezTo>
                  <a:cubicBezTo>
                    <a:pt x="25" y="97"/>
                    <a:pt x="34" y="85"/>
                    <a:pt x="47" y="83"/>
                  </a:cubicBezTo>
                  <a:cubicBezTo>
                    <a:pt x="60" y="82"/>
                    <a:pt x="51" y="76"/>
                    <a:pt x="50" y="73"/>
                  </a:cubicBezTo>
                  <a:cubicBezTo>
                    <a:pt x="50" y="70"/>
                    <a:pt x="48" y="55"/>
                    <a:pt x="67" y="52"/>
                  </a:cubicBezTo>
                  <a:cubicBezTo>
                    <a:pt x="73" y="51"/>
                    <a:pt x="68" y="44"/>
                    <a:pt x="67" y="42"/>
                  </a:cubicBezTo>
                  <a:cubicBezTo>
                    <a:pt x="66" y="40"/>
                    <a:pt x="63" y="30"/>
                    <a:pt x="76" y="19"/>
                  </a:cubicBezTo>
                  <a:cubicBezTo>
                    <a:pt x="90" y="8"/>
                    <a:pt x="89" y="4"/>
                    <a:pt x="95" y="2"/>
                  </a:cubicBezTo>
                  <a:cubicBezTo>
                    <a:pt x="101" y="0"/>
                    <a:pt x="88" y="4"/>
                    <a:pt x="80" y="3"/>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5" name="Freeform 387">
              <a:extLst>
                <a:ext uri="{FF2B5EF4-FFF2-40B4-BE49-F238E27FC236}">
                  <a16:creationId xmlns:a16="http://schemas.microsoft.com/office/drawing/2014/main" id="{1700EF2E-0130-4244-BD28-BC420BE26BE0}"/>
                </a:ext>
              </a:extLst>
            </p:cNvPr>
            <p:cNvSpPr>
              <a:spLocks/>
            </p:cNvSpPr>
            <p:nvPr/>
          </p:nvSpPr>
          <p:spPr bwMode="auto">
            <a:xfrm>
              <a:off x="1615287" y="3622595"/>
              <a:ext cx="54149" cy="97945"/>
            </a:xfrm>
            <a:custGeom>
              <a:avLst/>
              <a:gdLst>
                <a:gd name="T0" fmla="*/ 16 w 72"/>
                <a:gd name="T1" fmla="*/ 0 h 130"/>
                <a:gd name="T2" fmla="*/ 30 w 72"/>
                <a:gd name="T3" fmla="*/ 29 h 130"/>
                <a:gd name="T4" fmla="*/ 29 w 72"/>
                <a:gd name="T5" fmla="*/ 37 h 130"/>
                <a:gd name="T6" fmla="*/ 47 w 72"/>
                <a:gd name="T7" fmla="*/ 70 h 130"/>
                <a:gd name="T8" fmla="*/ 49 w 72"/>
                <a:gd name="T9" fmla="*/ 81 h 130"/>
                <a:gd name="T10" fmla="*/ 66 w 72"/>
                <a:gd name="T11" fmla="*/ 94 h 130"/>
                <a:gd name="T12" fmla="*/ 65 w 72"/>
                <a:gd name="T13" fmla="*/ 101 h 130"/>
                <a:gd name="T14" fmla="*/ 71 w 72"/>
                <a:gd name="T15" fmla="*/ 128 h 130"/>
                <a:gd name="T16" fmla="*/ 47 w 72"/>
                <a:gd name="T17" fmla="*/ 113 h 130"/>
                <a:gd name="T18" fmla="*/ 47 w 72"/>
                <a:gd name="T19" fmla="*/ 105 h 130"/>
                <a:gd name="T20" fmla="*/ 45 w 72"/>
                <a:gd name="T21" fmla="*/ 92 h 130"/>
                <a:gd name="T22" fmla="*/ 33 w 72"/>
                <a:gd name="T23" fmla="*/ 81 h 130"/>
                <a:gd name="T24" fmla="*/ 28 w 72"/>
                <a:gd name="T25" fmla="*/ 68 h 130"/>
                <a:gd name="T26" fmla="*/ 17 w 72"/>
                <a:gd name="T27" fmla="*/ 41 h 130"/>
                <a:gd name="T28" fmla="*/ 9 w 72"/>
                <a:gd name="T29" fmla="*/ 40 h 130"/>
                <a:gd name="T30" fmla="*/ 8 w 72"/>
                <a:gd name="T31" fmla="*/ 33 h 130"/>
                <a:gd name="T32" fmla="*/ 5 w 72"/>
                <a:gd name="T33" fmla="*/ 12 h 130"/>
                <a:gd name="T34" fmla="*/ 0 w 72"/>
                <a:gd name="T35" fmla="*/ 6 h 130"/>
                <a:gd name="T36" fmla="*/ 16 w 72"/>
                <a:gd name="T37"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2" h="130">
                  <a:moveTo>
                    <a:pt x="16" y="0"/>
                  </a:moveTo>
                  <a:cubicBezTo>
                    <a:pt x="16" y="0"/>
                    <a:pt x="14" y="11"/>
                    <a:pt x="30" y="29"/>
                  </a:cubicBezTo>
                  <a:cubicBezTo>
                    <a:pt x="33" y="33"/>
                    <a:pt x="30" y="31"/>
                    <a:pt x="29" y="37"/>
                  </a:cubicBezTo>
                  <a:cubicBezTo>
                    <a:pt x="27" y="42"/>
                    <a:pt x="31" y="56"/>
                    <a:pt x="47" y="70"/>
                  </a:cubicBezTo>
                  <a:cubicBezTo>
                    <a:pt x="54" y="76"/>
                    <a:pt x="49" y="79"/>
                    <a:pt x="49" y="81"/>
                  </a:cubicBezTo>
                  <a:cubicBezTo>
                    <a:pt x="49" y="84"/>
                    <a:pt x="49" y="95"/>
                    <a:pt x="66" y="94"/>
                  </a:cubicBezTo>
                  <a:cubicBezTo>
                    <a:pt x="71" y="93"/>
                    <a:pt x="68" y="98"/>
                    <a:pt x="65" y="101"/>
                  </a:cubicBezTo>
                  <a:cubicBezTo>
                    <a:pt x="63" y="103"/>
                    <a:pt x="60" y="114"/>
                    <a:pt x="71" y="128"/>
                  </a:cubicBezTo>
                  <a:cubicBezTo>
                    <a:pt x="72" y="130"/>
                    <a:pt x="62" y="113"/>
                    <a:pt x="47" y="113"/>
                  </a:cubicBezTo>
                  <a:cubicBezTo>
                    <a:pt x="47" y="113"/>
                    <a:pt x="47" y="107"/>
                    <a:pt x="47" y="105"/>
                  </a:cubicBezTo>
                  <a:cubicBezTo>
                    <a:pt x="48" y="103"/>
                    <a:pt x="47" y="97"/>
                    <a:pt x="45" y="92"/>
                  </a:cubicBezTo>
                  <a:cubicBezTo>
                    <a:pt x="42" y="87"/>
                    <a:pt x="36" y="83"/>
                    <a:pt x="33" y="81"/>
                  </a:cubicBezTo>
                  <a:cubicBezTo>
                    <a:pt x="31" y="79"/>
                    <a:pt x="28" y="76"/>
                    <a:pt x="28" y="68"/>
                  </a:cubicBezTo>
                  <a:cubicBezTo>
                    <a:pt x="29" y="59"/>
                    <a:pt x="29" y="46"/>
                    <a:pt x="17" y="41"/>
                  </a:cubicBezTo>
                  <a:cubicBezTo>
                    <a:pt x="11" y="38"/>
                    <a:pt x="11" y="40"/>
                    <a:pt x="9" y="40"/>
                  </a:cubicBezTo>
                  <a:cubicBezTo>
                    <a:pt x="7" y="40"/>
                    <a:pt x="5" y="40"/>
                    <a:pt x="8" y="33"/>
                  </a:cubicBezTo>
                  <a:cubicBezTo>
                    <a:pt x="11" y="25"/>
                    <a:pt x="8" y="17"/>
                    <a:pt x="5" y="12"/>
                  </a:cubicBezTo>
                  <a:cubicBezTo>
                    <a:pt x="2" y="6"/>
                    <a:pt x="0" y="6"/>
                    <a:pt x="0" y="6"/>
                  </a:cubicBezTo>
                  <a:lnTo>
                    <a:pt x="16" y="0"/>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6" name="Freeform 388">
              <a:extLst>
                <a:ext uri="{FF2B5EF4-FFF2-40B4-BE49-F238E27FC236}">
                  <a16:creationId xmlns:a16="http://schemas.microsoft.com/office/drawing/2014/main" id="{0BCFA27F-1BA9-4543-917D-7A66813DA854}"/>
                </a:ext>
              </a:extLst>
            </p:cNvPr>
            <p:cNvSpPr>
              <a:spLocks/>
            </p:cNvSpPr>
            <p:nvPr/>
          </p:nvSpPr>
          <p:spPr bwMode="auto">
            <a:xfrm>
              <a:off x="1772955" y="3725318"/>
              <a:ext cx="53353" cy="30259"/>
            </a:xfrm>
            <a:custGeom>
              <a:avLst/>
              <a:gdLst>
                <a:gd name="T0" fmla="*/ 55 w 71"/>
                <a:gd name="T1" fmla="*/ 4 h 40"/>
                <a:gd name="T2" fmla="*/ 17 w 71"/>
                <a:gd name="T3" fmla="*/ 14 h 40"/>
                <a:gd name="T4" fmla="*/ 0 w 71"/>
                <a:gd name="T5" fmla="*/ 40 h 40"/>
                <a:gd name="T6" fmla="*/ 21 w 71"/>
                <a:gd name="T7" fmla="*/ 27 h 40"/>
                <a:gd name="T8" fmla="*/ 38 w 71"/>
                <a:gd name="T9" fmla="*/ 26 h 40"/>
                <a:gd name="T10" fmla="*/ 43 w 71"/>
                <a:gd name="T11" fmla="*/ 19 h 40"/>
                <a:gd name="T12" fmla="*/ 64 w 71"/>
                <a:gd name="T13" fmla="*/ 5 h 40"/>
                <a:gd name="T14" fmla="*/ 55 w 71"/>
                <a:gd name="T15" fmla="*/ 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40">
                  <a:moveTo>
                    <a:pt x="55" y="4"/>
                  </a:moveTo>
                  <a:cubicBezTo>
                    <a:pt x="55" y="4"/>
                    <a:pt x="42" y="14"/>
                    <a:pt x="17" y="14"/>
                  </a:cubicBezTo>
                  <a:cubicBezTo>
                    <a:pt x="16" y="14"/>
                    <a:pt x="16" y="30"/>
                    <a:pt x="0" y="40"/>
                  </a:cubicBezTo>
                  <a:cubicBezTo>
                    <a:pt x="0" y="40"/>
                    <a:pt x="14" y="35"/>
                    <a:pt x="21" y="27"/>
                  </a:cubicBezTo>
                  <a:cubicBezTo>
                    <a:pt x="28" y="19"/>
                    <a:pt x="30" y="23"/>
                    <a:pt x="38" y="26"/>
                  </a:cubicBezTo>
                  <a:cubicBezTo>
                    <a:pt x="45" y="30"/>
                    <a:pt x="42" y="25"/>
                    <a:pt x="43" y="19"/>
                  </a:cubicBezTo>
                  <a:cubicBezTo>
                    <a:pt x="45" y="14"/>
                    <a:pt x="56" y="5"/>
                    <a:pt x="64" y="5"/>
                  </a:cubicBezTo>
                  <a:cubicBezTo>
                    <a:pt x="71" y="4"/>
                    <a:pt x="65" y="0"/>
                    <a:pt x="55" y="4"/>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7" name="Freeform 389">
              <a:extLst>
                <a:ext uri="{FF2B5EF4-FFF2-40B4-BE49-F238E27FC236}">
                  <a16:creationId xmlns:a16="http://schemas.microsoft.com/office/drawing/2014/main" id="{ABF3543F-2791-4A27-86EF-92BA13995DA0}"/>
                </a:ext>
              </a:extLst>
            </p:cNvPr>
            <p:cNvSpPr>
              <a:spLocks/>
            </p:cNvSpPr>
            <p:nvPr/>
          </p:nvSpPr>
          <p:spPr bwMode="auto">
            <a:xfrm>
              <a:off x="1783307" y="3759559"/>
              <a:ext cx="58926" cy="19908"/>
            </a:xfrm>
            <a:custGeom>
              <a:avLst/>
              <a:gdLst>
                <a:gd name="T0" fmla="*/ 68 w 78"/>
                <a:gd name="T1" fmla="*/ 5 h 26"/>
                <a:gd name="T2" fmla="*/ 44 w 78"/>
                <a:gd name="T3" fmla="*/ 2 h 26"/>
                <a:gd name="T4" fmla="*/ 40 w 78"/>
                <a:gd name="T5" fmla="*/ 5 h 26"/>
                <a:gd name="T6" fmla="*/ 24 w 78"/>
                <a:gd name="T7" fmla="*/ 4 h 26"/>
                <a:gd name="T8" fmla="*/ 18 w 78"/>
                <a:gd name="T9" fmla="*/ 9 h 26"/>
                <a:gd name="T10" fmla="*/ 3 w 78"/>
                <a:gd name="T11" fmla="*/ 19 h 26"/>
                <a:gd name="T12" fmla="*/ 7 w 78"/>
                <a:gd name="T13" fmla="*/ 24 h 26"/>
                <a:gd name="T14" fmla="*/ 26 w 78"/>
                <a:gd name="T15" fmla="*/ 16 h 26"/>
                <a:gd name="T16" fmla="*/ 44 w 78"/>
                <a:gd name="T17" fmla="*/ 17 h 26"/>
                <a:gd name="T18" fmla="*/ 53 w 78"/>
                <a:gd name="T19" fmla="*/ 15 h 26"/>
                <a:gd name="T20" fmla="*/ 69 w 78"/>
                <a:gd name="T21" fmla="*/ 13 h 26"/>
                <a:gd name="T22" fmla="*/ 76 w 78"/>
                <a:gd name="T23" fmla="*/ 15 h 26"/>
                <a:gd name="T24" fmla="*/ 74 w 78"/>
                <a:gd name="T25" fmla="*/ 5 h 26"/>
                <a:gd name="T26" fmla="*/ 68 w 78"/>
                <a:gd name="T27" fmla="*/ 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 h="26">
                  <a:moveTo>
                    <a:pt x="68" y="5"/>
                  </a:moveTo>
                  <a:cubicBezTo>
                    <a:pt x="68" y="5"/>
                    <a:pt x="53" y="7"/>
                    <a:pt x="44" y="2"/>
                  </a:cubicBezTo>
                  <a:cubicBezTo>
                    <a:pt x="41" y="1"/>
                    <a:pt x="42" y="3"/>
                    <a:pt x="40" y="5"/>
                  </a:cubicBezTo>
                  <a:cubicBezTo>
                    <a:pt x="40" y="5"/>
                    <a:pt x="28" y="7"/>
                    <a:pt x="24" y="4"/>
                  </a:cubicBezTo>
                  <a:cubicBezTo>
                    <a:pt x="19" y="0"/>
                    <a:pt x="18" y="2"/>
                    <a:pt x="18" y="9"/>
                  </a:cubicBezTo>
                  <a:cubicBezTo>
                    <a:pt x="17" y="16"/>
                    <a:pt x="7" y="19"/>
                    <a:pt x="3" y="19"/>
                  </a:cubicBezTo>
                  <a:cubicBezTo>
                    <a:pt x="0" y="20"/>
                    <a:pt x="0" y="26"/>
                    <a:pt x="7" y="24"/>
                  </a:cubicBezTo>
                  <a:cubicBezTo>
                    <a:pt x="14" y="22"/>
                    <a:pt x="13" y="20"/>
                    <a:pt x="26" y="16"/>
                  </a:cubicBezTo>
                  <a:cubicBezTo>
                    <a:pt x="39" y="12"/>
                    <a:pt x="41" y="16"/>
                    <a:pt x="44" y="17"/>
                  </a:cubicBezTo>
                  <a:cubicBezTo>
                    <a:pt x="48" y="19"/>
                    <a:pt x="50" y="18"/>
                    <a:pt x="53" y="15"/>
                  </a:cubicBezTo>
                  <a:cubicBezTo>
                    <a:pt x="56" y="12"/>
                    <a:pt x="61" y="8"/>
                    <a:pt x="69" y="13"/>
                  </a:cubicBezTo>
                  <a:cubicBezTo>
                    <a:pt x="78" y="18"/>
                    <a:pt x="76" y="15"/>
                    <a:pt x="76" y="15"/>
                  </a:cubicBezTo>
                  <a:cubicBezTo>
                    <a:pt x="74" y="5"/>
                    <a:pt x="74" y="5"/>
                    <a:pt x="74" y="5"/>
                  </a:cubicBezTo>
                  <a:lnTo>
                    <a:pt x="68" y="5"/>
                  </a:ln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158" name="Freeform 390">
              <a:extLst>
                <a:ext uri="{FF2B5EF4-FFF2-40B4-BE49-F238E27FC236}">
                  <a16:creationId xmlns:a16="http://schemas.microsoft.com/office/drawing/2014/main" id="{D95C6A99-01CC-48A4-BDC8-0D086801DC6B}"/>
                </a:ext>
              </a:extLst>
            </p:cNvPr>
            <p:cNvSpPr>
              <a:spLocks/>
            </p:cNvSpPr>
            <p:nvPr/>
          </p:nvSpPr>
          <p:spPr bwMode="auto">
            <a:xfrm>
              <a:off x="837299" y="3004664"/>
              <a:ext cx="1231880" cy="769228"/>
            </a:xfrm>
            <a:custGeom>
              <a:avLst/>
              <a:gdLst>
                <a:gd name="T0" fmla="*/ 1134 w 1638"/>
                <a:gd name="T1" fmla="*/ 638 h 1023"/>
                <a:gd name="T2" fmla="*/ 1149 w 1638"/>
                <a:gd name="T3" fmla="*/ 745 h 1023"/>
                <a:gd name="T4" fmla="*/ 1305 w 1638"/>
                <a:gd name="T5" fmla="*/ 906 h 1023"/>
                <a:gd name="T6" fmla="*/ 1393 w 1638"/>
                <a:gd name="T7" fmla="*/ 957 h 1023"/>
                <a:gd name="T8" fmla="*/ 1527 w 1638"/>
                <a:gd name="T9" fmla="*/ 981 h 1023"/>
                <a:gd name="T10" fmla="*/ 1600 w 1638"/>
                <a:gd name="T11" fmla="*/ 837 h 1023"/>
                <a:gd name="T12" fmla="*/ 1631 w 1638"/>
                <a:gd name="T13" fmla="*/ 732 h 1023"/>
                <a:gd name="T14" fmla="*/ 1632 w 1638"/>
                <a:gd name="T15" fmla="*/ 658 h 1023"/>
                <a:gd name="T16" fmla="*/ 1617 w 1638"/>
                <a:gd name="T17" fmla="*/ 585 h 1023"/>
                <a:gd name="T18" fmla="*/ 1583 w 1638"/>
                <a:gd name="T19" fmla="*/ 496 h 1023"/>
                <a:gd name="T20" fmla="*/ 1556 w 1638"/>
                <a:gd name="T21" fmla="*/ 445 h 1023"/>
                <a:gd name="T22" fmla="*/ 1499 w 1638"/>
                <a:gd name="T23" fmla="*/ 357 h 1023"/>
                <a:gd name="T24" fmla="*/ 1460 w 1638"/>
                <a:gd name="T25" fmla="*/ 326 h 1023"/>
                <a:gd name="T26" fmla="*/ 1339 w 1638"/>
                <a:gd name="T27" fmla="*/ 227 h 1023"/>
                <a:gd name="T28" fmla="*/ 1248 w 1638"/>
                <a:gd name="T29" fmla="*/ 156 h 1023"/>
                <a:gd name="T30" fmla="*/ 1144 w 1638"/>
                <a:gd name="T31" fmla="*/ 98 h 1023"/>
                <a:gd name="T32" fmla="*/ 1083 w 1638"/>
                <a:gd name="T33" fmla="*/ 68 h 1023"/>
                <a:gd name="T34" fmla="*/ 987 w 1638"/>
                <a:gd name="T35" fmla="*/ 50 h 1023"/>
                <a:gd name="T36" fmla="*/ 886 w 1638"/>
                <a:gd name="T37" fmla="*/ 13 h 1023"/>
                <a:gd name="T38" fmla="*/ 767 w 1638"/>
                <a:gd name="T39" fmla="*/ 2 h 1023"/>
                <a:gd name="T40" fmla="*/ 674 w 1638"/>
                <a:gd name="T41" fmla="*/ 5 h 1023"/>
                <a:gd name="T42" fmla="*/ 512 w 1638"/>
                <a:gd name="T43" fmla="*/ 18 h 1023"/>
                <a:gd name="T44" fmla="*/ 372 w 1638"/>
                <a:gd name="T45" fmla="*/ 56 h 1023"/>
                <a:gd name="T46" fmla="*/ 289 w 1638"/>
                <a:gd name="T47" fmla="*/ 100 h 1023"/>
                <a:gd name="T48" fmla="*/ 200 w 1638"/>
                <a:gd name="T49" fmla="*/ 166 h 1023"/>
                <a:gd name="T50" fmla="*/ 102 w 1638"/>
                <a:gd name="T51" fmla="*/ 260 h 1023"/>
                <a:gd name="T52" fmla="*/ 36 w 1638"/>
                <a:gd name="T53" fmla="*/ 355 h 1023"/>
                <a:gd name="T54" fmla="*/ 8 w 1638"/>
                <a:gd name="T55" fmla="*/ 400 h 1023"/>
                <a:gd name="T56" fmla="*/ 5 w 1638"/>
                <a:gd name="T57" fmla="*/ 565 h 1023"/>
                <a:gd name="T58" fmla="*/ 39 w 1638"/>
                <a:gd name="T59" fmla="*/ 700 h 1023"/>
                <a:gd name="T60" fmla="*/ 130 w 1638"/>
                <a:gd name="T61" fmla="*/ 779 h 1023"/>
                <a:gd name="T62" fmla="*/ 345 w 1638"/>
                <a:gd name="T63" fmla="*/ 829 h 1023"/>
                <a:gd name="T64" fmla="*/ 553 w 1638"/>
                <a:gd name="T65" fmla="*/ 666 h 1023"/>
                <a:gd name="T66" fmla="*/ 364 w 1638"/>
                <a:gd name="T67" fmla="*/ 499 h 1023"/>
                <a:gd name="T68" fmla="*/ 1026 w 1638"/>
                <a:gd name="T69" fmla="*/ 487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8" h="1023">
                  <a:moveTo>
                    <a:pt x="1026" y="487"/>
                  </a:moveTo>
                  <a:cubicBezTo>
                    <a:pt x="1026" y="487"/>
                    <a:pt x="1134" y="568"/>
                    <a:pt x="1134" y="638"/>
                  </a:cubicBezTo>
                  <a:cubicBezTo>
                    <a:pt x="1134" y="707"/>
                    <a:pt x="1094" y="726"/>
                    <a:pt x="1079" y="731"/>
                  </a:cubicBezTo>
                  <a:cubicBezTo>
                    <a:pt x="1074" y="732"/>
                    <a:pt x="1105" y="753"/>
                    <a:pt x="1149" y="745"/>
                  </a:cubicBezTo>
                  <a:cubicBezTo>
                    <a:pt x="1149" y="745"/>
                    <a:pt x="1154" y="821"/>
                    <a:pt x="1255" y="817"/>
                  </a:cubicBezTo>
                  <a:cubicBezTo>
                    <a:pt x="1255" y="817"/>
                    <a:pt x="1281" y="893"/>
                    <a:pt x="1305" y="906"/>
                  </a:cubicBezTo>
                  <a:cubicBezTo>
                    <a:pt x="1328" y="918"/>
                    <a:pt x="1311" y="902"/>
                    <a:pt x="1330" y="925"/>
                  </a:cubicBezTo>
                  <a:cubicBezTo>
                    <a:pt x="1349" y="947"/>
                    <a:pt x="1352" y="961"/>
                    <a:pt x="1393" y="957"/>
                  </a:cubicBezTo>
                  <a:cubicBezTo>
                    <a:pt x="1410" y="955"/>
                    <a:pt x="1376" y="963"/>
                    <a:pt x="1426" y="979"/>
                  </a:cubicBezTo>
                  <a:cubicBezTo>
                    <a:pt x="1426" y="979"/>
                    <a:pt x="1480" y="1023"/>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463" y="819"/>
                    <a:pt x="511" y="809"/>
                    <a:pt x="541" y="764"/>
                  </a:cubicBezTo>
                  <a:cubicBezTo>
                    <a:pt x="572" y="719"/>
                    <a:pt x="560" y="682"/>
                    <a:pt x="553" y="666"/>
                  </a:cubicBezTo>
                  <a:cubicBezTo>
                    <a:pt x="546" y="650"/>
                    <a:pt x="522" y="636"/>
                    <a:pt x="468" y="620"/>
                  </a:cubicBezTo>
                  <a:cubicBezTo>
                    <a:pt x="413" y="604"/>
                    <a:pt x="343" y="575"/>
                    <a:pt x="364" y="499"/>
                  </a:cubicBezTo>
                  <a:cubicBezTo>
                    <a:pt x="384" y="424"/>
                    <a:pt x="514" y="379"/>
                    <a:pt x="651" y="384"/>
                  </a:cubicBezTo>
                  <a:cubicBezTo>
                    <a:pt x="787" y="389"/>
                    <a:pt x="937" y="416"/>
                    <a:pt x="1026" y="487"/>
                  </a:cubicBezTo>
                  <a:close/>
                </a:path>
              </a:pathLst>
            </a:custGeom>
            <a:solidFill>
              <a:schemeClr val="bg1"/>
            </a:solidFill>
            <a:ln w="3175">
              <a:solidFill>
                <a:schemeClr val="tx1"/>
              </a:solidFill>
            </a:ln>
          </p:spPr>
          <p:txBody>
            <a:bodyPr vert="horz" wrap="square" lIns="91440" tIns="45720" rIns="91440" bIns="45720" numCol="1" anchor="t" anchorCtr="0" compatLnSpc="1">
              <a:prstTxWarp prst="textNoShape">
                <a:avLst/>
              </a:prstTxWarp>
            </a:bodyPr>
            <a:lstStyle/>
            <a:p>
              <a:endParaRPr lang="en-GB" sz="1600"/>
            </a:p>
          </p:txBody>
        </p:sp>
        <p:sp>
          <p:nvSpPr>
            <p:cNvPr id="159" name="Freeform 391">
              <a:extLst>
                <a:ext uri="{FF2B5EF4-FFF2-40B4-BE49-F238E27FC236}">
                  <a16:creationId xmlns:a16="http://schemas.microsoft.com/office/drawing/2014/main" id="{68DBCC2B-0B72-487B-88F6-08C6F6E4F255}"/>
                </a:ext>
              </a:extLst>
            </p:cNvPr>
            <p:cNvSpPr>
              <a:spLocks/>
            </p:cNvSpPr>
            <p:nvPr/>
          </p:nvSpPr>
          <p:spPr bwMode="auto">
            <a:xfrm>
              <a:off x="1104857" y="3004664"/>
              <a:ext cx="672876" cy="218983"/>
            </a:xfrm>
            <a:custGeom>
              <a:avLst/>
              <a:gdLst>
                <a:gd name="T0" fmla="*/ 892 w 894"/>
                <a:gd name="T1" fmla="*/ 156 h 291"/>
                <a:gd name="T2" fmla="*/ 831 w 894"/>
                <a:gd name="T3" fmla="*/ 109 h 291"/>
                <a:gd name="T4" fmla="*/ 788 w 894"/>
                <a:gd name="T5" fmla="*/ 98 h 291"/>
                <a:gd name="T6" fmla="*/ 776 w 894"/>
                <a:gd name="T7" fmla="*/ 79 h 291"/>
                <a:gd name="T8" fmla="*/ 727 w 894"/>
                <a:gd name="T9" fmla="*/ 68 h 291"/>
                <a:gd name="T10" fmla="*/ 669 w 894"/>
                <a:gd name="T11" fmla="*/ 39 h 291"/>
                <a:gd name="T12" fmla="*/ 631 w 894"/>
                <a:gd name="T13" fmla="*/ 50 h 291"/>
                <a:gd name="T14" fmla="*/ 597 w 894"/>
                <a:gd name="T15" fmla="*/ 31 h 291"/>
                <a:gd name="T16" fmla="*/ 530 w 894"/>
                <a:gd name="T17" fmla="*/ 13 h 291"/>
                <a:gd name="T18" fmla="*/ 474 w 894"/>
                <a:gd name="T19" fmla="*/ 31 h 291"/>
                <a:gd name="T20" fmla="*/ 411 w 894"/>
                <a:gd name="T21" fmla="*/ 2 h 291"/>
                <a:gd name="T22" fmla="*/ 356 w 894"/>
                <a:gd name="T23" fmla="*/ 5 h 291"/>
                <a:gd name="T24" fmla="*/ 318 w 894"/>
                <a:gd name="T25" fmla="*/ 5 h 291"/>
                <a:gd name="T26" fmla="*/ 231 w 894"/>
                <a:gd name="T27" fmla="*/ 18 h 291"/>
                <a:gd name="T28" fmla="*/ 156 w 894"/>
                <a:gd name="T29" fmla="*/ 18 h 291"/>
                <a:gd name="T30" fmla="*/ 119 w 894"/>
                <a:gd name="T31" fmla="*/ 39 h 291"/>
                <a:gd name="T32" fmla="*/ 16 w 894"/>
                <a:gd name="T33" fmla="*/ 56 h 291"/>
                <a:gd name="T34" fmla="*/ 3 w 894"/>
                <a:gd name="T35" fmla="*/ 84 h 291"/>
                <a:gd name="T36" fmla="*/ 172 w 894"/>
                <a:gd name="T37" fmla="*/ 147 h 291"/>
                <a:gd name="T38" fmla="*/ 344 w 894"/>
                <a:gd name="T39" fmla="*/ 192 h 291"/>
                <a:gd name="T40" fmla="*/ 468 w 894"/>
                <a:gd name="T41" fmla="*/ 280 h 291"/>
                <a:gd name="T42" fmla="*/ 626 w 894"/>
                <a:gd name="T43" fmla="*/ 283 h 291"/>
                <a:gd name="T44" fmla="*/ 703 w 894"/>
                <a:gd name="T45" fmla="*/ 270 h 291"/>
                <a:gd name="T46" fmla="*/ 713 w 894"/>
                <a:gd name="T47" fmla="*/ 241 h 291"/>
                <a:gd name="T48" fmla="*/ 811 w 894"/>
                <a:gd name="T49" fmla="*/ 252 h 291"/>
                <a:gd name="T50" fmla="*/ 883 w 894"/>
                <a:gd name="T51" fmla="*/ 180 h 291"/>
                <a:gd name="T52" fmla="*/ 892 w 894"/>
                <a:gd name="T53" fmla="*/ 15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94" h="291">
                  <a:moveTo>
                    <a:pt x="892" y="156"/>
                  </a:moveTo>
                  <a:cubicBezTo>
                    <a:pt x="879" y="149"/>
                    <a:pt x="848" y="122"/>
                    <a:pt x="831" y="109"/>
                  </a:cubicBezTo>
                  <a:cubicBezTo>
                    <a:pt x="814" y="96"/>
                    <a:pt x="795" y="96"/>
                    <a:pt x="788" y="98"/>
                  </a:cubicBezTo>
                  <a:cubicBezTo>
                    <a:pt x="781" y="100"/>
                    <a:pt x="781" y="82"/>
                    <a:pt x="776" y="79"/>
                  </a:cubicBezTo>
                  <a:cubicBezTo>
                    <a:pt x="771" y="76"/>
                    <a:pt x="735" y="71"/>
                    <a:pt x="727" y="68"/>
                  </a:cubicBezTo>
                  <a:cubicBezTo>
                    <a:pt x="718" y="64"/>
                    <a:pt x="706" y="42"/>
                    <a:pt x="669" y="39"/>
                  </a:cubicBezTo>
                  <a:cubicBezTo>
                    <a:pt x="631" y="35"/>
                    <a:pt x="633" y="48"/>
                    <a:pt x="631" y="50"/>
                  </a:cubicBezTo>
                  <a:cubicBezTo>
                    <a:pt x="629" y="52"/>
                    <a:pt x="621" y="37"/>
                    <a:pt x="597" y="31"/>
                  </a:cubicBezTo>
                  <a:cubicBezTo>
                    <a:pt x="573" y="24"/>
                    <a:pt x="540" y="18"/>
                    <a:pt x="530" y="13"/>
                  </a:cubicBezTo>
                  <a:cubicBezTo>
                    <a:pt x="520" y="8"/>
                    <a:pt x="481" y="26"/>
                    <a:pt x="474" y="31"/>
                  </a:cubicBezTo>
                  <a:cubicBezTo>
                    <a:pt x="467" y="35"/>
                    <a:pt x="443" y="3"/>
                    <a:pt x="411" y="2"/>
                  </a:cubicBezTo>
                  <a:cubicBezTo>
                    <a:pt x="378" y="0"/>
                    <a:pt x="363" y="3"/>
                    <a:pt x="356" y="5"/>
                  </a:cubicBezTo>
                  <a:cubicBezTo>
                    <a:pt x="349" y="7"/>
                    <a:pt x="329" y="10"/>
                    <a:pt x="318" y="5"/>
                  </a:cubicBezTo>
                  <a:cubicBezTo>
                    <a:pt x="308" y="0"/>
                    <a:pt x="236" y="13"/>
                    <a:pt x="231" y="18"/>
                  </a:cubicBezTo>
                  <a:cubicBezTo>
                    <a:pt x="226" y="23"/>
                    <a:pt x="194" y="5"/>
                    <a:pt x="156" y="18"/>
                  </a:cubicBezTo>
                  <a:cubicBezTo>
                    <a:pt x="119" y="31"/>
                    <a:pt x="127" y="32"/>
                    <a:pt x="119" y="39"/>
                  </a:cubicBezTo>
                  <a:cubicBezTo>
                    <a:pt x="110" y="45"/>
                    <a:pt x="59" y="42"/>
                    <a:pt x="16" y="56"/>
                  </a:cubicBezTo>
                  <a:cubicBezTo>
                    <a:pt x="16" y="56"/>
                    <a:pt x="0" y="74"/>
                    <a:pt x="3" y="84"/>
                  </a:cubicBezTo>
                  <a:cubicBezTo>
                    <a:pt x="6" y="95"/>
                    <a:pt x="12" y="151"/>
                    <a:pt x="172" y="147"/>
                  </a:cubicBezTo>
                  <a:cubicBezTo>
                    <a:pt x="332" y="143"/>
                    <a:pt x="331" y="176"/>
                    <a:pt x="344" y="192"/>
                  </a:cubicBezTo>
                  <a:cubicBezTo>
                    <a:pt x="358" y="208"/>
                    <a:pt x="352" y="283"/>
                    <a:pt x="468" y="280"/>
                  </a:cubicBezTo>
                  <a:cubicBezTo>
                    <a:pt x="584" y="278"/>
                    <a:pt x="595" y="291"/>
                    <a:pt x="626" y="283"/>
                  </a:cubicBezTo>
                  <a:cubicBezTo>
                    <a:pt x="656" y="275"/>
                    <a:pt x="690" y="287"/>
                    <a:pt x="703" y="270"/>
                  </a:cubicBezTo>
                  <a:cubicBezTo>
                    <a:pt x="716" y="252"/>
                    <a:pt x="713" y="241"/>
                    <a:pt x="713" y="241"/>
                  </a:cubicBezTo>
                  <a:cubicBezTo>
                    <a:pt x="713" y="241"/>
                    <a:pt x="764" y="256"/>
                    <a:pt x="811" y="252"/>
                  </a:cubicBezTo>
                  <a:cubicBezTo>
                    <a:pt x="858" y="248"/>
                    <a:pt x="894" y="196"/>
                    <a:pt x="883" y="180"/>
                  </a:cubicBezTo>
                  <a:cubicBezTo>
                    <a:pt x="872" y="164"/>
                    <a:pt x="892" y="156"/>
                    <a:pt x="892" y="156"/>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160" name="Freeform 392">
              <a:extLst>
                <a:ext uri="{FF2B5EF4-FFF2-40B4-BE49-F238E27FC236}">
                  <a16:creationId xmlns:a16="http://schemas.microsoft.com/office/drawing/2014/main" id="{7F49E75A-DE68-499B-89E5-96E4870974A2}"/>
                </a:ext>
              </a:extLst>
            </p:cNvPr>
            <p:cNvSpPr>
              <a:spLocks/>
            </p:cNvSpPr>
            <p:nvPr/>
          </p:nvSpPr>
          <p:spPr bwMode="auto">
            <a:xfrm>
              <a:off x="1701288" y="3472890"/>
              <a:ext cx="368688" cy="284280"/>
            </a:xfrm>
            <a:custGeom>
              <a:avLst/>
              <a:gdLst>
                <a:gd name="T0" fmla="*/ 483 w 490"/>
                <a:gd name="T1" fmla="*/ 69 h 378"/>
                <a:gd name="T2" fmla="*/ 483 w 490"/>
                <a:gd name="T3" fmla="*/ 35 h 378"/>
                <a:gd name="T4" fmla="*/ 481 w 490"/>
                <a:gd name="T5" fmla="*/ 0 h 378"/>
                <a:gd name="T6" fmla="*/ 481 w 490"/>
                <a:gd name="T7" fmla="*/ 23 h 378"/>
                <a:gd name="T8" fmla="*/ 363 w 490"/>
                <a:gd name="T9" fmla="*/ 65 h 378"/>
                <a:gd name="T10" fmla="*/ 174 w 490"/>
                <a:gd name="T11" fmla="*/ 97 h 378"/>
                <a:gd name="T12" fmla="*/ 0 w 490"/>
                <a:gd name="T13" fmla="*/ 122 h 378"/>
                <a:gd name="T14" fmla="*/ 47 w 490"/>
                <a:gd name="T15" fmla="*/ 184 h 378"/>
                <a:gd name="T16" fmla="*/ 319 w 490"/>
                <a:gd name="T17" fmla="*/ 237 h 378"/>
                <a:gd name="T18" fmla="*/ 279 w 490"/>
                <a:gd name="T19" fmla="*/ 328 h 378"/>
                <a:gd name="T20" fmla="*/ 322 w 490"/>
                <a:gd name="T21" fmla="*/ 375 h 378"/>
                <a:gd name="T22" fmla="*/ 333 w 490"/>
                <a:gd name="T23" fmla="*/ 376 h 378"/>
                <a:gd name="T24" fmla="*/ 322 w 490"/>
                <a:gd name="T25" fmla="*/ 375 h 378"/>
                <a:gd name="T26" fmla="*/ 319 w 490"/>
                <a:gd name="T27" fmla="*/ 375 h 378"/>
                <a:gd name="T28" fmla="*/ 378 w 490"/>
                <a:gd name="T29" fmla="*/ 358 h 378"/>
                <a:gd name="T30" fmla="*/ 412 w 490"/>
                <a:gd name="T31" fmla="*/ 257 h 378"/>
                <a:gd name="T32" fmla="*/ 451 w 490"/>
                <a:gd name="T33" fmla="*/ 214 h 378"/>
                <a:gd name="T34" fmla="*/ 453 w 490"/>
                <a:gd name="T35" fmla="*/ 157 h 378"/>
                <a:gd name="T36" fmla="*/ 482 w 490"/>
                <a:gd name="T37" fmla="*/ 109 h 378"/>
                <a:gd name="T38" fmla="*/ 483 w 490"/>
                <a:gd name="T39" fmla="*/ 69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0" h="378">
                  <a:moveTo>
                    <a:pt x="483" y="69"/>
                  </a:moveTo>
                  <a:cubicBezTo>
                    <a:pt x="478" y="50"/>
                    <a:pt x="478" y="53"/>
                    <a:pt x="483" y="35"/>
                  </a:cubicBezTo>
                  <a:cubicBezTo>
                    <a:pt x="483" y="35"/>
                    <a:pt x="490" y="19"/>
                    <a:pt x="481" y="0"/>
                  </a:cubicBezTo>
                  <a:cubicBezTo>
                    <a:pt x="481" y="0"/>
                    <a:pt x="486" y="16"/>
                    <a:pt x="481" y="23"/>
                  </a:cubicBezTo>
                  <a:cubicBezTo>
                    <a:pt x="481" y="23"/>
                    <a:pt x="462" y="79"/>
                    <a:pt x="363" y="65"/>
                  </a:cubicBezTo>
                  <a:cubicBezTo>
                    <a:pt x="265" y="52"/>
                    <a:pt x="325" y="59"/>
                    <a:pt x="174" y="97"/>
                  </a:cubicBezTo>
                  <a:cubicBezTo>
                    <a:pt x="23" y="136"/>
                    <a:pt x="0" y="122"/>
                    <a:pt x="0" y="122"/>
                  </a:cubicBezTo>
                  <a:cubicBezTo>
                    <a:pt x="0" y="122"/>
                    <a:pt x="3" y="165"/>
                    <a:pt x="47" y="184"/>
                  </a:cubicBezTo>
                  <a:cubicBezTo>
                    <a:pt x="47" y="184"/>
                    <a:pt x="330" y="67"/>
                    <a:pt x="319" y="237"/>
                  </a:cubicBezTo>
                  <a:cubicBezTo>
                    <a:pt x="315" y="292"/>
                    <a:pt x="275" y="271"/>
                    <a:pt x="279" y="328"/>
                  </a:cubicBezTo>
                  <a:cubicBezTo>
                    <a:pt x="282" y="364"/>
                    <a:pt x="307" y="373"/>
                    <a:pt x="322" y="375"/>
                  </a:cubicBezTo>
                  <a:cubicBezTo>
                    <a:pt x="333" y="376"/>
                    <a:pt x="333" y="376"/>
                    <a:pt x="333" y="376"/>
                  </a:cubicBezTo>
                  <a:cubicBezTo>
                    <a:pt x="333" y="376"/>
                    <a:pt x="328" y="376"/>
                    <a:pt x="322" y="375"/>
                  </a:cubicBezTo>
                  <a:cubicBezTo>
                    <a:pt x="319" y="375"/>
                    <a:pt x="319" y="375"/>
                    <a:pt x="319" y="375"/>
                  </a:cubicBezTo>
                  <a:cubicBezTo>
                    <a:pt x="337" y="378"/>
                    <a:pt x="358" y="376"/>
                    <a:pt x="378" y="358"/>
                  </a:cubicBezTo>
                  <a:cubicBezTo>
                    <a:pt x="424" y="316"/>
                    <a:pt x="422" y="287"/>
                    <a:pt x="412" y="257"/>
                  </a:cubicBezTo>
                  <a:cubicBezTo>
                    <a:pt x="412" y="257"/>
                    <a:pt x="432" y="249"/>
                    <a:pt x="451" y="214"/>
                  </a:cubicBezTo>
                  <a:cubicBezTo>
                    <a:pt x="451" y="214"/>
                    <a:pt x="466" y="195"/>
                    <a:pt x="453" y="157"/>
                  </a:cubicBezTo>
                  <a:cubicBezTo>
                    <a:pt x="451" y="153"/>
                    <a:pt x="477" y="149"/>
                    <a:pt x="482" y="109"/>
                  </a:cubicBezTo>
                  <a:cubicBezTo>
                    <a:pt x="487" y="69"/>
                    <a:pt x="489" y="88"/>
                    <a:pt x="483" y="69"/>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161" name="Freeform 393">
              <a:extLst>
                <a:ext uri="{FF2B5EF4-FFF2-40B4-BE49-F238E27FC236}">
                  <a16:creationId xmlns:a16="http://schemas.microsoft.com/office/drawing/2014/main" id="{E80A366C-E63B-4578-805D-72016B10B31C}"/>
                </a:ext>
              </a:extLst>
            </p:cNvPr>
            <p:cNvSpPr>
              <a:spLocks/>
            </p:cNvSpPr>
            <p:nvPr/>
          </p:nvSpPr>
          <p:spPr bwMode="auto">
            <a:xfrm>
              <a:off x="1573083" y="3349463"/>
              <a:ext cx="219780" cy="230132"/>
            </a:xfrm>
            <a:custGeom>
              <a:avLst/>
              <a:gdLst>
                <a:gd name="T0" fmla="*/ 29 w 293"/>
                <a:gd name="T1" fmla="*/ 66 h 306"/>
                <a:gd name="T2" fmla="*/ 236 w 293"/>
                <a:gd name="T3" fmla="*/ 126 h 306"/>
                <a:gd name="T4" fmla="*/ 73 w 293"/>
                <a:gd name="T5" fmla="*/ 260 h 306"/>
                <a:gd name="T6" fmla="*/ 29 w 293"/>
                <a:gd name="T7" fmla="*/ 66 h 306"/>
              </a:gdLst>
              <a:ahLst/>
              <a:cxnLst>
                <a:cxn ang="0">
                  <a:pos x="T0" y="T1"/>
                </a:cxn>
                <a:cxn ang="0">
                  <a:pos x="T2" y="T3"/>
                </a:cxn>
                <a:cxn ang="0">
                  <a:pos x="T4" y="T5"/>
                </a:cxn>
                <a:cxn ang="0">
                  <a:pos x="T6" y="T7"/>
                </a:cxn>
              </a:cxnLst>
              <a:rect l="0" t="0" r="r" b="b"/>
              <a:pathLst>
                <a:path w="293" h="306">
                  <a:moveTo>
                    <a:pt x="29" y="66"/>
                  </a:moveTo>
                  <a:cubicBezTo>
                    <a:pt x="29" y="66"/>
                    <a:pt x="178" y="0"/>
                    <a:pt x="236" y="126"/>
                  </a:cubicBezTo>
                  <a:cubicBezTo>
                    <a:pt x="293" y="253"/>
                    <a:pt x="146" y="306"/>
                    <a:pt x="73" y="260"/>
                  </a:cubicBezTo>
                  <a:cubicBezTo>
                    <a:pt x="0" y="213"/>
                    <a:pt x="29" y="66"/>
                    <a:pt x="29" y="66"/>
                  </a:cubicBezTo>
                  <a:close/>
                </a:path>
              </a:pathLst>
            </a:custGeom>
            <a:solidFill>
              <a:srgbClr val="F8FCFC"/>
            </a:solidFill>
            <a:ln w="31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sz="1600"/>
            </a:p>
          </p:txBody>
        </p:sp>
        <p:sp>
          <p:nvSpPr>
            <p:cNvPr id="162" name="Freeform 394">
              <a:extLst>
                <a:ext uri="{FF2B5EF4-FFF2-40B4-BE49-F238E27FC236}">
                  <a16:creationId xmlns:a16="http://schemas.microsoft.com/office/drawing/2014/main" id="{496E2628-D888-460D-A06D-9C780C03D1DF}"/>
                </a:ext>
              </a:extLst>
            </p:cNvPr>
            <p:cNvSpPr>
              <a:spLocks/>
            </p:cNvSpPr>
            <p:nvPr/>
          </p:nvSpPr>
          <p:spPr bwMode="auto">
            <a:xfrm>
              <a:off x="837299" y="3004664"/>
              <a:ext cx="1231880" cy="769228"/>
            </a:xfrm>
            <a:custGeom>
              <a:avLst/>
              <a:gdLst>
                <a:gd name="T0" fmla="*/ 1134 w 1638"/>
                <a:gd name="T1" fmla="*/ 638 h 1023"/>
                <a:gd name="T2" fmla="*/ 1149 w 1638"/>
                <a:gd name="T3" fmla="*/ 745 h 1023"/>
                <a:gd name="T4" fmla="*/ 1255 w 1638"/>
                <a:gd name="T5" fmla="*/ 817 h 1023"/>
                <a:gd name="T6" fmla="*/ 1330 w 1638"/>
                <a:gd name="T7" fmla="*/ 925 h 1023"/>
                <a:gd name="T8" fmla="*/ 1426 w 1638"/>
                <a:gd name="T9" fmla="*/ 979 h 1023"/>
                <a:gd name="T10" fmla="*/ 1561 w 1638"/>
                <a:gd name="T11" fmla="*/ 880 h 1023"/>
                <a:gd name="T12" fmla="*/ 1602 w 1638"/>
                <a:gd name="T13" fmla="*/ 780 h 1023"/>
                <a:gd name="T14" fmla="*/ 1632 w 1638"/>
                <a:gd name="T15" fmla="*/ 692 h 1023"/>
                <a:gd name="T16" fmla="*/ 1624 w 1638"/>
                <a:gd name="T17" fmla="*/ 609 h 1023"/>
                <a:gd name="T18" fmla="*/ 1597 w 1638"/>
                <a:gd name="T19" fmla="*/ 527 h 1023"/>
                <a:gd name="T20" fmla="*/ 1556 w 1638"/>
                <a:gd name="T21" fmla="*/ 469 h 1023"/>
                <a:gd name="T22" fmla="*/ 1527 w 1638"/>
                <a:gd name="T23" fmla="*/ 400 h 1023"/>
                <a:gd name="T24" fmla="*/ 1469 w 1638"/>
                <a:gd name="T25" fmla="*/ 349 h 1023"/>
                <a:gd name="T26" fmla="*/ 1417 w 1638"/>
                <a:gd name="T27" fmla="*/ 279 h 1023"/>
                <a:gd name="T28" fmla="*/ 1310 w 1638"/>
                <a:gd name="T29" fmla="*/ 185 h 1023"/>
                <a:gd name="T30" fmla="*/ 1187 w 1638"/>
                <a:gd name="T31" fmla="*/ 109 h 1023"/>
                <a:gd name="T32" fmla="*/ 1132 w 1638"/>
                <a:gd name="T33" fmla="*/ 79 h 1023"/>
                <a:gd name="T34" fmla="*/ 1025 w 1638"/>
                <a:gd name="T35" fmla="*/ 39 h 1023"/>
                <a:gd name="T36" fmla="*/ 953 w 1638"/>
                <a:gd name="T37" fmla="*/ 31 h 1023"/>
                <a:gd name="T38" fmla="*/ 830 w 1638"/>
                <a:gd name="T39" fmla="*/ 31 h 1023"/>
                <a:gd name="T40" fmla="*/ 712 w 1638"/>
                <a:gd name="T41" fmla="*/ 5 h 1023"/>
                <a:gd name="T42" fmla="*/ 587 w 1638"/>
                <a:gd name="T43" fmla="*/ 18 h 1023"/>
                <a:gd name="T44" fmla="*/ 475 w 1638"/>
                <a:gd name="T45" fmla="*/ 39 h 1023"/>
                <a:gd name="T46" fmla="*/ 321 w 1638"/>
                <a:gd name="T47" fmla="*/ 82 h 1023"/>
                <a:gd name="T48" fmla="*/ 225 w 1638"/>
                <a:gd name="T49" fmla="*/ 132 h 1023"/>
                <a:gd name="T50" fmla="*/ 164 w 1638"/>
                <a:gd name="T51" fmla="*/ 180 h 1023"/>
                <a:gd name="T52" fmla="*/ 67 w 1638"/>
                <a:gd name="T53" fmla="*/ 300 h 1023"/>
                <a:gd name="T54" fmla="*/ 34 w 1638"/>
                <a:gd name="T55" fmla="*/ 377 h 1023"/>
                <a:gd name="T56" fmla="*/ 5 w 1638"/>
                <a:gd name="T57" fmla="*/ 472 h 1023"/>
                <a:gd name="T58" fmla="*/ 19 w 1638"/>
                <a:gd name="T59" fmla="*/ 617 h 1023"/>
                <a:gd name="T60" fmla="*/ 89 w 1638"/>
                <a:gd name="T61" fmla="*/ 729 h 1023"/>
                <a:gd name="T62" fmla="*/ 198 w 1638"/>
                <a:gd name="T63" fmla="*/ 808 h 1023"/>
                <a:gd name="T64" fmla="*/ 541 w 1638"/>
                <a:gd name="T65" fmla="*/ 764 h 1023"/>
                <a:gd name="T66" fmla="*/ 468 w 1638"/>
                <a:gd name="T67" fmla="*/ 620 h 1023"/>
                <a:gd name="T68" fmla="*/ 651 w 1638"/>
                <a:gd name="T69" fmla="*/ 384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8" h="1023">
                  <a:moveTo>
                    <a:pt x="1026" y="487"/>
                  </a:moveTo>
                  <a:cubicBezTo>
                    <a:pt x="1026" y="487"/>
                    <a:pt x="1134" y="568"/>
                    <a:pt x="1134" y="638"/>
                  </a:cubicBezTo>
                  <a:cubicBezTo>
                    <a:pt x="1134" y="707"/>
                    <a:pt x="1094" y="726"/>
                    <a:pt x="1079" y="731"/>
                  </a:cubicBezTo>
                  <a:cubicBezTo>
                    <a:pt x="1074" y="732"/>
                    <a:pt x="1105" y="753"/>
                    <a:pt x="1149" y="745"/>
                  </a:cubicBezTo>
                  <a:cubicBezTo>
                    <a:pt x="1149" y="745"/>
                    <a:pt x="1152" y="788"/>
                    <a:pt x="1196" y="807"/>
                  </a:cubicBezTo>
                  <a:cubicBezTo>
                    <a:pt x="1211" y="814"/>
                    <a:pt x="1230" y="818"/>
                    <a:pt x="1255" y="817"/>
                  </a:cubicBezTo>
                  <a:cubicBezTo>
                    <a:pt x="1255" y="817"/>
                    <a:pt x="1281" y="893"/>
                    <a:pt x="1305" y="906"/>
                  </a:cubicBezTo>
                  <a:cubicBezTo>
                    <a:pt x="1328" y="918"/>
                    <a:pt x="1311" y="902"/>
                    <a:pt x="1330" y="925"/>
                  </a:cubicBezTo>
                  <a:cubicBezTo>
                    <a:pt x="1349" y="947"/>
                    <a:pt x="1352" y="961"/>
                    <a:pt x="1393" y="957"/>
                  </a:cubicBezTo>
                  <a:cubicBezTo>
                    <a:pt x="1410" y="955"/>
                    <a:pt x="1376" y="963"/>
                    <a:pt x="1426" y="979"/>
                  </a:cubicBezTo>
                  <a:cubicBezTo>
                    <a:pt x="1426" y="979"/>
                    <a:pt x="1480" y="1023"/>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463" y="819"/>
                    <a:pt x="511" y="809"/>
                    <a:pt x="541" y="764"/>
                  </a:cubicBezTo>
                  <a:cubicBezTo>
                    <a:pt x="572" y="719"/>
                    <a:pt x="560" y="682"/>
                    <a:pt x="553" y="666"/>
                  </a:cubicBezTo>
                  <a:cubicBezTo>
                    <a:pt x="546" y="650"/>
                    <a:pt x="522" y="636"/>
                    <a:pt x="468" y="620"/>
                  </a:cubicBezTo>
                  <a:cubicBezTo>
                    <a:pt x="413" y="604"/>
                    <a:pt x="343" y="575"/>
                    <a:pt x="364" y="499"/>
                  </a:cubicBezTo>
                  <a:cubicBezTo>
                    <a:pt x="384" y="424"/>
                    <a:pt x="514" y="379"/>
                    <a:pt x="651" y="384"/>
                  </a:cubicBezTo>
                  <a:cubicBezTo>
                    <a:pt x="787" y="389"/>
                    <a:pt x="937" y="416"/>
                    <a:pt x="1026" y="487"/>
                  </a:cubicBezTo>
                  <a:close/>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3" name="Freeform 395">
              <a:extLst>
                <a:ext uri="{FF2B5EF4-FFF2-40B4-BE49-F238E27FC236}">
                  <a16:creationId xmlns:a16="http://schemas.microsoft.com/office/drawing/2014/main" id="{A439FCD2-73C2-48D0-B87F-CB28BD1B1835}"/>
                </a:ext>
              </a:extLst>
            </p:cNvPr>
            <p:cNvSpPr>
              <a:spLocks/>
            </p:cNvSpPr>
            <p:nvPr/>
          </p:nvSpPr>
          <p:spPr bwMode="auto">
            <a:xfrm>
              <a:off x="1698102" y="3145610"/>
              <a:ext cx="75649" cy="50963"/>
            </a:xfrm>
            <a:custGeom>
              <a:avLst/>
              <a:gdLst>
                <a:gd name="T0" fmla="*/ 97 w 101"/>
                <a:gd name="T1" fmla="*/ 0 h 68"/>
                <a:gd name="T2" fmla="*/ 79 w 101"/>
                <a:gd name="T3" fmla="*/ 35 h 68"/>
                <a:gd name="T4" fmla="*/ 53 w 101"/>
                <a:gd name="T5" fmla="*/ 59 h 68"/>
                <a:gd name="T6" fmla="*/ 0 w 101"/>
                <a:gd name="T7" fmla="*/ 65 h 68"/>
              </a:gdLst>
              <a:ahLst/>
              <a:cxnLst>
                <a:cxn ang="0">
                  <a:pos x="T0" y="T1"/>
                </a:cxn>
                <a:cxn ang="0">
                  <a:pos x="T2" y="T3"/>
                </a:cxn>
                <a:cxn ang="0">
                  <a:pos x="T4" y="T5"/>
                </a:cxn>
                <a:cxn ang="0">
                  <a:pos x="T6" y="T7"/>
                </a:cxn>
              </a:cxnLst>
              <a:rect l="0" t="0" r="r" b="b"/>
              <a:pathLst>
                <a:path w="101" h="68">
                  <a:moveTo>
                    <a:pt x="97" y="0"/>
                  </a:moveTo>
                  <a:cubicBezTo>
                    <a:pt x="97" y="0"/>
                    <a:pt x="101" y="16"/>
                    <a:pt x="79" y="35"/>
                  </a:cubicBezTo>
                  <a:cubicBezTo>
                    <a:pt x="58" y="53"/>
                    <a:pt x="53" y="59"/>
                    <a:pt x="53" y="59"/>
                  </a:cubicBezTo>
                  <a:cubicBezTo>
                    <a:pt x="53" y="59"/>
                    <a:pt x="54" y="68"/>
                    <a:pt x="0" y="6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4" name="Freeform 396">
              <a:extLst>
                <a:ext uri="{FF2B5EF4-FFF2-40B4-BE49-F238E27FC236}">
                  <a16:creationId xmlns:a16="http://schemas.microsoft.com/office/drawing/2014/main" id="{891882BA-39AD-499C-9123-48BEA690689A}"/>
                </a:ext>
              </a:extLst>
            </p:cNvPr>
            <p:cNvSpPr>
              <a:spLocks/>
            </p:cNvSpPr>
            <p:nvPr/>
          </p:nvSpPr>
          <p:spPr bwMode="auto">
            <a:xfrm>
              <a:off x="1729158" y="3175869"/>
              <a:ext cx="57334" cy="39815"/>
            </a:xfrm>
            <a:custGeom>
              <a:avLst/>
              <a:gdLst>
                <a:gd name="T0" fmla="*/ 76 w 76"/>
                <a:gd name="T1" fmla="*/ 2 h 53"/>
                <a:gd name="T2" fmla="*/ 32 w 76"/>
                <a:gd name="T3" fmla="*/ 1 h 53"/>
                <a:gd name="T4" fmla="*/ 22 w 76"/>
                <a:gd name="T5" fmla="*/ 7 h 53"/>
                <a:gd name="T6" fmla="*/ 9 w 76"/>
                <a:gd name="T7" fmla="*/ 53 h 53"/>
              </a:gdLst>
              <a:ahLst/>
              <a:cxnLst>
                <a:cxn ang="0">
                  <a:pos x="T0" y="T1"/>
                </a:cxn>
                <a:cxn ang="0">
                  <a:pos x="T2" y="T3"/>
                </a:cxn>
                <a:cxn ang="0">
                  <a:pos x="T4" y="T5"/>
                </a:cxn>
                <a:cxn ang="0">
                  <a:pos x="T6" y="T7"/>
                </a:cxn>
              </a:cxnLst>
              <a:rect l="0" t="0" r="r" b="b"/>
              <a:pathLst>
                <a:path w="76" h="53">
                  <a:moveTo>
                    <a:pt x="76" y="2"/>
                  </a:moveTo>
                  <a:cubicBezTo>
                    <a:pt x="76" y="2"/>
                    <a:pt x="40" y="0"/>
                    <a:pt x="32" y="1"/>
                  </a:cubicBezTo>
                  <a:cubicBezTo>
                    <a:pt x="25" y="3"/>
                    <a:pt x="25" y="5"/>
                    <a:pt x="22" y="7"/>
                  </a:cubicBezTo>
                  <a:cubicBezTo>
                    <a:pt x="19" y="9"/>
                    <a:pt x="0" y="19"/>
                    <a:pt x="9" y="5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5" name="Freeform 397">
              <a:extLst>
                <a:ext uri="{FF2B5EF4-FFF2-40B4-BE49-F238E27FC236}">
                  <a16:creationId xmlns:a16="http://schemas.microsoft.com/office/drawing/2014/main" id="{98781650-CAA8-4683-A9B9-5F3A2CF71522}"/>
                </a:ext>
              </a:extLst>
            </p:cNvPr>
            <p:cNvSpPr>
              <a:spLocks/>
            </p:cNvSpPr>
            <p:nvPr/>
          </p:nvSpPr>
          <p:spPr bwMode="auto">
            <a:xfrm>
              <a:off x="1992734" y="3538187"/>
              <a:ext cx="52556" cy="60519"/>
            </a:xfrm>
            <a:custGeom>
              <a:avLst/>
              <a:gdLst>
                <a:gd name="T0" fmla="*/ 70 w 70"/>
                <a:gd name="T1" fmla="*/ 69 h 81"/>
                <a:gd name="T2" fmla="*/ 35 w 70"/>
                <a:gd name="T3" fmla="*/ 58 h 81"/>
                <a:gd name="T4" fmla="*/ 24 w 70"/>
                <a:gd name="T5" fmla="*/ 0 h 81"/>
              </a:gdLst>
              <a:ahLst/>
              <a:cxnLst>
                <a:cxn ang="0">
                  <a:pos x="T0" y="T1"/>
                </a:cxn>
                <a:cxn ang="0">
                  <a:pos x="T2" y="T3"/>
                </a:cxn>
                <a:cxn ang="0">
                  <a:pos x="T4" y="T5"/>
                </a:cxn>
              </a:cxnLst>
              <a:rect l="0" t="0" r="r" b="b"/>
              <a:pathLst>
                <a:path w="70" h="81">
                  <a:moveTo>
                    <a:pt x="70" y="69"/>
                  </a:moveTo>
                  <a:cubicBezTo>
                    <a:pt x="70" y="69"/>
                    <a:pt x="57" y="81"/>
                    <a:pt x="35" y="58"/>
                  </a:cubicBezTo>
                  <a:cubicBezTo>
                    <a:pt x="14" y="36"/>
                    <a:pt x="0" y="20"/>
                    <a:pt x="24"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6" name="Freeform 398">
              <a:extLst>
                <a:ext uri="{FF2B5EF4-FFF2-40B4-BE49-F238E27FC236}">
                  <a16:creationId xmlns:a16="http://schemas.microsoft.com/office/drawing/2014/main" id="{EC8151E7-0802-45EB-9A91-F1AF5CFE4F0D}"/>
                </a:ext>
              </a:extLst>
            </p:cNvPr>
            <p:cNvSpPr>
              <a:spLocks/>
            </p:cNvSpPr>
            <p:nvPr/>
          </p:nvSpPr>
          <p:spPr bwMode="auto">
            <a:xfrm>
              <a:off x="1972031" y="3546946"/>
              <a:ext cx="33445" cy="17519"/>
            </a:xfrm>
            <a:custGeom>
              <a:avLst/>
              <a:gdLst>
                <a:gd name="T0" fmla="*/ 0 w 44"/>
                <a:gd name="T1" fmla="*/ 6 h 23"/>
                <a:gd name="T2" fmla="*/ 44 w 44"/>
                <a:gd name="T3" fmla="*/ 23 h 23"/>
              </a:gdLst>
              <a:ahLst/>
              <a:cxnLst>
                <a:cxn ang="0">
                  <a:pos x="T0" y="T1"/>
                </a:cxn>
                <a:cxn ang="0">
                  <a:pos x="T2" y="T3"/>
                </a:cxn>
              </a:cxnLst>
              <a:rect l="0" t="0" r="r" b="b"/>
              <a:pathLst>
                <a:path w="44" h="23">
                  <a:moveTo>
                    <a:pt x="0" y="6"/>
                  </a:moveTo>
                  <a:cubicBezTo>
                    <a:pt x="0" y="6"/>
                    <a:pt x="27" y="0"/>
                    <a:pt x="44" y="2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7" name="Freeform 399">
              <a:extLst>
                <a:ext uri="{FF2B5EF4-FFF2-40B4-BE49-F238E27FC236}">
                  <a16:creationId xmlns:a16="http://schemas.microsoft.com/office/drawing/2014/main" id="{743A93C3-D0C9-4362-BEE4-33CD2DB4E5FC}"/>
                </a:ext>
              </a:extLst>
            </p:cNvPr>
            <p:cNvSpPr>
              <a:spLocks/>
            </p:cNvSpPr>
            <p:nvPr/>
          </p:nvSpPr>
          <p:spPr bwMode="auto">
            <a:xfrm>
              <a:off x="1874085" y="3537391"/>
              <a:ext cx="74056" cy="134575"/>
            </a:xfrm>
            <a:custGeom>
              <a:avLst/>
              <a:gdLst>
                <a:gd name="T0" fmla="*/ 0 w 98"/>
                <a:gd name="T1" fmla="*/ 0 h 179"/>
                <a:gd name="T2" fmla="*/ 82 w 98"/>
                <a:gd name="T3" fmla="*/ 98 h 179"/>
                <a:gd name="T4" fmla="*/ 52 w 98"/>
                <a:gd name="T5" fmla="*/ 179 h 179"/>
              </a:gdLst>
              <a:ahLst/>
              <a:cxnLst>
                <a:cxn ang="0">
                  <a:pos x="T0" y="T1"/>
                </a:cxn>
                <a:cxn ang="0">
                  <a:pos x="T2" y="T3"/>
                </a:cxn>
                <a:cxn ang="0">
                  <a:pos x="T4" y="T5"/>
                </a:cxn>
              </a:cxnLst>
              <a:rect l="0" t="0" r="r" b="b"/>
              <a:pathLst>
                <a:path w="98" h="179">
                  <a:moveTo>
                    <a:pt x="0" y="0"/>
                  </a:moveTo>
                  <a:cubicBezTo>
                    <a:pt x="0" y="0"/>
                    <a:pt x="64" y="46"/>
                    <a:pt x="82" y="98"/>
                  </a:cubicBezTo>
                  <a:cubicBezTo>
                    <a:pt x="98" y="141"/>
                    <a:pt x="81" y="145"/>
                    <a:pt x="52" y="17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8" name="Freeform 400">
              <a:extLst>
                <a:ext uri="{FF2B5EF4-FFF2-40B4-BE49-F238E27FC236}">
                  <a16:creationId xmlns:a16="http://schemas.microsoft.com/office/drawing/2014/main" id="{838D4D5E-5C98-432F-AF1A-5D16055775C2}"/>
                </a:ext>
              </a:extLst>
            </p:cNvPr>
            <p:cNvSpPr>
              <a:spLocks/>
            </p:cNvSpPr>
            <p:nvPr/>
          </p:nvSpPr>
          <p:spPr bwMode="auto">
            <a:xfrm>
              <a:off x="1940178" y="3625780"/>
              <a:ext cx="30260" cy="34241"/>
            </a:xfrm>
            <a:custGeom>
              <a:avLst/>
              <a:gdLst>
                <a:gd name="T0" fmla="*/ 0 w 41"/>
                <a:gd name="T1" fmla="*/ 0 h 45"/>
                <a:gd name="T2" fmla="*/ 41 w 41"/>
                <a:gd name="T3" fmla="*/ 45 h 45"/>
              </a:gdLst>
              <a:ahLst/>
              <a:cxnLst>
                <a:cxn ang="0">
                  <a:pos x="T0" y="T1"/>
                </a:cxn>
                <a:cxn ang="0">
                  <a:pos x="T2" y="T3"/>
                </a:cxn>
              </a:cxnLst>
              <a:rect l="0" t="0" r="r" b="b"/>
              <a:pathLst>
                <a:path w="41" h="45">
                  <a:moveTo>
                    <a:pt x="0" y="0"/>
                  </a:moveTo>
                  <a:cubicBezTo>
                    <a:pt x="0" y="0"/>
                    <a:pt x="0" y="40"/>
                    <a:pt x="41" y="4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69" name="Line 401">
              <a:extLst>
                <a:ext uri="{FF2B5EF4-FFF2-40B4-BE49-F238E27FC236}">
                  <a16:creationId xmlns:a16="http://schemas.microsoft.com/office/drawing/2014/main" id="{4CBBC775-9BC9-4961-A53E-946A9CDB25A8}"/>
                </a:ext>
              </a:extLst>
            </p:cNvPr>
            <p:cNvSpPr>
              <a:spLocks noChangeShapeType="1"/>
            </p:cNvSpPr>
            <p:nvPr/>
          </p:nvSpPr>
          <p:spPr bwMode="auto">
            <a:xfrm flipH="1" flipV="1">
              <a:off x="1989549" y="3664002"/>
              <a:ext cx="24686" cy="2389"/>
            </a:xfrm>
            <a:prstGeom prst="line">
              <a:avLst/>
            </a:prstGeom>
            <a:noFill/>
            <a:ln w="3175"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0" name="Freeform 402">
              <a:extLst>
                <a:ext uri="{FF2B5EF4-FFF2-40B4-BE49-F238E27FC236}">
                  <a16:creationId xmlns:a16="http://schemas.microsoft.com/office/drawing/2014/main" id="{3FB45CCC-B0EF-4824-B8DE-9636F29CD78F}"/>
                </a:ext>
              </a:extLst>
            </p:cNvPr>
            <p:cNvSpPr>
              <a:spLocks/>
            </p:cNvSpPr>
            <p:nvPr/>
          </p:nvSpPr>
          <p:spPr bwMode="auto">
            <a:xfrm>
              <a:off x="1891604" y="3699836"/>
              <a:ext cx="62908" cy="24686"/>
            </a:xfrm>
            <a:custGeom>
              <a:avLst/>
              <a:gdLst>
                <a:gd name="T0" fmla="*/ 83 w 83"/>
                <a:gd name="T1" fmla="*/ 18 h 33"/>
                <a:gd name="T2" fmla="*/ 0 w 83"/>
                <a:gd name="T3" fmla="*/ 33 h 33"/>
              </a:gdLst>
              <a:ahLst/>
              <a:cxnLst>
                <a:cxn ang="0">
                  <a:pos x="T0" y="T1"/>
                </a:cxn>
                <a:cxn ang="0">
                  <a:pos x="T2" y="T3"/>
                </a:cxn>
              </a:cxnLst>
              <a:rect l="0" t="0" r="r" b="b"/>
              <a:pathLst>
                <a:path w="83" h="33">
                  <a:moveTo>
                    <a:pt x="83" y="18"/>
                  </a:moveTo>
                  <a:cubicBezTo>
                    <a:pt x="83" y="18"/>
                    <a:pt x="53" y="0"/>
                    <a:pt x="0" y="3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1" name="Freeform 403">
              <a:extLst>
                <a:ext uri="{FF2B5EF4-FFF2-40B4-BE49-F238E27FC236}">
                  <a16:creationId xmlns:a16="http://schemas.microsoft.com/office/drawing/2014/main" id="{4B0B45ED-BA35-4BC3-A6C9-CA857A254C3C}"/>
                </a:ext>
              </a:extLst>
            </p:cNvPr>
            <p:cNvSpPr>
              <a:spLocks/>
            </p:cNvSpPr>
            <p:nvPr/>
          </p:nvSpPr>
          <p:spPr bwMode="auto">
            <a:xfrm>
              <a:off x="1847011" y="3589947"/>
              <a:ext cx="39815" cy="48575"/>
            </a:xfrm>
            <a:custGeom>
              <a:avLst/>
              <a:gdLst>
                <a:gd name="T0" fmla="*/ 52 w 52"/>
                <a:gd name="T1" fmla="*/ 41 h 65"/>
                <a:gd name="T2" fmla="*/ 0 w 52"/>
                <a:gd name="T3" fmla="*/ 65 h 65"/>
                <a:gd name="T4" fmla="*/ 5 w 52"/>
                <a:gd name="T5" fmla="*/ 0 h 65"/>
              </a:gdLst>
              <a:ahLst/>
              <a:cxnLst>
                <a:cxn ang="0">
                  <a:pos x="T0" y="T1"/>
                </a:cxn>
                <a:cxn ang="0">
                  <a:pos x="T2" y="T3"/>
                </a:cxn>
                <a:cxn ang="0">
                  <a:pos x="T4" y="T5"/>
                </a:cxn>
              </a:cxnLst>
              <a:rect l="0" t="0" r="r" b="b"/>
              <a:pathLst>
                <a:path w="52" h="65">
                  <a:moveTo>
                    <a:pt x="52" y="41"/>
                  </a:moveTo>
                  <a:cubicBezTo>
                    <a:pt x="52" y="41"/>
                    <a:pt x="23" y="31"/>
                    <a:pt x="0" y="65"/>
                  </a:cubicBezTo>
                  <a:cubicBezTo>
                    <a:pt x="0" y="65"/>
                    <a:pt x="43" y="24"/>
                    <a:pt x="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2" name="Freeform 404">
              <a:extLst>
                <a:ext uri="{FF2B5EF4-FFF2-40B4-BE49-F238E27FC236}">
                  <a16:creationId xmlns:a16="http://schemas.microsoft.com/office/drawing/2014/main" id="{3FDBC9EE-7F54-48AE-BCB3-32EA42879976}"/>
                </a:ext>
              </a:extLst>
            </p:cNvPr>
            <p:cNvSpPr>
              <a:spLocks/>
            </p:cNvSpPr>
            <p:nvPr/>
          </p:nvSpPr>
          <p:spPr bwMode="auto">
            <a:xfrm>
              <a:off x="1780918" y="3584372"/>
              <a:ext cx="46982" cy="35037"/>
            </a:xfrm>
            <a:custGeom>
              <a:avLst/>
              <a:gdLst>
                <a:gd name="T0" fmla="*/ 62 w 62"/>
                <a:gd name="T1" fmla="*/ 0 h 46"/>
                <a:gd name="T2" fmla="*/ 0 w 62"/>
                <a:gd name="T3" fmla="*/ 46 h 46"/>
              </a:gdLst>
              <a:ahLst/>
              <a:cxnLst>
                <a:cxn ang="0">
                  <a:pos x="T0" y="T1"/>
                </a:cxn>
                <a:cxn ang="0">
                  <a:pos x="T2" y="T3"/>
                </a:cxn>
              </a:cxnLst>
              <a:rect l="0" t="0" r="r" b="b"/>
              <a:pathLst>
                <a:path w="62" h="46">
                  <a:moveTo>
                    <a:pt x="62" y="0"/>
                  </a:moveTo>
                  <a:cubicBezTo>
                    <a:pt x="62" y="0"/>
                    <a:pt x="10" y="31"/>
                    <a:pt x="0" y="4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3" name="Freeform 405">
              <a:extLst>
                <a:ext uri="{FF2B5EF4-FFF2-40B4-BE49-F238E27FC236}">
                  <a16:creationId xmlns:a16="http://schemas.microsoft.com/office/drawing/2014/main" id="{DA1DA843-748B-4E66-AE5A-454D77D43B4E}"/>
                </a:ext>
              </a:extLst>
            </p:cNvPr>
            <p:cNvSpPr>
              <a:spLocks/>
            </p:cNvSpPr>
            <p:nvPr/>
          </p:nvSpPr>
          <p:spPr bwMode="auto">
            <a:xfrm>
              <a:off x="1940178" y="3496779"/>
              <a:ext cx="96353" cy="23093"/>
            </a:xfrm>
            <a:custGeom>
              <a:avLst/>
              <a:gdLst>
                <a:gd name="T0" fmla="*/ 129 w 129"/>
                <a:gd name="T1" fmla="*/ 26 h 31"/>
                <a:gd name="T2" fmla="*/ 90 w 129"/>
                <a:gd name="T3" fmla="*/ 16 h 31"/>
                <a:gd name="T4" fmla="*/ 0 w 129"/>
                <a:gd name="T5" fmla="*/ 2 h 31"/>
              </a:gdLst>
              <a:ahLst/>
              <a:cxnLst>
                <a:cxn ang="0">
                  <a:pos x="T0" y="T1"/>
                </a:cxn>
                <a:cxn ang="0">
                  <a:pos x="T2" y="T3"/>
                </a:cxn>
                <a:cxn ang="0">
                  <a:pos x="T4" y="T5"/>
                </a:cxn>
              </a:cxnLst>
              <a:rect l="0" t="0" r="r" b="b"/>
              <a:pathLst>
                <a:path w="129" h="31">
                  <a:moveTo>
                    <a:pt x="129" y="26"/>
                  </a:moveTo>
                  <a:cubicBezTo>
                    <a:pt x="129" y="26"/>
                    <a:pt x="120" y="31"/>
                    <a:pt x="90" y="16"/>
                  </a:cubicBezTo>
                  <a:cubicBezTo>
                    <a:pt x="60" y="1"/>
                    <a:pt x="23" y="0"/>
                    <a:pt x="0" y="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4" name="Freeform 406">
              <a:extLst>
                <a:ext uri="{FF2B5EF4-FFF2-40B4-BE49-F238E27FC236}">
                  <a16:creationId xmlns:a16="http://schemas.microsoft.com/office/drawing/2014/main" id="{BC97E943-8947-4A35-8F8F-C24799915D76}"/>
                </a:ext>
              </a:extLst>
            </p:cNvPr>
            <p:cNvSpPr>
              <a:spLocks/>
            </p:cNvSpPr>
            <p:nvPr/>
          </p:nvSpPr>
          <p:spPr bwMode="auto">
            <a:xfrm>
              <a:off x="1704473" y="3371760"/>
              <a:ext cx="260391" cy="193502"/>
            </a:xfrm>
            <a:custGeom>
              <a:avLst/>
              <a:gdLst>
                <a:gd name="T0" fmla="*/ 346 w 346"/>
                <a:gd name="T1" fmla="*/ 0 h 257"/>
                <a:gd name="T2" fmla="*/ 309 w 346"/>
                <a:gd name="T3" fmla="*/ 17 h 257"/>
                <a:gd name="T4" fmla="*/ 228 w 346"/>
                <a:gd name="T5" fmla="*/ 59 h 257"/>
                <a:gd name="T6" fmla="*/ 153 w 346"/>
                <a:gd name="T7" fmla="*/ 137 h 257"/>
                <a:gd name="T8" fmla="*/ 84 w 346"/>
                <a:gd name="T9" fmla="*/ 195 h 257"/>
                <a:gd name="T10" fmla="*/ 0 w 346"/>
                <a:gd name="T11" fmla="*/ 257 h 257"/>
              </a:gdLst>
              <a:ahLst/>
              <a:cxnLst>
                <a:cxn ang="0">
                  <a:pos x="T0" y="T1"/>
                </a:cxn>
                <a:cxn ang="0">
                  <a:pos x="T2" y="T3"/>
                </a:cxn>
                <a:cxn ang="0">
                  <a:pos x="T4" y="T5"/>
                </a:cxn>
                <a:cxn ang="0">
                  <a:pos x="T6" y="T7"/>
                </a:cxn>
                <a:cxn ang="0">
                  <a:pos x="T8" y="T9"/>
                </a:cxn>
                <a:cxn ang="0">
                  <a:pos x="T10" y="T11"/>
                </a:cxn>
              </a:cxnLst>
              <a:rect l="0" t="0" r="r" b="b"/>
              <a:pathLst>
                <a:path w="346" h="257">
                  <a:moveTo>
                    <a:pt x="346" y="0"/>
                  </a:moveTo>
                  <a:cubicBezTo>
                    <a:pt x="346" y="0"/>
                    <a:pt x="338" y="14"/>
                    <a:pt x="309" y="17"/>
                  </a:cubicBezTo>
                  <a:cubicBezTo>
                    <a:pt x="280" y="21"/>
                    <a:pt x="248" y="37"/>
                    <a:pt x="228" y="59"/>
                  </a:cubicBezTo>
                  <a:cubicBezTo>
                    <a:pt x="208" y="82"/>
                    <a:pt x="179" y="126"/>
                    <a:pt x="153" y="137"/>
                  </a:cubicBezTo>
                  <a:cubicBezTo>
                    <a:pt x="126" y="148"/>
                    <a:pt x="104" y="172"/>
                    <a:pt x="84" y="195"/>
                  </a:cubicBezTo>
                  <a:cubicBezTo>
                    <a:pt x="63" y="218"/>
                    <a:pt x="29" y="252"/>
                    <a:pt x="0" y="25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5" name="Freeform 407">
              <a:extLst>
                <a:ext uri="{FF2B5EF4-FFF2-40B4-BE49-F238E27FC236}">
                  <a16:creationId xmlns:a16="http://schemas.microsoft.com/office/drawing/2014/main" id="{E21EA899-A147-485A-A415-842FDB528A66}"/>
                </a:ext>
              </a:extLst>
            </p:cNvPr>
            <p:cNvSpPr>
              <a:spLocks/>
            </p:cNvSpPr>
            <p:nvPr/>
          </p:nvSpPr>
          <p:spPr bwMode="auto">
            <a:xfrm>
              <a:off x="1806400" y="3476075"/>
              <a:ext cx="103519" cy="23093"/>
            </a:xfrm>
            <a:custGeom>
              <a:avLst/>
              <a:gdLst>
                <a:gd name="T0" fmla="*/ 137 w 137"/>
                <a:gd name="T1" fmla="*/ 25 h 31"/>
                <a:gd name="T2" fmla="*/ 71 w 137"/>
                <a:gd name="T3" fmla="*/ 16 h 31"/>
                <a:gd name="T4" fmla="*/ 0 w 137"/>
                <a:gd name="T5" fmla="*/ 8 h 31"/>
              </a:gdLst>
              <a:ahLst/>
              <a:cxnLst>
                <a:cxn ang="0">
                  <a:pos x="T0" y="T1"/>
                </a:cxn>
                <a:cxn ang="0">
                  <a:pos x="T2" y="T3"/>
                </a:cxn>
                <a:cxn ang="0">
                  <a:pos x="T4" y="T5"/>
                </a:cxn>
              </a:cxnLst>
              <a:rect l="0" t="0" r="r" b="b"/>
              <a:pathLst>
                <a:path w="137" h="31">
                  <a:moveTo>
                    <a:pt x="137" y="25"/>
                  </a:moveTo>
                  <a:cubicBezTo>
                    <a:pt x="137" y="25"/>
                    <a:pt x="106" y="31"/>
                    <a:pt x="71" y="16"/>
                  </a:cubicBezTo>
                  <a:cubicBezTo>
                    <a:pt x="36" y="0"/>
                    <a:pt x="14" y="3"/>
                    <a:pt x="0" y="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6" name="Freeform 408">
              <a:extLst>
                <a:ext uri="{FF2B5EF4-FFF2-40B4-BE49-F238E27FC236}">
                  <a16:creationId xmlns:a16="http://schemas.microsoft.com/office/drawing/2014/main" id="{DF3FC027-8112-4436-B14E-145DE63F0AA9}"/>
                </a:ext>
              </a:extLst>
            </p:cNvPr>
            <p:cNvSpPr>
              <a:spLocks/>
            </p:cNvSpPr>
            <p:nvPr/>
          </p:nvSpPr>
          <p:spPr bwMode="auto">
            <a:xfrm>
              <a:off x="1940178" y="3385297"/>
              <a:ext cx="27074" cy="11148"/>
            </a:xfrm>
            <a:custGeom>
              <a:avLst/>
              <a:gdLst>
                <a:gd name="T0" fmla="*/ 36 w 36"/>
                <a:gd name="T1" fmla="*/ 15 h 15"/>
                <a:gd name="T2" fmla="*/ 0 w 36"/>
                <a:gd name="T3" fmla="*/ 0 h 15"/>
              </a:gdLst>
              <a:ahLst/>
              <a:cxnLst>
                <a:cxn ang="0">
                  <a:pos x="T0" y="T1"/>
                </a:cxn>
                <a:cxn ang="0">
                  <a:pos x="T2" y="T3"/>
                </a:cxn>
              </a:cxnLst>
              <a:rect l="0" t="0" r="r" b="b"/>
              <a:pathLst>
                <a:path w="36" h="15">
                  <a:moveTo>
                    <a:pt x="36" y="15"/>
                  </a:moveTo>
                  <a:cubicBezTo>
                    <a:pt x="36" y="15"/>
                    <a:pt x="20" y="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7" name="Freeform 409">
              <a:extLst>
                <a:ext uri="{FF2B5EF4-FFF2-40B4-BE49-F238E27FC236}">
                  <a16:creationId xmlns:a16="http://schemas.microsoft.com/office/drawing/2014/main" id="{B9FE4B6D-DFEC-4F1E-B31B-ADE4FEBA214A}"/>
                </a:ext>
              </a:extLst>
            </p:cNvPr>
            <p:cNvSpPr>
              <a:spLocks/>
            </p:cNvSpPr>
            <p:nvPr/>
          </p:nvSpPr>
          <p:spPr bwMode="auto">
            <a:xfrm>
              <a:off x="1919475" y="3265851"/>
              <a:ext cx="20704" cy="32649"/>
            </a:xfrm>
            <a:custGeom>
              <a:avLst/>
              <a:gdLst>
                <a:gd name="T0" fmla="*/ 27 w 27"/>
                <a:gd name="T1" fmla="*/ 0 h 44"/>
                <a:gd name="T2" fmla="*/ 0 w 27"/>
                <a:gd name="T3" fmla="*/ 44 h 44"/>
              </a:gdLst>
              <a:ahLst/>
              <a:cxnLst>
                <a:cxn ang="0">
                  <a:pos x="T0" y="T1"/>
                </a:cxn>
                <a:cxn ang="0">
                  <a:pos x="T2" y="T3"/>
                </a:cxn>
              </a:cxnLst>
              <a:rect l="0" t="0" r="r" b="b"/>
              <a:pathLst>
                <a:path w="27" h="44">
                  <a:moveTo>
                    <a:pt x="27" y="0"/>
                  </a:moveTo>
                  <a:cubicBezTo>
                    <a:pt x="27" y="0"/>
                    <a:pt x="10" y="37"/>
                    <a:pt x="0" y="4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8" name="Freeform 410">
              <a:extLst>
                <a:ext uri="{FF2B5EF4-FFF2-40B4-BE49-F238E27FC236}">
                  <a16:creationId xmlns:a16="http://schemas.microsoft.com/office/drawing/2014/main" id="{14D8C2B6-E41E-4687-94A1-5438BD656A8B}"/>
                </a:ext>
              </a:extLst>
            </p:cNvPr>
            <p:cNvSpPr>
              <a:spLocks/>
            </p:cNvSpPr>
            <p:nvPr/>
          </p:nvSpPr>
          <p:spPr bwMode="auto">
            <a:xfrm>
              <a:off x="1811973" y="3327963"/>
              <a:ext cx="39815" cy="56538"/>
            </a:xfrm>
            <a:custGeom>
              <a:avLst/>
              <a:gdLst>
                <a:gd name="T0" fmla="*/ 53 w 53"/>
                <a:gd name="T1" fmla="*/ 16 h 75"/>
                <a:gd name="T2" fmla="*/ 31 w 53"/>
                <a:gd name="T3" fmla="*/ 75 h 75"/>
                <a:gd name="T4" fmla="*/ 0 w 53"/>
                <a:gd name="T5" fmla="*/ 0 h 75"/>
              </a:gdLst>
              <a:ahLst/>
              <a:cxnLst>
                <a:cxn ang="0">
                  <a:pos x="T0" y="T1"/>
                </a:cxn>
                <a:cxn ang="0">
                  <a:pos x="T2" y="T3"/>
                </a:cxn>
                <a:cxn ang="0">
                  <a:pos x="T4" y="T5"/>
                </a:cxn>
              </a:cxnLst>
              <a:rect l="0" t="0" r="r" b="b"/>
              <a:pathLst>
                <a:path w="53" h="75">
                  <a:moveTo>
                    <a:pt x="53" y="16"/>
                  </a:moveTo>
                  <a:cubicBezTo>
                    <a:pt x="53" y="16"/>
                    <a:pt x="29" y="26"/>
                    <a:pt x="31" y="75"/>
                  </a:cubicBezTo>
                  <a:cubicBezTo>
                    <a:pt x="31" y="75"/>
                    <a:pt x="41" y="26"/>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79" name="Freeform 411">
              <a:extLst>
                <a:ext uri="{FF2B5EF4-FFF2-40B4-BE49-F238E27FC236}">
                  <a16:creationId xmlns:a16="http://schemas.microsoft.com/office/drawing/2014/main" id="{A695CA9E-0778-44D3-B608-80AA8771F3F6}"/>
                </a:ext>
              </a:extLst>
            </p:cNvPr>
            <p:cNvSpPr>
              <a:spLocks/>
            </p:cNvSpPr>
            <p:nvPr/>
          </p:nvSpPr>
          <p:spPr bwMode="auto">
            <a:xfrm>
              <a:off x="1706861" y="3259481"/>
              <a:ext cx="160057" cy="45389"/>
            </a:xfrm>
            <a:custGeom>
              <a:avLst/>
              <a:gdLst>
                <a:gd name="T0" fmla="*/ 213 w 213"/>
                <a:gd name="T1" fmla="*/ 0 h 60"/>
                <a:gd name="T2" fmla="*/ 91 w 213"/>
                <a:gd name="T3" fmla="*/ 4 h 60"/>
                <a:gd name="T4" fmla="*/ 50 w 213"/>
                <a:gd name="T5" fmla="*/ 33 h 60"/>
                <a:gd name="T6" fmla="*/ 0 w 213"/>
                <a:gd name="T7" fmla="*/ 32 h 60"/>
              </a:gdLst>
              <a:ahLst/>
              <a:cxnLst>
                <a:cxn ang="0">
                  <a:pos x="T0" y="T1"/>
                </a:cxn>
                <a:cxn ang="0">
                  <a:pos x="T2" y="T3"/>
                </a:cxn>
                <a:cxn ang="0">
                  <a:pos x="T4" y="T5"/>
                </a:cxn>
                <a:cxn ang="0">
                  <a:pos x="T6" y="T7"/>
                </a:cxn>
              </a:cxnLst>
              <a:rect l="0" t="0" r="r" b="b"/>
              <a:pathLst>
                <a:path w="213" h="60">
                  <a:moveTo>
                    <a:pt x="213" y="0"/>
                  </a:moveTo>
                  <a:cubicBezTo>
                    <a:pt x="213" y="0"/>
                    <a:pt x="140" y="60"/>
                    <a:pt x="91" y="4"/>
                  </a:cubicBezTo>
                  <a:cubicBezTo>
                    <a:pt x="91" y="4"/>
                    <a:pt x="96" y="32"/>
                    <a:pt x="50" y="33"/>
                  </a:cubicBezTo>
                  <a:cubicBezTo>
                    <a:pt x="4" y="34"/>
                    <a:pt x="21" y="36"/>
                    <a:pt x="0" y="3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0" name="Freeform 412">
              <a:extLst>
                <a:ext uri="{FF2B5EF4-FFF2-40B4-BE49-F238E27FC236}">
                  <a16:creationId xmlns:a16="http://schemas.microsoft.com/office/drawing/2014/main" id="{1B91AB61-5EB3-418C-A5AC-59A80DC3011B}"/>
                </a:ext>
              </a:extLst>
            </p:cNvPr>
            <p:cNvSpPr>
              <a:spLocks/>
            </p:cNvSpPr>
            <p:nvPr/>
          </p:nvSpPr>
          <p:spPr bwMode="auto">
            <a:xfrm>
              <a:off x="1702880" y="3280981"/>
              <a:ext cx="50963" cy="134575"/>
            </a:xfrm>
            <a:custGeom>
              <a:avLst/>
              <a:gdLst>
                <a:gd name="T0" fmla="*/ 68 w 68"/>
                <a:gd name="T1" fmla="*/ 179 h 179"/>
                <a:gd name="T2" fmla="*/ 12 w 68"/>
                <a:gd name="T3" fmla="*/ 108 h 179"/>
                <a:gd name="T4" fmla="*/ 0 w 68"/>
                <a:gd name="T5" fmla="*/ 0 h 179"/>
              </a:gdLst>
              <a:ahLst/>
              <a:cxnLst>
                <a:cxn ang="0">
                  <a:pos x="T0" y="T1"/>
                </a:cxn>
                <a:cxn ang="0">
                  <a:pos x="T2" y="T3"/>
                </a:cxn>
                <a:cxn ang="0">
                  <a:pos x="T4" y="T5"/>
                </a:cxn>
              </a:cxnLst>
              <a:rect l="0" t="0" r="r" b="b"/>
              <a:pathLst>
                <a:path w="68" h="179">
                  <a:moveTo>
                    <a:pt x="68" y="179"/>
                  </a:moveTo>
                  <a:cubicBezTo>
                    <a:pt x="68" y="179"/>
                    <a:pt x="60" y="103"/>
                    <a:pt x="12" y="108"/>
                  </a:cubicBezTo>
                  <a:cubicBezTo>
                    <a:pt x="12" y="108"/>
                    <a:pt x="44" y="46"/>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1" name="Freeform 413">
              <a:extLst>
                <a:ext uri="{FF2B5EF4-FFF2-40B4-BE49-F238E27FC236}">
                  <a16:creationId xmlns:a16="http://schemas.microsoft.com/office/drawing/2014/main" id="{8E09F0A9-FE15-48B7-9B8D-B647039DC778}"/>
                </a:ext>
              </a:extLst>
            </p:cNvPr>
            <p:cNvSpPr>
              <a:spLocks/>
            </p:cNvSpPr>
            <p:nvPr/>
          </p:nvSpPr>
          <p:spPr bwMode="auto">
            <a:xfrm>
              <a:off x="1636787" y="3079516"/>
              <a:ext cx="66093" cy="201465"/>
            </a:xfrm>
            <a:custGeom>
              <a:avLst/>
              <a:gdLst>
                <a:gd name="T0" fmla="*/ 88 w 88"/>
                <a:gd name="T1" fmla="*/ 268 h 268"/>
                <a:gd name="T2" fmla="*/ 35 w 88"/>
                <a:gd name="T3" fmla="*/ 219 h 268"/>
                <a:gd name="T4" fmla="*/ 6 w 88"/>
                <a:gd name="T5" fmla="*/ 142 h 268"/>
                <a:gd name="T6" fmla="*/ 31 w 88"/>
                <a:gd name="T7" fmla="*/ 85 h 268"/>
                <a:gd name="T8" fmla="*/ 47 w 88"/>
                <a:gd name="T9" fmla="*/ 56 h 268"/>
                <a:gd name="T10" fmla="*/ 65 w 88"/>
                <a:gd name="T11" fmla="*/ 30 h 268"/>
                <a:gd name="T12" fmla="*/ 81 w 88"/>
                <a:gd name="T13" fmla="*/ 0 h 268"/>
              </a:gdLst>
              <a:ahLst/>
              <a:cxnLst>
                <a:cxn ang="0">
                  <a:pos x="T0" y="T1"/>
                </a:cxn>
                <a:cxn ang="0">
                  <a:pos x="T2" y="T3"/>
                </a:cxn>
                <a:cxn ang="0">
                  <a:pos x="T4" y="T5"/>
                </a:cxn>
                <a:cxn ang="0">
                  <a:pos x="T6" y="T7"/>
                </a:cxn>
                <a:cxn ang="0">
                  <a:pos x="T8" y="T9"/>
                </a:cxn>
                <a:cxn ang="0">
                  <a:pos x="T10" y="T11"/>
                </a:cxn>
                <a:cxn ang="0">
                  <a:pos x="T12" y="T13"/>
                </a:cxn>
              </a:cxnLst>
              <a:rect l="0" t="0" r="r" b="b"/>
              <a:pathLst>
                <a:path w="88" h="268">
                  <a:moveTo>
                    <a:pt x="88" y="268"/>
                  </a:moveTo>
                  <a:cubicBezTo>
                    <a:pt x="88" y="268"/>
                    <a:pt x="54" y="230"/>
                    <a:pt x="35" y="219"/>
                  </a:cubicBezTo>
                  <a:cubicBezTo>
                    <a:pt x="17" y="209"/>
                    <a:pt x="0" y="185"/>
                    <a:pt x="6" y="142"/>
                  </a:cubicBezTo>
                  <a:cubicBezTo>
                    <a:pt x="13" y="98"/>
                    <a:pt x="21" y="94"/>
                    <a:pt x="31" y="85"/>
                  </a:cubicBezTo>
                  <a:cubicBezTo>
                    <a:pt x="41" y="75"/>
                    <a:pt x="44" y="69"/>
                    <a:pt x="47" y="56"/>
                  </a:cubicBezTo>
                  <a:cubicBezTo>
                    <a:pt x="51" y="42"/>
                    <a:pt x="58" y="43"/>
                    <a:pt x="65" y="30"/>
                  </a:cubicBezTo>
                  <a:cubicBezTo>
                    <a:pt x="73" y="17"/>
                    <a:pt x="79" y="23"/>
                    <a:pt x="81"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2" name="Freeform 414">
              <a:extLst>
                <a:ext uri="{FF2B5EF4-FFF2-40B4-BE49-F238E27FC236}">
                  <a16:creationId xmlns:a16="http://schemas.microsoft.com/office/drawing/2014/main" id="{7EF3124B-6131-42C2-9169-B8F279652A43}"/>
                </a:ext>
              </a:extLst>
            </p:cNvPr>
            <p:cNvSpPr>
              <a:spLocks/>
            </p:cNvSpPr>
            <p:nvPr/>
          </p:nvSpPr>
          <p:spPr bwMode="auto">
            <a:xfrm>
              <a:off x="1825511" y="3174277"/>
              <a:ext cx="21500" cy="36630"/>
            </a:xfrm>
            <a:custGeom>
              <a:avLst/>
              <a:gdLst>
                <a:gd name="T0" fmla="*/ 29 w 29"/>
                <a:gd name="T1" fmla="*/ 0 h 48"/>
                <a:gd name="T2" fmla="*/ 0 w 29"/>
                <a:gd name="T3" fmla="*/ 48 h 48"/>
              </a:gdLst>
              <a:ahLst/>
              <a:cxnLst>
                <a:cxn ang="0">
                  <a:pos x="T0" y="T1"/>
                </a:cxn>
                <a:cxn ang="0">
                  <a:pos x="T2" y="T3"/>
                </a:cxn>
              </a:cxnLst>
              <a:rect l="0" t="0" r="r" b="b"/>
              <a:pathLst>
                <a:path w="29" h="48">
                  <a:moveTo>
                    <a:pt x="29" y="0"/>
                  </a:moveTo>
                  <a:cubicBezTo>
                    <a:pt x="29" y="0"/>
                    <a:pt x="19" y="33"/>
                    <a:pt x="0" y="4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3" name="Freeform 415">
              <a:extLst>
                <a:ext uri="{FF2B5EF4-FFF2-40B4-BE49-F238E27FC236}">
                  <a16:creationId xmlns:a16="http://schemas.microsoft.com/office/drawing/2014/main" id="{D1B069E1-C4A3-4F27-872C-0AC838707412}"/>
                </a:ext>
              </a:extLst>
            </p:cNvPr>
            <p:cNvSpPr>
              <a:spLocks/>
            </p:cNvSpPr>
            <p:nvPr/>
          </p:nvSpPr>
          <p:spPr bwMode="auto">
            <a:xfrm>
              <a:off x="1673417" y="3433075"/>
              <a:ext cx="21500" cy="19111"/>
            </a:xfrm>
            <a:custGeom>
              <a:avLst/>
              <a:gdLst>
                <a:gd name="T0" fmla="*/ 0 w 28"/>
                <a:gd name="T1" fmla="*/ 0 h 25"/>
                <a:gd name="T2" fmla="*/ 28 w 28"/>
                <a:gd name="T3" fmla="*/ 5 h 25"/>
                <a:gd name="T4" fmla="*/ 14 w 28"/>
                <a:gd name="T5" fmla="*/ 25 h 25"/>
              </a:gdLst>
              <a:ahLst/>
              <a:cxnLst>
                <a:cxn ang="0">
                  <a:pos x="T0" y="T1"/>
                </a:cxn>
                <a:cxn ang="0">
                  <a:pos x="T2" y="T3"/>
                </a:cxn>
                <a:cxn ang="0">
                  <a:pos x="T4" y="T5"/>
                </a:cxn>
              </a:cxnLst>
              <a:rect l="0" t="0" r="r" b="b"/>
              <a:pathLst>
                <a:path w="28" h="25">
                  <a:moveTo>
                    <a:pt x="0" y="0"/>
                  </a:moveTo>
                  <a:cubicBezTo>
                    <a:pt x="13" y="10"/>
                    <a:pt x="28" y="5"/>
                    <a:pt x="28" y="5"/>
                  </a:cubicBezTo>
                  <a:cubicBezTo>
                    <a:pt x="28" y="5"/>
                    <a:pt x="16" y="11"/>
                    <a:pt x="14" y="2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4" name="Freeform 416">
              <a:extLst>
                <a:ext uri="{FF2B5EF4-FFF2-40B4-BE49-F238E27FC236}">
                  <a16:creationId xmlns:a16="http://schemas.microsoft.com/office/drawing/2014/main" id="{AF49DCD2-68B6-4149-869A-BD296D2D86BF}"/>
                </a:ext>
              </a:extLst>
            </p:cNvPr>
            <p:cNvSpPr>
              <a:spLocks/>
            </p:cNvSpPr>
            <p:nvPr/>
          </p:nvSpPr>
          <p:spPr bwMode="auto">
            <a:xfrm>
              <a:off x="1577064" y="3282574"/>
              <a:ext cx="68482" cy="78834"/>
            </a:xfrm>
            <a:custGeom>
              <a:avLst/>
              <a:gdLst>
                <a:gd name="T0" fmla="*/ 60 w 91"/>
                <a:gd name="T1" fmla="*/ 0 h 104"/>
                <a:gd name="T2" fmla="*/ 61 w 91"/>
                <a:gd name="T3" fmla="*/ 62 h 104"/>
                <a:gd name="T4" fmla="*/ 0 w 91"/>
                <a:gd name="T5" fmla="*/ 86 h 104"/>
              </a:gdLst>
              <a:ahLst/>
              <a:cxnLst>
                <a:cxn ang="0">
                  <a:pos x="T0" y="T1"/>
                </a:cxn>
                <a:cxn ang="0">
                  <a:pos x="T2" y="T3"/>
                </a:cxn>
                <a:cxn ang="0">
                  <a:pos x="T4" y="T5"/>
                </a:cxn>
              </a:cxnLst>
              <a:rect l="0" t="0" r="r" b="b"/>
              <a:pathLst>
                <a:path w="91" h="104">
                  <a:moveTo>
                    <a:pt x="60" y="0"/>
                  </a:moveTo>
                  <a:cubicBezTo>
                    <a:pt x="60" y="0"/>
                    <a:pt x="91" y="29"/>
                    <a:pt x="61" y="62"/>
                  </a:cubicBezTo>
                  <a:cubicBezTo>
                    <a:pt x="30" y="95"/>
                    <a:pt x="27" y="104"/>
                    <a:pt x="0" y="8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5" name="Freeform 417">
              <a:extLst>
                <a:ext uri="{FF2B5EF4-FFF2-40B4-BE49-F238E27FC236}">
                  <a16:creationId xmlns:a16="http://schemas.microsoft.com/office/drawing/2014/main" id="{4B332B8F-3D0D-46F3-9141-AB41303EF6A4}"/>
                </a:ext>
              </a:extLst>
            </p:cNvPr>
            <p:cNvSpPr>
              <a:spLocks/>
            </p:cNvSpPr>
            <p:nvPr/>
          </p:nvSpPr>
          <p:spPr bwMode="auto">
            <a:xfrm>
              <a:off x="1600953" y="3296111"/>
              <a:ext cx="65297" cy="74056"/>
            </a:xfrm>
            <a:custGeom>
              <a:avLst/>
              <a:gdLst>
                <a:gd name="T0" fmla="*/ 87 w 87"/>
                <a:gd name="T1" fmla="*/ 17 h 99"/>
                <a:gd name="T2" fmla="*/ 31 w 87"/>
                <a:gd name="T3" fmla="*/ 40 h 99"/>
                <a:gd name="T4" fmla="*/ 15 w 87"/>
                <a:gd name="T5" fmla="*/ 99 h 99"/>
              </a:gdLst>
              <a:ahLst/>
              <a:cxnLst>
                <a:cxn ang="0">
                  <a:pos x="T0" y="T1"/>
                </a:cxn>
                <a:cxn ang="0">
                  <a:pos x="T2" y="T3"/>
                </a:cxn>
                <a:cxn ang="0">
                  <a:pos x="T4" y="T5"/>
                </a:cxn>
              </a:cxnLst>
              <a:rect l="0" t="0" r="r" b="b"/>
              <a:pathLst>
                <a:path w="87" h="99">
                  <a:moveTo>
                    <a:pt x="87" y="17"/>
                  </a:moveTo>
                  <a:cubicBezTo>
                    <a:pt x="87" y="17"/>
                    <a:pt x="63" y="0"/>
                    <a:pt x="31" y="40"/>
                  </a:cubicBezTo>
                  <a:cubicBezTo>
                    <a:pt x="0" y="79"/>
                    <a:pt x="0" y="84"/>
                    <a:pt x="15" y="9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6" name="Freeform 418">
              <a:extLst>
                <a:ext uri="{FF2B5EF4-FFF2-40B4-BE49-F238E27FC236}">
                  <a16:creationId xmlns:a16="http://schemas.microsoft.com/office/drawing/2014/main" id="{8A875C9E-44EC-4D11-9FF4-0240F6DC7CED}"/>
                </a:ext>
              </a:extLst>
            </p:cNvPr>
            <p:cNvSpPr>
              <a:spLocks/>
            </p:cNvSpPr>
            <p:nvPr/>
          </p:nvSpPr>
          <p:spPr bwMode="auto">
            <a:xfrm>
              <a:off x="1479915" y="3194981"/>
              <a:ext cx="167224" cy="33445"/>
            </a:xfrm>
            <a:custGeom>
              <a:avLst/>
              <a:gdLst>
                <a:gd name="T0" fmla="*/ 223 w 223"/>
                <a:gd name="T1" fmla="*/ 44 h 45"/>
                <a:gd name="T2" fmla="*/ 165 w 223"/>
                <a:gd name="T3" fmla="*/ 27 h 45"/>
                <a:gd name="T4" fmla="*/ 0 w 223"/>
                <a:gd name="T5" fmla="*/ 0 h 45"/>
              </a:gdLst>
              <a:ahLst/>
              <a:cxnLst>
                <a:cxn ang="0">
                  <a:pos x="T0" y="T1"/>
                </a:cxn>
                <a:cxn ang="0">
                  <a:pos x="T2" y="T3"/>
                </a:cxn>
                <a:cxn ang="0">
                  <a:pos x="T4" y="T5"/>
                </a:cxn>
              </a:cxnLst>
              <a:rect l="0" t="0" r="r" b="b"/>
              <a:pathLst>
                <a:path w="223" h="45">
                  <a:moveTo>
                    <a:pt x="223" y="44"/>
                  </a:moveTo>
                  <a:cubicBezTo>
                    <a:pt x="223" y="44"/>
                    <a:pt x="215" y="23"/>
                    <a:pt x="165" y="27"/>
                  </a:cubicBezTo>
                  <a:cubicBezTo>
                    <a:pt x="115" y="31"/>
                    <a:pt x="75" y="45"/>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7" name="Freeform 419">
              <a:extLst>
                <a:ext uri="{FF2B5EF4-FFF2-40B4-BE49-F238E27FC236}">
                  <a16:creationId xmlns:a16="http://schemas.microsoft.com/office/drawing/2014/main" id="{5FB55458-B571-48E3-91D5-CC3EE7A6A6AE}"/>
                </a:ext>
              </a:extLst>
            </p:cNvPr>
            <p:cNvSpPr>
              <a:spLocks/>
            </p:cNvSpPr>
            <p:nvPr/>
          </p:nvSpPr>
          <p:spPr bwMode="auto">
            <a:xfrm>
              <a:off x="1487879" y="3133665"/>
              <a:ext cx="46982" cy="83612"/>
            </a:xfrm>
            <a:custGeom>
              <a:avLst/>
              <a:gdLst>
                <a:gd name="T0" fmla="*/ 35 w 62"/>
                <a:gd name="T1" fmla="*/ 0 h 112"/>
                <a:gd name="T2" fmla="*/ 39 w 62"/>
                <a:gd name="T3" fmla="*/ 71 h 112"/>
                <a:gd name="T4" fmla="*/ 0 w 62"/>
                <a:gd name="T5" fmla="*/ 87 h 112"/>
              </a:gdLst>
              <a:ahLst/>
              <a:cxnLst>
                <a:cxn ang="0">
                  <a:pos x="T0" y="T1"/>
                </a:cxn>
                <a:cxn ang="0">
                  <a:pos x="T2" y="T3"/>
                </a:cxn>
                <a:cxn ang="0">
                  <a:pos x="T4" y="T5"/>
                </a:cxn>
              </a:cxnLst>
              <a:rect l="0" t="0" r="r" b="b"/>
              <a:pathLst>
                <a:path w="62" h="112">
                  <a:moveTo>
                    <a:pt x="35" y="0"/>
                  </a:moveTo>
                  <a:cubicBezTo>
                    <a:pt x="35" y="0"/>
                    <a:pt x="62" y="17"/>
                    <a:pt x="39" y="71"/>
                  </a:cubicBezTo>
                  <a:cubicBezTo>
                    <a:pt x="21" y="112"/>
                    <a:pt x="9" y="90"/>
                    <a:pt x="0" y="8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8" name="Freeform 420">
              <a:extLst>
                <a:ext uri="{FF2B5EF4-FFF2-40B4-BE49-F238E27FC236}">
                  <a16:creationId xmlns:a16="http://schemas.microsoft.com/office/drawing/2014/main" id="{D5365D42-6C80-49A1-9584-B6B5E27A85D9}"/>
                </a:ext>
              </a:extLst>
            </p:cNvPr>
            <p:cNvSpPr>
              <a:spLocks/>
            </p:cNvSpPr>
            <p:nvPr/>
          </p:nvSpPr>
          <p:spPr bwMode="auto">
            <a:xfrm>
              <a:off x="1513360" y="3147202"/>
              <a:ext cx="39019" cy="66093"/>
            </a:xfrm>
            <a:custGeom>
              <a:avLst/>
              <a:gdLst>
                <a:gd name="T0" fmla="*/ 52 w 52"/>
                <a:gd name="T1" fmla="*/ 0 h 87"/>
                <a:gd name="T2" fmla="*/ 10 w 52"/>
                <a:gd name="T3" fmla="*/ 36 h 87"/>
                <a:gd name="T4" fmla="*/ 12 w 52"/>
                <a:gd name="T5" fmla="*/ 87 h 87"/>
              </a:gdLst>
              <a:ahLst/>
              <a:cxnLst>
                <a:cxn ang="0">
                  <a:pos x="T0" y="T1"/>
                </a:cxn>
                <a:cxn ang="0">
                  <a:pos x="T2" y="T3"/>
                </a:cxn>
                <a:cxn ang="0">
                  <a:pos x="T4" y="T5"/>
                </a:cxn>
              </a:cxnLst>
              <a:rect l="0" t="0" r="r" b="b"/>
              <a:pathLst>
                <a:path w="52" h="87">
                  <a:moveTo>
                    <a:pt x="52" y="0"/>
                  </a:moveTo>
                  <a:cubicBezTo>
                    <a:pt x="52" y="0"/>
                    <a:pt x="20" y="4"/>
                    <a:pt x="10" y="36"/>
                  </a:cubicBezTo>
                  <a:cubicBezTo>
                    <a:pt x="0" y="68"/>
                    <a:pt x="1" y="81"/>
                    <a:pt x="12" y="8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89" name="Freeform 421">
              <a:extLst>
                <a:ext uri="{FF2B5EF4-FFF2-40B4-BE49-F238E27FC236}">
                  <a16:creationId xmlns:a16="http://schemas.microsoft.com/office/drawing/2014/main" id="{C2E19FF9-2F85-4207-8C4D-3193B95C4965}"/>
                </a:ext>
              </a:extLst>
            </p:cNvPr>
            <p:cNvSpPr>
              <a:spLocks/>
            </p:cNvSpPr>
            <p:nvPr/>
          </p:nvSpPr>
          <p:spPr bwMode="auto">
            <a:xfrm>
              <a:off x="1620861" y="3194981"/>
              <a:ext cx="19111" cy="23093"/>
            </a:xfrm>
            <a:custGeom>
              <a:avLst/>
              <a:gdLst>
                <a:gd name="T0" fmla="*/ 0 w 25"/>
                <a:gd name="T1" fmla="*/ 26 h 31"/>
                <a:gd name="T2" fmla="*/ 25 w 25"/>
                <a:gd name="T3" fmla="*/ 0 h 31"/>
              </a:gdLst>
              <a:ahLst/>
              <a:cxnLst>
                <a:cxn ang="0">
                  <a:pos x="T0" y="T1"/>
                </a:cxn>
                <a:cxn ang="0">
                  <a:pos x="T2" y="T3"/>
                </a:cxn>
              </a:cxnLst>
              <a:rect l="0" t="0" r="r" b="b"/>
              <a:pathLst>
                <a:path w="25" h="31">
                  <a:moveTo>
                    <a:pt x="0" y="26"/>
                  </a:moveTo>
                  <a:cubicBezTo>
                    <a:pt x="0" y="26"/>
                    <a:pt x="14" y="31"/>
                    <a:pt x="2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0" name="Freeform 422">
              <a:extLst>
                <a:ext uri="{FF2B5EF4-FFF2-40B4-BE49-F238E27FC236}">
                  <a16:creationId xmlns:a16="http://schemas.microsoft.com/office/drawing/2014/main" id="{8E64C30C-093E-4329-ADB7-F064D4528FB1}"/>
                </a:ext>
              </a:extLst>
            </p:cNvPr>
            <p:cNvSpPr>
              <a:spLocks/>
            </p:cNvSpPr>
            <p:nvPr/>
          </p:nvSpPr>
          <p:spPr bwMode="auto">
            <a:xfrm>
              <a:off x="1460804" y="3027757"/>
              <a:ext cx="31056" cy="141742"/>
            </a:xfrm>
            <a:custGeom>
              <a:avLst/>
              <a:gdLst>
                <a:gd name="T0" fmla="*/ 2 w 41"/>
                <a:gd name="T1" fmla="*/ 0 h 188"/>
                <a:gd name="T2" fmla="*/ 0 w 41"/>
                <a:gd name="T3" fmla="*/ 78 h 188"/>
                <a:gd name="T4" fmla="*/ 7 w 41"/>
                <a:gd name="T5" fmla="*/ 188 h 188"/>
              </a:gdLst>
              <a:ahLst/>
              <a:cxnLst>
                <a:cxn ang="0">
                  <a:pos x="T0" y="T1"/>
                </a:cxn>
                <a:cxn ang="0">
                  <a:pos x="T2" y="T3"/>
                </a:cxn>
                <a:cxn ang="0">
                  <a:pos x="T4" y="T5"/>
                </a:cxn>
              </a:cxnLst>
              <a:rect l="0" t="0" r="r" b="b"/>
              <a:pathLst>
                <a:path w="41" h="188">
                  <a:moveTo>
                    <a:pt x="2" y="0"/>
                  </a:moveTo>
                  <a:cubicBezTo>
                    <a:pt x="2" y="0"/>
                    <a:pt x="41" y="54"/>
                    <a:pt x="0" y="78"/>
                  </a:cubicBezTo>
                  <a:cubicBezTo>
                    <a:pt x="0" y="78"/>
                    <a:pt x="41" y="106"/>
                    <a:pt x="7" y="18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1" name="Freeform 423">
              <a:extLst>
                <a:ext uri="{FF2B5EF4-FFF2-40B4-BE49-F238E27FC236}">
                  <a16:creationId xmlns:a16="http://schemas.microsoft.com/office/drawing/2014/main" id="{283FED38-6DE8-4122-AEDC-FE624521F4AE}"/>
                </a:ext>
              </a:extLst>
            </p:cNvPr>
            <p:cNvSpPr>
              <a:spLocks/>
            </p:cNvSpPr>
            <p:nvPr/>
          </p:nvSpPr>
          <p:spPr bwMode="auto">
            <a:xfrm>
              <a:off x="1568305" y="3042090"/>
              <a:ext cx="15926" cy="55741"/>
            </a:xfrm>
            <a:custGeom>
              <a:avLst/>
              <a:gdLst>
                <a:gd name="T0" fmla="*/ 15 w 21"/>
                <a:gd name="T1" fmla="*/ 0 h 74"/>
                <a:gd name="T2" fmla="*/ 15 w 21"/>
                <a:gd name="T3" fmla="*/ 30 h 74"/>
                <a:gd name="T4" fmla="*/ 10 w 21"/>
                <a:gd name="T5" fmla="*/ 74 h 74"/>
              </a:gdLst>
              <a:ahLst/>
              <a:cxnLst>
                <a:cxn ang="0">
                  <a:pos x="T0" y="T1"/>
                </a:cxn>
                <a:cxn ang="0">
                  <a:pos x="T2" y="T3"/>
                </a:cxn>
                <a:cxn ang="0">
                  <a:pos x="T4" y="T5"/>
                </a:cxn>
              </a:cxnLst>
              <a:rect l="0" t="0" r="r" b="b"/>
              <a:pathLst>
                <a:path w="21" h="74">
                  <a:moveTo>
                    <a:pt x="15" y="0"/>
                  </a:moveTo>
                  <a:cubicBezTo>
                    <a:pt x="15" y="0"/>
                    <a:pt x="21" y="18"/>
                    <a:pt x="15" y="30"/>
                  </a:cubicBezTo>
                  <a:cubicBezTo>
                    <a:pt x="9" y="42"/>
                    <a:pt x="0" y="46"/>
                    <a:pt x="10" y="7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2" name="Freeform 424">
              <a:extLst>
                <a:ext uri="{FF2B5EF4-FFF2-40B4-BE49-F238E27FC236}">
                  <a16:creationId xmlns:a16="http://schemas.microsoft.com/office/drawing/2014/main" id="{670E6801-B5B7-448B-AB43-908B1C8E4481}"/>
                </a:ext>
              </a:extLst>
            </p:cNvPr>
            <p:cNvSpPr>
              <a:spLocks/>
            </p:cNvSpPr>
            <p:nvPr/>
          </p:nvSpPr>
          <p:spPr bwMode="auto">
            <a:xfrm>
              <a:off x="1360470" y="3011831"/>
              <a:ext cx="12741" cy="12741"/>
            </a:xfrm>
            <a:custGeom>
              <a:avLst/>
              <a:gdLst>
                <a:gd name="T0" fmla="*/ 0 w 18"/>
                <a:gd name="T1" fmla="*/ 0 h 17"/>
                <a:gd name="T2" fmla="*/ 18 w 18"/>
                <a:gd name="T3" fmla="*/ 17 h 17"/>
              </a:gdLst>
              <a:ahLst/>
              <a:cxnLst>
                <a:cxn ang="0">
                  <a:pos x="T0" y="T1"/>
                </a:cxn>
                <a:cxn ang="0">
                  <a:pos x="T2" y="T3"/>
                </a:cxn>
              </a:cxnLst>
              <a:rect l="0" t="0" r="r" b="b"/>
              <a:pathLst>
                <a:path w="18" h="17">
                  <a:moveTo>
                    <a:pt x="0" y="0"/>
                  </a:moveTo>
                  <a:cubicBezTo>
                    <a:pt x="0" y="0"/>
                    <a:pt x="9" y="4"/>
                    <a:pt x="18" y="1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3" name="Freeform 425">
              <a:extLst>
                <a:ext uri="{FF2B5EF4-FFF2-40B4-BE49-F238E27FC236}">
                  <a16:creationId xmlns:a16="http://schemas.microsoft.com/office/drawing/2014/main" id="{51731B43-38B9-4B47-BED2-56D58590C411}"/>
                </a:ext>
              </a:extLst>
            </p:cNvPr>
            <p:cNvSpPr>
              <a:spLocks/>
            </p:cNvSpPr>
            <p:nvPr/>
          </p:nvSpPr>
          <p:spPr bwMode="auto">
            <a:xfrm>
              <a:off x="1279247" y="3018201"/>
              <a:ext cx="27871" cy="125020"/>
            </a:xfrm>
            <a:custGeom>
              <a:avLst/>
              <a:gdLst>
                <a:gd name="T0" fmla="*/ 0 w 38"/>
                <a:gd name="T1" fmla="*/ 0 h 166"/>
                <a:gd name="T2" fmla="*/ 13 w 38"/>
                <a:gd name="T3" fmla="*/ 43 h 166"/>
                <a:gd name="T4" fmla="*/ 31 w 38"/>
                <a:gd name="T5" fmla="*/ 93 h 166"/>
                <a:gd name="T6" fmla="*/ 29 w 38"/>
                <a:gd name="T7" fmla="*/ 131 h 166"/>
                <a:gd name="T8" fmla="*/ 12 w 38"/>
                <a:gd name="T9" fmla="*/ 166 h 166"/>
              </a:gdLst>
              <a:ahLst/>
              <a:cxnLst>
                <a:cxn ang="0">
                  <a:pos x="T0" y="T1"/>
                </a:cxn>
                <a:cxn ang="0">
                  <a:pos x="T2" y="T3"/>
                </a:cxn>
                <a:cxn ang="0">
                  <a:pos x="T4" y="T5"/>
                </a:cxn>
                <a:cxn ang="0">
                  <a:pos x="T6" y="T7"/>
                </a:cxn>
                <a:cxn ang="0">
                  <a:pos x="T8" y="T9"/>
                </a:cxn>
              </a:cxnLst>
              <a:rect l="0" t="0" r="r" b="b"/>
              <a:pathLst>
                <a:path w="38" h="166">
                  <a:moveTo>
                    <a:pt x="0" y="0"/>
                  </a:moveTo>
                  <a:cubicBezTo>
                    <a:pt x="0" y="0"/>
                    <a:pt x="16" y="14"/>
                    <a:pt x="13" y="43"/>
                  </a:cubicBezTo>
                  <a:cubicBezTo>
                    <a:pt x="11" y="72"/>
                    <a:pt x="25" y="71"/>
                    <a:pt x="31" y="93"/>
                  </a:cubicBezTo>
                  <a:cubicBezTo>
                    <a:pt x="38" y="114"/>
                    <a:pt x="34" y="123"/>
                    <a:pt x="29" y="131"/>
                  </a:cubicBezTo>
                  <a:cubicBezTo>
                    <a:pt x="23" y="139"/>
                    <a:pt x="16" y="152"/>
                    <a:pt x="12" y="16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4" name="Freeform 426">
              <a:extLst>
                <a:ext uri="{FF2B5EF4-FFF2-40B4-BE49-F238E27FC236}">
                  <a16:creationId xmlns:a16="http://schemas.microsoft.com/office/drawing/2014/main" id="{DFEE4EE2-4A12-463A-9CFA-DD33FAA8E871}"/>
                </a:ext>
              </a:extLst>
            </p:cNvPr>
            <p:cNvSpPr>
              <a:spLocks/>
            </p:cNvSpPr>
            <p:nvPr/>
          </p:nvSpPr>
          <p:spPr bwMode="auto">
            <a:xfrm>
              <a:off x="1289599" y="3053239"/>
              <a:ext cx="105112" cy="136964"/>
            </a:xfrm>
            <a:custGeom>
              <a:avLst/>
              <a:gdLst>
                <a:gd name="T0" fmla="*/ 122 w 140"/>
                <a:gd name="T1" fmla="*/ 0 h 182"/>
                <a:gd name="T2" fmla="*/ 121 w 140"/>
                <a:gd name="T3" fmla="*/ 60 h 182"/>
                <a:gd name="T4" fmla="*/ 136 w 140"/>
                <a:gd name="T5" fmla="*/ 119 h 182"/>
                <a:gd name="T6" fmla="*/ 59 w 140"/>
                <a:gd name="T7" fmla="*/ 177 h 182"/>
                <a:gd name="T8" fmla="*/ 0 w 140"/>
                <a:gd name="T9" fmla="*/ 156 h 182"/>
              </a:gdLst>
              <a:ahLst/>
              <a:cxnLst>
                <a:cxn ang="0">
                  <a:pos x="T0" y="T1"/>
                </a:cxn>
                <a:cxn ang="0">
                  <a:pos x="T2" y="T3"/>
                </a:cxn>
                <a:cxn ang="0">
                  <a:pos x="T4" y="T5"/>
                </a:cxn>
                <a:cxn ang="0">
                  <a:pos x="T6" y="T7"/>
                </a:cxn>
                <a:cxn ang="0">
                  <a:pos x="T8" y="T9"/>
                </a:cxn>
              </a:cxnLst>
              <a:rect l="0" t="0" r="r" b="b"/>
              <a:pathLst>
                <a:path w="140" h="182">
                  <a:moveTo>
                    <a:pt x="122" y="0"/>
                  </a:moveTo>
                  <a:cubicBezTo>
                    <a:pt x="122" y="0"/>
                    <a:pt x="117" y="44"/>
                    <a:pt x="121" y="60"/>
                  </a:cubicBezTo>
                  <a:cubicBezTo>
                    <a:pt x="125" y="76"/>
                    <a:pt x="140" y="99"/>
                    <a:pt x="136" y="119"/>
                  </a:cubicBezTo>
                  <a:cubicBezTo>
                    <a:pt x="132" y="139"/>
                    <a:pt x="134" y="168"/>
                    <a:pt x="59" y="177"/>
                  </a:cubicBezTo>
                  <a:cubicBezTo>
                    <a:pt x="16" y="182"/>
                    <a:pt x="16" y="177"/>
                    <a:pt x="0" y="15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5" name="Freeform 427">
              <a:extLst>
                <a:ext uri="{FF2B5EF4-FFF2-40B4-BE49-F238E27FC236}">
                  <a16:creationId xmlns:a16="http://schemas.microsoft.com/office/drawing/2014/main" id="{E1FA8A00-2508-4B7A-982B-F1A6F9CE1834}"/>
                </a:ext>
              </a:extLst>
            </p:cNvPr>
            <p:cNvSpPr>
              <a:spLocks/>
            </p:cNvSpPr>
            <p:nvPr/>
          </p:nvSpPr>
          <p:spPr bwMode="auto">
            <a:xfrm>
              <a:off x="1381970" y="3151980"/>
              <a:ext cx="59723" cy="31056"/>
            </a:xfrm>
            <a:custGeom>
              <a:avLst/>
              <a:gdLst>
                <a:gd name="T0" fmla="*/ 12 w 80"/>
                <a:gd name="T1" fmla="*/ 0 h 41"/>
                <a:gd name="T2" fmla="*/ 80 w 80"/>
                <a:gd name="T3" fmla="*/ 41 h 41"/>
              </a:gdLst>
              <a:ahLst/>
              <a:cxnLst>
                <a:cxn ang="0">
                  <a:pos x="T0" y="T1"/>
                </a:cxn>
                <a:cxn ang="0">
                  <a:pos x="T2" y="T3"/>
                </a:cxn>
              </a:cxnLst>
              <a:rect l="0" t="0" r="r" b="b"/>
              <a:pathLst>
                <a:path w="80" h="41">
                  <a:moveTo>
                    <a:pt x="12" y="0"/>
                  </a:moveTo>
                  <a:cubicBezTo>
                    <a:pt x="12" y="0"/>
                    <a:pt x="0" y="36"/>
                    <a:pt x="80" y="4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6" name="Freeform 428">
              <a:extLst>
                <a:ext uri="{FF2B5EF4-FFF2-40B4-BE49-F238E27FC236}">
                  <a16:creationId xmlns:a16="http://schemas.microsoft.com/office/drawing/2014/main" id="{F7EC6A29-8DB1-49A5-960F-A878AF11DDEA}"/>
                </a:ext>
              </a:extLst>
            </p:cNvPr>
            <p:cNvSpPr>
              <a:spLocks/>
            </p:cNvSpPr>
            <p:nvPr/>
          </p:nvSpPr>
          <p:spPr bwMode="auto">
            <a:xfrm>
              <a:off x="1409044" y="3175073"/>
              <a:ext cx="8760" cy="21500"/>
            </a:xfrm>
            <a:custGeom>
              <a:avLst/>
              <a:gdLst>
                <a:gd name="T0" fmla="*/ 0 w 12"/>
                <a:gd name="T1" fmla="*/ 0 h 28"/>
                <a:gd name="T2" fmla="*/ 9 w 12"/>
                <a:gd name="T3" fmla="*/ 28 h 28"/>
              </a:gdLst>
              <a:ahLst/>
              <a:cxnLst>
                <a:cxn ang="0">
                  <a:pos x="T0" y="T1"/>
                </a:cxn>
                <a:cxn ang="0">
                  <a:pos x="T2" y="T3"/>
                </a:cxn>
              </a:cxnLst>
              <a:rect l="0" t="0" r="r" b="b"/>
              <a:pathLst>
                <a:path w="12" h="28">
                  <a:moveTo>
                    <a:pt x="0" y="0"/>
                  </a:moveTo>
                  <a:cubicBezTo>
                    <a:pt x="0" y="0"/>
                    <a:pt x="12" y="10"/>
                    <a:pt x="9" y="2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7" name="Freeform 429">
              <a:extLst>
                <a:ext uri="{FF2B5EF4-FFF2-40B4-BE49-F238E27FC236}">
                  <a16:creationId xmlns:a16="http://schemas.microsoft.com/office/drawing/2014/main" id="{CEC8FE3E-8E60-4DE8-A07A-E22B622D2850}"/>
                </a:ext>
              </a:extLst>
            </p:cNvPr>
            <p:cNvSpPr>
              <a:spLocks/>
            </p:cNvSpPr>
            <p:nvPr/>
          </p:nvSpPr>
          <p:spPr bwMode="auto">
            <a:xfrm>
              <a:off x="1184487" y="3085091"/>
              <a:ext cx="116260" cy="128205"/>
            </a:xfrm>
            <a:custGeom>
              <a:avLst/>
              <a:gdLst>
                <a:gd name="T0" fmla="*/ 155 w 155"/>
                <a:gd name="T1" fmla="*/ 132 h 170"/>
                <a:gd name="T2" fmla="*/ 51 w 155"/>
                <a:gd name="T3" fmla="*/ 117 h 170"/>
                <a:gd name="T4" fmla="*/ 33 w 155"/>
                <a:gd name="T5" fmla="*/ 71 h 170"/>
                <a:gd name="T6" fmla="*/ 28 w 155"/>
                <a:gd name="T7" fmla="*/ 46 h 170"/>
                <a:gd name="T8" fmla="*/ 0 w 155"/>
                <a:gd name="T9" fmla="*/ 0 h 170"/>
              </a:gdLst>
              <a:ahLst/>
              <a:cxnLst>
                <a:cxn ang="0">
                  <a:pos x="T0" y="T1"/>
                </a:cxn>
                <a:cxn ang="0">
                  <a:pos x="T2" y="T3"/>
                </a:cxn>
                <a:cxn ang="0">
                  <a:pos x="T4" y="T5"/>
                </a:cxn>
                <a:cxn ang="0">
                  <a:pos x="T6" y="T7"/>
                </a:cxn>
                <a:cxn ang="0">
                  <a:pos x="T8" y="T9"/>
                </a:cxn>
              </a:cxnLst>
              <a:rect l="0" t="0" r="r" b="b"/>
              <a:pathLst>
                <a:path w="155" h="170">
                  <a:moveTo>
                    <a:pt x="155" y="132"/>
                  </a:moveTo>
                  <a:cubicBezTo>
                    <a:pt x="155" y="132"/>
                    <a:pt x="78" y="170"/>
                    <a:pt x="51" y="117"/>
                  </a:cubicBezTo>
                  <a:cubicBezTo>
                    <a:pt x="24" y="64"/>
                    <a:pt x="37" y="81"/>
                    <a:pt x="33" y="71"/>
                  </a:cubicBezTo>
                  <a:cubicBezTo>
                    <a:pt x="29" y="61"/>
                    <a:pt x="25" y="67"/>
                    <a:pt x="28" y="46"/>
                  </a:cubicBezTo>
                  <a:cubicBezTo>
                    <a:pt x="30" y="24"/>
                    <a:pt x="47" y="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8" name="Freeform 430">
              <a:extLst>
                <a:ext uri="{FF2B5EF4-FFF2-40B4-BE49-F238E27FC236}">
                  <a16:creationId xmlns:a16="http://schemas.microsoft.com/office/drawing/2014/main" id="{F977A09B-1A4D-4BEB-AF3D-4C4C52516E04}"/>
                </a:ext>
              </a:extLst>
            </p:cNvPr>
            <p:cNvSpPr>
              <a:spLocks/>
            </p:cNvSpPr>
            <p:nvPr/>
          </p:nvSpPr>
          <p:spPr bwMode="auto">
            <a:xfrm>
              <a:off x="1208376" y="3075535"/>
              <a:ext cx="18315" cy="18315"/>
            </a:xfrm>
            <a:custGeom>
              <a:avLst/>
              <a:gdLst>
                <a:gd name="T0" fmla="*/ 0 w 25"/>
                <a:gd name="T1" fmla="*/ 25 h 25"/>
                <a:gd name="T2" fmla="*/ 25 w 25"/>
                <a:gd name="T3" fmla="*/ 0 h 25"/>
              </a:gdLst>
              <a:ahLst/>
              <a:cxnLst>
                <a:cxn ang="0">
                  <a:pos x="T0" y="T1"/>
                </a:cxn>
                <a:cxn ang="0">
                  <a:pos x="T2" y="T3"/>
                </a:cxn>
              </a:cxnLst>
              <a:rect l="0" t="0" r="r" b="b"/>
              <a:pathLst>
                <a:path w="25" h="25">
                  <a:moveTo>
                    <a:pt x="0" y="25"/>
                  </a:moveTo>
                  <a:cubicBezTo>
                    <a:pt x="0" y="25"/>
                    <a:pt x="1" y="14"/>
                    <a:pt x="25"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99" name="Freeform 431">
              <a:extLst>
                <a:ext uri="{FF2B5EF4-FFF2-40B4-BE49-F238E27FC236}">
                  <a16:creationId xmlns:a16="http://schemas.microsoft.com/office/drawing/2014/main" id="{67DF9B8C-12D2-4C66-9C07-14BFBBEA3708}"/>
                </a:ext>
              </a:extLst>
            </p:cNvPr>
            <p:cNvSpPr>
              <a:spLocks/>
            </p:cNvSpPr>
            <p:nvPr/>
          </p:nvSpPr>
          <p:spPr bwMode="auto">
            <a:xfrm>
              <a:off x="1197228" y="3033331"/>
              <a:ext cx="15130" cy="13537"/>
            </a:xfrm>
            <a:custGeom>
              <a:avLst/>
              <a:gdLst>
                <a:gd name="T0" fmla="*/ 0 w 21"/>
                <a:gd name="T1" fmla="*/ 0 h 18"/>
                <a:gd name="T2" fmla="*/ 21 w 21"/>
                <a:gd name="T3" fmla="*/ 18 h 18"/>
              </a:gdLst>
              <a:ahLst/>
              <a:cxnLst>
                <a:cxn ang="0">
                  <a:pos x="T0" y="T1"/>
                </a:cxn>
                <a:cxn ang="0">
                  <a:pos x="T2" y="T3"/>
                </a:cxn>
              </a:cxnLst>
              <a:rect l="0" t="0" r="r" b="b"/>
              <a:pathLst>
                <a:path w="21" h="18">
                  <a:moveTo>
                    <a:pt x="0" y="0"/>
                  </a:moveTo>
                  <a:cubicBezTo>
                    <a:pt x="0" y="0"/>
                    <a:pt x="15" y="4"/>
                    <a:pt x="21" y="1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0" name="Freeform 432">
              <a:extLst>
                <a:ext uri="{FF2B5EF4-FFF2-40B4-BE49-F238E27FC236}">
                  <a16:creationId xmlns:a16="http://schemas.microsoft.com/office/drawing/2014/main" id="{ADC926D3-22F5-465F-9418-8918B744954A}"/>
                </a:ext>
              </a:extLst>
            </p:cNvPr>
            <p:cNvSpPr>
              <a:spLocks/>
            </p:cNvSpPr>
            <p:nvPr/>
          </p:nvSpPr>
          <p:spPr bwMode="auto">
            <a:xfrm>
              <a:off x="1414619" y="3280981"/>
              <a:ext cx="39019" cy="25482"/>
            </a:xfrm>
            <a:custGeom>
              <a:avLst/>
              <a:gdLst>
                <a:gd name="T0" fmla="*/ 0 w 51"/>
                <a:gd name="T1" fmla="*/ 24 h 34"/>
                <a:gd name="T2" fmla="*/ 35 w 51"/>
                <a:gd name="T3" fmla="*/ 0 h 34"/>
                <a:gd name="T4" fmla="*/ 51 w 51"/>
                <a:gd name="T5" fmla="*/ 34 h 34"/>
              </a:gdLst>
              <a:ahLst/>
              <a:cxnLst>
                <a:cxn ang="0">
                  <a:pos x="T0" y="T1"/>
                </a:cxn>
                <a:cxn ang="0">
                  <a:pos x="T2" y="T3"/>
                </a:cxn>
                <a:cxn ang="0">
                  <a:pos x="T4" y="T5"/>
                </a:cxn>
              </a:cxnLst>
              <a:rect l="0" t="0" r="r" b="b"/>
              <a:pathLst>
                <a:path w="51" h="34">
                  <a:moveTo>
                    <a:pt x="0" y="24"/>
                  </a:moveTo>
                  <a:cubicBezTo>
                    <a:pt x="40" y="20"/>
                    <a:pt x="35" y="0"/>
                    <a:pt x="35" y="0"/>
                  </a:cubicBezTo>
                  <a:cubicBezTo>
                    <a:pt x="35" y="0"/>
                    <a:pt x="28" y="30"/>
                    <a:pt x="51" y="3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1" name="Freeform 433">
              <a:extLst>
                <a:ext uri="{FF2B5EF4-FFF2-40B4-BE49-F238E27FC236}">
                  <a16:creationId xmlns:a16="http://schemas.microsoft.com/office/drawing/2014/main" id="{AD564D40-6201-4510-84B7-13DD413D0527}"/>
                </a:ext>
              </a:extLst>
            </p:cNvPr>
            <p:cNvSpPr>
              <a:spLocks/>
            </p:cNvSpPr>
            <p:nvPr/>
          </p:nvSpPr>
          <p:spPr bwMode="auto">
            <a:xfrm>
              <a:off x="1299155" y="3265851"/>
              <a:ext cx="45390" cy="27871"/>
            </a:xfrm>
            <a:custGeom>
              <a:avLst/>
              <a:gdLst>
                <a:gd name="T0" fmla="*/ 0 w 60"/>
                <a:gd name="T1" fmla="*/ 36 h 37"/>
                <a:gd name="T2" fmla="*/ 27 w 60"/>
                <a:gd name="T3" fmla="*/ 0 h 37"/>
                <a:gd name="T4" fmla="*/ 60 w 60"/>
                <a:gd name="T5" fmla="*/ 37 h 37"/>
              </a:gdLst>
              <a:ahLst/>
              <a:cxnLst>
                <a:cxn ang="0">
                  <a:pos x="T0" y="T1"/>
                </a:cxn>
                <a:cxn ang="0">
                  <a:pos x="T2" y="T3"/>
                </a:cxn>
                <a:cxn ang="0">
                  <a:pos x="T4" y="T5"/>
                </a:cxn>
              </a:cxnLst>
              <a:rect l="0" t="0" r="r" b="b"/>
              <a:pathLst>
                <a:path w="60" h="37">
                  <a:moveTo>
                    <a:pt x="0" y="36"/>
                  </a:moveTo>
                  <a:cubicBezTo>
                    <a:pt x="35" y="34"/>
                    <a:pt x="27" y="0"/>
                    <a:pt x="27" y="0"/>
                  </a:cubicBezTo>
                  <a:cubicBezTo>
                    <a:pt x="27" y="0"/>
                    <a:pt x="26" y="31"/>
                    <a:pt x="60" y="3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2" name="Freeform 434">
              <a:extLst>
                <a:ext uri="{FF2B5EF4-FFF2-40B4-BE49-F238E27FC236}">
                  <a16:creationId xmlns:a16="http://schemas.microsoft.com/office/drawing/2014/main" id="{01FF98DA-F9A6-4428-8A50-330B53236F41}"/>
                </a:ext>
              </a:extLst>
            </p:cNvPr>
            <p:cNvSpPr>
              <a:spLocks/>
            </p:cNvSpPr>
            <p:nvPr/>
          </p:nvSpPr>
          <p:spPr bwMode="auto">
            <a:xfrm>
              <a:off x="1112024" y="3106591"/>
              <a:ext cx="17519" cy="53353"/>
            </a:xfrm>
            <a:custGeom>
              <a:avLst/>
              <a:gdLst>
                <a:gd name="T0" fmla="*/ 23 w 23"/>
                <a:gd name="T1" fmla="*/ 71 h 71"/>
                <a:gd name="T2" fmla="*/ 0 w 23"/>
                <a:gd name="T3" fmla="*/ 0 h 71"/>
              </a:gdLst>
              <a:ahLst/>
              <a:cxnLst>
                <a:cxn ang="0">
                  <a:pos x="T0" y="T1"/>
                </a:cxn>
                <a:cxn ang="0">
                  <a:pos x="T2" y="T3"/>
                </a:cxn>
              </a:cxnLst>
              <a:rect l="0" t="0" r="r" b="b"/>
              <a:pathLst>
                <a:path w="23" h="71">
                  <a:moveTo>
                    <a:pt x="23" y="71"/>
                  </a:moveTo>
                  <a:cubicBezTo>
                    <a:pt x="21" y="45"/>
                    <a:pt x="19" y="20"/>
                    <a:pt x="0" y="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3" name="Freeform 435">
              <a:extLst>
                <a:ext uri="{FF2B5EF4-FFF2-40B4-BE49-F238E27FC236}">
                  <a16:creationId xmlns:a16="http://schemas.microsoft.com/office/drawing/2014/main" id="{924C8DE2-4B09-452E-91EB-20E3F6F2D924}"/>
                </a:ext>
              </a:extLst>
            </p:cNvPr>
            <p:cNvSpPr>
              <a:spLocks/>
            </p:cNvSpPr>
            <p:nvPr/>
          </p:nvSpPr>
          <p:spPr bwMode="auto">
            <a:xfrm>
              <a:off x="1171746" y="3173480"/>
              <a:ext cx="52556" cy="46982"/>
            </a:xfrm>
            <a:custGeom>
              <a:avLst/>
              <a:gdLst>
                <a:gd name="T0" fmla="*/ 67 w 69"/>
                <a:gd name="T1" fmla="*/ 0 h 63"/>
                <a:gd name="T2" fmla="*/ 0 w 69"/>
                <a:gd name="T3" fmla="*/ 45 h 63"/>
              </a:gdLst>
              <a:ahLst/>
              <a:cxnLst>
                <a:cxn ang="0">
                  <a:pos x="T0" y="T1"/>
                </a:cxn>
                <a:cxn ang="0">
                  <a:pos x="T2" y="T3"/>
                </a:cxn>
              </a:cxnLst>
              <a:rect l="0" t="0" r="r" b="b"/>
              <a:pathLst>
                <a:path w="69" h="63">
                  <a:moveTo>
                    <a:pt x="67" y="0"/>
                  </a:moveTo>
                  <a:cubicBezTo>
                    <a:pt x="67" y="0"/>
                    <a:pt x="69" y="63"/>
                    <a:pt x="0" y="4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4" name="Freeform 436">
              <a:extLst>
                <a:ext uri="{FF2B5EF4-FFF2-40B4-BE49-F238E27FC236}">
                  <a16:creationId xmlns:a16="http://schemas.microsoft.com/office/drawing/2014/main" id="{32F8E748-AFFA-4CE6-AF56-D3D2F12EEF83}"/>
                </a:ext>
              </a:extLst>
            </p:cNvPr>
            <p:cNvSpPr>
              <a:spLocks/>
            </p:cNvSpPr>
            <p:nvPr/>
          </p:nvSpPr>
          <p:spPr bwMode="auto">
            <a:xfrm>
              <a:off x="1065838" y="3073943"/>
              <a:ext cx="10352" cy="35037"/>
            </a:xfrm>
            <a:custGeom>
              <a:avLst/>
              <a:gdLst>
                <a:gd name="T0" fmla="*/ 13 w 13"/>
                <a:gd name="T1" fmla="*/ 0 h 47"/>
                <a:gd name="T2" fmla="*/ 0 w 13"/>
                <a:gd name="T3" fmla="*/ 47 h 47"/>
              </a:gdLst>
              <a:ahLst/>
              <a:cxnLst>
                <a:cxn ang="0">
                  <a:pos x="T0" y="T1"/>
                </a:cxn>
                <a:cxn ang="0">
                  <a:pos x="T2" y="T3"/>
                </a:cxn>
              </a:cxnLst>
              <a:rect l="0" t="0" r="r" b="b"/>
              <a:pathLst>
                <a:path w="13" h="47">
                  <a:moveTo>
                    <a:pt x="13" y="0"/>
                  </a:moveTo>
                  <a:cubicBezTo>
                    <a:pt x="13" y="0"/>
                    <a:pt x="0" y="34"/>
                    <a:pt x="0" y="4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5" name="Freeform 437">
              <a:extLst>
                <a:ext uri="{FF2B5EF4-FFF2-40B4-BE49-F238E27FC236}">
                  <a16:creationId xmlns:a16="http://schemas.microsoft.com/office/drawing/2014/main" id="{0C195B3C-2A14-43F7-97A8-4B12D0886110}"/>
                </a:ext>
              </a:extLst>
            </p:cNvPr>
            <p:cNvSpPr>
              <a:spLocks/>
            </p:cNvSpPr>
            <p:nvPr/>
          </p:nvSpPr>
          <p:spPr bwMode="auto">
            <a:xfrm>
              <a:off x="1037171" y="3134462"/>
              <a:ext cx="137761" cy="93964"/>
            </a:xfrm>
            <a:custGeom>
              <a:avLst/>
              <a:gdLst>
                <a:gd name="T0" fmla="*/ 183 w 183"/>
                <a:gd name="T1" fmla="*/ 98 h 125"/>
                <a:gd name="T2" fmla="*/ 142 w 183"/>
                <a:gd name="T3" fmla="*/ 119 h 125"/>
                <a:gd name="T4" fmla="*/ 92 w 183"/>
                <a:gd name="T5" fmla="*/ 93 h 125"/>
                <a:gd name="T6" fmla="*/ 59 w 183"/>
                <a:gd name="T7" fmla="*/ 59 h 125"/>
                <a:gd name="T8" fmla="*/ 49 w 183"/>
                <a:gd name="T9" fmla="*/ 0 h 125"/>
                <a:gd name="T10" fmla="*/ 0 w 183"/>
                <a:gd name="T11" fmla="*/ 30 h 125"/>
              </a:gdLst>
              <a:ahLst/>
              <a:cxnLst>
                <a:cxn ang="0">
                  <a:pos x="T0" y="T1"/>
                </a:cxn>
                <a:cxn ang="0">
                  <a:pos x="T2" y="T3"/>
                </a:cxn>
                <a:cxn ang="0">
                  <a:pos x="T4" y="T5"/>
                </a:cxn>
                <a:cxn ang="0">
                  <a:pos x="T6" y="T7"/>
                </a:cxn>
                <a:cxn ang="0">
                  <a:pos x="T8" y="T9"/>
                </a:cxn>
                <a:cxn ang="0">
                  <a:pos x="T10" y="T11"/>
                </a:cxn>
              </a:cxnLst>
              <a:rect l="0" t="0" r="r" b="b"/>
              <a:pathLst>
                <a:path w="183" h="125">
                  <a:moveTo>
                    <a:pt x="183" y="98"/>
                  </a:moveTo>
                  <a:cubicBezTo>
                    <a:pt x="180" y="106"/>
                    <a:pt x="174" y="113"/>
                    <a:pt x="142" y="119"/>
                  </a:cubicBezTo>
                  <a:cubicBezTo>
                    <a:pt x="110" y="125"/>
                    <a:pt x="102" y="110"/>
                    <a:pt x="92" y="93"/>
                  </a:cubicBezTo>
                  <a:cubicBezTo>
                    <a:pt x="82" y="76"/>
                    <a:pt x="75" y="80"/>
                    <a:pt x="59" y="59"/>
                  </a:cubicBezTo>
                  <a:cubicBezTo>
                    <a:pt x="42" y="39"/>
                    <a:pt x="49" y="0"/>
                    <a:pt x="49" y="0"/>
                  </a:cubicBezTo>
                  <a:cubicBezTo>
                    <a:pt x="49" y="0"/>
                    <a:pt x="50" y="22"/>
                    <a:pt x="0" y="3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6" name="Freeform 438">
              <a:extLst>
                <a:ext uri="{FF2B5EF4-FFF2-40B4-BE49-F238E27FC236}">
                  <a16:creationId xmlns:a16="http://schemas.microsoft.com/office/drawing/2014/main" id="{F060A012-A2AA-4C9D-A63F-0DEEC5AC8D3F}"/>
                </a:ext>
              </a:extLst>
            </p:cNvPr>
            <p:cNvSpPr>
              <a:spLocks/>
            </p:cNvSpPr>
            <p:nvPr/>
          </p:nvSpPr>
          <p:spPr bwMode="auto">
            <a:xfrm>
              <a:off x="1122375" y="3224443"/>
              <a:ext cx="21500" cy="17519"/>
            </a:xfrm>
            <a:custGeom>
              <a:avLst/>
              <a:gdLst>
                <a:gd name="T0" fmla="*/ 29 w 29"/>
                <a:gd name="T1" fmla="*/ 0 h 24"/>
                <a:gd name="T2" fmla="*/ 0 w 29"/>
                <a:gd name="T3" fmla="*/ 24 h 24"/>
              </a:gdLst>
              <a:ahLst/>
              <a:cxnLst>
                <a:cxn ang="0">
                  <a:pos x="T0" y="T1"/>
                </a:cxn>
                <a:cxn ang="0">
                  <a:pos x="T2" y="T3"/>
                </a:cxn>
              </a:cxnLst>
              <a:rect l="0" t="0" r="r" b="b"/>
              <a:pathLst>
                <a:path w="29" h="24">
                  <a:moveTo>
                    <a:pt x="29" y="0"/>
                  </a:moveTo>
                  <a:cubicBezTo>
                    <a:pt x="29" y="0"/>
                    <a:pt x="7" y="15"/>
                    <a:pt x="0" y="2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7" name="Freeform 439">
              <a:extLst>
                <a:ext uri="{FF2B5EF4-FFF2-40B4-BE49-F238E27FC236}">
                  <a16:creationId xmlns:a16="http://schemas.microsoft.com/office/drawing/2014/main" id="{607FCF24-F09C-4B37-B902-94338FF657BD}"/>
                </a:ext>
              </a:extLst>
            </p:cNvPr>
            <p:cNvSpPr>
              <a:spLocks/>
            </p:cNvSpPr>
            <p:nvPr/>
          </p:nvSpPr>
          <p:spPr bwMode="auto">
            <a:xfrm>
              <a:off x="988597" y="3131276"/>
              <a:ext cx="7167" cy="22296"/>
            </a:xfrm>
            <a:custGeom>
              <a:avLst/>
              <a:gdLst>
                <a:gd name="T0" fmla="*/ 0 w 10"/>
                <a:gd name="T1" fmla="*/ 0 h 30"/>
                <a:gd name="T2" fmla="*/ 10 w 10"/>
                <a:gd name="T3" fmla="*/ 30 h 30"/>
              </a:gdLst>
              <a:ahLst/>
              <a:cxnLst>
                <a:cxn ang="0">
                  <a:pos x="T0" y="T1"/>
                </a:cxn>
                <a:cxn ang="0">
                  <a:pos x="T2" y="T3"/>
                </a:cxn>
              </a:cxnLst>
              <a:rect l="0" t="0" r="r" b="b"/>
              <a:pathLst>
                <a:path w="10" h="30">
                  <a:moveTo>
                    <a:pt x="0" y="0"/>
                  </a:moveTo>
                  <a:cubicBezTo>
                    <a:pt x="0" y="0"/>
                    <a:pt x="5" y="14"/>
                    <a:pt x="10" y="3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8" name="Freeform 440">
              <a:extLst>
                <a:ext uri="{FF2B5EF4-FFF2-40B4-BE49-F238E27FC236}">
                  <a16:creationId xmlns:a16="http://schemas.microsoft.com/office/drawing/2014/main" id="{56988581-FB1C-4821-BAF5-7A6CE91087B9}"/>
                </a:ext>
              </a:extLst>
            </p:cNvPr>
            <p:cNvSpPr>
              <a:spLocks/>
            </p:cNvSpPr>
            <p:nvPr/>
          </p:nvSpPr>
          <p:spPr bwMode="auto">
            <a:xfrm>
              <a:off x="1055486" y="3254703"/>
              <a:ext cx="50167" cy="39019"/>
            </a:xfrm>
            <a:custGeom>
              <a:avLst/>
              <a:gdLst>
                <a:gd name="T0" fmla="*/ 67 w 67"/>
                <a:gd name="T1" fmla="*/ 0 h 52"/>
                <a:gd name="T2" fmla="*/ 0 w 67"/>
                <a:gd name="T3" fmla="*/ 18 h 52"/>
              </a:gdLst>
              <a:ahLst/>
              <a:cxnLst>
                <a:cxn ang="0">
                  <a:pos x="T0" y="T1"/>
                </a:cxn>
                <a:cxn ang="0">
                  <a:pos x="T2" y="T3"/>
                </a:cxn>
              </a:cxnLst>
              <a:rect l="0" t="0" r="r" b="b"/>
              <a:pathLst>
                <a:path w="67" h="52">
                  <a:moveTo>
                    <a:pt x="67" y="0"/>
                  </a:moveTo>
                  <a:cubicBezTo>
                    <a:pt x="67" y="0"/>
                    <a:pt x="45" y="52"/>
                    <a:pt x="0" y="1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09" name="Freeform 441">
              <a:extLst>
                <a:ext uri="{FF2B5EF4-FFF2-40B4-BE49-F238E27FC236}">
                  <a16:creationId xmlns:a16="http://schemas.microsoft.com/office/drawing/2014/main" id="{78F8010D-5AEB-4A01-A5B1-07CCC35988B8}"/>
                </a:ext>
              </a:extLst>
            </p:cNvPr>
            <p:cNvSpPr>
              <a:spLocks/>
            </p:cNvSpPr>
            <p:nvPr/>
          </p:nvSpPr>
          <p:spPr bwMode="auto">
            <a:xfrm>
              <a:off x="968689" y="3179055"/>
              <a:ext cx="70075" cy="76445"/>
            </a:xfrm>
            <a:custGeom>
              <a:avLst/>
              <a:gdLst>
                <a:gd name="T0" fmla="*/ 93 w 93"/>
                <a:gd name="T1" fmla="*/ 101 h 101"/>
                <a:gd name="T2" fmla="*/ 68 w 93"/>
                <a:gd name="T3" fmla="*/ 0 h 101"/>
                <a:gd name="T4" fmla="*/ 0 w 93"/>
                <a:gd name="T5" fmla="*/ 33 h 101"/>
              </a:gdLst>
              <a:ahLst/>
              <a:cxnLst>
                <a:cxn ang="0">
                  <a:pos x="T0" y="T1"/>
                </a:cxn>
                <a:cxn ang="0">
                  <a:pos x="T2" y="T3"/>
                </a:cxn>
                <a:cxn ang="0">
                  <a:pos x="T4" y="T5"/>
                </a:cxn>
              </a:cxnLst>
              <a:rect l="0" t="0" r="r" b="b"/>
              <a:pathLst>
                <a:path w="93" h="101">
                  <a:moveTo>
                    <a:pt x="93" y="101"/>
                  </a:moveTo>
                  <a:cubicBezTo>
                    <a:pt x="38" y="41"/>
                    <a:pt x="68" y="0"/>
                    <a:pt x="68" y="0"/>
                  </a:cubicBezTo>
                  <a:cubicBezTo>
                    <a:pt x="68" y="0"/>
                    <a:pt x="61" y="29"/>
                    <a:pt x="0" y="3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0" name="Freeform 442">
              <a:extLst>
                <a:ext uri="{FF2B5EF4-FFF2-40B4-BE49-F238E27FC236}">
                  <a16:creationId xmlns:a16="http://schemas.microsoft.com/office/drawing/2014/main" id="{52F8CA3A-61E3-4ABA-857B-7C0BF797693B}"/>
                </a:ext>
              </a:extLst>
            </p:cNvPr>
            <p:cNvSpPr>
              <a:spLocks/>
            </p:cNvSpPr>
            <p:nvPr/>
          </p:nvSpPr>
          <p:spPr bwMode="auto">
            <a:xfrm>
              <a:off x="985411" y="3196573"/>
              <a:ext cx="28667" cy="18315"/>
            </a:xfrm>
            <a:custGeom>
              <a:avLst/>
              <a:gdLst>
                <a:gd name="T0" fmla="*/ 38 w 38"/>
                <a:gd name="T1" fmla="*/ 25 h 25"/>
                <a:gd name="T2" fmla="*/ 0 w 38"/>
                <a:gd name="T3" fmla="*/ 6 h 25"/>
              </a:gdLst>
              <a:ahLst/>
              <a:cxnLst>
                <a:cxn ang="0">
                  <a:pos x="T0" y="T1"/>
                </a:cxn>
                <a:cxn ang="0">
                  <a:pos x="T2" y="T3"/>
                </a:cxn>
              </a:cxnLst>
              <a:rect l="0" t="0" r="r" b="b"/>
              <a:pathLst>
                <a:path w="38" h="25">
                  <a:moveTo>
                    <a:pt x="38" y="25"/>
                  </a:moveTo>
                  <a:cubicBezTo>
                    <a:pt x="38" y="25"/>
                    <a:pt x="25" y="0"/>
                    <a:pt x="0" y="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1" name="Freeform 443">
              <a:extLst>
                <a:ext uri="{FF2B5EF4-FFF2-40B4-BE49-F238E27FC236}">
                  <a16:creationId xmlns:a16="http://schemas.microsoft.com/office/drawing/2014/main" id="{9C3AF3BE-27F7-4207-A290-23651E5689C2}"/>
                </a:ext>
              </a:extLst>
            </p:cNvPr>
            <p:cNvSpPr>
              <a:spLocks/>
            </p:cNvSpPr>
            <p:nvPr/>
          </p:nvSpPr>
          <p:spPr bwMode="auto">
            <a:xfrm>
              <a:off x="955152" y="3276999"/>
              <a:ext cx="123427" cy="73260"/>
            </a:xfrm>
            <a:custGeom>
              <a:avLst/>
              <a:gdLst>
                <a:gd name="T0" fmla="*/ 165 w 165"/>
                <a:gd name="T1" fmla="*/ 0 h 97"/>
                <a:gd name="T2" fmla="*/ 92 w 165"/>
                <a:gd name="T3" fmla="*/ 92 h 97"/>
                <a:gd name="T4" fmla="*/ 0 w 165"/>
                <a:gd name="T5" fmla="*/ 89 h 97"/>
              </a:gdLst>
              <a:ahLst/>
              <a:cxnLst>
                <a:cxn ang="0">
                  <a:pos x="T0" y="T1"/>
                </a:cxn>
                <a:cxn ang="0">
                  <a:pos x="T2" y="T3"/>
                </a:cxn>
                <a:cxn ang="0">
                  <a:pos x="T4" y="T5"/>
                </a:cxn>
              </a:cxnLst>
              <a:rect l="0" t="0" r="r" b="b"/>
              <a:pathLst>
                <a:path w="165" h="97">
                  <a:moveTo>
                    <a:pt x="165" y="0"/>
                  </a:moveTo>
                  <a:cubicBezTo>
                    <a:pt x="165" y="0"/>
                    <a:pt x="144" y="87"/>
                    <a:pt x="92" y="92"/>
                  </a:cubicBezTo>
                  <a:cubicBezTo>
                    <a:pt x="39" y="97"/>
                    <a:pt x="80" y="69"/>
                    <a:pt x="0" y="89"/>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2" name="Freeform 444">
              <a:extLst>
                <a:ext uri="{FF2B5EF4-FFF2-40B4-BE49-F238E27FC236}">
                  <a16:creationId xmlns:a16="http://schemas.microsoft.com/office/drawing/2014/main" id="{9F6004FF-B496-411C-941E-849D0DA591C8}"/>
                </a:ext>
              </a:extLst>
            </p:cNvPr>
            <p:cNvSpPr>
              <a:spLocks/>
            </p:cNvSpPr>
            <p:nvPr/>
          </p:nvSpPr>
          <p:spPr bwMode="auto">
            <a:xfrm>
              <a:off x="945596" y="3274611"/>
              <a:ext cx="43000" cy="48575"/>
            </a:xfrm>
            <a:custGeom>
              <a:avLst/>
              <a:gdLst>
                <a:gd name="T0" fmla="*/ 57 w 57"/>
                <a:gd name="T1" fmla="*/ 0 h 65"/>
                <a:gd name="T2" fmla="*/ 17 w 57"/>
                <a:gd name="T3" fmla="*/ 31 h 65"/>
                <a:gd name="T4" fmla="*/ 0 w 57"/>
                <a:gd name="T5" fmla="*/ 65 h 65"/>
              </a:gdLst>
              <a:ahLst/>
              <a:cxnLst>
                <a:cxn ang="0">
                  <a:pos x="T0" y="T1"/>
                </a:cxn>
                <a:cxn ang="0">
                  <a:pos x="T2" y="T3"/>
                </a:cxn>
                <a:cxn ang="0">
                  <a:pos x="T4" y="T5"/>
                </a:cxn>
              </a:cxnLst>
              <a:rect l="0" t="0" r="r" b="b"/>
              <a:pathLst>
                <a:path w="57" h="65">
                  <a:moveTo>
                    <a:pt x="57" y="0"/>
                  </a:moveTo>
                  <a:cubicBezTo>
                    <a:pt x="57" y="0"/>
                    <a:pt x="28" y="7"/>
                    <a:pt x="17" y="31"/>
                  </a:cubicBezTo>
                  <a:cubicBezTo>
                    <a:pt x="5" y="55"/>
                    <a:pt x="10" y="57"/>
                    <a:pt x="0" y="6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3" name="Freeform 445">
              <a:extLst>
                <a:ext uri="{FF2B5EF4-FFF2-40B4-BE49-F238E27FC236}">
                  <a16:creationId xmlns:a16="http://schemas.microsoft.com/office/drawing/2014/main" id="{FFA28F36-DF78-4611-8F29-C839DB1F499C}"/>
                </a:ext>
              </a:extLst>
            </p:cNvPr>
            <p:cNvSpPr>
              <a:spLocks/>
            </p:cNvSpPr>
            <p:nvPr/>
          </p:nvSpPr>
          <p:spPr bwMode="auto">
            <a:xfrm>
              <a:off x="865966" y="3288148"/>
              <a:ext cx="72464" cy="95556"/>
            </a:xfrm>
            <a:custGeom>
              <a:avLst/>
              <a:gdLst>
                <a:gd name="T0" fmla="*/ 0 w 96"/>
                <a:gd name="T1" fmla="*/ 0 h 127"/>
                <a:gd name="T2" fmla="*/ 96 w 96"/>
                <a:gd name="T3" fmla="*/ 74 h 127"/>
              </a:gdLst>
              <a:ahLst/>
              <a:cxnLst>
                <a:cxn ang="0">
                  <a:pos x="T0" y="T1"/>
                </a:cxn>
                <a:cxn ang="0">
                  <a:pos x="T2" y="T3"/>
                </a:cxn>
              </a:cxnLst>
              <a:rect l="0" t="0" r="r" b="b"/>
              <a:pathLst>
                <a:path w="96" h="127">
                  <a:moveTo>
                    <a:pt x="0" y="0"/>
                  </a:moveTo>
                  <a:cubicBezTo>
                    <a:pt x="0" y="0"/>
                    <a:pt x="37" y="127"/>
                    <a:pt x="96" y="7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4" name="Freeform 446">
              <a:extLst>
                <a:ext uri="{FF2B5EF4-FFF2-40B4-BE49-F238E27FC236}">
                  <a16:creationId xmlns:a16="http://schemas.microsoft.com/office/drawing/2014/main" id="{B71C5A11-17A7-4859-8D76-7AD129CA7680}"/>
                </a:ext>
              </a:extLst>
            </p:cNvPr>
            <p:cNvSpPr>
              <a:spLocks/>
            </p:cNvSpPr>
            <p:nvPr/>
          </p:nvSpPr>
          <p:spPr bwMode="auto">
            <a:xfrm>
              <a:off x="914541" y="3355037"/>
              <a:ext cx="14333" cy="33445"/>
            </a:xfrm>
            <a:custGeom>
              <a:avLst/>
              <a:gdLst>
                <a:gd name="T0" fmla="*/ 0 w 19"/>
                <a:gd name="T1" fmla="*/ 0 h 44"/>
                <a:gd name="T2" fmla="*/ 16 w 19"/>
                <a:gd name="T3" fmla="*/ 44 h 44"/>
              </a:gdLst>
              <a:ahLst/>
              <a:cxnLst>
                <a:cxn ang="0">
                  <a:pos x="T0" y="T1"/>
                </a:cxn>
                <a:cxn ang="0">
                  <a:pos x="T2" y="T3"/>
                </a:cxn>
              </a:cxnLst>
              <a:rect l="0" t="0" r="r" b="b"/>
              <a:pathLst>
                <a:path w="19" h="44">
                  <a:moveTo>
                    <a:pt x="0" y="0"/>
                  </a:moveTo>
                  <a:cubicBezTo>
                    <a:pt x="0" y="0"/>
                    <a:pt x="19" y="20"/>
                    <a:pt x="16" y="44"/>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5" name="Freeform 447">
              <a:extLst>
                <a:ext uri="{FF2B5EF4-FFF2-40B4-BE49-F238E27FC236}">
                  <a16:creationId xmlns:a16="http://schemas.microsoft.com/office/drawing/2014/main" id="{54FD2A0B-7F98-4E33-95FE-66FC000F04F4}"/>
                </a:ext>
              </a:extLst>
            </p:cNvPr>
            <p:cNvSpPr>
              <a:spLocks/>
            </p:cNvSpPr>
            <p:nvPr/>
          </p:nvSpPr>
          <p:spPr bwMode="auto">
            <a:xfrm>
              <a:off x="1032393" y="3343093"/>
              <a:ext cx="101927" cy="138557"/>
            </a:xfrm>
            <a:custGeom>
              <a:avLst/>
              <a:gdLst>
                <a:gd name="T0" fmla="*/ 3 w 136"/>
                <a:gd name="T1" fmla="*/ 0 h 184"/>
                <a:gd name="T2" fmla="*/ 12 w 136"/>
                <a:gd name="T3" fmla="*/ 40 h 184"/>
                <a:gd name="T4" fmla="*/ 13 w 136"/>
                <a:gd name="T5" fmla="*/ 123 h 184"/>
                <a:gd name="T6" fmla="*/ 70 w 136"/>
                <a:gd name="T7" fmla="*/ 165 h 184"/>
                <a:gd name="T8" fmla="*/ 100 w 136"/>
                <a:gd name="T9" fmla="*/ 179 h 184"/>
                <a:gd name="T10" fmla="*/ 136 w 136"/>
                <a:gd name="T11" fmla="*/ 181 h 184"/>
              </a:gdLst>
              <a:ahLst/>
              <a:cxnLst>
                <a:cxn ang="0">
                  <a:pos x="T0" y="T1"/>
                </a:cxn>
                <a:cxn ang="0">
                  <a:pos x="T2" y="T3"/>
                </a:cxn>
                <a:cxn ang="0">
                  <a:pos x="T4" y="T5"/>
                </a:cxn>
                <a:cxn ang="0">
                  <a:pos x="T6" y="T7"/>
                </a:cxn>
                <a:cxn ang="0">
                  <a:pos x="T8" y="T9"/>
                </a:cxn>
                <a:cxn ang="0">
                  <a:pos x="T10" y="T11"/>
                </a:cxn>
              </a:cxnLst>
              <a:rect l="0" t="0" r="r" b="b"/>
              <a:pathLst>
                <a:path w="136" h="184">
                  <a:moveTo>
                    <a:pt x="3" y="0"/>
                  </a:moveTo>
                  <a:cubicBezTo>
                    <a:pt x="3" y="0"/>
                    <a:pt x="24" y="4"/>
                    <a:pt x="12" y="40"/>
                  </a:cubicBezTo>
                  <a:cubicBezTo>
                    <a:pt x="0" y="76"/>
                    <a:pt x="4" y="111"/>
                    <a:pt x="13" y="123"/>
                  </a:cubicBezTo>
                  <a:cubicBezTo>
                    <a:pt x="22" y="135"/>
                    <a:pt x="21" y="154"/>
                    <a:pt x="70" y="165"/>
                  </a:cubicBezTo>
                  <a:cubicBezTo>
                    <a:pt x="90" y="170"/>
                    <a:pt x="90" y="175"/>
                    <a:pt x="100" y="179"/>
                  </a:cubicBezTo>
                  <a:cubicBezTo>
                    <a:pt x="111" y="184"/>
                    <a:pt x="99" y="184"/>
                    <a:pt x="136" y="18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6" name="Freeform 448">
              <a:extLst>
                <a:ext uri="{FF2B5EF4-FFF2-40B4-BE49-F238E27FC236}">
                  <a16:creationId xmlns:a16="http://schemas.microsoft.com/office/drawing/2014/main" id="{39414289-736E-4C08-8CA6-54970E3961E0}"/>
                </a:ext>
              </a:extLst>
            </p:cNvPr>
            <p:cNvSpPr>
              <a:spLocks/>
            </p:cNvSpPr>
            <p:nvPr/>
          </p:nvSpPr>
          <p:spPr bwMode="auto">
            <a:xfrm>
              <a:off x="962319" y="3413167"/>
              <a:ext cx="74056" cy="25482"/>
            </a:xfrm>
            <a:custGeom>
              <a:avLst/>
              <a:gdLst>
                <a:gd name="T0" fmla="*/ 99 w 99"/>
                <a:gd name="T1" fmla="*/ 0 h 34"/>
                <a:gd name="T2" fmla="*/ 44 w 99"/>
                <a:gd name="T3" fmla="*/ 25 h 34"/>
                <a:gd name="T4" fmla="*/ 0 w 99"/>
                <a:gd name="T5" fmla="*/ 20 h 34"/>
              </a:gdLst>
              <a:ahLst/>
              <a:cxnLst>
                <a:cxn ang="0">
                  <a:pos x="T0" y="T1"/>
                </a:cxn>
                <a:cxn ang="0">
                  <a:pos x="T2" y="T3"/>
                </a:cxn>
                <a:cxn ang="0">
                  <a:pos x="T4" y="T5"/>
                </a:cxn>
              </a:cxnLst>
              <a:rect l="0" t="0" r="r" b="b"/>
              <a:pathLst>
                <a:path w="99" h="34">
                  <a:moveTo>
                    <a:pt x="99" y="0"/>
                  </a:moveTo>
                  <a:cubicBezTo>
                    <a:pt x="99" y="0"/>
                    <a:pt x="81" y="34"/>
                    <a:pt x="44" y="25"/>
                  </a:cubicBezTo>
                  <a:cubicBezTo>
                    <a:pt x="6" y="17"/>
                    <a:pt x="8" y="19"/>
                    <a:pt x="0" y="20"/>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7" name="Freeform 449">
              <a:extLst>
                <a:ext uri="{FF2B5EF4-FFF2-40B4-BE49-F238E27FC236}">
                  <a16:creationId xmlns:a16="http://schemas.microsoft.com/office/drawing/2014/main" id="{D8C11226-37EF-42B9-AC5F-88E002FB4E95}"/>
                </a:ext>
              </a:extLst>
            </p:cNvPr>
            <p:cNvSpPr>
              <a:spLocks/>
            </p:cNvSpPr>
            <p:nvPr/>
          </p:nvSpPr>
          <p:spPr bwMode="auto">
            <a:xfrm>
              <a:off x="930467" y="3245147"/>
              <a:ext cx="41408" cy="39815"/>
            </a:xfrm>
            <a:custGeom>
              <a:avLst/>
              <a:gdLst>
                <a:gd name="T0" fmla="*/ 14 w 55"/>
                <a:gd name="T1" fmla="*/ 0 h 53"/>
                <a:gd name="T2" fmla="*/ 55 w 55"/>
                <a:gd name="T3" fmla="*/ 46 h 53"/>
              </a:gdLst>
              <a:ahLst/>
              <a:cxnLst>
                <a:cxn ang="0">
                  <a:pos x="T0" y="T1"/>
                </a:cxn>
                <a:cxn ang="0">
                  <a:pos x="T2" y="T3"/>
                </a:cxn>
              </a:cxnLst>
              <a:rect l="0" t="0" r="r" b="b"/>
              <a:pathLst>
                <a:path w="55" h="53">
                  <a:moveTo>
                    <a:pt x="14" y="0"/>
                  </a:moveTo>
                  <a:cubicBezTo>
                    <a:pt x="14" y="0"/>
                    <a:pt x="0" y="53"/>
                    <a:pt x="55" y="4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8" name="Freeform 450">
              <a:extLst>
                <a:ext uri="{FF2B5EF4-FFF2-40B4-BE49-F238E27FC236}">
                  <a16:creationId xmlns:a16="http://schemas.microsoft.com/office/drawing/2014/main" id="{6E2FF4C8-2FC5-46A3-98F6-5032CD8A327B}"/>
                </a:ext>
              </a:extLst>
            </p:cNvPr>
            <p:cNvSpPr>
              <a:spLocks/>
            </p:cNvSpPr>
            <p:nvPr/>
          </p:nvSpPr>
          <p:spPr bwMode="auto">
            <a:xfrm>
              <a:off x="866762" y="3390871"/>
              <a:ext cx="246058" cy="121038"/>
            </a:xfrm>
            <a:custGeom>
              <a:avLst/>
              <a:gdLst>
                <a:gd name="T0" fmla="*/ 13 w 327"/>
                <a:gd name="T1" fmla="*/ 0 h 160"/>
                <a:gd name="T2" fmla="*/ 50 w 327"/>
                <a:gd name="T3" fmla="*/ 69 h 160"/>
                <a:gd name="T4" fmla="*/ 80 w 327"/>
                <a:gd name="T5" fmla="*/ 100 h 160"/>
                <a:gd name="T6" fmla="*/ 160 w 327"/>
                <a:gd name="T7" fmla="*/ 141 h 160"/>
                <a:gd name="T8" fmla="*/ 231 w 327"/>
                <a:gd name="T9" fmla="*/ 155 h 160"/>
                <a:gd name="T10" fmla="*/ 327 w 327"/>
                <a:gd name="T11" fmla="*/ 152 h 160"/>
              </a:gdLst>
              <a:ahLst/>
              <a:cxnLst>
                <a:cxn ang="0">
                  <a:pos x="T0" y="T1"/>
                </a:cxn>
                <a:cxn ang="0">
                  <a:pos x="T2" y="T3"/>
                </a:cxn>
                <a:cxn ang="0">
                  <a:pos x="T4" y="T5"/>
                </a:cxn>
                <a:cxn ang="0">
                  <a:pos x="T6" y="T7"/>
                </a:cxn>
                <a:cxn ang="0">
                  <a:pos x="T8" y="T9"/>
                </a:cxn>
                <a:cxn ang="0">
                  <a:pos x="T10" y="T11"/>
                </a:cxn>
              </a:cxnLst>
              <a:rect l="0" t="0" r="r" b="b"/>
              <a:pathLst>
                <a:path w="327" h="160">
                  <a:moveTo>
                    <a:pt x="13" y="0"/>
                  </a:moveTo>
                  <a:cubicBezTo>
                    <a:pt x="13" y="0"/>
                    <a:pt x="0" y="36"/>
                    <a:pt x="50" y="69"/>
                  </a:cubicBezTo>
                  <a:cubicBezTo>
                    <a:pt x="83" y="90"/>
                    <a:pt x="78" y="96"/>
                    <a:pt x="80" y="100"/>
                  </a:cubicBezTo>
                  <a:cubicBezTo>
                    <a:pt x="81" y="103"/>
                    <a:pt x="91" y="130"/>
                    <a:pt x="160" y="141"/>
                  </a:cubicBezTo>
                  <a:cubicBezTo>
                    <a:pt x="229" y="152"/>
                    <a:pt x="209" y="150"/>
                    <a:pt x="231" y="155"/>
                  </a:cubicBezTo>
                  <a:cubicBezTo>
                    <a:pt x="252" y="160"/>
                    <a:pt x="276" y="159"/>
                    <a:pt x="327" y="15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19" name="Freeform 451">
              <a:extLst>
                <a:ext uri="{FF2B5EF4-FFF2-40B4-BE49-F238E27FC236}">
                  <a16:creationId xmlns:a16="http://schemas.microsoft.com/office/drawing/2014/main" id="{9A827910-C7C4-422C-AA6A-914CC708C798}"/>
                </a:ext>
              </a:extLst>
            </p:cNvPr>
            <p:cNvSpPr>
              <a:spLocks/>
            </p:cNvSpPr>
            <p:nvPr/>
          </p:nvSpPr>
          <p:spPr bwMode="auto">
            <a:xfrm>
              <a:off x="1194839" y="3499168"/>
              <a:ext cx="43797" cy="43000"/>
            </a:xfrm>
            <a:custGeom>
              <a:avLst/>
              <a:gdLst>
                <a:gd name="T0" fmla="*/ 0 w 59"/>
                <a:gd name="T1" fmla="*/ 0 h 58"/>
                <a:gd name="T2" fmla="*/ 18 w 59"/>
                <a:gd name="T3" fmla="*/ 58 h 58"/>
              </a:gdLst>
              <a:ahLst/>
              <a:cxnLst>
                <a:cxn ang="0">
                  <a:pos x="T0" y="T1"/>
                </a:cxn>
                <a:cxn ang="0">
                  <a:pos x="T2" y="T3"/>
                </a:cxn>
              </a:cxnLst>
              <a:rect l="0" t="0" r="r" b="b"/>
              <a:pathLst>
                <a:path w="59" h="58">
                  <a:moveTo>
                    <a:pt x="0" y="0"/>
                  </a:moveTo>
                  <a:cubicBezTo>
                    <a:pt x="0" y="0"/>
                    <a:pt x="59" y="12"/>
                    <a:pt x="18" y="58"/>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0" name="Freeform 453">
              <a:extLst>
                <a:ext uri="{FF2B5EF4-FFF2-40B4-BE49-F238E27FC236}">
                  <a16:creationId xmlns:a16="http://schemas.microsoft.com/office/drawing/2014/main" id="{709E1FF4-B843-4C97-A51C-1B745C0232A1}"/>
                </a:ext>
              </a:extLst>
            </p:cNvPr>
            <p:cNvSpPr>
              <a:spLocks/>
            </p:cNvSpPr>
            <p:nvPr/>
          </p:nvSpPr>
          <p:spPr bwMode="auto">
            <a:xfrm>
              <a:off x="907374" y="3537391"/>
              <a:ext cx="44593" cy="17519"/>
            </a:xfrm>
            <a:custGeom>
              <a:avLst/>
              <a:gdLst>
                <a:gd name="T0" fmla="*/ 59 w 59"/>
                <a:gd name="T1" fmla="*/ 0 h 24"/>
                <a:gd name="T2" fmla="*/ 38 w 59"/>
                <a:gd name="T3" fmla="*/ 12 h 24"/>
                <a:gd name="T4" fmla="*/ 0 w 59"/>
                <a:gd name="T5" fmla="*/ 21 h 24"/>
              </a:gdLst>
              <a:ahLst/>
              <a:cxnLst>
                <a:cxn ang="0">
                  <a:pos x="T0" y="T1"/>
                </a:cxn>
                <a:cxn ang="0">
                  <a:pos x="T2" y="T3"/>
                </a:cxn>
                <a:cxn ang="0">
                  <a:pos x="T4" y="T5"/>
                </a:cxn>
              </a:cxnLst>
              <a:rect l="0" t="0" r="r" b="b"/>
              <a:pathLst>
                <a:path w="59" h="24">
                  <a:moveTo>
                    <a:pt x="59" y="0"/>
                  </a:moveTo>
                  <a:cubicBezTo>
                    <a:pt x="59" y="0"/>
                    <a:pt x="42" y="7"/>
                    <a:pt x="38" y="12"/>
                  </a:cubicBezTo>
                  <a:cubicBezTo>
                    <a:pt x="35" y="17"/>
                    <a:pt x="40" y="24"/>
                    <a:pt x="0" y="21"/>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1" name="Freeform 454">
              <a:extLst>
                <a:ext uri="{FF2B5EF4-FFF2-40B4-BE49-F238E27FC236}">
                  <a16:creationId xmlns:a16="http://schemas.microsoft.com/office/drawing/2014/main" id="{26947DB4-ED40-42F7-9C2F-FFBD25B0D3D6}"/>
                </a:ext>
              </a:extLst>
            </p:cNvPr>
            <p:cNvSpPr>
              <a:spLocks/>
            </p:cNvSpPr>
            <p:nvPr/>
          </p:nvSpPr>
          <p:spPr bwMode="auto">
            <a:xfrm>
              <a:off x="980633" y="3553317"/>
              <a:ext cx="190317" cy="30259"/>
            </a:xfrm>
            <a:custGeom>
              <a:avLst/>
              <a:gdLst>
                <a:gd name="T0" fmla="*/ 254 w 254"/>
                <a:gd name="T1" fmla="*/ 16 h 41"/>
                <a:gd name="T2" fmla="*/ 191 w 254"/>
                <a:gd name="T3" fmla="*/ 32 h 41"/>
                <a:gd name="T4" fmla="*/ 125 w 254"/>
                <a:gd name="T5" fmla="*/ 22 h 41"/>
                <a:gd name="T6" fmla="*/ 77 w 254"/>
                <a:gd name="T7" fmla="*/ 27 h 41"/>
                <a:gd name="T8" fmla="*/ 0 w 254"/>
                <a:gd name="T9" fmla="*/ 0 h 41"/>
                <a:gd name="T10" fmla="*/ 5 w 254"/>
                <a:gd name="T11" fmla="*/ 26 h 41"/>
              </a:gdLst>
              <a:ahLst/>
              <a:cxnLst>
                <a:cxn ang="0">
                  <a:pos x="T0" y="T1"/>
                </a:cxn>
                <a:cxn ang="0">
                  <a:pos x="T2" y="T3"/>
                </a:cxn>
                <a:cxn ang="0">
                  <a:pos x="T4" y="T5"/>
                </a:cxn>
                <a:cxn ang="0">
                  <a:pos x="T6" y="T7"/>
                </a:cxn>
                <a:cxn ang="0">
                  <a:pos x="T8" y="T9"/>
                </a:cxn>
                <a:cxn ang="0">
                  <a:pos x="T10" y="T11"/>
                </a:cxn>
              </a:cxnLst>
              <a:rect l="0" t="0" r="r" b="b"/>
              <a:pathLst>
                <a:path w="254" h="41">
                  <a:moveTo>
                    <a:pt x="254" y="16"/>
                  </a:moveTo>
                  <a:cubicBezTo>
                    <a:pt x="254" y="16"/>
                    <a:pt x="239" y="37"/>
                    <a:pt x="191" y="32"/>
                  </a:cubicBezTo>
                  <a:cubicBezTo>
                    <a:pt x="144" y="27"/>
                    <a:pt x="141" y="26"/>
                    <a:pt x="125" y="22"/>
                  </a:cubicBezTo>
                  <a:cubicBezTo>
                    <a:pt x="108" y="18"/>
                    <a:pt x="95" y="25"/>
                    <a:pt x="77" y="27"/>
                  </a:cubicBezTo>
                  <a:cubicBezTo>
                    <a:pt x="59" y="29"/>
                    <a:pt x="27" y="41"/>
                    <a:pt x="0" y="0"/>
                  </a:cubicBezTo>
                  <a:cubicBezTo>
                    <a:pt x="0" y="0"/>
                    <a:pt x="8" y="17"/>
                    <a:pt x="5" y="26"/>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2" name="Freeform 455">
              <a:extLst>
                <a:ext uri="{FF2B5EF4-FFF2-40B4-BE49-F238E27FC236}">
                  <a16:creationId xmlns:a16="http://schemas.microsoft.com/office/drawing/2014/main" id="{72DDCF27-E766-4A73-ABD3-0589EA91C65B}"/>
                </a:ext>
              </a:extLst>
            </p:cNvPr>
            <p:cNvSpPr>
              <a:spLocks/>
            </p:cNvSpPr>
            <p:nvPr/>
          </p:nvSpPr>
          <p:spPr bwMode="auto">
            <a:xfrm>
              <a:off x="1151839" y="3546946"/>
              <a:ext cx="33445" cy="39019"/>
            </a:xfrm>
            <a:custGeom>
              <a:avLst/>
              <a:gdLst>
                <a:gd name="T0" fmla="*/ 45 w 45"/>
                <a:gd name="T1" fmla="*/ 0 h 52"/>
                <a:gd name="T2" fmla="*/ 39 w 45"/>
                <a:gd name="T3" fmla="*/ 52 h 52"/>
              </a:gdLst>
              <a:ahLst/>
              <a:cxnLst>
                <a:cxn ang="0">
                  <a:pos x="T0" y="T1"/>
                </a:cxn>
                <a:cxn ang="0">
                  <a:pos x="T2" y="T3"/>
                </a:cxn>
              </a:cxnLst>
              <a:rect l="0" t="0" r="r" b="b"/>
              <a:pathLst>
                <a:path w="45" h="52">
                  <a:moveTo>
                    <a:pt x="45" y="0"/>
                  </a:moveTo>
                  <a:cubicBezTo>
                    <a:pt x="45" y="0"/>
                    <a:pt x="0" y="29"/>
                    <a:pt x="39" y="52"/>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3" name="Freeform 456">
              <a:extLst>
                <a:ext uri="{FF2B5EF4-FFF2-40B4-BE49-F238E27FC236}">
                  <a16:creationId xmlns:a16="http://schemas.microsoft.com/office/drawing/2014/main" id="{495FC939-B565-4DCA-AA94-9D9875B86196}"/>
                </a:ext>
              </a:extLst>
            </p:cNvPr>
            <p:cNvSpPr>
              <a:spLocks/>
            </p:cNvSpPr>
            <p:nvPr/>
          </p:nvSpPr>
          <p:spPr bwMode="auto">
            <a:xfrm>
              <a:off x="1192450" y="3245944"/>
              <a:ext cx="67686" cy="33445"/>
            </a:xfrm>
            <a:custGeom>
              <a:avLst/>
              <a:gdLst>
                <a:gd name="T0" fmla="*/ 90 w 90"/>
                <a:gd name="T1" fmla="*/ 0 h 44"/>
                <a:gd name="T2" fmla="*/ 0 w 90"/>
                <a:gd name="T3" fmla="*/ 13 h 44"/>
              </a:gdLst>
              <a:ahLst/>
              <a:cxnLst>
                <a:cxn ang="0">
                  <a:pos x="T0" y="T1"/>
                </a:cxn>
                <a:cxn ang="0">
                  <a:pos x="T2" y="T3"/>
                </a:cxn>
              </a:cxnLst>
              <a:rect l="0" t="0" r="r" b="b"/>
              <a:pathLst>
                <a:path w="90" h="44">
                  <a:moveTo>
                    <a:pt x="90" y="0"/>
                  </a:moveTo>
                  <a:cubicBezTo>
                    <a:pt x="90" y="0"/>
                    <a:pt x="62" y="44"/>
                    <a:pt x="0" y="13"/>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4" name="Freeform 457">
              <a:extLst>
                <a:ext uri="{FF2B5EF4-FFF2-40B4-BE49-F238E27FC236}">
                  <a16:creationId xmlns:a16="http://schemas.microsoft.com/office/drawing/2014/main" id="{C48FDBB9-99A9-4079-8810-1C27D8DD11C7}"/>
                </a:ext>
              </a:extLst>
            </p:cNvPr>
            <p:cNvSpPr>
              <a:spLocks/>
            </p:cNvSpPr>
            <p:nvPr/>
          </p:nvSpPr>
          <p:spPr bwMode="auto">
            <a:xfrm>
              <a:off x="1086542" y="3265851"/>
              <a:ext cx="132186" cy="57334"/>
            </a:xfrm>
            <a:custGeom>
              <a:avLst/>
              <a:gdLst>
                <a:gd name="T0" fmla="*/ 176 w 176"/>
                <a:gd name="T1" fmla="*/ 0 h 77"/>
                <a:gd name="T2" fmla="*/ 91 w 176"/>
                <a:gd name="T3" fmla="*/ 27 h 77"/>
                <a:gd name="T4" fmla="*/ 0 w 176"/>
                <a:gd name="T5" fmla="*/ 75 h 77"/>
              </a:gdLst>
              <a:ahLst/>
              <a:cxnLst>
                <a:cxn ang="0">
                  <a:pos x="T0" y="T1"/>
                </a:cxn>
                <a:cxn ang="0">
                  <a:pos x="T2" y="T3"/>
                </a:cxn>
                <a:cxn ang="0">
                  <a:pos x="T4" y="T5"/>
                </a:cxn>
              </a:cxnLst>
              <a:rect l="0" t="0" r="r" b="b"/>
              <a:pathLst>
                <a:path w="176" h="77">
                  <a:moveTo>
                    <a:pt x="176" y="0"/>
                  </a:moveTo>
                  <a:cubicBezTo>
                    <a:pt x="176" y="0"/>
                    <a:pt x="109" y="10"/>
                    <a:pt x="91" y="27"/>
                  </a:cubicBezTo>
                  <a:cubicBezTo>
                    <a:pt x="73" y="44"/>
                    <a:pt x="41" y="77"/>
                    <a:pt x="0" y="7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5" name="Freeform 458">
              <a:extLst>
                <a:ext uri="{FF2B5EF4-FFF2-40B4-BE49-F238E27FC236}">
                  <a16:creationId xmlns:a16="http://schemas.microsoft.com/office/drawing/2014/main" id="{224D0744-F5B0-4EB1-831C-0EC21216670A}"/>
                </a:ext>
              </a:extLst>
            </p:cNvPr>
            <p:cNvSpPr>
              <a:spLocks/>
            </p:cNvSpPr>
            <p:nvPr/>
          </p:nvSpPr>
          <p:spPr bwMode="auto">
            <a:xfrm>
              <a:off x="1085745" y="3321592"/>
              <a:ext cx="17519" cy="55741"/>
            </a:xfrm>
            <a:custGeom>
              <a:avLst/>
              <a:gdLst>
                <a:gd name="T0" fmla="*/ 23 w 23"/>
                <a:gd name="T1" fmla="*/ 0 h 75"/>
                <a:gd name="T2" fmla="*/ 5 w 23"/>
                <a:gd name="T3" fmla="*/ 75 h 75"/>
              </a:gdLst>
              <a:ahLst/>
              <a:cxnLst>
                <a:cxn ang="0">
                  <a:pos x="T0" y="T1"/>
                </a:cxn>
                <a:cxn ang="0">
                  <a:pos x="T2" y="T3"/>
                </a:cxn>
              </a:cxnLst>
              <a:rect l="0" t="0" r="r" b="b"/>
              <a:pathLst>
                <a:path w="23" h="75">
                  <a:moveTo>
                    <a:pt x="23" y="0"/>
                  </a:moveTo>
                  <a:cubicBezTo>
                    <a:pt x="23" y="0"/>
                    <a:pt x="0" y="36"/>
                    <a:pt x="5" y="75"/>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6" name="Freeform 460">
              <a:extLst>
                <a:ext uri="{FF2B5EF4-FFF2-40B4-BE49-F238E27FC236}">
                  <a16:creationId xmlns:a16="http://schemas.microsoft.com/office/drawing/2014/main" id="{03B9C1CE-B69B-48A3-AB1E-F232D0A0EB2B}"/>
                </a:ext>
              </a:extLst>
            </p:cNvPr>
            <p:cNvSpPr>
              <a:spLocks/>
            </p:cNvSpPr>
            <p:nvPr/>
          </p:nvSpPr>
          <p:spPr bwMode="auto">
            <a:xfrm>
              <a:off x="955152" y="3281777"/>
              <a:ext cx="6370" cy="12741"/>
            </a:xfrm>
            <a:custGeom>
              <a:avLst/>
              <a:gdLst>
                <a:gd name="T0" fmla="*/ 0 w 8"/>
                <a:gd name="T1" fmla="*/ 0 h 17"/>
                <a:gd name="T2" fmla="*/ 5 w 8"/>
                <a:gd name="T3" fmla="*/ 17 h 17"/>
              </a:gdLst>
              <a:ahLst/>
              <a:cxnLst>
                <a:cxn ang="0">
                  <a:pos x="T0" y="T1"/>
                </a:cxn>
                <a:cxn ang="0">
                  <a:pos x="T2" y="T3"/>
                </a:cxn>
              </a:cxnLst>
              <a:rect l="0" t="0" r="r" b="b"/>
              <a:pathLst>
                <a:path w="8" h="17">
                  <a:moveTo>
                    <a:pt x="0" y="0"/>
                  </a:moveTo>
                  <a:cubicBezTo>
                    <a:pt x="0" y="0"/>
                    <a:pt x="8" y="1"/>
                    <a:pt x="5" y="17"/>
                  </a:cubicBezTo>
                </a:path>
              </a:pathLst>
            </a:custGeom>
            <a:noFill/>
            <a:ln w="317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227" name="Freeform: Shape 226">
              <a:extLst>
                <a:ext uri="{FF2B5EF4-FFF2-40B4-BE49-F238E27FC236}">
                  <a16:creationId xmlns:a16="http://schemas.microsoft.com/office/drawing/2014/main" id="{D5F5FAD3-FA05-4DF7-B077-2DD1AFBBA21A}"/>
                </a:ext>
              </a:extLst>
            </p:cNvPr>
            <p:cNvSpPr/>
            <p:nvPr/>
          </p:nvSpPr>
          <p:spPr>
            <a:xfrm>
              <a:off x="1247584" y="3389257"/>
              <a:ext cx="342566" cy="313019"/>
            </a:xfrm>
            <a:custGeom>
              <a:avLst/>
              <a:gdLst>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27467 w 695085"/>
                <a:gd name="connsiteY9" fmla="*/ 290555 h 454927"/>
                <a:gd name="connsiteX10" fmla="*/ 494129 w 695085"/>
                <a:gd name="connsiteY10" fmla="*/ 335798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17942 w 695085"/>
                <a:gd name="connsiteY9" fmla="*/ 273886 h 454927"/>
                <a:gd name="connsiteX10" fmla="*/ 494129 w 695085"/>
                <a:gd name="connsiteY10" fmla="*/ 335798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5"/>
                <a:gd name="connsiteY0" fmla="*/ 235786 h 454927"/>
                <a:gd name="connsiteX1" fmla="*/ 127417 w 695085"/>
                <a:gd name="connsiteY1" fmla="*/ 114342 h 454927"/>
                <a:gd name="connsiteX2" fmla="*/ 236954 w 695085"/>
                <a:gd name="connsiteY2" fmla="*/ 28617 h 454927"/>
                <a:gd name="connsiteX3" fmla="*/ 401261 w 695085"/>
                <a:gd name="connsiteY3" fmla="*/ 42 h 454927"/>
                <a:gd name="connsiteX4" fmla="*/ 572711 w 695085"/>
                <a:gd name="connsiteY4" fmla="*/ 33380 h 454927"/>
                <a:gd name="connsiteX5" fmla="*/ 627479 w 695085"/>
                <a:gd name="connsiteY5" fmla="*/ 119105 h 454927"/>
                <a:gd name="connsiteX6" fmla="*/ 677486 w 695085"/>
                <a:gd name="connsiteY6" fmla="*/ 214355 h 454927"/>
                <a:gd name="connsiteX7" fmla="*/ 689392 w 695085"/>
                <a:gd name="connsiteY7" fmla="*/ 269123 h 454927"/>
                <a:gd name="connsiteX8" fmla="*/ 591761 w 695085"/>
                <a:gd name="connsiteY8" fmla="*/ 297698 h 454927"/>
                <a:gd name="connsiteX9" fmla="*/ 517942 w 695085"/>
                <a:gd name="connsiteY9" fmla="*/ 273886 h 454927"/>
                <a:gd name="connsiteX10" fmla="*/ 491748 w 695085"/>
                <a:gd name="connsiteY10" fmla="*/ 338179 h 454927"/>
                <a:gd name="connsiteX11" fmla="*/ 508417 w 695085"/>
                <a:gd name="connsiteY11" fmla="*/ 388186 h 454927"/>
                <a:gd name="connsiteX12" fmla="*/ 384592 w 695085"/>
                <a:gd name="connsiteY12" fmla="*/ 404855 h 454927"/>
                <a:gd name="connsiteX13" fmla="*/ 194092 w 695085"/>
                <a:gd name="connsiteY13" fmla="*/ 416761 h 454927"/>
                <a:gd name="connsiteX14" fmla="*/ 67886 w 695085"/>
                <a:gd name="connsiteY14" fmla="*/ 454861 h 454927"/>
                <a:gd name="connsiteX15" fmla="*/ 1211 w 695085"/>
                <a:gd name="connsiteY15" fmla="*/ 423905 h 454927"/>
                <a:gd name="connsiteX16" fmla="*/ 25023 w 695085"/>
                <a:gd name="connsiteY16" fmla="*/ 352467 h 454927"/>
                <a:gd name="connsiteX17" fmla="*/ 27404 w 695085"/>
                <a:gd name="connsiteY17" fmla="*/ 242930 h 454927"/>
                <a:gd name="connsiteX18" fmla="*/ 86936 w 695085"/>
                <a:gd name="connsiteY18" fmla="*/ 235786 h 454927"/>
                <a:gd name="connsiteX0" fmla="*/ 86936 w 695084"/>
                <a:gd name="connsiteY0" fmla="*/ 235786 h 454927"/>
                <a:gd name="connsiteX1" fmla="*/ 127417 w 695084"/>
                <a:gd name="connsiteY1" fmla="*/ 114342 h 454927"/>
                <a:gd name="connsiteX2" fmla="*/ 236954 w 695084"/>
                <a:gd name="connsiteY2" fmla="*/ 28617 h 454927"/>
                <a:gd name="connsiteX3" fmla="*/ 401261 w 695084"/>
                <a:gd name="connsiteY3" fmla="*/ 42 h 454927"/>
                <a:gd name="connsiteX4" fmla="*/ 572711 w 695084"/>
                <a:gd name="connsiteY4" fmla="*/ 33380 h 454927"/>
                <a:gd name="connsiteX5" fmla="*/ 627479 w 695084"/>
                <a:gd name="connsiteY5" fmla="*/ 119105 h 454927"/>
                <a:gd name="connsiteX6" fmla="*/ 677486 w 695084"/>
                <a:gd name="connsiteY6" fmla="*/ 214355 h 454927"/>
                <a:gd name="connsiteX7" fmla="*/ 689392 w 695084"/>
                <a:gd name="connsiteY7" fmla="*/ 269123 h 454927"/>
                <a:gd name="connsiteX8" fmla="*/ 591761 w 695084"/>
                <a:gd name="connsiteY8" fmla="*/ 273885 h 454927"/>
                <a:gd name="connsiteX9" fmla="*/ 517942 w 695084"/>
                <a:gd name="connsiteY9" fmla="*/ 273886 h 454927"/>
                <a:gd name="connsiteX10" fmla="*/ 491748 w 695084"/>
                <a:gd name="connsiteY10" fmla="*/ 338179 h 454927"/>
                <a:gd name="connsiteX11" fmla="*/ 508417 w 695084"/>
                <a:gd name="connsiteY11" fmla="*/ 388186 h 454927"/>
                <a:gd name="connsiteX12" fmla="*/ 384592 w 695084"/>
                <a:gd name="connsiteY12" fmla="*/ 404855 h 454927"/>
                <a:gd name="connsiteX13" fmla="*/ 194092 w 695084"/>
                <a:gd name="connsiteY13" fmla="*/ 416761 h 454927"/>
                <a:gd name="connsiteX14" fmla="*/ 67886 w 695084"/>
                <a:gd name="connsiteY14" fmla="*/ 454861 h 454927"/>
                <a:gd name="connsiteX15" fmla="*/ 1211 w 695084"/>
                <a:gd name="connsiteY15" fmla="*/ 423905 h 454927"/>
                <a:gd name="connsiteX16" fmla="*/ 25023 w 695084"/>
                <a:gd name="connsiteY16" fmla="*/ 352467 h 454927"/>
                <a:gd name="connsiteX17" fmla="*/ 27404 w 695084"/>
                <a:gd name="connsiteY17" fmla="*/ 242930 h 454927"/>
                <a:gd name="connsiteX18" fmla="*/ 86936 w 695084"/>
                <a:gd name="connsiteY18" fmla="*/ 235786 h 454927"/>
                <a:gd name="connsiteX0" fmla="*/ 86936 w 682178"/>
                <a:gd name="connsiteY0" fmla="*/ 235786 h 454927"/>
                <a:gd name="connsiteX1" fmla="*/ 127417 w 682178"/>
                <a:gd name="connsiteY1" fmla="*/ 114342 h 454927"/>
                <a:gd name="connsiteX2" fmla="*/ 236954 w 682178"/>
                <a:gd name="connsiteY2" fmla="*/ 28617 h 454927"/>
                <a:gd name="connsiteX3" fmla="*/ 401261 w 682178"/>
                <a:gd name="connsiteY3" fmla="*/ 42 h 454927"/>
                <a:gd name="connsiteX4" fmla="*/ 572711 w 682178"/>
                <a:gd name="connsiteY4" fmla="*/ 33380 h 454927"/>
                <a:gd name="connsiteX5" fmla="*/ 627479 w 682178"/>
                <a:gd name="connsiteY5" fmla="*/ 119105 h 454927"/>
                <a:gd name="connsiteX6" fmla="*/ 677486 w 682178"/>
                <a:gd name="connsiteY6" fmla="*/ 214355 h 454927"/>
                <a:gd name="connsiteX7" fmla="*/ 670342 w 682178"/>
                <a:gd name="connsiteY7" fmla="*/ 285792 h 454927"/>
                <a:gd name="connsiteX8" fmla="*/ 591761 w 682178"/>
                <a:gd name="connsiteY8" fmla="*/ 273885 h 454927"/>
                <a:gd name="connsiteX9" fmla="*/ 517942 w 682178"/>
                <a:gd name="connsiteY9" fmla="*/ 273886 h 454927"/>
                <a:gd name="connsiteX10" fmla="*/ 491748 w 682178"/>
                <a:gd name="connsiteY10" fmla="*/ 338179 h 454927"/>
                <a:gd name="connsiteX11" fmla="*/ 508417 w 682178"/>
                <a:gd name="connsiteY11" fmla="*/ 388186 h 454927"/>
                <a:gd name="connsiteX12" fmla="*/ 384592 w 682178"/>
                <a:gd name="connsiteY12" fmla="*/ 404855 h 454927"/>
                <a:gd name="connsiteX13" fmla="*/ 194092 w 682178"/>
                <a:gd name="connsiteY13" fmla="*/ 416761 h 454927"/>
                <a:gd name="connsiteX14" fmla="*/ 67886 w 682178"/>
                <a:gd name="connsiteY14" fmla="*/ 454861 h 454927"/>
                <a:gd name="connsiteX15" fmla="*/ 1211 w 682178"/>
                <a:gd name="connsiteY15" fmla="*/ 423905 h 454927"/>
                <a:gd name="connsiteX16" fmla="*/ 25023 w 682178"/>
                <a:gd name="connsiteY16" fmla="*/ 352467 h 454927"/>
                <a:gd name="connsiteX17" fmla="*/ 27404 w 682178"/>
                <a:gd name="connsiteY17" fmla="*/ 242930 h 454927"/>
                <a:gd name="connsiteX18" fmla="*/ 86936 w 682178"/>
                <a:gd name="connsiteY18" fmla="*/ 235786 h 454927"/>
                <a:gd name="connsiteX0" fmla="*/ 86936 w 682935"/>
                <a:gd name="connsiteY0" fmla="*/ 235786 h 454927"/>
                <a:gd name="connsiteX1" fmla="*/ 127417 w 682935"/>
                <a:gd name="connsiteY1" fmla="*/ 114342 h 454927"/>
                <a:gd name="connsiteX2" fmla="*/ 236954 w 682935"/>
                <a:gd name="connsiteY2" fmla="*/ 28617 h 454927"/>
                <a:gd name="connsiteX3" fmla="*/ 401261 w 682935"/>
                <a:gd name="connsiteY3" fmla="*/ 42 h 454927"/>
                <a:gd name="connsiteX4" fmla="*/ 572711 w 682935"/>
                <a:gd name="connsiteY4" fmla="*/ 33380 h 454927"/>
                <a:gd name="connsiteX5" fmla="*/ 627479 w 682935"/>
                <a:gd name="connsiteY5" fmla="*/ 119105 h 454927"/>
                <a:gd name="connsiteX6" fmla="*/ 677486 w 682935"/>
                <a:gd name="connsiteY6" fmla="*/ 214355 h 454927"/>
                <a:gd name="connsiteX7" fmla="*/ 670342 w 682935"/>
                <a:gd name="connsiteY7" fmla="*/ 285792 h 454927"/>
                <a:gd name="connsiteX8" fmla="*/ 577473 w 682935"/>
                <a:gd name="connsiteY8" fmla="*/ 264360 h 454927"/>
                <a:gd name="connsiteX9" fmla="*/ 517942 w 682935"/>
                <a:gd name="connsiteY9" fmla="*/ 273886 h 454927"/>
                <a:gd name="connsiteX10" fmla="*/ 491748 w 682935"/>
                <a:gd name="connsiteY10" fmla="*/ 338179 h 454927"/>
                <a:gd name="connsiteX11" fmla="*/ 508417 w 682935"/>
                <a:gd name="connsiteY11" fmla="*/ 388186 h 454927"/>
                <a:gd name="connsiteX12" fmla="*/ 384592 w 682935"/>
                <a:gd name="connsiteY12" fmla="*/ 404855 h 454927"/>
                <a:gd name="connsiteX13" fmla="*/ 194092 w 682935"/>
                <a:gd name="connsiteY13" fmla="*/ 416761 h 454927"/>
                <a:gd name="connsiteX14" fmla="*/ 67886 w 682935"/>
                <a:gd name="connsiteY14" fmla="*/ 454861 h 454927"/>
                <a:gd name="connsiteX15" fmla="*/ 1211 w 682935"/>
                <a:gd name="connsiteY15" fmla="*/ 423905 h 454927"/>
                <a:gd name="connsiteX16" fmla="*/ 25023 w 682935"/>
                <a:gd name="connsiteY16" fmla="*/ 352467 h 454927"/>
                <a:gd name="connsiteX17" fmla="*/ 27404 w 682935"/>
                <a:gd name="connsiteY17" fmla="*/ 242930 h 454927"/>
                <a:gd name="connsiteX18" fmla="*/ 86936 w 682935"/>
                <a:gd name="connsiteY18" fmla="*/ 235786 h 454927"/>
                <a:gd name="connsiteX0" fmla="*/ 86936 w 682935"/>
                <a:gd name="connsiteY0" fmla="*/ 235786 h 454927"/>
                <a:gd name="connsiteX1" fmla="*/ 127417 w 682935"/>
                <a:gd name="connsiteY1" fmla="*/ 114342 h 454927"/>
                <a:gd name="connsiteX2" fmla="*/ 236954 w 682935"/>
                <a:gd name="connsiteY2" fmla="*/ 28617 h 454927"/>
                <a:gd name="connsiteX3" fmla="*/ 401261 w 682935"/>
                <a:gd name="connsiteY3" fmla="*/ 42 h 454927"/>
                <a:gd name="connsiteX4" fmla="*/ 572711 w 682935"/>
                <a:gd name="connsiteY4" fmla="*/ 33380 h 454927"/>
                <a:gd name="connsiteX5" fmla="*/ 627479 w 682935"/>
                <a:gd name="connsiteY5" fmla="*/ 119105 h 454927"/>
                <a:gd name="connsiteX6" fmla="*/ 677486 w 682935"/>
                <a:gd name="connsiteY6" fmla="*/ 214355 h 454927"/>
                <a:gd name="connsiteX7" fmla="*/ 670342 w 682935"/>
                <a:gd name="connsiteY7" fmla="*/ 285792 h 454927"/>
                <a:gd name="connsiteX8" fmla="*/ 577473 w 682935"/>
                <a:gd name="connsiteY8" fmla="*/ 264360 h 454927"/>
                <a:gd name="connsiteX9" fmla="*/ 517942 w 682935"/>
                <a:gd name="connsiteY9" fmla="*/ 273886 h 454927"/>
                <a:gd name="connsiteX10" fmla="*/ 484605 w 682935"/>
                <a:gd name="connsiteY10" fmla="*/ 333416 h 454927"/>
                <a:gd name="connsiteX11" fmla="*/ 508417 w 682935"/>
                <a:gd name="connsiteY11" fmla="*/ 388186 h 454927"/>
                <a:gd name="connsiteX12" fmla="*/ 384592 w 682935"/>
                <a:gd name="connsiteY12" fmla="*/ 404855 h 454927"/>
                <a:gd name="connsiteX13" fmla="*/ 194092 w 682935"/>
                <a:gd name="connsiteY13" fmla="*/ 416761 h 454927"/>
                <a:gd name="connsiteX14" fmla="*/ 67886 w 682935"/>
                <a:gd name="connsiteY14" fmla="*/ 454861 h 454927"/>
                <a:gd name="connsiteX15" fmla="*/ 1211 w 682935"/>
                <a:gd name="connsiteY15" fmla="*/ 423905 h 454927"/>
                <a:gd name="connsiteX16" fmla="*/ 25023 w 682935"/>
                <a:gd name="connsiteY16" fmla="*/ 352467 h 454927"/>
                <a:gd name="connsiteX17" fmla="*/ 27404 w 682935"/>
                <a:gd name="connsiteY17" fmla="*/ 242930 h 454927"/>
                <a:gd name="connsiteX18" fmla="*/ 86936 w 682935"/>
                <a:gd name="connsiteY18" fmla="*/ 235786 h 454927"/>
                <a:gd name="connsiteX0" fmla="*/ 86936 w 682935"/>
                <a:gd name="connsiteY0" fmla="*/ 235786 h 514451"/>
                <a:gd name="connsiteX1" fmla="*/ 127417 w 682935"/>
                <a:gd name="connsiteY1" fmla="*/ 114342 h 514451"/>
                <a:gd name="connsiteX2" fmla="*/ 236954 w 682935"/>
                <a:gd name="connsiteY2" fmla="*/ 28617 h 514451"/>
                <a:gd name="connsiteX3" fmla="*/ 401261 w 682935"/>
                <a:gd name="connsiteY3" fmla="*/ 42 h 514451"/>
                <a:gd name="connsiteX4" fmla="*/ 572711 w 682935"/>
                <a:gd name="connsiteY4" fmla="*/ 33380 h 514451"/>
                <a:gd name="connsiteX5" fmla="*/ 627479 w 682935"/>
                <a:gd name="connsiteY5" fmla="*/ 119105 h 514451"/>
                <a:gd name="connsiteX6" fmla="*/ 677486 w 682935"/>
                <a:gd name="connsiteY6" fmla="*/ 214355 h 514451"/>
                <a:gd name="connsiteX7" fmla="*/ 670342 w 682935"/>
                <a:gd name="connsiteY7" fmla="*/ 285792 h 514451"/>
                <a:gd name="connsiteX8" fmla="*/ 577473 w 682935"/>
                <a:gd name="connsiteY8" fmla="*/ 264360 h 514451"/>
                <a:gd name="connsiteX9" fmla="*/ 517942 w 682935"/>
                <a:gd name="connsiteY9" fmla="*/ 273886 h 514451"/>
                <a:gd name="connsiteX10" fmla="*/ 484605 w 682935"/>
                <a:gd name="connsiteY10" fmla="*/ 333416 h 514451"/>
                <a:gd name="connsiteX11" fmla="*/ 508417 w 682935"/>
                <a:gd name="connsiteY11" fmla="*/ 388186 h 514451"/>
                <a:gd name="connsiteX12" fmla="*/ 529848 w 682935"/>
                <a:gd name="connsiteY12" fmla="*/ 514392 h 514451"/>
                <a:gd name="connsiteX13" fmla="*/ 384592 w 682935"/>
                <a:gd name="connsiteY13" fmla="*/ 404855 h 514451"/>
                <a:gd name="connsiteX14" fmla="*/ 194092 w 682935"/>
                <a:gd name="connsiteY14" fmla="*/ 416761 h 514451"/>
                <a:gd name="connsiteX15" fmla="*/ 67886 w 682935"/>
                <a:gd name="connsiteY15" fmla="*/ 454861 h 514451"/>
                <a:gd name="connsiteX16" fmla="*/ 1211 w 682935"/>
                <a:gd name="connsiteY16" fmla="*/ 423905 h 514451"/>
                <a:gd name="connsiteX17" fmla="*/ 25023 w 682935"/>
                <a:gd name="connsiteY17" fmla="*/ 352467 h 514451"/>
                <a:gd name="connsiteX18" fmla="*/ 27404 w 682935"/>
                <a:gd name="connsiteY18" fmla="*/ 242930 h 514451"/>
                <a:gd name="connsiteX19" fmla="*/ 86936 w 682935"/>
                <a:gd name="connsiteY19" fmla="*/ 235786 h 514451"/>
                <a:gd name="connsiteX0" fmla="*/ 86936 w 682935"/>
                <a:gd name="connsiteY0" fmla="*/ 235786 h 540376"/>
                <a:gd name="connsiteX1" fmla="*/ 127417 w 682935"/>
                <a:gd name="connsiteY1" fmla="*/ 114342 h 540376"/>
                <a:gd name="connsiteX2" fmla="*/ 236954 w 682935"/>
                <a:gd name="connsiteY2" fmla="*/ 28617 h 540376"/>
                <a:gd name="connsiteX3" fmla="*/ 401261 w 682935"/>
                <a:gd name="connsiteY3" fmla="*/ 42 h 540376"/>
                <a:gd name="connsiteX4" fmla="*/ 572711 w 682935"/>
                <a:gd name="connsiteY4" fmla="*/ 33380 h 540376"/>
                <a:gd name="connsiteX5" fmla="*/ 627479 w 682935"/>
                <a:gd name="connsiteY5" fmla="*/ 119105 h 540376"/>
                <a:gd name="connsiteX6" fmla="*/ 677486 w 682935"/>
                <a:gd name="connsiteY6" fmla="*/ 214355 h 540376"/>
                <a:gd name="connsiteX7" fmla="*/ 670342 w 682935"/>
                <a:gd name="connsiteY7" fmla="*/ 285792 h 540376"/>
                <a:gd name="connsiteX8" fmla="*/ 577473 w 682935"/>
                <a:gd name="connsiteY8" fmla="*/ 264360 h 540376"/>
                <a:gd name="connsiteX9" fmla="*/ 517942 w 682935"/>
                <a:gd name="connsiteY9" fmla="*/ 273886 h 540376"/>
                <a:gd name="connsiteX10" fmla="*/ 484605 w 682935"/>
                <a:gd name="connsiteY10" fmla="*/ 333416 h 540376"/>
                <a:gd name="connsiteX11" fmla="*/ 508417 w 682935"/>
                <a:gd name="connsiteY11" fmla="*/ 388186 h 540376"/>
                <a:gd name="connsiteX12" fmla="*/ 529848 w 682935"/>
                <a:gd name="connsiteY12" fmla="*/ 514392 h 540376"/>
                <a:gd name="connsiteX13" fmla="*/ 470317 w 682935"/>
                <a:gd name="connsiteY13" fmla="*/ 533442 h 540376"/>
                <a:gd name="connsiteX14" fmla="*/ 384592 w 682935"/>
                <a:gd name="connsiteY14" fmla="*/ 404855 h 540376"/>
                <a:gd name="connsiteX15" fmla="*/ 194092 w 682935"/>
                <a:gd name="connsiteY15" fmla="*/ 416761 h 540376"/>
                <a:gd name="connsiteX16" fmla="*/ 67886 w 682935"/>
                <a:gd name="connsiteY16" fmla="*/ 454861 h 540376"/>
                <a:gd name="connsiteX17" fmla="*/ 1211 w 682935"/>
                <a:gd name="connsiteY17" fmla="*/ 423905 h 540376"/>
                <a:gd name="connsiteX18" fmla="*/ 25023 w 682935"/>
                <a:gd name="connsiteY18" fmla="*/ 352467 h 540376"/>
                <a:gd name="connsiteX19" fmla="*/ 27404 w 682935"/>
                <a:gd name="connsiteY19" fmla="*/ 242930 h 540376"/>
                <a:gd name="connsiteX20" fmla="*/ 86936 w 682935"/>
                <a:gd name="connsiteY20" fmla="*/ 235786 h 540376"/>
                <a:gd name="connsiteX0" fmla="*/ 86936 w 682935"/>
                <a:gd name="connsiteY0" fmla="*/ 235786 h 624031"/>
                <a:gd name="connsiteX1" fmla="*/ 127417 w 682935"/>
                <a:gd name="connsiteY1" fmla="*/ 114342 h 624031"/>
                <a:gd name="connsiteX2" fmla="*/ 236954 w 682935"/>
                <a:gd name="connsiteY2" fmla="*/ 28617 h 624031"/>
                <a:gd name="connsiteX3" fmla="*/ 401261 w 682935"/>
                <a:gd name="connsiteY3" fmla="*/ 42 h 624031"/>
                <a:gd name="connsiteX4" fmla="*/ 572711 w 682935"/>
                <a:gd name="connsiteY4" fmla="*/ 33380 h 624031"/>
                <a:gd name="connsiteX5" fmla="*/ 627479 w 682935"/>
                <a:gd name="connsiteY5" fmla="*/ 119105 h 624031"/>
                <a:gd name="connsiteX6" fmla="*/ 677486 w 682935"/>
                <a:gd name="connsiteY6" fmla="*/ 214355 h 624031"/>
                <a:gd name="connsiteX7" fmla="*/ 670342 w 682935"/>
                <a:gd name="connsiteY7" fmla="*/ 285792 h 624031"/>
                <a:gd name="connsiteX8" fmla="*/ 577473 w 682935"/>
                <a:gd name="connsiteY8" fmla="*/ 264360 h 624031"/>
                <a:gd name="connsiteX9" fmla="*/ 517942 w 682935"/>
                <a:gd name="connsiteY9" fmla="*/ 273886 h 624031"/>
                <a:gd name="connsiteX10" fmla="*/ 484605 w 682935"/>
                <a:gd name="connsiteY10" fmla="*/ 333416 h 624031"/>
                <a:gd name="connsiteX11" fmla="*/ 508417 w 682935"/>
                <a:gd name="connsiteY11" fmla="*/ 388186 h 624031"/>
                <a:gd name="connsiteX12" fmla="*/ 529848 w 682935"/>
                <a:gd name="connsiteY12" fmla="*/ 514392 h 624031"/>
                <a:gd name="connsiteX13" fmla="*/ 494129 w 682935"/>
                <a:gd name="connsiteY13" fmla="*/ 623929 h 624031"/>
                <a:gd name="connsiteX14" fmla="*/ 470317 w 682935"/>
                <a:gd name="connsiteY14" fmla="*/ 533442 h 624031"/>
                <a:gd name="connsiteX15" fmla="*/ 384592 w 682935"/>
                <a:gd name="connsiteY15" fmla="*/ 404855 h 624031"/>
                <a:gd name="connsiteX16" fmla="*/ 194092 w 682935"/>
                <a:gd name="connsiteY16" fmla="*/ 416761 h 624031"/>
                <a:gd name="connsiteX17" fmla="*/ 67886 w 682935"/>
                <a:gd name="connsiteY17" fmla="*/ 454861 h 624031"/>
                <a:gd name="connsiteX18" fmla="*/ 1211 w 682935"/>
                <a:gd name="connsiteY18" fmla="*/ 423905 h 624031"/>
                <a:gd name="connsiteX19" fmla="*/ 25023 w 682935"/>
                <a:gd name="connsiteY19" fmla="*/ 352467 h 624031"/>
                <a:gd name="connsiteX20" fmla="*/ 27404 w 682935"/>
                <a:gd name="connsiteY20" fmla="*/ 242930 h 624031"/>
                <a:gd name="connsiteX21" fmla="*/ 86936 w 682935"/>
                <a:gd name="connsiteY21" fmla="*/ 235786 h 624031"/>
                <a:gd name="connsiteX0" fmla="*/ 86936 w 682935"/>
                <a:gd name="connsiteY0" fmla="*/ 235786 h 624031"/>
                <a:gd name="connsiteX1" fmla="*/ 127417 w 682935"/>
                <a:gd name="connsiteY1" fmla="*/ 114342 h 624031"/>
                <a:gd name="connsiteX2" fmla="*/ 236954 w 682935"/>
                <a:gd name="connsiteY2" fmla="*/ 28617 h 624031"/>
                <a:gd name="connsiteX3" fmla="*/ 401261 w 682935"/>
                <a:gd name="connsiteY3" fmla="*/ 42 h 624031"/>
                <a:gd name="connsiteX4" fmla="*/ 572711 w 682935"/>
                <a:gd name="connsiteY4" fmla="*/ 33380 h 624031"/>
                <a:gd name="connsiteX5" fmla="*/ 627479 w 682935"/>
                <a:gd name="connsiteY5" fmla="*/ 119105 h 624031"/>
                <a:gd name="connsiteX6" fmla="*/ 677486 w 682935"/>
                <a:gd name="connsiteY6" fmla="*/ 214355 h 624031"/>
                <a:gd name="connsiteX7" fmla="*/ 670342 w 682935"/>
                <a:gd name="connsiteY7" fmla="*/ 285792 h 624031"/>
                <a:gd name="connsiteX8" fmla="*/ 577473 w 682935"/>
                <a:gd name="connsiteY8" fmla="*/ 264360 h 624031"/>
                <a:gd name="connsiteX9" fmla="*/ 517942 w 682935"/>
                <a:gd name="connsiteY9" fmla="*/ 273886 h 624031"/>
                <a:gd name="connsiteX10" fmla="*/ 484605 w 682935"/>
                <a:gd name="connsiteY10" fmla="*/ 333416 h 624031"/>
                <a:gd name="connsiteX11" fmla="*/ 508417 w 682935"/>
                <a:gd name="connsiteY11" fmla="*/ 388186 h 624031"/>
                <a:gd name="connsiteX12" fmla="*/ 536992 w 682935"/>
                <a:gd name="connsiteY12" fmla="*/ 585829 h 624031"/>
                <a:gd name="connsiteX13" fmla="*/ 494129 w 682935"/>
                <a:gd name="connsiteY13" fmla="*/ 623929 h 624031"/>
                <a:gd name="connsiteX14" fmla="*/ 470317 w 682935"/>
                <a:gd name="connsiteY14" fmla="*/ 533442 h 624031"/>
                <a:gd name="connsiteX15" fmla="*/ 384592 w 682935"/>
                <a:gd name="connsiteY15" fmla="*/ 404855 h 624031"/>
                <a:gd name="connsiteX16" fmla="*/ 194092 w 682935"/>
                <a:gd name="connsiteY16" fmla="*/ 416761 h 624031"/>
                <a:gd name="connsiteX17" fmla="*/ 67886 w 682935"/>
                <a:gd name="connsiteY17" fmla="*/ 454861 h 624031"/>
                <a:gd name="connsiteX18" fmla="*/ 1211 w 682935"/>
                <a:gd name="connsiteY18" fmla="*/ 423905 h 624031"/>
                <a:gd name="connsiteX19" fmla="*/ 25023 w 682935"/>
                <a:gd name="connsiteY19" fmla="*/ 352467 h 624031"/>
                <a:gd name="connsiteX20" fmla="*/ 27404 w 682935"/>
                <a:gd name="connsiteY20" fmla="*/ 242930 h 624031"/>
                <a:gd name="connsiteX21" fmla="*/ 86936 w 682935"/>
                <a:gd name="connsiteY21" fmla="*/ 235786 h 62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82935" h="624031">
                  <a:moveTo>
                    <a:pt x="86936" y="235786"/>
                  </a:moveTo>
                  <a:cubicBezTo>
                    <a:pt x="103605" y="214355"/>
                    <a:pt x="102414" y="148870"/>
                    <a:pt x="127417" y="114342"/>
                  </a:cubicBezTo>
                  <a:cubicBezTo>
                    <a:pt x="152420" y="79814"/>
                    <a:pt x="191313" y="47667"/>
                    <a:pt x="236954" y="28617"/>
                  </a:cubicBezTo>
                  <a:cubicBezTo>
                    <a:pt x="282595" y="9567"/>
                    <a:pt x="345302" y="-752"/>
                    <a:pt x="401261" y="42"/>
                  </a:cubicBezTo>
                  <a:cubicBezTo>
                    <a:pt x="457221" y="836"/>
                    <a:pt x="535008" y="13536"/>
                    <a:pt x="572711" y="33380"/>
                  </a:cubicBezTo>
                  <a:cubicBezTo>
                    <a:pt x="610414" y="53224"/>
                    <a:pt x="610017" y="88943"/>
                    <a:pt x="627479" y="119105"/>
                  </a:cubicBezTo>
                  <a:cubicBezTo>
                    <a:pt x="644941" y="149267"/>
                    <a:pt x="670342" y="186574"/>
                    <a:pt x="677486" y="214355"/>
                  </a:cubicBezTo>
                  <a:cubicBezTo>
                    <a:pt x="684630" y="242136"/>
                    <a:pt x="687011" y="277458"/>
                    <a:pt x="670342" y="285792"/>
                  </a:cubicBezTo>
                  <a:cubicBezTo>
                    <a:pt x="653673" y="294126"/>
                    <a:pt x="602873" y="266344"/>
                    <a:pt x="577473" y="264360"/>
                  </a:cubicBezTo>
                  <a:cubicBezTo>
                    <a:pt x="552073" y="262376"/>
                    <a:pt x="533420" y="262377"/>
                    <a:pt x="517942" y="273886"/>
                  </a:cubicBezTo>
                  <a:cubicBezTo>
                    <a:pt x="502464" y="285395"/>
                    <a:pt x="486192" y="314366"/>
                    <a:pt x="484605" y="333416"/>
                  </a:cubicBezTo>
                  <a:cubicBezTo>
                    <a:pt x="483018" y="352466"/>
                    <a:pt x="499686" y="346117"/>
                    <a:pt x="508417" y="388186"/>
                  </a:cubicBezTo>
                  <a:cubicBezTo>
                    <a:pt x="517148" y="430255"/>
                    <a:pt x="538976" y="560826"/>
                    <a:pt x="536992" y="585829"/>
                  </a:cubicBezTo>
                  <a:cubicBezTo>
                    <a:pt x="535008" y="610832"/>
                    <a:pt x="504051" y="620754"/>
                    <a:pt x="494129" y="623929"/>
                  </a:cubicBezTo>
                  <a:cubicBezTo>
                    <a:pt x="484207" y="627104"/>
                    <a:pt x="488970" y="555667"/>
                    <a:pt x="470317" y="533442"/>
                  </a:cubicBezTo>
                  <a:cubicBezTo>
                    <a:pt x="451664" y="511217"/>
                    <a:pt x="430630" y="424302"/>
                    <a:pt x="384592" y="404855"/>
                  </a:cubicBezTo>
                  <a:cubicBezTo>
                    <a:pt x="338555" y="385408"/>
                    <a:pt x="246876" y="408427"/>
                    <a:pt x="194092" y="416761"/>
                  </a:cubicBezTo>
                  <a:cubicBezTo>
                    <a:pt x="141308" y="425095"/>
                    <a:pt x="100033" y="453670"/>
                    <a:pt x="67886" y="454861"/>
                  </a:cubicBezTo>
                  <a:cubicBezTo>
                    <a:pt x="35739" y="456052"/>
                    <a:pt x="8355" y="440971"/>
                    <a:pt x="1211" y="423905"/>
                  </a:cubicBezTo>
                  <a:cubicBezTo>
                    <a:pt x="-5933" y="406839"/>
                    <a:pt x="20657" y="382630"/>
                    <a:pt x="25023" y="352467"/>
                  </a:cubicBezTo>
                  <a:cubicBezTo>
                    <a:pt x="29388" y="322305"/>
                    <a:pt x="20260" y="265155"/>
                    <a:pt x="27404" y="242930"/>
                  </a:cubicBezTo>
                  <a:cubicBezTo>
                    <a:pt x="34548" y="220705"/>
                    <a:pt x="70267" y="257217"/>
                    <a:pt x="86936" y="235786"/>
                  </a:cubicBezTo>
                  <a:close/>
                </a:path>
              </a:pathLst>
            </a:cu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228" name="Freeform 461">
              <a:extLst>
                <a:ext uri="{FF2B5EF4-FFF2-40B4-BE49-F238E27FC236}">
                  <a16:creationId xmlns:a16="http://schemas.microsoft.com/office/drawing/2014/main" id="{BDE334E0-95FA-436C-AF56-67E1660F0625}"/>
                </a:ext>
              </a:extLst>
            </p:cNvPr>
            <p:cNvSpPr>
              <a:spLocks/>
            </p:cNvSpPr>
            <p:nvPr/>
          </p:nvSpPr>
          <p:spPr bwMode="auto">
            <a:xfrm>
              <a:off x="1553175" y="3497576"/>
              <a:ext cx="103519" cy="86001"/>
            </a:xfrm>
            <a:custGeom>
              <a:avLst/>
              <a:gdLst>
                <a:gd name="T0" fmla="*/ 106 w 137"/>
                <a:gd name="T1" fmla="*/ 45 h 115"/>
                <a:gd name="T2" fmla="*/ 123 w 137"/>
                <a:gd name="T3" fmla="*/ 99 h 115"/>
                <a:gd name="T4" fmla="*/ 75 w 137"/>
                <a:gd name="T5" fmla="*/ 109 h 115"/>
                <a:gd name="T6" fmla="*/ 48 w 137"/>
                <a:gd name="T7" fmla="*/ 64 h 115"/>
                <a:gd name="T8" fmla="*/ 14 w 137"/>
                <a:gd name="T9" fmla="*/ 61 h 115"/>
                <a:gd name="T10" fmla="*/ 24 w 137"/>
                <a:gd name="T11" fmla="*/ 3 h 115"/>
                <a:gd name="T12" fmla="*/ 106 w 137"/>
                <a:gd name="T13" fmla="*/ 45 h 115"/>
              </a:gdLst>
              <a:ahLst/>
              <a:cxnLst>
                <a:cxn ang="0">
                  <a:pos x="T0" y="T1"/>
                </a:cxn>
                <a:cxn ang="0">
                  <a:pos x="T2" y="T3"/>
                </a:cxn>
                <a:cxn ang="0">
                  <a:pos x="T4" y="T5"/>
                </a:cxn>
                <a:cxn ang="0">
                  <a:pos x="T6" y="T7"/>
                </a:cxn>
                <a:cxn ang="0">
                  <a:pos x="T8" y="T9"/>
                </a:cxn>
                <a:cxn ang="0">
                  <a:pos x="T10" y="T11"/>
                </a:cxn>
                <a:cxn ang="0">
                  <a:pos x="T12" y="T13"/>
                </a:cxn>
              </a:cxnLst>
              <a:rect l="0" t="0" r="r" b="b"/>
              <a:pathLst>
                <a:path w="137" h="115">
                  <a:moveTo>
                    <a:pt x="106" y="45"/>
                  </a:moveTo>
                  <a:cubicBezTo>
                    <a:pt x="106" y="45"/>
                    <a:pt x="137" y="90"/>
                    <a:pt x="123" y="99"/>
                  </a:cubicBezTo>
                  <a:cubicBezTo>
                    <a:pt x="110" y="109"/>
                    <a:pt x="86" y="115"/>
                    <a:pt x="75" y="109"/>
                  </a:cubicBezTo>
                  <a:cubicBezTo>
                    <a:pt x="65" y="103"/>
                    <a:pt x="64" y="63"/>
                    <a:pt x="48" y="64"/>
                  </a:cubicBezTo>
                  <a:cubicBezTo>
                    <a:pt x="32" y="65"/>
                    <a:pt x="17" y="77"/>
                    <a:pt x="14" y="61"/>
                  </a:cubicBezTo>
                  <a:cubicBezTo>
                    <a:pt x="10" y="45"/>
                    <a:pt x="0" y="3"/>
                    <a:pt x="24" y="3"/>
                  </a:cubicBezTo>
                  <a:cubicBezTo>
                    <a:pt x="48" y="3"/>
                    <a:pt x="86" y="0"/>
                    <a:pt x="106" y="45"/>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29" name="Freeform 462">
              <a:extLst>
                <a:ext uri="{FF2B5EF4-FFF2-40B4-BE49-F238E27FC236}">
                  <a16:creationId xmlns:a16="http://schemas.microsoft.com/office/drawing/2014/main" id="{5123641A-01BA-447E-A09D-A1B14667FCEF}"/>
                </a:ext>
              </a:extLst>
            </p:cNvPr>
            <p:cNvSpPr>
              <a:spLocks/>
            </p:cNvSpPr>
            <p:nvPr/>
          </p:nvSpPr>
          <p:spPr bwMode="auto">
            <a:xfrm>
              <a:off x="1095301" y="3289740"/>
              <a:ext cx="594042" cy="821784"/>
            </a:xfrm>
            <a:custGeom>
              <a:avLst/>
              <a:gdLst>
                <a:gd name="T0" fmla="*/ 124 w 790"/>
                <a:gd name="T1" fmla="*/ 240 h 1093"/>
                <a:gd name="T2" fmla="*/ 210 w 790"/>
                <a:gd name="T3" fmla="*/ 287 h 1093"/>
                <a:gd name="T4" fmla="*/ 198 w 790"/>
                <a:gd name="T5" fmla="*/ 385 h 1093"/>
                <a:gd name="T6" fmla="*/ 177 w 790"/>
                <a:gd name="T7" fmla="*/ 435 h 1093"/>
                <a:gd name="T8" fmla="*/ 208 w 790"/>
                <a:gd name="T9" fmla="*/ 443 h 1093"/>
                <a:gd name="T10" fmla="*/ 225 w 790"/>
                <a:gd name="T11" fmla="*/ 422 h 1093"/>
                <a:gd name="T12" fmla="*/ 208 w 790"/>
                <a:gd name="T13" fmla="*/ 494 h 1093"/>
                <a:gd name="T14" fmla="*/ 199 w 790"/>
                <a:gd name="T15" fmla="*/ 530 h 1093"/>
                <a:gd name="T16" fmla="*/ 228 w 790"/>
                <a:gd name="T17" fmla="*/ 535 h 1093"/>
                <a:gd name="T18" fmla="*/ 244 w 790"/>
                <a:gd name="T19" fmla="*/ 480 h 1093"/>
                <a:gd name="T20" fmla="*/ 285 w 790"/>
                <a:gd name="T21" fmla="*/ 435 h 1093"/>
                <a:gd name="T22" fmla="*/ 324 w 790"/>
                <a:gd name="T23" fmla="*/ 409 h 1093"/>
                <a:gd name="T24" fmla="*/ 391 w 790"/>
                <a:gd name="T25" fmla="*/ 399 h 1093"/>
                <a:gd name="T26" fmla="*/ 415 w 790"/>
                <a:gd name="T27" fmla="*/ 489 h 1093"/>
                <a:gd name="T28" fmla="*/ 350 w 790"/>
                <a:gd name="T29" fmla="*/ 571 h 1093"/>
                <a:gd name="T30" fmla="*/ 377 w 790"/>
                <a:gd name="T31" fmla="*/ 724 h 1093"/>
                <a:gd name="T32" fmla="*/ 467 w 790"/>
                <a:gd name="T33" fmla="*/ 765 h 1093"/>
                <a:gd name="T34" fmla="*/ 519 w 790"/>
                <a:gd name="T35" fmla="*/ 876 h 1093"/>
                <a:gd name="T36" fmla="*/ 570 w 790"/>
                <a:gd name="T37" fmla="*/ 950 h 1093"/>
                <a:gd name="T38" fmla="*/ 604 w 790"/>
                <a:gd name="T39" fmla="*/ 1093 h 1093"/>
                <a:gd name="T40" fmla="*/ 649 w 790"/>
                <a:gd name="T41" fmla="*/ 1082 h 1093"/>
                <a:gd name="T42" fmla="*/ 623 w 790"/>
                <a:gd name="T43" fmla="*/ 944 h 1093"/>
                <a:gd name="T44" fmla="*/ 585 w 790"/>
                <a:gd name="T45" fmla="*/ 738 h 1093"/>
                <a:gd name="T46" fmla="*/ 514 w 790"/>
                <a:gd name="T47" fmla="*/ 460 h 1093"/>
                <a:gd name="T48" fmla="*/ 461 w 790"/>
                <a:gd name="T49" fmla="*/ 382 h 1093"/>
                <a:gd name="T50" fmla="*/ 358 w 790"/>
                <a:gd name="T51" fmla="*/ 374 h 1093"/>
                <a:gd name="T52" fmla="*/ 247 w 790"/>
                <a:gd name="T53" fmla="*/ 420 h 1093"/>
                <a:gd name="T54" fmla="*/ 220 w 790"/>
                <a:gd name="T55" fmla="*/ 401 h 1093"/>
                <a:gd name="T56" fmla="*/ 239 w 790"/>
                <a:gd name="T57" fmla="*/ 300 h 1093"/>
                <a:gd name="T58" fmla="*/ 165 w 790"/>
                <a:gd name="T59" fmla="*/ 191 h 1093"/>
                <a:gd name="T60" fmla="*/ 286 w 790"/>
                <a:gd name="T61" fmla="*/ 107 h 1093"/>
                <a:gd name="T62" fmla="*/ 464 w 790"/>
                <a:gd name="T63" fmla="*/ 112 h 1093"/>
                <a:gd name="T64" fmla="*/ 367 w 790"/>
                <a:gd name="T65" fmla="*/ 132 h 1093"/>
                <a:gd name="T66" fmla="*/ 271 w 790"/>
                <a:gd name="T67" fmla="*/ 221 h 1093"/>
                <a:gd name="T68" fmla="*/ 274 w 790"/>
                <a:gd name="T69" fmla="*/ 268 h 1093"/>
                <a:gd name="T70" fmla="*/ 295 w 790"/>
                <a:gd name="T71" fmla="*/ 240 h 1093"/>
                <a:gd name="T72" fmla="*/ 317 w 790"/>
                <a:gd name="T73" fmla="*/ 197 h 1093"/>
                <a:gd name="T74" fmla="*/ 457 w 790"/>
                <a:gd name="T75" fmla="*/ 147 h 1093"/>
                <a:gd name="T76" fmla="*/ 588 w 790"/>
                <a:gd name="T77" fmla="*/ 188 h 1093"/>
                <a:gd name="T78" fmla="*/ 647 w 790"/>
                <a:gd name="T79" fmla="*/ 297 h 1093"/>
                <a:gd name="T80" fmla="*/ 736 w 790"/>
                <a:gd name="T81" fmla="*/ 351 h 1093"/>
                <a:gd name="T82" fmla="*/ 790 w 790"/>
                <a:gd name="T83" fmla="*/ 258 h 1093"/>
                <a:gd name="T84" fmla="*/ 683 w 790"/>
                <a:gd name="T85" fmla="*/ 107 h 1093"/>
                <a:gd name="T86" fmla="*/ 307 w 790"/>
                <a:gd name="T87" fmla="*/ 4 h 1093"/>
                <a:gd name="T88" fmla="*/ 20 w 790"/>
                <a:gd name="T89" fmla="*/ 120 h 1093"/>
                <a:gd name="T90" fmla="*/ 124 w 790"/>
                <a:gd name="T91" fmla="*/ 24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90" h="1093">
                  <a:moveTo>
                    <a:pt x="124" y="240"/>
                  </a:moveTo>
                  <a:cubicBezTo>
                    <a:pt x="179" y="257"/>
                    <a:pt x="203" y="271"/>
                    <a:pt x="210" y="287"/>
                  </a:cubicBezTo>
                  <a:cubicBezTo>
                    <a:pt x="216" y="303"/>
                    <a:pt x="228" y="340"/>
                    <a:pt x="198" y="385"/>
                  </a:cubicBezTo>
                  <a:cubicBezTo>
                    <a:pt x="198" y="385"/>
                    <a:pt x="177" y="427"/>
                    <a:pt x="177" y="435"/>
                  </a:cubicBezTo>
                  <a:cubicBezTo>
                    <a:pt x="177" y="483"/>
                    <a:pt x="204" y="449"/>
                    <a:pt x="208" y="443"/>
                  </a:cubicBezTo>
                  <a:cubicBezTo>
                    <a:pt x="211" y="436"/>
                    <a:pt x="223" y="407"/>
                    <a:pt x="225" y="422"/>
                  </a:cubicBezTo>
                  <a:cubicBezTo>
                    <a:pt x="229" y="454"/>
                    <a:pt x="225" y="468"/>
                    <a:pt x="208" y="494"/>
                  </a:cubicBezTo>
                  <a:cubicBezTo>
                    <a:pt x="191" y="520"/>
                    <a:pt x="199" y="530"/>
                    <a:pt x="199" y="530"/>
                  </a:cubicBezTo>
                  <a:cubicBezTo>
                    <a:pt x="204" y="529"/>
                    <a:pt x="204" y="531"/>
                    <a:pt x="228" y="535"/>
                  </a:cubicBezTo>
                  <a:cubicBezTo>
                    <a:pt x="263" y="540"/>
                    <a:pt x="249" y="501"/>
                    <a:pt x="244" y="480"/>
                  </a:cubicBezTo>
                  <a:cubicBezTo>
                    <a:pt x="239" y="459"/>
                    <a:pt x="256" y="448"/>
                    <a:pt x="285" y="435"/>
                  </a:cubicBezTo>
                  <a:cubicBezTo>
                    <a:pt x="314" y="422"/>
                    <a:pt x="324" y="409"/>
                    <a:pt x="324" y="409"/>
                  </a:cubicBezTo>
                  <a:cubicBezTo>
                    <a:pt x="375" y="446"/>
                    <a:pt x="391" y="399"/>
                    <a:pt x="391" y="399"/>
                  </a:cubicBezTo>
                  <a:cubicBezTo>
                    <a:pt x="417" y="432"/>
                    <a:pt x="415" y="489"/>
                    <a:pt x="415" y="489"/>
                  </a:cubicBezTo>
                  <a:cubicBezTo>
                    <a:pt x="411" y="489"/>
                    <a:pt x="358" y="504"/>
                    <a:pt x="350" y="571"/>
                  </a:cubicBezTo>
                  <a:cubicBezTo>
                    <a:pt x="338" y="666"/>
                    <a:pt x="377" y="724"/>
                    <a:pt x="377" y="724"/>
                  </a:cubicBezTo>
                  <a:cubicBezTo>
                    <a:pt x="403" y="780"/>
                    <a:pt x="467" y="765"/>
                    <a:pt x="467" y="765"/>
                  </a:cubicBezTo>
                  <a:cubicBezTo>
                    <a:pt x="456" y="851"/>
                    <a:pt x="503" y="860"/>
                    <a:pt x="519" y="876"/>
                  </a:cubicBezTo>
                  <a:cubicBezTo>
                    <a:pt x="534" y="892"/>
                    <a:pt x="555" y="915"/>
                    <a:pt x="570" y="950"/>
                  </a:cubicBezTo>
                  <a:cubicBezTo>
                    <a:pt x="585" y="985"/>
                    <a:pt x="604" y="1093"/>
                    <a:pt x="604" y="1093"/>
                  </a:cubicBezTo>
                  <a:cubicBezTo>
                    <a:pt x="604" y="1093"/>
                    <a:pt x="649" y="1083"/>
                    <a:pt x="649" y="1082"/>
                  </a:cubicBezTo>
                  <a:cubicBezTo>
                    <a:pt x="649" y="1080"/>
                    <a:pt x="630" y="992"/>
                    <a:pt x="623" y="944"/>
                  </a:cubicBezTo>
                  <a:cubicBezTo>
                    <a:pt x="616" y="896"/>
                    <a:pt x="608" y="823"/>
                    <a:pt x="585" y="738"/>
                  </a:cubicBezTo>
                  <a:cubicBezTo>
                    <a:pt x="563" y="653"/>
                    <a:pt x="529" y="518"/>
                    <a:pt x="514" y="460"/>
                  </a:cubicBezTo>
                  <a:cubicBezTo>
                    <a:pt x="498" y="403"/>
                    <a:pt x="478" y="391"/>
                    <a:pt x="461" y="382"/>
                  </a:cubicBezTo>
                  <a:cubicBezTo>
                    <a:pt x="444" y="372"/>
                    <a:pt x="421" y="366"/>
                    <a:pt x="358" y="374"/>
                  </a:cubicBezTo>
                  <a:cubicBezTo>
                    <a:pt x="295" y="382"/>
                    <a:pt x="247" y="436"/>
                    <a:pt x="247" y="420"/>
                  </a:cubicBezTo>
                  <a:cubicBezTo>
                    <a:pt x="247" y="404"/>
                    <a:pt x="220" y="401"/>
                    <a:pt x="220" y="401"/>
                  </a:cubicBezTo>
                  <a:cubicBezTo>
                    <a:pt x="223" y="393"/>
                    <a:pt x="249" y="366"/>
                    <a:pt x="239" y="300"/>
                  </a:cubicBezTo>
                  <a:cubicBezTo>
                    <a:pt x="226" y="220"/>
                    <a:pt x="172" y="261"/>
                    <a:pt x="165" y="191"/>
                  </a:cubicBezTo>
                  <a:cubicBezTo>
                    <a:pt x="158" y="120"/>
                    <a:pt x="235" y="115"/>
                    <a:pt x="286" y="107"/>
                  </a:cubicBezTo>
                  <a:cubicBezTo>
                    <a:pt x="323" y="101"/>
                    <a:pt x="402" y="102"/>
                    <a:pt x="464" y="112"/>
                  </a:cubicBezTo>
                  <a:cubicBezTo>
                    <a:pt x="437" y="110"/>
                    <a:pt x="405" y="113"/>
                    <a:pt x="367" y="132"/>
                  </a:cubicBezTo>
                  <a:cubicBezTo>
                    <a:pt x="295" y="166"/>
                    <a:pt x="279" y="205"/>
                    <a:pt x="271" y="221"/>
                  </a:cubicBezTo>
                  <a:cubicBezTo>
                    <a:pt x="263" y="236"/>
                    <a:pt x="254" y="264"/>
                    <a:pt x="274" y="268"/>
                  </a:cubicBezTo>
                  <a:cubicBezTo>
                    <a:pt x="293" y="271"/>
                    <a:pt x="294" y="247"/>
                    <a:pt x="295" y="240"/>
                  </a:cubicBezTo>
                  <a:cubicBezTo>
                    <a:pt x="297" y="233"/>
                    <a:pt x="289" y="223"/>
                    <a:pt x="317" y="197"/>
                  </a:cubicBezTo>
                  <a:cubicBezTo>
                    <a:pt x="345" y="170"/>
                    <a:pt x="380" y="157"/>
                    <a:pt x="457" y="147"/>
                  </a:cubicBezTo>
                  <a:cubicBezTo>
                    <a:pt x="525" y="139"/>
                    <a:pt x="577" y="179"/>
                    <a:pt x="588" y="188"/>
                  </a:cubicBezTo>
                  <a:cubicBezTo>
                    <a:pt x="610" y="220"/>
                    <a:pt x="628" y="260"/>
                    <a:pt x="647" y="297"/>
                  </a:cubicBezTo>
                  <a:cubicBezTo>
                    <a:pt x="681" y="364"/>
                    <a:pt x="736" y="351"/>
                    <a:pt x="736" y="351"/>
                  </a:cubicBezTo>
                  <a:cubicBezTo>
                    <a:pt x="750" y="347"/>
                    <a:pt x="790" y="327"/>
                    <a:pt x="790" y="258"/>
                  </a:cubicBezTo>
                  <a:cubicBezTo>
                    <a:pt x="790" y="189"/>
                    <a:pt x="683" y="107"/>
                    <a:pt x="683" y="107"/>
                  </a:cubicBezTo>
                  <a:cubicBezTo>
                    <a:pt x="594" y="37"/>
                    <a:pt x="444" y="9"/>
                    <a:pt x="307" y="4"/>
                  </a:cubicBezTo>
                  <a:cubicBezTo>
                    <a:pt x="170" y="0"/>
                    <a:pt x="41" y="45"/>
                    <a:pt x="20" y="120"/>
                  </a:cubicBezTo>
                  <a:cubicBezTo>
                    <a:pt x="0" y="196"/>
                    <a:pt x="70" y="224"/>
                    <a:pt x="124" y="240"/>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30" name="Freeform 463">
              <a:extLst>
                <a:ext uri="{FF2B5EF4-FFF2-40B4-BE49-F238E27FC236}">
                  <a16:creationId xmlns:a16="http://schemas.microsoft.com/office/drawing/2014/main" id="{9DDE7FD5-D5BE-40B9-889E-9EF453ADDD49}"/>
                </a:ext>
              </a:extLst>
            </p:cNvPr>
            <p:cNvSpPr>
              <a:spLocks/>
            </p:cNvSpPr>
            <p:nvPr/>
          </p:nvSpPr>
          <p:spPr bwMode="auto">
            <a:xfrm>
              <a:off x="1475934" y="3508724"/>
              <a:ext cx="105909" cy="280298"/>
            </a:xfrm>
            <a:custGeom>
              <a:avLst/>
              <a:gdLst>
                <a:gd name="T0" fmla="*/ 141 w 141"/>
                <a:gd name="T1" fmla="*/ 350 h 373"/>
                <a:gd name="T2" fmla="*/ 80 w 141"/>
                <a:gd name="T3" fmla="*/ 313 h 373"/>
                <a:gd name="T4" fmla="*/ 41 w 141"/>
                <a:gd name="T5" fmla="*/ 207 h 373"/>
                <a:gd name="T6" fmla="*/ 18 w 141"/>
                <a:gd name="T7" fmla="*/ 102 h 373"/>
                <a:gd name="T8" fmla="*/ 31 w 141"/>
                <a:gd name="T9" fmla="*/ 18 h 373"/>
                <a:gd name="T10" fmla="*/ 80 w 141"/>
                <a:gd name="T11" fmla="*/ 10 h 373"/>
                <a:gd name="T12" fmla="*/ 96 w 141"/>
                <a:gd name="T13" fmla="*/ 13 h 373"/>
                <a:gd name="T14" fmla="*/ 120 w 141"/>
                <a:gd name="T15" fmla="*/ 14 h 373"/>
                <a:gd name="T16" fmla="*/ 135 w 141"/>
                <a:gd name="T17" fmla="*/ 50 h 373"/>
                <a:gd name="T18" fmla="*/ 94 w 141"/>
                <a:gd name="T19" fmla="*/ 50 h 373"/>
                <a:gd name="T20" fmla="*/ 84 w 141"/>
                <a:gd name="T21" fmla="*/ 34 h 373"/>
                <a:gd name="T22" fmla="*/ 64 w 141"/>
                <a:gd name="T23" fmla="*/ 31 h 373"/>
                <a:gd name="T24" fmla="*/ 42 w 141"/>
                <a:gd name="T25" fmla="*/ 43 h 373"/>
                <a:gd name="T26" fmla="*/ 33 w 141"/>
                <a:gd name="T27" fmla="*/ 71 h 373"/>
                <a:gd name="T28" fmla="*/ 49 w 141"/>
                <a:gd name="T29" fmla="*/ 94 h 373"/>
                <a:gd name="T30" fmla="*/ 50 w 141"/>
                <a:gd name="T31" fmla="*/ 127 h 373"/>
                <a:gd name="T32" fmla="*/ 73 w 141"/>
                <a:gd name="T33" fmla="*/ 171 h 373"/>
                <a:gd name="T34" fmla="*/ 66 w 141"/>
                <a:gd name="T35" fmla="*/ 223 h 373"/>
                <a:gd name="T36" fmla="*/ 87 w 141"/>
                <a:gd name="T37" fmla="*/ 304 h 373"/>
                <a:gd name="T38" fmla="*/ 141 w 141"/>
                <a:gd name="T39" fmla="*/ 35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1" h="373">
                  <a:moveTo>
                    <a:pt x="141" y="350"/>
                  </a:moveTo>
                  <a:cubicBezTo>
                    <a:pt x="141" y="350"/>
                    <a:pt x="109" y="373"/>
                    <a:pt x="80" y="313"/>
                  </a:cubicBezTo>
                  <a:cubicBezTo>
                    <a:pt x="51" y="253"/>
                    <a:pt x="46" y="236"/>
                    <a:pt x="41" y="207"/>
                  </a:cubicBezTo>
                  <a:cubicBezTo>
                    <a:pt x="36" y="177"/>
                    <a:pt x="29" y="133"/>
                    <a:pt x="18" y="102"/>
                  </a:cubicBezTo>
                  <a:cubicBezTo>
                    <a:pt x="7" y="71"/>
                    <a:pt x="0" y="46"/>
                    <a:pt x="31" y="18"/>
                  </a:cubicBezTo>
                  <a:cubicBezTo>
                    <a:pt x="50" y="0"/>
                    <a:pt x="77" y="8"/>
                    <a:pt x="80" y="10"/>
                  </a:cubicBezTo>
                  <a:cubicBezTo>
                    <a:pt x="80" y="10"/>
                    <a:pt x="86" y="18"/>
                    <a:pt x="96" y="13"/>
                  </a:cubicBezTo>
                  <a:cubicBezTo>
                    <a:pt x="107" y="8"/>
                    <a:pt x="114" y="9"/>
                    <a:pt x="120" y="14"/>
                  </a:cubicBezTo>
                  <a:cubicBezTo>
                    <a:pt x="120" y="14"/>
                    <a:pt x="141" y="33"/>
                    <a:pt x="135" y="50"/>
                  </a:cubicBezTo>
                  <a:cubicBezTo>
                    <a:pt x="130" y="68"/>
                    <a:pt x="105" y="66"/>
                    <a:pt x="94" y="50"/>
                  </a:cubicBezTo>
                  <a:cubicBezTo>
                    <a:pt x="86" y="38"/>
                    <a:pt x="84" y="34"/>
                    <a:pt x="84" y="34"/>
                  </a:cubicBezTo>
                  <a:cubicBezTo>
                    <a:pt x="84" y="34"/>
                    <a:pt x="70" y="15"/>
                    <a:pt x="64" y="31"/>
                  </a:cubicBezTo>
                  <a:cubicBezTo>
                    <a:pt x="57" y="46"/>
                    <a:pt x="50" y="42"/>
                    <a:pt x="42" y="43"/>
                  </a:cubicBezTo>
                  <a:cubicBezTo>
                    <a:pt x="34" y="43"/>
                    <a:pt x="16" y="53"/>
                    <a:pt x="33" y="71"/>
                  </a:cubicBezTo>
                  <a:cubicBezTo>
                    <a:pt x="39" y="77"/>
                    <a:pt x="50" y="70"/>
                    <a:pt x="49" y="94"/>
                  </a:cubicBezTo>
                  <a:cubicBezTo>
                    <a:pt x="48" y="119"/>
                    <a:pt x="48" y="118"/>
                    <a:pt x="50" y="127"/>
                  </a:cubicBezTo>
                  <a:cubicBezTo>
                    <a:pt x="53" y="136"/>
                    <a:pt x="73" y="148"/>
                    <a:pt x="73" y="171"/>
                  </a:cubicBezTo>
                  <a:cubicBezTo>
                    <a:pt x="72" y="194"/>
                    <a:pt x="66" y="202"/>
                    <a:pt x="66" y="223"/>
                  </a:cubicBezTo>
                  <a:cubicBezTo>
                    <a:pt x="65" y="245"/>
                    <a:pt x="73" y="279"/>
                    <a:pt x="87" y="304"/>
                  </a:cubicBezTo>
                  <a:cubicBezTo>
                    <a:pt x="100" y="329"/>
                    <a:pt x="118" y="348"/>
                    <a:pt x="141" y="350"/>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31" name="Freeform 464">
              <a:extLst>
                <a:ext uri="{FF2B5EF4-FFF2-40B4-BE49-F238E27FC236}">
                  <a16:creationId xmlns:a16="http://schemas.microsoft.com/office/drawing/2014/main" id="{01031EA7-518E-4CFD-B37F-F06D310ABD32}"/>
                </a:ext>
              </a:extLst>
            </p:cNvPr>
            <p:cNvSpPr>
              <a:spLocks/>
            </p:cNvSpPr>
            <p:nvPr/>
          </p:nvSpPr>
          <p:spPr bwMode="auto">
            <a:xfrm>
              <a:off x="1557953" y="3773892"/>
              <a:ext cx="51760" cy="140946"/>
            </a:xfrm>
            <a:custGeom>
              <a:avLst/>
              <a:gdLst>
                <a:gd name="T0" fmla="*/ 49 w 69"/>
                <a:gd name="T1" fmla="*/ 15 h 187"/>
                <a:gd name="T2" fmla="*/ 22 w 69"/>
                <a:gd name="T3" fmla="*/ 92 h 187"/>
                <a:gd name="T4" fmla="*/ 42 w 69"/>
                <a:gd name="T5" fmla="*/ 155 h 187"/>
                <a:gd name="T6" fmla="*/ 35 w 69"/>
                <a:gd name="T7" fmla="*/ 164 h 187"/>
                <a:gd name="T8" fmla="*/ 6 w 69"/>
                <a:gd name="T9" fmla="*/ 100 h 187"/>
                <a:gd name="T10" fmla="*/ 17 w 69"/>
                <a:gd name="T11" fmla="*/ 24 h 187"/>
                <a:gd name="T12" fmla="*/ 39 w 69"/>
                <a:gd name="T13" fmla="*/ 5 h 187"/>
                <a:gd name="T14" fmla="*/ 49 w 69"/>
                <a:gd name="T15" fmla="*/ 15 h 1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87">
                  <a:moveTo>
                    <a:pt x="49" y="15"/>
                  </a:moveTo>
                  <a:cubicBezTo>
                    <a:pt x="28" y="30"/>
                    <a:pt x="18" y="66"/>
                    <a:pt x="22" y="92"/>
                  </a:cubicBezTo>
                  <a:cubicBezTo>
                    <a:pt x="26" y="118"/>
                    <a:pt x="35" y="144"/>
                    <a:pt x="42" y="155"/>
                  </a:cubicBezTo>
                  <a:cubicBezTo>
                    <a:pt x="50" y="166"/>
                    <a:pt x="53" y="187"/>
                    <a:pt x="35" y="164"/>
                  </a:cubicBezTo>
                  <a:cubicBezTo>
                    <a:pt x="17" y="141"/>
                    <a:pt x="8" y="133"/>
                    <a:pt x="6" y="100"/>
                  </a:cubicBezTo>
                  <a:cubicBezTo>
                    <a:pt x="4" y="67"/>
                    <a:pt x="0" y="38"/>
                    <a:pt x="17" y="24"/>
                  </a:cubicBezTo>
                  <a:cubicBezTo>
                    <a:pt x="34" y="9"/>
                    <a:pt x="23" y="16"/>
                    <a:pt x="39" y="5"/>
                  </a:cubicBezTo>
                  <a:cubicBezTo>
                    <a:pt x="39" y="5"/>
                    <a:pt x="69" y="0"/>
                    <a:pt x="49" y="15"/>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32" name="Freeform 465">
              <a:extLst>
                <a:ext uri="{FF2B5EF4-FFF2-40B4-BE49-F238E27FC236}">
                  <a16:creationId xmlns:a16="http://schemas.microsoft.com/office/drawing/2014/main" id="{558615EA-EB75-48EE-A010-79A555107CA6}"/>
                </a:ext>
              </a:extLst>
            </p:cNvPr>
            <p:cNvSpPr>
              <a:spLocks/>
            </p:cNvSpPr>
            <p:nvPr/>
          </p:nvSpPr>
          <p:spPr bwMode="auto">
            <a:xfrm>
              <a:off x="1569897" y="3887764"/>
              <a:ext cx="46982" cy="223761"/>
            </a:xfrm>
            <a:custGeom>
              <a:avLst/>
              <a:gdLst>
                <a:gd name="T0" fmla="*/ 1 w 63"/>
                <a:gd name="T1" fmla="*/ 32 h 298"/>
                <a:gd name="T2" fmla="*/ 15 w 63"/>
                <a:gd name="T3" fmla="*/ 23 h 298"/>
                <a:gd name="T4" fmla="*/ 28 w 63"/>
                <a:gd name="T5" fmla="*/ 38 h 298"/>
                <a:gd name="T6" fmla="*/ 35 w 63"/>
                <a:gd name="T7" fmla="*/ 88 h 298"/>
                <a:gd name="T8" fmla="*/ 47 w 63"/>
                <a:gd name="T9" fmla="*/ 198 h 298"/>
                <a:gd name="T10" fmla="*/ 63 w 63"/>
                <a:gd name="T11" fmla="*/ 273 h 298"/>
                <a:gd name="T12" fmla="*/ 35 w 63"/>
                <a:gd name="T13" fmla="*/ 282 h 298"/>
                <a:gd name="T14" fmla="*/ 13 w 63"/>
                <a:gd name="T15" fmla="*/ 150 h 298"/>
                <a:gd name="T16" fmla="*/ 1 w 63"/>
                <a:gd name="T17" fmla="*/ 32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298">
                  <a:moveTo>
                    <a:pt x="1" y="32"/>
                  </a:moveTo>
                  <a:cubicBezTo>
                    <a:pt x="0" y="0"/>
                    <a:pt x="15" y="23"/>
                    <a:pt x="15" y="23"/>
                  </a:cubicBezTo>
                  <a:cubicBezTo>
                    <a:pt x="18" y="30"/>
                    <a:pt x="17" y="26"/>
                    <a:pt x="28" y="38"/>
                  </a:cubicBezTo>
                  <a:cubicBezTo>
                    <a:pt x="39" y="49"/>
                    <a:pt x="34" y="62"/>
                    <a:pt x="35" y="88"/>
                  </a:cubicBezTo>
                  <a:cubicBezTo>
                    <a:pt x="36" y="113"/>
                    <a:pt x="41" y="161"/>
                    <a:pt x="47" y="198"/>
                  </a:cubicBezTo>
                  <a:cubicBezTo>
                    <a:pt x="53" y="235"/>
                    <a:pt x="63" y="273"/>
                    <a:pt x="63" y="273"/>
                  </a:cubicBezTo>
                  <a:cubicBezTo>
                    <a:pt x="63" y="273"/>
                    <a:pt x="38" y="298"/>
                    <a:pt x="35" y="282"/>
                  </a:cubicBezTo>
                  <a:cubicBezTo>
                    <a:pt x="32" y="265"/>
                    <a:pt x="18" y="186"/>
                    <a:pt x="13" y="150"/>
                  </a:cubicBezTo>
                  <a:cubicBezTo>
                    <a:pt x="9" y="115"/>
                    <a:pt x="2" y="63"/>
                    <a:pt x="1" y="32"/>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33" name="Freeform 466">
              <a:extLst>
                <a:ext uri="{FF2B5EF4-FFF2-40B4-BE49-F238E27FC236}">
                  <a16:creationId xmlns:a16="http://schemas.microsoft.com/office/drawing/2014/main" id="{589F0F1C-CD7F-46E7-848A-62D0235525EE}"/>
                </a:ext>
              </a:extLst>
            </p:cNvPr>
            <p:cNvSpPr>
              <a:spLocks/>
            </p:cNvSpPr>
            <p:nvPr/>
          </p:nvSpPr>
          <p:spPr bwMode="auto">
            <a:xfrm>
              <a:off x="1357285" y="3458556"/>
              <a:ext cx="68482" cy="35037"/>
            </a:xfrm>
            <a:custGeom>
              <a:avLst/>
              <a:gdLst>
                <a:gd name="T0" fmla="*/ 42 w 91"/>
                <a:gd name="T1" fmla="*/ 4 h 47"/>
                <a:gd name="T2" fmla="*/ 86 w 91"/>
                <a:gd name="T3" fmla="*/ 23 h 47"/>
                <a:gd name="T4" fmla="*/ 45 w 91"/>
                <a:gd name="T5" fmla="*/ 46 h 47"/>
                <a:gd name="T6" fmla="*/ 20 w 91"/>
                <a:gd name="T7" fmla="*/ 9 h 47"/>
                <a:gd name="T8" fmla="*/ 42 w 91"/>
                <a:gd name="T9" fmla="*/ 4 h 47"/>
              </a:gdLst>
              <a:ahLst/>
              <a:cxnLst>
                <a:cxn ang="0">
                  <a:pos x="T0" y="T1"/>
                </a:cxn>
                <a:cxn ang="0">
                  <a:pos x="T2" y="T3"/>
                </a:cxn>
                <a:cxn ang="0">
                  <a:pos x="T4" y="T5"/>
                </a:cxn>
                <a:cxn ang="0">
                  <a:pos x="T6" y="T7"/>
                </a:cxn>
                <a:cxn ang="0">
                  <a:pos x="T8" y="T9"/>
                </a:cxn>
              </a:cxnLst>
              <a:rect l="0" t="0" r="r" b="b"/>
              <a:pathLst>
                <a:path w="91" h="47">
                  <a:moveTo>
                    <a:pt x="42" y="4"/>
                  </a:moveTo>
                  <a:cubicBezTo>
                    <a:pt x="42" y="4"/>
                    <a:pt x="91" y="0"/>
                    <a:pt x="86" y="23"/>
                  </a:cubicBezTo>
                  <a:cubicBezTo>
                    <a:pt x="81" y="46"/>
                    <a:pt x="68" y="45"/>
                    <a:pt x="45" y="46"/>
                  </a:cubicBezTo>
                  <a:cubicBezTo>
                    <a:pt x="22" y="47"/>
                    <a:pt x="0" y="33"/>
                    <a:pt x="20" y="9"/>
                  </a:cubicBezTo>
                  <a:cubicBezTo>
                    <a:pt x="26" y="3"/>
                    <a:pt x="37" y="3"/>
                    <a:pt x="42" y="4"/>
                  </a:cubicBezTo>
                  <a:close/>
                </a:path>
              </a:pathLst>
            </a:custGeom>
            <a:solidFill>
              <a:schemeClr val="bg1">
                <a:lumMod val="75000"/>
              </a:schemeClr>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34" name="Freeform 467">
              <a:extLst>
                <a:ext uri="{FF2B5EF4-FFF2-40B4-BE49-F238E27FC236}">
                  <a16:creationId xmlns:a16="http://schemas.microsoft.com/office/drawing/2014/main" id="{98B22BA0-C2DF-4BE8-BE9C-70C9E1A22E02}"/>
                </a:ext>
              </a:extLst>
            </p:cNvPr>
            <p:cNvSpPr>
              <a:spLocks/>
            </p:cNvSpPr>
            <p:nvPr/>
          </p:nvSpPr>
          <p:spPr bwMode="auto">
            <a:xfrm>
              <a:off x="1264117" y="3475279"/>
              <a:ext cx="25482" cy="50963"/>
            </a:xfrm>
            <a:custGeom>
              <a:avLst/>
              <a:gdLst>
                <a:gd name="T0" fmla="*/ 1 w 34"/>
                <a:gd name="T1" fmla="*/ 11 h 67"/>
                <a:gd name="T2" fmla="*/ 18 w 34"/>
                <a:gd name="T3" fmla="*/ 57 h 67"/>
                <a:gd name="T4" fmla="*/ 32 w 34"/>
                <a:gd name="T5" fmla="*/ 51 h 67"/>
                <a:gd name="T6" fmla="*/ 16 w 34"/>
                <a:gd name="T7" fmla="*/ 3 h 67"/>
                <a:gd name="T8" fmla="*/ 1 w 34"/>
                <a:gd name="T9" fmla="*/ 11 h 67"/>
              </a:gdLst>
              <a:ahLst/>
              <a:cxnLst>
                <a:cxn ang="0">
                  <a:pos x="T0" y="T1"/>
                </a:cxn>
                <a:cxn ang="0">
                  <a:pos x="T2" y="T3"/>
                </a:cxn>
                <a:cxn ang="0">
                  <a:pos x="T4" y="T5"/>
                </a:cxn>
                <a:cxn ang="0">
                  <a:pos x="T6" y="T7"/>
                </a:cxn>
                <a:cxn ang="0">
                  <a:pos x="T8" y="T9"/>
                </a:cxn>
              </a:cxnLst>
              <a:rect l="0" t="0" r="r" b="b"/>
              <a:pathLst>
                <a:path w="34" h="67">
                  <a:moveTo>
                    <a:pt x="1" y="11"/>
                  </a:moveTo>
                  <a:cubicBezTo>
                    <a:pt x="1" y="11"/>
                    <a:pt x="18" y="51"/>
                    <a:pt x="18" y="57"/>
                  </a:cubicBezTo>
                  <a:cubicBezTo>
                    <a:pt x="18" y="63"/>
                    <a:pt x="29" y="67"/>
                    <a:pt x="32" y="51"/>
                  </a:cubicBezTo>
                  <a:cubicBezTo>
                    <a:pt x="34" y="35"/>
                    <a:pt x="33" y="5"/>
                    <a:pt x="16" y="3"/>
                  </a:cubicBezTo>
                  <a:cubicBezTo>
                    <a:pt x="0" y="0"/>
                    <a:pt x="1" y="11"/>
                    <a:pt x="1" y="11"/>
                  </a:cubicBezTo>
                  <a:close/>
                </a:path>
              </a:pathLst>
            </a:custGeom>
            <a:solidFill>
              <a:schemeClr val="bg1"/>
            </a:solidFill>
            <a:ln w="31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sz="1600"/>
            </a:p>
          </p:txBody>
        </p:sp>
        <p:sp>
          <p:nvSpPr>
            <p:cNvPr id="235" name="Freeform 468">
              <a:extLst>
                <a:ext uri="{FF2B5EF4-FFF2-40B4-BE49-F238E27FC236}">
                  <a16:creationId xmlns:a16="http://schemas.microsoft.com/office/drawing/2014/main" id="{078848ED-C69A-481D-805A-4DF5EAE26061}"/>
                </a:ext>
              </a:extLst>
            </p:cNvPr>
            <p:cNvSpPr>
              <a:spLocks/>
            </p:cNvSpPr>
            <p:nvPr/>
          </p:nvSpPr>
          <p:spPr bwMode="auto">
            <a:xfrm>
              <a:off x="837299" y="3004664"/>
              <a:ext cx="1231880" cy="1106860"/>
            </a:xfrm>
            <a:custGeom>
              <a:avLst/>
              <a:gdLst>
                <a:gd name="T0" fmla="*/ 1624 w 1638"/>
                <a:gd name="T1" fmla="*/ 609 h 1472"/>
                <a:gd name="T2" fmla="*/ 1597 w 1638"/>
                <a:gd name="T3" fmla="*/ 527 h 1472"/>
                <a:gd name="T4" fmla="*/ 1556 w 1638"/>
                <a:gd name="T5" fmla="*/ 469 h 1472"/>
                <a:gd name="T6" fmla="*/ 1527 w 1638"/>
                <a:gd name="T7" fmla="*/ 400 h 1472"/>
                <a:gd name="T8" fmla="*/ 1469 w 1638"/>
                <a:gd name="T9" fmla="*/ 349 h 1472"/>
                <a:gd name="T10" fmla="*/ 1417 w 1638"/>
                <a:gd name="T11" fmla="*/ 279 h 1472"/>
                <a:gd name="T12" fmla="*/ 1310 w 1638"/>
                <a:gd name="T13" fmla="*/ 185 h 1472"/>
                <a:gd name="T14" fmla="*/ 1187 w 1638"/>
                <a:gd name="T15" fmla="*/ 109 h 1472"/>
                <a:gd name="T16" fmla="*/ 1132 w 1638"/>
                <a:gd name="T17" fmla="*/ 79 h 1472"/>
                <a:gd name="T18" fmla="*/ 1025 w 1638"/>
                <a:gd name="T19" fmla="*/ 39 h 1472"/>
                <a:gd name="T20" fmla="*/ 953 w 1638"/>
                <a:gd name="T21" fmla="*/ 31 h 1472"/>
                <a:gd name="T22" fmla="*/ 830 w 1638"/>
                <a:gd name="T23" fmla="*/ 31 h 1472"/>
                <a:gd name="T24" fmla="*/ 712 w 1638"/>
                <a:gd name="T25" fmla="*/ 5 h 1472"/>
                <a:gd name="T26" fmla="*/ 587 w 1638"/>
                <a:gd name="T27" fmla="*/ 18 h 1472"/>
                <a:gd name="T28" fmla="*/ 475 w 1638"/>
                <a:gd name="T29" fmla="*/ 39 h 1472"/>
                <a:gd name="T30" fmla="*/ 321 w 1638"/>
                <a:gd name="T31" fmla="*/ 82 h 1472"/>
                <a:gd name="T32" fmla="*/ 225 w 1638"/>
                <a:gd name="T33" fmla="*/ 132 h 1472"/>
                <a:gd name="T34" fmla="*/ 164 w 1638"/>
                <a:gd name="T35" fmla="*/ 180 h 1472"/>
                <a:gd name="T36" fmla="*/ 67 w 1638"/>
                <a:gd name="T37" fmla="*/ 300 h 1472"/>
                <a:gd name="T38" fmla="*/ 34 w 1638"/>
                <a:gd name="T39" fmla="*/ 377 h 1472"/>
                <a:gd name="T40" fmla="*/ 5 w 1638"/>
                <a:gd name="T41" fmla="*/ 472 h 1472"/>
                <a:gd name="T42" fmla="*/ 19 w 1638"/>
                <a:gd name="T43" fmla="*/ 617 h 1472"/>
                <a:gd name="T44" fmla="*/ 89 w 1638"/>
                <a:gd name="T45" fmla="*/ 729 h 1472"/>
                <a:gd name="T46" fmla="*/ 198 w 1638"/>
                <a:gd name="T47" fmla="*/ 808 h 1472"/>
                <a:gd name="T48" fmla="*/ 362 w 1638"/>
                <a:gd name="T49" fmla="*/ 827 h 1472"/>
                <a:gd name="T50" fmla="*/ 414 w 1638"/>
                <a:gd name="T51" fmla="*/ 909 h 1472"/>
                <a:gd name="T52" fmla="*/ 453 w 1638"/>
                <a:gd name="T53" fmla="*/ 952 h 1472"/>
                <a:gd name="T54" fmla="*/ 616 w 1638"/>
                <a:gd name="T55" fmla="*/ 987 h 1472"/>
                <a:gd name="T56" fmla="*/ 691 w 1638"/>
                <a:gd name="T57" fmla="*/ 978 h 1472"/>
                <a:gd name="T58" fmla="*/ 810 w 1638"/>
                <a:gd name="T59" fmla="*/ 1144 h 1472"/>
                <a:gd name="T60" fmla="*/ 913 w 1638"/>
                <a:gd name="T61" fmla="*/ 1329 h 1472"/>
                <a:gd name="T62" fmla="*/ 992 w 1638"/>
                <a:gd name="T63" fmla="*/ 1461 h 1472"/>
                <a:gd name="T64" fmla="*/ 1009 w 1638"/>
                <a:gd name="T65" fmla="*/ 1454 h 1472"/>
                <a:gd name="T66" fmla="*/ 1037 w 1638"/>
                <a:gd name="T67" fmla="*/ 1447 h 1472"/>
                <a:gd name="T68" fmla="*/ 1013 w 1638"/>
                <a:gd name="T69" fmla="*/ 1313 h 1472"/>
                <a:gd name="T70" fmla="*/ 1123 w 1638"/>
                <a:gd name="T71" fmla="*/ 1273 h 1472"/>
                <a:gd name="T72" fmla="*/ 1194 w 1638"/>
                <a:gd name="T73" fmla="*/ 1277 h 1472"/>
                <a:gd name="T74" fmla="*/ 1260 w 1638"/>
                <a:gd name="T75" fmla="*/ 1269 h 1472"/>
                <a:gd name="T76" fmla="*/ 1338 w 1638"/>
                <a:gd name="T77" fmla="*/ 1241 h 1472"/>
                <a:gd name="T78" fmla="*/ 1379 w 1638"/>
                <a:gd name="T79" fmla="*/ 1208 h 1472"/>
                <a:gd name="T80" fmla="*/ 1418 w 1638"/>
                <a:gd name="T81" fmla="*/ 1151 h 1472"/>
                <a:gd name="T82" fmla="*/ 1456 w 1638"/>
                <a:gd name="T83" fmla="*/ 1070 h 1472"/>
                <a:gd name="T84" fmla="*/ 1469 w 1638"/>
                <a:gd name="T85" fmla="*/ 999 h 1472"/>
                <a:gd name="T86" fmla="*/ 1527 w 1638"/>
                <a:gd name="T87" fmla="*/ 981 h 1472"/>
                <a:gd name="T88" fmla="*/ 1600 w 1638"/>
                <a:gd name="T89" fmla="*/ 837 h 1472"/>
                <a:gd name="T90" fmla="*/ 1631 w 1638"/>
                <a:gd name="T91" fmla="*/ 732 h 1472"/>
                <a:gd name="T92" fmla="*/ 1632 w 1638"/>
                <a:gd name="T93" fmla="*/ 658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38" h="1472">
                  <a:moveTo>
                    <a:pt x="1632" y="658"/>
                  </a:moveTo>
                  <a:cubicBezTo>
                    <a:pt x="1638" y="641"/>
                    <a:pt x="1631" y="620"/>
                    <a:pt x="1624" y="609"/>
                  </a:cubicBezTo>
                  <a:cubicBezTo>
                    <a:pt x="1617" y="597"/>
                    <a:pt x="1617" y="601"/>
                    <a:pt x="1617" y="585"/>
                  </a:cubicBezTo>
                  <a:cubicBezTo>
                    <a:pt x="1617" y="568"/>
                    <a:pt x="1614" y="538"/>
                    <a:pt x="1597" y="527"/>
                  </a:cubicBezTo>
                  <a:cubicBezTo>
                    <a:pt x="1580" y="516"/>
                    <a:pt x="1585" y="527"/>
                    <a:pt x="1583" y="496"/>
                  </a:cubicBezTo>
                  <a:cubicBezTo>
                    <a:pt x="1581" y="475"/>
                    <a:pt x="1566" y="469"/>
                    <a:pt x="1556" y="469"/>
                  </a:cubicBezTo>
                  <a:cubicBezTo>
                    <a:pt x="1545" y="469"/>
                    <a:pt x="1566" y="467"/>
                    <a:pt x="1556" y="445"/>
                  </a:cubicBezTo>
                  <a:cubicBezTo>
                    <a:pt x="1545" y="422"/>
                    <a:pt x="1540" y="416"/>
                    <a:pt x="1527" y="400"/>
                  </a:cubicBezTo>
                  <a:cubicBezTo>
                    <a:pt x="1513" y="384"/>
                    <a:pt x="1506" y="363"/>
                    <a:pt x="1499" y="357"/>
                  </a:cubicBezTo>
                  <a:cubicBezTo>
                    <a:pt x="1492" y="350"/>
                    <a:pt x="1477" y="347"/>
                    <a:pt x="1469" y="349"/>
                  </a:cubicBezTo>
                  <a:cubicBezTo>
                    <a:pt x="1460" y="350"/>
                    <a:pt x="1467" y="339"/>
                    <a:pt x="1460" y="326"/>
                  </a:cubicBezTo>
                  <a:cubicBezTo>
                    <a:pt x="1453" y="313"/>
                    <a:pt x="1433" y="294"/>
                    <a:pt x="1417" y="279"/>
                  </a:cubicBezTo>
                  <a:cubicBezTo>
                    <a:pt x="1402" y="265"/>
                    <a:pt x="1387" y="222"/>
                    <a:pt x="1339" y="227"/>
                  </a:cubicBezTo>
                  <a:cubicBezTo>
                    <a:pt x="1339" y="227"/>
                    <a:pt x="1340" y="204"/>
                    <a:pt x="1310" y="185"/>
                  </a:cubicBezTo>
                  <a:cubicBezTo>
                    <a:pt x="1279" y="166"/>
                    <a:pt x="1262" y="162"/>
                    <a:pt x="1248" y="156"/>
                  </a:cubicBezTo>
                  <a:cubicBezTo>
                    <a:pt x="1235" y="149"/>
                    <a:pt x="1204" y="122"/>
                    <a:pt x="1187" y="109"/>
                  </a:cubicBezTo>
                  <a:cubicBezTo>
                    <a:pt x="1170" y="96"/>
                    <a:pt x="1151" y="96"/>
                    <a:pt x="1144" y="98"/>
                  </a:cubicBezTo>
                  <a:cubicBezTo>
                    <a:pt x="1137" y="100"/>
                    <a:pt x="1137" y="82"/>
                    <a:pt x="1132" y="79"/>
                  </a:cubicBezTo>
                  <a:cubicBezTo>
                    <a:pt x="1127" y="76"/>
                    <a:pt x="1091" y="71"/>
                    <a:pt x="1083" y="68"/>
                  </a:cubicBezTo>
                  <a:cubicBezTo>
                    <a:pt x="1074" y="64"/>
                    <a:pt x="1062" y="42"/>
                    <a:pt x="1025" y="39"/>
                  </a:cubicBezTo>
                  <a:cubicBezTo>
                    <a:pt x="987" y="35"/>
                    <a:pt x="989" y="48"/>
                    <a:pt x="987" y="50"/>
                  </a:cubicBezTo>
                  <a:cubicBezTo>
                    <a:pt x="985" y="52"/>
                    <a:pt x="977" y="37"/>
                    <a:pt x="953" y="31"/>
                  </a:cubicBezTo>
                  <a:cubicBezTo>
                    <a:pt x="929" y="24"/>
                    <a:pt x="896" y="18"/>
                    <a:pt x="886" y="13"/>
                  </a:cubicBezTo>
                  <a:cubicBezTo>
                    <a:pt x="876" y="8"/>
                    <a:pt x="837" y="26"/>
                    <a:pt x="830" y="31"/>
                  </a:cubicBezTo>
                  <a:cubicBezTo>
                    <a:pt x="823" y="35"/>
                    <a:pt x="799" y="3"/>
                    <a:pt x="767" y="2"/>
                  </a:cubicBezTo>
                  <a:cubicBezTo>
                    <a:pt x="734" y="0"/>
                    <a:pt x="719" y="3"/>
                    <a:pt x="712" y="5"/>
                  </a:cubicBezTo>
                  <a:cubicBezTo>
                    <a:pt x="705" y="7"/>
                    <a:pt x="685" y="10"/>
                    <a:pt x="674" y="5"/>
                  </a:cubicBezTo>
                  <a:cubicBezTo>
                    <a:pt x="664" y="0"/>
                    <a:pt x="592" y="13"/>
                    <a:pt x="587" y="18"/>
                  </a:cubicBezTo>
                  <a:cubicBezTo>
                    <a:pt x="582" y="23"/>
                    <a:pt x="550" y="5"/>
                    <a:pt x="512" y="18"/>
                  </a:cubicBezTo>
                  <a:cubicBezTo>
                    <a:pt x="475" y="31"/>
                    <a:pt x="483" y="32"/>
                    <a:pt x="475" y="39"/>
                  </a:cubicBezTo>
                  <a:cubicBezTo>
                    <a:pt x="466" y="45"/>
                    <a:pt x="415" y="42"/>
                    <a:pt x="372" y="56"/>
                  </a:cubicBezTo>
                  <a:cubicBezTo>
                    <a:pt x="329" y="71"/>
                    <a:pt x="326" y="76"/>
                    <a:pt x="321" y="82"/>
                  </a:cubicBezTo>
                  <a:cubicBezTo>
                    <a:pt x="316" y="88"/>
                    <a:pt x="321" y="93"/>
                    <a:pt x="289" y="100"/>
                  </a:cubicBezTo>
                  <a:cubicBezTo>
                    <a:pt x="256" y="106"/>
                    <a:pt x="242" y="119"/>
                    <a:pt x="225" y="132"/>
                  </a:cubicBezTo>
                  <a:cubicBezTo>
                    <a:pt x="208" y="145"/>
                    <a:pt x="200" y="161"/>
                    <a:pt x="200" y="166"/>
                  </a:cubicBezTo>
                  <a:cubicBezTo>
                    <a:pt x="200" y="170"/>
                    <a:pt x="186" y="161"/>
                    <a:pt x="164" y="180"/>
                  </a:cubicBezTo>
                  <a:cubicBezTo>
                    <a:pt x="142" y="199"/>
                    <a:pt x="99" y="227"/>
                    <a:pt x="102" y="260"/>
                  </a:cubicBezTo>
                  <a:cubicBezTo>
                    <a:pt x="102" y="260"/>
                    <a:pt x="89" y="257"/>
                    <a:pt x="67" y="300"/>
                  </a:cubicBezTo>
                  <a:cubicBezTo>
                    <a:pt x="44" y="344"/>
                    <a:pt x="41" y="350"/>
                    <a:pt x="36" y="355"/>
                  </a:cubicBezTo>
                  <a:cubicBezTo>
                    <a:pt x="31" y="360"/>
                    <a:pt x="34" y="371"/>
                    <a:pt x="34" y="377"/>
                  </a:cubicBezTo>
                  <a:cubicBezTo>
                    <a:pt x="34" y="384"/>
                    <a:pt x="17" y="371"/>
                    <a:pt x="8" y="400"/>
                  </a:cubicBezTo>
                  <a:cubicBezTo>
                    <a:pt x="0" y="429"/>
                    <a:pt x="5" y="472"/>
                    <a:pt x="5" y="472"/>
                  </a:cubicBezTo>
                  <a:cubicBezTo>
                    <a:pt x="5" y="565"/>
                    <a:pt x="5" y="565"/>
                    <a:pt x="5" y="565"/>
                  </a:cubicBezTo>
                  <a:cubicBezTo>
                    <a:pt x="5" y="565"/>
                    <a:pt x="0" y="601"/>
                    <a:pt x="19" y="617"/>
                  </a:cubicBezTo>
                  <a:cubicBezTo>
                    <a:pt x="19" y="617"/>
                    <a:pt x="15" y="678"/>
                    <a:pt x="39" y="700"/>
                  </a:cubicBezTo>
                  <a:cubicBezTo>
                    <a:pt x="63" y="723"/>
                    <a:pt x="32" y="721"/>
                    <a:pt x="89" y="729"/>
                  </a:cubicBezTo>
                  <a:cubicBezTo>
                    <a:pt x="89" y="729"/>
                    <a:pt x="77" y="766"/>
                    <a:pt x="130" y="779"/>
                  </a:cubicBezTo>
                  <a:cubicBezTo>
                    <a:pt x="183" y="792"/>
                    <a:pt x="191" y="803"/>
                    <a:pt x="198" y="808"/>
                  </a:cubicBezTo>
                  <a:cubicBezTo>
                    <a:pt x="205" y="813"/>
                    <a:pt x="227" y="838"/>
                    <a:pt x="345" y="829"/>
                  </a:cubicBezTo>
                  <a:cubicBezTo>
                    <a:pt x="351" y="828"/>
                    <a:pt x="357" y="828"/>
                    <a:pt x="362" y="827"/>
                  </a:cubicBezTo>
                  <a:cubicBezTo>
                    <a:pt x="363" y="833"/>
                    <a:pt x="363" y="840"/>
                    <a:pt x="363" y="847"/>
                  </a:cubicBezTo>
                  <a:cubicBezTo>
                    <a:pt x="364" y="880"/>
                    <a:pt x="393" y="900"/>
                    <a:pt x="414" y="909"/>
                  </a:cubicBezTo>
                  <a:cubicBezTo>
                    <a:pt x="435" y="919"/>
                    <a:pt x="434" y="925"/>
                    <a:pt x="434" y="925"/>
                  </a:cubicBezTo>
                  <a:cubicBezTo>
                    <a:pt x="437" y="930"/>
                    <a:pt x="431" y="935"/>
                    <a:pt x="453" y="952"/>
                  </a:cubicBezTo>
                  <a:cubicBezTo>
                    <a:pt x="507" y="993"/>
                    <a:pt x="556" y="987"/>
                    <a:pt x="569" y="985"/>
                  </a:cubicBezTo>
                  <a:cubicBezTo>
                    <a:pt x="582" y="984"/>
                    <a:pt x="598" y="982"/>
                    <a:pt x="616" y="987"/>
                  </a:cubicBezTo>
                  <a:cubicBezTo>
                    <a:pt x="634" y="993"/>
                    <a:pt x="664" y="988"/>
                    <a:pt x="675" y="984"/>
                  </a:cubicBezTo>
                  <a:cubicBezTo>
                    <a:pt x="679" y="982"/>
                    <a:pt x="685" y="980"/>
                    <a:pt x="691" y="978"/>
                  </a:cubicBezTo>
                  <a:cubicBezTo>
                    <a:pt x="688" y="1056"/>
                    <a:pt x="720" y="1103"/>
                    <a:pt x="720" y="1103"/>
                  </a:cubicBezTo>
                  <a:cubicBezTo>
                    <a:pt x="746" y="1159"/>
                    <a:pt x="810" y="1144"/>
                    <a:pt x="810" y="1144"/>
                  </a:cubicBezTo>
                  <a:cubicBezTo>
                    <a:pt x="799" y="1230"/>
                    <a:pt x="846" y="1239"/>
                    <a:pt x="862" y="1255"/>
                  </a:cubicBezTo>
                  <a:cubicBezTo>
                    <a:pt x="877" y="1271"/>
                    <a:pt x="898" y="1294"/>
                    <a:pt x="913" y="1329"/>
                  </a:cubicBezTo>
                  <a:cubicBezTo>
                    <a:pt x="928" y="1364"/>
                    <a:pt x="947" y="1472"/>
                    <a:pt x="947" y="1472"/>
                  </a:cubicBezTo>
                  <a:cubicBezTo>
                    <a:pt x="947" y="1472"/>
                    <a:pt x="992" y="1462"/>
                    <a:pt x="992" y="1461"/>
                  </a:cubicBezTo>
                  <a:cubicBezTo>
                    <a:pt x="992" y="1461"/>
                    <a:pt x="991" y="1460"/>
                    <a:pt x="991" y="1460"/>
                  </a:cubicBezTo>
                  <a:cubicBezTo>
                    <a:pt x="1009" y="1454"/>
                    <a:pt x="1009" y="1454"/>
                    <a:pt x="1009" y="1454"/>
                  </a:cubicBezTo>
                  <a:cubicBezTo>
                    <a:pt x="1009" y="1455"/>
                    <a:pt x="1009" y="1455"/>
                    <a:pt x="1009" y="1456"/>
                  </a:cubicBezTo>
                  <a:cubicBezTo>
                    <a:pt x="1012" y="1472"/>
                    <a:pt x="1037" y="1447"/>
                    <a:pt x="1037" y="1447"/>
                  </a:cubicBezTo>
                  <a:cubicBezTo>
                    <a:pt x="1037" y="1447"/>
                    <a:pt x="1027" y="1409"/>
                    <a:pt x="1021" y="1372"/>
                  </a:cubicBezTo>
                  <a:cubicBezTo>
                    <a:pt x="1018" y="1354"/>
                    <a:pt x="1015" y="1333"/>
                    <a:pt x="1013" y="1313"/>
                  </a:cubicBezTo>
                  <a:cubicBezTo>
                    <a:pt x="1061" y="1301"/>
                    <a:pt x="1081" y="1271"/>
                    <a:pt x="1081" y="1271"/>
                  </a:cubicBezTo>
                  <a:cubicBezTo>
                    <a:pt x="1102" y="1283"/>
                    <a:pt x="1123" y="1273"/>
                    <a:pt x="1123" y="1273"/>
                  </a:cubicBezTo>
                  <a:cubicBezTo>
                    <a:pt x="1137" y="1287"/>
                    <a:pt x="1157" y="1278"/>
                    <a:pt x="1157" y="1278"/>
                  </a:cubicBezTo>
                  <a:cubicBezTo>
                    <a:pt x="1177" y="1292"/>
                    <a:pt x="1194" y="1277"/>
                    <a:pt x="1194" y="1277"/>
                  </a:cubicBezTo>
                  <a:cubicBezTo>
                    <a:pt x="1206" y="1288"/>
                    <a:pt x="1222" y="1277"/>
                    <a:pt x="1222" y="1277"/>
                  </a:cubicBezTo>
                  <a:cubicBezTo>
                    <a:pt x="1247" y="1289"/>
                    <a:pt x="1260" y="1269"/>
                    <a:pt x="1260" y="1269"/>
                  </a:cubicBezTo>
                  <a:cubicBezTo>
                    <a:pt x="1288" y="1276"/>
                    <a:pt x="1286" y="1260"/>
                    <a:pt x="1292" y="1262"/>
                  </a:cubicBezTo>
                  <a:cubicBezTo>
                    <a:pt x="1329" y="1269"/>
                    <a:pt x="1338" y="1241"/>
                    <a:pt x="1338" y="1241"/>
                  </a:cubicBezTo>
                  <a:cubicBezTo>
                    <a:pt x="1364" y="1247"/>
                    <a:pt x="1371" y="1230"/>
                    <a:pt x="1371" y="1222"/>
                  </a:cubicBezTo>
                  <a:cubicBezTo>
                    <a:pt x="1371" y="1214"/>
                    <a:pt x="1379" y="1208"/>
                    <a:pt x="1379" y="1208"/>
                  </a:cubicBezTo>
                  <a:cubicBezTo>
                    <a:pt x="1426" y="1199"/>
                    <a:pt x="1406" y="1180"/>
                    <a:pt x="1412" y="1178"/>
                  </a:cubicBezTo>
                  <a:cubicBezTo>
                    <a:pt x="1430" y="1169"/>
                    <a:pt x="1418" y="1151"/>
                    <a:pt x="1418" y="1151"/>
                  </a:cubicBezTo>
                  <a:cubicBezTo>
                    <a:pt x="1449" y="1141"/>
                    <a:pt x="1439" y="1113"/>
                    <a:pt x="1439" y="1113"/>
                  </a:cubicBezTo>
                  <a:cubicBezTo>
                    <a:pt x="1478" y="1094"/>
                    <a:pt x="1453" y="1073"/>
                    <a:pt x="1456" y="1070"/>
                  </a:cubicBezTo>
                  <a:cubicBezTo>
                    <a:pt x="1485" y="1047"/>
                    <a:pt x="1459" y="1029"/>
                    <a:pt x="1461" y="1028"/>
                  </a:cubicBezTo>
                  <a:cubicBezTo>
                    <a:pt x="1476" y="1019"/>
                    <a:pt x="1469" y="999"/>
                    <a:pt x="1469" y="999"/>
                  </a:cubicBezTo>
                  <a:cubicBezTo>
                    <a:pt x="1468" y="998"/>
                    <a:pt x="1468" y="998"/>
                    <a:pt x="1468" y="998"/>
                  </a:cubicBezTo>
                  <a:cubicBezTo>
                    <a:pt x="1486" y="1001"/>
                    <a:pt x="1507" y="999"/>
                    <a:pt x="1527" y="981"/>
                  </a:cubicBezTo>
                  <a:cubicBezTo>
                    <a:pt x="1573" y="939"/>
                    <a:pt x="1571" y="910"/>
                    <a:pt x="1561" y="880"/>
                  </a:cubicBezTo>
                  <a:cubicBezTo>
                    <a:pt x="1561" y="880"/>
                    <a:pt x="1581" y="872"/>
                    <a:pt x="1600" y="837"/>
                  </a:cubicBezTo>
                  <a:cubicBezTo>
                    <a:pt x="1600" y="837"/>
                    <a:pt x="1615" y="818"/>
                    <a:pt x="1602" y="780"/>
                  </a:cubicBezTo>
                  <a:cubicBezTo>
                    <a:pt x="1600" y="776"/>
                    <a:pt x="1626" y="772"/>
                    <a:pt x="1631" y="732"/>
                  </a:cubicBezTo>
                  <a:cubicBezTo>
                    <a:pt x="1636" y="692"/>
                    <a:pt x="1638" y="711"/>
                    <a:pt x="1632" y="692"/>
                  </a:cubicBezTo>
                  <a:cubicBezTo>
                    <a:pt x="1627" y="673"/>
                    <a:pt x="1627" y="676"/>
                    <a:pt x="1632" y="658"/>
                  </a:cubicBezTo>
                  <a:close/>
                </a:path>
              </a:pathLst>
            </a:custGeom>
            <a:noFill/>
            <a:ln w="31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600"/>
            </a:p>
          </p:txBody>
        </p:sp>
      </p:grpSp>
      <p:sp>
        <p:nvSpPr>
          <p:cNvPr id="236" name="Rectangle 235">
            <a:extLst>
              <a:ext uri="{FF2B5EF4-FFF2-40B4-BE49-F238E27FC236}">
                <a16:creationId xmlns:a16="http://schemas.microsoft.com/office/drawing/2014/main" id="{21E8495A-4AA3-43E7-800D-13B04726D53B}"/>
              </a:ext>
            </a:extLst>
          </p:cNvPr>
          <p:cNvSpPr/>
          <p:nvPr/>
        </p:nvSpPr>
        <p:spPr>
          <a:xfrm>
            <a:off x="6794500" y="5398730"/>
            <a:ext cx="4559300" cy="46231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latin typeface="Arial" panose="020B0604020202020204" pitchFamily="34" charset="0"/>
                <a:cs typeface="Arial" panose="020B0604020202020204" pitchFamily="34" charset="0"/>
              </a:rPr>
              <a:t>Inflamed gut tissue</a:t>
            </a:r>
          </a:p>
        </p:txBody>
      </p:sp>
      <p:cxnSp>
        <p:nvCxnSpPr>
          <p:cNvPr id="237" name="Straight Arrow Connector 236">
            <a:extLst>
              <a:ext uri="{FF2B5EF4-FFF2-40B4-BE49-F238E27FC236}">
                <a16:creationId xmlns:a16="http://schemas.microsoft.com/office/drawing/2014/main" id="{16C1926E-F169-4B57-8327-158E018B732F}"/>
              </a:ext>
            </a:extLst>
          </p:cNvPr>
          <p:cNvCxnSpPr>
            <a:cxnSpLocks/>
          </p:cNvCxnSpPr>
          <p:nvPr/>
        </p:nvCxnSpPr>
        <p:spPr>
          <a:xfrm>
            <a:off x="8154512" y="3476060"/>
            <a:ext cx="0" cy="1770511"/>
          </a:xfrm>
          <a:prstGeom prst="straightConnector1">
            <a:avLst/>
          </a:prstGeom>
          <a:ln w="19050">
            <a:solidFill>
              <a:schemeClr val="accent5">
                <a:lumMod val="75000"/>
              </a:schemeClr>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238" name="TextBox 237">
            <a:extLst>
              <a:ext uri="{FF2B5EF4-FFF2-40B4-BE49-F238E27FC236}">
                <a16:creationId xmlns:a16="http://schemas.microsoft.com/office/drawing/2014/main" id="{6C7C2BDE-5A15-435F-8EC3-A018C66FFA2E}"/>
              </a:ext>
            </a:extLst>
          </p:cNvPr>
          <p:cNvSpPr txBox="1"/>
          <p:nvPr/>
        </p:nvSpPr>
        <p:spPr>
          <a:xfrm>
            <a:off x="6794500" y="1375720"/>
            <a:ext cx="4559300" cy="646331"/>
          </a:xfrm>
          <a:prstGeom prst="rect">
            <a:avLst/>
          </a:prstGeom>
          <a:noFill/>
        </p:spPr>
        <p:txBody>
          <a:bodyPr wrap="square" rtlCol="0">
            <a:spAutoFit/>
          </a:bodyPr>
          <a:lstStyle/>
          <a:p>
            <a:pPr algn="ctr"/>
            <a:r>
              <a:rPr lang="en-GB" b="1" dirty="0">
                <a:solidFill>
                  <a:schemeClr val="accent2">
                    <a:lumMod val="50000"/>
                  </a:schemeClr>
                </a:solidFill>
                <a:latin typeface="Arial" panose="020B0604020202020204" pitchFamily="34" charset="0"/>
                <a:cs typeface="Arial" panose="020B0604020202020204" pitchFamily="34" charset="0"/>
              </a:rPr>
              <a:t>Possible spreading of </a:t>
            </a:r>
            <a:r>
              <a:rPr lang="en-GB" b="1" dirty="0" err="1">
                <a:solidFill>
                  <a:schemeClr val="accent2">
                    <a:lumMod val="50000"/>
                  </a:schemeClr>
                </a:solidFill>
                <a:latin typeface="Arial" panose="020B0604020202020204" pitchFamily="34" charset="0"/>
                <a:cs typeface="Arial" panose="020B0604020202020204" pitchFamily="34" charset="0"/>
              </a:rPr>
              <a:t>synucleinopathy</a:t>
            </a:r>
            <a:r>
              <a:rPr lang="en-GB" b="1" dirty="0">
                <a:solidFill>
                  <a:schemeClr val="accent2">
                    <a:lumMod val="50000"/>
                  </a:schemeClr>
                </a:solidFill>
                <a:latin typeface="Arial" panose="020B0604020202020204" pitchFamily="34" charset="0"/>
                <a:cs typeface="Arial" panose="020B0604020202020204" pitchFamily="34" charset="0"/>
              </a:rPr>
              <a:t> between the ENS to the brain</a:t>
            </a:r>
            <a:r>
              <a:rPr lang="en-GB" b="1" baseline="30000" dirty="0">
                <a:solidFill>
                  <a:schemeClr val="accent2">
                    <a:lumMod val="50000"/>
                  </a:schemeClr>
                </a:solidFill>
                <a:latin typeface="Arial" panose="020B0604020202020204" pitchFamily="34" charset="0"/>
                <a:cs typeface="Arial" panose="020B0604020202020204" pitchFamily="34" charset="0"/>
              </a:rPr>
              <a:t>2-5</a:t>
            </a:r>
            <a:endParaRPr lang="en-GB" b="1" dirty="0">
              <a:solidFill>
                <a:schemeClr val="accent2">
                  <a:lumMod val="50000"/>
                </a:schemeClr>
              </a:solidFill>
              <a:latin typeface="Arial" panose="020B0604020202020204" pitchFamily="34" charset="0"/>
              <a:cs typeface="Arial" panose="020B0604020202020204" pitchFamily="34" charset="0"/>
            </a:endParaRPr>
          </a:p>
        </p:txBody>
      </p:sp>
      <p:cxnSp>
        <p:nvCxnSpPr>
          <p:cNvPr id="239" name="Straight Arrow Connector 238">
            <a:extLst>
              <a:ext uri="{FF2B5EF4-FFF2-40B4-BE49-F238E27FC236}">
                <a16:creationId xmlns:a16="http://schemas.microsoft.com/office/drawing/2014/main" id="{2331A9CD-173E-4678-8511-3DFDC31FF234}"/>
              </a:ext>
            </a:extLst>
          </p:cNvPr>
          <p:cNvCxnSpPr>
            <a:cxnSpLocks/>
          </p:cNvCxnSpPr>
          <p:nvPr/>
        </p:nvCxnSpPr>
        <p:spPr>
          <a:xfrm flipV="1">
            <a:off x="9943398" y="3498733"/>
            <a:ext cx="0" cy="1725164"/>
          </a:xfrm>
          <a:prstGeom prst="straightConnector1">
            <a:avLst/>
          </a:prstGeom>
          <a:ln w="19050">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240" name="TextBox 239">
            <a:extLst>
              <a:ext uri="{FF2B5EF4-FFF2-40B4-BE49-F238E27FC236}">
                <a16:creationId xmlns:a16="http://schemas.microsoft.com/office/drawing/2014/main" id="{7B45CF6C-4B94-41CF-B961-B22035D6D3CA}"/>
              </a:ext>
            </a:extLst>
          </p:cNvPr>
          <p:cNvSpPr txBox="1"/>
          <p:nvPr/>
        </p:nvSpPr>
        <p:spPr>
          <a:xfrm rot="5400000">
            <a:off x="9288528" y="4192038"/>
            <a:ext cx="1659181" cy="338554"/>
          </a:xfrm>
          <a:prstGeom prst="rect">
            <a:avLst/>
          </a:prstGeom>
          <a:noFill/>
        </p:spPr>
        <p:txBody>
          <a:bodyPr wrap="square" rtlCol="0">
            <a:spAutoFit/>
          </a:bodyPr>
          <a:lstStyle/>
          <a:p>
            <a:pPr algn="ctr"/>
            <a:r>
              <a:rPr lang="en-GB" sz="1600" b="1" dirty="0">
                <a:solidFill>
                  <a:schemeClr val="accent3">
                    <a:lumMod val="75000"/>
                  </a:schemeClr>
                </a:solidFill>
                <a:latin typeface="Arial" panose="020B0604020202020204" pitchFamily="34" charset="0"/>
                <a:cs typeface="Arial" panose="020B0604020202020204" pitchFamily="34" charset="0"/>
              </a:rPr>
              <a:t>Gut-first</a:t>
            </a:r>
          </a:p>
        </p:txBody>
      </p:sp>
      <p:sp>
        <p:nvSpPr>
          <p:cNvPr id="241" name="TextBox 240">
            <a:extLst>
              <a:ext uri="{FF2B5EF4-FFF2-40B4-BE49-F238E27FC236}">
                <a16:creationId xmlns:a16="http://schemas.microsoft.com/office/drawing/2014/main" id="{93F411CE-2B40-4952-9CD1-9C1C7FB54D80}"/>
              </a:ext>
            </a:extLst>
          </p:cNvPr>
          <p:cNvSpPr txBox="1"/>
          <p:nvPr/>
        </p:nvSpPr>
        <p:spPr>
          <a:xfrm>
            <a:off x="8254184" y="3566960"/>
            <a:ext cx="1563418" cy="1569660"/>
          </a:xfrm>
          <a:prstGeom prst="rect">
            <a:avLst/>
          </a:prstGeom>
          <a:noFill/>
        </p:spPr>
        <p:txBody>
          <a:bodyPr wrap="square" rtlCol="0">
            <a:spAutoFit/>
          </a:bodyPr>
          <a:lstStyle/>
          <a:p>
            <a:pPr algn="ctr"/>
            <a:r>
              <a:rPr lang="en-GB" sz="1600">
                <a:latin typeface="Arial" panose="020B0604020202020204" pitchFamily="34" charset="0"/>
                <a:cs typeface="Arial" panose="020B0604020202020204" pitchFamily="34" charset="0"/>
              </a:rPr>
              <a:t>Propagation along the dorsal motor neurons of the vagus and the spinal cord</a:t>
            </a:r>
          </a:p>
        </p:txBody>
      </p:sp>
      <p:sp>
        <p:nvSpPr>
          <p:cNvPr id="245" name="TextBox 244">
            <a:extLst>
              <a:ext uri="{FF2B5EF4-FFF2-40B4-BE49-F238E27FC236}">
                <a16:creationId xmlns:a16="http://schemas.microsoft.com/office/drawing/2014/main" id="{E1D5D01D-7B53-9F2A-09E7-2A245847ABE8}"/>
              </a:ext>
            </a:extLst>
          </p:cNvPr>
          <p:cNvSpPr txBox="1"/>
          <p:nvPr/>
        </p:nvSpPr>
        <p:spPr>
          <a:xfrm rot="16200000">
            <a:off x="7095361" y="4192038"/>
            <a:ext cx="1756604" cy="338554"/>
          </a:xfrm>
          <a:prstGeom prst="rect">
            <a:avLst/>
          </a:prstGeom>
          <a:noFill/>
        </p:spPr>
        <p:txBody>
          <a:bodyPr wrap="square" rtlCol="0">
            <a:spAutoFit/>
          </a:bodyPr>
          <a:lstStyle/>
          <a:p>
            <a:pPr algn="ctr"/>
            <a:r>
              <a:rPr lang="en-GB" sz="1600" b="1" dirty="0">
                <a:solidFill>
                  <a:schemeClr val="accent5">
                    <a:lumMod val="75000"/>
                  </a:schemeClr>
                </a:solidFill>
                <a:latin typeface="Arial" panose="020B0604020202020204" pitchFamily="34" charset="0"/>
                <a:cs typeface="Arial" panose="020B0604020202020204" pitchFamily="34" charset="0"/>
              </a:rPr>
              <a:t>Brain-first</a:t>
            </a:r>
          </a:p>
        </p:txBody>
      </p:sp>
    </p:spTree>
    <p:custDataLst>
      <p:tags r:id="rId1"/>
    </p:custDataLst>
    <p:extLst>
      <p:ext uri="{BB962C8B-B14F-4D97-AF65-F5344CB8AC3E}">
        <p14:creationId xmlns:p14="http://schemas.microsoft.com/office/powerpoint/2010/main" val="321235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46100"/>
            <a:ext cx="6642100" cy="2105818"/>
          </a:xfrm>
        </p:spPr>
        <p:txBody>
          <a:bodyPr/>
          <a:lstStyle/>
          <a:p>
            <a:r>
              <a:rPr lang="en-GB"/>
              <a:t>The stages of Parkinson’s disease</a:t>
            </a:r>
          </a:p>
        </p:txBody>
      </p:sp>
      <p:sp>
        <p:nvSpPr>
          <p:cNvPr id="5" name="Text Placeholder 4">
            <a:extLst>
              <a:ext uri="{FF2B5EF4-FFF2-40B4-BE49-F238E27FC236}">
                <a16:creationId xmlns:a16="http://schemas.microsoft.com/office/drawing/2014/main" id="{D335AD66-08E5-4AAC-BE72-06B0A53311BA}"/>
              </a:ext>
            </a:extLst>
          </p:cNvPr>
          <p:cNvSpPr>
            <a:spLocks noGrp="1"/>
          </p:cNvSpPr>
          <p:nvPr>
            <p:ph type="body" idx="1"/>
          </p:nvPr>
        </p:nvSpPr>
        <p:spPr>
          <a:xfrm>
            <a:off x="1219200" y="2678906"/>
            <a:ext cx="6642100" cy="1500187"/>
          </a:xfrm>
        </p:spPr>
        <p:txBody>
          <a:bodyPr/>
          <a:lstStyle/>
          <a:p>
            <a:endParaRPr lang="da-DK"/>
          </a:p>
        </p:txBody>
      </p:sp>
    </p:spTree>
    <p:custDataLst>
      <p:tags r:id="rId1"/>
    </p:custDataLst>
    <p:extLst>
      <p:ext uri="{BB962C8B-B14F-4D97-AF65-F5344CB8AC3E}">
        <p14:creationId xmlns:p14="http://schemas.microsoft.com/office/powerpoint/2010/main" val="915629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7"/>
          </p:nvPr>
        </p:nvSpPr>
        <p:spPr/>
        <p:txBody>
          <a:bodyPr/>
          <a:lstStyle/>
          <a:p>
            <a:r>
              <a:rPr lang="en-GB" dirty="0"/>
              <a:t>Parkinson’s disease – </a:t>
            </a:r>
            <a:r>
              <a:rPr lang="en-US" dirty="0"/>
              <a:t>Course, natural history and prognosis</a:t>
            </a:r>
            <a:endParaRPr lang="en-GB" dirty="0"/>
          </a:p>
        </p:txBody>
      </p:sp>
      <p:sp>
        <p:nvSpPr>
          <p:cNvPr id="2" name="Title 1"/>
          <p:cNvSpPr>
            <a:spLocks noGrp="1"/>
          </p:cNvSpPr>
          <p:nvPr>
            <p:ph type="title"/>
          </p:nvPr>
        </p:nvSpPr>
        <p:spPr/>
        <p:txBody>
          <a:bodyPr>
            <a:normAutofit fontScale="90000"/>
          </a:bodyPr>
          <a:lstStyle/>
          <a:p>
            <a:r>
              <a:rPr lang="en-GB"/>
              <a:t>Motor symptoms can define three stages of Parkinson’s disease</a:t>
            </a:r>
          </a:p>
        </p:txBody>
      </p:sp>
      <p:sp>
        <p:nvSpPr>
          <p:cNvPr id="3" name="Text Placeholder 2">
            <a:extLst>
              <a:ext uri="{FF2B5EF4-FFF2-40B4-BE49-F238E27FC236}">
                <a16:creationId xmlns:a16="http://schemas.microsoft.com/office/drawing/2014/main" id="{77ABE49A-5B86-48DC-B9B6-69203812A21D}"/>
              </a:ext>
            </a:extLst>
          </p:cNvPr>
          <p:cNvSpPr>
            <a:spLocks noGrp="1"/>
          </p:cNvSpPr>
          <p:nvPr>
            <p:ph type="body" sz="quarter" idx="18"/>
          </p:nvPr>
        </p:nvSpPr>
        <p:spPr/>
        <p:txBody>
          <a:bodyPr/>
          <a:lstStyle/>
          <a:p>
            <a:r>
              <a:rPr lang="en-GB"/>
              <a:t>PD=Parkinson’s disease</a:t>
            </a:r>
          </a:p>
          <a:p>
            <a:r>
              <a:rPr lang="en-GB"/>
              <a:t>Reichman et al. Eur </a:t>
            </a:r>
            <a:r>
              <a:rPr lang="en-GB" err="1"/>
              <a:t>Neurol</a:t>
            </a:r>
            <a:r>
              <a:rPr lang="en-GB"/>
              <a:t> Rev 2015;10(2):182–188</a:t>
            </a:r>
          </a:p>
        </p:txBody>
      </p:sp>
      <p:sp>
        <p:nvSpPr>
          <p:cNvPr id="4" name="Slide Number Placeholder 3"/>
          <p:cNvSpPr>
            <a:spLocks noGrp="1"/>
          </p:cNvSpPr>
          <p:nvPr>
            <p:ph type="sldNum" sz="quarter" idx="4"/>
          </p:nvPr>
        </p:nvSpPr>
        <p:spPr/>
        <p:txBody>
          <a:bodyPr/>
          <a:lstStyle/>
          <a:p>
            <a:fld id="{6DBC486D-4FAB-B746-8B02-8D7C842291C6}" type="slidenum">
              <a:rPr lang="en-GB" smtClean="0"/>
              <a:t>18</a:t>
            </a:fld>
            <a:endParaRPr lang="en-GB"/>
          </a:p>
        </p:txBody>
      </p:sp>
      <p:sp>
        <p:nvSpPr>
          <p:cNvPr id="23" name="Rectangle: Rounded Corners 22"/>
          <p:cNvSpPr/>
          <p:nvPr/>
        </p:nvSpPr>
        <p:spPr>
          <a:xfrm>
            <a:off x="630621" y="5188468"/>
            <a:ext cx="10930758" cy="1098054"/>
          </a:xfrm>
          <a:prstGeom prst="roundRect">
            <a:avLst>
              <a:gd name="adj" fmla="val 0"/>
            </a:avLst>
          </a:prstGeom>
          <a:solidFill>
            <a:srgbClr val="E8E7DE"/>
          </a:solidFill>
          <a:ln w="19050">
            <a:noFill/>
          </a:ln>
        </p:spPr>
        <p:txBody>
          <a:bodyPr wrap="square">
            <a:spAutoFit/>
          </a:bodyPr>
          <a:lstStyle/>
          <a:p>
            <a:pPr algn="ctr"/>
            <a:r>
              <a:rPr lang="en-GB" sz="1600">
                <a:latin typeface="Arial" panose="020B0604020202020204" pitchFamily="34" charset="0"/>
                <a:cs typeface="Arial" panose="020B0604020202020204" pitchFamily="34" charset="0"/>
              </a:rPr>
              <a:t>In early-stage PD, dopaminergic treatment is often highly effective in controlling motor symptoms, with coverage generally provided for many hours post-treatment with a single dose of levodopa.</a:t>
            </a:r>
            <a:r>
              <a:rPr lang="en-GB" sz="1600" baseline="30000">
                <a:latin typeface="Arial" panose="020B0604020202020204" pitchFamily="34" charset="0"/>
                <a:cs typeface="Arial" panose="020B0604020202020204" pitchFamily="34" charset="0"/>
              </a:rPr>
              <a:t>1</a:t>
            </a:r>
            <a:r>
              <a:rPr lang="en-GB" sz="1600">
                <a:latin typeface="Arial" panose="020B0604020202020204" pitchFamily="34" charset="0"/>
                <a:cs typeface="Arial" panose="020B0604020202020204" pitchFamily="34" charset="0"/>
              </a:rPr>
              <a:t> However, as the disease progresses through the mid to late stages, the therapeutic window narrows with significant OFF time, increased incidence of dyskinesia, and the development of levodopa-unresponsive or unpredictable motor and non-motor features</a:t>
            </a:r>
            <a:r>
              <a:rPr lang="en-GB" sz="1600" baseline="30000">
                <a:latin typeface="Arial" panose="020B0604020202020204" pitchFamily="34" charset="0"/>
                <a:cs typeface="Arial" panose="020B0604020202020204" pitchFamily="34" charset="0"/>
              </a:rPr>
              <a:t>1</a:t>
            </a:r>
            <a:endParaRPr lang="en-GB" sz="2400">
              <a:latin typeface="Arial" panose="020B0604020202020204" pitchFamily="34" charset="0"/>
              <a:cs typeface="Arial" panose="020B0604020202020204" pitchFamily="34" charset="0"/>
            </a:endParaRPr>
          </a:p>
        </p:txBody>
      </p:sp>
      <p:sp>
        <p:nvSpPr>
          <p:cNvPr id="25" name="Rectangle: Rounded Corners 21"/>
          <p:cNvSpPr/>
          <p:nvPr/>
        </p:nvSpPr>
        <p:spPr>
          <a:xfrm>
            <a:off x="7851000" y="1528785"/>
            <a:ext cx="3502800" cy="3229529"/>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600">
                <a:solidFill>
                  <a:schemeClr val="tx1"/>
                </a:solidFill>
                <a:latin typeface="Arial" panose="020B0604020202020204" pitchFamily="34" charset="0"/>
                <a:cs typeface="Arial" panose="020B0604020202020204" pitchFamily="34" charset="0"/>
              </a:rPr>
              <a:t>Late</a:t>
            </a:r>
          </a:p>
        </p:txBody>
      </p:sp>
      <p:sp>
        <p:nvSpPr>
          <p:cNvPr id="26" name="Rectangle: Rounded Corners 20"/>
          <p:cNvSpPr/>
          <p:nvPr/>
        </p:nvSpPr>
        <p:spPr>
          <a:xfrm>
            <a:off x="4381922" y="1528785"/>
            <a:ext cx="3502800" cy="322952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600">
                <a:solidFill>
                  <a:schemeClr val="tx1"/>
                </a:solidFill>
                <a:latin typeface="Arial" panose="020B0604020202020204" pitchFamily="34" charset="0"/>
                <a:cs typeface="Arial" panose="020B0604020202020204" pitchFamily="34" charset="0"/>
              </a:rPr>
              <a:t>Mid</a:t>
            </a:r>
          </a:p>
        </p:txBody>
      </p:sp>
      <p:sp>
        <p:nvSpPr>
          <p:cNvPr id="27" name="Rectangle: Rounded Corners 19"/>
          <p:cNvSpPr/>
          <p:nvPr/>
        </p:nvSpPr>
        <p:spPr>
          <a:xfrm>
            <a:off x="912845" y="1528785"/>
            <a:ext cx="3502800" cy="3229529"/>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600">
                <a:solidFill>
                  <a:schemeClr val="tx1"/>
                </a:solidFill>
                <a:latin typeface="Arial" panose="020B0604020202020204" pitchFamily="34" charset="0"/>
                <a:cs typeface="Arial" panose="020B0604020202020204" pitchFamily="34" charset="0"/>
              </a:rPr>
              <a:t>Early</a:t>
            </a:r>
          </a:p>
        </p:txBody>
      </p:sp>
      <p:cxnSp>
        <p:nvCxnSpPr>
          <p:cNvPr id="34" name="Straight Arrow Connector 33"/>
          <p:cNvCxnSpPr>
            <a:cxnSpLocks/>
          </p:cNvCxnSpPr>
          <p:nvPr/>
        </p:nvCxnSpPr>
        <p:spPr>
          <a:xfrm>
            <a:off x="890588" y="4798047"/>
            <a:ext cx="10463212" cy="29803"/>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cxnSpLocks/>
          </p:cNvCxnSpPr>
          <p:nvPr/>
        </p:nvCxnSpPr>
        <p:spPr>
          <a:xfrm flipV="1">
            <a:off x="893482" y="1360968"/>
            <a:ext cx="0" cy="3426298"/>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893482" y="4823848"/>
            <a:ext cx="10460318" cy="338554"/>
          </a:xfrm>
          <a:prstGeom prst="rect">
            <a:avLst/>
          </a:prstGeom>
          <a:noFill/>
        </p:spPr>
        <p:txBody>
          <a:bodyPr wrap="square" rtlCol="0">
            <a:spAutoFit/>
          </a:bodyPr>
          <a:lstStyle/>
          <a:p>
            <a:pPr algn="ctr"/>
            <a:r>
              <a:rPr lang="en-US" sz="1600" b="1">
                <a:solidFill>
                  <a:schemeClr val="tx2"/>
                </a:solidFill>
                <a:latin typeface="Arial" panose="020B0604020202020204" pitchFamily="34" charset="0"/>
                <a:cs typeface="Arial" panose="020B0604020202020204" pitchFamily="34" charset="0"/>
              </a:rPr>
              <a:t>Disease stage</a:t>
            </a:r>
          </a:p>
        </p:txBody>
      </p:sp>
      <p:sp>
        <p:nvSpPr>
          <p:cNvPr id="37" name="TextBox 36"/>
          <p:cNvSpPr txBox="1"/>
          <p:nvPr/>
        </p:nvSpPr>
        <p:spPr>
          <a:xfrm rot="16200000">
            <a:off x="-997675" y="2938909"/>
            <a:ext cx="3336892" cy="338554"/>
          </a:xfrm>
          <a:prstGeom prst="rect">
            <a:avLst/>
          </a:prstGeom>
          <a:noFill/>
        </p:spPr>
        <p:txBody>
          <a:bodyPr wrap="square" rtlCol="0">
            <a:spAutoFit/>
          </a:bodyPr>
          <a:lstStyle/>
          <a:p>
            <a:pPr algn="ctr"/>
            <a:r>
              <a:rPr lang="en-US" sz="1600" b="1">
                <a:solidFill>
                  <a:schemeClr val="tx2"/>
                </a:solidFill>
                <a:latin typeface="Arial" panose="020B0604020202020204" pitchFamily="34" charset="0"/>
                <a:cs typeface="Arial" panose="020B0604020202020204" pitchFamily="34" charset="0"/>
              </a:rPr>
              <a:t>Symptoms</a:t>
            </a:r>
          </a:p>
        </p:txBody>
      </p:sp>
      <p:cxnSp>
        <p:nvCxnSpPr>
          <p:cNvPr id="38" name="Straight Connector 37"/>
          <p:cNvCxnSpPr>
            <a:cxnSpLocks/>
          </p:cNvCxnSpPr>
          <p:nvPr/>
        </p:nvCxnSpPr>
        <p:spPr>
          <a:xfrm flipV="1">
            <a:off x="893482" y="1455821"/>
            <a:ext cx="10608707" cy="3320814"/>
          </a:xfrm>
          <a:prstGeom prst="line">
            <a:avLst/>
          </a:prstGeom>
          <a:ln w="28575">
            <a:tailEnd type="triangle" w="lg" len="lg"/>
          </a:ln>
        </p:spPr>
        <p:style>
          <a:lnRef idx="1">
            <a:schemeClr val="accent1"/>
          </a:lnRef>
          <a:fillRef idx="0">
            <a:schemeClr val="accent1"/>
          </a:fillRef>
          <a:effectRef idx="0">
            <a:schemeClr val="accent1"/>
          </a:effectRef>
          <a:fontRef idx="minor">
            <a:schemeClr val="tx1"/>
          </a:fontRef>
        </p:style>
      </p:cxnSp>
      <p:sp>
        <p:nvSpPr>
          <p:cNvPr id="28" name="Rectangle: Rounded Corners 13"/>
          <p:cNvSpPr/>
          <p:nvPr/>
        </p:nvSpPr>
        <p:spPr>
          <a:xfrm>
            <a:off x="1045863" y="4209143"/>
            <a:ext cx="1569600" cy="476521"/>
          </a:xfrm>
          <a:prstGeom prst="roundRect">
            <a:avLst>
              <a:gd name="adj" fmla="val 6220"/>
            </a:avLst>
          </a:prstGeom>
          <a:solidFill>
            <a:schemeClr val="accent5">
              <a:lumMod val="40000"/>
              <a:lumOff val="6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GB" sz="1400">
                <a:solidFill>
                  <a:schemeClr val="accent5">
                    <a:lumMod val="50000"/>
                  </a:schemeClr>
                </a:solidFill>
                <a:latin typeface="Arial" panose="020B0604020202020204" pitchFamily="34" charset="0"/>
                <a:cs typeface="Arial" panose="020B0604020202020204" pitchFamily="34" charset="0"/>
              </a:rPr>
              <a:t>Untreated – mild/moderate</a:t>
            </a:r>
          </a:p>
        </p:txBody>
      </p:sp>
      <p:sp>
        <p:nvSpPr>
          <p:cNvPr id="29" name="Rectangle: Rounded Corners 14"/>
          <p:cNvSpPr/>
          <p:nvPr/>
        </p:nvSpPr>
        <p:spPr>
          <a:xfrm>
            <a:off x="2738580" y="3788229"/>
            <a:ext cx="1569600" cy="897435"/>
          </a:xfrm>
          <a:prstGeom prst="roundRect">
            <a:avLst>
              <a:gd name="adj" fmla="val 6220"/>
            </a:avLst>
          </a:prstGeom>
          <a:solidFill>
            <a:schemeClr val="accent5">
              <a:lumMod val="40000"/>
              <a:lumOff val="6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GB" sz="1400">
                <a:solidFill>
                  <a:schemeClr val="accent5">
                    <a:lumMod val="50000"/>
                  </a:schemeClr>
                </a:solidFill>
                <a:latin typeface="Arial" panose="020B0604020202020204" pitchFamily="34" charset="0"/>
                <a:cs typeface="Arial" panose="020B0604020202020204" pitchFamily="34" charset="0"/>
              </a:rPr>
              <a:t>Treated – satisfactory control of motor symptoms</a:t>
            </a:r>
          </a:p>
        </p:txBody>
      </p:sp>
      <p:sp>
        <p:nvSpPr>
          <p:cNvPr id="30" name="Rectangle: Rounded Corners 15"/>
          <p:cNvSpPr/>
          <p:nvPr/>
        </p:nvSpPr>
        <p:spPr>
          <a:xfrm>
            <a:off x="4529661" y="3455270"/>
            <a:ext cx="1569600" cy="1230394"/>
          </a:xfrm>
          <a:prstGeom prst="roundRect">
            <a:avLst>
              <a:gd name="adj" fmla="val 6220"/>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GB" sz="1400">
                <a:latin typeface="Arial" panose="020B0604020202020204" pitchFamily="34" charset="0"/>
                <a:cs typeface="Arial" panose="020B0604020202020204" pitchFamily="34" charset="0"/>
              </a:rPr>
              <a:t>Treated – suboptimal control of motor symptoms</a:t>
            </a:r>
          </a:p>
        </p:txBody>
      </p:sp>
      <p:sp>
        <p:nvSpPr>
          <p:cNvPr id="31" name="Rectangle: Rounded Corners 16"/>
          <p:cNvSpPr/>
          <p:nvPr/>
        </p:nvSpPr>
        <p:spPr>
          <a:xfrm>
            <a:off x="6206357" y="3041033"/>
            <a:ext cx="1569600" cy="1644631"/>
          </a:xfrm>
          <a:prstGeom prst="roundRect">
            <a:avLst>
              <a:gd name="adj" fmla="val 6220"/>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GB" sz="1400">
                <a:latin typeface="Arial" panose="020B0604020202020204" pitchFamily="34" charset="0"/>
                <a:cs typeface="Arial" panose="020B0604020202020204" pitchFamily="34" charset="0"/>
              </a:rPr>
              <a:t>Treated – early response fluctuations</a:t>
            </a:r>
          </a:p>
        </p:txBody>
      </p:sp>
      <p:sp>
        <p:nvSpPr>
          <p:cNvPr id="32" name="Rectangle: Rounded Corners 17"/>
          <p:cNvSpPr/>
          <p:nvPr/>
        </p:nvSpPr>
        <p:spPr>
          <a:xfrm>
            <a:off x="8010383" y="2531896"/>
            <a:ext cx="1569600" cy="2153768"/>
          </a:xfrm>
          <a:prstGeom prst="roundRect">
            <a:avLst>
              <a:gd name="adj" fmla="val 6220"/>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GB" sz="1400">
                <a:latin typeface="Arial" panose="020B0604020202020204" pitchFamily="34" charset="0"/>
                <a:cs typeface="Arial" panose="020B0604020202020204" pitchFamily="34" charset="0"/>
              </a:rPr>
              <a:t>Fully established motor complications (fluctuations and dyskinesias)</a:t>
            </a:r>
          </a:p>
        </p:txBody>
      </p:sp>
      <p:sp>
        <p:nvSpPr>
          <p:cNvPr id="33" name="Rectangle: Rounded Corners 18"/>
          <p:cNvSpPr/>
          <p:nvPr/>
        </p:nvSpPr>
        <p:spPr>
          <a:xfrm>
            <a:off x="9685220" y="1830443"/>
            <a:ext cx="1569600" cy="2855221"/>
          </a:xfrm>
          <a:prstGeom prst="roundRect">
            <a:avLst>
              <a:gd name="adj" fmla="val 6220"/>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GB" sz="1400">
                <a:latin typeface="Arial" panose="020B0604020202020204" pitchFamily="34" charset="0"/>
                <a:cs typeface="Arial" panose="020B0604020202020204" pitchFamily="34" charset="0"/>
              </a:rPr>
              <a:t>Advanced PD with motor and non-motor complications</a:t>
            </a:r>
          </a:p>
        </p:txBody>
      </p:sp>
      <p:sp>
        <p:nvSpPr>
          <p:cNvPr id="9" name="TextBox 7">
            <a:extLst>
              <a:ext uri="{FF2B5EF4-FFF2-40B4-BE49-F238E27FC236}">
                <a16:creationId xmlns:a16="http://schemas.microsoft.com/office/drawing/2014/main" id="{8B386418-588F-7D83-4F72-5E2F81C92AAD}"/>
              </a:ext>
            </a:extLst>
          </p:cNvPr>
          <p:cNvSpPr txBox="1"/>
          <p:nvPr/>
        </p:nvSpPr>
        <p:spPr>
          <a:xfrm>
            <a:off x="4674020" y="6339175"/>
            <a:ext cx="6750472" cy="369332"/>
          </a:xfrm>
          <a:prstGeom prst="rect">
            <a:avLst/>
          </a:prstGeom>
          <a:noFill/>
        </p:spPr>
        <p:txBody>
          <a:bodyPr wrap="square">
            <a:spAutoFit/>
          </a:bodyPr>
          <a:lstStyle/>
          <a:p>
            <a:pPr fontAlgn="base"/>
            <a:r>
              <a:rPr lang="en-US" sz="900" kern="1200" dirty="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This work is adapted from ‘</a:t>
            </a:r>
            <a:r>
              <a:rPr lang="en-GB" sz="900" kern="1200" dirty="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Progression of Parkinson’s disease and unmet needs in mid- to late-stage patients</a:t>
            </a:r>
            <a:r>
              <a:rPr lang="en-US" sz="900" kern="1200" dirty="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 by Reichman et al., used under CC-BY-NC. This work is licensed under Creative Commons license CC-BY-NC-SA by The Lundbeck Foundation.</a:t>
            </a:r>
            <a:endParaRPr lang="en-GB" sz="1200" dirty="0">
              <a:solidFill>
                <a:srgbClr val="000000"/>
              </a:solidFill>
              <a:effectLst/>
              <a:latin typeface="Times New Roman" panose="02020603050405020304" pitchFamily="18" charset="0"/>
              <a:ea typeface="Times New Roman" panose="02020603050405020304" pitchFamily="18" charset="0"/>
            </a:endParaRPr>
          </a:p>
        </p:txBody>
      </p:sp>
    </p:spTree>
    <p:custDataLst>
      <p:tags r:id="rId1"/>
    </p:custDataLst>
    <p:extLst>
      <p:ext uri="{BB962C8B-B14F-4D97-AF65-F5344CB8AC3E}">
        <p14:creationId xmlns:p14="http://schemas.microsoft.com/office/powerpoint/2010/main" val="1262034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E26EE44E-135D-BCDD-F6D8-16FEE7019A73}"/>
              </a:ext>
            </a:extLst>
          </p:cNvPr>
          <p:cNvSpPr>
            <a:spLocks noGrp="1"/>
          </p:cNvSpPr>
          <p:nvPr>
            <p:ph sz="half" idx="1"/>
          </p:nvPr>
        </p:nvSpPr>
        <p:spPr/>
        <p:txBody>
          <a:bodyPr/>
          <a:lstStyle/>
          <a:p>
            <a:pPr marL="0" indent="0">
              <a:buNone/>
            </a:pPr>
            <a:r>
              <a:rPr lang="en-GB" dirty="0"/>
              <a:t>The Hoehn &amp; Yahr system is used to describe the typical progression of symptoms in PD</a:t>
            </a:r>
            <a:r>
              <a:rPr lang="en-GB" baseline="30000" dirty="0"/>
              <a:t>1</a:t>
            </a:r>
            <a:endParaRPr lang="en-GB" dirty="0"/>
          </a:p>
        </p:txBody>
      </p:sp>
      <p:sp>
        <p:nvSpPr>
          <p:cNvPr id="9" name="Text Placeholder 8">
            <a:extLst>
              <a:ext uri="{FF2B5EF4-FFF2-40B4-BE49-F238E27FC236}">
                <a16:creationId xmlns:a16="http://schemas.microsoft.com/office/drawing/2014/main" id="{8A6FBD01-7683-E0EB-BA3D-D12A24DBD065}"/>
              </a:ext>
            </a:extLst>
          </p:cNvPr>
          <p:cNvSpPr>
            <a:spLocks noGrp="1"/>
          </p:cNvSpPr>
          <p:nvPr>
            <p:ph type="body" sz="quarter" idx="17"/>
          </p:nvPr>
        </p:nvSpPr>
        <p:spPr/>
        <p:txBody>
          <a:bodyPr/>
          <a:lstStyle/>
          <a:p>
            <a:r>
              <a:rPr lang="en-GB" dirty="0"/>
              <a:t>Parkinson’s disease – </a:t>
            </a:r>
            <a:r>
              <a:rPr lang="en-US" dirty="0"/>
              <a:t>Course, natural history and prognosis</a:t>
            </a:r>
            <a:endParaRPr lang="en-GB" dirty="0"/>
          </a:p>
        </p:txBody>
      </p:sp>
      <p:sp>
        <p:nvSpPr>
          <p:cNvPr id="7" name="Title 6">
            <a:extLst>
              <a:ext uri="{FF2B5EF4-FFF2-40B4-BE49-F238E27FC236}">
                <a16:creationId xmlns:a16="http://schemas.microsoft.com/office/drawing/2014/main" id="{6EC84BC4-E2E2-90E7-DEAD-B22BDB5298D2}"/>
              </a:ext>
            </a:extLst>
          </p:cNvPr>
          <p:cNvSpPr>
            <a:spLocks noGrp="1"/>
          </p:cNvSpPr>
          <p:nvPr>
            <p:ph type="title"/>
          </p:nvPr>
        </p:nvSpPr>
        <p:spPr/>
        <p:txBody>
          <a:bodyPr/>
          <a:lstStyle/>
          <a:p>
            <a:r>
              <a:rPr lang="en-GB" dirty="0"/>
              <a:t>Hoehn &amp; Yahr staging of Parkinson’s disease</a:t>
            </a:r>
          </a:p>
        </p:txBody>
      </p:sp>
      <p:sp>
        <p:nvSpPr>
          <p:cNvPr id="10" name="Text Placeholder 9">
            <a:extLst>
              <a:ext uri="{FF2B5EF4-FFF2-40B4-BE49-F238E27FC236}">
                <a16:creationId xmlns:a16="http://schemas.microsoft.com/office/drawing/2014/main" id="{550F2349-FBF0-6664-4AE0-7637ABC79D94}"/>
              </a:ext>
            </a:extLst>
          </p:cNvPr>
          <p:cNvSpPr>
            <a:spLocks noGrp="1"/>
          </p:cNvSpPr>
          <p:nvPr>
            <p:ph type="body" sz="quarter" idx="18"/>
          </p:nvPr>
        </p:nvSpPr>
        <p:spPr/>
        <p:txBody>
          <a:bodyPr/>
          <a:lstStyle/>
          <a:p>
            <a:pPr marL="0" indent="0">
              <a:buNone/>
            </a:pPr>
            <a:endParaRPr lang="en-GB" dirty="0"/>
          </a:p>
          <a:p>
            <a:r>
              <a:rPr lang="en-GB" dirty="0"/>
              <a:t>PD=Parkinson’s disease</a:t>
            </a:r>
          </a:p>
          <a:p>
            <a:pPr marL="0" indent="0">
              <a:buNone/>
            </a:pPr>
            <a:endParaRPr lang="en-GB" dirty="0"/>
          </a:p>
          <a:p>
            <a:pPr marL="0" indent="0">
              <a:buNone/>
            </a:pPr>
            <a:r>
              <a:rPr lang="en-GB" dirty="0"/>
              <a:t>1. Goetz et al. Mov </a:t>
            </a:r>
            <a:r>
              <a:rPr lang="en-GB" dirty="0" err="1"/>
              <a:t>Disord</a:t>
            </a:r>
            <a:r>
              <a:rPr lang="en-GB" dirty="0"/>
              <a:t> 2004;19(9):1020–1028; 2. Hoehn &amp; Yahr. Neurology 1967;17(5):427–442;</a:t>
            </a:r>
            <a:br>
              <a:rPr lang="en-GB" dirty="0"/>
            </a:br>
            <a:r>
              <a:rPr lang="en-GB" dirty="0"/>
              <a:t>3. Parkinson’s Disease Foundation website. https://www.parkinson.org/understanding-parkinsons/what-is-parkinsons/stages. Accessed January 2025</a:t>
            </a:r>
          </a:p>
        </p:txBody>
      </p:sp>
      <p:sp>
        <p:nvSpPr>
          <p:cNvPr id="6" name="Slide Number Placeholder 5">
            <a:extLst>
              <a:ext uri="{FF2B5EF4-FFF2-40B4-BE49-F238E27FC236}">
                <a16:creationId xmlns:a16="http://schemas.microsoft.com/office/drawing/2014/main" id="{378E3E1D-8399-8ABE-FF52-3EB2ECAA8771}"/>
              </a:ext>
            </a:extLst>
          </p:cNvPr>
          <p:cNvSpPr>
            <a:spLocks noGrp="1"/>
          </p:cNvSpPr>
          <p:nvPr>
            <p:ph type="sldNum" sz="quarter" idx="4"/>
          </p:nvPr>
        </p:nvSpPr>
        <p:spPr/>
        <p:txBody>
          <a:bodyPr/>
          <a:lstStyle/>
          <a:p>
            <a:fld id="{6DBC486D-4FAB-B746-8B02-8D7C842291C6}" type="slidenum">
              <a:rPr lang="en-US" smtClean="0"/>
              <a:pPr/>
              <a:t>19</a:t>
            </a:fld>
            <a:endParaRPr lang="en-US"/>
          </a:p>
        </p:txBody>
      </p:sp>
      <p:graphicFrame>
        <p:nvGraphicFramePr>
          <p:cNvPr id="12" name="Table 11">
            <a:extLst>
              <a:ext uri="{FF2B5EF4-FFF2-40B4-BE49-F238E27FC236}">
                <a16:creationId xmlns:a16="http://schemas.microsoft.com/office/drawing/2014/main" id="{B2CCB30F-9020-6CF4-3596-CC4DEF76923C}"/>
              </a:ext>
            </a:extLst>
          </p:cNvPr>
          <p:cNvGraphicFramePr>
            <a:graphicFrameLocks noGrp="1"/>
          </p:cNvGraphicFramePr>
          <p:nvPr>
            <p:extLst>
              <p:ext uri="{D42A27DB-BD31-4B8C-83A1-F6EECF244321}">
                <p14:modId xmlns:p14="http://schemas.microsoft.com/office/powerpoint/2010/main" val="1683482236"/>
              </p:ext>
            </p:extLst>
          </p:nvPr>
        </p:nvGraphicFramePr>
        <p:xfrm>
          <a:off x="539749" y="1982282"/>
          <a:ext cx="8022527" cy="3332480"/>
        </p:xfrm>
        <a:graphic>
          <a:graphicData uri="http://schemas.openxmlformats.org/drawingml/2006/table">
            <a:tbl>
              <a:tblPr bandRow="1">
                <a:tableStyleId>{5C22544A-7EE6-4342-B048-85BDC9FD1C3A}</a:tableStyleId>
              </a:tblPr>
              <a:tblGrid>
                <a:gridCol w="879476">
                  <a:extLst>
                    <a:ext uri="{9D8B030D-6E8A-4147-A177-3AD203B41FA5}">
                      <a16:colId xmlns:a16="http://schemas.microsoft.com/office/drawing/2014/main" val="1944226349"/>
                    </a:ext>
                  </a:extLst>
                </a:gridCol>
                <a:gridCol w="600075">
                  <a:extLst>
                    <a:ext uri="{9D8B030D-6E8A-4147-A177-3AD203B41FA5}">
                      <a16:colId xmlns:a16="http://schemas.microsoft.com/office/drawing/2014/main" val="2989322389"/>
                    </a:ext>
                  </a:extLst>
                </a:gridCol>
                <a:gridCol w="6542976">
                  <a:extLst>
                    <a:ext uri="{9D8B030D-6E8A-4147-A177-3AD203B41FA5}">
                      <a16:colId xmlns:a16="http://schemas.microsoft.com/office/drawing/2014/main" val="2332027241"/>
                    </a:ext>
                  </a:extLst>
                </a:gridCol>
              </a:tblGrid>
              <a:tr h="370840">
                <a:tc>
                  <a:txBody>
                    <a:bodyPr/>
                    <a:lstStyle/>
                    <a:p>
                      <a:pPr algn="r">
                        <a:spcBef>
                          <a:spcPts val="240"/>
                        </a:spcBef>
                        <a:spcAft>
                          <a:spcPts val="240"/>
                        </a:spcAft>
                      </a:pPr>
                      <a:endParaRPr lang="en-GB" b="1" dirty="0">
                        <a:solidFill>
                          <a:schemeClr val="bg1"/>
                        </a:solidFill>
                      </a:endParaRPr>
                    </a:p>
                  </a:txBody>
                  <a:tcPr anchor="ctr">
                    <a:lnL w="12700" cmpd="sng">
                      <a:noFill/>
                    </a:lnL>
                    <a:lnR w="12700" cmpd="sng">
                      <a:noFill/>
                    </a:lnR>
                    <a:lnT w="19050" cap="flat" cmpd="sng" algn="ctr">
                      <a:solidFill>
                        <a:schemeClr val="accent5">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lgn="ctr">
                        <a:spcBef>
                          <a:spcPts val="240"/>
                        </a:spcBef>
                        <a:spcAft>
                          <a:spcPts val="240"/>
                        </a:spcAft>
                      </a:pPr>
                      <a:r>
                        <a:rPr lang="en-GB" sz="2400" b="1" dirty="0">
                          <a:solidFill>
                            <a:schemeClr val="bg1"/>
                          </a:solidFill>
                        </a:rPr>
                        <a:t>1</a:t>
                      </a:r>
                    </a:p>
                  </a:txBody>
                  <a:tcPr anchor="ctr">
                    <a:lnL w="12700" cmpd="sng">
                      <a:noFill/>
                    </a:lnL>
                    <a:lnR w="12700" cmpd="sng">
                      <a:noFill/>
                    </a:lnR>
                    <a:lnT w="19050" cap="flat" cmpd="sng" algn="ctr">
                      <a:solidFill>
                        <a:schemeClr val="accent5">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marL="0" marR="0" lvl="0" indent="0" algn="l" defTabSz="914400" rtl="0" eaLnBrk="1" fontAlgn="auto" latinLnBrk="0" hangingPunct="1">
                        <a:lnSpc>
                          <a:spcPct val="100000"/>
                        </a:lnSpc>
                        <a:spcBef>
                          <a:spcPts val="240"/>
                        </a:spcBef>
                        <a:spcAft>
                          <a:spcPts val="240"/>
                        </a:spcAft>
                        <a:buClrTx/>
                        <a:buSzTx/>
                        <a:buFontTx/>
                        <a:buNone/>
                        <a:tabLst/>
                        <a:defRPr/>
                      </a:pPr>
                      <a:r>
                        <a:rPr lang="en-GB" sz="1400" dirty="0"/>
                        <a:t>Unilateral involvement only, the patient has mild symptoms that do not usually interfere with everyday activities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78762887"/>
                  </a:ext>
                </a:extLst>
              </a:tr>
              <a:tr h="370840">
                <a:tc>
                  <a:txBody>
                    <a:bodyPr/>
                    <a:lstStyle/>
                    <a:p>
                      <a:pPr algn="r">
                        <a:spcBef>
                          <a:spcPts val="240"/>
                        </a:spcBef>
                        <a:spcAft>
                          <a:spcPts val="240"/>
                        </a:spcAft>
                      </a:pPr>
                      <a:endParaRPr lang="en-GB" sz="1800" dirty="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lgn="ctr">
                        <a:spcBef>
                          <a:spcPts val="240"/>
                        </a:spcBef>
                        <a:spcAft>
                          <a:spcPts val="240"/>
                        </a:spcAft>
                      </a:pPr>
                      <a:r>
                        <a:rPr lang="en-GB" sz="1600" dirty="0">
                          <a:solidFill>
                            <a:schemeClr val="bg1"/>
                          </a:solidFill>
                        </a:rPr>
                        <a:t>1.5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spcBef>
                          <a:spcPts val="240"/>
                        </a:spcBef>
                        <a:spcAft>
                          <a:spcPts val="240"/>
                        </a:spcAft>
                      </a:pPr>
                      <a:r>
                        <a:rPr lang="en-GB" sz="1400" dirty="0"/>
                        <a:t>Unilateral and axial involvement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67187024"/>
                  </a:ext>
                </a:extLst>
              </a:tr>
              <a:tr h="370840">
                <a:tc>
                  <a:txBody>
                    <a:bodyPr/>
                    <a:lstStyle/>
                    <a:p>
                      <a:pPr algn="r">
                        <a:spcBef>
                          <a:spcPts val="240"/>
                        </a:spcBef>
                        <a:spcAft>
                          <a:spcPts val="240"/>
                        </a:spcAft>
                      </a:pPr>
                      <a:endParaRPr lang="en-GB" b="1" dirty="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lgn="ctr">
                        <a:spcBef>
                          <a:spcPts val="240"/>
                        </a:spcBef>
                        <a:spcAft>
                          <a:spcPts val="240"/>
                        </a:spcAft>
                      </a:pPr>
                      <a:r>
                        <a:rPr lang="en-GB" sz="2400" b="1" dirty="0">
                          <a:solidFill>
                            <a:schemeClr val="bg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spcBef>
                          <a:spcPts val="240"/>
                        </a:spcBef>
                        <a:spcAft>
                          <a:spcPts val="240"/>
                        </a:spcAft>
                      </a:pPr>
                      <a:r>
                        <a:rPr lang="en-GB" sz="1400" dirty="0"/>
                        <a:t>Bilateral involvement without impairment of balance, the patient’s symptoms worsen and make daily tasks more difficult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1170467"/>
                  </a:ext>
                </a:extLst>
              </a:tr>
              <a:tr h="370840">
                <a:tc>
                  <a:txBody>
                    <a:bodyPr/>
                    <a:lstStyle/>
                    <a:p>
                      <a:pPr algn="r">
                        <a:spcBef>
                          <a:spcPts val="240"/>
                        </a:spcBef>
                        <a:spcAft>
                          <a:spcPts val="240"/>
                        </a:spcAft>
                      </a:pPr>
                      <a:endParaRPr lang="en-GB" sz="1800" dirty="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lgn="ctr">
                        <a:spcBef>
                          <a:spcPts val="240"/>
                        </a:spcBef>
                        <a:spcAft>
                          <a:spcPts val="240"/>
                        </a:spcAft>
                      </a:pPr>
                      <a:r>
                        <a:rPr lang="en-GB" sz="1600" dirty="0">
                          <a:solidFill>
                            <a:schemeClr val="bg1"/>
                          </a:solidFill>
                        </a:rPr>
                        <a:t>2.5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spcBef>
                          <a:spcPts val="240"/>
                        </a:spcBef>
                        <a:spcAft>
                          <a:spcPts val="240"/>
                        </a:spcAft>
                      </a:pPr>
                      <a:r>
                        <a:rPr lang="en-GB" sz="1400" dirty="0"/>
                        <a:t>Mild bilateral disease with recovery on pull test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53244955"/>
                  </a:ext>
                </a:extLst>
              </a:tr>
              <a:tr h="370840">
                <a:tc>
                  <a:txBody>
                    <a:bodyPr/>
                    <a:lstStyle/>
                    <a:p>
                      <a:pPr algn="r">
                        <a:spcBef>
                          <a:spcPts val="240"/>
                        </a:spcBef>
                        <a:spcAft>
                          <a:spcPts val="240"/>
                        </a:spcAft>
                      </a:pPr>
                      <a:endParaRPr lang="en-GB" b="1" dirty="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lgn="ctr">
                        <a:spcBef>
                          <a:spcPts val="240"/>
                        </a:spcBef>
                        <a:spcAft>
                          <a:spcPts val="240"/>
                        </a:spcAft>
                      </a:pPr>
                      <a:r>
                        <a:rPr lang="en-GB" sz="2400" b="1" dirty="0">
                          <a:solidFill>
                            <a:schemeClr val="bg1"/>
                          </a:solidFill>
                        </a:rPr>
                        <a:t>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spcBef>
                          <a:spcPts val="240"/>
                        </a:spcBef>
                        <a:spcAft>
                          <a:spcPts val="240"/>
                        </a:spcAft>
                      </a:pPr>
                      <a:r>
                        <a:rPr lang="en-US" sz="1400" dirty="0"/>
                        <a:t>Mild-to-moderate bilateral disease; some postural instability; still physically independent</a:t>
                      </a:r>
                      <a:endParaRPr lang="en-GB"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86843752"/>
                  </a:ext>
                </a:extLst>
              </a:tr>
              <a:tr h="370840">
                <a:tc>
                  <a:txBody>
                    <a:bodyPr/>
                    <a:lstStyle/>
                    <a:p>
                      <a:pPr algn="r">
                        <a:spcBef>
                          <a:spcPts val="240"/>
                        </a:spcBef>
                        <a:spcAft>
                          <a:spcPts val="240"/>
                        </a:spcAft>
                      </a:pPr>
                      <a:endParaRPr lang="en-GB" b="1" dirty="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lgn="ctr">
                        <a:spcBef>
                          <a:spcPts val="240"/>
                        </a:spcBef>
                        <a:spcAft>
                          <a:spcPts val="240"/>
                        </a:spcAft>
                      </a:pPr>
                      <a:r>
                        <a:rPr lang="en-GB" sz="2400" b="1" dirty="0">
                          <a:solidFill>
                            <a:schemeClr val="bg1"/>
                          </a:solidFill>
                        </a:rPr>
                        <a:t>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spcBef>
                          <a:spcPts val="240"/>
                        </a:spcBef>
                        <a:spcAft>
                          <a:spcPts val="240"/>
                        </a:spcAft>
                      </a:pPr>
                      <a:r>
                        <a:rPr lang="en-US" sz="1400" dirty="0"/>
                        <a:t>Symptoms are fully developed and cause severe disability, however the patient is still able to walk or stand unassisted</a:t>
                      </a:r>
                      <a:endParaRPr lang="en-GB"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959496636"/>
                  </a:ext>
                </a:extLst>
              </a:tr>
              <a:tr h="370840">
                <a:tc>
                  <a:txBody>
                    <a:bodyPr/>
                    <a:lstStyle/>
                    <a:p>
                      <a:pPr algn="r">
                        <a:spcBef>
                          <a:spcPts val="240"/>
                        </a:spcBef>
                        <a:spcAft>
                          <a:spcPts val="240"/>
                        </a:spcAft>
                      </a:pPr>
                      <a:endParaRPr lang="en-GB" b="1" dirty="0">
                        <a:solidFill>
                          <a:schemeClr val="bg1"/>
                        </a:solidFill>
                      </a:endParaRPr>
                    </a:p>
                  </a:txBody>
                  <a:tcPr anchor="ct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a:spcBef>
                          <a:spcPts val="240"/>
                        </a:spcBef>
                        <a:spcAft>
                          <a:spcPts val="240"/>
                        </a:spcAft>
                      </a:pPr>
                      <a:r>
                        <a:rPr lang="en-GB" sz="2400" b="1" dirty="0">
                          <a:solidFill>
                            <a:schemeClr val="bg1"/>
                          </a:solidFill>
                        </a:rPr>
                        <a:t>5</a:t>
                      </a:r>
                    </a:p>
                  </a:txBody>
                  <a:tcPr anchor="ct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spcBef>
                          <a:spcPts val="240"/>
                        </a:spcBef>
                        <a:spcAft>
                          <a:spcPts val="240"/>
                        </a:spcAft>
                      </a:pPr>
                      <a:r>
                        <a:rPr lang="en-US" sz="1400" dirty="0"/>
                        <a:t>The patient is wheelchair bound or bedridden unless aided, and requiring around-the-clock care and help</a:t>
                      </a:r>
                      <a:endParaRPr lang="en-GB" sz="1400" dirty="0"/>
                    </a:p>
                  </a:txBody>
                  <a:tcPr anchor="ct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2694110"/>
                  </a:ext>
                </a:extLst>
              </a:tr>
            </a:tbl>
          </a:graphicData>
        </a:graphic>
      </p:graphicFrame>
      <p:sp>
        <p:nvSpPr>
          <p:cNvPr id="13" name="TextBox 12">
            <a:extLst>
              <a:ext uri="{FF2B5EF4-FFF2-40B4-BE49-F238E27FC236}">
                <a16:creationId xmlns:a16="http://schemas.microsoft.com/office/drawing/2014/main" id="{D0C32593-D994-362F-41F0-9E880C592A2F}"/>
              </a:ext>
            </a:extLst>
          </p:cNvPr>
          <p:cNvSpPr txBox="1"/>
          <p:nvPr/>
        </p:nvSpPr>
        <p:spPr>
          <a:xfrm>
            <a:off x="539749" y="1593664"/>
            <a:ext cx="8266112" cy="307777"/>
          </a:xfrm>
          <a:prstGeom prst="rect">
            <a:avLst/>
          </a:prstGeom>
          <a:noFill/>
        </p:spPr>
        <p:txBody>
          <a:bodyPr wrap="square" rtlCol="0">
            <a:spAutoFit/>
          </a:bodyPr>
          <a:lstStyle/>
          <a:p>
            <a:pPr algn="ctr"/>
            <a:r>
              <a:rPr lang="en-GB" sz="1400" b="1" dirty="0">
                <a:solidFill>
                  <a:schemeClr val="accent5">
                    <a:lumMod val="50000"/>
                  </a:schemeClr>
                </a:solidFill>
              </a:rPr>
              <a:t>The modified Hoehn &amp; Yahr stages</a:t>
            </a:r>
            <a:r>
              <a:rPr lang="en-GB" sz="1400" b="1" baseline="30000" dirty="0">
                <a:solidFill>
                  <a:schemeClr val="accent5">
                    <a:lumMod val="50000"/>
                  </a:schemeClr>
                </a:solidFill>
              </a:rPr>
              <a:t>1-3</a:t>
            </a:r>
            <a:endParaRPr lang="en-GB" sz="1400" b="1" dirty="0">
              <a:solidFill>
                <a:schemeClr val="accent5">
                  <a:lumMod val="50000"/>
                </a:schemeClr>
              </a:solidFill>
            </a:endParaRPr>
          </a:p>
        </p:txBody>
      </p:sp>
      <p:sp>
        <p:nvSpPr>
          <p:cNvPr id="14" name="Arrow: Down 13">
            <a:extLst>
              <a:ext uri="{FF2B5EF4-FFF2-40B4-BE49-F238E27FC236}">
                <a16:creationId xmlns:a16="http://schemas.microsoft.com/office/drawing/2014/main" id="{BF895DF9-414A-10CA-80BA-C9E0B5FA50D3}"/>
              </a:ext>
            </a:extLst>
          </p:cNvPr>
          <p:cNvSpPr/>
          <p:nvPr/>
        </p:nvSpPr>
        <p:spPr>
          <a:xfrm>
            <a:off x="485775" y="1982281"/>
            <a:ext cx="1057275" cy="3602481"/>
          </a:xfrm>
          <a:prstGeom prst="downArrow">
            <a:avLst/>
          </a:prstGeom>
          <a:solidFill>
            <a:schemeClr val="bg1"/>
          </a:solid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1600" dirty="0">
                <a:solidFill>
                  <a:schemeClr val="accent5">
                    <a:lumMod val="75000"/>
                  </a:schemeClr>
                </a:solidFill>
              </a:rPr>
              <a:t>Increasing disability</a:t>
            </a:r>
          </a:p>
        </p:txBody>
      </p:sp>
    </p:spTree>
    <p:extLst>
      <p:ext uri="{BB962C8B-B14F-4D97-AF65-F5344CB8AC3E}">
        <p14:creationId xmlns:p14="http://schemas.microsoft.com/office/powerpoint/2010/main" val="454269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D725AA-9501-5BCB-0D6B-EB8D278FD4BB}"/>
              </a:ext>
            </a:extLst>
          </p:cNvPr>
          <p:cNvSpPr/>
          <p:nvPr/>
        </p:nvSpPr>
        <p:spPr>
          <a:xfrm>
            <a:off x="6230938" y="1905001"/>
            <a:ext cx="5419725" cy="118109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21CA3B5D-015E-05DC-62E8-6D34A51C5CB2}"/>
              </a:ext>
            </a:extLst>
          </p:cNvPr>
          <p:cNvSpPr/>
          <p:nvPr/>
        </p:nvSpPr>
        <p:spPr>
          <a:xfrm>
            <a:off x="539750" y="1905001"/>
            <a:ext cx="5419725" cy="191391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 Placeholder 1">
            <a:extLst>
              <a:ext uri="{FF2B5EF4-FFF2-40B4-BE49-F238E27FC236}">
                <a16:creationId xmlns:a16="http://schemas.microsoft.com/office/drawing/2014/main" id="{A10CEBF3-D2F0-ECDC-B14D-93EB4C2B9948}"/>
              </a:ext>
            </a:extLst>
          </p:cNvPr>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3" name="Title 2">
            <a:extLst>
              <a:ext uri="{FF2B5EF4-FFF2-40B4-BE49-F238E27FC236}">
                <a16:creationId xmlns:a16="http://schemas.microsoft.com/office/drawing/2014/main" id="{0EACC253-DF92-AA9C-0CA9-179CAD7C3D92}"/>
              </a:ext>
            </a:extLst>
          </p:cNvPr>
          <p:cNvSpPr>
            <a:spLocks noGrp="1"/>
          </p:cNvSpPr>
          <p:nvPr>
            <p:ph type="title"/>
          </p:nvPr>
        </p:nvSpPr>
        <p:spPr/>
        <p:txBody>
          <a:bodyPr/>
          <a:lstStyle/>
          <a:p>
            <a:r>
              <a:rPr lang="en-US"/>
              <a:t>Emerging methods for Parkinson’s disease staging</a:t>
            </a:r>
            <a:endParaRPr lang="en-GB"/>
          </a:p>
        </p:txBody>
      </p:sp>
      <p:sp>
        <p:nvSpPr>
          <p:cNvPr id="11" name="Content Placeholder 10">
            <a:extLst>
              <a:ext uri="{FF2B5EF4-FFF2-40B4-BE49-F238E27FC236}">
                <a16:creationId xmlns:a16="http://schemas.microsoft.com/office/drawing/2014/main" id="{B54DF2EE-F007-1707-8680-C00ECF8FF910}"/>
              </a:ext>
            </a:extLst>
          </p:cNvPr>
          <p:cNvSpPr>
            <a:spLocks noGrp="1"/>
          </p:cNvSpPr>
          <p:nvPr>
            <p:ph idx="20"/>
          </p:nvPr>
        </p:nvSpPr>
        <p:spPr>
          <a:xfrm>
            <a:off x="539750" y="1416785"/>
            <a:ext cx="5384799" cy="4415215"/>
          </a:xfrm>
        </p:spPr>
        <p:txBody>
          <a:bodyPr/>
          <a:lstStyle/>
          <a:p>
            <a:r>
              <a:rPr lang="en-GB" sz="1400" dirty="0"/>
              <a:t>The </a:t>
            </a:r>
            <a:r>
              <a:rPr lang="en-GB" sz="1400" dirty="0" err="1"/>
              <a:t>SynNeurGe</a:t>
            </a:r>
            <a:r>
              <a:rPr lang="en-GB" sz="1400" dirty="0"/>
              <a:t> system is a proposed biological classification system for PD:</a:t>
            </a:r>
            <a:r>
              <a:rPr lang="en-GB" sz="1400" baseline="30000" dirty="0"/>
              <a:t>1</a:t>
            </a:r>
            <a:endParaRPr lang="en-GB" sz="1400" dirty="0"/>
          </a:p>
          <a:p>
            <a:pPr marL="447675" indent="0">
              <a:spcBef>
                <a:spcPts val="1200"/>
              </a:spcBef>
              <a:buNone/>
              <a:tabLst>
                <a:tab pos="5114925" algn="l"/>
              </a:tabLst>
            </a:pPr>
            <a:r>
              <a:rPr lang="en-GB" sz="1400" b="1" u="sng" dirty="0">
                <a:solidFill>
                  <a:schemeClr val="accent5">
                    <a:lumMod val="50000"/>
                  </a:schemeClr>
                </a:solidFill>
              </a:rPr>
              <a:t>Syn</a:t>
            </a:r>
            <a:r>
              <a:rPr lang="en-GB" sz="1400" dirty="0">
                <a:solidFill>
                  <a:schemeClr val="accent5">
                    <a:lumMod val="50000"/>
                  </a:schemeClr>
                </a:solidFill>
              </a:rPr>
              <a:t>uclein – the presence of pathological </a:t>
            </a:r>
            <a:r>
              <a:rPr lang="el-GR" sz="1400" dirty="0">
                <a:solidFill>
                  <a:schemeClr val="accent5">
                    <a:lumMod val="50000"/>
                  </a:schemeClr>
                </a:solidFill>
              </a:rPr>
              <a:t>α-</a:t>
            </a:r>
            <a:r>
              <a:rPr lang="en-GB" sz="1400" dirty="0">
                <a:solidFill>
                  <a:schemeClr val="accent5">
                    <a:lumMod val="50000"/>
                  </a:schemeClr>
                </a:solidFill>
              </a:rPr>
              <a:t>synuclein in tissues or CSF</a:t>
            </a:r>
          </a:p>
          <a:p>
            <a:pPr marL="447675" indent="0">
              <a:spcBef>
                <a:spcPts val="1200"/>
              </a:spcBef>
              <a:buNone/>
              <a:tabLst>
                <a:tab pos="5114925" algn="l"/>
              </a:tabLst>
            </a:pPr>
            <a:r>
              <a:rPr lang="en-GB" sz="1400" b="1" u="sng" dirty="0">
                <a:solidFill>
                  <a:schemeClr val="accent5">
                    <a:lumMod val="50000"/>
                  </a:schemeClr>
                </a:solidFill>
              </a:rPr>
              <a:t>Neur</a:t>
            </a:r>
            <a:r>
              <a:rPr lang="en-GB" sz="1400" dirty="0">
                <a:solidFill>
                  <a:schemeClr val="accent5">
                    <a:lumMod val="50000"/>
                  </a:schemeClr>
                </a:solidFill>
              </a:rPr>
              <a:t>odegeneration – evidence of neurodegeneration from neuroimaging </a:t>
            </a:r>
          </a:p>
          <a:p>
            <a:pPr marL="447675" indent="0">
              <a:spcBef>
                <a:spcPts val="1200"/>
              </a:spcBef>
              <a:buNone/>
              <a:tabLst>
                <a:tab pos="5114925" algn="l"/>
              </a:tabLst>
            </a:pPr>
            <a:r>
              <a:rPr lang="en-GB" sz="1400" b="1" u="sng" dirty="0">
                <a:solidFill>
                  <a:schemeClr val="accent5">
                    <a:lumMod val="50000"/>
                  </a:schemeClr>
                </a:solidFill>
              </a:rPr>
              <a:t>Ge</a:t>
            </a:r>
            <a:r>
              <a:rPr lang="en-GB" sz="1400" dirty="0">
                <a:solidFill>
                  <a:schemeClr val="accent5">
                    <a:lumMod val="50000"/>
                  </a:schemeClr>
                </a:solidFill>
              </a:rPr>
              <a:t>ne – the presence of known genes that predispose to PD</a:t>
            </a:r>
          </a:p>
          <a:p>
            <a:pPr marL="447675" indent="0">
              <a:spcBef>
                <a:spcPts val="1200"/>
              </a:spcBef>
              <a:buNone/>
              <a:tabLst>
                <a:tab pos="5114925" algn="l"/>
              </a:tabLst>
            </a:pPr>
            <a:r>
              <a:rPr lang="en-GB" sz="1400" dirty="0">
                <a:solidFill>
                  <a:schemeClr val="accent5">
                    <a:lumMod val="50000"/>
                  </a:schemeClr>
                </a:solidFill>
              </a:rPr>
              <a:t>…and a clinical component – the presence of symptoms</a:t>
            </a:r>
          </a:p>
        </p:txBody>
      </p:sp>
      <p:sp>
        <p:nvSpPr>
          <p:cNvPr id="12" name="Content Placeholder 11">
            <a:extLst>
              <a:ext uri="{FF2B5EF4-FFF2-40B4-BE49-F238E27FC236}">
                <a16:creationId xmlns:a16="http://schemas.microsoft.com/office/drawing/2014/main" id="{B4D9B31A-E7E6-1E90-BA40-0977C9FA5E30}"/>
              </a:ext>
            </a:extLst>
          </p:cNvPr>
          <p:cNvSpPr>
            <a:spLocks noGrp="1"/>
          </p:cNvSpPr>
          <p:nvPr>
            <p:ph idx="21"/>
          </p:nvPr>
        </p:nvSpPr>
        <p:spPr/>
        <p:txBody>
          <a:bodyPr/>
          <a:lstStyle/>
          <a:p>
            <a:r>
              <a:rPr lang="en-US" sz="1400" dirty="0"/>
              <a:t>The </a:t>
            </a:r>
            <a:r>
              <a:rPr lang="en-US" sz="1400" b="1" u="sng" dirty="0"/>
              <a:t>n</a:t>
            </a:r>
            <a:r>
              <a:rPr lang="en-US" sz="1400" dirty="0"/>
              <a:t>euronal α-</a:t>
            </a:r>
            <a:r>
              <a:rPr lang="en-US" sz="1400" b="1" u="sng" dirty="0"/>
              <a:t>s</a:t>
            </a:r>
            <a:r>
              <a:rPr lang="en-US" sz="1400" dirty="0"/>
              <a:t>ynuclein </a:t>
            </a:r>
            <a:r>
              <a:rPr lang="en-US" sz="1400" b="1" u="sng" dirty="0"/>
              <a:t>d</a:t>
            </a:r>
            <a:r>
              <a:rPr lang="en-US" sz="1400" dirty="0"/>
              <a:t>isease </a:t>
            </a:r>
            <a:r>
              <a:rPr lang="en-US" sz="1400" b="1" u="sng" dirty="0"/>
              <a:t>i</a:t>
            </a:r>
            <a:r>
              <a:rPr lang="en-US" sz="1400" dirty="0"/>
              <a:t>ntegrated </a:t>
            </a:r>
            <a:r>
              <a:rPr lang="en-US" sz="1400" b="1" u="sng" dirty="0"/>
              <a:t>s</a:t>
            </a:r>
            <a:r>
              <a:rPr lang="en-US" sz="1400" dirty="0"/>
              <a:t>taging </a:t>
            </a:r>
            <a:r>
              <a:rPr lang="en-US" sz="1400" b="1" u="sng" dirty="0"/>
              <a:t>s</a:t>
            </a:r>
            <a:r>
              <a:rPr lang="en-US" sz="1400" dirty="0"/>
              <a:t>ystem (NSD-ISS) is based around two biological markers:</a:t>
            </a:r>
            <a:r>
              <a:rPr lang="en-US" sz="1400" baseline="30000" dirty="0"/>
              <a:t>2</a:t>
            </a:r>
          </a:p>
          <a:p>
            <a:pPr marL="447675" indent="0">
              <a:spcBef>
                <a:spcPts val="1200"/>
              </a:spcBef>
              <a:buNone/>
            </a:pPr>
            <a:r>
              <a:rPr lang="en-US" sz="1400" b="1" u="sng" dirty="0">
                <a:solidFill>
                  <a:schemeClr val="accent5">
                    <a:lumMod val="50000"/>
                  </a:schemeClr>
                </a:solidFill>
              </a:rPr>
              <a:t>S</a:t>
            </a:r>
            <a:r>
              <a:rPr lang="en-US" sz="1400" dirty="0">
                <a:solidFill>
                  <a:schemeClr val="accent5">
                    <a:lumMod val="50000"/>
                  </a:schemeClr>
                </a:solidFill>
              </a:rPr>
              <a:t> is the first biological marker </a:t>
            </a:r>
            <a:br>
              <a:rPr lang="en-US" sz="1400" dirty="0">
                <a:solidFill>
                  <a:schemeClr val="accent5">
                    <a:lumMod val="50000"/>
                  </a:schemeClr>
                </a:solidFill>
              </a:rPr>
            </a:br>
            <a:r>
              <a:rPr lang="en-US" sz="1400" dirty="0">
                <a:solidFill>
                  <a:schemeClr val="accent5">
                    <a:lumMod val="50000"/>
                  </a:schemeClr>
                </a:solidFill>
              </a:rPr>
              <a:t>– the presence of pathological α-synuclein </a:t>
            </a:r>
          </a:p>
          <a:p>
            <a:pPr marL="447675" indent="0">
              <a:spcBef>
                <a:spcPts val="1200"/>
              </a:spcBef>
              <a:buNone/>
            </a:pPr>
            <a:r>
              <a:rPr lang="en-US" sz="1400" b="1" u="sng" dirty="0">
                <a:solidFill>
                  <a:schemeClr val="accent5">
                    <a:lumMod val="50000"/>
                  </a:schemeClr>
                </a:solidFill>
              </a:rPr>
              <a:t>D</a:t>
            </a:r>
            <a:r>
              <a:rPr lang="en-US" sz="1400" dirty="0">
                <a:solidFill>
                  <a:schemeClr val="accent5">
                    <a:lumMod val="50000"/>
                  </a:schemeClr>
                </a:solidFill>
              </a:rPr>
              <a:t> is the second biological marker </a:t>
            </a:r>
            <a:br>
              <a:rPr lang="en-US" sz="1400" dirty="0">
                <a:solidFill>
                  <a:schemeClr val="accent5">
                    <a:lumMod val="50000"/>
                  </a:schemeClr>
                </a:solidFill>
              </a:rPr>
            </a:br>
            <a:r>
              <a:rPr lang="en-US" sz="1400" dirty="0">
                <a:solidFill>
                  <a:schemeClr val="accent5">
                    <a:lumMod val="50000"/>
                  </a:schemeClr>
                </a:solidFill>
              </a:rPr>
              <a:t>– dopaminergic neuronal dysfunction</a:t>
            </a:r>
          </a:p>
          <a:p>
            <a:r>
              <a:rPr lang="en-US" sz="1400" dirty="0"/>
              <a:t>As well as for definition, the NSD-ISS system can be used to stage the progression of PD:</a:t>
            </a:r>
            <a:r>
              <a:rPr lang="en-US" sz="1400" baseline="30000" dirty="0"/>
              <a:t>2</a:t>
            </a:r>
            <a:endParaRPr lang="en-US" sz="1400" dirty="0"/>
          </a:p>
          <a:p>
            <a:pPr marL="447675" indent="0">
              <a:spcBef>
                <a:spcPts val="1200"/>
              </a:spcBef>
              <a:buNone/>
            </a:pPr>
            <a:endParaRPr lang="en-US" sz="1400" dirty="0">
              <a:solidFill>
                <a:schemeClr val="accent5">
                  <a:lumMod val="50000"/>
                </a:schemeClr>
              </a:solidFill>
            </a:endParaRPr>
          </a:p>
        </p:txBody>
      </p:sp>
      <p:sp>
        <p:nvSpPr>
          <p:cNvPr id="10" name="Text Placeholder 9">
            <a:extLst>
              <a:ext uri="{FF2B5EF4-FFF2-40B4-BE49-F238E27FC236}">
                <a16:creationId xmlns:a16="http://schemas.microsoft.com/office/drawing/2014/main" id="{94AC27B6-DB70-4BCE-04D8-0C78093F2163}"/>
              </a:ext>
            </a:extLst>
          </p:cNvPr>
          <p:cNvSpPr>
            <a:spLocks noGrp="1"/>
          </p:cNvSpPr>
          <p:nvPr>
            <p:ph type="body" sz="quarter" idx="18"/>
          </p:nvPr>
        </p:nvSpPr>
        <p:spPr/>
        <p:txBody>
          <a:bodyPr/>
          <a:lstStyle/>
          <a:p>
            <a:r>
              <a:rPr lang="en-GB" dirty="0"/>
              <a:t>CSF=cerebrospinal fluid; PD=Parkinson’s disease</a:t>
            </a:r>
          </a:p>
          <a:p>
            <a:endParaRPr lang="en-GB" dirty="0"/>
          </a:p>
          <a:p>
            <a:r>
              <a:rPr lang="en-GB" dirty="0"/>
              <a:t>1. </a:t>
            </a:r>
            <a:r>
              <a:rPr lang="en-GB" dirty="0" err="1"/>
              <a:t>Höglinger</a:t>
            </a:r>
            <a:r>
              <a:rPr lang="en-GB" dirty="0"/>
              <a:t> et al. Lancet </a:t>
            </a:r>
            <a:r>
              <a:rPr lang="en-GB" dirty="0" err="1"/>
              <a:t>Neurol</a:t>
            </a:r>
            <a:r>
              <a:rPr lang="en-GB" dirty="0"/>
              <a:t> 2024;23(2):191–204;</a:t>
            </a:r>
            <a:endParaRPr lang="en-US" dirty="0"/>
          </a:p>
          <a:p>
            <a:r>
              <a:rPr lang="en-US" dirty="0"/>
              <a:t>2. Simuni et al. Lancet Neurol 2024;23(2):178–190</a:t>
            </a:r>
            <a:endParaRPr lang="en-GB" dirty="0"/>
          </a:p>
        </p:txBody>
      </p:sp>
      <p:sp>
        <p:nvSpPr>
          <p:cNvPr id="6" name="Slide Number Placeholder 5">
            <a:extLst>
              <a:ext uri="{FF2B5EF4-FFF2-40B4-BE49-F238E27FC236}">
                <a16:creationId xmlns:a16="http://schemas.microsoft.com/office/drawing/2014/main" id="{BA05F8B5-299B-0B9B-E187-6230E420D402}"/>
              </a:ext>
            </a:extLst>
          </p:cNvPr>
          <p:cNvSpPr>
            <a:spLocks noGrp="1"/>
          </p:cNvSpPr>
          <p:nvPr>
            <p:ph type="sldNum" sz="quarter" idx="4"/>
          </p:nvPr>
        </p:nvSpPr>
        <p:spPr/>
        <p:txBody>
          <a:bodyPr/>
          <a:lstStyle/>
          <a:p>
            <a:fld id="{6DBC486D-4FAB-B746-8B02-8D7C842291C6}" type="slidenum">
              <a:rPr lang="en-US" smtClean="0"/>
              <a:pPr/>
              <a:t>20</a:t>
            </a:fld>
            <a:endParaRPr lang="en-US"/>
          </a:p>
        </p:txBody>
      </p:sp>
      <p:sp>
        <p:nvSpPr>
          <p:cNvPr id="8" name="Rectangle 7">
            <a:extLst>
              <a:ext uri="{FF2B5EF4-FFF2-40B4-BE49-F238E27FC236}">
                <a16:creationId xmlns:a16="http://schemas.microsoft.com/office/drawing/2014/main" id="{6CD9E2A7-B432-BF1F-8DE3-9C37274A157B}"/>
              </a:ext>
            </a:extLst>
          </p:cNvPr>
          <p:cNvSpPr/>
          <p:nvPr/>
        </p:nvSpPr>
        <p:spPr>
          <a:xfrm>
            <a:off x="1587381" y="4439231"/>
            <a:ext cx="1440000" cy="720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dirty="0">
                <a:solidFill>
                  <a:schemeClr val="accent3">
                    <a:lumMod val="50000"/>
                  </a:schemeClr>
                </a:solidFill>
              </a:rPr>
              <a:t>Stage 0</a:t>
            </a:r>
            <a:br>
              <a:rPr lang="en-US" sz="1200" dirty="0">
                <a:solidFill>
                  <a:schemeClr val="accent3">
                    <a:lumMod val="50000"/>
                  </a:schemeClr>
                </a:solidFill>
              </a:rPr>
            </a:br>
            <a:r>
              <a:rPr lang="en-US" sz="1200" dirty="0">
                <a:solidFill>
                  <a:schemeClr val="accent3">
                    <a:lumMod val="50000"/>
                  </a:schemeClr>
                </a:solidFill>
              </a:rPr>
              <a:t>Fully penetrant </a:t>
            </a:r>
            <a:r>
              <a:rPr lang="en-US" sz="1200" i="1" dirty="0">
                <a:solidFill>
                  <a:schemeClr val="accent3">
                    <a:lumMod val="50000"/>
                  </a:schemeClr>
                </a:solidFill>
              </a:rPr>
              <a:t>SNCA</a:t>
            </a:r>
            <a:r>
              <a:rPr lang="en-US" sz="1200" dirty="0">
                <a:solidFill>
                  <a:schemeClr val="accent3">
                    <a:lumMod val="50000"/>
                  </a:schemeClr>
                </a:solidFill>
              </a:rPr>
              <a:t> variant</a:t>
            </a:r>
            <a:endParaRPr lang="en-GB" sz="1200" dirty="0">
              <a:solidFill>
                <a:schemeClr val="accent3">
                  <a:lumMod val="50000"/>
                </a:schemeClr>
              </a:solidFill>
            </a:endParaRPr>
          </a:p>
        </p:txBody>
      </p:sp>
      <p:sp>
        <p:nvSpPr>
          <p:cNvPr id="14" name="Rectangle 13">
            <a:extLst>
              <a:ext uri="{FF2B5EF4-FFF2-40B4-BE49-F238E27FC236}">
                <a16:creationId xmlns:a16="http://schemas.microsoft.com/office/drawing/2014/main" id="{4381DC43-9F33-6C1E-4101-598FEDE76511}"/>
              </a:ext>
            </a:extLst>
          </p:cNvPr>
          <p:cNvSpPr/>
          <p:nvPr/>
        </p:nvSpPr>
        <p:spPr>
          <a:xfrm>
            <a:off x="3057880" y="4439231"/>
            <a:ext cx="2592000" cy="720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dirty="0">
                <a:solidFill>
                  <a:schemeClr val="accent5">
                    <a:lumMod val="50000"/>
                  </a:schemeClr>
                </a:solidFill>
              </a:rPr>
              <a:t>Stages 1A and 1B</a:t>
            </a:r>
            <a:br>
              <a:rPr lang="en-US" sz="1200" dirty="0">
                <a:solidFill>
                  <a:schemeClr val="accent5">
                    <a:lumMod val="50000"/>
                  </a:schemeClr>
                </a:solidFill>
              </a:rPr>
            </a:br>
            <a:r>
              <a:rPr lang="en-US" sz="1200" dirty="0">
                <a:solidFill>
                  <a:schemeClr val="accent5">
                    <a:lumMod val="50000"/>
                  </a:schemeClr>
                </a:solidFill>
              </a:rPr>
              <a:t>Biomarkers of neuronal </a:t>
            </a:r>
            <a:r>
              <a:rPr lang="en-US" sz="1200" dirty="0">
                <a:solidFill>
                  <a:schemeClr val="tx2"/>
                </a:solidFill>
              </a:rPr>
              <a:t>α</a:t>
            </a:r>
            <a:r>
              <a:rPr lang="en-US" sz="1200" dirty="0">
                <a:solidFill>
                  <a:schemeClr val="accent5">
                    <a:lumMod val="50000"/>
                  </a:schemeClr>
                </a:solidFill>
              </a:rPr>
              <a:t>-synuclein and dopaminergic dysfunction</a:t>
            </a:r>
            <a:endParaRPr lang="en-GB" sz="1200" dirty="0">
              <a:solidFill>
                <a:schemeClr val="accent5">
                  <a:lumMod val="50000"/>
                </a:schemeClr>
              </a:solidFill>
            </a:endParaRPr>
          </a:p>
        </p:txBody>
      </p:sp>
      <p:sp>
        <p:nvSpPr>
          <p:cNvPr id="15" name="Rectangle 14">
            <a:extLst>
              <a:ext uri="{FF2B5EF4-FFF2-40B4-BE49-F238E27FC236}">
                <a16:creationId xmlns:a16="http://schemas.microsoft.com/office/drawing/2014/main" id="{70CD6C1E-CC9D-7E6E-6179-F009E6D2762B}"/>
              </a:ext>
            </a:extLst>
          </p:cNvPr>
          <p:cNvSpPr/>
          <p:nvPr/>
        </p:nvSpPr>
        <p:spPr>
          <a:xfrm>
            <a:off x="5680379" y="4439231"/>
            <a:ext cx="1476000" cy="72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accent1">
                    <a:lumMod val="50000"/>
                  </a:schemeClr>
                </a:solidFill>
              </a:rPr>
              <a:t>Stages 2A and 2B</a:t>
            </a:r>
            <a:br>
              <a:rPr lang="en-US" sz="1200">
                <a:solidFill>
                  <a:schemeClr val="accent1">
                    <a:lumMod val="50000"/>
                  </a:schemeClr>
                </a:solidFill>
              </a:rPr>
            </a:br>
            <a:r>
              <a:rPr lang="en-US" sz="1200">
                <a:solidFill>
                  <a:schemeClr val="accent1">
                    <a:lumMod val="50000"/>
                  </a:schemeClr>
                </a:solidFill>
              </a:rPr>
              <a:t>Clinical signs and symptoms</a:t>
            </a:r>
            <a:endParaRPr lang="en-GB" sz="1200">
              <a:solidFill>
                <a:schemeClr val="accent1">
                  <a:lumMod val="50000"/>
                </a:schemeClr>
              </a:solidFill>
            </a:endParaRPr>
          </a:p>
        </p:txBody>
      </p:sp>
      <p:sp>
        <p:nvSpPr>
          <p:cNvPr id="16" name="Rectangle 15">
            <a:extLst>
              <a:ext uri="{FF2B5EF4-FFF2-40B4-BE49-F238E27FC236}">
                <a16:creationId xmlns:a16="http://schemas.microsoft.com/office/drawing/2014/main" id="{AF0FF26F-B098-02AA-31A6-6DCFC99F0DA4}"/>
              </a:ext>
            </a:extLst>
          </p:cNvPr>
          <p:cNvSpPr/>
          <p:nvPr/>
        </p:nvSpPr>
        <p:spPr>
          <a:xfrm>
            <a:off x="7186878" y="4439231"/>
            <a:ext cx="1800000" cy="72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accent2">
                    <a:lumMod val="50000"/>
                  </a:schemeClr>
                </a:solidFill>
              </a:rPr>
              <a:t>Stages 3–6</a:t>
            </a:r>
            <a:br>
              <a:rPr lang="en-US" sz="1200">
                <a:solidFill>
                  <a:schemeClr val="accent2">
                    <a:lumMod val="50000"/>
                  </a:schemeClr>
                </a:solidFill>
              </a:rPr>
            </a:br>
            <a:r>
              <a:rPr lang="en-US" sz="1200">
                <a:solidFill>
                  <a:schemeClr val="accent2">
                    <a:lumMod val="50000"/>
                  </a:schemeClr>
                </a:solidFill>
              </a:rPr>
              <a:t>Functional impairment (of increasing severity)</a:t>
            </a:r>
            <a:endParaRPr lang="en-GB" sz="1200">
              <a:solidFill>
                <a:schemeClr val="accent2">
                  <a:lumMod val="50000"/>
                </a:schemeClr>
              </a:solidFill>
            </a:endParaRPr>
          </a:p>
        </p:txBody>
      </p:sp>
      <p:cxnSp>
        <p:nvCxnSpPr>
          <p:cNvPr id="17" name="Straight Connector 16">
            <a:extLst>
              <a:ext uri="{FF2B5EF4-FFF2-40B4-BE49-F238E27FC236}">
                <a16:creationId xmlns:a16="http://schemas.microsoft.com/office/drawing/2014/main" id="{97D253C1-5736-6E2C-0A39-E89F833C5A26}"/>
              </a:ext>
            </a:extLst>
          </p:cNvPr>
          <p:cNvCxnSpPr>
            <a:cxnSpLocks/>
          </p:cNvCxnSpPr>
          <p:nvPr/>
        </p:nvCxnSpPr>
        <p:spPr>
          <a:xfrm>
            <a:off x="1526417" y="4343400"/>
            <a:ext cx="0" cy="1210868"/>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8152C11-E06F-4698-DBC4-EC8047C46DF5}"/>
              </a:ext>
            </a:extLst>
          </p:cNvPr>
          <p:cNvCxnSpPr>
            <a:cxnSpLocks/>
          </p:cNvCxnSpPr>
          <p:nvPr/>
        </p:nvCxnSpPr>
        <p:spPr>
          <a:xfrm>
            <a:off x="1596090" y="5510497"/>
            <a:ext cx="74858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58558BB-1CA3-17E5-2E7F-60AC29A8E79B}"/>
              </a:ext>
            </a:extLst>
          </p:cNvPr>
          <p:cNvSpPr txBox="1"/>
          <p:nvPr/>
        </p:nvSpPr>
        <p:spPr>
          <a:xfrm>
            <a:off x="1535127" y="5227930"/>
            <a:ext cx="2241319" cy="276999"/>
          </a:xfrm>
          <a:prstGeom prst="rect">
            <a:avLst/>
          </a:prstGeom>
          <a:noFill/>
        </p:spPr>
        <p:txBody>
          <a:bodyPr wrap="none" rtlCol="0">
            <a:spAutoFit/>
          </a:bodyPr>
          <a:lstStyle/>
          <a:p>
            <a:r>
              <a:rPr lang="en-GB" sz="1200">
                <a:solidFill>
                  <a:schemeClr val="tx2"/>
                </a:solidFill>
              </a:rPr>
              <a:t>Neuronal </a:t>
            </a:r>
            <a:r>
              <a:rPr lang="en-US" sz="1200">
                <a:solidFill>
                  <a:schemeClr val="tx2"/>
                </a:solidFill>
              </a:rPr>
              <a:t>α-</a:t>
            </a:r>
            <a:r>
              <a:rPr lang="en-GB" sz="1200">
                <a:solidFill>
                  <a:schemeClr val="tx2"/>
                </a:solidFill>
              </a:rPr>
              <a:t>synuclein disease </a:t>
            </a:r>
          </a:p>
        </p:txBody>
      </p:sp>
    </p:spTree>
    <p:extLst>
      <p:ext uri="{BB962C8B-B14F-4D97-AF65-F5344CB8AC3E}">
        <p14:creationId xmlns:p14="http://schemas.microsoft.com/office/powerpoint/2010/main" val="1425796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46100"/>
            <a:ext cx="6642100" cy="2105818"/>
          </a:xfrm>
        </p:spPr>
        <p:txBody>
          <a:bodyPr>
            <a:noAutofit/>
          </a:bodyPr>
          <a:lstStyle/>
          <a:p>
            <a:r>
              <a:rPr lang="en-GB" dirty="0"/>
              <a:t>Identifying biomarkers of Parkinson’s disease progression using observational cohorts</a:t>
            </a:r>
          </a:p>
        </p:txBody>
      </p:sp>
      <p:sp>
        <p:nvSpPr>
          <p:cNvPr id="5" name="Text Placeholder 4">
            <a:extLst>
              <a:ext uri="{FF2B5EF4-FFF2-40B4-BE49-F238E27FC236}">
                <a16:creationId xmlns:a16="http://schemas.microsoft.com/office/drawing/2014/main" id="{33DB0809-1E08-416E-AFAF-DE2FE11A0D2E}"/>
              </a:ext>
            </a:extLst>
          </p:cNvPr>
          <p:cNvSpPr>
            <a:spLocks noGrp="1"/>
          </p:cNvSpPr>
          <p:nvPr>
            <p:ph type="body" idx="1"/>
          </p:nvPr>
        </p:nvSpPr>
        <p:spPr>
          <a:xfrm>
            <a:off x="1219200" y="2678906"/>
            <a:ext cx="6642100" cy="1500187"/>
          </a:xfrm>
        </p:spPr>
        <p:txBody>
          <a:bodyPr/>
          <a:lstStyle/>
          <a:p>
            <a:endParaRPr lang="da-DK"/>
          </a:p>
        </p:txBody>
      </p:sp>
    </p:spTree>
    <p:custDataLst>
      <p:tags r:id="rId1"/>
    </p:custDataLst>
    <p:extLst>
      <p:ext uri="{BB962C8B-B14F-4D97-AF65-F5344CB8AC3E}">
        <p14:creationId xmlns:p14="http://schemas.microsoft.com/office/powerpoint/2010/main" val="18880946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FC39514-71CA-49E4-8D70-D9DFC9E42852}"/>
              </a:ext>
            </a:extLst>
          </p:cNvPr>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2" name="Title 1">
            <a:extLst>
              <a:ext uri="{FF2B5EF4-FFF2-40B4-BE49-F238E27FC236}">
                <a16:creationId xmlns:a16="http://schemas.microsoft.com/office/drawing/2014/main" id="{3CF67CAD-C14D-4EF2-B1D3-172B9D4654FC}"/>
              </a:ext>
            </a:extLst>
          </p:cNvPr>
          <p:cNvSpPr>
            <a:spLocks noGrp="1"/>
          </p:cNvSpPr>
          <p:nvPr>
            <p:ph type="title"/>
          </p:nvPr>
        </p:nvSpPr>
        <p:spPr>
          <a:xfrm>
            <a:off x="539749" y="814386"/>
            <a:ext cx="9213851" cy="332399"/>
          </a:xfrm>
        </p:spPr>
        <p:txBody>
          <a:bodyPr/>
          <a:lstStyle/>
          <a:p>
            <a:r>
              <a:rPr lang="en-US" dirty="0"/>
              <a:t>Observational cohorts of Parkinson’s disease progression</a:t>
            </a:r>
            <a:endParaRPr lang="en-GB" dirty="0"/>
          </a:p>
        </p:txBody>
      </p:sp>
      <p:sp>
        <p:nvSpPr>
          <p:cNvPr id="3" name="Text Placeholder 2">
            <a:extLst>
              <a:ext uri="{FF2B5EF4-FFF2-40B4-BE49-F238E27FC236}">
                <a16:creationId xmlns:a16="http://schemas.microsoft.com/office/drawing/2014/main" id="{418B8E3C-3EB4-4B45-8FCA-36967B2194DF}"/>
              </a:ext>
            </a:extLst>
          </p:cNvPr>
          <p:cNvSpPr>
            <a:spLocks noGrp="1"/>
          </p:cNvSpPr>
          <p:nvPr>
            <p:ph type="body" sz="quarter" idx="18"/>
          </p:nvPr>
        </p:nvSpPr>
        <p:spPr>
          <a:xfrm>
            <a:off x="539749" y="6102000"/>
            <a:ext cx="10947401" cy="619200"/>
          </a:xfrm>
        </p:spPr>
        <p:txBody>
          <a:bodyPr/>
          <a:lstStyle/>
          <a:p>
            <a:pPr marL="0" indent="0">
              <a:buNone/>
            </a:pPr>
            <a:r>
              <a:rPr lang="en-GB" sz="900" dirty="0"/>
              <a:t>MCI=mild cognitive impairment; MCSA=Mayo Clinic Olmsted Study of Aging; OPDC=Oxford Parkinson’s Disease Centre; </a:t>
            </a:r>
            <a:br>
              <a:rPr lang="en-GB" sz="900" dirty="0"/>
            </a:br>
            <a:r>
              <a:rPr lang="en-GB" sz="900" dirty="0"/>
              <a:t>PD=Parkinson’s disease; PPMI=Parkinson’s Disease Progression Marker Initiative; PPP=Personalized Parkinson Project</a:t>
            </a:r>
          </a:p>
          <a:p>
            <a:pPr marL="0" indent="0">
              <a:buNone/>
            </a:pPr>
            <a:endParaRPr lang="en-GB" sz="900" dirty="0"/>
          </a:p>
          <a:p>
            <a:r>
              <a:rPr lang="en-GB" sz="900" dirty="0"/>
              <a:t>1. Neurodegeneration research website. http://www.neurodegenerationresearch.eu/cohort/the-mayo-clinic-study-of-aging/. Accessed Jan 2025; 2. Roberts et al. Neuroepidemiology 2008;30(1):58–69; </a:t>
            </a:r>
            <a:br>
              <a:rPr lang="en-GB" sz="900" dirty="0"/>
            </a:br>
            <a:r>
              <a:rPr lang="en-GB" sz="900" dirty="0"/>
              <a:t>3. </a:t>
            </a:r>
            <a:r>
              <a:rPr lang="fr-FR" sz="900" dirty="0"/>
              <a:t>Malek et al. J Parkinsons Dis 2015;5(4):947–959; 4. OPDC </a:t>
            </a:r>
            <a:r>
              <a:rPr lang="fr-FR" sz="900" dirty="0" err="1"/>
              <a:t>website</a:t>
            </a:r>
            <a:r>
              <a:rPr lang="fr-FR" sz="900" dirty="0"/>
              <a:t>. https://www.dpag.ox.ac.uk/opdc/research/theme-1-clinical-cohorts. </a:t>
            </a:r>
            <a:r>
              <a:rPr lang="fr-FR" sz="900" dirty="0" err="1"/>
              <a:t>Accessed</a:t>
            </a:r>
            <a:r>
              <a:rPr lang="fr-FR" sz="900" dirty="0"/>
              <a:t> Jan 2025; 5. </a:t>
            </a:r>
            <a:r>
              <a:rPr lang="fr-FR" sz="900" dirty="0" err="1"/>
              <a:t>Heinzel</a:t>
            </a:r>
            <a:r>
              <a:rPr lang="fr-FR" sz="900" dirty="0"/>
              <a:t> et al. J Parkinsons Dis 2017;7(3)423–432; </a:t>
            </a:r>
            <a:br>
              <a:rPr lang="fr-FR" sz="900" dirty="0"/>
            </a:br>
            <a:r>
              <a:rPr lang="fr-FR" sz="900" dirty="0"/>
              <a:t>6. </a:t>
            </a:r>
            <a:r>
              <a:rPr lang="nb-NO" sz="900" dirty="0"/>
              <a:t>Szewczyk-Krolikowski et al. Parkinsonism Relat Disord 2014;20(1):99–105; </a:t>
            </a:r>
            <a:r>
              <a:rPr lang="fr-FR" sz="900" dirty="0"/>
              <a:t>7. </a:t>
            </a:r>
            <a:r>
              <a:rPr lang="en-GB" sz="900" dirty="0"/>
              <a:t>PPMI website. PPMI-info.org. Accessed Jan 2025; </a:t>
            </a:r>
            <a:r>
              <a:rPr lang="fr-FR" sz="900" dirty="0"/>
              <a:t>8. Hipp et al. Front </a:t>
            </a:r>
            <a:r>
              <a:rPr lang="fr-FR" sz="900" dirty="0" err="1"/>
              <a:t>Aging</a:t>
            </a:r>
            <a:r>
              <a:rPr lang="fr-FR" sz="900" dirty="0"/>
              <a:t> </a:t>
            </a:r>
            <a:r>
              <a:rPr lang="fr-FR" sz="900" dirty="0" err="1"/>
              <a:t>Neurosci</a:t>
            </a:r>
            <a:r>
              <a:rPr lang="fr-FR" sz="900" dirty="0"/>
              <a:t> 2018;10:326; </a:t>
            </a:r>
            <a:br>
              <a:rPr lang="fr-FR" sz="900" dirty="0"/>
            </a:br>
            <a:r>
              <a:rPr lang="fr-FR" sz="900" dirty="0"/>
              <a:t>9. </a:t>
            </a:r>
            <a:r>
              <a:rPr lang="fr-FR" sz="900" dirty="0" err="1"/>
              <a:t>Northshore</a:t>
            </a:r>
            <a:r>
              <a:rPr lang="fr-FR" sz="900" dirty="0"/>
              <a:t> </a:t>
            </a:r>
            <a:r>
              <a:rPr lang="fr-FR" sz="900" dirty="0" err="1"/>
              <a:t>website</a:t>
            </a:r>
            <a:r>
              <a:rPr lang="fr-FR" sz="900" dirty="0"/>
              <a:t>. https://www.northshore.org/neurological-institute/research-innovation/the-dodona-project/. </a:t>
            </a:r>
            <a:r>
              <a:rPr lang="fr-FR" sz="900" dirty="0" err="1"/>
              <a:t>Accessed</a:t>
            </a:r>
            <a:r>
              <a:rPr lang="fr-FR" sz="900" dirty="0"/>
              <a:t> Jan 2025; 10. </a:t>
            </a:r>
            <a:r>
              <a:rPr lang="fr-FR" sz="900" dirty="0" err="1"/>
              <a:t>Bloem</a:t>
            </a:r>
            <a:r>
              <a:rPr lang="fr-FR" sz="900" dirty="0"/>
              <a:t> et al. BMC </a:t>
            </a:r>
            <a:r>
              <a:rPr lang="fr-FR" sz="900" dirty="0" err="1"/>
              <a:t>Neurol</a:t>
            </a:r>
            <a:r>
              <a:rPr lang="fr-FR" sz="900" dirty="0"/>
              <a:t> 2019;19(1):160</a:t>
            </a:r>
            <a:endParaRPr lang="en-GB" sz="900" dirty="0"/>
          </a:p>
        </p:txBody>
      </p:sp>
      <p:sp>
        <p:nvSpPr>
          <p:cNvPr id="4" name="Slide Number Placeholder 3">
            <a:extLst>
              <a:ext uri="{FF2B5EF4-FFF2-40B4-BE49-F238E27FC236}">
                <a16:creationId xmlns:a16="http://schemas.microsoft.com/office/drawing/2014/main" id="{4180F803-1019-45E0-999A-A3963DC1AC71}"/>
              </a:ext>
            </a:extLst>
          </p:cNvPr>
          <p:cNvSpPr>
            <a:spLocks noGrp="1"/>
          </p:cNvSpPr>
          <p:nvPr>
            <p:ph type="sldNum" sz="quarter" idx="4"/>
          </p:nvPr>
        </p:nvSpPr>
        <p:spPr/>
        <p:txBody>
          <a:bodyPr/>
          <a:lstStyle/>
          <a:p>
            <a:fld id="{6DBC486D-4FAB-B746-8B02-8D7C842291C6}" type="slidenum">
              <a:rPr lang="en-GB" smtClean="0"/>
              <a:t>22</a:t>
            </a:fld>
            <a:endParaRPr lang="en-GB"/>
          </a:p>
        </p:txBody>
      </p:sp>
      <p:graphicFrame>
        <p:nvGraphicFramePr>
          <p:cNvPr id="10" name="Content Placeholder 10">
            <a:extLst>
              <a:ext uri="{FF2B5EF4-FFF2-40B4-BE49-F238E27FC236}">
                <a16:creationId xmlns:a16="http://schemas.microsoft.com/office/drawing/2014/main" id="{E7EAAE34-6C4A-4F44-AE08-C89ABFEB93B0}"/>
              </a:ext>
            </a:extLst>
          </p:cNvPr>
          <p:cNvGraphicFramePr>
            <a:graphicFrameLocks/>
          </p:cNvGraphicFramePr>
          <p:nvPr>
            <p:extLst>
              <p:ext uri="{D42A27DB-BD31-4B8C-83A1-F6EECF244321}">
                <p14:modId xmlns:p14="http://schemas.microsoft.com/office/powerpoint/2010/main" val="4102846868"/>
              </p:ext>
            </p:extLst>
          </p:nvPr>
        </p:nvGraphicFramePr>
        <p:xfrm>
          <a:off x="539749" y="1297475"/>
          <a:ext cx="10633738" cy="4312920"/>
        </p:xfrm>
        <a:graphic>
          <a:graphicData uri="http://schemas.openxmlformats.org/drawingml/2006/table">
            <a:tbl>
              <a:tblPr firstRow="1" bandRow="1">
                <a:tableStyleId>{00A15C55-8517-42AA-B614-E9B94910E393}</a:tableStyleId>
              </a:tblPr>
              <a:tblGrid>
                <a:gridCol w="1237738">
                  <a:extLst>
                    <a:ext uri="{9D8B030D-6E8A-4147-A177-3AD203B41FA5}">
                      <a16:colId xmlns:a16="http://schemas.microsoft.com/office/drawing/2014/main" val="3340142111"/>
                    </a:ext>
                  </a:extLst>
                </a:gridCol>
                <a:gridCol w="4140000">
                  <a:extLst>
                    <a:ext uri="{9D8B030D-6E8A-4147-A177-3AD203B41FA5}">
                      <a16:colId xmlns:a16="http://schemas.microsoft.com/office/drawing/2014/main" val="1752699717"/>
                    </a:ext>
                  </a:extLst>
                </a:gridCol>
                <a:gridCol w="5256000">
                  <a:extLst>
                    <a:ext uri="{9D8B030D-6E8A-4147-A177-3AD203B41FA5}">
                      <a16:colId xmlns:a16="http://schemas.microsoft.com/office/drawing/2014/main" val="4167133117"/>
                    </a:ext>
                  </a:extLst>
                </a:gridCol>
              </a:tblGrid>
              <a:tr h="0">
                <a:tc>
                  <a:txBody>
                    <a:bodyPr/>
                    <a:lstStyle/>
                    <a:p>
                      <a:r>
                        <a:rPr lang="en-GB" sz="1400">
                          <a:solidFill>
                            <a:schemeClr val="bg1"/>
                          </a:solidFill>
                        </a:rPr>
                        <a:t>Study</a:t>
                      </a:r>
                      <a:endParaRPr lang="en-GB" sz="1400">
                        <a:solidFill>
                          <a:schemeClr val="bg1"/>
                        </a:solidFill>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lumMod val="75000"/>
                      </a:schemeClr>
                    </a:solidFill>
                  </a:tcPr>
                </a:tc>
                <a:tc>
                  <a:txBody>
                    <a:bodyPr/>
                    <a:lstStyle/>
                    <a:p>
                      <a:pPr algn="l"/>
                      <a:r>
                        <a:rPr lang="en-GB" sz="1400">
                          <a:solidFill>
                            <a:schemeClr val="bg1"/>
                          </a:solidFill>
                        </a:rPr>
                        <a:t>Cohort</a:t>
                      </a:r>
                      <a:endParaRPr lang="en-GB" sz="1400">
                        <a:solidFill>
                          <a:schemeClr val="bg1"/>
                        </a:solidFill>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lumMod val="75000"/>
                      </a:schemeClr>
                    </a:solidFill>
                  </a:tcPr>
                </a:tc>
                <a:tc>
                  <a:txBody>
                    <a:bodyPr/>
                    <a:lstStyle/>
                    <a:p>
                      <a:pPr algn="l"/>
                      <a:r>
                        <a:rPr lang="en-GB" sz="1400">
                          <a:solidFill>
                            <a:schemeClr val="bg1"/>
                          </a:solidFill>
                        </a:rPr>
                        <a:t>Aim</a:t>
                      </a:r>
                      <a:endParaRPr lang="en-GB" sz="1400">
                        <a:solidFill>
                          <a:schemeClr val="bg1"/>
                        </a:solidFill>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lumMod val="75000"/>
                      </a:schemeClr>
                    </a:solidFill>
                  </a:tcPr>
                </a:tc>
                <a:extLst>
                  <a:ext uri="{0D108BD9-81ED-4DB2-BD59-A6C34878D82A}">
                    <a16:rowId xmlns:a16="http://schemas.microsoft.com/office/drawing/2014/main" val="595855716"/>
                  </a:ext>
                </a:extLst>
              </a:tr>
              <a:tr h="1500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300" dirty="0"/>
                        <a:t>MCSA</a:t>
                      </a:r>
                      <a:endParaRPr lang="en-GB" sz="1300" baseline="30000" dirty="0">
                        <a:latin typeface="Arial" panose="020B0604020202020204" pitchFamily="34" charset="0"/>
                        <a:cs typeface="Arial" panose="020B060402020202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300" dirty="0"/>
                        <a:t>~3,000 participants classified into the following categories: cognitively normal, MCI, or dementia</a:t>
                      </a:r>
                      <a:r>
                        <a:rPr lang="en-GB" sz="1300" baseline="30000" dirty="0"/>
                        <a:t>1,2</a:t>
                      </a:r>
                      <a:endParaRPr lang="en-GB" sz="1300" baseline="30000" dirty="0">
                        <a:latin typeface="Arial" panose="020B0604020202020204" pitchFamily="34" charset="0"/>
                        <a:cs typeface="Arial" panose="020B060402020202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300" dirty="0"/>
                        <a:t>To investigate the prevalence, incidence, and risk factors for MCI and dementia</a:t>
                      </a:r>
                      <a:r>
                        <a:rPr lang="en-GB" sz="1300" baseline="30000" dirty="0"/>
                        <a:t>2</a:t>
                      </a:r>
                      <a:endParaRPr lang="en-GB" sz="1300" baseline="30000" dirty="0">
                        <a:latin typeface="Arial" panose="020B0604020202020204" pitchFamily="34" charset="0"/>
                        <a:cs typeface="Arial" panose="020B060402020202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32888310"/>
                  </a:ext>
                </a:extLst>
              </a:tr>
              <a:tr h="150074">
                <a:tc>
                  <a:txBody>
                    <a:bodyPr/>
                    <a:lstStyle/>
                    <a:p>
                      <a:r>
                        <a:rPr lang="en-GB" sz="1300" dirty="0" err="1"/>
                        <a:t>PRoBaND</a:t>
                      </a:r>
                      <a:endParaRPr lang="en-GB" sz="1300" baseline="300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300" dirty="0"/>
                        <a:t>~2,250 participants with recent-onset or young-onset PD</a:t>
                      </a:r>
                      <a:r>
                        <a:rPr lang="en-GB" sz="1300" baseline="30000" dirty="0"/>
                        <a:t>3</a:t>
                      </a:r>
                      <a:endParaRPr lang="en-GB" sz="1300" baseline="300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300" dirty="0"/>
                        <a:t>To investigate the variation in the clinical phenotype of PD in relation to genotypic variation, and provide a resource for linked biomarker research</a:t>
                      </a:r>
                      <a:r>
                        <a:rPr lang="en-GB" sz="1300" baseline="30000" dirty="0"/>
                        <a:t>3</a:t>
                      </a:r>
                      <a:endParaRPr lang="en-GB" sz="1300" baseline="300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97325995"/>
                  </a:ext>
                </a:extLst>
              </a:tr>
              <a:tr h="150074">
                <a:tc>
                  <a:txBody>
                    <a:bodyPr/>
                    <a:lstStyle/>
                    <a:p>
                      <a:r>
                        <a:rPr lang="en-GB" sz="1300"/>
                        <a:t>OPDC</a:t>
                      </a:r>
                      <a:endParaRPr lang="en-GB" sz="130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300" dirty="0"/>
                        <a:t>&gt;1,500 participants (including &gt;1,000 individuals with PD, 300 healthy controls, and 180 ‘at-risk’ individuals) followed up at 18-month intervals for 5–10 years</a:t>
                      </a:r>
                      <a:r>
                        <a:rPr lang="en-GB" sz="1300" baseline="30000" dirty="0"/>
                        <a:t>4-6</a:t>
                      </a:r>
                      <a:endParaRPr lang="en-GB" sz="1300" baseline="300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300" dirty="0"/>
                        <a:t>To identify differences in the way PD progresses in different people, and to understand more about how PD and PD biomarkers develop over time</a:t>
                      </a:r>
                      <a:r>
                        <a:rPr lang="en-GB" sz="1300" baseline="30000" dirty="0"/>
                        <a:t>4</a:t>
                      </a:r>
                      <a:endParaRPr lang="en-GB" sz="1300" baseline="300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7989692"/>
                  </a:ext>
                </a:extLst>
              </a:tr>
              <a:tr h="150074">
                <a:tc>
                  <a:txBody>
                    <a:bodyPr/>
                    <a:lstStyle/>
                    <a:p>
                      <a:r>
                        <a:rPr lang="en-GB" sz="1300"/>
                        <a:t>PPMI</a:t>
                      </a:r>
                      <a:endParaRPr lang="en-GB" sz="1300" baseline="3000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300" kern="1200" dirty="0">
                          <a:solidFill>
                            <a:schemeClr val="dk1"/>
                          </a:solidFill>
                        </a:rPr>
                        <a:t>~4,000 participants with and without PD</a:t>
                      </a:r>
                      <a:r>
                        <a:rPr lang="en-GB" sz="1300" kern="1200" baseline="30000" dirty="0">
                          <a:solidFill>
                            <a:schemeClr val="dk1"/>
                          </a:solidFill>
                        </a:rPr>
                        <a:t>7</a:t>
                      </a:r>
                      <a:endParaRPr lang="en-GB" sz="1300" baseline="300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300" dirty="0"/>
                        <a:t>Intensive longitudinal in-clinic assessment of PD, prodromal PD and control people</a:t>
                      </a:r>
                      <a:r>
                        <a:rPr lang="en-GB" sz="1300" baseline="30000" dirty="0"/>
                        <a:t>7</a:t>
                      </a:r>
                      <a:endParaRPr lang="en-GB" sz="1300" baseline="300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221884995"/>
                  </a:ext>
                </a:extLst>
              </a:tr>
              <a:tr h="150074">
                <a:tc>
                  <a:txBody>
                    <a:bodyPr/>
                    <a:lstStyle/>
                    <a:p>
                      <a:r>
                        <a:rPr lang="en-GB" sz="1300"/>
                        <a:t>HELP-PD</a:t>
                      </a:r>
                      <a:endParaRPr lang="en-GB" sz="130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300" kern="1200" dirty="0">
                          <a:solidFill>
                            <a:schemeClr val="dk1"/>
                          </a:solidFill>
                        </a:rPr>
                        <a:t>Planned to follow 1,600 participants with PD at 18-month intervals for eight years</a:t>
                      </a:r>
                      <a:r>
                        <a:rPr lang="en-GB" sz="1300" kern="1200" baseline="30000" dirty="0">
                          <a:solidFill>
                            <a:schemeClr val="dk1"/>
                          </a:solidFill>
                        </a:rPr>
                        <a:t>5</a:t>
                      </a:r>
                      <a:endParaRPr lang="en-GB" sz="1300" kern="1200" baseline="30000" dirty="0">
                        <a:solidFill>
                          <a:schemeClr val="dk1"/>
                        </a:solidFill>
                        <a:latin typeface="Arial" panose="020B0604020202020204" pitchFamily="34" charset="0"/>
                        <a:ea typeface="+mn-ea"/>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300" dirty="0"/>
                        <a:t>To identify predictive biomarkers and progression biomarkers of PD</a:t>
                      </a:r>
                      <a:r>
                        <a:rPr lang="en-GB" sz="1300" baseline="30000" dirty="0"/>
                        <a:t>8</a:t>
                      </a:r>
                      <a:endParaRPr lang="en-GB" sz="1300" baseline="300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3637726"/>
                  </a:ext>
                </a:extLst>
              </a:tr>
              <a:tr h="150074">
                <a:tc>
                  <a:txBody>
                    <a:bodyPr/>
                    <a:lstStyle/>
                    <a:p>
                      <a:r>
                        <a:rPr lang="en-GB" sz="1300" err="1"/>
                        <a:t>DodoNA</a:t>
                      </a:r>
                      <a:r>
                        <a:rPr lang="en-GB" sz="1300"/>
                        <a:t> Project</a:t>
                      </a:r>
                      <a:endParaRPr lang="en-GB" sz="1300">
                        <a:latin typeface="Arial" panose="020B0604020202020204" pitchFamily="34" charset="0"/>
                        <a:cs typeface="Arial" panose="020B0604020202020204" pitchFamily="34" charset="0"/>
                      </a:endParaRPr>
                    </a:p>
                  </a:txBody>
                  <a:tcP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300" dirty="0"/>
                        <a:t>Up to 1,000 participants with PD followed up at 1-year intervals for 20 years</a:t>
                      </a:r>
                      <a:r>
                        <a:rPr lang="en-GB" sz="1300" baseline="30000" dirty="0"/>
                        <a:t>5,9</a:t>
                      </a:r>
                      <a:endParaRPr lang="en-GB" sz="1300" baseline="300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300" dirty="0"/>
                        <a:t>To develop medical informatics tools that measure the progression and outcome of patients with PD to aid molecular prognostics and therapeutics</a:t>
                      </a:r>
                      <a:r>
                        <a:rPr lang="en-GB" sz="1300" baseline="30000" dirty="0"/>
                        <a:t>9</a:t>
                      </a:r>
                      <a:endParaRPr lang="en-GB" sz="1300" baseline="300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69081874"/>
                  </a:ext>
                </a:extLst>
              </a:tr>
              <a:tr h="150074">
                <a:tc>
                  <a:txBody>
                    <a:bodyPr/>
                    <a:lstStyle/>
                    <a:p>
                      <a:r>
                        <a:rPr lang="en-GB" sz="1300" dirty="0">
                          <a:latin typeface="Arial" panose="020B0604020202020204" pitchFamily="34" charset="0"/>
                          <a:cs typeface="Arial" panose="020B0604020202020204" pitchFamily="34" charset="0"/>
                        </a:rPr>
                        <a:t>PPP</a:t>
                      </a:r>
                    </a:p>
                  </a:txBody>
                  <a:tcPr>
                    <a:lnL w="12700" cmpd="sng">
                      <a:noFill/>
                    </a:lnL>
                    <a:lnR w="12700" cmpd="sng">
                      <a:noFill/>
                    </a:lnR>
                    <a:lnT w="12700" cmpd="sng">
                      <a:noFill/>
                    </a:lnT>
                    <a:lnB w="1905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300" baseline="0" dirty="0">
                          <a:latin typeface="Arial" panose="020B0604020202020204" pitchFamily="34" charset="0"/>
                          <a:cs typeface="Arial" panose="020B0604020202020204" pitchFamily="34" charset="0"/>
                        </a:rPr>
                        <a:t>650 participants with PD, followed for 2 years with assessments each year</a:t>
                      </a:r>
                      <a:r>
                        <a:rPr lang="en-GB" sz="1300" baseline="30000" dirty="0">
                          <a:latin typeface="Arial" panose="020B0604020202020204" pitchFamily="34" charset="0"/>
                          <a:cs typeface="Arial" panose="020B0604020202020204" pitchFamily="34" charset="0"/>
                        </a:rPr>
                        <a:t>10</a:t>
                      </a:r>
                      <a:endParaRPr lang="en-GB" sz="1300" baseline="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905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300" baseline="0" dirty="0">
                          <a:latin typeface="Arial" panose="020B0604020202020204" pitchFamily="34" charset="0"/>
                          <a:cs typeface="Arial" panose="020B0604020202020204" pitchFamily="34" charset="0"/>
                        </a:rPr>
                        <a:t>To analyse the relationship of biomarkers with disease progression and identify new biomarkers and targets of treatment</a:t>
                      </a:r>
                      <a:r>
                        <a:rPr lang="en-GB" sz="1300" baseline="30000" dirty="0">
                          <a:latin typeface="Arial" panose="020B0604020202020204" pitchFamily="34" charset="0"/>
                          <a:cs typeface="Arial" panose="020B0604020202020204" pitchFamily="34" charset="0"/>
                        </a:rPr>
                        <a:t>10</a:t>
                      </a:r>
                      <a:endParaRPr lang="en-GB" sz="1300" baseline="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905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5994605"/>
                  </a:ext>
                </a:extLst>
              </a:tr>
            </a:tbl>
          </a:graphicData>
        </a:graphic>
      </p:graphicFrame>
    </p:spTree>
    <p:custDataLst>
      <p:tags r:id="rId1"/>
    </p:custDataLst>
    <p:extLst>
      <p:ext uri="{BB962C8B-B14F-4D97-AF65-F5344CB8AC3E}">
        <p14:creationId xmlns:p14="http://schemas.microsoft.com/office/powerpoint/2010/main" val="9982425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Freeform: Shape 56">
            <a:extLst>
              <a:ext uri="{FF2B5EF4-FFF2-40B4-BE49-F238E27FC236}">
                <a16:creationId xmlns:a16="http://schemas.microsoft.com/office/drawing/2014/main" id="{4B1C11F9-F8BC-4905-0342-86427A868E1C}"/>
              </a:ext>
            </a:extLst>
          </p:cNvPr>
          <p:cNvSpPr/>
          <p:nvPr/>
        </p:nvSpPr>
        <p:spPr>
          <a:xfrm>
            <a:off x="7656927" y="2227217"/>
            <a:ext cx="1486086" cy="1619638"/>
          </a:xfrm>
          <a:custGeom>
            <a:avLst/>
            <a:gdLst>
              <a:gd name="connsiteX0" fmla="*/ 743043 w 1486086"/>
              <a:gd name="connsiteY0" fmla="*/ 0 h 1619638"/>
              <a:gd name="connsiteX1" fmla="*/ 1486086 w 1486086"/>
              <a:gd name="connsiteY1" fmla="*/ 1619638 h 1619638"/>
              <a:gd name="connsiteX2" fmla="*/ 0 w 1486086"/>
              <a:gd name="connsiteY2" fmla="*/ 1619638 h 1619638"/>
              <a:gd name="connsiteX3" fmla="*/ 743043 w 1486086"/>
              <a:gd name="connsiteY3" fmla="*/ 0 h 1619638"/>
            </a:gdLst>
            <a:ahLst/>
            <a:cxnLst>
              <a:cxn ang="0">
                <a:pos x="connsiteX0" y="connsiteY0"/>
              </a:cxn>
              <a:cxn ang="0">
                <a:pos x="connsiteX1" y="connsiteY1"/>
              </a:cxn>
              <a:cxn ang="0">
                <a:pos x="connsiteX2" y="connsiteY2"/>
              </a:cxn>
              <a:cxn ang="0">
                <a:pos x="connsiteX3" y="connsiteY3"/>
              </a:cxn>
            </a:cxnLst>
            <a:rect l="l" t="t" r="r" b="b"/>
            <a:pathLst>
              <a:path w="1486086" h="1619638">
                <a:moveTo>
                  <a:pt x="743043" y="0"/>
                </a:moveTo>
                <a:lnTo>
                  <a:pt x="1486086" y="1619638"/>
                </a:lnTo>
                <a:lnTo>
                  <a:pt x="0" y="1619638"/>
                </a:lnTo>
                <a:lnTo>
                  <a:pt x="743043"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4" name="Freeform: Shape 53">
            <a:extLst>
              <a:ext uri="{FF2B5EF4-FFF2-40B4-BE49-F238E27FC236}">
                <a16:creationId xmlns:a16="http://schemas.microsoft.com/office/drawing/2014/main" id="{CFE32AC7-13A1-0EAC-764A-F6A1BF7F8DA0}"/>
              </a:ext>
            </a:extLst>
          </p:cNvPr>
          <p:cNvSpPr/>
          <p:nvPr/>
        </p:nvSpPr>
        <p:spPr>
          <a:xfrm>
            <a:off x="7158098" y="3882855"/>
            <a:ext cx="2483743" cy="1051313"/>
          </a:xfrm>
          <a:custGeom>
            <a:avLst/>
            <a:gdLst>
              <a:gd name="connsiteX0" fmla="*/ 482313 w 2483743"/>
              <a:gd name="connsiteY0" fmla="*/ 0 h 1051313"/>
              <a:gd name="connsiteX1" fmla="*/ 2001431 w 2483743"/>
              <a:gd name="connsiteY1" fmla="*/ 0 h 1051313"/>
              <a:gd name="connsiteX2" fmla="*/ 2483743 w 2483743"/>
              <a:gd name="connsiteY2" fmla="*/ 1051313 h 1051313"/>
              <a:gd name="connsiteX3" fmla="*/ 0 w 2483743"/>
              <a:gd name="connsiteY3" fmla="*/ 1051313 h 1051313"/>
              <a:gd name="connsiteX4" fmla="*/ 482313 w 2483743"/>
              <a:gd name="connsiteY4" fmla="*/ 0 h 1051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3743" h="1051313">
                <a:moveTo>
                  <a:pt x="482313" y="0"/>
                </a:moveTo>
                <a:lnTo>
                  <a:pt x="2001431" y="0"/>
                </a:lnTo>
                <a:lnTo>
                  <a:pt x="2483743" y="1051313"/>
                </a:lnTo>
                <a:lnTo>
                  <a:pt x="0" y="1051313"/>
                </a:lnTo>
                <a:lnTo>
                  <a:pt x="482313"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1" name="Freeform: Shape 50">
            <a:extLst>
              <a:ext uri="{FF2B5EF4-FFF2-40B4-BE49-F238E27FC236}">
                <a16:creationId xmlns:a16="http://schemas.microsoft.com/office/drawing/2014/main" id="{43C6683E-FE68-5E5A-8C90-6F33562AB432}"/>
              </a:ext>
            </a:extLst>
          </p:cNvPr>
          <p:cNvSpPr/>
          <p:nvPr/>
        </p:nvSpPr>
        <p:spPr>
          <a:xfrm>
            <a:off x="6622331" y="4970168"/>
            <a:ext cx="3555278" cy="1131832"/>
          </a:xfrm>
          <a:custGeom>
            <a:avLst/>
            <a:gdLst>
              <a:gd name="connsiteX0" fmla="*/ 519252 w 3555278"/>
              <a:gd name="connsiteY0" fmla="*/ 0 h 1131832"/>
              <a:gd name="connsiteX1" fmla="*/ 3036026 w 3555278"/>
              <a:gd name="connsiteY1" fmla="*/ 0 h 1131832"/>
              <a:gd name="connsiteX2" fmla="*/ 3555278 w 3555278"/>
              <a:gd name="connsiteY2" fmla="*/ 1131832 h 1131832"/>
              <a:gd name="connsiteX3" fmla="*/ 0 w 3555278"/>
              <a:gd name="connsiteY3" fmla="*/ 1131832 h 1131832"/>
              <a:gd name="connsiteX4" fmla="*/ 519252 w 3555278"/>
              <a:gd name="connsiteY4" fmla="*/ 0 h 1131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55278" h="1131832">
                <a:moveTo>
                  <a:pt x="519252" y="0"/>
                </a:moveTo>
                <a:lnTo>
                  <a:pt x="3036026" y="0"/>
                </a:lnTo>
                <a:lnTo>
                  <a:pt x="3555278" y="1131832"/>
                </a:lnTo>
                <a:lnTo>
                  <a:pt x="0" y="1131832"/>
                </a:lnTo>
                <a:lnTo>
                  <a:pt x="519252"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1" name="Text Placeholder 10"/>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8" name="Title 7"/>
          <p:cNvSpPr>
            <a:spLocks noGrp="1"/>
          </p:cNvSpPr>
          <p:nvPr>
            <p:ph type="title"/>
          </p:nvPr>
        </p:nvSpPr>
        <p:spPr/>
        <p:txBody>
          <a:bodyPr/>
          <a:lstStyle/>
          <a:p>
            <a:r>
              <a:rPr lang="en-GB" sz="2000"/>
              <a:t>The Parkinson’s disease progression marker initiative (PPMI)</a:t>
            </a:r>
          </a:p>
        </p:txBody>
      </p:sp>
      <p:sp>
        <p:nvSpPr>
          <p:cNvPr id="9" name="Content Placeholder 8"/>
          <p:cNvSpPr>
            <a:spLocks noGrp="1"/>
          </p:cNvSpPr>
          <p:nvPr>
            <p:ph idx="20"/>
          </p:nvPr>
        </p:nvSpPr>
        <p:spPr>
          <a:xfrm>
            <a:off x="539750" y="1416785"/>
            <a:ext cx="5419725" cy="4415215"/>
          </a:xfrm>
        </p:spPr>
        <p:txBody>
          <a:bodyPr>
            <a:normAutofit/>
          </a:bodyPr>
          <a:lstStyle/>
          <a:p>
            <a:r>
              <a:rPr lang="en-GB" dirty="0">
                <a:solidFill>
                  <a:schemeClr val="tx1"/>
                </a:solidFill>
              </a:rPr>
              <a:t>The PPMI is a landmark international observational study, sponsored by the Michael J. Fox foundation, that is following thousands of individuals over many years</a:t>
            </a:r>
            <a:r>
              <a:rPr lang="en-GB" baseline="30000" dirty="0">
                <a:solidFill>
                  <a:schemeClr val="tx1"/>
                </a:solidFill>
              </a:rPr>
              <a:t>1,2</a:t>
            </a:r>
            <a:endParaRPr lang="en-GB" dirty="0">
              <a:solidFill>
                <a:schemeClr val="tx1"/>
              </a:solidFill>
            </a:endParaRPr>
          </a:p>
          <a:p>
            <a:pPr marL="0" indent="0">
              <a:buNone/>
            </a:pPr>
            <a:r>
              <a:rPr lang="en-GB" b="1" dirty="0">
                <a:solidFill>
                  <a:schemeClr val="tx1"/>
                </a:solidFill>
              </a:rPr>
              <a:t>Study aim</a:t>
            </a:r>
          </a:p>
          <a:p>
            <a:r>
              <a:rPr lang="en-GB" dirty="0">
                <a:solidFill>
                  <a:schemeClr val="tx1"/>
                </a:solidFill>
              </a:rPr>
              <a:t>To </a:t>
            </a:r>
            <a:r>
              <a:rPr lang="en-US" dirty="0">
                <a:solidFill>
                  <a:schemeClr val="tx1"/>
                </a:solidFill>
              </a:rPr>
              <a:t>establish biomarker-defined cohorts, identify PD progression biomarkers to improve understanding of disease aetiology and course, and to provide the necessary tools to enhance the likelihood of success of PD disease-modifying therapeutic trials</a:t>
            </a:r>
            <a:r>
              <a:rPr lang="en-US" baseline="30000" dirty="0">
                <a:solidFill>
                  <a:schemeClr val="tx1"/>
                </a:solidFill>
              </a:rPr>
              <a:t>3</a:t>
            </a:r>
            <a:endParaRPr lang="en-US" dirty="0">
              <a:solidFill>
                <a:schemeClr val="tx1"/>
              </a:solidFill>
            </a:endParaRPr>
          </a:p>
          <a:p>
            <a:pPr marL="0" indent="0">
              <a:buNone/>
            </a:pPr>
            <a:r>
              <a:rPr lang="en-GB" b="1" dirty="0">
                <a:solidFill>
                  <a:schemeClr val="tx1"/>
                </a:solidFill>
              </a:rPr>
              <a:t>Study design</a:t>
            </a:r>
          </a:p>
          <a:p>
            <a:r>
              <a:rPr lang="en-GB" dirty="0">
                <a:solidFill>
                  <a:schemeClr val="tx1"/>
                </a:solidFill>
              </a:rPr>
              <a:t>Longitudinal, multicentre study to assess progression of clinical features, imaging and biologic markers in patients with PD compared with healthy controls</a:t>
            </a:r>
            <a:r>
              <a:rPr lang="en-GB" baseline="30000" dirty="0">
                <a:solidFill>
                  <a:schemeClr val="tx1"/>
                </a:solidFill>
              </a:rPr>
              <a:t>1</a:t>
            </a:r>
            <a:endParaRPr lang="en-GB" dirty="0">
              <a:solidFill>
                <a:schemeClr val="tx1"/>
              </a:solidFill>
            </a:endParaRPr>
          </a:p>
        </p:txBody>
      </p:sp>
      <p:sp>
        <p:nvSpPr>
          <p:cNvPr id="2" name="Text Placeholder 1">
            <a:extLst>
              <a:ext uri="{FF2B5EF4-FFF2-40B4-BE49-F238E27FC236}">
                <a16:creationId xmlns:a16="http://schemas.microsoft.com/office/drawing/2014/main" id="{AD33D2E8-3478-4CA6-B7D9-3A91938A3966}"/>
              </a:ext>
            </a:extLst>
          </p:cNvPr>
          <p:cNvSpPr>
            <a:spLocks noGrp="1"/>
          </p:cNvSpPr>
          <p:nvPr>
            <p:ph type="body" sz="quarter" idx="18"/>
          </p:nvPr>
        </p:nvSpPr>
        <p:spPr/>
        <p:txBody>
          <a:bodyPr/>
          <a:lstStyle/>
          <a:p>
            <a:r>
              <a:rPr lang="en-GB" dirty="0"/>
              <a:t>PD=Parkinson’s disease; PPMI=</a:t>
            </a:r>
            <a:r>
              <a:rPr lang="en-US" dirty="0"/>
              <a:t>Parkinson’s disease progression marker initiative</a:t>
            </a:r>
            <a:br>
              <a:rPr lang="en-US" dirty="0"/>
            </a:br>
            <a:endParaRPr lang="en-GB" dirty="0"/>
          </a:p>
          <a:p>
            <a:r>
              <a:rPr lang="en-GB" dirty="0"/>
              <a:t>1. PPMI. PPMI study protocol. 2015; 2. PPMI website. PPMI-info.org. Accessed Jan 2025; </a:t>
            </a:r>
            <a:br>
              <a:rPr lang="en-GB" dirty="0"/>
            </a:br>
            <a:r>
              <a:rPr lang="en-GB" dirty="0"/>
              <a:t>3. Marek et al. Ann Clin </a:t>
            </a:r>
            <a:r>
              <a:rPr lang="en-GB" dirty="0" err="1"/>
              <a:t>Transl</a:t>
            </a:r>
            <a:r>
              <a:rPr lang="en-GB" dirty="0"/>
              <a:t> </a:t>
            </a:r>
            <a:r>
              <a:rPr lang="en-GB" dirty="0" err="1"/>
              <a:t>Neurol</a:t>
            </a:r>
            <a:r>
              <a:rPr lang="en-GB" dirty="0"/>
              <a:t> 2018;5(12):1460–1477</a:t>
            </a:r>
          </a:p>
        </p:txBody>
      </p:sp>
      <p:sp>
        <p:nvSpPr>
          <p:cNvPr id="3" name="Slide Number Placeholder 2"/>
          <p:cNvSpPr>
            <a:spLocks noGrp="1"/>
          </p:cNvSpPr>
          <p:nvPr>
            <p:ph type="sldNum" sz="quarter" idx="4"/>
          </p:nvPr>
        </p:nvSpPr>
        <p:spPr/>
        <p:txBody>
          <a:bodyPr/>
          <a:lstStyle/>
          <a:p>
            <a:fld id="{6DBC486D-4FAB-B746-8B02-8D7C842291C6}" type="slidenum">
              <a:rPr lang="en-GB" smtClean="0"/>
              <a:pPr/>
              <a:t>23</a:t>
            </a:fld>
            <a:endParaRPr lang="en-GB"/>
          </a:p>
        </p:txBody>
      </p:sp>
      <p:graphicFrame>
        <p:nvGraphicFramePr>
          <p:cNvPr id="14" name="Table 13">
            <a:extLst>
              <a:ext uri="{FF2B5EF4-FFF2-40B4-BE49-F238E27FC236}">
                <a16:creationId xmlns:a16="http://schemas.microsoft.com/office/drawing/2014/main" id="{8C68C2C8-0EC5-9760-FC02-9A1D5B992888}"/>
              </a:ext>
            </a:extLst>
          </p:cNvPr>
          <p:cNvGraphicFramePr>
            <a:graphicFrameLocks noGrp="1"/>
          </p:cNvGraphicFramePr>
          <p:nvPr>
            <p:extLst>
              <p:ext uri="{D42A27DB-BD31-4B8C-83A1-F6EECF244321}">
                <p14:modId xmlns:p14="http://schemas.microsoft.com/office/powerpoint/2010/main" val="2577049333"/>
              </p:ext>
            </p:extLst>
          </p:nvPr>
        </p:nvGraphicFramePr>
        <p:xfrm>
          <a:off x="9521381" y="1888612"/>
          <a:ext cx="2304000" cy="1978624"/>
        </p:xfrm>
        <a:graphic>
          <a:graphicData uri="http://schemas.openxmlformats.org/drawingml/2006/table">
            <a:tbl>
              <a:tblPr/>
              <a:tblGrid>
                <a:gridCol w="2304000">
                  <a:extLst>
                    <a:ext uri="{9D8B030D-6E8A-4147-A177-3AD203B41FA5}">
                      <a16:colId xmlns:a16="http://schemas.microsoft.com/office/drawing/2014/main" val="1827510455"/>
                    </a:ext>
                  </a:extLst>
                </a:gridCol>
              </a:tblGrid>
              <a:tr h="0">
                <a:tc>
                  <a:txBody>
                    <a:bodyPr/>
                    <a:lstStyle/>
                    <a:p>
                      <a:pPr fontAlgn="t"/>
                      <a:r>
                        <a:rPr lang="en-GB" sz="1100" b="1" noProof="0">
                          <a:solidFill>
                            <a:schemeClr val="bg1"/>
                          </a:solidFill>
                          <a:effectLst/>
                          <a:latin typeface="+mn-lt"/>
                        </a:rPr>
                        <a:t>1,000 enrolled 2010–2018</a:t>
                      </a:r>
                    </a:p>
                  </a:txBody>
                  <a:tcPr marL="79687" marR="79687" marT="39844" marB="39844">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extLst>
                  <a:ext uri="{0D108BD9-81ED-4DB2-BD59-A6C34878D82A}">
                    <a16:rowId xmlns:a16="http://schemas.microsoft.com/office/drawing/2014/main" val="1889308857"/>
                  </a:ext>
                </a:extLst>
              </a:tr>
              <a:tr h="0">
                <a:tc>
                  <a:txBody>
                    <a:bodyPr/>
                    <a:lstStyle/>
                    <a:p>
                      <a:pPr fontAlgn="t"/>
                      <a:r>
                        <a:rPr lang="en-GB" sz="1100" noProof="0">
                          <a:effectLst/>
                          <a:latin typeface="+mn-lt"/>
                        </a:rPr>
                        <a:t>500 people with PD</a:t>
                      </a:r>
                    </a:p>
                  </a:txBody>
                  <a:tcPr marL="79687" marR="79687" marT="39844" marB="39844">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3630854"/>
                  </a:ext>
                </a:extLst>
              </a:tr>
              <a:tr h="0">
                <a:tc>
                  <a:txBody>
                    <a:bodyPr/>
                    <a:lstStyle/>
                    <a:p>
                      <a:pPr fontAlgn="t"/>
                      <a:r>
                        <a:rPr lang="en-GB" sz="1100" noProof="0">
                          <a:effectLst/>
                          <a:latin typeface="+mn-lt"/>
                        </a:rPr>
                        <a:t>100 healthy controls</a:t>
                      </a:r>
                    </a:p>
                  </a:txBody>
                  <a:tcPr marL="79687" marR="79687" marT="39844" marB="39844">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2373874"/>
                  </a:ext>
                </a:extLst>
              </a:tr>
              <a:tr h="0">
                <a:tc>
                  <a:txBody>
                    <a:bodyPr/>
                    <a:lstStyle/>
                    <a:p>
                      <a:pPr fontAlgn="t"/>
                      <a:r>
                        <a:rPr lang="en-GB" sz="1100" noProof="0">
                          <a:effectLst/>
                          <a:latin typeface="+mn-lt"/>
                        </a:rPr>
                        <a:t>400 people with prodromal PD</a:t>
                      </a:r>
                    </a:p>
                  </a:txBody>
                  <a:tcPr marL="79687" marR="79687" marT="39844" marB="39844">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0670265"/>
                  </a:ext>
                </a:extLst>
              </a:tr>
              <a:tr h="0">
                <a:tc>
                  <a:txBody>
                    <a:bodyPr/>
                    <a:lstStyle/>
                    <a:p>
                      <a:pPr fontAlgn="t"/>
                      <a:r>
                        <a:rPr lang="en-GB" sz="1100" b="1" noProof="0" dirty="0">
                          <a:solidFill>
                            <a:schemeClr val="bg1"/>
                          </a:solidFill>
                          <a:effectLst/>
                          <a:latin typeface="+mn-lt"/>
                        </a:rPr>
                        <a:t>3,000 enrolment goal 2020–2023</a:t>
                      </a:r>
                    </a:p>
                  </a:txBody>
                  <a:tcPr marL="79687" marR="79687" marT="39844" marB="39844">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extLst>
                  <a:ext uri="{0D108BD9-81ED-4DB2-BD59-A6C34878D82A}">
                    <a16:rowId xmlns:a16="http://schemas.microsoft.com/office/drawing/2014/main" val="2155997783"/>
                  </a:ext>
                </a:extLst>
              </a:tr>
              <a:tr h="0">
                <a:tc>
                  <a:txBody>
                    <a:bodyPr/>
                    <a:lstStyle/>
                    <a:p>
                      <a:pPr fontAlgn="t"/>
                      <a:r>
                        <a:rPr lang="en-GB" sz="1100" noProof="0" dirty="0">
                          <a:effectLst/>
                          <a:latin typeface="+mn-lt"/>
                        </a:rPr>
                        <a:t>900 people with PD</a:t>
                      </a:r>
                    </a:p>
                  </a:txBody>
                  <a:tcPr marL="79687" marR="79687" marT="39844" marB="39844">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5805318"/>
                  </a:ext>
                </a:extLst>
              </a:tr>
              <a:tr h="0">
                <a:tc>
                  <a:txBody>
                    <a:bodyPr/>
                    <a:lstStyle/>
                    <a:p>
                      <a:pPr fontAlgn="t"/>
                      <a:r>
                        <a:rPr lang="en-GB" sz="1100" noProof="0" dirty="0">
                          <a:effectLst/>
                          <a:latin typeface="+mn-lt"/>
                        </a:rPr>
                        <a:t>100 healthy controls </a:t>
                      </a:r>
                    </a:p>
                  </a:txBody>
                  <a:tcPr marL="79687" marR="79687" marT="39844" marB="39844">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97229391"/>
                  </a:ext>
                </a:extLst>
              </a:tr>
              <a:tr h="0">
                <a:tc>
                  <a:txBody>
                    <a:bodyPr/>
                    <a:lstStyle/>
                    <a:p>
                      <a:pPr fontAlgn="t"/>
                      <a:r>
                        <a:rPr lang="en-GB" sz="1100" noProof="0" dirty="0">
                          <a:effectLst/>
                          <a:latin typeface="+mn-lt"/>
                        </a:rPr>
                        <a:t>2,000 people with prodromal PD</a:t>
                      </a:r>
                    </a:p>
                  </a:txBody>
                  <a:tcPr marL="79687" marR="79687" marT="39844" marB="39844">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3580998"/>
                  </a:ext>
                </a:extLst>
              </a:tr>
            </a:tbl>
          </a:graphicData>
        </a:graphic>
      </p:graphicFrame>
      <p:sp>
        <p:nvSpPr>
          <p:cNvPr id="15" name="TextBox 14">
            <a:extLst>
              <a:ext uri="{FF2B5EF4-FFF2-40B4-BE49-F238E27FC236}">
                <a16:creationId xmlns:a16="http://schemas.microsoft.com/office/drawing/2014/main" id="{B6EA5722-7AA6-4D12-A41B-82FA31CBD2EE}"/>
              </a:ext>
            </a:extLst>
          </p:cNvPr>
          <p:cNvSpPr txBox="1"/>
          <p:nvPr/>
        </p:nvSpPr>
        <p:spPr>
          <a:xfrm>
            <a:off x="6499225" y="1418912"/>
            <a:ext cx="5326156" cy="307777"/>
          </a:xfrm>
          <a:prstGeom prst="rect">
            <a:avLst/>
          </a:prstGeom>
          <a:noFill/>
        </p:spPr>
        <p:txBody>
          <a:bodyPr wrap="square" rtlCol="0">
            <a:spAutoFit/>
          </a:bodyPr>
          <a:lstStyle/>
          <a:p>
            <a:pPr algn="ctr"/>
            <a:r>
              <a:rPr lang="en-GB" sz="1400" b="1" dirty="0">
                <a:solidFill>
                  <a:schemeClr val="accent2">
                    <a:lumMod val="50000"/>
                  </a:schemeClr>
                </a:solidFill>
              </a:rPr>
              <a:t>PPMI study design</a:t>
            </a:r>
            <a:r>
              <a:rPr lang="en-GB" sz="1400" b="1" baseline="30000" dirty="0">
                <a:solidFill>
                  <a:schemeClr val="accent2">
                    <a:lumMod val="50000"/>
                  </a:schemeClr>
                </a:solidFill>
              </a:rPr>
              <a:t>2</a:t>
            </a:r>
            <a:endParaRPr lang="en-GB" sz="1400" b="1" dirty="0">
              <a:solidFill>
                <a:schemeClr val="accent2">
                  <a:lumMod val="50000"/>
                </a:schemeClr>
              </a:solidFill>
            </a:endParaRPr>
          </a:p>
        </p:txBody>
      </p:sp>
      <p:sp>
        <p:nvSpPr>
          <p:cNvPr id="33" name="TextBox 32">
            <a:extLst>
              <a:ext uri="{FF2B5EF4-FFF2-40B4-BE49-F238E27FC236}">
                <a16:creationId xmlns:a16="http://schemas.microsoft.com/office/drawing/2014/main" id="{25CEAFF9-FBAE-F903-7A35-83B5B665ED96}"/>
              </a:ext>
            </a:extLst>
          </p:cNvPr>
          <p:cNvSpPr txBox="1"/>
          <p:nvPr/>
        </p:nvSpPr>
        <p:spPr>
          <a:xfrm>
            <a:off x="7838913" y="3242523"/>
            <a:ext cx="1127232" cy="446276"/>
          </a:xfrm>
          <a:prstGeom prst="rect">
            <a:avLst/>
          </a:prstGeom>
          <a:noFill/>
        </p:spPr>
        <p:txBody>
          <a:bodyPr wrap="none" rtlCol="0">
            <a:spAutoFit/>
          </a:bodyPr>
          <a:lstStyle/>
          <a:p>
            <a:pPr algn="ctr"/>
            <a:r>
              <a:rPr lang="en-GB" sz="1200" b="1" dirty="0">
                <a:solidFill>
                  <a:schemeClr val="bg1"/>
                </a:solidFill>
              </a:rPr>
              <a:t>PPMI clinical</a:t>
            </a:r>
            <a:br>
              <a:rPr lang="en-GB" sz="1400" b="1" dirty="0">
                <a:solidFill>
                  <a:schemeClr val="bg1"/>
                </a:solidFill>
              </a:rPr>
            </a:br>
            <a:r>
              <a:rPr lang="en-GB" sz="1100" dirty="0">
                <a:solidFill>
                  <a:schemeClr val="bg1"/>
                </a:solidFill>
              </a:rPr>
              <a:t>(n=4,000)</a:t>
            </a:r>
            <a:endParaRPr lang="en-GB" sz="1400" dirty="0">
              <a:solidFill>
                <a:schemeClr val="bg1"/>
              </a:solidFill>
            </a:endParaRPr>
          </a:p>
        </p:txBody>
      </p:sp>
      <p:sp>
        <p:nvSpPr>
          <p:cNvPr id="34" name="TextBox 33">
            <a:extLst>
              <a:ext uri="{FF2B5EF4-FFF2-40B4-BE49-F238E27FC236}">
                <a16:creationId xmlns:a16="http://schemas.microsoft.com/office/drawing/2014/main" id="{69216430-85B2-3A42-FE05-9CC36DF2AFBE}"/>
              </a:ext>
            </a:extLst>
          </p:cNvPr>
          <p:cNvSpPr txBox="1"/>
          <p:nvPr/>
        </p:nvSpPr>
        <p:spPr>
          <a:xfrm>
            <a:off x="7562396" y="4185373"/>
            <a:ext cx="1680268" cy="446276"/>
          </a:xfrm>
          <a:prstGeom prst="rect">
            <a:avLst/>
          </a:prstGeom>
          <a:noFill/>
        </p:spPr>
        <p:txBody>
          <a:bodyPr wrap="none" rtlCol="0">
            <a:spAutoFit/>
          </a:bodyPr>
          <a:lstStyle/>
          <a:p>
            <a:pPr algn="ctr"/>
            <a:r>
              <a:rPr lang="en-GB" sz="1200" b="1">
                <a:solidFill>
                  <a:schemeClr val="bg1"/>
                </a:solidFill>
              </a:rPr>
              <a:t>PPMI remote</a:t>
            </a:r>
            <a:br>
              <a:rPr lang="en-GB" sz="1400" b="1">
                <a:solidFill>
                  <a:schemeClr val="bg1"/>
                </a:solidFill>
              </a:rPr>
            </a:br>
            <a:r>
              <a:rPr lang="en-GB" sz="1100">
                <a:solidFill>
                  <a:schemeClr val="bg1"/>
                </a:solidFill>
              </a:rPr>
              <a:t>(approx. 50,000 people)</a:t>
            </a:r>
            <a:endParaRPr lang="en-GB" sz="1400">
              <a:solidFill>
                <a:schemeClr val="bg1"/>
              </a:solidFill>
            </a:endParaRPr>
          </a:p>
        </p:txBody>
      </p:sp>
      <p:sp>
        <p:nvSpPr>
          <p:cNvPr id="35" name="TextBox 34">
            <a:extLst>
              <a:ext uri="{FF2B5EF4-FFF2-40B4-BE49-F238E27FC236}">
                <a16:creationId xmlns:a16="http://schemas.microsoft.com/office/drawing/2014/main" id="{22B5918F-5BE6-08F9-D6B8-4BC47B931A05}"/>
              </a:ext>
            </a:extLst>
          </p:cNvPr>
          <p:cNvSpPr txBox="1"/>
          <p:nvPr/>
        </p:nvSpPr>
        <p:spPr>
          <a:xfrm>
            <a:off x="7523122" y="5312946"/>
            <a:ext cx="1758816" cy="446276"/>
          </a:xfrm>
          <a:prstGeom prst="rect">
            <a:avLst/>
          </a:prstGeom>
          <a:noFill/>
        </p:spPr>
        <p:txBody>
          <a:bodyPr wrap="none" rtlCol="0">
            <a:spAutoFit/>
          </a:bodyPr>
          <a:lstStyle/>
          <a:p>
            <a:pPr algn="ctr"/>
            <a:r>
              <a:rPr lang="en-GB" sz="1200" b="1">
                <a:solidFill>
                  <a:schemeClr val="bg1"/>
                </a:solidFill>
              </a:rPr>
              <a:t>PPMI online</a:t>
            </a:r>
            <a:br>
              <a:rPr lang="en-GB" sz="1400" b="1">
                <a:solidFill>
                  <a:schemeClr val="bg1"/>
                </a:solidFill>
              </a:rPr>
            </a:br>
            <a:r>
              <a:rPr lang="en-GB" sz="1100">
                <a:solidFill>
                  <a:schemeClr val="bg1"/>
                </a:solidFill>
              </a:rPr>
              <a:t>(approx. 100,000 people)</a:t>
            </a:r>
            <a:endParaRPr lang="en-GB" sz="1400">
              <a:solidFill>
                <a:schemeClr val="bg1"/>
              </a:solidFill>
            </a:endParaRPr>
          </a:p>
        </p:txBody>
      </p:sp>
      <p:cxnSp>
        <p:nvCxnSpPr>
          <p:cNvPr id="37" name="Straight Connector 36">
            <a:extLst>
              <a:ext uri="{FF2B5EF4-FFF2-40B4-BE49-F238E27FC236}">
                <a16:creationId xmlns:a16="http://schemas.microsoft.com/office/drawing/2014/main" id="{D9A902F2-266D-7002-B6B9-A67F7CBF33AB}"/>
              </a:ext>
            </a:extLst>
          </p:cNvPr>
          <p:cNvCxnSpPr>
            <a:cxnSpLocks/>
          </p:cNvCxnSpPr>
          <p:nvPr/>
        </p:nvCxnSpPr>
        <p:spPr>
          <a:xfrm flipV="1">
            <a:off x="8424863" y="1893094"/>
            <a:ext cx="1071562" cy="330994"/>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C690E70-9D87-538B-1694-0D512581929F}"/>
              </a:ext>
            </a:extLst>
          </p:cNvPr>
          <p:cNvCxnSpPr>
            <a:cxnSpLocks/>
          </p:cNvCxnSpPr>
          <p:nvPr/>
        </p:nvCxnSpPr>
        <p:spPr>
          <a:xfrm>
            <a:off x="9182100" y="3864855"/>
            <a:ext cx="321469"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AA22899-E78A-F781-D6F9-6818F705ADB6}"/>
              </a:ext>
            </a:extLst>
          </p:cNvPr>
          <p:cNvSpPr txBox="1"/>
          <p:nvPr/>
        </p:nvSpPr>
        <p:spPr>
          <a:xfrm>
            <a:off x="9533266" y="4108429"/>
            <a:ext cx="1981469" cy="600164"/>
          </a:xfrm>
          <a:prstGeom prst="rect">
            <a:avLst/>
          </a:prstGeom>
          <a:noFill/>
        </p:spPr>
        <p:txBody>
          <a:bodyPr wrap="square" rtlCol="0">
            <a:spAutoFit/>
          </a:bodyPr>
          <a:lstStyle/>
          <a:p>
            <a:r>
              <a:rPr lang="en-GB" sz="1100">
                <a:solidFill>
                  <a:schemeClr val="accent2">
                    <a:lumMod val="50000"/>
                  </a:schemeClr>
                </a:solidFill>
              </a:rPr>
              <a:t>Remote study activities using smell test, genotyping, and digital sensors</a:t>
            </a:r>
            <a:endParaRPr lang="en-GB" sz="1200">
              <a:solidFill>
                <a:schemeClr val="accent2">
                  <a:lumMod val="50000"/>
                </a:schemeClr>
              </a:solidFill>
            </a:endParaRPr>
          </a:p>
        </p:txBody>
      </p:sp>
      <p:sp>
        <p:nvSpPr>
          <p:cNvPr id="43" name="TextBox 42">
            <a:extLst>
              <a:ext uri="{FF2B5EF4-FFF2-40B4-BE49-F238E27FC236}">
                <a16:creationId xmlns:a16="http://schemas.microsoft.com/office/drawing/2014/main" id="{AC9CF1DF-46EF-5A43-EE63-89D684E35853}"/>
              </a:ext>
            </a:extLst>
          </p:cNvPr>
          <p:cNvSpPr txBox="1"/>
          <p:nvPr/>
        </p:nvSpPr>
        <p:spPr>
          <a:xfrm>
            <a:off x="10059243" y="5236002"/>
            <a:ext cx="1575001" cy="600164"/>
          </a:xfrm>
          <a:prstGeom prst="rect">
            <a:avLst/>
          </a:prstGeom>
          <a:noFill/>
        </p:spPr>
        <p:txBody>
          <a:bodyPr wrap="square" rtlCol="0">
            <a:spAutoFit/>
          </a:bodyPr>
          <a:lstStyle/>
          <a:p>
            <a:r>
              <a:rPr lang="en-GB" sz="1100">
                <a:solidFill>
                  <a:schemeClr val="accent3">
                    <a:lumMod val="50000"/>
                  </a:schemeClr>
                </a:solidFill>
              </a:rPr>
              <a:t>Online assessments using patient-reported outcomes</a:t>
            </a:r>
            <a:endParaRPr lang="en-GB" sz="1200">
              <a:solidFill>
                <a:schemeClr val="accent3">
                  <a:lumMod val="50000"/>
                </a:schemeClr>
              </a:solidFill>
            </a:endParaRPr>
          </a:p>
        </p:txBody>
      </p:sp>
      <p:sp>
        <p:nvSpPr>
          <p:cNvPr id="44" name="TextBox 43">
            <a:extLst>
              <a:ext uri="{FF2B5EF4-FFF2-40B4-BE49-F238E27FC236}">
                <a16:creationId xmlns:a16="http://schemas.microsoft.com/office/drawing/2014/main" id="{F71CB450-9CB8-51B7-FB88-4CE07F1ECD67}"/>
              </a:ext>
            </a:extLst>
          </p:cNvPr>
          <p:cNvSpPr txBox="1"/>
          <p:nvPr/>
        </p:nvSpPr>
        <p:spPr>
          <a:xfrm>
            <a:off x="6281611" y="2875543"/>
            <a:ext cx="1424536" cy="938719"/>
          </a:xfrm>
          <a:prstGeom prst="rect">
            <a:avLst/>
          </a:prstGeom>
          <a:noFill/>
        </p:spPr>
        <p:txBody>
          <a:bodyPr wrap="square" rtlCol="0">
            <a:spAutoFit/>
          </a:bodyPr>
          <a:lstStyle/>
          <a:p>
            <a:pPr algn="r"/>
            <a:r>
              <a:rPr lang="en-GB" sz="1100" dirty="0">
                <a:solidFill>
                  <a:schemeClr val="accent5">
                    <a:lumMod val="50000"/>
                  </a:schemeClr>
                </a:solidFill>
              </a:rPr>
              <a:t>Intensive longitudinal in-clinic assessment of PD, prodromal PD and control people</a:t>
            </a:r>
            <a:endParaRPr lang="en-GB" sz="1200" dirty="0">
              <a:solidFill>
                <a:schemeClr val="accent5">
                  <a:lumMod val="50000"/>
                </a:schemeClr>
              </a:solidFill>
            </a:endParaRPr>
          </a:p>
        </p:txBody>
      </p:sp>
    </p:spTree>
    <p:custDataLst>
      <p:tags r:id="rId1"/>
    </p:custDataLst>
    <p:extLst>
      <p:ext uri="{BB962C8B-B14F-4D97-AF65-F5344CB8AC3E}">
        <p14:creationId xmlns:p14="http://schemas.microsoft.com/office/powerpoint/2010/main" val="3730202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p:txBody>
          <a:bodyPr/>
          <a:lstStyle/>
          <a:p>
            <a:pPr marL="0" indent="0">
              <a:buNone/>
            </a:pPr>
            <a:r>
              <a:rPr lang="en-GB" dirty="0">
                <a:latin typeface="Arial" panose="020B0604020202020204" pitchFamily="34" charset="0"/>
                <a:cs typeface="Arial" panose="020B0604020202020204" pitchFamily="34" charset="0"/>
              </a:rPr>
              <a:t>The PPMI study hopes to produce a database of biological progression data comparing those who did and those who did not develop PD – this constitutes an invaluable dataset for exploration of the biomarkers of early PD and disease progression</a:t>
            </a:r>
            <a:r>
              <a:rPr lang="en-GB" baseline="30000" dirty="0">
                <a:latin typeface="Arial" panose="020B0604020202020204" pitchFamily="34" charset="0"/>
                <a:cs typeface="Arial" panose="020B0604020202020204" pitchFamily="34" charset="0"/>
              </a:rPr>
              <a:t>3</a:t>
            </a:r>
            <a:endParaRPr lang="en-GB" dirty="0">
              <a:latin typeface="Arial" panose="020B0604020202020204" pitchFamily="34" charset="0"/>
              <a:cs typeface="Arial" panose="020B0604020202020204" pitchFamily="34" charset="0"/>
            </a:endParaRPr>
          </a:p>
        </p:txBody>
      </p:sp>
      <p:sp>
        <p:nvSpPr>
          <p:cNvPr id="8" name="Text Placeholder 7"/>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2" name="Title 1"/>
          <p:cNvSpPr>
            <a:spLocks noGrp="1"/>
          </p:cNvSpPr>
          <p:nvPr>
            <p:ph type="title"/>
          </p:nvPr>
        </p:nvSpPr>
        <p:spPr/>
        <p:txBody>
          <a:bodyPr/>
          <a:lstStyle/>
          <a:p>
            <a:r>
              <a:rPr lang="en-GB"/>
              <a:t>Preliminary results of the PPMI study</a:t>
            </a:r>
          </a:p>
        </p:txBody>
      </p:sp>
      <p:sp>
        <p:nvSpPr>
          <p:cNvPr id="5" name="Content Placeholder 4">
            <a:extLst>
              <a:ext uri="{FF2B5EF4-FFF2-40B4-BE49-F238E27FC236}">
                <a16:creationId xmlns:a16="http://schemas.microsoft.com/office/drawing/2014/main" id="{E2A0689E-BCC2-A408-72C2-3842D958F6A4}"/>
              </a:ext>
            </a:extLst>
          </p:cNvPr>
          <p:cNvSpPr>
            <a:spLocks noGrp="1"/>
          </p:cNvSpPr>
          <p:nvPr>
            <p:ph idx="19"/>
          </p:nvPr>
        </p:nvSpPr>
        <p:spPr/>
        <p:txBody>
          <a:bodyPr/>
          <a:lstStyle/>
          <a:p>
            <a:r>
              <a:rPr lang="en-GB" sz="1800" dirty="0"/>
              <a:t>Although the project is still in progress, there have already been promising publications using data from the PPMI study, including:</a:t>
            </a:r>
          </a:p>
          <a:p>
            <a:pPr lvl="1"/>
            <a:r>
              <a:rPr lang="en-GB" sz="1600" dirty="0"/>
              <a:t>The identification of cerebrospinal fluid biomarkers for early cognitive decline in patients with PD</a:t>
            </a:r>
            <a:r>
              <a:rPr lang="en-GB" sz="1600" baseline="30000" dirty="0"/>
              <a:t>1,2</a:t>
            </a:r>
          </a:p>
          <a:p>
            <a:pPr lvl="1"/>
            <a:r>
              <a:rPr lang="en-GB" sz="1600" dirty="0"/>
              <a:t>The suggestions that cerebrospinal fluid levels of Aβ</a:t>
            </a:r>
            <a:r>
              <a:rPr lang="en-GB" sz="1600" baseline="-25000" dirty="0"/>
              <a:t>1-42</a:t>
            </a:r>
            <a:r>
              <a:rPr lang="en-GB" sz="1600" dirty="0"/>
              <a:t>, T-tau, P-tau</a:t>
            </a:r>
            <a:r>
              <a:rPr lang="en-GB" sz="1600" baseline="-25000" dirty="0"/>
              <a:t>181</a:t>
            </a:r>
            <a:r>
              <a:rPr lang="en-GB" sz="1600" dirty="0"/>
              <a:t>, and </a:t>
            </a:r>
            <a:br>
              <a:rPr lang="en-GB" sz="1600" dirty="0"/>
            </a:br>
            <a:r>
              <a:rPr lang="en-GB" sz="1600" dirty="0"/>
              <a:t>α-synuclein have prognostic and diagnostic potential in early-stage PD</a:t>
            </a:r>
            <a:r>
              <a:rPr lang="en-GB" sz="1600" baseline="30000" dirty="0"/>
              <a:t>1,2</a:t>
            </a:r>
          </a:p>
          <a:p>
            <a:r>
              <a:rPr lang="en-GB" dirty="0"/>
              <a:t>An analysis of the characteristics of people with </a:t>
            </a:r>
            <a:r>
              <a:rPr lang="en-US" i="1" dirty="0"/>
              <a:t>LRRK2</a:t>
            </a:r>
            <a:r>
              <a:rPr lang="en-US" dirty="0"/>
              <a:t> or </a:t>
            </a:r>
            <a:r>
              <a:rPr lang="en-US" i="1" dirty="0"/>
              <a:t>GBA</a:t>
            </a:r>
            <a:r>
              <a:rPr lang="en-US" dirty="0"/>
              <a:t> mutations who do not have clinical manifestations of PD has used the PPMI sample set:</a:t>
            </a:r>
            <a:r>
              <a:rPr lang="en-US" baseline="30000" dirty="0"/>
              <a:t>4</a:t>
            </a:r>
            <a:endParaRPr lang="en-US" dirty="0"/>
          </a:p>
          <a:p>
            <a:pPr lvl="1"/>
            <a:r>
              <a:rPr lang="en-US" dirty="0"/>
              <a:t>Interestingly, these non-manifesting carriers had significantly higher mean scores on the UPDRS than healthy controls without </a:t>
            </a:r>
            <a:r>
              <a:rPr lang="en-US" i="1" dirty="0"/>
              <a:t>LRRK2</a:t>
            </a:r>
            <a:r>
              <a:rPr lang="en-US" dirty="0"/>
              <a:t> or </a:t>
            </a:r>
            <a:r>
              <a:rPr lang="en-US" i="1" dirty="0"/>
              <a:t>GBA</a:t>
            </a:r>
            <a:r>
              <a:rPr lang="en-US" dirty="0"/>
              <a:t> mutations</a:t>
            </a:r>
          </a:p>
          <a:p>
            <a:pPr lvl="1"/>
            <a:r>
              <a:rPr lang="en-US" dirty="0"/>
              <a:t>This suggests that there are subtle signs of early PD in people with </a:t>
            </a:r>
            <a:r>
              <a:rPr lang="en-US" i="1" dirty="0"/>
              <a:t>LRRK2</a:t>
            </a:r>
            <a:r>
              <a:rPr lang="en-US" dirty="0"/>
              <a:t> or </a:t>
            </a:r>
            <a:r>
              <a:rPr lang="en-US" i="1" dirty="0"/>
              <a:t>GBA</a:t>
            </a:r>
            <a:r>
              <a:rPr lang="en-US" dirty="0"/>
              <a:t> mutations who have not yet developed clinical PD, i.e., which precede the deficit in dopamine signaling</a:t>
            </a:r>
          </a:p>
          <a:p>
            <a:r>
              <a:rPr lang="en-US" dirty="0"/>
              <a:t>The PPMI dataset has also been used to assess the </a:t>
            </a:r>
            <a:r>
              <a:rPr lang="el-GR" dirty="0"/>
              <a:t>α-</a:t>
            </a:r>
            <a:r>
              <a:rPr lang="en-US" dirty="0"/>
              <a:t>synuclein seed amplification assay, demonstrating the high sensitivity it has for classifying people with PD</a:t>
            </a:r>
            <a:r>
              <a:rPr lang="en-US" baseline="30000" dirty="0"/>
              <a:t>5</a:t>
            </a:r>
            <a:endParaRPr lang="en-US" dirty="0"/>
          </a:p>
        </p:txBody>
      </p:sp>
      <p:sp>
        <p:nvSpPr>
          <p:cNvPr id="3" name="Text Placeholder 2">
            <a:extLst>
              <a:ext uri="{FF2B5EF4-FFF2-40B4-BE49-F238E27FC236}">
                <a16:creationId xmlns:a16="http://schemas.microsoft.com/office/drawing/2014/main" id="{5D4E4712-BC73-473D-BB9B-64428D47AC87}"/>
              </a:ext>
            </a:extLst>
          </p:cNvPr>
          <p:cNvSpPr>
            <a:spLocks noGrp="1"/>
          </p:cNvSpPr>
          <p:nvPr>
            <p:ph type="body" sz="quarter" idx="18"/>
          </p:nvPr>
        </p:nvSpPr>
        <p:spPr/>
        <p:txBody>
          <a:bodyPr/>
          <a:lstStyle/>
          <a:p>
            <a:pPr marL="0" indent="0">
              <a:buNone/>
            </a:pPr>
            <a:r>
              <a:rPr lang="en-GB" i="1" dirty="0"/>
              <a:t>GBA</a:t>
            </a:r>
            <a:r>
              <a:rPr lang="en-GB" dirty="0"/>
              <a:t>=glucocerebrosidase; </a:t>
            </a:r>
            <a:r>
              <a:rPr lang="en-GB" i="1" dirty="0"/>
              <a:t>LRRK2</a:t>
            </a:r>
            <a:r>
              <a:rPr lang="en-GB" dirty="0"/>
              <a:t>=</a:t>
            </a:r>
            <a:r>
              <a:rPr lang="en-US" dirty="0"/>
              <a:t>leucine rich repeat kinase 2; </a:t>
            </a:r>
            <a:r>
              <a:rPr lang="en-GB" dirty="0"/>
              <a:t>PD=Parkinson’s disease; </a:t>
            </a:r>
            <a:br>
              <a:rPr lang="en-GB" dirty="0"/>
            </a:br>
            <a:r>
              <a:rPr lang="en-GB" dirty="0"/>
              <a:t>PPMI=</a:t>
            </a:r>
            <a:r>
              <a:rPr lang="en-US" dirty="0"/>
              <a:t>Parkinson’s disease progression marker initiative; </a:t>
            </a:r>
            <a:r>
              <a:rPr lang="en-GB" dirty="0"/>
              <a:t>UPDRS=</a:t>
            </a:r>
            <a:r>
              <a:rPr lang="en-US" dirty="0"/>
              <a:t>Unified Parkinson’s Disease Rating Scale</a:t>
            </a:r>
            <a:endParaRPr lang="en-GB" dirty="0"/>
          </a:p>
          <a:p>
            <a:pPr marL="0" indent="0">
              <a:buNone/>
            </a:pPr>
            <a:endParaRPr lang="en-GB" dirty="0"/>
          </a:p>
          <a:p>
            <a:pPr marL="0" indent="0">
              <a:buNone/>
            </a:pPr>
            <a:r>
              <a:rPr lang="en-GB" dirty="0"/>
              <a:t>1. </a:t>
            </a:r>
            <a:r>
              <a:rPr lang="en-GB" dirty="0" err="1"/>
              <a:t>Skogseth</a:t>
            </a:r>
            <a:r>
              <a:rPr lang="en-GB" dirty="0"/>
              <a:t> et al. </a:t>
            </a:r>
            <a:r>
              <a:rPr lang="fr-FR" dirty="0"/>
              <a:t>J Parkinsons Dis 2015;5(4):783–792; 2. Kang et al. </a:t>
            </a:r>
            <a:r>
              <a:rPr lang="en-GB" dirty="0"/>
              <a:t>JAMA </a:t>
            </a:r>
            <a:r>
              <a:rPr lang="en-GB" dirty="0" err="1"/>
              <a:t>Neurol</a:t>
            </a:r>
            <a:r>
              <a:rPr lang="en-GB" dirty="0"/>
              <a:t> 2013;70(10):1277–1287; </a:t>
            </a:r>
            <a:br>
              <a:rPr lang="en-GB" dirty="0"/>
            </a:br>
            <a:r>
              <a:rPr lang="en-GB" dirty="0"/>
              <a:t>3. PPMI website. PPMI-info.org. Accessed Jan 2025; 4. Simuni et al. Lancet </a:t>
            </a:r>
            <a:r>
              <a:rPr lang="en-GB" dirty="0" err="1"/>
              <a:t>Neurol</a:t>
            </a:r>
            <a:r>
              <a:rPr lang="en-GB" dirty="0"/>
              <a:t> 2020;19(1):71–80; 5. </a:t>
            </a:r>
            <a:r>
              <a:rPr lang="en-GB" dirty="0" err="1"/>
              <a:t>Siderowf</a:t>
            </a:r>
            <a:r>
              <a:rPr lang="en-GB" dirty="0"/>
              <a:t> et al. Lancet </a:t>
            </a:r>
            <a:r>
              <a:rPr lang="en-GB" dirty="0" err="1"/>
              <a:t>Neurol</a:t>
            </a:r>
            <a:r>
              <a:rPr lang="en-GB" dirty="0"/>
              <a:t> 2023;22(5):407–417</a:t>
            </a:r>
          </a:p>
        </p:txBody>
      </p:sp>
      <p:sp>
        <p:nvSpPr>
          <p:cNvPr id="4" name="Slide Number Placeholder 3"/>
          <p:cNvSpPr>
            <a:spLocks noGrp="1"/>
          </p:cNvSpPr>
          <p:nvPr>
            <p:ph type="sldNum" sz="quarter" idx="4"/>
          </p:nvPr>
        </p:nvSpPr>
        <p:spPr/>
        <p:txBody>
          <a:bodyPr/>
          <a:lstStyle/>
          <a:p>
            <a:fld id="{6DBC486D-4FAB-B746-8B02-8D7C842291C6}" type="slidenum">
              <a:rPr lang="en-GB" smtClean="0"/>
              <a:t>24</a:t>
            </a:fld>
            <a:endParaRPr lang="en-GB"/>
          </a:p>
        </p:txBody>
      </p:sp>
    </p:spTree>
    <p:custDataLst>
      <p:tags r:id="rId1"/>
    </p:custDataLst>
    <p:extLst>
      <p:ext uri="{BB962C8B-B14F-4D97-AF65-F5344CB8AC3E}">
        <p14:creationId xmlns:p14="http://schemas.microsoft.com/office/powerpoint/2010/main" val="2672538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46100"/>
            <a:ext cx="6642100" cy="2105818"/>
          </a:xfrm>
        </p:spPr>
        <p:txBody>
          <a:bodyPr>
            <a:normAutofit/>
          </a:bodyPr>
          <a:lstStyle/>
          <a:p>
            <a:r>
              <a:rPr lang="en-GB"/>
              <a:t>Parkinson’s disease prognosis</a:t>
            </a:r>
          </a:p>
        </p:txBody>
      </p:sp>
      <p:sp>
        <p:nvSpPr>
          <p:cNvPr id="5" name="Text Placeholder 4">
            <a:extLst>
              <a:ext uri="{FF2B5EF4-FFF2-40B4-BE49-F238E27FC236}">
                <a16:creationId xmlns:a16="http://schemas.microsoft.com/office/drawing/2014/main" id="{7DDDCDC2-F2F5-4DAE-8986-610678E10AE2}"/>
              </a:ext>
            </a:extLst>
          </p:cNvPr>
          <p:cNvSpPr>
            <a:spLocks noGrp="1"/>
          </p:cNvSpPr>
          <p:nvPr>
            <p:ph type="body" idx="1"/>
          </p:nvPr>
        </p:nvSpPr>
        <p:spPr>
          <a:xfrm>
            <a:off x="1219200" y="2678906"/>
            <a:ext cx="6642100" cy="1500187"/>
          </a:xfrm>
        </p:spPr>
        <p:txBody>
          <a:bodyPr/>
          <a:lstStyle/>
          <a:p>
            <a:endParaRPr lang="da-DK"/>
          </a:p>
        </p:txBody>
      </p:sp>
    </p:spTree>
    <p:custDataLst>
      <p:tags r:id="rId1"/>
    </p:custDataLst>
    <p:extLst>
      <p:ext uri="{BB962C8B-B14F-4D97-AF65-F5344CB8AC3E}">
        <p14:creationId xmlns:p14="http://schemas.microsoft.com/office/powerpoint/2010/main" val="2389826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8" name="Title 7"/>
          <p:cNvSpPr>
            <a:spLocks noGrp="1"/>
          </p:cNvSpPr>
          <p:nvPr>
            <p:ph type="title"/>
          </p:nvPr>
        </p:nvSpPr>
        <p:spPr/>
        <p:txBody>
          <a:bodyPr/>
          <a:lstStyle/>
          <a:p>
            <a:r>
              <a:rPr lang="en-GB"/>
              <a:t>Parkinson’s disease prognosis</a:t>
            </a:r>
          </a:p>
        </p:txBody>
      </p:sp>
      <p:sp>
        <p:nvSpPr>
          <p:cNvPr id="9" name="Content Placeholder 8"/>
          <p:cNvSpPr>
            <a:spLocks noGrp="1"/>
          </p:cNvSpPr>
          <p:nvPr>
            <p:ph idx="20"/>
          </p:nvPr>
        </p:nvSpPr>
        <p:spPr>
          <a:xfrm>
            <a:off x="539750" y="1416785"/>
            <a:ext cx="5444302" cy="4415215"/>
          </a:xfrm>
        </p:spPr>
        <p:txBody>
          <a:bodyPr>
            <a:normAutofit/>
          </a:bodyPr>
          <a:lstStyle/>
          <a:p>
            <a:r>
              <a:rPr lang="en-GB" sz="1400" dirty="0"/>
              <a:t>Patients with PD have a somewhat shorter life expectancy because of complications associated with swallowing problems (e.g., choking), intercurrent medical disorders or infection (e.g., pneumonia), and trauma due to falls</a:t>
            </a:r>
            <a:r>
              <a:rPr lang="en-GB" sz="1400" baseline="30000" dirty="0"/>
              <a:t>1-4</a:t>
            </a:r>
          </a:p>
          <a:p>
            <a:r>
              <a:rPr lang="en-GB" sz="1400" dirty="0"/>
              <a:t>Estimates vary but, in one analysis, the mean duration of PD from onset to death was 13.7 years; the duration was shorter for those older at diagnosis</a:t>
            </a:r>
            <a:r>
              <a:rPr lang="en-GB" sz="1400" baseline="30000" dirty="0"/>
              <a:t>3</a:t>
            </a:r>
          </a:p>
          <a:p>
            <a:r>
              <a:rPr lang="en-US" sz="1400" dirty="0"/>
              <a:t>Certain ‘clinical milestones’ – falls, hallucinations, admittance to a long-term care facility, and dementia – have been associated with an increased risk of death and a cumulatively shorter duration to death</a:t>
            </a:r>
            <a:r>
              <a:rPr lang="en-US" sz="1400" baseline="30000" dirty="0"/>
              <a:t>3,5</a:t>
            </a:r>
            <a:endParaRPr lang="en-GB" sz="1400" dirty="0"/>
          </a:p>
          <a:p>
            <a:r>
              <a:rPr lang="en-GB" sz="1400" dirty="0"/>
              <a:t>Several factors have been linked to PD prognosis, including genetics, younger age of onset, the tremor-dominant nature of the phenotype, race/ethnicity, various biomarkers, and clinical features including motor and non-motor symptoms</a:t>
            </a:r>
            <a:r>
              <a:rPr lang="en-GB" sz="1400" baseline="30000" dirty="0"/>
              <a:t>3,6-9</a:t>
            </a:r>
            <a:endParaRPr lang="en-GB" sz="1400" dirty="0"/>
          </a:p>
        </p:txBody>
      </p:sp>
      <p:sp>
        <p:nvSpPr>
          <p:cNvPr id="2" name="Content Placeholder 1"/>
          <p:cNvSpPr>
            <a:spLocks noGrp="1"/>
          </p:cNvSpPr>
          <p:nvPr>
            <p:ph idx="21"/>
          </p:nvPr>
        </p:nvSpPr>
        <p:spPr>
          <a:xfrm>
            <a:off x="6230938" y="1416785"/>
            <a:ext cx="5419725" cy="287165"/>
          </a:xfrm>
        </p:spPr>
        <p:txBody>
          <a:bodyPr>
            <a:normAutofit/>
          </a:bodyPr>
          <a:lstStyle/>
          <a:p>
            <a:pPr marL="0" indent="0" algn="ctr">
              <a:buNone/>
            </a:pPr>
            <a:r>
              <a:rPr lang="en-GB" sz="1600" b="1" dirty="0">
                <a:solidFill>
                  <a:schemeClr val="accent2">
                    <a:lumMod val="50000"/>
                  </a:schemeClr>
                </a:solidFill>
              </a:rPr>
              <a:t>Survival after cumulative clinical milestones</a:t>
            </a:r>
            <a:r>
              <a:rPr lang="en-GB" sz="1600" b="1" baseline="30000" dirty="0">
                <a:solidFill>
                  <a:schemeClr val="accent2">
                    <a:lumMod val="50000"/>
                  </a:schemeClr>
                </a:solidFill>
              </a:rPr>
              <a:t>5 </a:t>
            </a:r>
            <a:endParaRPr lang="en-GB" sz="1600" b="1" dirty="0">
              <a:solidFill>
                <a:schemeClr val="accent2">
                  <a:lumMod val="50000"/>
                </a:schemeClr>
              </a:solidFill>
            </a:endParaRPr>
          </a:p>
        </p:txBody>
      </p:sp>
      <p:sp>
        <p:nvSpPr>
          <p:cNvPr id="4" name="Text Placeholder 3">
            <a:extLst>
              <a:ext uri="{FF2B5EF4-FFF2-40B4-BE49-F238E27FC236}">
                <a16:creationId xmlns:a16="http://schemas.microsoft.com/office/drawing/2014/main" id="{3A026A6D-650C-4307-86F3-9DE6354AB666}"/>
              </a:ext>
            </a:extLst>
          </p:cNvPr>
          <p:cNvSpPr>
            <a:spLocks noGrp="1"/>
          </p:cNvSpPr>
          <p:nvPr>
            <p:ph type="body" sz="quarter" idx="18"/>
          </p:nvPr>
        </p:nvSpPr>
        <p:spPr>
          <a:xfrm>
            <a:off x="539749" y="6102000"/>
            <a:ext cx="10661651" cy="619200"/>
          </a:xfrm>
        </p:spPr>
        <p:txBody>
          <a:bodyPr/>
          <a:lstStyle/>
          <a:p>
            <a:pPr marL="0" indent="0">
              <a:buNone/>
            </a:pPr>
            <a:r>
              <a:rPr lang="en-GB" dirty="0"/>
              <a:t>PD=Parkinson's disease</a:t>
            </a:r>
          </a:p>
          <a:p>
            <a:pPr marL="0" indent="0">
              <a:buNone/>
            </a:pPr>
            <a:endParaRPr lang="en-GB" dirty="0"/>
          </a:p>
          <a:p>
            <a:pPr marL="0" indent="0">
              <a:buNone/>
            </a:pPr>
            <a:r>
              <a:rPr lang="en-GB" dirty="0"/>
              <a:t>1. Wolters et al. In: Wolters &amp; Baumann (eds). Parkinson Disease and Other Movement Disorders. 2014; 2. Parkinson’s UK website. www.parkinsons.org.uk. Accessed Jan 2025; </a:t>
            </a:r>
            <a:br>
              <a:rPr lang="en-GB" dirty="0"/>
            </a:br>
            <a:r>
              <a:rPr lang="en-GB" dirty="0"/>
              <a:t>3. </a:t>
            </a:r>
            <a:r>
              <a:rPr lang="en-GB" dirty="0" err="1"/>
              <a:t>Kempster</a:t>
            </a:r>
            <a:r>
              <a:rPr lang="en-GB" dirty="0"/>
              <a:t> et al. Brain 2010;133(6):1755–1762; 4. Williams-Gray et al. </a:t>
            </a:r>
            <a:r>
              <a:rPr lang="pl-PL" dirty="0"/>
              <a:t>J Neurol Neurosurg Psychiatry 2013;84(11):1258</a:t>
            </a:r>
            <a:r>
              <a:rPr lang="en-GB" dirty="0"/>
              <a:t>–12</a:t>
            </a:r>
            <a:r>
              <a:rPr lang="pl-PL" dirty="0"/>
              <a:t>64</a:t>
            </a:r>
            <a:r>
              <a:rPr lang="en-GB" dirty="0"/>
              <a:t>; 5. Gonzalez et al. NPJ </a:t>
            </a:r>
            <a:r>
              <a:rPr lang="en-GB" dirty="0" err="1"/>
              <a:t>Parkinsons</a:t>
            </a:r>
            <a:r>
              <a:rPr lang="en-GB" dirty="0"/>
              <a:t> Dis 2022;8(1):58; </a:t>
            </a:r>
          </a:p>
          <a:p>
            <a:pPr marL="0" indent="0">
              <a:buNone/>
            </a:pPr>
            <a:r>
              <a:rPr lang="en-GB" dirty="0"/>
              <a:t>6. Eggers et al. </a:t>
            </a:r>
            <a:r>
              <a:rPr lang="en-GB" dirty="0" err="1"/>
              <a:t>PLoS</a:t>
            </a:r>
            <a:r>
              <a:rPr lang="en-GB" dirty="0"/>
              <a:t> One 2012;7(10):e46813; 7. Fernandes et al. </a:t>
            </a:r>
            <a:r>
              <a:rPr lang="en-GB" dirty="0" err="1"/>
              <a:t>Parkinsons</a:t>
            </a:r>
            <a:r>
              <a:rPr lang="en-GB" dirty="0"/>
              <a:t> Dis 2015;2015:959304; 8. Akbar et al. J </a:t>
            </a:r>
            <a:r>
              <a:rPr lang="en-GB" dirty="0" err="1"/>
              <a:t>Neurol</a:t>
            </a:r>
            <a:r>
              <a:rPr lang="en-GB" dirty="0"/>
              <a:t> </a:t>
            </a:r>
            <a:r>
              <a:rPr lang="en-GB" dirty="0" err="1"/>
              <a:t>Neurosurg</a:t>
            </a:r>
            <a:r>
              <a:rPr lang="en-GB" dirty="0"/>
              <a:t> Psychiatry 2021;92(6):629–636; 9. </a:t>
            </a:r>
            <a:r>
              <a:rPr lang="en-US" dirty="0"/>
              <a:t>Trevisan et al. Br Med Bull 2024;149(1):60–71</a:t>
            </a:r>
          </a:p>
        </p:txBody>
      </p:sp>
      <p:sp>
        <p:nvSpPr>
          <p:cNvPr id="3" name="Slide Number Placeholder 2"/>
          <p:cNvSpPr>
            <a:spLocks noGrp="1"/>
          </p:cNvSpPr>
          <p:nvPr>
            <p:ph type="sldNum" sz="quarter" idx="4"/>
          </p:nvPr>
        </p:nvSpPr>
        <p:spPr/>
        <p:txBody>
          <a:bodyPr/>
          <a:lstStyle/>
          <a:p>
            <a:fld id="{6DBC486D-4FAB-B746-8B02-8D7C842291C6}" type="slidenum">
              <a:rPr lang="en-GB" smtClean="0"/>
              <a:pPr/>
              <a:t>26</a:t>
            </a:fld>
            <a:endParaRPr lang="en-GB"/>
          </a:p>
        </p:txBody>
      </p:sp>
      <p:cxnSp>
        <p:nvCxnSpPr>
          <p:cNvPr id="13" name="Straight Connector 12"/>
          <p:cNvCxnSpPr>
            <a:cxnSpLocks/>
          </p:cNvCxnSpPr>
          <p:nvPr/>
        </p:nvCxnSpPr>
        <p:spPr>
          <a:xfrm flipH="1">
            <a:off x="7131528" y="4262912"/>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cxnSpLocks/>
          </p:cNvCxnSpPr>
          <p:nvPr/>
        </p:nvCxnSpPr>
        <p:spPr>
          <a:xfrm rot="5400000" flipH="1">
            <a:off x="8171568" y="5075397"/>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577302" y="3323318"/>
            <a:ext cx="583814" cy="338554"/>
          </a:xfrm>
          <a:prstGeom prst="rect">
            <a:avLst/>
          </a:prstGeom>
          <a:noFill/>
        </p:spPr>
        <p:txBody>
          <a:bodyPr wrap="none" rtlCol="0">
            <a:spAutoFit/>
          </a:bodyPr>
          <a:lstStyle/>
          <a:p>
            <a:pPr algn="r"/>
            <a:r>
              <a:rPr lang="en-GB" sz="1600" dirty="0">
                <a:solidFill>
                  <a:schemeClr val="tx2"/>
                </a:solidFill>
                <a:latin typeface="Arial" panose="020B0604020202020204" pitchFamily="34" charset="0"/>
                <a:cs typeface="Arial" panose="020B0604020202020204" pitchFamily="34" charset="0"/>
              </a:rPr>
              <a:t>0.50</a:t>
            </a:r>
          </a:p>
        </p:txBody>
      </p:sp>
      <p:sp>
        <p:nvSpPr>
          <p:cNvPr id="16" name="TextBox 15"/>
          <p:cNvSpPr txBox="1"/>
          <p:nvPr/>
        </p:nvSpPr>
        <p:spPr>
          <a:xfrm>
            <a:off x="6805121" y="5092082"/>
            <a:ext cx="798109" cy="338554"/>
          </a:xfrm>
          <a:prstGeom prst="rect">
            <a:avLst/>
          </a:prstGeom>
          <a:noFill/>
        </p:spPr>
        <p:txBody>
          <a:bodyPr wrap="square" rtlCol="0">
            <a:spAutoFit/>
          </a:bodyPr>
          <a:lstStyle/>
          <a:p>
            <a:pPr algn="ctr"/>
            <a:r>
              <a:rPr lang="en-GB" sz="1600" dirty="0">
                <a:solidFill>
                  <a:schemeClr val="tx2"/>
                </a:solidFill>
                <a:latin typeface="Arial" panose="020B0604020202020204" pitchFamily="34" charset="0"/>
                <a:cs typeface="Arial" panose="020B0604020202020204" pitchFamily="34" charset="0"/>
              </a:rPr>
              <a:t>0.0</a:t>
            </a:r>
          </a:p>
        </p:txBody>
      </p:sp>
      <p:cxnSp>
        <p:nvCxnSpPr>
          <p:cNvPr id="17" name="Straight Connector 16"/>
          <p:cNvCxnSpPr>
            <a:cxnSpLocks/>
          </p:cNvCxnSpPr>
          <p:nvPr/>
        </p:nvCxnSpPr>
        <p:spPr>
          <a:xfrm rot="5400000" flipH="1">
            <a:off x="9170789" y="5075397"/>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p:cNvCxnSpPr>
          <p:nvPr/>
        </p:nvCxnSpPr>
        <p:spPr>
          <a:xfrm rot="5400000" flipH="1">
            <a:off x="10170010" y="5075397"/>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cxnSpLocks/>
          </p:cNvCxnSpPr>
          <p:nvPr/>
        </p:nvCxnSpPr>
        <p:spPr>
          <a:xfrm rot="5400000" flipH="1">
            <a:off x="11169232" y="5075397"/>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cxnSpLocks/>
          </p:cNvCxnSpPr>
          <p:nvPr/>
        </p:nvCxnSpPr>
        <p:spPr>
          <a:xfrm flipH="1">
            <a:off x="7131528" y="3490626"/>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p:nvCxnSpPr>
        <p:spPr>
          <a:xfrm flipH="1">
            <a:off x="7131528" y="2718340"/>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800599" y="5092082"/>
            <a:ext cx="798109" cy="338554"/>
          </a:xfrm>
          <a:prstGeom prst="rect">
            <a:avLst/>
          </a:prstGeom>
          <a:noFill/>
        </p:spPr>
        <p:txBody>
          <a:bodyPr wrap="square" rtlCol="0">
            <a:spAutoFit/>
          </a:bodyPr>
          <a:lstStyle/>
          <a:p>
            <a:pPr algn="ctr"/>
            <a:r>
              <a:rPr lang="en-GB" sz="1600" dirty="0">
                <a:solidFill>
                  <a:schemeClr val="tx2"/>
                </a:solidFill>
                <a:latin typeface="Arial" panose="020B0604020202020204" pitchFamily="34" charset="0"/>
                <a:cs typeface="Arial" panose="020B0604020202020204" pitchFamily="34" charset="0"/>
              </a:rPr>
              <a:t>2.5</a:t>
            </a:r>
          </a:p>
        </p:txBody>
      </p:sp>
      <p:sp>
        <p:nvSpPr>
          <p:cNvPr id="31" name="TextBox 30"/>
          <p:cNvSpPr txBox="1"/>
          <p:nvPr/>
        </p:nvSpPr>
        <p:spPr>
          <a:xfrm>
            <a:off x="8796077" y="5092082"/>
            <a:ext cx="798109" cy="338554"/>
          </a:xfrm>
          <a:prstGeom prst="rect">
            <a:avLst/>
          </a:prstGeom>
          <a:noFill/>
        </p:spPr>
        <p:txBody>
          <a:bodyPr wrap="square" rtlCol="0">
            <a:spAutoFit/>
          </a:bodyPr>
          <a:lstStyle/>
          <a:p>
            <a:pPr algn="ctr"/>
            <a:r>
              <a:rPr lang="en-GB" sz="1600" dirty="0">
                <a:solidFill>
                  <a:schemeClr val="tx2"/>
                </a:solidFill>
                <a:latin typeface="Arial" panose="020B0604020202020204" pitchFamily="34" charset="0"/>
                <a:cs typeface="Arial" panose="020B0604020202020204" pitchFamily="34" charset="0"/>
              </a:rPr>
              <a:t>5.0</a:t>
            </a:r>
          </a:p>
        </p:txBody>
      </p:sp>
      <p:sp>
        <p:nvSpPr>
          <p:cNvPr id="32" name="TextBox 31"/>
          <p:cNvSpPr txBox="1"/>
          <p:nvPr/>
        </p:nvSpPr>
        <p:spPr>
          <a:xfrm>
            <a:off x="9791555" y="5092082"/>
            <a:ext cx="798109" cy="338554"/>
          </a:xfrm>
          <a:prstGeom prst="rect">
            <a:avLst/>
          </a:prstGeom>
          <a:noFill/>
        </p:spPr>
        <p:txBody>
          <a:bodyPr wrap="square" rtlCol="0">
            <a:spAutoFit/>
          </a:bodyPr>
          <a:lstStyle/>
          <a:p>
            <a:pPr algn="ctr"/>
            <a:r>
              <a:rPr lang="en-GB" sz="1600" dirty="0">
                <a:solidFill>
                  <a:schemeClr val="tx2"/>
                </a:solidFill>
                <a:latin typeface="Arial" panose="020B0604020202020204" pitchFamily="34" charset="0"/>
                <a:cs typeface="Arial" panose="020B0604020202020204" pitchFamily="34" charset="0"/>
              </a:rPr>
              <a:t>7.5</a:t>
            </a:r>
          </a:p>
        </p:txBody>
      </p:sp>
      <p:sp>
        <p:nvSpPr>
          <p:cNvPr id="34" name="TextBox 33"/>
          <p:cNvSpPr txBox="1"/>
          <p:nvPr/>
        </p:nvSpPr>
        <p:spPr>
          <a:xfrm>
            <a:off x="7214697" y="5393945"/>
            <a:ext cx="3989878" cy="338554"/>
          </a:xfrm>
          <a:prstGeom prst="rect">
            <a:avLst/>
          </a:prstGeom>
          <a:noFill/>
        </p:spPr>
        <p:txBody>
          <a:bodyPr wrap="square" rtlCol="0">
            <a:spAutoFit/>
          </a:bodyPr>
          <a:lstStyle/>
          <a:p>
            <a:pPr algn="ctr"/>
            <a:r>
              <a:rPr lang="en-GB" sz="1600" b="1" dirty="0">
                <a:solidFill>
                  <a:schemeClr val="tx2"/>
                </a:solidFill>
                <a:latin typeface="Arial" panose="020B0604020202020204" pitchFamily="34" charset="0"/>
                <a:cs typeface="Arial" panose="020B0604020202020204" pitchFamily="34" charset="0"/>
              </a:rPr>
              <a:t>Time (years)</a:t>
            </a:r>
          </a:p>
        </p:txBody>
      </p:sp>
      <p:sp>
        <p:nvSpPr>
          <p:cNvPr id="35" name="TextBox 34"/>
          <p:cNvSpPr txBox="1"/>
          <p:nvPr/>
        </p:nvSpPr>
        <p:spPr>
          <a:xfrm rot="16200000">
            <a:off x="4907841" y="3318682"/>
            <a:ext cx="3094480" cy="338554"/>
          </a:xfrm>
          <a:prstGeom prst="rect">
            <a:avLst/>
          </a:prstGeom>
          <a:noFill/>
        </p:spPr>
        <p:txBody>
          <a:bodyPr wrap="square" rtlCol="0">
            <a:spAutoFit/>
          </a:bodyPr>
          <a:lstStyle/>
          <a:p>
            <a:pPr algn="ctr"/>
            <a:r>
              <a:rPr lang="en-GB" sz="1600" b="1" dirty="0">
                <a:solidFill>
                  <a:schemeClr val="tx2"/>
                </a:solidFill>
                <a:latin typeface="Arial" panose="020B0604020202020204" pitchFamily="34" charset="0"/>
                <a:cs typeface="Arial" panose="020B0604020202020204" pitchFamily="34" charset="0"/>
              </a:rPr>
              <a:t>Survival probability</a:t>
            </a:r>
          </a:p>
        </p:txBody>
      </p:sp>
      <p:sp>
        <p:nvSpPr>
          <p:cNvPr id="36" name="TextBox 35"/>
          <p:cNvSpPr txBox="1"/>
          <p:nvPr/>
        </p:nvSpPr>
        <p:spPr>
          <a:xfrm>
            <a:off x="6577302" y="4865922"/>
            <a:ext cx="583814" cy="338554"/>
          </a:xfrm>
          <a:prstGeom prst="rect">
            <a:avLst/>
          </a:prstGeom>
          <a:noFill/>
        </p:spPr>
        <p:txBody>
          <a:bodyPr wrap="none" rtlCol="0">
            <a:spAutoFit/>
          </a:bodyPr>
          <a:lstStyle/>
          <a:p>
            <a:pPr algn="r"/>
            <a:r>
              <a:rPr lang="en-GB" sz="1600" dirty="0">
                <a:solidFill>
                  <a:schemeClr val="tx2"/>
                </a:solidFill>
                <a:latin typeface="Arial" panose="020B0604020202020204" pitchFamily="34" charset="0"/>
                <a:cs typeface="Arial" panose="020B0604020202020204" pitchFamily="34" charset="0"/>
              </a:rPr>
              <a:t>0.00</a:t>
            </a:r>
          </a:p>
        </p:txBody>
      </p:sp>
      <p:sp>
        <p:nvSpPr>
          <p:cNvPr id="37" name="TextBox 36"/>
          <p:cNvSpPr txBox="1"/>
          <p:nvPr/>
        </p:nvSpPr>
        <p:spPr>
          <a:xfrm>
            <a:off x="6577302" y="2552016"/>
            <a:ext cx="583814" cy="338554"/>
          </a:xfrm>
          <a:prstGeom prst="rect">
            <a:avLst/>
          </a:prstGeom>
          <a:noFill/>
        </p:spPr>
        <p:txBody>
          <a:bodyPr wrap="none" rtlCol="0">
            <a:spAutoFit/>
          </a:bodyPr>
          <a:lstStyle/>
          <a:p>
            <a:pPr algn="r"/>
            <a:r>
              <a:rPr lang="en-GB" sz="1600" dirty="0">
                <a:solidFill>
                  <a:schemeClr val="tx2"/>
                </a:solidFill>
                <a:latin typeface="Arial" panose="020B0604020202020204" pitchFamily="34" charset="0"/>
                <a:cs typeface="Arial" panose="020B0604020202020204" pitchFamily="34" charset="0"/>
              </a:rPr>
              <a:t>0.75</a:t>
            </a:r>
          </a:p>
        </p:txBody>
      </p:sp>
      <p:sp>
        <p:nvSpPr>
          <p:cNvPr id="54" name="TextBox 53"/>
          <p:cNvSpPr txBox="1"/>
          <p:nvPr/>
        </p:nvSpPr>
        <p:spPr>
          <a:xfrm>
            <a:off x="6577303" y="4094620"/>
            <a:ext cx="583814" cy="338554"/>
          </a:xfrm>
          <a:prstGeom prst="rect">
            <a:avLst/>
          </a:prstGeom>
          <a:noFill/>
        </p:spPr>
        <p:txBody>
          <a:bodyPr wrap="square" rtlCol="0">
            <a:spAutoFit/>
          </a:bodyPr>
          <a:lstStyle/>
          <a:p>
            <a:pPr algn="r"/>
            <a:r>
              <a:rPr lang="en-GB" sz="1600" dirty="0">
                <a:solidFill>
                  <a:schemeClr val="tx2"/>
                </a:solidFill>
                <a:latin typeface="Arial" panose="020B0604020202020204" pitchFamily="34" charset="0"/>
                <a:cs typeface="Arial" panose="020B0604020202020204" pitchFamily="34" charset="0"/>
              </a:rPr>
              <a:t>0.25</a:t>
            </a:r>
          </a:p>
        </p:txBody>
      </p:sp>
      <p:cxnSp>
        <p:nvCxnSpPr>
          <p:cNvPr id="56" name="Straight Connector 55"/>
          <p:cNvCxnSpPr>
            <a:cxnSpLocks/>
          </p:cNvCxnSpPr>
          <p:nvPr/>
        </p:nvCxnSpPr>
        <p:spPr>
          <a:xfrm flipH="1">
            <a:off x="7131528" y="1946053"/>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6577302" y="1780714"/>
            <a:ext cx="583814" cy="338554"/>
          </a:xfrm>
          <a:prstGeom prst="rect">
            <a:avLst/>
          </a:prstGeom>
          <a:noFill/>
        </p:spPr>
        <p:txBody>
          <a:bodyPr wrap="none" rtlCol="0">
            <a:spAutoFit/>
          </a:bodyPr>
          <a:lstStyle/>
          <a:p>
            <a:pPr algn="r"/>
            <a:r>
              <a:rPr lang="en-GB" sz="1600" dirty="0">
                <a:solidFill>
                  <a:schemeClr val="tx2"/>
                </a:solidFill>
                <a:latin typeface="Arial" panose="020B0604020202020204" pitchFamily="34" charset="0"/>
                <a:cs typeface="Arial" panose="020B0604020202020204" pitchFamily="34" charset="0"/>
              </a:rPr>
              <a:t>1.00</a:t>
            </a:r>
          </a:p>
        </p:txBody>
      </p:sp>
      <p:cxnSp>
        <p:nvCxnSpPr>
          <p:cNvPr id="10" name="Straight Connector 9"/>
          <p:cNvCxnSpPr>
            <a:cxnSpLocks/>
          </p:cNvCxnSpPr>
          <p:nvPr/>
        </p:nvCxnSpPr>
        <p:spPr>
          <a:xfrm>
            <a:off x="7208347" y="1940719"/>
            <a:ext cx="0" cy="317067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a:xfrm flipH="1">
            <a:off x="7148025" y="5035199"/>
            <a:ext cx="405655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25C4735-CEF4-ABCF-066B-B617BEAE9F33}"/>
              </a:ext>
            </a:extLst>
          </p:cNvPr>
          <p:cNvSpPr txBox="1"/>
          <p:nvPr/>
        </p:nvSpPr>
        <p:spPr>
          <a:xfrm>
            <a:off x="10787033" y="5092082"/>
            <a:ext cx="798109" cy="338554"/>
          </a:xfrm>
          <a:prstGeom prst="rect">
            <a:avLst/>
          </a:prstGeom>
          <a:noFill/>
        </p:spPr>
        <p:txBody>
          <a:bodyPr wrap="square" rtlCol="0">
            <a:spAutoFit/>
          </a:bodyPr>
          <a:lstStyle/>
          <a:p>
            <a:pPr algn="ctr"/>
            <a:r>
              <a:rPr lang="en-GB" sz="1600" dirty="0">
                <a:solidFill>
                  <a:schemeClr val="tx2"/>
                </a:solidFill>
                <a:latin typeface="Arial" panose="020B0604020202020204" pitchFamily="34" charset="0"/>
                <a:cs typeface="Arial" panose="020B0604020202020204" pitchFamily="34" charset="0"/>
              </a:rPr>
              <a:t>10.0</a:t>
            </a:r>
          </a:p>
        </p:txBody>
      </p:sp>
      <p:sp>
        <p:nvSpPr>
          <p:cNvPr id="55" name="Freeform: Shape 54">
            <a:extLst>
              <a:ext uri="{FF2B5EF4-FFF2-40B4-BE49-F238E27FC236}">
                <a16:creationId xmlns:a16="http://schemas.microsoft.com/office/drawing/2014/main" id="{5DC806DE-2C04-B156-FAE5-AB22580C763C}"/>
              </a:ext>
            </a:extLst>
          </p:cNvPr>
          <p:cNvSpPr/>
          <p:nvPr/>
        </p:nvSpPr>
        <p:spPr>
          <a:xfrm>
            <a:off x="7225589" y="1940718"/>
            <a:ext cx="3962400" cy="1114425"/>
          </a:xfrm>
          <a:custGeom>
            <a:avLst/>
            <a:gdLst>
              <a:gd name="connsiteX0" fmla="*/ 0 w 3962400"/>
              <a:gd name="connsiteY0" fmla="*/ 0 h 1114425"/>
              <a:gd name="connsiteX1" fmla="*/ 942975 w 3962400"/>
              <a:gd name="connsiteY1" fmla="*/ 114300 h 1114425"/>
              <a:gd name="connsiteX2" fmla="*/ 1905000 w 3962400"/>
              <a:gd name="connsiteY2" fmla="*/ 342900 h 1114425"/>
              <a:gd name="connsiteX3" fmla="*/ 2943225 w 3962400"/>
              <a:gd name="connsiteY3" fmla="*/ 619125 h 1114425"/>
              <a:gd name="connsiteX4" fmla="*/ 3962400 w 3962400"/>
              <a:gd name="connsiteY4" fmla="*/ 1114425 h 1114425"/>
              <a:gd name="connsiteX0" fmla="*/ 0 w 3962400"/>
              <a:gd name="connsiteY0" fmla="*/ 0 h 1114425"/>
              <a:gd name="connsiteX1" fmla="*/ 942975 w 3962400"/>
              <a:gd name="connsiteY1" fmla="*/ 114300 h 1114425"/>
              <a:gd name="connsiteX2" fmla="*/ 1905000 w 3962400"/>
              <a:gd name="connsiteY2" fmla="*/ 342900 h 1114425"/>
              <a:gd name="connsiteX3" fmla="*/ 2981325 w 3962400"/>
              <a:gd name="connsiteY3" fmla="*/ 649605 h 1114425"/>
              <a:gd name="connsiteX4" fmla="*/ 3962400 w 3962400"/>
              <a:gd name="connsiteY4" fmla="*/ 1114425 h 1114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1114425">
                <a:moveTo>
                  <a:pt x="0" y="0"/>
                </a:moveTo>
                <a:cubicBezTo>
                  <a:pt x="312737" y="28575"/>
                  <a:pt x="625475" y="57150"/>
                  <a:pt x="942975" y="114300"/>
                </a:cubicBezTo>
                <a:cubicBezTo>
                  <a:pt x="1260475" y="171450"/>
                  <a:pt x="1565275" y="253683"/>
                  <a:pt x="1905000" y="342900"/>
                </a:cubicBezTo>
                <a:cubicBezTo>
                  <a:pt x="2244725" y="432117"/>
                  <a:pt x="2638425" y="521018"/>
                  <a:pt x="2981325" y="649605"/>
                </a:cubicBezTo>
                <a:cubicBezTo>
                  <a:pt x="3324225" y="778192"/>
                  <a:pt x="3624262" y="931068"/>
                  <a:pt x="3962400" y="1114425"/>
                </a:cubicBez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2"/>
              </a:solidFill>
            </a:endParaRPr>
          </a:p>
        </p:txBody>
      </p:sp>
      <p:sp>
        <p:nvSpPr>
          <p:cNvPr id="58" name="Freeform: Shape 57">
            <a:extLst>
              <a:ext uri="{FF2B5EF4-FFF2-40B4-BE49-F238E27FC236}">
                <a16:creationId xmlns:a16="http://schemas.microsoft.com/office/drawing/2014/main" id="{01FA6A10-DA46-DD60-C104-59E934E3AC7A}"/>
              </a:ext>
            </a:extLst>
          </p:cNvPr>
          <p:cNvSpPr/>
          <p:nvPr/>
        </p:nvSpPr>
        <p:spPr>
          <a:xfrm>
            <a:off x="7239000" y="1943100"/>
            <a:ext cx="3562350" cy="2736850"/>
          </a:xfrm>
          <a:custGeom>
            <a:avLst/>
            <a:gdLst>
              <a:gd name="connsiteX0" fmla="*/ 0 w 3562350"/>
              <a:gd name="connsiteY0" fmla="*/ 0 h 2736850"/>
              <a:gd name="connsiteX1" fmla="*/ 514350 w 3562350"/>
              <a:gd name="connsiteY1" fmla="*/ 222250 h 2736850"/>
              <a:gd name="connsiteX2" fmla="*/ 1149350 w 3562350"/>
              <a:gd name="connsiteY2" fmla="*/ 571500 h 2736850"/>
              <a:gd name="connsiteX3" fmla="*/ 1949450 w 3562350"/>
              <a:gd name="connsiteY3" fmla="*/ 996950 h 2736850"/>
              <a:gd name="connsiteX4" fmla="*/ 2565400 w 3562350"/>
              <a:gd name="connsiteY4" fmla="*/ 1612900 h 2736850"/>
              <a:gd name="connsiteX5" fmla="*/ 3321050 w 3562350"/>
              <a:gd name="connsiteY5" fmla="*/ 2324100 h 2736850"/>
              <a:gd name="connsiteX6" fmla="*/ 3562350 w 3562350"/>
              <a:gd name="connsiteY6" fmla="*/ 2736850 h 2736850"/>
              <a:gd name="connsiteX0" fmla="*/ 0 w 3562350"/>
              <a:gd name="connsiteY0" fmla="*/ 0 h 2736850"/>
              <a:gd name="connsiteX1" fmla="*/ 514350 w 3562350"/>
              <a:gd name="connsiteY1" fmla="*/ 222250 h 2736850"/>
              <a:gd name="connsiteX2" fmla="*/ 1149350 w 3562350"/>
              <a:gd name="connsiteY2" fmla="*/ 571500 h 2736850"/>
              <a:gd name="connsiteX3" fmla="*/ 1957070 w 3562350"/>
              <a:gd name="connsiteY3" fmla="*/ 1042670 h 2736850"/>
              <a:gd name="connsiteX4" fmla="*/ 2565400 w 3562350"/>
              <a:gd name="connsiteY4" fmla="*/ 1612900 h 2736850"/>
              <a:gd name="connsiteX5" fmla="*/ 3321050 w 3562350"/>
              <a:gd name="connsiteY5" fmla="*/ 2324100 h 2736850"/>
              <a:gd name="connsiteX6" fmla="*/ 3562350 w 3562350"/>
              <a:gd name="connsiteY6" fmla="*/ 2736850 h 2736850"/>
              <a:gd name="connsiteX0" fmla="*/ 0 w 3562350"/>
              <a:gd name="connsiteY0" fmla="*/ 0 h 2736850"/>
              <a:gd name="connsiteX1" fmla="*/ 514350 w 3562350"/>
              <a:gd name="connsiteY1" fmla="*/ 222250 h 2736850"/>
              <a:gd name="connsiteX2" fmla="*/ 1149350 w 3562350"/>
              <a:gd name="connsiteY2" fmla="*/ 571500 h 2736850"/>
              <a:gd name="connsiteX3" fmla="*/ 1957070 w 3562350"/>
              <a:gd name="connsiteY3" fmla="*/ 1042670 h 2736850"/>
              <a:gd name="connsiteX4" fmla="*/ 2626360 w 3562350"/>
              <a:gd name="connsiteY4" fmla="*/ 1612900 h 2736850"/>
              <a:gd name="connsiteX5" fmla="*/ 3321050 w 3562350"/>
              <a:gd name="connsiteY5" fmla="*/ 2324100 h 2736850"/>
              <a:gd name="connsiteX6" fmla="*/ 3562350 w 3562350"/>
              <a:gd name="connsiteY6" fmla="*/ 2736850 h 273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2350" h="2736850">
                <a:moveTo>
                  <a:pt x="0" y="0"/>
                </a:moveTo>
                <a:cubicBezTo>
                  <a:pt x="161396" y="63500"/>
                  <a:pt x="322792" y="127000"/>
                  <a:pt x="514350" y="222250"/>
                </a:cubicBezTo>
                <a:cubicBezTo>
                  <a:pt x="705908" y="317500"/>
                  <a:pt x="908897" y="434763"/>
                  <a:pt x="1149350" y="571500"/>
                </a:cubicBezTo>
                <a:cubicBezTo>
                  <a:pt x="1389803" y="708237"/>
                  <a:pt x="1710902" y="869103"/>
                  <a:pt x="1957070" y="1042670"/>
                </a:cubicBezTo>
                <a:cubicBezTo>
                  <a:pt x="2203238" y="1216237"/>
                  <a:pt x="2399030" y="1399328"/>
                  <a:pt x="2626360" y="1612900"/>
                </a:cubicBezTo>
                <a:cubicBezTo>
                  <a:pt x="2853690" y="1826472"/>
                  <a:pt x="3154892" y="2136775"/>
                  <a:pt x="3321050" y="2324100"/>
                </a:cubicBezTo>
                <a:cubicBezTo>
                  <a:pt x="3487208" y="2511425"/>
                  <a:pt x="3524779" y="2624137"/>
                  <a:pt x="3562350" y="2736850"/>
                </a:cubicBezTo>
              </a:path>
            </a:pathLst>
          </a:custGeom>
          <a:no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Freeform: Shape 58">
            <a:extLst>
              <a:ext uri="{FF2B5EF4-FFF2-40B4-BE49-F238E27FC236}">
                <a16:creationId xmlns:a16="http://schemas.microsoft.com/office/drawing/2014/main" id="{FB93F1AC-A7E5-CE7C-8D93-8C82C708F482}"/>
              </a:ext>
            </a:extLst>
          </p:cNvPr>
          <p:cNvSpPr/>
          <p:nvPr/>
        </p:nvSpPr>
        <p:spPr>
          <a:xfrm>
            <a:off x="7245350" y="1943100"/>
            <a:ext cx="2749550" cy="2355850"/>
          </a:xfrm>
          <a:custGeom>
            <a:avLst/>
            <a:gdLst>
              <a:gd name="connsiteX0" fmla="*/ 0 w 2749550"/>
              <a:gd name="connsiteY0" fmla="*/ 0 h 2355850"/>
              <a:gd name="connsiteX1" fmla="*/ 679450 w 2749550"/>
              <a:gd name="connsiteY1" fmla="*/ 615950 h 2355850"/>
              <a:gd name="connsiteX2" fmla="*/ 1581150 w 2749550"/>
              <a:gd name="connsiteY2" fmla="*/ 1562100 h 2355850"/>
              <a:gd name="connsiteX3" fmla="*/ 2152650 w 2749550"/>
              <a:gd name="connsiteY3" fmla="*/ 1993900 h 2355850"/>
              <a:gd name="connsiteX4" fmla="*/ 2749550 w 2749550"/>
              <a:gd name="connsiteY4" fmla="*/ 2355850 h 2355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9550" h="2355850">
                <a:moveTo>
                  <a:pt x="0" y="0"/>
                </a:moveTo>
                <a:cubicBezTo>
                  <a:pt x="207962" y="177800"/>
                  <a:pt x="415925" y="355600"/>
                  <a:pt x="679450" y="615950"/>
                </a:cubicBezTo>
                <a:cubicBezTo>
                  <a:pt x="942975" y="876300"/>
                  <a:pt x="1335617" y="1332442"/>
                  <a:pt x="1581150" y="1562100"/>
                </a:cubicBezTo>
                <a:cubicBezTo>
                  <a:pt x="1826683" y="1791758"/>
                  <a:pt x="1957917" y="1861608"/>
                  <a:pt x="2152650" y="1993900"/>
                </a:cubicBezTo>
                <a:cubicBezTo>
                  <a:pt x="2347383" y="2126192"/>
                  <a:pt x="2548466" y="2241021"/>
                  <a:pt x="2749550" y="2355850"/>
                </a:cubicBezTo>
              </a:path>
            </a:pathLst>
          </a:custGeom>
          <a:no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Freeform: Shape 59">
            <a:extLst>
              <a:ext uri="{FF2B5EF4-FFF2-40B4-BE49-F238E27FC236}">
                <a16:creationId xmlns:a16="http://schemas.microsoft.com/office/drawing/2014/main" id="{06353ED4-B0D7-77F7-B7E2-BAC0DA31EF14}"/>
              </a:ext>
            </a:extLst>
          </p:cNvPr>
          <p:cNvSpPr/>
          <p:nvPr/>
        </p:nvSpPr>
        <p:spPr>
          <a:xfrm>
            <a:off x="7232650" y="1943100"/>
            <a:ext cx="2705100" cy="2425700"/>
          </a:xfrm>
          <a:custGeom>
            <a:avLst/>
            <a:gdLst>
              <a:gd name="connsiteX0" fmla="*/ 0 w 2705100"/>
              <a:gd name="connsiteY0" fmla="*/ 0 h 2425700"/>
              <a:gd name="connsiteX1" fmla="*/ 488950 w 2705100"/>
              <a:gd name="connsiteY1" fmla="*/ 552450 h 2425700"/>
              <a:gd name="connsiteX2" fmla="*/ 971550 w 2705100"/>
              <a:gd name="connsiteY2" fmla="*/ 1282700 h 2425700"/>
              <a:gd name="connsiteX3" fmla="*/ 1517650 w 2705100"/>
              <a:gd name="connsiteY3" fmla="*/ 1847850 h 2425700"/>
              <a:gd name="connsiteX4" fmla="*/ 2051050 w 2705100"/>
              <a:gd name="connsiteY4" fmla="*/ 2260600 h 2425700"/>
              <a:gd name="connsiteX5" fmla="*/ 2705100 w 2705100"/>
              <a:gd name="connsiteY5" fmla="*/ 2425700 h 2425700"/>
              <a:gd name="connsiteX0" fmla="*/ 0 w 2705100"/>
              <a:gd name="connsiteY0" fmla="*/ 0 h 2425700"/>
              <a:gd name="connsiteX1" fmla="*/ 488950 w 2705100"/>
              <a:gd name="connsiteY1" fmla="*/ 552450 h 2425700"/>
              <a:gd name="connsiteX2" fmla="*/ 1009650 w 2705100"/>
              <a:gd name="connsiteY2" fmla="*/ 1289050 h 2425700"/>
              <a:gd name="connsiteX3" fmla="*/ 1517650 w 2705100"/>
              <a:gd name="connsiteY3" fmla="*/ 1847850 h 2425700"/>
              <a:gd name="connsiteX4" fmla="*/ 2051050 w 2705100"/>
              <a:gd name="connsiteY4" fmla="*/ 2260600 h 2425700"/>
              <a:gd name="connsiteX5" fmla="*/ 2705100 w 2705100"/>
              <a:gd name="connsiteY5" fmla="*/ 2425700 h 2425700"/>
              <a:gd name="connsiteX0" fmla="*/ 0 w 2705100"/>
              <a:gd name="connsiteY0" fmla="*/ 0 h 2425700"/>
              <a:gd name="connsiteX1" fmla="*/ 488950 w 2705100"/>
              <a:gd name="connsiteY1" fmla="*/ 552450 h 2425700"/>
              <a:gd name="connsiteX2" fmla="*/ 1009650 w 2705100"/>
              <a:gd name="connsiteY2" fmla="*/ 1289050 h 2425700"/>
              <a:gd name="connsiteX3" fmla="*/ 1543050 w 2705100"/>
              <a:gd name="connsiteY3" fmla="*/ 1873250 h 2425700"/>
              <a:gd name="connsiteX4" fmla="*/ 2051050 w 2705100"/>
              <a:gd name="connsiteY4" fmla="*/ 2260600 h 2425700"/>
              <a:gd name="connsiteX5" fmla="*/ 2705100 w 2705100"/>
              <a:gd name="connsiteY5" fmla="*/ 2425700 h 2425700"/>
              <a:gd name="connsiteX0" fmla="*/ 0 w 2705100"/>
              <a:gd name="connsiteY0" fmla="*/ 0 h 2425700"/>
              <a:gd name="connsiteX1" fmla="*/ 488950 w 2705100"/>
              <a:gd name="connsiteY1" fmla="*/ 552450 h 2425700"/>
              <a:gd name="connsiteX2" fmla="*/ 1009650 w 2705100"/>
              <a:gd name="connsiteY2" fmla="*/ 1289050 h 2425700"/>
              <a:gd name="connsiteX3" fmla="*/ 1543050 w 2705100"/>
              <a:gd name="connsiteY3" fmla="*/ 1873250 h 2425700"/>
              <a:gd name="connsiteX4" fmla="*/ 2070100 w 2705100"/>
              <a:gd name="connsiteY4" fmla="*/ 2273300 h 2425700"/>
              <a:gd name="connsiteX5" fmla="*/ 2705100 w 2705100"/>
              <a:gd name="connsiteY5" fmla="*/ 2425700 h 2425700"/>
              <a:gd name="connsiteX0" fmla="*/ 0 w 2705100"/>
              <a:gd name="connsiteY0" fmla="*/ 0 h 2425700"/>
              <a:gd name="connsiteX1" fmla="*/ 488950 w 2705100"/>
              <a:gd name="connsiteY1" fmla="*/ 552450 h 2425700"/>
              <a:gd name="connsiteX2" fmla="*/ 1009650 w 2705100"/>
              <a:gd name="connsiteY2" fmla="*/ 1289050 h 2425700"/>
              <a:gd name="connsiteX3" fmla="*/ 1543050 w 2705100"/>
              <a:gd name="connsiteY3" fmla="*/ 1873250 h 2425700"/>
              <a:gd name="connsiteX4" fmla="*/ 2032000 w 2705100"/>
              <a:gd name="connsiteY4" fmla="*/ 2254250 h 2425700"/>
              <a:gd name="connsiteX5" fmla="*/ 2705100 w 2705100"/>
              <a:gd name="connsiteY5" fmla="*/ 2425700 h 2425700"/>
              <a:gd name="connsiteX0" fmla="*/ 0 w 2705100"/>
              <a:gd name="connsiteY0" fmla="*/ 0 h 2425700"/>
              <a:gd name="connsiteX1" fmla="*/ 488950 w 2705100"/>
              <a:gd name="connsiteY1" fmla="*/ 552450 h 2425700"/>
              <a:gd name="connsiteX2" fmla="*/ 1028700 w 2705100"/>
              <a:gd name="connsiteY2" fmla="*/ 1289050 h 2425700"/>
              <a:gd name="connsiteX3" fmla="*/ 1543050 w 2705100"/>
              <a:gd name="connsiteY3" fmla="*/ 1873250 h 2425700"/>
              <a:gd name="connsiteX4" fmla="*/ 2032000 w 2705100"/>
              <a:gd name="connsiteY4" fmla="*/ 2254250 h 2425700"/>
              <a:gd name="connsiteX5" fmla="*/ 2705100 w 2705100"/>
              <a:gd name="connsiteY5" fmla="*/ 24257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5100" h="2425700">
                <a:moveTo>
                  <a:pt x="0" y="0"/>
                </a:moveTo>
                <a:cubicBezTo>
                  <a:pt x="163512" y="169333"/>
                  <a:pt x="317500" y="337608"/>
                  <a:pt x="488950" y="552450"/>
                </a:cubicBezTo>
                <a:cubicBezTo>
                  <a:pt x="660400" y="767292"/>
                  <a:pt x="853017" y="1068917"/>
                  <a:pt x="1028700" y="1289050"/>
                </a:cubicBezTo>
                <a:cubicBezTo>
                  <a:pt x="1204383" y="1509183"/>
                  <a:pt x="1375833" y="1712383"/>
                  <a:pt x="1543050" y="1873250"/>
                </a:cubicBezTo>
                <a:cubicBezTo>
                  <a:pt x="1710267" y="2034117"/>
                  <a:pt x="1834092" y="2157942"/>
                  <a:pt x="2032000" y="2254250"/>
                </a:cubicBezTo>
                <a:cubicBezTo>
                  <a:pt x="2229908" y="2350558"/>
                  <a:pt x="2477029" y="2391304"/>
                  <a:pt x="2705100" y="2425700"/>
                </a:cubicBezTo>
              </a:path>
            </a:pathLst>
          </a:cu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Freeform: Shape 60">
            <a:extLst>
              <a:ext uri="{FF2B5EF4-FFF2-40B4-BE49-F238E27FC236}">
                <a16:creationId xmlns:a16="http://schemas.microsoft.com/office/drawing/2014/main" id="{AF0C907A-2755-A0F9-52A6-B9A043618D90}"/>
              </a:ext>
            </a:extLst>
          </p:cNvPr>
          <p:cNvSpPr/>
          <p:nvPr/>
        </p:nvSpPr>
        <p:spPr>
          <a:xfrm>
            <a:off x="7226300" y="1943100"/>
            <a:ext cx="1758950" cy="2349500"/>
          </a:xfrm>
          <a:custGeom>
            <a:avLst/>
            <a:gdLst>
              <a:gd name="connsiteX0" fmla="*/ 0 w 1758950"/>
              <a:gd name="connsiteY0" fmla="*/ 0 h 2349500"/>
              <a:gd name="connsiteX1" fmla="*/ 215900 w 1758950"/>
              <a:gd name="connsiteY1" fmla="*/ 431800 h 2349500"/>
              <a:gd name="connsiteX2" fmla="*/ 673100 w 1758950"/>
              <a:gd name="connsiteY2" fmla="*/ 1054100 h 2349500"/>
              <a:gd name="connsiteX3" fmla="*/ 1301750 w 1758950"/>
              <a:gd name="connsiteY3" fmla="*/ 1955800 h 2349500"/>
              <a:gd name="connsiteX4" fmla="*/ 1758950 w 1758950"/>
              <a:gd name="connsiteY4" fmla="*/ 2349500 h 2349500"/>
              <a:gd name="connsiteX0" fmla="*/ 0 w 1758950"/>
              <a:gd name="connsiteY0" fmla="*/ 0 h 2349500"/>
              <a:gd name="connsiteX1" fmla="*/ 215900 w 1758950"/>
              <a:gd name="connsiteY1" fmla="*/ 431800 h 2349500"/>
              <a:gd name="connsiteX2" fmla="*/ 717550 w 1758950"/>
              <a:gd name="connsiteY2" fmla="*/ 1162050 h 2349500"/>
              <a:gd name="connsiteX3" fmla="*/ 1301750 w 1758950"/>
              <a:gd name="connsiteY3" fmla="*/ 1955800 h 2349500"/>
              <a:gd name="connsiteX4" fmla="*/ 1758950 w 1758950"/>
              <a:gd name="connsiteY4" fmla="*/ 2349500 h 2349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8950" h="2349500">
                <a:moveTo>
                  <a:pt x="0" y="0"/>
                </a:moveTo>
                <a:cubicBezTo>
                  <a:pt x="51858" y="128058"/>
                  <a:pt x="96308" y="238125"/>
                  <a:pt x="215900" y="431800"/>
                </a:cubicBezTo>
                <a:cubicBezTo>
                  <a:pt x="335492" y="625475"/>
                  <a:pt x="536575" y="908050"/>
                  <a:pt x="717550" y="1162050"/>
                </a:cubicBezTo>
                <a:cubicBezTo>
                  <a:pt x="898525" y="1416050"/>
                  <a:pt x="1120775" y="1739900"/>
                  <a:pt x="1301750" y="1955800"/>
                </a:cubicBezTo>
                <a:cubicBezTo>
                  <a:pt x="1482725" y="2171700"/>
                  <a:pt x="1758950" y="2349500"/>
                  <a:pt x="1758950" y="2349500"/>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TextBox 61">
            <a:extLst>
              <a:ext uri="{FF2B5EF4-FFF2-40B4-BE49-F238E27FC236}">
                <a16:creationId xmlns:a16="http://schemas.microsoft.com/office/drawing/2014/main" id="{E4E6B5EF-DD8D-EA8B-8647-7AD52FB74262}"/>
              </a:ext>
            </a:extLst>
          </p:cNvPr>
          <p:cNvSpPr txBox="1"/>
          <p:nvPr/>
        </p:nvSpPr>
        <p:spPr>
          <a:xfrm rot="649901">
            <a:off x="8983409" y="2106006"/>
            <a:ext cx="1029449" cy="246221"/>
          </a:xfrm>
          <a:prstGeom prst="rect">
            <a:avLst/>
          </a:prstGeom>
          <a:noFill/>
        </p:spPr>
        <p:txBody>
          <a:bodyPr wrap="none" rtlCol="0">
            <a:spAutoFit/>
          </a:bodyPr>
          <a:lstStyle/>
          <a:p>
            <a:r>
              <a:rPr lang="en-GB" sz="1000" b="1" dirty="0">
                <a:solidFill>
                  <a:schemeClr val="tx2"/>
                </a:solidFill>
              </a:rPr>
              <a:t>After baseline</a:t>
            </a:r>
          </a:p>
        </p:txBody>
      </p:sp>
      <p:sp>
        <p:nvSpPr>
          <p:cNvPr id="63" name="TextBox 62">
            <a:extLst>
              <a:ext uri="{FF2B5EF4-FFF2-40B4-BE49-F238E27FC236}">
                <a16:creationId xmlns:a16="http://schemas.microsoft.com/office/drawing/2014/main" id="{111126F0-ACCB-2479-FC86-C90A12726060}"/>
              </a:ext>
            </a:extLst>
          </p:cNvPr>
          <p:cNvSpPr txBox="1"/>
          <p:nvPr/>
        </p:nvSpPr>
        <p:spPr>
          <a:xfrm>
            <a:off x="10177174" y="3410392"/>
            <a:ext cx="926340" cy="553998"/>
          </a:xfrm>
          <a:prstGeom prst="rect">
            <a:avLst/>
          </a:prstGeom>
          <a:noFill/>
        </p:spPr>
        <p:txBody>
          <a:bodyPr wrap="square" rtlCol="0">
            <a:spAutoFit/>
          </a:bodyPr>
          <a:lstStyle/>
          <a:p>
            <a:pPr algn="ctr"/>
            <a:r>
              <a:rPr lang="en-GB" sz="1000" dirty="0">
                <a:solidFill>
                  <a:schemeClr val="accent5">
                    <a:lumMod val="75000"/>
                  </a:schemeClr>
                </a:solidFill>
              </a:rPr>
              <a:t>After </a:t>
            </a:r>
            <a:r>
              <a:rPr lang="en-GB" sz="1000" b="1" dirty="0">
                <a:solidFill>
                  <a:schemeClr val="accent5">
                    <a:lumMod val="75000"/>
                  </a:schemeClr>
                </a:solidFill>
              </a:rPr>
              <a:t>1</a:t>
            </a:r>
            <a:r>
              <a:rPr lang="en-GB" sz="1000" b="1" baseline="30000" dirty="0">
                <a:solidFill>
                  <a:schemeClr val="accent5">
                    <a:lumMod val="75000"/>
                  </a:schemeClr>
                </a:solidFill>
              </a:rPr>
              <a:t>st</a:t>
            </a:r>
            <a:r>
              <a:rPr lang="en-GB" sz="1000" dirty="0">
                <a:solidFill>
                  <a:schemeClr val="accent5">
                    <a:lumMod val="75000"/>
                  </a:schemeClr>
                </a:solidFill>
              </a:rPr>
              <a:t> clinical milestone</a:t>
            </a:r>
          </a:p>
        </p:txBody>
      </p:sp>
      <p:sp>
        <p:nvSpPr>
          <p:cNvPr id="64" name="TextBox 63">
            <a:extLst>
              <a:ext uri="{FF2B5EF4-FFF2-40B4-BE49-F238E27FC236}">
                <a16:creationId xmlns:a16="http://schemas.microsoft.com/office/drawing/2014/main" id="{31088680-411D-8C5F-D481-1E1B89AB6C8E}"/>
              </a:ext>
            </a:extLst>
          </p:cNvPr>
          <p:cNvSpPr txBox="1"/>
          <p:nvPr/>
        </p:nvSpPr>
        <p:spPr>
          <a:xfrm>
            <a:off x="9726485" y="4431392"/>
            <a:ext cx="941482" cy="553998"/>
          </a:xfrm>
          <a:prstGeom prst="rect">
            <a:avLst/>
          </a:prstGeom>
          <a:noFill/>
        </p:spPr>
        <p:txBody>
          <a:bodyPr wrap="square" rtlCol="0">
            <a:spAutoFit/>
          </a:bodyPr>
          <a:lstStyle/>
          <a:p>
            <a:pPr algn="ctr"/>
            <a:r>
              <a:rPr lang="en-GB" sz="1000" dirty="0">
                <a:solidFill>
                  <a:schemeClr val="accent3">
                    <a:lumMod val="75000"/>
                  </a:schemeClr>
                </a:solidFill>
              </a:rPr>
              <a:t>After </a:t>
            </a:r>
            <a:r>
              <a:rPr lang="en-GB" sz="1000" b="1" dirty="0">
                <a:solidFill>
                  <a:schemeClr val="accent3">
                    <a:lumMod val="75000"/>
                  </a:schemeClr>
                </a:solidFill>
              </a:rPr>
              <a:t>2</a:t>
            </a:r>
            <a:r>
              <a:rPr lang="en-GB" sz="1000" b="1" baseline="30000" dirty="0">
                <a:solidFill>
                  <a:schemeClr val="accent3">
                    <a:lumMod val="75000"/>
                  </a:schemeClr>
                </a:solidFill>
              </a:rPr>
              <a:t>nd</a:t>
            </a:r>
            <a:r>
              <a:rPr lang="en-GB" sz="1000" dirty="0">
                <a:solidFill>
                  <a:schemeClr val="accent3">
                    <a:lumMod val="75000"/>
                  </a:schemeClr>
                </a:solidFill>
              </a:rPr>
              <a:t> clinical milestone</a:t>
            </a:r>
          </a:p>
        </p:txBody>
      </p:sp>
      <p:sp>
        <p:nvSpPr>
          <p:cNvPr id="65" name="TextBox 64">
            <a:extLst>
              <a:ext uri="{FF2B5EF4-FFF2-40B4-BE49-F238E27FC236}">
                <a16:creationId xmlns:a16="http://schemas.microsoft.com/office/drawing/2014/main" id="{939A6F3C-1E25-4DE1-6693-A211110AB226}"/>
              </a:ext>
            </a:extLst>
          </p:cNvPr>
          <p:cNvSpPr txBox="1"/>
          <p:nvPr/>
        </p:nvSpPr>
        <p:spPr>
          <a:xfrm>
            <a:off x="8830660" y="4431392"/>
            <a:ext cx="931388" cy="553998"/>
          </a:xfrm>
          <a:prstGeom prst="rect">
            <a:avLst/>
          </a:prstGeom>
          <a:noFill/>
        </p:spPr>
        <p:txBody>
          <a:bodyPr wrap="square" rtlCol="0">
            <a:spAutoFit/>
          </a:bodyPr>
          <a:lstStyle/>
          <a:p>
            <a:pPr algn="ctr"/>
            <a:r>
              <a:rPr lang="en-GB" sz="1000" dirty="0">
                <a:solidFill>
                  <a:schemeClr val="accent2">
                    <a:lumMod val="75000"/>
                  </a:schemeClr>
                </a:solidFill>
              </a:rPr>
              <a:t>After </a:t>
            </a:r>
            <a:r>
              <a:rPr lang="en-GB" sz="1000" b="1" dirty="0">
                <a:solidFill>
                  <a:schemeClr val="accent2">
                    <a:lumMod val="75000"/>
                  </a:schemeClr>
                </a:solidFill>
              </a:rPr>
              <a:t>3</a:t>
            </a:r>
            <a:r>
              <a:rPr lang="en-GB" sz="1000" b="1" baseline="30000" dirty="0">
                <a:solidFill>
                  <a:schemeClr val="accent2">
                    <a:lumMod val="75000"/>
                  </a:schemeClr>
                </a:solidFill>
              </a:rPr>
              <a:t>rd</a:t>
            </a:r>
            <a:r>
              <a:rPr lang="en-GB" sz="1000" dirty="0">
                <a:solidFill>
                  <a:schemeClr val="accent2">
                    <a:lumMod val="75000"/>
                  </a:schemeClr>
                </a:solidFill>
              </a:rPr>
              <a:t> clinical milestone</a:t>
            </a:r>
          </a:p>
        </p:txBody>
      </p:sp>
      <p:sp>
        <p:nvSpPr>
          <p:cNvPr id="66" name="TextBox 65">
            <a:extLst>
              <a:ext uri="{FF2B5EF4-FFF2-40B4-BE49-F238E27FC236}">
                <a16:creationId xmlns:a16="http://schemas.microsoft.com/office/drawing/2014/main" id="{F876E061-4C31-D3F7-4920-47D557CF3801}"/>
              </a:ext>
            </a:extLst>
          </p:cNvPr>
          <p:cNvSpPr txBox="1"/>
          <p:nvPr/>
        </p:nvSpPr>
        <p:spPr>
          <a:xfrm>
            <a:off x="7879839" y="4431392"/>
            <a:ext cx="928862" cy="553998"/>
          </a:xfrm>
          <a:prstGeom prst="rect">
            <a:avLst/>
          </a:prstGeom>
          <a:noFill/>
        </p:spPr>
        <p:txBody>
          <a:bodyPr wrap="square" rtlCol="0">
            <a:spAutoFit/>
          </a:bodyPr>
          <a:lstStyle/>
          <a:p>
            <a:pPr algn="ctr"/>
            <a:r>
              <a:rPr lang="en-GB" sz="1000" dirty="0">
                <a:solidFill>
                  <a:schemeClr val="accent1"/>
                </a:solidFill>
              </a:rPr>
              <a:t>After </a:t>
            </a:r>
            <a:r>
              <a:rPr lang="en-GB" sz="1000" b="1" dirty="0">
                <a:solidFill>
                  <a:schemeClr val="accent1"/>
                </a:solidFill>
              </a:rPr>
              <a:t>4</a:t>
            </a:r>
            <a:r>
              <a:rPr lang="en-GB" sz="1000" b="1" baseline="30000" dirty="0">
                <a:solidFill>
                  <a:schemeClr val="accent1"/>
                </a:solidFill>
              </a:rPr>
              <a:t>th</a:t>
            </a:r>
            <a:r>
              <a:rPr lang="en-GB" sz="1000" b="1" dirty="0">
                <a:solidFill>
                  <a:schemeClr val="accent1"/>
                </a:solidFill>
              </a:rPr>
              <a:t> </a:t>
            </a:r>
            <a:r>
              <a:rPr lang="en-GB" sz="1000" dirty="0">
                <a:solidFill>
                  <a:schemeClr val="accent1"/>
                </a:solidFill>
              </a:rPr>
              <a:t>clinical milestone</a:t>
            </a:r>
          </a:p>
        </p:txBody>
      </p:sp>
      <p:cxnSp>
        <p:nvCxnSpPr>
          <p:cNvPr id="68" name="Straight Connector 67">
            <a:extLst>
              <a:ext uri="{FF2B5EF4-FFF2-40B4-BE49-F238E27FC236}">
                <a16:creationId xmlns:a16="http://schemas.microsoft.com/office/drawing/2014/main" id="{CB67CA0A-93E1-85A5-BA1E-1BDDE5D08E7A}"/>
              </a:ext>
            </a:extLst>
          </p:cNvPr>
          <p:cNvCxnSpPr>
            <a:cxnSpLocks/>
          </p:cNvCxnSpPr>
          <p:nvPr/>
        </p:nvCxnSpPr>
        <p:spPr>
          <a:xfrm>
            <a:off x="10029825" y="3681384"/>
            <a:ext cx="2721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B2459CD-F93F-9729-90D1-3F1130981E3D}"/>
              </a:ext>
            </a:extLst>
          </p:cNvPr>
          <p:cNvCxnSpPr>
            <a:cxnSpLocks/>
          </p:cNvCxnSpPr>
          <p:nvPr/>
        </p:nvCxnSpPr>
        <p:spPr>
          <a:xfrm>
            <a:off x="10011726" y="4306093"/>
            <a:ext cx="124931" cy="101601"/>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C2144F4-9B68-4E90-88FF-709C6621CA2F}"/>
              </a:ext>
            </a:extLst>
          </p:cNvPr>
          <p:cNvCxnSpPr>
            <a:cxnSpLocks/>
          </p:cNvCxnSpPr>
          <p:nvPr/>
        </p:nvCxnSpPr>
        <p:spPr>
          <a:xfrm flipH="1">
            <a:off x="9278962" y="4283869"/>
            <a:ext cx="107926" cy="149305"/>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1D00499-C9F6-92A2-B6C2-AAF22DA90620}"/>
              </a:ext>
            </a:extLst>
          </p:cNvPr>
          <p:cNvCxnSpPr>
            <a:cxnSpLocks/>
          </p:cNvCxnSpPr>
          <p:nvPr/>
        </p:nvCxnSpPr>
        <p:spPr>
          <a:xfrm flipH="1">
            <a:off x="8347574" y="4050506"/>
            <a:ext cx="274669" cy="379978"/>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7">
            <a:extLst>
              <a:ext uri="{FF2B5EF4-FFF2-40B4-BE49-F238E27FC236}">
                <a16:creationId xmlns:a16="http://schemas.microsoft.com/office/drawing/2014/main" id="{AA129979-C606-5588-C08D-59A571CE9E97}"/>
              </a:ext>
            </a:extLst>
          </p:cNvPr>
          <p:cNvSpPr txBox="1"/>
          <p:nvPr/>
        </p:nvSpPr>
        <p:spPr>
          <a:xfrm>
            <a:off x="5887233" y="5788030"/>
            <a:ext cx="5899759" cy="369332"/>
          </a:xfrm>
          <a:prstGeom prst="rect">
            <a:avLst/>
          </a:prstGeom>
          <a:noFill/>
        </p:spPr>
        <p:txBody>
          <a:bodyPr wrap="square">
            <a:spAutoFit/>
          </a:bodyPr>
          <a:lstStyle/>
          <a:p>
            <a:pPr fontAlgn="base"/>
            <a:r>
              <a:rPr lang="en-US" sz="900" kern="1200" dirty="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This work is adapted from ‘</a:t>
            </a:r>
            <a:r>
              <a:rPr lang="en-GB" sz="900" kern="1200" dirty="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Parkinson’s disease clinical milestones and mortality</a:t>
            </a:r>
            <a:r>
              <a:rPr lang="en-US" sz="900" kern="1200" dirty="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 by Gonzalez et al., used under CC-BY. This work is licensed under Creative Commons license CC-BY-SA by The Lundbeck Foundation.</a:t>
            </a:r>
            <a:endParaRPr lang="en-GB" sz="1200" dirty="0">
              <a:solidFill>
                <a:srgbClr val="000000"/>
              </a:solidFill>
              <a:effectLst/>
              <a:latin typeface="Times New Roman" panose="02020603050405020304" pitchFamily="18" charset="0"/>
              <a:ea typeface="Times New Roman" panose="02020603050405020304" pitchFamily="18" charset="0"/>
            </a:endParaRPr>
          </a:p>
        </p:txBody>
      </p:sp>
    </p:spTree>
    <p:custDataLst>
      <p:tags r:id="rId1"/>
    </p:custDataLst>
    <p:extLst>
      <p:ext uri="{BB962C8B-B14F-4D97-AF65-F5344CB8AC3E}">
        <p14:creationId xmlns:p14="http://schemas.microsoft.com/office/powerpoint/2010/main" val="733064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2" name="Title 1"/>
          <p:cNvSpPr>
            <a:spLocks noGrp="1"/>
          </p:cNvSpPr>
          <p:nvPr>
            <p:ph type="title"/>
          </p:nvPr>
        </p:nvSpPr>
        <p:spPr/>
        <p:txBody>
          <a:bodyPr/>
          <a:lstStyle/>
          <a:p>
            <a:r>
              <a:rPr lang="en-GB" dirty="0"/>
              <a:t>Multicentre studies of long-term prognosis</a:t>
            </a:r>
          </a:p>
        </p:txBody>
      </p:sp>
      <p:sp>
        <p:nvSpPr>
          <p:cNvPr id="3" name="Content Placeholder 2"/>
          <p:cNvSpPr>
            <a:spLocks noGrp="1"/>
          </p:cNvSpPr>
          <p:nvPr>
            <p:ph idx="20"/>
          </p:nvPr>
        </p:nvSpPr>
        <p:spPr>
          <a:xfrm>
            <a:off x="539750" y="1427802"/>
            <a:ext cx="5419725" cy="4415215"/>
          </a:xfrm>
        </p:spPr>
        <p:txBody>
          <a:bodyPr>
            <a:normAutofit/>
          </a:bodyPr>
          <a:lstStyle/>
          <a:p>
            <a:r>
              <a:rPr lang="en-GB" altLang="en-US" sz="1400" dirty="0"/>
              <a:t>The Sydney multicentre study followed 149 patients with PD, recruited between 1984 and 1987</a:t>
            </a:r>
            <a:r>
              <a:rPr lang="en-GB" altLang="en-US" sz="1400" baseline="30000" dirty="0"/>
              <a:t>1,2</a:t>
            </a:r>
          </a:p>
          <a:p>
            <a:r>
              <a:rPr lang="en-GB" altLang="en-US" sz="1400" dirty="0"/>
              <a:t>After 20 years, 74% of those being followed had died:</a:t>
            </a:r>
            <a:r>
              <a:rPr lang="en-GB" altLang="en-US" sz="1400" baseline="30000" dirty="0"/>
              <a:t>2</a:t>
            </a:r>
            <a:endParaRPr lang="en-GB" altLang="en-US" sz="1400" dirty="0"/>
          </a:p>
          <a:p>
            <a:pPr lvl="1"/>
            <a:r>
              <a:rPr lang="en-GB" altLang="en-US" dirty="0"/>
              <a:t>The mean age at death was 76 years</a:t>
            </a:r>
          </a:p>
          <a:p>
            <a:pPr lvl="1"/>
            <a:r>
              <a:rPr lang="en-GB" altLang="en-US" dirty="0"/>
              <a:t>Median survival time from historical onset of disease to death was 12.4 years</a:t>
            </a:r>
          </a:p>
          <a:p>
            <a:pPr lvl="1"/>
            <a:r>
              <a:rPr lang="en-GB" altLang="en-US" dirty="0"/>
              <a:t>Pneumonia was the most common cause of death (25%)</a:t>
            </a:r>
          </a:p>
          <a:p>
            <a:r>
              <a:rPr lang="en-GB" altLang="en-US" sz="1400" dirty="0"/>
              <a:t>The Barcelona and Lisbon cohort study interviewed late-stage patients with PD, and found that dementia was present in only half of the patients – suggesting dementia in PD is not a certainty</a:t>
            </a:r>
            <a:r>
              <a:rPr lang="en-GB" altLang="en-US" sz="1400" baseline="30000" dirty="0"/>
              <a:t>3</a:t>
            </a:r>
            <a:endParaRPr lang="en-GB" altLang="en-US" sz="1400" dirty="0"/>
          </a:p>
          <a:p>
            <a:r>
              <a:rPr lang="en-GB" altLang="en-US" sz="1400" dirty="0"/>
              <a:t>A population-based study in Sweden followed all 182 people diagnosed with PD in a catchment area for 13.5 years</a:t>
            </a:r>
            <a:r>
              <a:rPr lang="en-GB" altLang="en-US" sz="1400" baseline="30000" dirty="0"/>
              <a:t>4</a:t>
            </a:r>
            <a:endParaRPr lang="en-GB" altLang="en-US" sz="1400" dirty="0"/>
          </a:p>
          <a:p>
            <a:pPr lvl="1"/>
            <a:r>
              <a:rPr lang="en-GB" altLang="en-US" sz="1200" dirty="0"/>
              <a:t>The standardized mortality ratio was 1.84, mortality was highest in patients with atypical Parkinsonism (MSA or PSP)</a:t>
            </a:r>
          </a:p>
          <a:p>
            <a:pPr lvl="1"/>
            <a:r>
              <a:rPr lang="en-GB" altLang="en-US" sz="1200" dirty="0"/>
              <a:t>Interestingly, patients with normal cognitive functioning were found to have a life expectancy comparable to the general population</a:t>
            </a:r>
          </a:p>
        </p:txBody>
      </p:sp>
      <p:sp>
        <p:nvSpPr>
          <p:cNvPr id="5" name="Text Placeholder 4">
            <a:extLst>
              <a:ext uri="{FF2B5EF4-FFF2-40B4-BE49-F238E27FC236}">
                <a16:creationId xmlns:a16="http://schemas.microsoft.com/office/drawing/2014/main" id="{6374E6E9-A588-4F61-AFB1-057D79358D4C}"/>
              </a:ext>
            </a:extLst>
          </p:cNvPr>
          <p:cNvSpPr>
            <a:spLocks noGrp="1"/>
          </p:cNvSpPr>
          <p:nvPr>
            <p:ph type="body" sz="quarter" idx="18"/>
          </p:nvPr>
        </p:nvSpPr>
        <p:spPr/>
        <p:txBody>
          <a:bodyPr/>
          <a:lstStyle/>
          <a:p>
            <a:pPr marL="0" indent="0">
              <a:buNone/>
            </a:pPr>
            <a:r>
              <a:rPr lang="en-GB" altLang="en-US"/>
              <a:t>MSA=multiple system atrophy; PD=Parkinson’s disease; PSP=progressive supranuclear palsy</a:t>
            </a:r>
          </a:p>
          <a:p>
            <a:pPr marL="0" indent="0">
              <a:buNone/>
            </a:pPr>
            <a:endParaRPr lang="en-GB" altLang="en-US"/>
          </a:p>
          <a:p>
            <a:pPr marL="0" indent="0">
              <a:buNone/>
            </a:pPr>
            <a:r>
              <a:rPr lang="en-GB" altLang="en-US"/>
              <a:t>1. Hely et al. Mov </a:t>
            </a:r>
            <a:r>
              <a:rPr lang="en-GB" altLang="en-US" err="1"/>
              <a:t>Disord</a:t>
            </a:r>
            <a:r>
              <a:rPr lang="en-GB" altLang="en-US"/>
              <a:t> 2005;20(2):190–199; 2. Hely et al. Mov </a:t>
            </a:r>
            <a:r>
              <a:rPr lang="en-GB" altLang="en-US" err="1"/>
              <a:t>Disord</a:t>
            </a:r>
            <a:r>
              <a:rPr lang="en-GB" altLang="en-US"/>
              <a:t> 2008;23(6):837–844;</a:t>
            </a:r>
            <a:br>
              <a:rPr lang="en-GB" altLang="en-US"/>
            </a:br>
            <a:r>
              <a:rPr lang="en-GB" altLang="en-US"/>
              <a:t>3. Coelho et al. J </a:t>
            </a:r>
            <a:r>
              <a:rPr lang="en-GB" altLang="en-US" err="1"/>
              <a:t>Neurol</a:t>
            </a:r>
            <a:r>
              <a:rPr lang="en-GB" altLang="en-US"/>
              <a:t> 2010;257:1524–1532; 4. </a:t>
            </a:r>
            <a:r>
              <a:rPr lang="en-US" altLang="en-US"/>
              <a:t>Bäckström et al. Neurology 2018;91(22):e2045–e2056</a:t>
            </a:r>
          </a:p>
        </p:txBody>
      </p:sp>
      <p:sp>
        <p:nvSpPr>
          <p:cNvPr id="4" name="Slide Number Placeholder 3"/>
          <p:cNvSpPr>
            <a:spLocks noGrp="1"/>
          </p:cNvSpPr>
          <p:nvPr>
            <p:ph type="sldNum" sz="quarter" idx="4"/>
          </p:nvPr>
        </p:nvSpPr>
        <p:spPr/>
        <p:txBody>
          <a:bodyPr/>
          <a:lstStyle/>
          <a:p>
            <a:fld id="{6DBC486D-4FAB-B746-8B02-8D7C842291C6}" type="slidenum">
              <a:rPr lang="en-GB" smtClean="0"/>
              <a:pPr/>
              <a:t>27</a:t>
            </a:fld>
            <a:endParaRPr lang="en-GB"/>
          </a:p>
        </p:txBody>
      </p:sp>
      <p:sp>
        <p:nvSpPr>
          <p:cNvPr id="7" name="Rectangle 9"/>
          <p:cNvSpPr txBox="1">
            <a:spLocks noChangeArrowheads="1"/>
          </p:cNvSpPr>
          <p:nvPr/>
        </p:nvSpPr>
        <p:spPr>
          <a:xfrm>
            <a:off x="2943225" y="1238966"/>
            <a:ext cx="8383587" cy="812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C00000"/>
              </a:buClr>
              <a:buFont typeface="Arial"/>
              <a:buChar char="•"/>
              <a:defRPr sz="2400" kern="1200">
                <a:solidFill>
                  <a:schemeClr val="tx1"/>
                </a:solidFill>
                <a:latin typeface="Arial" charset="0"/>
                <a:ea typeface="Arial" charset="0"/>
                <a:cs typeface="Arial" charset="0"/>
              </a:defRPr>
            </a:lvl1pPr>
            <a:lvl2pPr marL="542925" indent="-276225" algn="l" defTabSz="914400" rtl="0" eaLnBrk="1" latinLnBrk="0" hangingPunct="1">
              <a:lnSpc>
                <a:spcPct val="90000"/>
              </a:lnSpc>
              <a:spcBef>
                <a:spcPts val="500"/>
              </a:spcBef>
              <a:buClr>
                <a:srgbClr val="C00000"/>
              </a:buClr>
              <a:buFont typeface="Arial"/>
              <a:buChar char="•"/>
              <a:defRPr sz="1800" kern="1200">
                <a:solidFill>
                  <a:schemeClr val="tx1"/>
                </a:solidFill>
                <a:latin typeface="Arial" charset="0"/>
                <a:ea typeface="Arial" charset="0"/>
                <a:cs typeface="Arial" charset="0"/>
              </a:defRPr>
            </a:lvl2pPr>
            <a:lvl3pPr marL="809625" indent="-266700" algn="l" defTabSz="914400" rtl="0" eaLnBrk="1" latinLnBrk="0" hangingPunct="1">
              <a:lnSpc>
                <a:spcPct val="90000"/>
              </a:lnSpc>
              <a:spcBef>
                <a:spcPts val="500"/>
              </a:spcBef>
              <a:buClr>
                <a:srgbClr val="C00000"/>
              </a:buClr>
              <a:buFont typeface="Arial"/>
              <a:buChar char="•"/>
              <a:defRPr sz="1400" kern="1200">
                <a:solidFill>
                  <a:schemeClr val="tx1"/>
                </a:solidFill>
                <a:latin typeface="Arial" charset="0"/>
                <a:ea typeface="Arial" charset="0"/>
                <a:cs typeface="Arial" charset="0"/>
              </a:defRPr>
            </a:lvl3pPr>
            <a:lvl4pPr marL="1600200" indent="-228600" algn="l" defTabSz="914400" rtl="0" eaLnBrk="1" latinLnBrk="0" hangingPunct="1">
              <a:lnSpc>
                <a:spcPct val="90000"/>
              </a:lnSpc>
              <a:spcBef>
                <a:spcPts val="500"/>
              </a:spcBef>
              <a:buClr>
                <a:srgbClr val="C00000"/>
              </a:buClr>
              <a:buFont typeface="Arial"/>
              <a:buChar char="•"/>
              <a:defRPr sz="1000" kern="1200">
                <a:solidFill>
                  <a:schemeClr val="tx1"/>
                </a:solidFill>
                <a:latin typeface="Arial" charset="0"/>
                <a:ea typeface="Arial" charset="0"/>
                <a:cs typeface="Arial" charset="0"/>
              </a:defRPr>
            </a:lvl4pPr>
            <a:lvl5pPr marL="2057400" indent="-228600" algn="l" defTabSz="914400" rtl="0" eaLnBrk="1" latinLnBrk="0" hangingPunct="1">
              <a:lnSpc>
                <a:spcPct val="90000"/>
              </a:lnSpc>
              <a:spcBef>
                <a:spcPts val="500"/>
              </a:spcBef>
              <a:buClr>
                <a:srgbClr val="C00000"/>
              </a:buClr>
              <a:buFont typeface="Arial"/>
              <a:buChar char="•"/>
              <a:defRPr sz="10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GB" altLang="en-US" sz="2000"/>
          </a:p>
        </p:txBody>
      </p:sp>
      <p:graphicFrame>
        <p:nvGraphicFramePr>
          <p:cNvPr id="8" name="Group 74"/>
          <p:cNvGraphicFramePr>
            <a:graphicFrameLocks/>
          </p:cNvGraphicFramePr>
          <p:nvPr>
            <p:extLst>
              <p:ext uri="{D42A27DB-BD31-4B8C-83A1-F6EECF244321}">
                <p14:modId xmlns:p14="http://schemas.microsoft.com/office/powerpoint/2010/main" val="3741825873"/>
              </p:ext>
            </p:extLst>
          </p:nvPr>
        </p:nvGraphicFramePr>
        <p:xfrm>
          <a:off x="6129528" y="1804345"/>
          <a:ext cx="5278987" cy="3608073"/>
        </p:xfrm>
        <a:graphic>
          <a:graphicData uri="http://schemas.openxmlformats.org/drawingml/2006/table">
            <a:tbl>
              <a:tblPr/>
              <a:tblGrid>
                <a:gridCol w="3283966">
                  <a:extLst>
                    <a:ext uri="{9D8B030D-6E8A-4147-A177-3AD203B41FA5}">
                      <a16:colId xmlns:a16="http://schemas.microsoft.com/office/drawing/2014/main" val="20000"/>
                    </a:ext>
                  </a:extLst>
                </a:gridCol>
                <a:gridCol w="987021">
                  <a:extLst>
                    <a:ext uri="{9D8B030D-6E8A-4147-A177-3AD203B41FA5}">
                      <a16:colId xmlns:a16="http://schemas.microsoft.com/office/drawing/2014/main" val="20001"/>
                    </a:ext>
                  </a:extLst>
                </a:gridCol>
                <a:gridCol w="1008000">
                  <a:extLst>
                    <a:ext uri="{9D8B030D-6E8A-4147-A177-3AD203B41FA5}">
                      <a16:colId xmlns:a16="http://schemas.microsoft.com/office/drawing/2014/main" val="20002"/>
                    </a:ext>
                  </a:extLst>
                </a:gridCol>
              </a:tblGrid>
              <a:tr h="346793">
                <a:tc>
                  <a:txBody>
                    <a:bodyPr/>
                    <a:lstStyle/>
                    <a:p>
                      <a:pPr marL="0" marR="0" lvl="0" indent="0" algn="l" defTabSz="914400" rtl="0" eaLnBrk="0" fontAlgn="base" latinLnBrk="0" hangingPunct="0">
                        <a:lnSpc>
                          <a:spcPct val="100000"/>
                        </a:lnSpc>
                        <a:spcBef>
                          <a:spcPct val="20000"/>
                        </a:spcBef>
                        <a:spcAft>
                          <a:spcPct val="0"/>
                        </a:spcAft>
                        <a:buClr>
                          <a:srgbClr val="A9DFD9"/>
                        </a:buClr>
                        <a:buSzTx/>
                        <a:buFont typeface="Wingdings" pitchFamily="2" charset="2"/>
                        <a:buNone/>
                        <a:tabLst/>
                      </a:pPr>
                      <a:endParaRPr kumimoji="0" lang="en-GB" sz="1400" b="1" i="0" u="none" strike="noStrike" cap="none" normalizeH="0" baseline="0" dirty="0">
                        <a:ln>
                          <a:noFill/>
                        </a:ln>
                        <a:solidFill>
                          <a:schemeClr val="bg1"/>
                        </a:solidFill>
                        <a:effectLst/>
                        <a:latin typeface="Arial" pitchFamily="34" charset="0"/>
                        <a:cs typeface="Arial" pitchFamily="34" charset="0"/>
                      </a:endParaRPr>
                    </a:p>
                  </a:txBody>
                  <a:tcPr marT="45716" marB="45716" horzOverflow="overflow">
                    <a:lnL cap="flat">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1" i="0" u="none" strike="noStrike" cap="none" normalizeH="0" baseline="0">
                          <a:ln>
                            <a:noFill/>
                          </a:ln>
                          <a:solidFill>
                            <a:schemeClr val="bg1"/>
                          </a:solidFill>
                          <a:effectLst/>
                          <a:latin typeface="Arial" pitchFamily="34" charset="0"/>
                          <a:cs typeface="Arial" pitchFamily="34" charset="0"/>
                        </a:rPr>
                        <a:t>15 years</a:t>
                      </a:r>
                      <a:r>
                        <a:rPr kumimoji="0" lang="en-GB" sz="1400" b="1" i="0" u="none" strike="noStrike" cap="none" normalizeH="0" baseline="30000">
                          <a:ln>
                            <a:noFill/>
                          </a:ln>
                          <a:solidFill>
                            <a:schemeClr val="bg1"/>
                          </a:solidFill>
                          <a:effectLst/>
                          <a:latin typeface="Arial" pitchFamily="34" charset="0"/>
                          <a:cs typeface="Arial" pitchFamily="34" charset="0"/>
                        </a:rPr>
                        <a:t>1</a:t>
                      </a:r>
                    </a:p>
                  </a:txBody>
                  <a:tcPr marT="45716" marB="45716" horzOverflow="overflow">
                    <a:lnL>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1" i="0" u="none" strike="noStrike" cap="none" normalizeH="0" baseline="0" dirty="0">
                          <a:ln>
                            <a:noFill/>
                          </a:ln>
                          <a:solidFill>
                            <a:schemeClr val="bg1"/>
                          </a:solidFill>
                          <a:effectLst/>
                          <a:latin typeface="Arial" pitchFamily="34" charset="0"/>
                          <a:cs typeface="Arial" pitchFamily="34" charset="0"/>
                        </a:rPr>
                        <a:t>20 years</a:t>
                      </a:r>
                      <a:r>
                        <a:rPr kumimoji="0" lang="en-GB" sz="1400" b="1" i="0" u="none" strike="noStrike" cap="none" normalizeH="0" baseline="30000" dirty="0">
                          <a:ln>
                            <a:noFill/>
                          </a:ln>
                          <a:solidFill>
                            <a:schemeClr val="bg1"/>
                          </a:solidFill>
                          <a:effectLst/>
                          <a:latin typeface="Arial" pitchFamily="34" charset="0"/>
                          <a:cs typeface="Arial" pitchFamily="34" charset="0"/>
                        </a:rPr>
                        <a:t>2</a:t>
                      </a:r>
                    </a:p>
                  </a:txBody>
                  <a:tcPr marT="45716" marB="45716" horzOverflow="overflow">
                    <a:lnL>
                      <a:noFill/>
                    </a:lnL>
                    <a:lnR cap="flat">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75000"/>
                      </a:schemeClr>
                    </a:solidFill>
                  </a:tcPr>
                </a:tc>
                <a:extLst>
                  <a:ext uri="{0D108BD9-81ED-4DB2-BD59-A6C34878D82A}">
                    <a16:rowId xmlns:a16="http://schemas.microsoft.com/office/drawing/2014/main" val="10000"/>
                  </a:ext>
                </a:extLst>
              </a:tr>
              <a:tr h="203994">
                <a:tc>
                  <a:txBody>
                    <a:bodyPr/>
                    <a:lstStyle/>
                    <a:p>
                      <a:pPr marL="0" marR="0" lvl="0" indent="0" algn="l"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1" i="0" u="none" strike="noStrike" cap="none" normalizeH="0" baseline="0" dirty="0">
                          <a:ln>
                            <a:noFill/>
                          </a:ln>
                          <a:solidFill>
                            <a:schemeClr val="tx1"/>
                          </a:solidFill>
                          <a:effectLst/>
                          <a:latin typeface="Arial" pitchFamily="34" charset="0"/>
                          <a:cs typeface="Arial" pitchFamily="34" charset="0"/>
                        </a:rPr>
                        <a:t>Survivors</a:t>
                      </a:r>
                    </a:p>
                  </a:txBody>
                  <a:tcPr marT="45716" marB="45716" horzOverflow="overflow">
                    <a:lnL cap="flat">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52</a:t>
                      </a:r>
                    </a:p>
                  </a:txBody>
                  <a:tcPr marT="45716" marB="45716" horzOverflow="overflow">
                    <a:lnL>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30</a:t>
                      </a:r>
                    </a:p>
                  </a:txBody>
                  <a:tcPr marT="45716" marB="45716" horzOverflow="overflow">
                    <a:lnL>
                      <a:noFill/>
                    </a:lnL>
                    <a:lnR cap="flat">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46793">
                <a:tc>
                  <a:txBody>
                    <a:bodyPr/>
                    <a:lstStyle/>
                    <a:p>
                      <a:pPr marL="0" marR="0" lvl="0" indent="0" algn="l"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1" i="0" u="none" strike="noStrike" cap="none" normalizeH="0" baseline="0" dirty="0">
                          <a:ln>
                            <a:noFill/>
                          </a:ln>
                          <a:solidFill>
                            <a:schemeClr val="tx1"/>
                          </a:solidFill>
                          <a:effectLst/>
                          <a:latin typeface="Arial" pitchFamily="34" charset="0"/>
                          <a:cs typeface="Arial" pitchFamily="34" charset="0"/>
                        </a:rPr>
                        <a:t>Prevalence of ‘levodopa resistant’ symptoms:</a:t>
                      </a:r>
                    </a:p>
                  </a:txBody>
                  <a:tcPr marT="45716" marB="45716" horzOverflow="overflow">
                    <a:lnL cap="flat">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endParaRPr kumimoji="0" lang="en-GB" sz="14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endParaRPr kumimoji="0" lang="en-GB" sz="14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a:noFill/>
                    </a:lnL>
                    <a:lnR cap="flat">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2"/>
                  </a:ext>
                </a:extLst>
              </a:tr>
              <a:tr h="203994">
                <a:tc>
                  <a:txBody>
                    <a:bodyPr/>
                    <a:lstStyle/>
                    <a:p>
                      <a:pPr marL="0" marR="0" lvl="0" indent="0" algn="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Falls</a:t>
                      </a:r>
                    </a:p>
                  </a:txBody>
                  <a:tcPr marT="45716" marB="45716" horzOverflow="overflow">
                    <a:lnL cap="flat">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81%</a:t>
                      </a:r>
                    </a:p>
                  </a:txBody>
                  <a:tcPr marT="45716" marB="45716" horzOverflow="overflow">
                    <a:lnL>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87%</a:t>
                      </a:r>
                    </a:p>
                  </a:txBody>
                  <a:tcPr marT="45716" marB="45716" horzOverflow="overflow">
                    <a:lnL>
                      <a:noFill/>
                    </a:lnL>
                    <a:lnR cap="flat">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03994">
                <a:tc>
                  <a:txBody>
                    <a:bodyPr/>
                    <a:lstStyle/>
                    <a:p>
                      <a:pPr marL="0" marR="0" lvl="0" indent="0" algn="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Choking</a:t>
                      </a:r>
                    </a:p>
                  </a:txBody>
                  <a:tcPr marT="45716" marB="45716" horzOverflow="overflow">
                    <a:lnL cap="flat">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50%</a:t>
                      </a:r>
                    </a:p>
                  </a:txBody>
                  <a:tcPr marT="45716" marB="45716" horzOverflow="overflow">
                    <a:lnL>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48%</a:t>
                      </a:r>
                    </a:p>
                  </a:txBody>
                  <a:tcPr marT="45716" marB="45716" horzOverflow="overflow">
                    <a:lnL>
                      <a:noFill/>
                    </a:lnL>
                    <a:lnR cap="flat">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r h="203994">
                <a:tc>
                  <a:txBody>
                    <a:bodyPr/>
                    <a:lstStyle/>
                    <a:p>
                      <a:pPr marL="0" marR="0" lvl="0" indent="0" algn="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Postural hypotension</a:t>
                      </a:r>
                    </a:p>
                  </a:txBody>
                  <a:tcPr marT="45716" marB="45716" horzOverflow="overflow">
                    <a:lnL cap="flat">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35%</a:t>
                      </a:r>
                    </a:p>
                  </a:txBody>
                  <a:tcPr marT="45716" marB="45716" horzOverflow="overflow">
                    <a:lnL>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48%</a:t>
                      </a:r>
                    </a:p>
                  </a:txBody>
                  <a:tcPr marT="45716" marB="45716" horzOverflow="overflow">
                    <a:lnL>
                      <a:noFill/>
                    </a:lnL>
                    <a:lnR cap="flat">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203994">
                <a:tc>
                  <a:txBody>
                    <a:bodyPr/>
                    <a:lstStyle/>
                    <a:p>
                      <a:pPr marL="0" marR="0" lvl="0" indent="0" algn="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Urinary incontinence</a:t>
                      </a:r>
                    </a:p>
                  </a:txBody>
                  <a:tcPr marT="45716" marB="45716" horzOverflow="overflow">
                    <a:lnL cap="flat">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41%</a:t>
                      </a:r>
                    </a:p>
                  </a:txBody>
                  <a:tcPr marT="45716" marB="45716" horzOverflow="overflow">
                    <a:lnL>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71%</a:t>
                      </a:r>
                    </a:p>
                  </a:txBody>
                  <a:tcPr marT="45716" marB="45716" horzOverflow="overflow">
                    <a:lnL>
                      <a:noFill/>
                    </a:lnL>
                    <a:lnR cap="flat">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6"/>
                  </a:ext>
                </a:extLst>
              </a:tr>
              <a:tr h="203994">
                <a:tc>
                  <a:txBody>
                    <a:bodyPr/>
                    <a:lstStyle/>
                    <a:p>
                      <a:pPr marL="0" marR="0" lvl="0" indent="0" algn="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Depression</a:t>
                      </a:r>
                    </a:p>
                  </a:txBody>
                  <a:tcPr marT="45716" marB="45716" horzOverflow="overflow">
                    <a:lnL cap="flat">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54%</a:t>
                      </a:r>
                    </a:p>
                  </a:txBody>
                  <a:tcPr marT="45716" marB="45716" horzOverflow="overflow">
                    <a:lnL>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70%</a:t>
                      </a:r>
                    </a:p>
                  </a:txBody>
                  <a:tcPr marT="45716" marB="45716" horzOverflow="overflow">
                    <a:lnL>
                      <a:noFill/>
                    </a:lnL>
                    <a:lnR cap="flat">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203994">
                <a:tc>
                  <a:txBody>
                    <a:bodyPr/>
                    <a:lstStyle/>
                    <a:p>
                      <a:pPr marL="0" marR="0" lvl="0" indent="0" algn="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Visual hallucinations</a:t>
                      </a:r>
                    </a:p>
                  </a:txBody>
                  <a:tcPr marT="45716" marB="45716" horzOverflow="overflow">
                    <a:lnL cap="flat">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50%</a:t>
                      </a:r>
                    </a:p>
                  </a:txBody>
                  <a:tcPr marT="45716" marB="45716" horzOverflow="overflow">
                    <a:lnL>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74%</a:t>
                      </a:r>
                    </a:p>
                  </a:txBody>
                  <a:tcPr marT="45716" marB="45716" horzOverflow="overflow">
                    <a:lnL>
                      <a:noFill/>
                    </a:lnL>
                    <a:lnR cap="flat">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8"/>
                  </a:ext>
                </a:extLst>
              </a:tr>
              <a:tr h="203994">
                <a:tc>
                  <a:txBody>
                    <a:bodyPr/>
                    <a:lstStyle/>
                    <a:p>
                      <a:pPr marL="0" marR="0" lvl="0" indent="0" algn="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Dementia</a:t>
                      </a:r>
                    </a:p>
                  </a:txBody>
                  <a:tcPr marT="45716" marB="45716" horzOverflow="overflow">
                    <a:lnL cap="flat">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48%</a:t>
                      </a:r>
                    </a:p>
                  </a:txBody>
                  <a:tcPr marT="45716" marB="45716" horzOverflow="overflow">
                    <a:lnL>
                      <a:noFill/>
                    </a:lnL>
                    <a:lnR>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83%</a:t>
                      </a:r>
                    </a:p>
                  </a:txBody>
                  <a:tcPr marT="45716" marB="45716" horzOverflow="overflow">
                    <a:lnL>
                      <a:noFill/>
                    </a:lnL>
                    <a:lnR cap="flat">
                      <a:noFill/>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203994">
                <a:tc>
                  <a:txBody>
                    <a:bodyPr/>
                    <a:lstStyle/>
                    <a:p>
                      <a:pPr marL="0" marR="0" lvl="0" indent="0" algn="l"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1" i="0" u="none" strike="noStrike" cap="none" normalizeH="0" baseline="0">
                          <a:ln>
                            <a:noFill/>
                          </a:ln>
                          <a:solidFill>
                            <a:schemeClr val="tx1"/>
                          </a:solidFill>
                          <a:effectLst/>
                          <a:latin typeface="Arial" pitchFamily="34" charset="0"/>
                          <a:cs typeface="Arial" pitchFamily="34" charset="0"/>
                        </a:rPr>
                        <a:t>Nursing home care</a:t>
                      </a:r>
                    </a:p>
                  </a:txBody>
                  <a:tcPr marT="45716" marB="45716" horzOverflow="overflow">
                    <a:lnL cap="flat">
                      <a:noFill/>
                    </a:lnL>
                    <a:lnR>
                      <a:noFill/>
                    </a:lnR>
                    <a:lnT w="28575" cap="flat" cmpd="sng" algn="ctr">
                      <a:noFill/>
                      <a:prstDash val="solid"/>
                      <a:round/>
                      <a:headEnd type="none" w="med" len="med"/>
                      <a:tailEnd type="none" w="med" len="med"/>
                    </a:lnT>
                    <a:lnB w="19050" cap="flat" cmpd="sng" algn="ctr">
                      <a:solidFill>
                        <a:schemeClr val="accent5">
                          <a:lumMod val="50000"/>
                        </a:schemeClr>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a:ln>
                            <a:noFill/>
                          </a:ln>
                          <a:solidFill>
                            <a:schemeClr val="tx1"/>
                          </a:solidFill>
                          <a:effectLst/>
                          <a:latin typeface="Arial" pitchFamily="34" charset="0"/>
                          <a:cs typeface="Arial" pitchFamily="34" charset="0"/>
                        </a:rPr>
                        <a:t>40%</a:t>
                      </a:r>
                    </a:p>
                  </a:txBody>
                  <a:tcPr marT="45716" marB="45716" horzOverflow="overflow">
                    <a:lnL>
                      <a:noFill/>
                    </a:lnL>
                    <a:lnR>
                      <a:noFill/>
                    </a:lnR>
                    <a:lnT w="28575" cap="flat" cmpd="sng" algn="ctr">
                      <a:noFill/>
                      <a:prstDash val="solid"/>
                      <a:round/>
                      <a:headEnd type="none" w="med" len="med"/>
                      <a:tailEnd type="none" w="med" len="med"/>
                    </a:lnT>
                    <a:lnB w="19050" cap="flat" cmpd="sng" algn="ctr">
                      <a:solidFill>
                        <a:schemeClr val="accent5">
                          <a:lumMod val="50000"/>
                        </a:schemeClr>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A9DFD9"/>
                        </a:buClr>
                        <a:buSzTx/>
                        <a:buFont typeface="Wingdings" pitchFamily="2" charset="2"/>
                        <a:buNone/>
                        <a:tabLst/>
                      </a:pPr>
                      <a:r>
                        <a:rPr kumimoji="0" lang="en-GB" sz="1400" b="0" i="0" u="none" strike="noStrike" cap="none" normalizeH="0" baseline="0" dirty="0">
                          <a:ln>
                            <a:noFill/>
                          </a:ln>
                          <a:solidFill>
                            <a:schemeClr val="tx1"/>
                          </a:solidFill>
                          <a:effectLst/>
                          <a:latin typeface="Arial" pitchFamily="34" charset="0"/>
                          <a:cs typeface="Arial" pitchFamily="34" charset="0"/>
                        </a:rPr>
                        <a:t>48%</a:t>
                      </a:r>
                    </a:p>
                  </a:txBody>
                  <a:tcPr marT="45716" marB="45716" horzOverflow="overflow">
                    <a:lnL>
                      <a:noFill/>
                    </a:lnL>
                    <a:lnR cap="flat">
                      <a:noFill/>
                    </a:lnR>
                    <a:lnT w="28575" cap="flat" cmpd="sng" algn="ctr">
                      <a:noFill/>
                      <a:prstDash val="solid"/>
                      <a:round/>
                      <a:headEnd type="none" w="med" len="med"/>
                      <a:tailEnd type="none" w="med" len="med"/>
                    </a:lnT>
                    <a:lnB w="19050" cap="flat" cmpd="sng" algn="ctr">
                      <a:solidFill>
                        <a:schemeClr val="accent5">
                          <a:lumMod val="50000"/>
                        </a:schemeClr>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10"/>
                  </a:ext>
                </a:extLst>
              </a:tr>
            </a:tbl>
          </a:graphicData>
        </a:graphic>
      </p:graphicFrame>
      <p:sp>
        <p:nvSpPr>
          <p:cNvPr id="9" name="TextBox 8">
            <a:extLst>
              <a:ext uri="{FF2B5EF4-FFF2-40B4-BE49-F238E27FC236}">
                <a16:creationId xmlns:a16="http://schemas.microsoft.com/office/drawing/2014/main" id="{59F74254-63AD-27B1-5B23-5E7CAA795C38}"/>
              </a:ext>
            </a:extLst>
          </p:cNvPr>
          <p:cNvSpPr txBox="1"/>
          <p:nvPr/>
        </p:nvSpPr>
        <p:spPr>
          <a:xfrm>
            <a:off x="6129528" y="1415869"/>
            <a:ext cx="5278986" cy="307777"/>
          </a:xfrm>
          <a:prstGeom prst="rect">
            <a:avLst/>
          </a:prstGeom>
          <a:noFill/>
        </p:spPr>
        <p:txBody>
          <a:bodyPr wrap="square" rtlCol="0">
            <a:spAutoFit/>
          </a:bodyPr>
          <a:lstStyle/>
          <a:p>
            <a:pPr algn="ctr"/>
            <a:r>
              <a:rPr lang="en-GB" sz="1400" b="1" dirty="0">
                <a:solidFill>
                  <a:schemeClr val="accent5">
                    <a:lumMod val="50000"/>
                  </a:schemeClr>
                </a:solidFill>
              </a:rPr>
              <a:t>The Sydney multicentre study</a:t>
            </a:r>
            <a:r>
              <a:rPr lang="en-GB" sz="1400" b="1" baseline="30000" dirty="0">
                <a:solidFill>
                  <a:schemeClr val="accent5">
                    <a:lumMod val="50000"/>
                  </a:schemeClr>
                </a:solidFill>
              </a:rPr>
              <a:t>1,2</a:t>
            </a:r>
            <a:endParaRPr lang="en-GB" sz="1400" b="1" dirty="0">
              <a:solidFill>
                <a:schemeClr val="accent5">
                  <a:lumMod val="50000"/>
                </a:schemeClr>
              </a:solidFill>
            </a:endParaRPr>
          </a:p>
        </p:txBody>
      </p:sp>
    </p:spTree>
    <p:custDataLst>
      <p:tags r:id="rId1"/>
    </p:custDataLst>
    <p:extLst>
      <p:ext uri="{BB962C8B-B14F-4D97-AF65-F5344CB8AC3E}">
        <p14:creationId xmlns:p14="http://schemas.microsoft.com/office/powerpoint/2010/main" val="2660097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5D244B6-145E-E4F4-7351-7E0DD0FCC3E2}"/>
              </a:ext>
            </a:extLst>
          </p:cNvPr>
          <p:cNvSpPr/>
          <p:nvPr/>
        </p:nvSpPr>
        <p:spPr>
          <a:xfrm>
            <a:off x="10796970" y="4086226"/>
            <a:ext cx="108000" cy="1213438"/>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 Placeholder 5"/>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2" name="Title 1"/>
          <p:cNvSpPr>
            <a:spLocks noGrp="1"/>
          </p:cNvSpPr>
          <p:nvPr>
            <p:ph type="title"/>
          </p:nvPr>
        </p:nvSpPr>
        <p:spPr/>
        <p:txBody>
          <a:bodyPr/>
          <a:lstStyle/>
          <a:p>
            <a:r>
              <a:rPr lang="en-GB" sz="2000"/>
              <a:t>The influence of comorbidities on prognosis of Parkinson’s disease</a:t>
            </a:r>
          </a:p>
        </p:txBody>
      </p:sp>
      <p:sp>
        <p:nvSpPr>
          <p:cNvPr id="3" name="Content Placeholder 2"/>
          <p:cNvSpPr>
            <a:spLocks noGrp="1"/>
          </p:cNvSpPr>
          <p:nvPr>
            <p:ph idx="20"/>
          </p:nvPr>
        </p:nvSpPr>
        <p:spPr/>
        <p:txBody>
          <a:bodyPr>
            <a:normAutofit/>
          </a:bodyPr>
          <a:lstStyle/>
          <a:p>
            <a:r>
              <a:rPr lang="en-GB" dirty="0"/>
              <a:t>During a 12-year follow up of 198 patients with PD, there was strong evidence that a higher baseline comorbidity was associated with higher mortality during the first 4 years (but not the second period of follow-up)</a:t>
            </a:r>
            <a:r>
              <a:rPr lang="en-GB" baseline="30000" dirty="0"/>
              <a:t>1</a:t>
            </a:r>
          </a:p>
          <a:p>
            <a:pPr lvl="1"/>
            <a:r>
              <a:rPr lang="en-GB" dirty="0"/>
              <a:t>Hazard ratio: 1.27 (95% CI: 1.08–1.49)</a:t>
            </a:r>
          </a:p>
          <a:p>
            <a:endParaRPr lang="en-GB" dirty="0"/>
          </a:p>
          <a:p>
            <a:endParaRPr lang="en-GB" dirty="0"/>
          </a:p>
          <a:p>
            <a:r>
              <a:rPr lang="en-GB" dirty="0"/>
              <a:t>A meta-analysis studied the impact of psychiatric comorbidity on outcomes in PD</a:t>
            </a:r>
            <a:r>
              <a:rPr lang="en-GB" baseline="30000" dirty="0"/>
              <a:t>2</a:t>
            </a:r>
            <a:endParaRPr lang="en-GB" dirty="0"/>
          </a:p>
          <a:p>
            <a:pPr lvl="1"/>
            <a:r>
              <a:rPr lang="en-US" dirty="0"/>
              <a:t>The presence of psychosis, depression, and apathy in people with PD are all associated with at least one adverse outcome – including cognitive impairment, faster disease progression, and increased disability</a:t>
            </a:r>
            <a:endParaRPr lang="en-GB" dirty="0"/>
          </a:p>
        </p:txBody>
      </p:sp>
      <p:sp>
        <p:nvSpPr>
          <p:cNvPr id="12" name="Content Placeholder 4"/>
          <p:cNvSpPr>
            <a:spLocks noGrp="1"/>
          </p:cNvSpPr>
          <p:nvPr>
            <p:ph idx="21"/>
          </p:nvPr>
        </p:nvSpPr>
        <p:spPr/>
        <p:txBody>
          <a:bodyPr>
            <a:normAutofit/>
          </a:bodyPr>
          <a:lstStyle/>
          <a:p>
            <a:pPr marL="0" indent="0" algn="ctr">
              <a:buNone/>
            </a:pPr>
            <a:r>
              <a:rPr lang="en-GB" sz="1600" b="1" dirty="0">
                <a:solidFill>
                  <a:schemeClr val="accent2">
                    <a:lumMod val="50000"/>
                  </a:schemeClr>
                </a:solidFill>
              </a:rPr>
              <a:t>Survival probabilities in PD </a:t>
            </a:r>
            <a:br>
              <a:rPr lang="en-GB" sz="1600" b="1" dirty="0">
                <a:solidFill>
                  <a:schemeClr val="accent2">
                    <a:lumMod val="50000"/>
                  </a:schemeClr>
                </a:solidFill>
              </a:rPr>
            </a:br>
            <a:r>
              <a:rPr lang="en-GB" sz="1600" b="1" dirty="0">
                <a:solidFill>
                  <a:schemeClr val="accent2">
                    <a:lumMod val="50000"/>
                  </a:schemeClr>
                </a:solidFill>
              </a:rPr>
              <a:t>by baseline Charlson Comorbidities Index</a:t>
            </a:r>
            <a:r>
              <a:rPr lang="en-GB" sz="1600" b="1" baseline="30000" dirty="0">
                <a:solidFill>
                  <a:schemeClr val="accent2">
                    <a:lumMod val="50000"/>
                  </a:schemeClr>
                </a:solidFill>
              </a:rPr>
              <a:t>1</a:t>
            </a:r>
            <a:endParaRPr lang="en-GB" sz="1600" b="1" dirty="0">
              <a:solidFill>
                <a:schemeClr val="accent2">
                  <a:lumMod val="50000"/>
                </a:schemeClr>
              </a:solidFill>
            </a:endParaRPr>
          </a:p>
        </p:txBody>
      </p:sp>
      <p:sp>
        <p:nvSpPr>
          <p:cNvPr id="5" name="Text Placeholder 4">
            <a:extLst>
              <a:ext uri="{FF2B5EF4-FFF2-40B4-BE49-F238E27FC236}">
                <a16:creationId xmlns:a16="http://schemas.microsoft.com/office/drawing/2014/main" id="{90625FB4-5567-4E7C-B5B8-5E14B7C02548}"/>
              </a:ext>
            </a:extLst>
          </p:cNvPr>
          <p:cNvSpPr>
            <a:spLocks noGrp="1"/>
          </p:cNvSpPr>
          <p:nvPr>
            <p:ph type="body" sz="quarter" idx="18"/>
          </p:nvPr>
        </p:nvSpPr>
        <p:spPr>
          <a:xfrm>
            <a:off x="539749" y="6102000"/>
            <a:ext cx="9669405" cy="619200"/>
          </a:xfrm>
        </p:spPr>
        <p:txBody>
          <a:bodyPr/>
          <a:lstStyle/>
          <a:p>
            <a:pPr marL="0" indent="0">
              <a:buNone/>
            </a:pPr>
            <a:r>
              <a:rPr lang="en-GB" dirty="0"/>
              <a:t>CI=confidence interval; PD=Parkinson’s disease</a:t>
            </a:r>
          </a:p>
          <a:p>
            <a:pPr marL="0" indent="0">
              <a:buNone/>
            </a:pPr>
            <a:endParaRPr lang="en-GB" dirty="0"/>
          </a:p>
          <a:p>
            <a:pPr marL="0" indent="0">
              <a:buNone/>
            </a:pPr>
            <a:r>
              <a:rPr lang="en-GB" dirty="0"/>
              <a:t>The </a:t>
            </a:r>
            <a:r>
              <a:rPr lang="en-GB" dirty="0" err="1"/>
              <a:t>Charlson</a:t>
            </a:r>
            <a:r>
              <a:rPr lang="en-GB" dirty="0"/>
              <a:t> Comorbidities Index measures the following:</a:t>
            </a:r>
            <a:r>
              <a:rPr lang="en-GB" baseline="30000" dirty="0"/>
              <a:t>3</a:t>
            </a:r>
            <a:r>
              <a:rPr lang="en-GB" dirty="0"/>
              <a:t> myocardial infarct, congestive heart failure, peripheral vascular disease, cerebrovascular disease,</a:t>
            </a:r>
            <a:br>
              <a:rPr lang="en-GB" dirty="0"/>
            </a:br>
            <a:r>
              <a:rPr lang="en-GB" dirty="0"/>
              <a:t>dementia, chronic pulmonary disease, connective tissue disease, ulcer disease, mild liver disease, diabetes, hemiplegia, moderate or severe renal disease, diabetes with</a:t>
            </a:r>
            <a:br>
              <a:rPr lang="en-GB" dirty="0"/>
            </a:br>
            <a:r>
              <a:rPr lang="en-GB" dirty="0"/>
              <a:t>end organ damage, any tumour, leukaemia, lymphoma, moderate or severe liver disease, metastatic solid tumour, acquired immune deficiency syndrome (AIDS)</a:t>
            </a:r>
          </a:p>
          <a:p>
            <a:pPr marL="0" indent="0">
              <a:buNone/>
            </a:pPr>
            <a:endParaRPr lang="en-GB" dirty="0"/>
          </a:p>
          <a:p>
            <a:pPr marL="0" indent="0">
              <a:buNone/>
            </a:pPr>
            <a:r>
              <a:rPr lang="fr-FR" dirty="0"/>
              <a:t>1. </a:t>
            </a:r>
            <a:r>
              <a:rPr lang="en-GB" dirty="0"/>
              <a:t>Macleod et al. Parkinsonism </a:t>
            </a:r>
            <a:r>
              <a:rPr lang="en-GB" dirty="0" err="1"/>
              <a:t>Relat</a:t>
            </a:r>
            <a:r>
              <a:rPr lang="en-GB" dirty="0"/>
              <a:t> </a:t>
            </a:r>
            <a:r>
              <a:rPr lang="en-GB" dirty="0" err="1"/>
              <a:t>Disord</a:t>
            </a:r>
            <a:r>
              <a:rPr lang="en-GB" dirty="0"/>
              <a:t> 2016;28:124–129; 2. Burchill et al. Lancet Reg Health </a:t>
            </a:r>
            <a:r>
              <a:rPr lang="en-GB" dirty="0" err="1"/>
              <a:t>Eur</a:t>
            </a:r>
            <a:r>
              <a:rPr lang="en-GB" dirty="0"/>
              <a:t> 2024;39:100870; </a:t>
            </a:r>
            <a:r>
              <a:rPr lang="fr-FR" dirty="0"/>
              <a:t>3. </a:t>
            </a:r>
            <a:r>
              <a:rPr lang="fr-FR" dirty="0" err="1"/>
              <a:t>Charlson</a:t>
            </a:r>
            <a:r>
              <a:rPr lang="fr-FR" dirty="0"/>
              <a:t> et al. J </a:t>
            </a:r>
            <a:r>
              <a:rPr lang="fr-FR" dirty="0" err="1"/>
              <a:t>Chronic</a:t>
            </a:r>
            <a:r>
              <a:rPr lang="fr-FR" dirty="0"/>
              <a:t> Dis 1987;40(5):373–383</a:t>
            </a:r>
            <a:endParaRPr lang="en-GB" dirty="0"/>
          </a:p>
        </p:txBody>
      </p:sp>
      <p:sp>
        <p:nvSpPr>
          <p:cNvPr id="4" name="Slide Number Placeholder 3"/>
          <p:cNvSpPr>
            <a:spLocks noGrp="1"/>
          </p:cNvSpPr>
          <p:nvPr>
            <p:ph type="sldNum" sz="quarter" idx="4"/>
          </p:nvPr>
        </p:nvSpPr>
        <p:spPr/>
        <p:txBody>
          <a:bodyPr/>
          <a:lstStyle/>
          <a:p>
            <a:fld id="{6DBC486D-4FAB-B746-8B02-8D7C842291C6}" type="slidenum">
              <a:rPr lang="en-GB" smtClean="0"/>
              <a:t>28</a:t>
            </a:fld>
            <a:endParaRPr lang="en-GB"/>
          </a:p>
        </p:txBody>
      </p:sp>
      <p:sp>
        <p:nvSpPr>
          <p:cNvPr id="10" name="Rectangle: Rounded Corners 9"/>
          <p:cNvSpPr/>
          <p:nvPr/>
        </p:nvSpPr>
        <p:spPr>
          <a:xfrm>
            <a:off x="530437" y="2882577"/>
            <a:ext cx="5419724" cy="596086"/>
          </a:xfrm>
          <a:prstGeom prst="roundRect">
            <a:avLst>
              <a:gd name="adj" fmla="val 0"/>
            </a:avLst>
          </a:prstGeom>
          <a:solidFill>
            <a:srgbClr val="E8E7DE"/>
          </a:solidFill>
          <a:ln w="19050">
            <a:noFill/>
          </a:ln>
        </p:spPr>
        <p:txBody>
          <a:bodyPr wrap="square">
            <a:spAutoFit/>
          </a:bodyPr>
          <a:lstStyle/>
          <a:p>
            <a:pPr algn="ctr"/>
            <a:r>
              <a:rPr lang="en-GB" sz="1600" b="1">
                <a:latin typeface="Arial" panose="020B0604020202020204" pitchFamily="34" charset="0"/>
                <a:cs typeface="Arial" panose="020B0604020202020204" pitchFamily="34" charset="0"/>
              </a:rPr>
              <a:t>Deaths that occur during early-stage PD are most often caused by other factors than PD itself</a:t>
            </a:r>
            <a:r>
              <a:rPr lang="en-GB" sz="1600" b="1" baseline="30000">
                <a:latin typeface="Arial" panose="020B0604020202020204" pitchFamily="34" charset="0"/>
                <a:cs typeface="Arial" panose="020B0604020202020204" pitchFamily="34" charset="0"/>
              </a:rPr>
              <a:t>1</a:t>
            </a:r>
          </a:p>
        </p:txBody>
      </p:sp>
      <p:cxnSp>
        <p:nvCxnSpPr>
          <p:cNvPr id="14" name="Straight Connector 13"/>
          <p:cNvCxnSpPr>
            <a:cxnSpLocks/>
          </p:cNvCxnSpPr>
          <p:nvPr/>
        </p:nvCxnSpPr>
        <p:spPr>
          <a:xfrm>
            <a:off x="7157547" y="2488202"/>
            <a:ext cx="0" cy="287655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cxnSpLocks/>
          </p:cNvCxnSpPr>
          <p:nvPr/>
        </p:nvCxnSpPr>
        <p:spPr>
          <a:xfrm flipH="1">
            <a:off x="7085547" y="4588466"/>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cxnSpLocks/>
          </p:cNvCxnSpPr>
          <p:nvPr/>
        </p:nvCxnSpPr>
        <p:spPr>
          <a:xfrm flipH="1">
            <a:off x="7085547" y="3888378"/>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cxnSpLocks/>
          </p:cNvCxnSpPr>
          <p:nvPr/>
        </p:nvCxnSpPr>
        <p:spPr>
          <a:xfrm flipH="1">
            <a:off x="7085547" y="3188290"/>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p:cNvCxnSpPr>
          <p:nvPr/>
        </p:nvCxnSpPr>
        <p:spPr>
          <a:xfrm flipH="1">
            <a:off x="7085547" y="2488202"/>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cxnSpLocks/>
          </p:cNvCxnSpPr>
          <p:nvPr/>
        </p:nvCxnSpPr>
        <p:spPr>
          <a:xfrm rot="5400000" flipH="1">
            <a:off x="7806272" y="5324554"/>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cxnSpLocks/>
          </p:cNvCxnSpPr>
          <p:nvPr/>
        </p:nvCxnSpPr>
        <p:spPr>
          <a:xfrm rot="5400000" flipH="1">
            <a:off x="8494453" y="5324554"/>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cxnSpLocks/>
          </p:cNvCxnSpPr>
          <p:nvPr/>
        </p:nvCxnSpPr>
        <p:spPr>
          <a:xfrm rot="5400000" flipH="1">
            <a:off x="9173109" y="5324554"/>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cxnSpLocks/>
          </p:cNvCxnSpPr>
          <p:nvPr/>
        </p:nvCxnSpPr>
        <p:spPr>
          <a:xfrm rot="5400000" flipH="1">
            <a:off x="9856529" y="5324554"/>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p:nvCxnSpPr>
        <p:spPr>
          <a:xfrm rot="5400000" flipH="1">
            <a:off x="10544710" y="5324554"/>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cxnSpLocks/>
          </p:cNvCxnSpPr>
          <p:nvPr/>
        </p:nvCxnSpPr>
        <p:spPr>
          <a:xfrm rot="5400000" flipH="1">
            <a:off x="11228129" y="5324554"/>
            <a:ext cx="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7244279" y="2488104"/>
            <a:ext cx="108000" cy="2800349"/>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7376145" y="2488104"/>
            <a:ext cx="108000" cy="2800349"/>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p:cNvSpPr/>
          <p:nvPr/>
        </p:nvSpPr>
        <p:spPr>
          <a:xfrm>
            <a:off x="7513669" y="2488104"/>
            <a:ext cx="108000" cy="28003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p:cNvSpPr/>
          <p:nvPr/>
        </p:nvSpPr>
        <p:spPr>
          <a:xfrm>
            <a:off x="7651380" y="2488104"/>
            <a:ext cx="108000" cy="28003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p:cNvSpPr/>
          <p:nvPr/>
        </p:nvSpPr>
        <p:spPr>
          <a:xfrm>
            <a:off x="7925756" y="2567472"/>
            <a:ext cx="108000" cy="2720981"/>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p:cNvSpPr/>
          <p:nvPr/>
        </p:nvSpPr>
        <p:spPr>
          <a:xfrm>
            <a:off x="8056596" y="2592874"/>
            <a:ext cx="108000" cy="2695579"/>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p:cNvSpPr/>
          <p:nvPr/>
        </p:nvSpPr>
        <p:spPr>
          <a:xfrm>
            <a:off x="8193394" y="2719875"/>
            <a:ext cx="108000" cy="25685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p:cNvSpPr/>
          <p:nvPr/>
        </p:nvSpPr>
        <p:spPr>
          <a:xfrm>
            <a:off x="8332453" y="3088176"/>
            <a:ext cx="108000" cy="220027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p:cNvSpPr/>
          <p:nvPr/>
        </p:nvSpPr>
        <p:spPr>
          <a:xfrm>
            <a:off x="8622043" y="2846879"/>
            <a:ext cx="108000" cy="2441574"/>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p:cNvSpPr/>
          <p:nvPr/>
        </p:nvSpPr>
        <p:spPr>
          <a:xfrm>
            <a:off x="8751904" y="3123105"/>
            <a:ext cx="108000" cy="2165348"/>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p:cNvSpPr/>
          <p:nvPr/>
        </p:nvSpPr>
        <p:spPr>
          <a:xfrm>
            <a:off x="8891433" y="3304081"/>
            <a:ext cx="108000" cy="19843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p:cNvSpPr/>
          <p:nvPr/>
        </p:nvSpPr>
        <p:spPr>
          <a:xfrm>
            <a:off x="9027560" y="4108449"/>
            <a:ext cx="108000" cy="11800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p:cNvSpPr/>
          <p:nvPr/>
        </p:nvSpPr>
        <p:spPr>
          <a:xfrm>
            <a:off x="9292573" y="3243745"/>
            <a:ext cx="108000" cy="2044708"/>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p:cNvSpPr/>
          <p:nvPr/>
        </p:nvSpPr>
        <p:spPr>
          <a:xfrm>
            <a:off x="9422499" y="3545371"/>
            <a:ext cx="108000" cy="1743082"/>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p:cNvSpPr/>
          <p:nvPr/>
        </p:nvSpPr>
        <p:spPr>
          <a:xfrm>
            <a:off x="9560993" y="3542196"/>
            <a:ext cx="108000" cy="17462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p:cNvSpPr/>
          <p:nvPr/>
        </p:nvSpPr>
        <p:spPr>
          <a:xfrm>
            <a:off x="9699384" y="4189898"/>
            <a:ext cx="108000" cy="10985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p:cNvSpPr/>
          <p:nvPr/>
        </p:nvSpPr>
        <p:spPr>
          <a:xfrm>
            <a:off x="9971251" y="3739057"/>
            <a:ext cx="108000" cy="1549396"/>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p:cNvSpPr/>
          <p:nvPr/>
        </p:nvSpPr>
        <p:spPr>
          <a:xfrm>
            <a:off x="10101155" y="3866058"/>
            <a:ext cx="108000" cy="142239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p:cNvSpPr/>
          <p:nvPr/>
        </p:nvSpPr>
        <p:spPr>
          <a:xfrm>
            <a:off x="10241610" y="3978275"/>
            <a:ext cx="108000" cy="13101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p:cNvSpPr/>
          <p:nvPr/>
        </p:nvSpPr>
        <p:spPr>
          <a:xfrm>
            <a:off x="10382373" y="4391026"/>
            <a:ext cx="108000" cy="8974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p:cNvSpPr/>
          <p:nvPr/>
        </p:nvSpPr>
        <p:spPr>
          <a:xfrm>
            <a:off x="10659431" y="4369594"/>
            <a:ext cx="108000" cy="918859"/>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p:cNvSpPr/>
          <p:nvPr/>
        </p:nvSpPr>
        <p:spPr>
          <a:xfrm>
            <a:off x="11064140" y="4384676"/>
            <a:ext cx="108000" cy="9037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extBox 47"/>
          <p:cNvSpPr txBox="1"/>
          <p:nvPr/>
        </p:nvSpPr>
        <p:spPr>
          <a:xfrm>
            <a:off x="6546643" y="2318925"/>
            <a:ext cx="583814" cy="338554"/>
          </a:xfrm>
          <a:prstGeom prst="rect">
            <a:avLst/>
          </a:prstGeom>
          <a:noFill/>
        </p:spPr>
        <p:txBody>
          <a:bodyPr wrap="none" rtlCol="0">
            <a:spAutoFit/>
          </a:bodyPr>
          <a:lstStyle/>
          <a:p>
            <a:pPr algn="r"/>
            <a:r>
              <a:rPr lang="en-GB" sz="1600">
                <a:solidFill>
                  <a:schemeClr val="tx2"/>
                </a:solidFill>
                <a:latin typeface="Arial" panose="020B0604020202020204" pitchFamily="34" charset="0"/>
                <a:cs typeface="Arial" panose="020B0604020202020204" pitchFamily="34" charset="0"/>
              </a:rPr>
              <a:t>1.00</a:t>
            </a:r>
          </a:p>
        </p:txBody>
      </p:sp>
      <p:sp>
        <p:nvSpPr>
          <p:cNvPr id="49" name="TextBox 48"/>
          <p:cNvSpPr txBox="1"/>
          <p:nvPr/>
        </p:nvSpPr>
        <p:spPr>
          <a:xfrm>
            <a:off x="6546643" y="3019013"/>
            <a:ext cx="583814" cy="338554"/>
          </a:xfrm>
          <a:prstGeom prst="rect">
            <a:avLst/>
          </a:prstGeom>
          <a:noFill/>
        </p:spPr>
        <p:txBody>
          <a:bodyPr wrap="none" rtlCol="0">
            <a:spAutoFit/>
          </a:bodyPr>
          <a:lstStyle/>
          <a:p>
            <a:pPr algn="r"/>
            <a:r>
              <a:rPr lang="en-GB" sz="1600">
                <a:solidFill>
                  <a:schemeClr val="tx2"/>
                </a:solidFill>
                <a:latin typeface="Arial" panose="020B0604020202020204" pitchFamily="34" charset="0"/>
                <a:cs typeface="Arial" panose="020B0604020202020204" pitchFamily="34" charset="0"/>
              </a:rPr>
              <a:t>0.75</a:t>
            </a:r>
          </a:p>
        </p:txBody>
      </p:sp>
      <p:sp>
        <p:nvSpPr>
          <p:cNvPr id="50" name="TextBox 49"/>
          <p:cNvSpPr txBox="1"/>
          <p:nvPr/>
        </p:nvSpPr>
        <p:spPr>
          <a:xfrm>
            <a:off x="6546643" y="3719837"/>
            <a:ext cx="583814" cy="338554"/>
          </a:xfrm>
          <a:prstGeom prst="rect">
            <a:avLst/>
          </a:prstGeom>
          <a:noFill/>
        </p:spPr>
        <p:txBody>
          <a:bodyPr wrap="none" rtlCol="0">
            <a:spAutoFit/>
          </a:bodyPr>
          <a:lstStyle/>
          <a:p>
            <a:pPr algn="r"/>
            <a:r>
              <a:rPr lang="en-GB" sz="1600">
                <a:solidFill>
                  <a:schemeClr val="tx2"/>
                </a:solidFill>
                <a:latin typeface="Arial" panose="020B0604020202020204" pitchFamily="34" charset="0"/>
                <a:cs typeface="Arial" panose="020B0604020202020204" pitchFamily="34" charset="0"/>
              </a:rPr>
              <a:t>0.50</a:t>
            </a:r>
          </a:p>
        </p:txBody>
      </p:sp>
      <p:sp>
        <p:nvSpPr>
          <p:cNvPr id="51" name="TextBox 50"/>
          <p:cNvSpPr txBox="1"/>
          <p:nvPr/>
        </p:nvSpPr>
        <p:spPr>
          <a:xfrm>
            <a:off x="6546643" y="4419189"/>
            <a:ext cx="583814" cy="338554"/>
          </a:xfrm>
          <a:prstGeom prst="rect">
            <a:avLst/>
          </a:prstGeom>
          <a:noFill/>
        </p:spPr>
        <p:txBody>
          <a:bodyPr wrap="none" rtlCol="0">
            <a:spAutoFit/>
          </a:bodyPr>
          <a:lstStyle/>
          <a:p>
            <a:pPr algn="r"/>
            <a:r>
              <a:rPr lang="en-GB" sz="1600">
                <a:solidFill>
                  <a:schemeClr val="tx2"/>
                </a:solidFill>
                <a:latin typeface="Arial" panose="020B0604020202020204" pitchFamily="34" charset="0"/>
                <a:cs typeface="Arial" panose="020B0604020202020204" pitchFamily="34" charset="0"/>
              </a:rPr>
              <a:t>0.25</a:t>
            </a:r>
          </a:p>
        </p:txBody>
      </p:sp>
      <p:sp>
        <p:nvSpPr>
          <p:cNvPr id="52" name="TextBox 51"/>
          <p:cNvSpPr txBox="1"/>
          <p:nvPr/>
        </p:nvSpPr>
        <p:spPr>
          <a:xfrm>
            <a:off x="6546643" y="5116003"/>
            <a:ext cx="583814" cy="338554"/>
          </a:xfrm>
          <a:prstGeom prst="rect">
            <a:avLst/>
          </a:prstGeom>
          <a:noFill/>
        </p:spPr>
        <p:txBody>
          <a:bodyPr wrap="none" rtlCol="0">
            <a:spAutoFit/>
          </a:bodyPr>
          <a:lstStyle/>
          <a:p>
            <a:pPr algn="r"/>
            <a:r>
              <a:rPr lang="en-GB" sz="1600">
                <a:solidFill>
                  <a:schemeClr val="tx2"/>
                </a:solidFill>
                <a:latin typeface="Arial" panose="020B0604020202020204" pitchFamily="34" charset="0"/>
                <a:cs typeface="Arial" panose="020B0604020202020204" pitchFamily="34" charset="0"/>
              </a:rPr>
              <a:t>0.00</a:t>
            </a:r>
          </a:p>
        </p:txBody>
      </p:sp>
      <p:sp>
        <p:nvSpPr>
          <p:cNvPr id="53" name="TextBox 52"/>
          <p:cNvSpPr txBox="1"/>
          <p:nvPr/>
        </p:nvSpPr>
        <p:spPr>
          <a:xfrm>
            <a:off x="10585473" y="5328119"/>
            <a:ext cx="689256" cy="338554"/>
          </a:xfrm>
          <a:prstGeom prst="rect">
            <a:avLst/>
          </a:prstGeom>
          <a:noFill/>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10</a:t>
            </a:r>
          </a:p>
        </p:txBody>
      </p:sp>
      <p:sp>
        <p:nvSpPr>
          <p:cNvPr id="54" name="TextBox 53"/>
          <p:cNvSpPr txBox="1"/>
          <p:nvPr/>
        </p:nvSpPr>
        <p:spPr>
          <a:xfrm>
            <a:off x="9900748" y="5328119"/>
            <a:ext cx="689256" cy="338554"/>
          </a:xfrm>
          <a:prstGeom prst="rect">
            <a:avLst/>
          </a:prstGeom>
          <a:noFill/>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8</a:t>
            </a:r>
          </a:p>
        </p:txBody>
      </p:sp>
      <p:sp>
        <p:nvSpPr>
          <p:cNvPr id="55" name="TextBox 54"/>
          <p:cNvSpPr txBox="1"/>
          <p:nvPr/>
        </p:nvSpPr>
        <p:spPr>
          <a:xfrm>
            <a:off x="9211304" y="5328119"/>
            <a:ext cx="689256" cy="338554"/>
          </a:xfrm>
          <a:prstGeom prst="rect">
            <a:avLst/>
          </a:prstGeom>
          <a:noFill/>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6</a:t>
            </a:r>
          </a:p>
        </p:txBody>
      </p:sp>
      <p:sp>
        <p:nvSpPr>
          <p:cNvPr id="56" name="TextBox 55"/>
          <p:cNvSpPr txBox="1"/>
          <p:nvPr/>
        </p:nvSpPr>
        <p:spPr>
          <a:xfrm>
            <a:off x="8526068" y="5328119"/>
            <a:ext cx="689256" cy="338554"/>
          </a:xfrm>
          <a:prstGeom prst="rect">
            <a:avLst/>
          </a:prstGeom>
          <a:noFill/>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4</a:t>
            </a:r>
          </a:p>
        </p:txBody>
      </p:sp>
      <p:sp>
        <p:nvSpPr>
          <p:cNvPr id="57" name="TextBox 56"/>
          <p:cNvSpPr txBox="1"/>
          <p:nvPr/>
        </p:nvSpPr>
        <p:spPr>
          <a:xfrm>
            <a:off x="7840540" y="5328119"/>
            <a:ext cx="689256" cy="338554"/>
          </a:xfrm>
          <a:prstGeom prst="rect">
            <a:avLst/>
          </a:prstGeom>
          <a:noFill/>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2</a:t>
            </a:r>
          </a:p>
        </p:txBody>
      </p:sp>
      <p:sp>
        <p:nvSpPr>
          <p:cNvPr id="58" name="TextBox 57"/>
          <p:cNvSpPr txBox="1"/>
          <p:nvPr/>
        </p:nvSpPr>
        <p:spPr>
          <a:xfrm>
            <a:off x="7162299" y="5328119"/>
            <a:ext cx="689256" cy="338554"/>
          </a:xfrm>
          <a:prstGeom prst="rect">
            <a:avLst/>
          </a:prstGeom>
          <a:noFill/>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0</a:t>
            </a:r>
          </a:p>
        </p:txBody>
      </p:sp>
      <p:sp>
        <p:nvSpPr>
          <p:cNvPr id="59" name="TextBox 58"/>
          <p:cNvSpPr txBox="1"/>
          <p:nvPr/>
        </p:nvSpPr>
        <p:spPr>
          <a:xfrm>
            <a:off x="7157548" y="5582400"/>
            <a:ext cx="4117182" cy="338554"/>
          </a:xfrm>
          <a:prstGeom prst="rect">
            <a:avLst/>
          </a:prstGeom>
          <a:noFill/>
        </p:spPr>
        <p:txBody>
          <a:bodyPr wrap="square" rtlCol="0">
            <a:spAutoFit/>
          </a:bodyPr>
          <a:lstStyle/>
          <a:p>
            <a:pPr algn="ctr"/>
            <a:r>
              <a:rPr lang="en-GB" sz="1600" b="1">
                <a:solidFill>
                  <a:schemeClr val="tx2"/>
                </a:solidFill>
                <a:latin typeface="Arial" panose="020B0604020202020204" pitchFamily="34" charset="0"/>
                <a:cs typeface="Arial" panose="020B0604020202020204" pitchFamily="34" charset="0"/>
              </a:rPr>
              <a:t>Years from diagnosis/treatment</a:t>
            </a:r>
          </a:p>
        </p:txBody>
      </p:sp>
      <p:sp>
        <p:nvSpPr>
          <p:cNvPr id="60" name="TextBox 59"/>
          <p:cNvSpPr txBox="1"/>
          <p:nvPr/>
        </p:nvSpPr>
        <p:spPr>
          <a:xfrm rot="16200000">
            <a:off x="4935079" y="3719097"/>
            <a:ext cx="2800340" cy="338554"/>
          </a:xfrm>
          <a:prstGeom prst="rect">
            <a:avLst/>
          </a:prstGeom>
          <a:noFill/>
        </p:spPr>
        <p:txBody>
          <a:bodyPr wrap="square" rtlCol="0">
            <a:spAutoFit/>
          </a:bodyPr>
          <a:lstStyle/>
          <a:p>
            <a:pPr algn="ctr"/>
            <a:r>
              <a:rPr lang="en-GB" sz="1600" b="1">
                <a:solidFill>
                  <a:schemeClr val="tx2"/>
                </a:solidFill>
                <a:latin typeface="Arial" panose="020B0604020202020204" pitchFamily="34" charset="0"/>
                <a:cs typeface="Arial" panose="020B0604020202020204" pitchFamily="34" charset="0"/>
              </a:rPr>
              <a:t>Probability of survival</a:t>
            </a:r>
          </a:p>
        </p:txBody>
      </p:sp>
      <p:cxnSp>
        <p:nvCxnSpPr>
          <p:cNvPr id="61" name="Straight Connector 60"/>
          <p:cNvCxnSpPr>
            <a:cxnSpLocks/>
          </p:cNvCxnSpPr>
          <p:nvPr/>
        </p:nvCxnSpPr>
        <p:spPr>
          <a:xfrm flipH="1">
            <a:off x="7090873" y="5288554"/>
            <a:ext cx="417671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62" name="Group 61"/>
          <p:cNvGrpSpPr/>
          <p:nvPr/>
        </p:nvGrpSpPr>
        <p:grpSpPr>
          <a:xfrm>
            <a:off x="10486957" y="2605578"/>
            <a:ext cx="360999" cy="276999"/>
            <a:chOff x="9643555" y="2166681"/>
            <a:chExt cx="360999" cy="276999"/>
          </a:xfrm>
          <a:solidFill>
            <a:schemeClr val="tx1">
              <a:lumMod val="90000"/>
              <a:lumOff val="10000"/>
            </a:schemeClr>
          </a:solidFill>
        </p:grpSpPr>
        <p:sp>
          <p:nvSpPr>
            <p:cNvPr id="63" name="Rectangle 62"/>
            <p:cNvSpPr/>
            <p:nvPr/>
          </p:nvSpPr>
          <p:spPr>
            <a:xfrm>
              <a:off x="9643555" y="2252398"/>
              <a:ext cx="108000" cy="10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p:cNvSpPr txBox="1"/>
            <p:nvPr/>
          </p:nvSpPr>
          <p:spPr>
            <a:xfrm>
              <a:off x="9734928" y="2166681"/>
              <a:ext cx="269626" cy="276999"/>
            </a:xfrm>
            <a:prstGeom prst="rect">
              <a:avLst/>
            </a:prstGeom>
            <a:noFill/>
          </p:spPr>
          <p:txBody>
            <a:bodyPr wrap="none" rtlCol="0">
              <a:spAutoFit/>
            </a:bodyPr>
            <a:lstStyle/>
            <a:p>
              <a:r>
                <a:rPr lang="en-GB" sz="1200">
                  <a:latin typeface="Arial" panose="020B0604020202020204" pitchFamily="34" charset="0"/>
                  <a:cs typeface="Arial" panose="020B0604020202020204" pitchFamily="34" charset="0"/>
                </a:rPr>
                <a:t>0</a:t>
              </a:r>
            </a:p>
          </p:txBody>
        </p:sp>
      </p:grpSp>
      <p:grpSp>
        <p:nvGrpSpPr>
          <p:cNvPr id="65" name="Group 64"/>
          <p:cNvGrpSpPr/>
          <p:nvPr/>
        </p:nvGrpSpPr>
        <p:grpSpPr>
          <a:xfrm>
            <a:off x="10486957" y="2825219"/>
            <a:ext cx="360999" cy="276999"/>
            <a:chOff x="9643555" y="2340638"/>
            <a:chExt cx="360999" cy="276999"/>
          </a:xfrm>
        </p:grpSpPr>
        <p:sp>
          <p:nvSpPr>
            <p:cNvPr id="66" name="Rectangle 65"/>
            <p:cNvSpPr/>
            <p:nvPr/>
          </p:nvSpPr>
          <p:spPr>
            <a:xfrm>
              <a:off x="9643555" y="2430648"/>
              <a:ext cx="108000" cy="108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TextBox 66"/>
            <p:cNvSpPr txBox="1"/>
            <p:nvPr/>
          </p:nvSpPr>
          <p:spPr>
            <a:xfrm>
              <a:off x="9734928" y="2340638"/>
              <a:ext cx="269626" cy="276999"/>
            </a:xfrm>
            <a:prstGeom prst="rect">
              <a:avLst/>
            </a:prstGeom>
            <a:noFill/>
          </p:spPr>
          <p:txBody>
            <a:bodyPr wrap="none" rtlCol="0">
              <a:spAutoFit/>
            </a:bodyPr>
            <a:lstStyle/>
            <a:p>
              <a:r>
                <a:rPr lang="en-GB" sz="1200">
                  <a:latin typeface="Arial" panose="020B0604020202020204" pitchFamily="34" charset="0"/>
                  <a:cs typeface="Arial" panose="020B0604020202020204" pitchFamily="34" charset="0"/>
                </a:rPr>
                <a:t>1</a:t>
              </a:r>
            </a:p>
          </p:txBody>
        </p:sp>
      </p:grpSp>
      <p:grpSp>
        <p:nvGrpSpPr>
          <p:cNvPr id="68" name="Group 67"/>
          <p:cNvGrpSpPr/>
          <p:nvPr/>
        </p:nvGrpSpPr>
        <p:grpSpPr>
          <a:xfrm>
            <a:off x="10486957" y="3044860"/>
            <a:ext cx="360999" cy="276999"/>
            <a:chOff x="9643555" y="2580878"/>
            <a:chExt cx="360999" cy="276999"/>
          </a:xfrm>
        </p:grpSpPr>
        <p:sp>
          <p:nvSpPr>
            <p:cNvPr id="69" name="Rectangle 68"/>
            <p:cNvSpPr/>
            <p:nvPr/>
          </p:nvSpPr>
          <p:spPr>
            <a:xfrm>
              <a:off x="9643555" y="2671578"/>
              <a:ext cx="108000" cy="10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TextBox 69"/>
            <p:cNvSpPr txBox="1"/>
            <p:nvPr/>
          </p:nvSpPr>
          <p:spPr>
            <a:xfrm>
              <a:off x="9734928" y="2580878"/>
              <a:ext cx="269626" cy="276999"/>
            </a:xfrm>
            <a:prstGeom prst="rect">
              <a:avLst/>
            </a:prstGeom>
            <a:noFill/>
          </p:spPr>
          <p:txBody>
            <a:bodyPr wrap="none" rtlCol="0">
              <a:spAutoFit/>
            </a:bodyPr>
            <a:lstStyle/>
            <a:p>
              <a:r>
                <a:rPr lang="en-GB" sz="1200">
                  <a:latin typeface="Arial" panose="020B0604020202020204" pitchFamily="34" charset="0"/>
                  <a:cs typeface="Arial" panose="020B0604020202020204" pitchFamily="34" charset="0"/>
                </a:rPr>
                <a:t>2</a:t>
              </a:r>
            </a:p>
          </p:txBody>
        </p:sp>
      </p:grpSp>
      <p:grpSp>
        <p:nvGrpSpPr>
          <p:cNvPr id="71" name="Group 70"/>
          <p:cNvGrpSpPr/>
          <p:nvPr/>
        </p:nvGrpSpPr>
        <p:grpSpPr>
          <a:xfrm>
            <a:off x="10486957" y="3264501"/>
            <a:ext cx="450767" cy="276999"/>
            <a:chOff x="9643555" y="2825604"/>
            <a:chExt cx="450767" cy="276999"/>
          </a:xfrm>
        </p:grpSpPr>
        <p:sp>
          <p:nvSpPr>
            <p:cNvPr id="72" name="Rectangle 71"/>
            <p:cNvSpPr/>
            <p:nvPr/>
          </p:nvSpPr>
          <p:spPr>
            <a:xfrm>
              <a:off x="9643555" y="2914435"/>
              <a:ext cx="108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TextBox 72"/>
            <p:cNvSpPr txBox="1"/>
            <p:nvPr/>
          </p:nvSpPr>
          <p:spPr>
            <a:xfrm>
              <a:off x="9734928" y="2825604"/>
              <a:ext cx="359394" cy="276999"/>
            </a:xfrm>
            <a:prstGeom prst="rect">
              <a:avLst/>
            </a:prstGeom>
            <a:noFill/>
          </p:spPr>
          <p:txBody>
            <a:bodyPr wrap="none" rtlCol="0">
              <a:spAutoFit/>
            </a:bodyPr>
            <a:lstStyle/>
            <a:p>
              <a:r>
                <a:rPr lang="en-GB" sz="1200">
                  <a:latin typeface="Arial" panose="020B0604020202020204" pitchFamily="34" charset="0"/>
                  <a:cs typeface="Arial" panose="020B0604020202020204" pitchFamily="34" charset="0"/>
                </a:rPr>
                <a:t>&gt;3</a:t>
              </a:r>
            </a:p>
          </p:txBody>
        </p:sp>
      </p:grpSp>
      <p:sp>
        <p:nvSpPr>
          <p:cNvPr id="74" name="Rectangle 73"/>
          <p:cNvSpPr/>
          <p:nvPr/>
        </p:nvSpPr>
        <p:spPr>
          <a:xfrm>
            <a:off x="9184175" y="2216034"/>
            <a:ext cx="1589573" cy="461665"/>
          </a:xfrm>
          <a:prstGeom prst="rect">
            <a:avLst/>
          </a:prstGeom>
        </p:spPr>
        <p:txBody>
          <a:bodyPr wrap="square">
            <a:spAutoFit/>
          </a:bodyPr>
          <a:lstStyle/>
          <a:p>
            <a:r>
              <a:rPr lang="en-GB" sz="1200" dirty="0">
                <a:latin typeface="Arial" panose="020B0604020202020204" pitchFamily="34" charset="0"/>
                <a:cs typeface="Arial" panose="020B0604020202020204" pitchFamily="34" charset="0"/>
              </a:rPr>
              <a:t>Baseline Charlson </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Comorbidities Index:</a:t>
            </a:r>
          </a:p>
        </p:txBody>
      </p:sp>
    </p:spTree>
    <p:custDataLst>
      <p:tags r:id="rId1"/>
    </p:custDataLst>
    <p:extLst>
      <p:ext uri="{BB962C8B-B14F-4D97-AF65-F5344CB8AC3E}">
        <p14:creationId xmlns:p14="http://schemas.microsoft.com/office/powerpoint/2010/main" val="323489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EB73B24-1009-897C-1426-6595C4847798}"/>
              </a:ext>
            </a:extLst>
          </p:cNvPr>
          <p:cNvSpPr/>
          <p:nvPr/>
        </p:nvSpPr>
        <p:spPr>
          <a:xfrm>
            <a:off x="6096000" y="1323975"/>
            <a:ext cx="6096000" cy="1952625"/>
          </a:xfrm>
          <a:prstGeom prst="rect">
            <a:avLst/>
          </a:prstGeom>
          <a:solidFill>
            <a:srgbClr val="D9D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0C0F4270-EC39-1CA0-CA4B-863C05AED89A}"/>
              </a:ext>
            </a:extLst>
          </p:cNvPr>
          <p:cNvSpPr/>
          <p:nvPr/>
        </p:nvSpPr>
        <p:spPr>
          <a:xfrm>
            <a:off x="6096000" y="3333751"/>
            <a:ext cx="6096000" cy="2781299"/>
          </a:xfrm>
          <a:prstGeom prst="rect">
            <a:avLst/>
          </a:prstGeom>
          <a:solidFill>
            <a:srgbClr val="D9D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 Placeholder 5"/>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2" name="Title 1"/>
          <p:cNvSpPr>
            <a:spLocks noGrp="1"/>
          </p:cNvSpPr>
          <p:nvPr>
            <p:ph type="title"/>
          </p:nvPr>
        </p:nvSpPr>
        <p:spPr/>
        <p:txBody>
          <a:bodyPr/>
          <a:lstStyle/>
          <a:p>
            <a:r>
              <a:rPr lang="en-GB" dirty="0"/>
              <a:t>Cognitive impairment and dementia in Parkinson’s disease</a:t>
            </a:r>
          </a:p>
        </p:txBody>
      </p:sp>
      <p:sp>
        <p:nvSpPr>
          <p:cNvPr id="3" name="Content Placeholder 2"/>
          <p:cNvSpPr>
            <a:spLocks noGrp="1"/>
          </p:cNvSpPr>
          <p:nvPr>
            <p:ph idx="20"/>
          </p:nvPr>
        </p:nvSpPr>
        <p:spPr/>
        <p:txBody>
          <a:bodyPr>
            <a:normAutofit/>
          </a:bodyPr>
          <a:lstStyle/>
          <a:p>
            <a:r>
              <a:rPr lang="en-GB" dirty="0"/>
              <a:t>In a study of progression to dementia, patients with PD were compared to control individuals</a:t>
            </a:r>
            <a:r>
              <a:rPr lang="en-GB" baseline="30000" dirty="0"/>
              <a:t>1</a:t>
            </a:r>
            <a:endParaRPr lang="en-GB" dirty="0"/>
          </a:p>
          <a:p>
            <a:r>
              <a:rPr lang="en-GB" dirty="0"/>
              <a:t>After 4 years, 62% of those with PD and MCI at baseline developed dementia, compared to 20% of those without MCI (p=0.001)</a:t>
            </a:r>
            <a:r>
              <a:rPr lang="en-GB" baseline="30000" dirty="0"/>
              <a:t>1</a:t>
            </a:r>
          </a:p>
          <a:p>
            <a:r>
              <a:rPr lang="en-GB" b="1" dirty="0">
                <a:latin typeface="Arial" panose="020B0604020202020204" pitchFamily="34" charset="0"/>
                <a:cs typeface="Arial" panose="020B0604020202020204" pitchFamily="34" charset="0"/>
              </a:rPr>
              <a:t>The presence of MCI in patients with PD predicted the subsequent development of dementia</a:t>
            </a:r>
            <a:r>
              <a:rPr lang="en-GB" baseline="30000" dirty="0">
                <a:latin typeface="Arial" panose="020B0604020202020204" pitchFamily="34" charset="0"/>
                <a:cs typeface="Arial" panose="020B0604020202020204" pitchFamily="34" charset="0"/>
              </a:rPr>
              <a:t>1</a:t>
            </a:r>
          </a:p>
          <a:p>
            <a:r>
              <a:rPr lang="en-GB" dirty="0"/>
              <a:t>Another study determined clinical and neuropsychological variables that predicted cognitive decline in PD:</a:t>
            </a:r>
            <a:r>
              <a:rPr lang="en-GB" baseline="30000" dirty="0"/>
              <a:t>2</a:t>
            </a:r>
            <a:endParaRPr lang="en-GB" dirty="0"/>
          </a:p>
        </p:txBody>
      </p:sp>
      <p:sp>
        <p:nvSpPr>
          <p:cNvPr id="5" name="Content Placeholder 4"/>
          <p:cNvSpPr>
            <a:spLocks noGrp="1"/>
          </p:cNvSpPr>
          <p:nvPr>
            <p:ph idx="21"/>
          </p:nvPr>
        </p:nvSpPr>
        <p:spPr>
          <a:xfrm>
            <a:off x="6230938" y="1416785"/>
            <a:ext cx="5419725" cy="4415215"/>
          </a:xfrm>
        </p:spPr>
        <p:txBody>
          <a:bodyPr>
            <a:noAutofit/>
          </a:bodyPr>
          <a:lstStyle/>
          <a:p>
            <a:r>
              <a:rPr lang="en-GB" dirty="0">
                <a:latin typeface="Arial" panose="020B0604020202020204" pitchFamily="34" charset="0"/>
                <a:cs typeface="Arial" panose="020B0604020202020204" pitchFamily="34" charset="0"/>
              </a:rPr>
              <a:t>One analysis examined the longitudinal course of PD and dementia and found a lower incidence of dementia in PD than previous studies:</a:t>
            </a:r>
            <a:r>
              <a:rPr lang="en-GB" baseline="30000" dirty="0">
                <a:latin typeface="Arial" panose="020B0604020202020204" pitchFamily="34" charset="0"/>
                <a:cs typeface="Arial" panose="020B0604020202020204" pitchFamily="34" charset="0"/>
              </a:rPr>
              <a:t>3</a:t>
            </a:r>
            <a:endParaRPr lang="en-GB" dirty="0">
              <a:latin typeface="Arial" panose="020B0604020202020204" pitchFamily="34" charset="0"/>
              <a:cs typeface="Arial" panose="020B0604020202020204" pitchFamily="34" charset="0"/>
            </a:endParaRPr>
          </a:p>
          <a:p>
            <a:pPr lvl="1"/>
            <a:r>
              <a:rPr lang="en-GB" dirty="0">
                <a:latin typeface="Arial" panose="020B0604020202020204" pitchFamily="34" charset="0"/>
                <a:cs typeface="Arial" panose="020B0604020202020204" pitchFamily="34" charset="0"/>
              </a:rPr>
              <a:t>Of 36 people with PD who survived for 20 years, 7 people (19%) were diagnosed with probable PD dementia</a:t>
            </a:r>
          </a:p>
          <a:p>
            <a:pPr lvl="1"/>
            <a:r>
              <a:rPr lang="en-GB" dirty="0">
                <a:latin typeface="Arial" panose="020B0604020202020204" pitchFamily="34" charset="0"/>
                <a:cs typeface="Arial" panose="020B0604020202020204" pitchFamily="34" charset="0"/>
              </a:rPr>
              <a:t>The course of cognitive function and decline in people with PD varies between patients</a:t>
            </a:r>
          </a:p>
          <a:p>
            <a:r>
              <a:rPr lang="en-GB" dirty="0">
                <a:latin typeface="Arial" panose="020B0604020202020204" pitchFamily="34" charset="0"/>
                <a:cs typeface="Arial" panose="020B0604020202020204" pitchFamily="34" charset="0"/>
              </a:rPr>
              <a:t>A large meta-analysis, including 41 studies, and 7,053 patients, found that the prevalence of MCI in people with PD was 40%</a:t>
            </a:r>
            <a:r>
              <a:rPr lang="en-GB" baseline="30000" dirty="0">
                <a:latin typeface="Arial" panose="020B0604020202020204" pitchFamily="34" charset="0"/>
                <a:cs typeface="Arial" panose="020B0604020202020204" pitchFamily="34" charset="0"/>
              </a:rPr>
              <a:t>4</a:t>
            </a: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MCI in people with PD was found to be associated with:</a:t>
            </a:r>
            <a:r>
              <a:rPr lang="en-GB" baseline="30000" dirty="0">
                <a:latin typeface="Arial" panose="020B0604020202020204" pitchFamily="34" charset="0"/>
                <a:cs typeface="Arial" panose="020B0604020202020204" pitchFamily="34" charset="0"/>
              </a:rPr>
              <a:t>4</a:t>
            </a:r>
          </a:p>
          <a:p>
            <a:pPr lvl="1"/>
            <a:endParaRPr lang="en-GB" dirty="0">
              <a:latin typeface="Arial" panose="020B060402020202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263C3BD8-04EC-4D5D-93E3-41BD6A2897D4}"/>
              </a:ext>
            </a:extLst>
          </p:cNvPr>
          <p:cNvSpPr>
            <a:spLocks noGrp="1"/>
          </p:cNvSpPr>
          <p:nvPr>
            <p:ph type="body" sz="quarter" idx="18"/>
          </p:nvPr>
        </p:nvSpPr>
        <p:spPr/>
        <p:txBody>
          <a:bodyPr/>
          <a:lstStyle/>
          <a:p>
            <a:pPr marL="0" indent="0">
              <a:buNone/>
            </a:pPr>
            <a:r>
              <a:rPr lang="en-GB" dirty="0"/>
              <a:t>MCI=mild cognitive impairment; PD=Parkinson’s disease; UPDRS=Unified Parkinson’s Disease Rating Scale</a:t>
            </a:r>
          </a:p>
          <a:p>
            <a:pPr marL="0" indent="0">
              <a:buNone/>
            </a:pPr>
            <a:endParaRPr lang="en-GB" dirty="0"/>
          </a:p>
          <a:p>
            <a:pPr marL="0" indent="0">
              <a:buNone/>
            </a:pPr>
            <a:r>
              <a:rPr lang="en-GB" dirty="0"/>
              <a:t>1. </a:t>
            </a:r>
            <a:r>
              <a:rPr lang="en-GB" dirty="0" err="1"/>
              <a:t>Janvin</a:t>
            </a:r>
            <a:r>
              <a:rPr lang="en-GB" dirty="0"/>
              <a:t> et al. Mov </a:t>
            </a:r>
            <a:r>
              <a:rPr lang="en-GB" dirty="0" err="1"/>
              <a:t>Disord</a:t>
            </a:r>
            <a:r>
              <a:rPr lang="en-GB" dirty="0"/>
              <a:t> 2006;21(9):1343–1349; 2. Williams-Gray et al. Brain 2007;130(Pt 7):1787–1798;</a:t>
            </a:r>
            <a:br>
              <a:rPr lang="en-GB" dirty="0"/>
            </a:br>
            <a:r>
              <a:rPr lang="en-GB" dirty="0"/>
              <a:t>3. Szeto et al. NPJ </a:t>
            </a:r>
            <a:r>
              <a:rPr lang="en-GB" dirty="0" err="1"/>
              <a:t>Parkinsons</a:t>
            </a:r>
            <a:r>
              <a:rPr lang="en-GB" dirty="0"/>
              <a:t> Dis 2020;6:2; 4. </a:t>
            </a:r>
            <a:r>
              <a:rPr lang="en-GB" dirty="0" err="1"/>
              <a:t>Baiano</a:t>
            </a:r>
            <a:r>
              <a:rPr lang="en-GB" dirty="0"/>
              <a:t> et al. Mov </a:t>
            </a:r>
            <a:r>
              <a:rPr lang="en-GB" dirty="0" err="1"/>
              <a:t>Disord</a:t>
            </a:r>
            <a:r>
              <a:rPr lang="en-GB" dirty="0"/>
              <a:t> 2020;35(1):45–54</a:t>
            </a:r>
          </a:p>
        </p:txBody>
      </p:sp>
      <p:sp>
        <p:nvSpPr>
          <p:cNvPr id="4" name="Slide Number Placeholder 3"/>
          <p:cNvSpPr>
            <a:spLocks noGrp="1"/>
          </p:cNvSpPr>
          <p:nvPr>
            <p:ph type="sldNum" sz="quarter" idx="4"/>
          </p:nvPr>
        </p:nvSpPr>
        <p:spPr/>
        <p:txBody>
          <a:bodyPr/>
          <a:lstStyle/>
          <a:p>
            <a:fld id="{6DBC486D-4FAB-B746-8B02-8D7C842291C6}" type="slidenum">
              <a:rPr lang="en-GB" smtClean="0"/>
              <a:t>29</a:t>
            </a:fld>
            <a:endParaRPr lang="en-GB"/>
          </a:p>
        </p:txBody>
      </p:sp>
      <p:sp>
        <p:nvSpPr>
          <p:cNvPr id="23" name="TextBox 22">
            <a:extLst>
              <a:ext uri="{FF2B5EF4-FFF2-40B4-BE49-F238E27FC236}">
                <a16:creationId xmlns:a16="http://schemas.microsoft.com/office/drawing/2014/main" id="{A05653BA-B46E-2DFB-5FAF-05B11A5D061E}"/>
              </a:ext>
            </a:extLst>
          </p:cNvPr>
          <p:cNvSpPr txBox="1"/>
          <p:nvPr/>
        </p:nvSpPr>
        <p:spPr>
          <a:xfrm>
            <a:off x="539749" y="4384221"/>
            <a:ext cx="5419725" cy="1149804"/>
          </a:xfrm>
          <a:prstGeom prst="rect">
            <a:avLst/>
          </a:prstGeom>
          <a:noFill/>
        </p:spPr>
        <p:txBody>
          <a:bodyPr wrap="square" lIns="0" tIns="0" rIns="0" bIns="0" numCol="2">
            <a:noAutofit/>
          </a:bodyPr>
          <a:lstStyle/>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3F1A01"/>
                </a:solidFill>
                <a:effectLst/>
                <a:uLnTx/>
                <a:uFillTx/>
                <a:latin typeface="Arial" panose="020B0604020202020204" pitchFamily="34" charset="0"/>
                <a:ea typeface="+mn-ea"/>
                <a:cs typeface="Arial" panose="020B0604020202020204" pitchFamily="34" charset="0"/>
              </a:rPr>
              <a:t>Older age</a:t>
            </a: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3F1A01"/>
                </a:solidFill>
                <a:effectLst/>
                <a:uLnTx/>
                <a:uFillTx/>
                <a:latin typeface="Arial" panose="020B0604020202020204" pitchFamily="34" charset="0"/>
                <a:ea typeface="+mn-ea"/>
                <a:cs typeface="Arial" panose="020B0604020202020204" pitchFamily="34" charset="0"/>
              </a:rPr>
              <a:t>Non-tremor dominant motor phenotype</a:t>
            </a: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3F1A01"/>
                </a:solidFill>
                <a:effectLst/>
                <a:uLnTx/>
                <a:uFillTx/>
                <a:latin typeface="Arial" panose="020B0604020202020204" pitchFamily="34" charset="0"/>
                <a:ea typeface="+mn-ea"/>
                <a:cs typeface="Arial" panose="020B0604020202020204" pitchFamily="34" charset="0"/>
              </a:rPr>
              <a:t>Higher UPDRS-Motor score</a:t>
            </a: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3F1A01"/>
                </a:solidFill>
                <a:effectLst/>
                <a:uLnTx/>
                <a:uFillTx/>
                <a:latin typeface="Arial" panose="020B0604020202020204" pitchFamily="34" charset="0"/>
                <a:ea typeface="+mn-ea"/>
                <a:cs typeface="Arial" panose="020B0604020202020204" pitchFamily="34" charset="0"/>
              </a:rPr>
              <a:t>Below average performance on various scales and measures of verbal fluency and memory</a:t>
            </a:r>
          </a:p>
        </p:txBody>
      </p:sp>
      <p:sp>
        <p:nvSpPr>
          <p:cNvPr id="24" name="TextBox 23">
            <a:extLst>
              <a:ext uri="{FF2B5EF4-FFF2-40B4-BE49-F238E27FC236}">
                <a16:creationId xmlns:a16="http://schemas.microsoft.com/office/drawing/2014/main" id="{B7CDF142-49BF-0761-EF0E-3AEE9735B3CB}"/>
              </a:ext>
            </a:extLst>
          </p:cNvPr>
          <p:cNvSpPr txBox="1"/>
          <p:nvPr/>
        </p:nvSpPr>
        <p:spPr>
          <a:xfrm>
            <a:off x="6230938" y="4651140"/>
            <a:ext cx="5419725" cy="1149804"/>
          </a:xfrm>
          <a:prstGeom prst="rect">
            <a:avLst/>
          </a:prstGeom>
          <a:noFill/>
        </p:spPr>
        <p:txBody>
          <a:bodyPr wrap="square" lIns="0" tIns="0" rIns="0" bIns="0" numCol="2">
            <a:noAutofit/>
          </a:bodyPr>
          <a:lstStyle/>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3F1A01"/>
                </a:solidFill>
                <a:effectLst/>
                <a:uLnTx/>
                <a:uFillTx/>
                <a:latin typeface="Arial" panose="020B0604020202020204" pitchFamily="34" charset="0"/>
                <a:ea typeface="+mn-ea"/>
                <a:cs typeface="Arial" panose="020B0604020202020204" pitchFamily="34" charset="0"/>
              </a:rPr>
              <a:t>Older age</a:t>
            </a: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3F1A01"/>
                </a:solidFill>
                <a:effectLst/>
                <a:uLnTx/>
                <a:uFillTx/>
                <a:latin typeface="Arial" panose="020B0604020202020204" pitchFamily="34" charset="0"/>
                <a:ea typeface="+mn-ea"/>
                <a:cs typeface="Arial" panose="020B0604020202020204" pitchFamily="34" charset="0"/>
              </a:rPr>
              <a:t>Lower education</a:t>
            </a: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400" dirty="0">
                <a:solidFill>
                  <a:srgbClr val="3F1A01"/>
                </a:solidFill>
                <a:latin typeface="Arial" panose="020B0604020202020204" pitchFamily="34" charset="0"/>
                <a:cs typeface="Arial" panose="020B0604020202020204" pitchFamily="34" charset="0"/>
              </a:rPr>
              <a:t>Longer disease duration</a:t>
            </a: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3F1A01"/>
                </a:solidFill>
                <a:effectLst/>
                <a:uLnTx/>
                <a:uFillTx/>
                <a:latin typeface="Arial" panose="020B0604020202020204" pitchFamily="34" charset="0"/>
                <a:ea typeface="+mn-ea"/>
                <a:cs typeface="Arial" panose="020B0604020202020204" pitchFamily="34" charset="0"/>
              </a:rPr>
              <a:t>Higher levodopa dose</a:t>
            </a: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400" dirty="0">
                <a:solidFill>
                  <a:srgbClr val="3F1A01"/>
                </a:solidFill>
                <a:latin typeface="Arial" panose="020B0604020202020204" pitchFamily="34" charset="0"/>
                <a:cs typeface="Arial" panose="020B0604020202020204" pitchFamily="34" charset="0"/>
              </a:rPr>
              <a:t>More severe symptoms</a:t>
            </a: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3F1A01"/>
                </a:solidFill>
                <a:effectLst/>
                <a:uLnTx/>
                <a:uFillTx/>
                <a:latin typeface="Arial" panose="020B0604020202020204" pitchFamily="34" charset="0"/>
                <a:ea typeface="+mn-ea"/>
                <a:cs typeface="Arial" panose="020B0604020202020204" pitchFamily="34" charset="0"/>
              </a:rPr>
              <a:t>Postural instability/gait difficulty motor subtype</a:t>
            </a: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3F1A01"/>
                </a:solidFill>
                <a:effectLst/>
                <a:uLnTx/>
                <a:uFillTx/>
                <a:latin typeface="Arial" panose="020B0604020202020204" pitchFamily="34" charset="0"/>
                <a:ea typeface="+mn-ea"/>
                <a:cs typeface="Arial" panose="020B0604020202020204" pitchFamily="34" charset="0"/>
              </a:rPr>
              <a:t>Lower quality of life</a:t>
            </a: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3F1A01"/>
                </a:solidFill>
                <a:effectLst/>
                <a:uLnTx/>
                <a:uFillTx/>
                <a:latin typeface="Arial" panose="020B0604020202020204" pitchFamily="34" charset="0"/>
                <a:ea typeface="+mn-ea"/>
                <a:cs typeface="Arial" panose="020B0604020202020204" pitchFamily="34" charset="0"/>
              </a:rPr>
              <a:t>Apathy and depression</a:t>
            </a:r>
          </a:p>
        </p:txBody>
      </p:sp>
    </p:spTree>
    <p:custDataLst>
      <p:tags r:id="rId1"/>
    </p:custDataLst>
    <p:extLst>
      <p:ext uri="{BB962C8B-B14F-4D97-AF65-F5344CB8AC3E}">
        <p14:creationId xmlns:p14="http://schemas.microsoft.com/office/powerpoint/2010/main" val="36938970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2" name="Title 1"/>
          <p:cNvSpPr>
            <a:spLocks noGrp="1"/>
          </p:cNvSpPr>
          <p:nvPr>
            <p:ph type="title"/>
          </p:nvPr>
        </p:nvSpPr>
        <p:spPr/>
        <p:txBody>
          <a:bodyPr/>
          <a:lstStyle/>
          <a:p>
            <a:r>
              <a:rPr lang="en-GB" sz="2000" dirty="0" err="1"/>
              <a:t>Braak</a:t>
            </a:r>
            <a:r>
              <a:rPr lang="en-GB" sz="2000" dirty="0"/>
              <a:t> stage and cognitive status of patients with Parkinson’s disease</a:t>
            </a:r>
          </a:p>
        </p:txBody>
      </p:sp>
      <p:sp>
        <p:nvSpPr>
          <p:cNvPr id="11" name="Text Placeholder 10">
            <a:extLst>
              <a:ext uri="{FF2B5EF4-FFF2-40B4-BE49-F238E27FC236}">
                <a16:creationId xmlns:a16="http://schemas.microsoft.com/office/drawing/2014/main" id="{5ADCD08A-6339-4F44-A0FE-273CE003431C}"/>
              </a:ext>
            </a:extLst>
          </p:cNvPr>
          <p:cNvSpPr>
            <a:spLocks noGrp="1"/>
          </p:cNvSpPr>
          <p:nvPr>
            <p:ph type="body" sz="quarter" idx="18"/>
          </p:nvPr>
        </p:nvSpPr>
        <p:spPr/>
        <p:txBody>
          <a:bodyPr/>
          <a:lstStyle/>
          <a:p>
            <a:pPr marL="0" indent="0">
              <a:buNone/>
            </a:pPr>
            <a:r>
              <a:rPr lang="en-GB" dirty="0"/>
              <a:t>MMSE=Mini-Mental State Examination; PD=Parkinson’s disease</a:t>
            </a:r>
          </a:p>
          <a:p>
            <a:pPr marL="0" indent="0">
              <a:buNone/>
            </a:pPr>
            <a:endParaRPr lang="en-GB" dirty="0"/>
          </a:p>
          <a:p>
            <a:pPr marL="0" indent="0">
              <a:buNone/>
            </a:pPr>
            <a:r>
              <a:rPr lang="en-GB" dirty="0"/>
              <a:t>1. </a:t>
            </a:r>
            <a:r>
              <a:rPr lang="en-GB" dirty="0" err="1"/>
              <a:t>Braak</a:t>
            </a:r>
            <a:r>
              <a:rPr lang="en-GB" dirty="0"/>
              <a:t> et al. Neurology 2005;64(8):1404–1410; 2. </a:t>
            </a:r>
            <a:r>
              <a:rPr lang="en-GB" dirty="0" err="1"/>
              <a:t>Borghammer</a:t>
            </a:r>
            <a:r>
              <a:rPr lang="en-GB" dirty="0"/>
              <a:t> et al. NPJ </a:t>
            </a:r>
            <a:r>
              <a:rPr lang="en-GB" dirty="0" err="1"/>
              <a:t>Parkinsons</a:t>
            </a:r>
            <a:r>
              <a:rPr lang="en-GB" dirty="0"/>
              <a:t> Dis 2022;8(1):166; </a:t>
            </a:r>
            <a:br>
              <a:rPr lang="en-GB" dirty="0"/>
            </a:br>
            <a:r>
              <a:rPr lang="en-GB" dirty="0"/>
              <a:t>3. </a:t>
            </a:r>
            <a:r>
              <a:rPr lang="en-GB" dirty="0" err="1"/>
              <a:t>Braak</a:t>
            </a:r>
            <a:r>
              <a:rPr lang="en-GB" dirty="0"/>
              <a:t> et al. J Neural </a:t>
            </a:r>
            <a:r>
              <a:rPr lang="en-GB" dirty="0" err="1"/>
              <a:t>Transm</a:t>
            </a:r>
            <a:r>
              <a:rPr lang="en-GB" dirty="0"/>
              <a:t> (Vienna) 2003;110(5):517–536; 4. Halliday et al. Acta </a:t>
            </a:r>
            <a:r>
              <a:rPr lang="en-GB" dirty="0" err="1"/>
              <a:t>Neuropathol</a:t>
            </a:r>
            <a:r>
              <a:rPr lang="en-GB" dirty="0"/>
              <a:t> 2008;115(4):409–415; </a:t>
            </a:r>
            <a:br>
              <a:rPr lang="en-GB" dirty="0"/>
            </a:br>
            <a:r>
              <a:rPr lang="en-GB" dirty="0"/>
              <a:t>5. Hawkes et al. </a:t>
            </a:r>
            <a:r>
              <a:rPr lang="en-GB" dirty="0" err="1"/>
              <a:t>Neuropathol</a:t>
            </a:r>
            <a:r>
              <a:rPr lang="en-GB" dirty="0"/>
              <a:t> </a:t>
            </a:r>
            <a:r>
              <a:rPr lang="en-GB" dirty="0" err="1"/>
              <a:t>Appl</a:t>
            </a:r>
            <a:r>
              <a:rPr lang="en-GB" dirty="0"/>
              <a:t> </a:t>
            </a:r>
            <a:r>
              <a:rPr lang="en-GB" dirty="0" err="1"/>
              <a:t>Neurobiol</a:t>
            </a:r>
            <a:r>
              <a:rPr lang="en-GB" dirty="0"/>
              <a:t> 2007;33(6):599–614; 6. </a:t>
            </a:r>
            <a:r>
              <a:rPr lang="en-GB" dirty="0" err="1"/>
              <a:t>Horsager</a:t>
            </a:r>
            <a:r>
              <a:rPr lang="en-GB" dirty="0"/>
              <a:t> et al. Brain 2020;143(10):3077–3088; 7. </a:t>
            </a:r>
            <a:r>
              <a:rPr lang="en-GB" dirty="0" err="1"/>
              <a:t>Surmeier</a:t>
            </a:r>
            <a:r>
              <a:rPr lang="en-GB" dirty="0"/>
              <a:t> et al. Nat Rev </a:t>
            </a:r>
            <a:r>
              <a:rPr lang="en-GB" dirty="0" err="1"/>
              <a:t>Neurosci</a:t>
            </a:r>
            <a:r>
              <a:rPr lang="en-GB" dirty="0"/>
              <a:t> 2017;18(2):101–113 </a:t>
            </a:r>
          </a:p>
        </p:txBody>
      </p:sp>
      <p:sp>
        <p:nvSpPr>
          <p:cNvPr id="4" name="Slide Number Placeholder 3"/>
          <p:cNvSpPr>
            <a:spLocks noGrp="1"/>
          </p:cNvSpPr>
          <p:nvPr>
            <p:ph type="sldNum" sz="quarter" idx="4"/>
          </p:nvPr>
        </p:nvSpPr>
        <p:spPr/>
        <p:txBody>
          <a:bodyPr/>
          <a:lstStyle/>
          <a:p>
            <a:fld id="{6DBC486D-4FAB-B746-8B02-8D7C842291C6}" type="slidenum">
              <a:rPr lang="en-GB" smtClean="0"/>
              <a:t>30</a:t>
            </a:fld>
            <a:endParaRPr lang="en-GB"/>
          </a:p>
        </p:txBody>
      </p:sp>
      <p:grpSp>
        <p:nvGrpSpPr>
          <p:cNvPr id="185" name="Group 184"/>
          <p:cNvGrpSpPr/>
          <p:nvPr/>
        </p:nvGrpSpPr>
        <p:grpSpPr>
          <a:xfrm>
            <a:off x="5844253" y="1991831"/>
            <a:ext cx="3428996" cy="718179"/>
            <a:chOff x="1687974" y="4921357"/>
            <a:chExt cx="3428996" cy="718179"/>
          </a:xfrm>
        </p:grpSpPr>
        <p:sp>
          <p:nvSpPr>
            <p:cNvPr id="186" name="Rectangle 185"/>
            <p:cNvSpPr/>
            <p:nvPr/>
          </p:nvSpPr>
          <p:spPr bwMode="auto">
            <a:xfrm>
              <a:off x="1687974" y="4921357"/>
              <a:ext cx="3414872" cy="718179"/>
            </a:xfrm>
            <a:prstGeom prst="rect">
              <a:avLst/>
            </a:prstGeom>
            <a:solidFill>
              <a:schemeClr val="accent2">
                <a:lumMod val="20000"/>
                <a:lumOff val="80000"/>
              </a:schemeClr>
            </a:solidFill>
            <a:ln>
              <a:noFill/>
            </a:ln>
            <a:effectLst/>
          </p:spPr>
          <p:txBody>
            <a:bodyPr vert="horz" wrap="square" lIns="91440" tIns="45720" rIns="91440" bIns="45720" numCol="1" rtlCol="0" anchor="t" anchorCtr="0" compatLnSpc="1">
              <a:prstTxWarp prst="textNoShape">
                <a:avLst/>
              </a:prstTxWarp>
              <a:noAutofit/>
            </a:bodyPr>
            <a:lstStyle/>
            <a:p>
              <a:pPr marL="385763" marR="0" lvl="0" indent="-385763"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87" name="Rectangle 6"/>
            <p:cNvSpPr>
              <a:spLocks noChangeArrowheads="1"/>
            </p:cNvSpPr>
            <p:nvPr/>
          </p:nvSpPr>
          <p:spPr bwMode="auto">
            <a:xfrm>
              <a:off x="1695501" y="4925756"/>
              <a:ext cx="3421469" cy="283469"/>
            </a:xfrm>
            <a:prstGeom prst="rect">
              <a:avLst/>
            </a:prstGeom>
            <a:noFill/>
            <a:ln>
              <a:noFill/>
            </a:ln>
            <a:effectLst/>
          </p:spPr>
          <p:txBody>
            <a:bodyPr wrap="none" anchor="ctr">
              <a:noAutofit/>
            </a:bodyPr>
            <a:lstStyle/>
            <a:p>
              <a:pPr lvl="0" algn="ctr" eaLnBrk="0" fontAlgn="base" hangingPunct="0">
                <a:spcBef>
                  <a:spcPct val="50000"/>
                </a:spcBef>
                <a:spcAft>
                  <a:spcPct val="0"/>
                </a:spcAft>
                <a:buClr>
                  <a:srgbClr val="E75200"/>
                </a:buClr>
              </a:pPr>
              <a:r>
                <a:rPr lang="en-GB" sz="1400" kern="0" dirty="0">
                  <a:solidFill>
                    <a:srgbClr val="000000"/>
                  </a:solidFill>
                  <a:latin typeface="Arial" panose="020B0604020202020204" pitchFamily="34" charset="0"/>
                  <a:cs typeface="Arial" panose="020B0604020202020204" pitchFamily="34" charset="0"/>
                </a:rPr>
                <a:t>Mini-Mental State Examination scores</a:t>
              </a:r>
              <a:endParaRPr kumimoji="0" lang="tr-TR" sz="140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sp>
          <p:nvSpPr>
            <p:cNvPr id="188" name="Rectangle 6"/>
            <p:cNvSpPr>
              <a:spLocks noChangeArrowheads="1"/>
            </p:cNvSpPr>
            <p:nvPr/>
          </p:nvSpPr>
          <p:spPr bwMode="auto">
            <a:xfrm>
              <a:off x="1778252" y="5253448"/>
              <a:ext cx="720000" cy="283469"/>
            </a:xfrm>
            <a:prstGeom prst="rect">
              <a:avLst/>
            </a:prstGeom>
            <a:solidFill>
              <a:schemeClr val="bg1"/>
            </a:solidFill>
            <a:ln>
              <a:solidFill>
                <a:srgbClr val="000000"/>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25–30</a:t>
              </a:r>
            </a:p>
          </p:txBody>
        </p:sp>
        <p:sp>
          <p:nvSpPr>
            <p:cNvPr id="189" name="Rectangle 6"/>
            <p:cNvSpPr>
              <a:spLocks noChangeArrowheads="1"/>
            </p:cNvSpPr>
            <p:nvPr/>
          </p:nvSpPr>
          <p:spPr bwMode="auto">
            <a:xfrm>
              <a:off x="2616339" y="5253448"/>
              <a:ext cx="720000" cy="283469"/>
            </a:xfrm>
            <a:prstGeom prst="rect">
              <a:avLst/>
            </a:prstGeom>
            <a:solidFill>
              <a:schemeClr val="accent2"/>
            </a:solidFill>
            <a:ln>
              <a:solidFill>
                <a:srgbClr val="000000"/>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400" b="1" i="0" u="none" strike="noStrike" kern="0" cap="none" spc="0" normalizeH="0" baseline="0" noProof="0">
                  <a:ln>
                    <a:noFill/>
                  </a:ln>
                  <a:solidFill>
                    <a:srgbClr val="FFFFFF"/>
                  </a:solidFill>
                  <a:effectLst/>
                  <a:uLnTx/>
                  <a:uFillTx/>
                  <a:latin typeface="Arial" panose="020B0604020202020204" pitchFamily="34" charset="0"/>
                  <a:cs typeface="Arial" panose="020B0604020202020204" pitchFamily="34" charset="0"/>
                </a:rPr>
                <a:t>21–24</a:t>
              </a:r>
            </a:p>
          </p:txBody>
        </p:sp>
        <p:sp>
          <p:nvSpPr>
            <p:cNvPr id="190" name="Rectangle 6"/>
            <p:cNvSpPr>
              <a:spLocks noChangeArrowheads="1"/>
            </p:cNvSpPr>
            <p:nvPr/>
          </p:nvSpPr>
          <p:spPr bwMode="auto">
            <a:xfrm>
              <a:off x="3454426" y="5253448"/>
              <a:ext cx="720000" cy="283469"/>
            </a:xfrm>
            <a:prstGeom prst="rect">
              <a:avLst/>
            </a:prstGeom>
            <a:solidFill>
              <a:schemeClr val="accent5">
                <a:lumMod val="60000"/>
                <a:lumOff val="40000"/>
              </a:schemeClr>
            </a:solidFill>
            <a:ln>
              <a:solidFill>
                <a:srgbClr val="000000"/>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400" b="1" i="0" u="none" strike="noStrike" kern="0" cap="none" spc="0" normalizeH="0" baseline="0" noProof="0">
                  <a:ln>
                    <a:noFill/>
                  </a:ln>
                  <a:solidFill>
                    <a:srgbClr val="FFFFFF"/>
                  </a:solidFill>
                  <a:effectLst/>
                  <a:uLnTx/>
                  <a:uFillTx/>
                  <a:latin typeface="Arial" panose="020B0604020202020204" pitchFamily="34" charset="0"/>
                  <a:cs typeface="Arial" panose="020B0604020202020204" pitchFamily="34" charset="0"/>
                </a:rPr>
                <a:t>11–20</a:t>
              </a:r>
            </a:p>
          </p:txBody>
        </p:sp>
        <p:sp>
          <p:nvSpPr>
            <p:cNvPr id="191" name="Rectangle 6"/>
            <p:cNvSpPr>
              <a:spLocks noChangeArrowheads="1"/>
            </p:cNvSpPr>
            <p:nvPr/>
          </p:nvSpPr>
          <p:spPr bwMode="auto">
            <a:xfrm>
              <a:off x="4292513" y="5253448"/>
              <a:ext cx="720000" cy="283469"/>
            </a:xfrm>
            <a:prstGeom prst="rect">
              <a:avLst/>
            </a:prstGeom>
            <a:solidFill>
              <a:schemeClr val="accent1"/>
            </a:solidFill>
            <a:ln>
              <a:solidFill>
                <a:srgbClr val="000000"/>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4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0–10</a:t>
              </a:r>
            </a:p>
          </p:txBody>
        </p:sp>
      </p:grpSp>
      <p:cxnSp>
        <p:nvCxnSpPr>
          <p:cNvPr id="193" name="Straight Connector 192"/>
          <p:cNvCxnSpPr/>
          <p:nvPr/>
        </p:nvCxnSpPr>
        <p:spPr bwMode="auto">
          <a:xfrm>
            <a:off x="2057307" y="2128651"/>
            <a:ext cx="0" cy="2786252"/>
          </a:xfrm>
          <a:prstGeom prst="line">
            <a:avLst/>
          </a:prstGeom>
          <a:noFill/>
          <a:ln w="1905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chemeClr val="hlink">
                      <a:gamma/>
                      <a:shade val="60000"/>
                      <a:invGamma/>
                    </a:schemeClr>
                  </a:outerShdw>
                </a:effectLst>
              </a14:hiddenEffects>
            </a:ext>
          </a:extLst>
        </p:spPr>
      </p:cxnSp>
      <p:cxnSp>
        <p:nvCxnSpPr>
          <p:cNvPr id="195" name="Straight Connector 194"/>
          <p:cNvCxnSpPr/>
          <p:nvPr/>
        </p:nvCxnSpPr>
        <p:spPr bwMode="auto">
          <a:xfrm>
            <a:off x="1973257" y="2666690"/>
            <a:ext cx="80968" cy="0"/>
          </a:xfrm>
          <a:prstGeom prst="line">
            <a:avLst/>
          </a:prstGeom>
          <a:noFill/>
          <a:ln w="1905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chemeClr val="hlink">
                      <a:gamma/>
                      <a:shade val="60000"/>
                      <a:invGamma/>
                    </a:schemeClr>
                  </a:outerShdw>
                </a:effectLst>
              </a14:hiddenEffects>
            </a:ext>
          </a:extLst>
        </p:spPr>
      </p:cxnSp>
      <p:cxnSp>
        <p:nvCxnSpPr>
          <p:cNvPr id="196" name="Straight Connector 195"/>
          <p:cNvCxnSpPr/>
          <p:nvPr/>
        </p:nvCxnSpPr>
        <p:spPr bwMode="auto">
          <a:xfrm>
            <a:off x="1973257" y="3198483"/>
            <a:ext cx="84143" cy="0"/>
          </a:xfrm>
          <a:prstGeom prst="line">
            <a:avLst/>
          </a:prstGeom>
          <a:noFill/>
          <a:ln w="1905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chemeClr val="hlink">
                      <a:gamma/>
                      <a:shade val="60000"/>
                      <a:invGamma/>
                    </a:schemeClr>
                  </a:outerShdw>
                </a:effectLst>
              </a14:hiddenEffects>
            </a:ext>
          </a:extLst>
        </p:spPr>
      </p:cxnSp>
      <p:cxnSp>
        <p:nvCxnSpPr>
          <p:cNvPr id="197" name="Straight Connector 196"/>
          <p:cNvCxnSpPr/>
          <p:nvPr/>
        </p:nvCxnSpPr>
        <p:spPr bwMode="auto">
          <a:xfrm>
            <a:off x="1973257" y="3739471"/>
            <a:ext cx="84143" cy="0"/>
          </a:xfrm>
          <a:prstGeom prst="line">
            <a:avLst/>
          </a:prstGeom>
          <a:noFill/>
          <a:ln w="1905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chemeClr val="hlink">
                      <a:gamma/>
                      <a:shade val="60000"/>
                      <a:invGamma/>
                    </a:schemeClr>
                  </a:outerShdw>
                </a:effectLst>
              </a14:hiddenEffects>
            </a:ext>
          </a:extLst>
        </p:spPr>
      </p:cxnSp>
      <p:cxnSp>
        <p:nvCxnSpPr>
          <p:cNvPr id="198" name="Straight Connector 197"/>
          <p:cNvCxnSpPr/>
          <p:nvPr/>
        </p:nvCxnSpPr>
        <p:spPr bwMode="auto">
          <a:xfrm>
            <a:off x="1973257" y="4274911"/>
            <a:ext cx="84143" cy="0"/>
          </a:xfrm>
          <a:prstGeom prst="line">
            <a:avLst/>
          </a:prstGeom>
          <a:noFill/>
          <a:ln w="1905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chemeClr val="hlink">
                      <a:gamma/>
                      <a:shade val="60000"/>
                      <a:invGamma/>
                    </a:schemeClr>
                  </a:outerShdw>
                </a:effectLst>
              </a14:hiddenEffects>
            </a:ext>
          </a:extLst>
        </p:spPr>
      </p:cxnSp>
      <p:cxnSp>
        <p:nvCxnSpPr>
          <p:cNvPr id="199" name="Straight Connector 198"/>
          <p:cNvCxnSpPr/>
          <p:nvPr/>
        </p:nvCxnSpPr>
        <p:spPr bwMode="auto">
          <a:xfrm>
            <a:off x="1973257" y="4821798"/>
            <a:ext cx="3497268" cy="0"/>
          </a:xfrm>
          <a:prstGeom prst="line">
            <a:avLst/>
          </a:prstGeom>
          <a:noFill/>
          <a:ln w="1905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chemeClr val="hlink">
                      <a:gamma/>
                      <a:shade val="60000"/>
                      <a:invGamma/>
                    </a:schemeClr>
                  </a:outerShdw>
                </a:effectLst>
              </a14:hiddenEffects>
            </a:ext>
          </a:extLst>
        </p:spPr>
      </p:cxnSp>
      <p:sp>
        <p:nvSpPr>
          <p:cNvPr id="201" name="Rectangle 6"/>
          <p:cNvSpPr>
            <a:spLocks noChangeArrowheads="1"/>
          </p:cNvSpPr>
          <p:nvPr/>
        </p:nvSpPr>
        <p:spPr bwMode="auto">
          <a:xfrm>
            <a:off x="2059653" y="5328383"/>
            <a:ext cx="3414872"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600" b="1" i="0" u="none" strike="noStrike" kern="0" cap="none" spc="0" normalizeH="0" baseline="0" noProof="0" dirty="0" err="1">
                <a:ln>
                  <a:noFill/>
                </a:ln>
                <a:solidFill>
                  <a:schemeClr val="tx2"/>
                </a:solidFill>
                <a:effectLst/>
                <a:uLnTx/>
                <a:uFillTx/>
                <a:latin typeface="Arial" panose="020B0604020202020204" pitchFamily="34" charset="0"/>
                <a:cs typeface="Arial" panose="020B0604020202020204" pitchFamily="34" charset="0"/>
              </a:rPr>
              <a:t>Braak</a:t>
            </a:r>
            <a:r>
              <a:rPr kumimoji="0" lang="en-GB" sz="1600" b="1"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rPr>
              <a:t> </a:t>
            </a:r>
            <a:r>
              <a:rPr kumimoji="0" lang="tr-TR" sz="1600" b="1"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rPr>
              <a:t>PD stage</a:t>
            </a:r>
          </a:p>
        </p:txBody>
      </p:sp>
      <p:sp>
        <p:nvSpPr>
          <p:cNvPr id="206" name="Rectangle 6"/>
          <p:cNvSpPr>
            <a:spLocks noChangeArrowheads="1"/>
          </p:cNvSpPr>
          <p:nvPr/>
        </p:nvSpPr>
        <p:spPr bwMode="auto">
          <a:xfrm rot="5400000">
            <a:off x="4706899" y="2255961"/>
            <a:ext cx="763943" cy="509325"/>
          </a:xfrm>
          <a:prstGeom prst="rect">
            <a:avLst/>
          </a:prstGeom>
          <a:solidFill>
            <a:schemeClr val="bg1"/>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07" name="Rectangle 6"/>
          <p:cNvSpPr>
            <a:spLocks noChangeArrowheads="1"/>
          </p:cNvSpPr>
          <p:nvPr/>
        </p:nvSpPr>
        <p:spPr bwMode="auto">
          <a:xfrm rot="5400000">
            <a:off x="4070690" y="2025566"/>
            <a:ext cx="303149" cy="509325"/>
          </a:xfrm>
          <a:prstGeom prst="rect">
            <a:avLst/>
          </a:prstGeom>
          <a:solidFill>
            <a:schemeClr val="bg1"/>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08" name="Rectangle 6"/>
          <p:cNvSpPr>
            <a:spLocks noChangeArrowheads="1"/>
          </p:cNvSpPr>
          <p:nvPr/>
        </p:nvSpPr>
        <p:spPr bwMode="auto">
          <a:xfrm rot="5400000">
            <a:off x="3321128" y="1919396"/>
            <a:ext cx="90809" cy="509325"/>
          </a:xfrm>
          <a:prstGeom prst="rect">
            <a:avLst/>
          </a:prstGeom>
          <a:solidFill>
            <a:schemeClr val="bg1"/>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09" name="Rectangle 6"/>
          <p:cNvSpPr>
            <a:spLocks noChangeArrowheads="1"/>
          </p:cNvSpPr>
          <p:nvPr/>
        </p:nvSpPr>
        <p:spPr bwMode="auto">
          <a:xfrm rot="5400000">
            <a:off x="4604092" y="3122711"/>
            <a:ext cx="969555" cy="509325"/>
          </a:xfrm>
          <a:prstGeom prst="rect">
            <a:avLst/>
          </a:prstGeom>
          <a:solidFill>
            <a:schemeClr val="accent2"/>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0" name="Rectangle 6"/>
          <p:cNvSpPr>
            <a:spLocks noChangeArrowheads="1"/>
          </p:cNvSpPr>
          <p:nvPr/>
        </p:nvSpPr>
        <p:spPr bwMode="auto">
          <a:xfrm rot="5400000">
            <a:off x="3928959" y="2466926"/>
            <a:ext cx="586610" cy="509325"/>
          </a:xfrm>
          <a:prstGeom prst="rect">
            <a:avLst/>
          </a:prstGeom>
          <a:solidFill>
            <a:schemeClr val="accent2"/>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1" name="Rectangle 6"/>
          <p:cNvSpPr>
            <a:spLocks noChangeArrowheads="1"/>
          </p:cNvSpPr>
          <p:nvPr/>
        </p:nvSpPr>
        <p:spPr bwMode="auto">
          <a:xfrm rot="5400000">
            <a:off x="3323770" y="2007562"/>
            <a:ext cx="85523" cy="509325"/>
          </a:xfrm>
          <a:prstGeom prst="rect">
            <a:avLst/>
          </a:prstGeom>
          <a:solidFill>
            <a:schemeClr val="accent2"/>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2" name="Rectangle 6"/>
          <p:cNvSpPr>
            <a:spLocks noChangeArrowheads="1"/>
          </p:cNvSpPr>
          <p:nvPr/>
        </p:nvSpPr>
        <p:spPr bwMode="auto">
          <a:xfrm rot="5400000">
            <a:off x="4711199" y="3984804"/>
            <a:ext cx="755343" cy="509325"/>
          </a:xfrm>
          <a:prstGeom prst="rect">
            <a:avLst/>
          </a:prstGeom>
          <a:solidFill>
            <a:schemeClr val="accent5">
              <a:lumMod val="60000"/>
              <a:lumOff val="40000"/>
            </a:schemeClr>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3" name="Rectangle 6"/>
          <p:cNvSpPr>
            <a:spLocks noChangeArrowheads="1"/>
          </p:cNvSpPr>
          <p:nvPr/>
        </p:nvSpPr>
        <p:spPr bwMode="auto">
          <a:xfrm rot="5400000">
            <a:off x="3512568" y="3469930"/>
            <a:ext cx="1419395" cy="509325"/>
          </a:xfrm>
          <a:prstGeom prst="rect">
            <a:avLst/>
          </a:prstGeom>
          <a:solidFill>
            <a:schemeClr val="accent5">
              <a:lumMod val="60000"/>
              <a:lumOff val="40000"/>
            </a:schemeClr>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4" name="Rectangle 6"/>
          <p:cNvSpPr>
            <a:spLocks noChangeArrowheads="1"/>
          </p:cNvSpPr>
          <p:nvPr/>
        </p:nvSpPr>
        <p:spPr bwMode="auto">
          <a:xfrm rot="5400000">
            <a:off x="2451120" y="2966348"/>
            <a:ext cx="1830823" cy="509325"/>
          </a:xfrm>
          <a:prstGeom prst="rect">
            <a:avLst/>
          </a:prstGeom>
          <a:solidFill>
            <a:schemeClr val="accent5">
              <a:lumMod val="60000"/>
              <a:lumOff val="40000"/>
            </a:schemeClr>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5" name="Rectangle 6"/>
          <p:cNvSpPr>
            <a:spLocks noChangeArrowheads="1"/>
          </p:cNvSpPr>
          <p:nvPr/>
        </p:nvSpPr>
        <p:spPr bwMode="auto">
          <a:xfrm rot="5400000">
            <a:off x="1392623" y="2988468"/>
            <a:ext cx="2228961" cy="509325"/>
          </a:xfrm>
          <a:prstGeom prst="rect">
            <a:avLst/>
          </a:prstGeom>
          <a:solidFill>
            <a:schemeClr val="accent5">
              <a:lumMod val="60000"/>
              <a:lumOff val="40000"/>
            </a:schemeClr>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6" name="Rectangle 6"/>
          <p:cNvSpPr>
            <a:spLocks noChangeArrowheads="1"/>
          </p:cNvSpPr>
          <p:nvPr/>
        </p:nvSpPr>
        <p:spPr bwMode="auto">
          <a:xfrm rot="5400000">
            <a:off x="4987891" y="4460505"/>
            <a:ext cx="201959" cy="509325"/>
          </a:xfrm>
          <a:prstGeom prst="rect">
            <a:avLst/>
          </a:prstGeom>
          <a:solidFill>
            <a:schemeClr val="accent1"/>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7" name="Rectangle 6"/>
          <p:cNvSpPr>
            <a:spLocks noChangeArrowheads="1"/>
          </p:cNvSpPr>
          <p:nvPr/>
        </p:nvSpPr>
        <p:spPr bwMode="auto">
          <a:xfrm rot="5400000">
            <a:off x="4031335" y="4370556"/>
            <a:ext cx="381858" cy="509325"/>
          </a:xfrm>
          <a:prstGeom prst="rect">
            <a:avLst/>
          </a:prstGeom>
          <a:solidFill>
            <a:schemeClr val="accent1"/>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8" name="Rectangle 6"/>
          <p:cNvSpPr>
            <a:spLocks noChangeArrowheads="1"/>
          </p:cNvSpPr>
          <p:nvPr/>
        </p:nvSpPr>
        <p:spPr bwMode="auto">
          <a:xfrm rot="5400000">
            <a:off x="3026670" y="4221623"/>
            <a:ext cx="679725" cy="509325"/>
          </a:xfrm>
          <a:prstGeom prst="rect">
            <a:avLst/>
          </a:prstGeom>
          <a:solidFill>
            <a:schemeClr val="accent1"/>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9" name="Rectangle 6"/>
          <p:cNvSpPr>
            <a:spLocks noChangeArrowheads="1"/>
          </p:cNvSpPr>
          <p:nvPr/>
        </p:nvSpPr>
        <p:spPr bwMode="auto">
          <a:xfrm rot="5400000">
            <a:off x="2276360" y="4330742"/>
            <a:ext cx="461486" cy="509325"/>
          </a:xfrm>
          <a:prstGeom prst="rect">
            <a:avLst/>
          </a:prstGeom>
          <a:solidFill>
            <a:schemeClr val="accent1"/>
          </a:solidFill>
          <a:ln w="6350">
            <a:solidFill>
              <a:schemeClr val="tx1"/>
            </a:solidFill>
          </a:ln>
          <a:effectLst/>
        </p:spPr>
        <p:txBody>
          <a:bodyPr wrap="none" anchor="ctr">
            <a:no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endParaRPr kumimoji="0" lang="en-GB" sz="14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20" name="Rectangle 6"/>
          <p:cNvSpPr>
            <a:spLocks noChangeArrowheads="1"/>
          </p:cNvSpPr>
          <p:nvPr/>
        </p:nvSpPr>
        <p:spPr bwMode="auto">
          <a:xfrm>
            <a:off x="4949016" y="4824267"/>
            <a:ext cx="298480" cy="338554"/>
          </a:xfrm>
          <a:prstGeom prst="rect">
            <a:avLst/>
          </a:prstGeom>
          <a:noFill/>
          <a:ln>
            <a:noFill/>
          </a:ln>
          <a:effectLst/>
        </p:spPr>
        <p:txBody>
          <a:bodyPr wrap="none" anchor="ctr">
            <a:sp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600" i="0" u="none" strike="noStrike" kern="0" cap="none" spc="0" normalizeH="0" baseline="0" noProof="0">
                <a:ln>
                  <a:noFill/>
                </a:ln>
                <a:solidFill>
                  <a:schemeClr val="tx2"/>
                </a:solidFill>
                <a:effectLst/>
                <a:uLnTx/>
                <a:uFillTx/>
                <a:latin typeface="Arial" panose="020B0604020202020204" pitchFamily="34" charset="0"/>
                <a:cs typeface="Arial" panose="020B0604020202020204" pitchFamily="34" charset="0"/>
              </a:rPr>
              <a:t>3</a:t>
            </a:r>
            <a:endParaRPr kumimoji="0" lang="tr-TR" sz="1600" i="0" u="none" strike="noStrike" kern="0" cap="none" spc="0" normalizeH="0" baseline="0" noProof="0">
              <a:ln>
                <a:noFill/>
              </a:ln>
              <a:solidFill>
                <a:schemeClr val="tx2"/>
              </a:solidFill>
              <a:effectLst/>
              <a:uLnTx/>
              <a:uFillTx/>
              <a:latin typeface="Arial" panose="020B0604020202020204" pitchFamily="34" charset="0"/>
              <a:cs typeface="Arial" panose="020B0604020202020204" pitchFamily="34" charset="0"/>
            </a:endParaRPr>
          </a:p>
        </p:txBody>
      </p:sp>
      <p:sp>
        <p:nvSpPr>
          <p:cNvPr id="221" name="Rectangle 6"/>
          <p:cNvSpPr>
            <a:spLocks noChangeArrowheads="1"/>
          </p:cNvSpPr>
          <p:nvPr/>
        </p:nvSpPr>
        <p:spPr bwMode="auto">
          <a:xfrm>
            <a:off x="4078169" y="4824267"/>
            <a:ext cx="298480" cy="338554"/>
          </a:xfrm>
          <a:prstGeom prst="rect">
            <a:avLst/>
          </a:prstGeom>
          <a:noFill/>
          <a:ln>
            <a:noFill/>
          </a:ln>
          <a:effectLst/>
        </p:spPr>
        <p:txBody>
          <a:bodyPr wrap="none" anchor="ctr">
            <a:sp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rPr>
              <a:t>4</a:t>
            </a:r>
            <a:endParaRPr kumimoji="0" lang="tr-TR"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endParaRPr>
          </a:p>
        </p:txBody>
      </p:sp>
      <p:sp>
        <p:nvSpPr>
          <p:cNvPr id="222" name="Rectangle 6"/>
          <p:cNvSpPr>
            <a:spLocks noChangeArrowheads="1"/>
          </p:cNvSpPr>
          <p:nvPr/>
        </p:nvSpPr>
        <p:spPr bwMode="auto">
          <a:xfrm>
            <a:off x="3224280" y="4824267"/>
            <a:ext cx="298480" cy="338554"/>
          </a:xfrm>
          <a:prstGeom prst="rect">
            <a:avLst/>
          </a:prstGeom>
          <a:noFill/>
          <a:ln>
            <a:noFill/>
          </a:ln>
          <a:effectLst/>
        </p:spPr>
        <p:txBody>
          <a:bodyPr wrap="none" anchor="ctr">
            <a:sp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600" i="0" u="none" strike="noStrike" kern="0" cap="none" spc="0" normalizeH="0" baseline="0" noProof="0">
                <a:ln>
                  <a:noFill/>
                </a:ln>
                <a:solidFill>
                  <a:schemeClr val="tx2"/>
                </a:solidFill>
                <a:effectLst/>
                <a:uLnTx/>
                <a:uFillTx/>
                <a:latin typeface="Arial" panose="020B0604020202020204" pitchFamily="34" charset="0"/>
                <a:cs typeface="Arial" panose="020B0604020202020204" pitchFamily="34" charset="0"/>
              </a:rPr>
              <a:t>5</a:t>
            </a:r>
            <a:endParaRPr kumimoji="0" lang="tr-TR" sz="1600" i="0" u="none" strike="noStrike" kern="0" cap="none" spc="0" normalizeH="0" baseline="0" noProof="0">
              <a:ln>
                <a:noFill/>
              </a:ln>
              <a:solidFill>
                <a:schemeClr val="tx2"/>
              </a:solidFill>
              <a:effectLst/>
              <a:uLnTx/>
              <a:uFillTx/>
              <a:latin typeface="Arial" panose="020B0604020202020204" pitchFamily="34" charset="0"/>
              <a:cs typeface="Arial" panose="020B0604020202020204" pitchFamily="34" charset="0"/>
            </a:endParaRPr>
          </a:p>
        </p:txBody>
      </p:sp>
      <p:sp>
        <p:nvSpPr>
          <p:cNvPr id="223" name="Rectangle 6"/>
          <p:cNvSpPr>
            <a:spLocks noChangeArrowheads="1"/>
          </p:cNvSpPr>
          <p:nvPr/>
        </p:nvSpPr>
        <p:spPr bwMode="auto">
          <a:xfrm>
            <a:off x="2371648" y="4824267"/>
            <a:ext cx="298480" cy="338554"/>
          </a:xfrm>
          <a:prstGeom prst="rect">
            <a:avLst/>
          </a:prstGeom>
          <a:noFill/>
          <a:ln>
            <a:noFill/>
          </a:ln>
          <a:effectLst/>
        </p:spPr>
        <p:txBody>
          <a:bodyPr wrap="none" anchor="ctr">
            <a:sp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rPr>
              <a:t>6</a:t>
            </a:r>
            <a:endParaRPr kumimoji="0" lang="tr-TR"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endParaRPr>
          </a:p>
        </p:txBody>
      </p:sp>
      <p:sp>
        <p:nvSpPr>
          <p:cNvPr id="224" name="Rectangle 6"/>
          <p:cNvSpPr>
            <a:spLocks noChangeArrowheads="1"/>
          </p:cNvSpPr>
          <p:nvPr/>
        </p:nvSpPr>
        <p:spPr bwMode="auto">
          <a:xfrm>
            <a:off x="1659070" y="1960930"/>
            <a:ext cx="298480"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rPr>
              <a:t>0</a:t>
            </a:r>
            <a:endParaRPr kumimoji="0" lang="tr-TR"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endParaRPr>
          </a:p>
        </p:txBody>
      </p:sp>
      <p:sp>
        <p:nvSpPr>
          <p:cNvPr id="225" name="Rectangle 6"/>
          <p:cNvSpPr>
            <a:spLocks noChangeArrowheads="1"/>
          </p:cNvSpPr>
          <p:nvPr/>
        </p:nvSpPr>
        <p:spPr bwMode="auto">
          <a:xfrm>
            <a:off x="1545258" y="2497414"/>
            <a:ext cx="412292"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rPr>
              <a:t>20</a:t>
            </a:r>
            <a:endParaRPr kumimoji="0" lang="tr-TR"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endParaRPr>
          </a:p>
        </p:txBody>
      </p:sp>
      <p:sp>
        <p:nvSpPr>
          <p:cNvPr id="226" name="Rectangle 6"/>
          <p:cNvSpPr>
            <a:spLocks noChangeArrowheads="1"/>
          </p:cNvSpPr>
          <p:nvPr/>
        </p:nvSpPr>
        <p:spPr bwMode="auto">
          <a:xfrm>
            <a:off x="1545258" y="3034036"/>
            <a:ext cx="412292"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rPr>
              <a:t>40</a:t>
            </a:r>
            <a:endParaRPr kumimoji="0" lang="tr-TR"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endParaRPr>
          </a:p>
        </p:txBody>
      </p:sp>
      <p:sp>
        <p:nvSpPr>
          <p:cNvPr id="227" name="Rectangle 6"/>
          <p:cNvSpPr>
            <a:spLocks noChangeArrowheads="1"/>
          </p:cNvSpPr>
          <p:nvPr/>
        </p:nvSpPr>
        <p:spPr bwMode="auto">
          <a:xfrm>
            <a:off x="1545258" y="3574927"/>
            <a:ext cx="412292"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rPr>
              <a:t>60</a:t>
            </a:r>
            <a:endParaRPr kumimoji="0" lang="tr-TR"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endParaRPr>
          </a:p>
        </p:txBody>
      </p:sp>
      <p:sp>
        <p:nvSpPr>
          <p:cNvPr id="228" name="Rectangle 6"/>
          <p:cNvSpPr>
            <a:spLocks noChangeArrowheads="1"/>
          </p:cNvSpPr>
          <p:nvPr/>
        </p:nvSpPr>
        <p:spPr bwMode="auto">
          <a:xfrm>
            <a:off x="1545258" y="4111321"/>
            <a:ext cx="412292"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rPr>
              <a:t>80</a:t>
            </a:r>
            <a:endParaRPr kumimoji="0" lang="tr-TR"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endParaRPr>
          </a:p>
        </p:txBody>
      </p:sp>
      <p:sp>
        <p:nvSpPr>
          <p:cNvPr id="229" name="Rectangle 6"/>
          <p:cNvSpPr>
            <a:spLocks noChangeArrowheads="1"/>
          </p:cNvSpPr>
          <p:nvPr/>
        </p:nvSpPr>
        <p:spPr bwMode="auto">
          <a:xfrm>
            <a:off x="1431444" y="4645068"/>
            <a:ext cx="526106"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rPr>
              <a:t>100</a:t>
            </a:r>
            <a:endParaRPr kumimoji="0" lang="tr-TR" sz="160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endParaRPr>
          </a:p>
        </p:txBody>
      </p:sp>
      <p:sp>
        <p:nvSpPr>
          <p:cNvPr id="230" name="Rectangle 6"/>
          <p:cNvSpPr>
            <a:spLocks noChangeArrowheads="1"/>
          </p:cNvSpPr>
          <p:nvPr/>
        </p:nvSpPr>
        <p:spPr bwMode="auto">
          <a:xfrm rot="16200000">
            <a:off x="-549227" y="3303123"/>
            <a:ext cx="3367596" cy="338554"/>
          </a:xfrm>
          <a:prstGeom prst="rect">
            <a:avLst/>
          </a:prstGeom>
          <a:noFill/>
          <a:ln>
            <a:noFill/>
          </a:ln>
          <a:effectLst/>
        </p:spPr>
        <p:txBody>
          <a:bodyPr wrap="square" anchor="ctr">
            <a:spAutoFit/>
          </a:bodyPr>
          <a:lstStyle/>
          <a:p>
            <a:pPr lvl="0" algn="ctr" eaLnBrk="0" fontAlgn="base" hangingPunct="0">
              <a:spcBef>
                <a:spcPct val="50000"/>
              </a:spcBef>
              <a:spcAft>
                <a:spcPct val="0"/>
              </a:spcAft>
              <a:buClr>
                <a:srgbClr val="E75200"/>
              </a:buClr>
            </a:pPr>
            <a:r>
              <a:rPr lang="en-GB" sz="1600" b="1" kern="0" dirty="0">
                <a:solidFill>
                  <a:schemeClr val="tx2"/>
                </a:solidFill>
                <a:latin typeface="Arial" panose="020B0604020202020204" pitchFamily="34" charset="0"/>
                <a:cs typeface="Arial" panose="020B0604020202020204" pitchFamily="34" charset="0"/>
              </a:rPr>
              <a:t>Patients with PD (%)</a:t>
            </a:r>
            <a:endParaRPr kumimoji="0" lang="tr-TR" sz="1600" b="1"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endParaRPr>
          </a:p>
        </p:txBody>
      </p:sp>
      <p:sp>
        <p:nvSpPr>
          <p:cNvPr id="5" name="Rectangle 4"/>
          <p:cNvSpPr/>
          <p:nvPr/>
        </p:nvSpPr>
        <p:spPr>
          <a:xfrm>
            <a:off x="1049372" y="1461684"/>
            <a:ext cx="5143646" cy="338554"/>
          </a:xfrm>
          <a:prstGeom prst="rect">
            <a:avLst/>
          </a:prstGeom>
        </p:spPr>
        <p:txBody>
          <a:bodyPr wrap="square">
            <a:spAutoFit/>
          </a:bodyPr>
          <a:lstStyle/>
          <a:p>
            <a:pPr algn="ctr"/>
            <a:r>
              <a:rPr lang="en-GB" sz="1600" b="1">
                <a:solidFill>
                  <a:schemeClr val="accent2">
                    <a:lumMod val="50000"/>
                  </a:schemeClr>
                </a:solidFill>
                <a:latin typeface="Arial" panose="020B0604020202020204" pitchFamily="34" charset="0"/>
                <a:cs typeface="Arial" panose="020B0604020202020204" pitchFamily="34" charset="0"/>
              </a:rPr>
              <a:t>Autopsy series</a:t>
            </a:r>
            <a:r>
              <a:rPr lang="en-GB" sz="1600" b="1" baseline="30000">
                <a:solidFill>
                  <a:schemeClr val="accent2">
                    <a:lumMod val="50000"/>
                  </a:schemeClr>
                </a:solidFill>
                <a:latin typeface="Arial" panose="020B0604020202020204" pitchFamily="34" charset="0"/>
                <a:cs typeface="Arial" panose="020B0604020202020204" pitchFamily="34" charset="0"/>
              </a:rPr>
              <a:t>1</a:t>
            </a:r>
          </a:p>
        </p:txBody>
      </p:sp>
      <p:sp>
        <p:nvSpPr>
          <p:cNvPr id="65" name="TextBox 64">
            <a:extLst>
              <a:ext uri="{FF2B5EF4-FFF2-40B4-BE49-F238E27FC236}">
                <a16:creationId xmlns:a16="http://schemas.microsoft.com/office/drawing/2014/main" id="{07631482-D857-4A8B-A980-87682EAEBA2C}"/>
              </a:ext>
            </a:extLst>
          </p:cNvPr>
          <p:cNvSpPr txBox="1"/>
          <p:nvPr/>
        </p:nvSpPr>
        <p:spPr>
          <a:xfrm>
            <a:off x="5851780" y="2823240"/>
            <a:ext cx="5474910" cy="2769989"/>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3F1A01"/>
                </a:solidFill>
                <a:effectLst/>
                <a:uLnTx/>
                <a:uFillTx/>
                <a:latin typeface="Arial"/>
                <a:ea typeface="+mn-ea"/>
                <a:cs typeface="+mn-cs"/>
              </a:rPr>
              <a:t>The risk of developing dementia in PD increases with disease progression</a:t>
            </a:r>
            <a:r>
              <a:rPr kumimoji="0" lang="en-GB" sz="1600" b="0" i="0" u="none" strike="noStrike" kern="1200" cap="none" spc="0" normalizeH="0" baseline="30000" noProof="0">
                <a:ln>
                  <a:noFill/>
                </a:ln>
                <a:solidFill>
                  <a:srgbClr val="3F1A01"/>
                </a:solidFill>
                <a:effectLst/>
                <a:uLnTx/>
                <a:uFillTx/>
                <a:latin typeface="Arial"/>
                <a:ea typeface="+mn-ea"/>
                <a:cs typeface="+mn-cs"/>
              </a:rPr>
              <a:t>1</a:t>
            </a:r>
          </a:p>
          <a:p>
            <a:pPr marL="180000" marR="0" lvl="0" indent="-1800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3F1A01"/>
                </a:solidFill>
                <a:effectLst/>
                <a:uLnTx/>
                <a:uFillTx/>
                <a:latin typeface="Arial"/>
                <a:ea typeface="+mn-ea"/>
                <a:cs typeface="+mn-cs"/>
              </a:rPr>
              <a:t>Neurodegeneration in the neocortex is not strictly necessary to develop symptoms of dementia</a:t>
            </a:r>
            <a:r>
              <a:rPr kumimoji="0" lang="en-GB" sz="1600" b="0" i="0" u="none" strike="noStrike" kern="1200" cap="none" spc="0" normalizeH="0" baseline="30000" noProof="0">
                <a:ln>
                  <a:noFill/>
                </a:ln>
                <a:solidFill>
                  <a:srgbClr val="3F1A01"/>
                </a:solidFill>
                <a:effectLst/>
                <a:uLnTx/>
                <a:uFillTx/>
                <a:latin typeface="Arial"/>
                <a:ea typeface="+mn-ea"/>
                <a:cs typeface="+mn-cs"/>
              </a:rPr>
              <a:t>1</a:t>
            </a:r>
          </a:p>
          <a:p>
            <a:pPr marL="180000" marR="0" lvl="0" indent="-1800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F1A01"/>
                </a:solidFill>
                <a:effectLst/>
                <a:uLnTx/>
                <a:uFillTx/>
                <a:latin typeface="Arial"/>
                <a:ea typeface="+mn-ea"/>
                <a:cs typeface="+mn-cs"/>
              </a:rPr>
              <a:t>The </a:t>
            </a:r>
            <a:r>
              <a:rPr kumimoji="0" lang="en-US" sz="1600" b="0" i="0" u="none" strike="noStrike" kern="1200" cap="none" spc="0" normalizeH="0" baseline="0" noProof="0" err="1">
                <a:ln>
                  <a:noFill/>
                </a:ln>
                <a:solidFill>
                  <a:srgbClr val="3F1A01"/>
                </a:solidFill>
                <a:effectLst/>
                <a:uLnTx/>
                <a:uFillTx/>
                <a:latin typeface="Arial"/>
                <a:ea typeface="+mn-ea"/>
                <a:cs typeface="+mn-cs"/>
              </a:rPr>
              <a:t>Braak</a:t>
            </a:r>
            <a:r>
              <a:rPr kumimoji="0" lang="en-US" sz="1600" b="0" i="0" u="none" strike="noStrike" kern="1200" cap="none" spc="0" normalizeH="0" baseline="0" noProof="0">
                <a:ln>
                  <a:noFill/>
                </a:ln>
                <a:solidFill>
                  <a:srgbClr val="3F1A01"/>
                </a:solidFill>
                <a:effectLst/>
                <a:uLnTx/>
                <a:uFillTx/>
                <a:latin typeface="Arial"/>
                <a:ea typeface="+mn-ea"/>
                <a:cs typeface="+mn-cs"/>
              </a:rPr>
              <a:t> staging system provides a useful framework to conceptualize the neuropathological and clinical progression of PD, although multiple caveats and refinements have been suggested since its initial proposal, including by the original authors themselves</a:t>
            </a:r>
            <a:r>
              <a:rPr kumimoji="0" lang="en-US" sz="1600" b="0" i="0" u="none" strike="noStrike" kern="1200" cap="none" spc="0" normalizeH="0" baseline="30000" noProof="0">
                <a:ln>
                  <a:noFill/>
                </a:ln>
                <a:solidFill>
                  <a:srgbClr val="3F1A01"/>
                </a:solidFill>
                <a:effectLst/>
                <a:uLnTx/>
                <a:uFillTx/>
                <a:latin typeface="Arial"/>
                <a:ea typeface="+mn-ea"/>
                <a:cs typeface="+mn-cs"/>
              </a:rPr>
              <a:t>2-7</a:t>
            </a:r>
            <a:endParaRPr kumimoji="0" lang="en-GB" sz="1600" b="0" i="0" u="none" strike="noStrike" kern="1200" cap="none" spc="0" normalizeH="0" baseline="0" noProof="0">
              <a:ln>
                <a:noFill/>
              </a:ln>
              <a:solidFill>
                <a:srgbClr val="3F1A01"/>
              </a:solidFill>
              <a:effectLst/>
              <a:uLnTx/>
              <a:uFillTx/>
              <a:latin typeface="Arial"/>
              <a:ea typeface="+mn-ea"/>
              <a:cs typeface="+mn-cs"/>
            </a:endParaRPr>
          </a:p>
        </p:txBody>
      </p:sp>
      <p:cxnSp>
        <p:nvCxnSpPr>
          <p:cNvPr id="194" name="Straight Connector 193"/>
          <p:cNvCxnSpPr/>
          <p:nvPr/>
        </p:nvCxnSpPr>
        <p:spPr bwMode="auto">
          <a:xfrm>
            <a:off x="1973257" y="2128652"/>
            <a:ext cx="90493" cy="0"/>
          </a:xfrm>
          <a:prstGeom prst="line">
            <a:avLst/>
          </a:prstGeom>
          <a:noFill/>
          <a:ln w="1905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chemeClr val="hlink">
                      <a:gamma/>
                      <a:shade val="60000"/>
                      <a:invGamma/>
                    </a:schemeClr>
                  </a:outerShdw>
                </a:effectLst>
              </a14:hiddenEffects>
            </a:ext>
          </a:extLst>
        </p:spPr>
      </p:cxnSp>
      <p:sp>
        <p:nvSpPr>
          <p:cNvPr id="202" name="Rectangle 6"/>
          <p:cNvSpPr>
            <a:spLocks noChangeArrowheads="1"/>
          </p:cNvSpPr>
          <p:nvPr/>
        </p:nvSpPr>
        <p:spPr bwMode="auto">
          <a:xfrm>
            <a:off x="4772918" y="5023709"/>
            <a:ext cx="631903" cy="276999"/>
          </a:xfrm>
          <a:prstGeom prst="rect">
            <a:avLst/>
          </a:prstGeom>
          <a:noFill/>
          <a:ln>
            <a:noFill/>
          </a:ln>
          <a:effectLst/>
        </p:spPr>
        <p:txBody>
          <a:bodyPr wrap="none" anchor="ctr">
            <a:sp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2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(n=14)</a:t>
            </a:r>
            <a:endParaRPr kumimoji="0" lang="tr-TR" sz="12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03" name="Rectangle 6"/>
          <p:cNvSpPr>
            <a:spLocks noChangeArrowheads="1"/>
          </p:cNvSpPr>
          <p:nvPr/>
        </p:nvSpPr>
        <p:spPr bwMode="auto">
          <a:xfrm>
            <a:off x="3906312" y="5023709"/>
            <a:ext cx="631903" cy="276999"/>
          </a:xfrm>
          <a:prstGeom prst="rect">
            <a:avLst/>
          </a:prstGeom>
          <a:noFill/>
          <a:ln>
            <a:noFill/>
          </a:ln>
          <a:effectLst/>
        </p:spPr>
        <p:txBody>
          <a:bodyPr wrap="none" anchor="ctr">
            <a:sp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2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(n=36)</a:t>
            </a:r>
            <a:endParaRPr kumimoji="0" lang="tr-TR" sz="12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04" name="Rectangle 6"/>
          <p:cNvSpPr>
            <a:spLocks noChangeArrowheads="1"/>
          </p:cNvSpPr>
          <p:nvPr/>
        </p:nvSpPr>
        <p:spPr bwMode="auto">
          <a:xfrm>
            <a:off x="3059798" y="5023709"/>
            <a:ext cx="631903" cy="276999"/>
          </a:xfrm>
          <a:prstGeom prst="rect">
            <a:avLst/>
          </a:prstGeom>
          <a:noFill/>
          <a:ln>
            <a:noFill/>
          </a:ln>
          <a:effectLst/>
        </p:spPr>
        <p:txBody>
          <a:bodyPr wrap="none" anchor="ctr">
            <a:sp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2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(n=32)</a:t>
            </a:r>
            <a:endParaRPr kumimoji="0" lang="tr-TR" sz="12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05" name="Rectangle 6"/>
          <p:cNvSpPr>
            <a:spLocks noChangeArrowheads="1"/>
          </p:cNvSpPr>
          <p:nvPr/>
        </p:nvSpPr>
        <p:spPr bwMode="auto">
          <a:xfrm>
            <a:off x="2266645" y="5023709"/>
            <a:ext cx="546945" cy="276999"/>
          </a:xfrm>
          <a:prstGeom prst="rect">
            <a:avLst/>
          </a:prstGeom>
          <a:noFill/>
          <a:ln>
            <a:noFill/>
          </a:ln>
          <a:effectLst/>
        </p:spPr>
        <p:txBody>
          <a:bodyPr wrap="none" anchor="ctr">
            <a:spAutoFit/>
          </a:bodyPr>
          <a:lstStyle/>
          <a:p>
            <a:pPr marL="0" marR="0" lvl="0" indent="0" algn="ctr" defTabSz="914400" eaLnBrk="0" fontAlgn="base" latinLnBrk="0" hangingPunct="0">
              <a:lnSpc>
                <a:spcPct val="100000"/>
              </a:lnSpc>
              <a:spcBef>
                <a:spcPct val="50000"/>
              </a:spcBef>
              <a:spcAft>
                <a:spcPct val="0"/>
              </a:spcAft>
              <a:buClr>
                <a:srgbClr val="E75200"/>
              </a:buClr>
              <a:buSzTx/>
              <a:buFont typeface="Wingdings" pitchFamily="2" charset="2"/>
              <a:buNone/>
              <a:tabLst/>
              <a:defRPr/>
            </a:pPr>
            <a:r>
              <a:rPr kumimoji="0" lang="en-GB" sz="12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(n=6)</a:t>
            </a:r>
            <a:endParaRPr kumimoji="0" lang="tr-TR" sz="12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26C1C075-0E8C-E647-6EF7-31FCB36B1A38}"/>
              </a:ext>
            </a:extLst>
          </p:cNvPr>
          <p:cNvCxnSpPr/>
          <p:nvPr/>
        </p:nvCxnSpPr>
        <p:spPr bwMode="auto">
          <a:xfrm rot="5400000">
            <a:off x="2898333" y="4868171"/>
            <a:ext cx="84143" cy="0"/>
          </a:xfrm>
          <a:prstGeom prst="line">
            <a:avLst/>
          </a:prstGeom>
          <a:noFill/>
          <a:ln w="1905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chemeClr val="hlink">
                      <a:gamma/>
                      <a:shade val="60000"/>
                      <a:invGamma/>
                    </a:schemeClr>
                  </a:outerShdw>
                </a:effectLst>
              </a14:hiddenEffects>
            </a:ext>
          </a:extLst>
        </p:spPr>
      </p:cxnSp>
      <p:cxnSp>
        <p:nvCxnSpPr>
          <p:cNvPr id="19" name="Straight Connector 18">
            <a:extLst>
              <a:ext uri="{FF2B5EF4-FFF2-40B4-BE49-F238E27FC236}">
                <a16:creationId xmlns:a16="http://schemas.microsoft.com/office/drawing/2014/main" id="{B6C8CA20-6ED6-0BFE-C88C-8B187861425C}"/>
              </a:ext>
            </a:extLst>
          </p:cNvPr>
          <p:cNvCxnSpPr/>
          <p:nvPr/>
        </p:nvCxnSpPr>
        <p:spPr bwMode="auto">
          <a:xfrm rot="5400000">
            <a:off x="3773576" y="4868172"/>
            <a:ext cx="84143" cy="0"/>
          </a:xfrm>
          <a:prstGeom prst="line">
            <a:avLst/>
          </a:prstGeom>
          <a:noFill/>
          <a:ln w="1905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chemeClr val="hlink">
                      <a:gamma/>
                      <a:shade val="60000"/>
                      <a:invGamma/>
                    </a:schemeClr>
                  </a:outerShdw>
                </a:effectLst>
              </a14:hiddenEffects>
            </a:ext>
          </a:extLst>
        </p:spPr>
      </p:cxnSp>
      <p:cxnSp>
        <p:nvCxnSpPr>
          <p:cNvPr id="20" name="Straight Connector 19">
            <a:extLst>
              <a:ext uri="{FF2B5EF4-FFF2-40B4-BE49-F238E27FC236}">
                <a16:creationId xmlns:a16="http://schemas.microsoft.com/office/drawing/2014/main" id="{383EFA2F-6A61-18B7-AB7E-10EDA4309F39}"/>
              </a:ext>
            </a:extLst>
          </p:cNvPr>
          <p:cNvCxnSpPr/>
          <p:nvPr/>
        </p:nvCxnSpPr>
        <p:spPr bwMode="auto">
          <a:xfrm rot="5400000">
            <a:off x="4636719" y="4868173"/>
            <a:ext cx="84143" cy="0"/>
          </a:xfrm>
          <a:prstGeom prst="line">
            <a:avLst/>
          </a:prstGeom>
          <a:noFill/>
          <a:ln w="1905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chemeClr val="hlink">
                      <a:gamma/>
                      <a:shade val="60000"/>
                      <a:invGamma/>
                    </a:schemeClr>
                  </a:outerShdw>
                </a:effectLst>
              </a14:hiddenEffects>
            </a:ext>
          </a:extLst>
        </p:spPr>
      </p:cxnSp>
      <p:cxnSp>
        <p:nvCxnSpPr>
          <p:cNvPr id="21" name="Straight Connector 20">
            <a:extLst>
              <a:ext uri="{FF2B5EF4-FFF2-40B4-BE49-F238E27FC236}">
                <a16:creationId xmlns:a16="http://schemas.microsoft.com/office/drawing/2014/main" id="{20C99810-AB77-8024-F919-2243ED3398BD}"/>
              </a:ext>
            </a:extLst>
          </p:cNvPr>
          <p:cNvCxnSpPr/>
          <p:nvPr/>
        </p:nvCxnSpPr>
        <p:spPr bwMode="auto">
          <a:xfrm rot="5400000">
            <a:off x="5428453" y="4855482"/>
            <a:ext cx="84143" cy="0"/>
          </a:xfrm>
          <a:prstGeom prst="line">
            <a:avLst/>
          </a:prstGeom>
          <a:noFill/>
          <a:ln w="1905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17961" dir="13500000" algn="ctr" rotWithShape="0">
                    <a:schemeClr val="hlink">
                      <a:gamma/>
                      <a:shade val="60000"/>
                      <a:invGamma/>
                    </a:schemeClr>
                  </a:outerShdw>
                </a:effectLst>
              </a14:hiddenEffects>
            </a:ext>
          </a:extLst>
        </p:spPr>
      </p:cxnSp>
    </p:spTree>
    <p:custDataLst>
      <p:tags r:id="rId1"/>
    </p:custDataLst>
    <p:extLst>
      <p:ext uri="{BB962C8B-B14F-4D97-AF65-F5344CB8AC3E}">
        <p14:creationId xmlns:p14="http://schemas.microsoft.com/office/powerpoint/2010/main" val="33298467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dirty="0"/>
              <a:t>Parkinson’s disease – </a:t>
            </a:r>
            <a:r>
              <a:rPr lang="en-US" dirty="0"/>
              <a:t>Course, natural history and prognosis</a:t>
            </a:r>
            <a:endParaRPr lang="en-GB" dirty="0"/>
          </a:p>
        </p:txBody>
      </p:sp>
      <p:sp>
        <p:nvSpPr>
          <p:cNvPr id="2" name="Title 1"/>
          <p:cNvSpPr>
            <a:spLocks noGrp="1"/>
          </p:cNvSpPr>
          <p:nvPr>
            <p:ph type="title"/>
          </p:nvPr>
        </p:nvSpPr>
        <p:spPr/>
        <p:txBody>
          <a:bodyPr/>
          <a:lstStyle/>
          <a:p>
            <a:r>
              <a:rPr lang="en-GB" dirty="0"/>
              <a:t>Clinical approach during late-stage Parkinson’s disease</a:t>
            </a:r>
          </a:p>
        </p:txBody>
      </p:sp>
      <p:sp>
        <p:nvSpPr>
          <p:cNvPr id="3" name="Content Placeholder 2"/>
          <p:cNvSpPr>
            <a:spLocks noGrp="1"/>
          </p:cNvSpPr>
          <p:nvPr>
            <p:ph idx="19"/>
          </p:nvPr>
        </p:nvSpPr>
        <p:spPr/>
        <p:txBody>
          <a:bodyPr>
            <a:normAutofit/>
          </a:bodyPr>
          <a:lstStyle/>
          <a:p>
            <a:r>
              <a:rPr lang="en-GB" sz="1400"/>
              <a:t>A patient may require palliative care if they meet the following criteria:</a:t>
            </a:r>
            <a:r>
              <a:rPr lang="en-GB" sz="1400" baseline="30000"/>
              <a:t>1-3</a:t>
            </a:r>
          </a:p>
          <a:p>
            <a:pPr lvl="1"/>
            <a:r>
              <a:rPr lang="en-GB" sz="1200"/>
              <a:t>Lack of response to medication, with marked/rapid decline in physical functioning</a:t>
            </a:r>
          </a:p>
          <a:p>
            <a:pPr lvl="1"/>
            <a:r>
              <a:rPr lang="en-GB" sz="1200"/>
              <a:t>Decreased independence and needing help for activities of daily living</a:t>
            </a:r>
          </a:p>
          <a:p>
            <a:pPr lvl="1"/>
            <a:r>
              <a:rPr lang="en-GB" sz="1200"/>
              <a:t>Lack of predictability for ‘OFF’ periods</a:t>
            </a:r>
          </a:p>
          <a:p>
            <a:pPr lvl="1"/>
            <a:r>
              <a:rPr lang="en-US" sz="1200"/>
              <a:t>Presence of dysphagia, recurrent pneumonia, stability problems, freezing of gait, and falls</a:t>
            </a:r>
          </a:p>
          <a:p>
            <a:pPr lvl="1"/>
            <a:r>
              <a:rPr lang="en-GB" sz="1200"/>
              <a:t>Severe dementia</a:t>
            </a:r>
          </a:p>
          <a:p>
            <a:pPr lvl="1"/>
            <a:r>
              <a:rPr lang="en-GB" sz="1200"/>
              <a:t>Complex psychosocial needs</a:t>
            </a:r>
          </a:p>
          <a:p>
            <a:r>
              <a:rPr lang="en-GB" sz="1400"/>
              <a:t>In the final stages of the disease, specific objectives for caring for patients with PD include the following:</a:t>
            </a:r>
            <a:r>
              <a:rPr lang="en-GB" sz="1400" baseline="30000"/>
              <a:t>1</a:t>
            </a:r>
            <a:endParaRPr lang="en-GB" sz="1400"/>
          </a:p>
          <a:p>
            <a:pPr lvl="1"/>
            <a:r>
              <a:rPr lang="en-GB" sz="1200"/>
              <a:t>Relieving the patient’s symptoms and the patient’s and carer’s distress</a:t>
            </a:r>
          </a:p>
          <a:p>
            <a:pPr lvl="1"/>
            <a:r>
              <a:rPr lang="en-GB" sz="1200"/>
              <a:t>Preserving the patient’s remaining dignity and functions despite the advanced stage of disease</a:t>
            </a:r>
          </a:p>
          <a:p>
            <a:pPr lvl="1"/>
            <a:r>
              <a:rPr lang="en-GB" sz="1200"/>
              <a:t>Preventing treatment-related complications</a:t>
            </a:r>
          </a:p>
        </p:txBody>
      </p:sp>
      <p:sp>
        <p:nvSpPr>
          <p:cNvPr id="12" name="Content Placeholder 11">
            <a:extLst>
              <a:ext uri="{FF2B5EF4-FFF2-40B4-BE49-F238E27FC236}">
                <a16:creationId xmlns:a16="http://schemas.microsoft.com/office/drawing/2014/main" id="{A8214AF0-10C7-A6E6-0BFC-86180ED4D968}"/>
              </a:ext>
            </a:extLst>
          </p:cNvPr>
          <p:cNvSpPr>
            <a:spLocks noGrp="1"/>
          </p:cNvSpPr>
          <p:nvPr>
            <p:ph sz="half" idx="20"/>
          </p:nvPr>
        </p:nvSpPr>
        <p:spPr/>
        <p:txBody>
          <a:bodyPr/>
          <a:lstStyle/>
          <a:p>
            <a:pPr marL="0" indent="0">
              <a:buNone/>
            </a:pPr>
            <a:r>
              <a:rPr lang="en-GB" dirty="0"/>
              <a:t> </a:t>
            </a:r>
          </a:p>
        </p:txBody>
      </p:sp>
      <p:sp>
        <p:nvSpPr>
          <p:cNvPr id="5" name="Text Placeholder 4">
            <a:extLst>
              <a:ext uri="{FF2B5EF4-FFF2-40B4-BE49-F238E27FC236}">
                <a16:creationId xmlns:a16="http://schemas.microsoft.com/office/drawing/2014/main" id="{CF718964-802F-49C0-B296-ABAB204925B9}"/>
              </a:ext>
            </a:extLst>
          </p:cNvPr>
          <p:cNvSpPr>
            <a:spLocks noGrp="1"/>
          </p:cNvSpPr>
          <p:nvPr>
            <p:ph type="body" sz="quarter" idx="18"/>
          </p:nvPr>
        </p:nvSpPr>
        <p:spPr/>
        <p:txBody>
          <a:bodyPr/>
          <a:lstStyle/>
          <a:p>
            <a:pPr marL="0" indent="0">
              <a:buNone/>
            </a:pPr>
            <a:r>
              <a:rPr lang="en-GB" dirty="0"/>
              <a:t>PD=Parkinson’s disease</a:t>
            </a:r>
          </a:p>
          <a:p>
            <a:pPr marL="0" indent="0">
              <a:buNone/>
            </a:pPr>
            <a:endParaRPr lang="en-GB" dirty="0"/>
          </a:p>
          <a:p>
            <a:pPr marL="0" indent="0">
              <a:buNone/>
            </a:pPr>
            <a:r>
              <a:rPr lang="en-GB" dirty="0"/>
              <a:t>1. </a:t>
            </a:r>
            <a:r>
              <a:rPr lang="en-GB" dirty="0" err="1"/>
              <a:t>Kulisevsky</a:t>
            </a:r>
            <a:r>
              <a:rPr lang="en-GB" dirty="0"/>
              <a:t> et al. </a:t>
            </a:r>
            <a:r>
              <a:rPr lang="en-GB" dirty="0" err="1"/>
              <a:t>Neurologia</a:t>
            </a:r>
            <a:r>
              <a:rPr lang="en-GB" dirty="0"/>
              <a:t> 2013;28(9):558–583; 2. Hussain et al. </a:t>
            </a:r>
            <a:r>
              <a:rPr lang="fr-FR" dirty="0"/>
              <a:t>Int J </a:t>
            </a:r>
            <a:r>
              <a:rPr lang="fr-FR" dirty="0" err="1"/>
              <a:t>Palliat</a:t>
            </a:r>
            <a:r>
              <a:rPr lang="fr-FR" dirty="0"/>
              <a:t> </a:t>
            </a:r>
            <a:r>
              <a:rPr lang="fr-FR" dirty="0" err="1"/>
              <a:t>Nurs</a:t>
            </a:r>
            <a:r>
              <a:rPr lang="fr-FR" dirty="0"/>
              <a:t> 2013;19(4):162–169; </a:t>
            </a:r>
            <a:br>
              <a:rPr lang="fr-FR" dirty="0"/>
            </a:br>
            <a:r>
              <a:rPr lang="en-GB" dirty="0"/>
              <a:t>3. Boersma et al. Neurology 2014;83(6):561–567; 4. </a:t>
            </a:r>
            <a:r>
              <a:rPr lang="en-GB" dirty="0" err="1"/>
              <a:t>Miyasaki</a:t>
            </a:r>
            <a:r>
              <a:rPr lang="en-GB" dirty="0"/>
              <a:t> et al. et al. Mov </a:t>
            </a:r>
            <a:r>
              <a:rPr lang="en-GB" dirty="0" err="1"/>
              <a:t>Disord</a:t>
            </a:r>
            <a:r>
              <a:rPr lang="en-GB" dirty="0"/>
              <a:t> 2022;37(1):182–189</a:t>
            </a:r>
          </a:p>
        </p:txBody>
      </p:sp>
      <p:sp>
        <p:nvSpPr>
          <p:cNvPr id="4" name="Slide Number Placeholder 3"/>
          <p:cNvSpPr>
            <a:spLocks noGrp="1"/>
          </p:cNvSpPr>
          <p:nvPr>
            <p:ph type="sldNum" sz="quarter" idx="4"/>
          </p:nvPr>
        </p:nvSpPr>
        <p:spPr/>
        <p:txBody>
          <a:bodyPr/>
          <a:lstStyle/>
          <a:p>
            <a:fld id="{6DBC486D-4FAB-B746-8B02-8D7C842291C6}" type="slidenum">
              <a:rPr lang="en-GB" smtClean="0"/>
              <a:pPr/>
              <a:t>31</a:t>
            </a:fld>
            <a:endParaRPr lang="en-GB"/>
          </a:p>
        </p:txBody>
      </p:sp>
      <p:sp>
        <p:nvSpPr>
          <p:cNvPr id="14" name="TextBox 13">
            <a:extLst>
              <a:ext uri="{FF2B5EF4-FFF2-40B4-BE49-F238E27FC236}">
                <a16:creationId xmlns:a16="http://schemas.microsoft.com/office/drawing/2014/main" id="{D53F37A6-203C-CEDC-878D-2829CF471B39}"/>
              </a:ext>
            </a:extLst>
          </p:cNvPr>
          <p:cNvSpPr txBox="1"/>
          <p:nvPr/>
        </p:nvSpPr>
        <p:spPr>
          <a:xfrm>
            <a:off x="6670674" y="1681578"/>
            <a:ext cx="4540252" cy="523220"/>
          </a:xfrm>
          <a:prstGeom prst="rect">
            <a:avLst/>
          </a:prstGeom>
          <a:noFill/>
        </p:spPr>
        <p:txBody>
          <a:bodyPr wrap="square" rtlCol="0">
            <a:spAutoFit/>
          </a:bodyPr>
          <a:lstStyle/>
          <a:p>
            <a:pPr algn="ctr"/>
            <a:r>
              <a:rPr lang="en-GB" sz="1400" b="1" dirty="0">
                <a:solidFill>
                  <a:schemeClr val="accent2">
                    <a:lumMod val="50000"/>
                  </a:schemeClr>
                </a:solidFill>
              </a:rPr>
              <a:t>Triggers for palliative care in people with PD, endorsed by clinicians</a:t>
            </a:r>
            <a:r>
              <a:rPr lang="en-GB" sz="1400" b="1" baseline="30000" dirty="0">
                <a:solidFill>
                  <a:schemeClr val="accent2">
                    <a:lumMod val="50000"/>
                  </a:schemeClr>
                </a:solidFill>
              </a:rPr>
              <a:t>4</a:t>
            </a:r>
            <a:endParaRPr lang="en-GB" sz="1400" b="1" dirty="0">
              <a:solidFill>
                <a:schemeClr val="accent2">
                  <a:lumMod val="50000"/>
                </a:schemeClr>
              </a:solidFill>
            </a:endParaRPr>
          </a:p>
        </p:txBody>
      </p:sp>
      <p:sp>
        <p:nvSpPr>
          <p:cNvPr id="13" name="Oval 12">
            <a:extLst>
              <a:ext uri="{FF2B5EF4-FFF2-40B4-BE49-F238E27FC236}">
                <a16:creationId xmlns:a16="http://schemas.microsoft.com/office/drawing/2014/main" id="{23F906A2-A7D2-C3E7-1A86-B19D27B99B62}"/>
              </a:ext>
            </a:extLst>
          </p:cNvPr>
          <p:cNvSpPr/>
          <p:nvPr/>
        </p:nvSpPr>
        <p:spPr>
          <a:xfrm>
            <a:off x="6095083" y="2179253"/>
            <a:ext cx="2266950" cy="1675943"/>
          </a:xfrm>
          <a:prstGeom prst="ellipse">
            <a:avLst/>
          </a:prstGeom>
          <a:solidFill>
            <a:schemeClr val="bg1"/>
          </a:solidFill>
          <a:ln>
            <a:solidFill>
              <a:srgbClr val="D9D1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accent2">
                    <a:lumMod val="50000"/>
                  </a:schemeClr>
                </a:solidFill>
              </a:rPr>
              <a:t>End of life</a:t>
            </a:r>
          </a:p>
        </p:txBody>
      </p:sp>
      <p:sp>
        <p:nvSpPr>
          <p:cNvPr id="15" name="Oval 14">
            <a:extLst>
              <a:ext uri="{FF2B5EF4-FFF2-40B4-BE49-F238E27FC236}">
                <a16:creationId xmlns:a16="http://schemas.microsoft.com/office/drawing/2014/main" id="{B1013F77-86DB-74BE-7E46-CCAE29B1A524}"/>
              </a:ext>
            </a:extLst>
          </p:cNvPr>
          <p:cNvSpPr/>
          <p:nvPr/>
        </p:nvSpPr>
        <p:spPr>
          <a:xfrm>
            <a:off x="9381760" y="2234228"/>
            <a:ext cx="2164010" cy="1599840"/>
          </a:xfrm>
          <a:prstGeom prst="ellipse">
            <a:avLst/>
          </a:prstGeom>
          <a:solidFill>
            <a:schemeClr val="bg1"/>
          </a:solidFill>
          <a:ln>
            <a:solidFill>
              <a:srgbClr val="D9D1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accent2">
                    <a:lumMod val="50000"/>
                  </a:schemeClr>
                </a:solidFill>
              </a:rPr>
              <a:t>Cognitive decline</a:t>
            </a:r>
          </a:p>
        </p:txBody>
      </p:sp>
      <p:sp>
        <p:nvSpPr>
          <p:cNvPr id="16" name="Oval 15">
            <a:extLst>
              <a:ext uri="{FF2B5EF4-FFF2-40B4-BE49-F238E27FC236}">
                <a16:creationId xmlns:a16="http://schemas.microsoft.com/office/drawing/2014/main" id="{5EC6B4D7-2435-BBA1-C175-60E48AF5A9C5}"/>
              </a:ext>
            </a:extLst>
          </p:cNvPr>
          <p:cNvSpPr/>
          <p:nvPr/>
        </p:nvSpPr>
        <p:spPr>
          <a:xfrm>
            <a:off x="7994675" y="2968147"/>
            <a:ext cx="1981938" cy="1465236"/>
          </a:xfrm>
          <a:prstGeom prst="ellipse">
            <a:avLst/>
          </a:prstGeom>
          <a:solidFill>
            <a:schemeClr val="bg1"/>
          </a:solidFill>
          <a:ln>
            <a:solidFill>
              <a:srgbClr val="D9D1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accent2">
                    <a:lumMod val="50000"/>
                  </a:schemeClr>
                </a:solidFill>
              </a:rPr>
              <a:t>Dysphagia</a:t>
            </a:r>
          </a:p>
        </p:txBody>
      </p:sp>
      <p:sp>
        <p:nvSpPr>
          <p:cNvPr id="17" name="Oval 16">
            <a:extLst>
              <a:ext uri="{FF2B5EF4-FFF2-40B4-BE49-F238E27FC236}">
                <a16:creationId xmlns:a16="http://schemas.microsoft.com/office/drawing/2014/main" id="{75582860-1BEF-AA66-8B6C-75647ACEE92C}"/>
              </a:ext>
            </a:extLst>
          </p:cNvPr>
          <p:cNvSpPr/>
          <p:nvPr/>
        </p:nvSpPr>
        <p:spPr>
          <a:xfrm>
            <a:off x="6427958" y="3729959"/>
            <a:ext cx="1794378" cy="1326574"/>
          </a:xfrm>
          <a:prstGeom prst="ellipse">
            <a:avLst/>
          </a:prstGeom>
          <a:solidFill>
            <a:schemeClr val="bg1"/>
          </a:solidFill>
          <a:ln>
            <a:solidFill>
              <a:srgbClr val="D9D1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accent2">
                    <a:lumMod val="50000"/>
                  </a:schemeClr>
                </a:solidFill>
              </a:rPr>
              <a:t>Carer burden</a:t>
            </a:r>
          </a:p>
        </p:txBody>
      </p:sp>
      <p:sp>
        <p:nvSpPr>
          <p:cNvPr id="18" name="Oval 17">
            <a:extLst>
              <a:ext uri="{FF2B5EF4-FFF2-40B4-BE49-F238E27FC236}">
                <a16:creationId xmlns:a16="http://schemas.microsoft.com/office/drawing/2014/main" id="{D7A5338C-5EA2-2163-0890-C4BF2391AFFE}"/>
              </a:ext>
            </a:extLst>
          </p:cNvPr>
          <p:cNvSpPr/>
          <p:nvPr/>
        </p:nvSpPr>
        <p:spPr>
          <a:xfrm>
            <a:off x="9609255" y="3834068"/>
            <a:ext cx="1610704" cy="1190784"/>
          </a:xfrm>
          <a:prstGeom prst="ellipse">
            <a:avLst/>
          </a:prstGeom>
          <a:solidFill>
            <a:schemeClr val="bg1"/>
          </a:solidFill>
          <a:ln>
            <a:solidFill>
              <a:srgbClr val="D9D1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accent2">
                    <a:lumMod val="50000"/>
                  </a:schemeClr>
                </a:solidFill>
              </a:rPr>
              <a:t>Falls</a:t>
            </a:r>
          </a:p>
        </p:txBody>
      </p:sp>
      <p:sp>
        <p:nvSpPr>
          <p:cNvPr id="19" name="Oval 18">
            <a:extLst>
              <a:ext uri="{FF2B5EF4-FFF2-40B4-BE49-F238E27FC236}">
                <a16:creationId xmlns:a16="http://schemas.microsoft.com/office/drawing/2014/main" id="{AD1EED1F-A280-403D-080E-8EEED897E549}"/>
              </a:ext>
            </a:extLst>
          </p:cNvPr>
          <p:cNvSpPr/>
          <p:nvPr/>
        </p:nvSpPr>
        <p:spPr>
          <a:xfrm>
            <a:off x="8279172" y="4389648"/>
            <a:ext cx="1610704" cy="1190784"/>
          </a:xfrm>
          <a:prstGeom prst="ellipse">
            <a:avLst/>
          </a:prstGeom>
          <a:solidFill>
            <a:schemeClr val="bg1"/>
          </a:solidFill>
          <a:ln>
            <a:solidFill>
              <a:srgbClr val="D9D1CC"/>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400" b="1" dirty="0">
                <a:solidFill>
                  <a:schemeClr val="accent2">
                    <a:lumMod val="50000"/>
                  </a:schemeClr>
                </a:solidFill>
              </a:rPr>
              <a:t>Behavioural</a:t>
            </a:r>
            <a:br>
              <a:rPr lang="en-GB" sz="1400" b="1" dirty="0">
                <a:solidFill>
                  <a:schemeClr val="accent2">
                    <a:lumMod val="50000"/>
                  </a:schemeClr>
                </a:solidFill>
              </a:rPr>
            </a:br>
            <a:r>
              <a:rPr lang="en-GB" sz="1400" b="1" dirty="0">
                <a:solidFill>
                  <a:schemeClr val="accent2">
                    <a:lumMod val="50000"/>
                  </a:schemeClr>
                </a:solidFill>
              </a:rPr>
              <a:t>issues</a:t>
            </a:r>
          </a:p>
        </p:txBody>
      </p:sp>
      <p:sp>
        <p:nvSpPr>
          <p:cNvPr id="20" name="Oval 19">
            <a:extLst>
              <a:ext uri="{FF2B5EF4-FFF2-40B4-BE49-F238E27FC236}">
                <a16:creationId xmlns:a16="http://schemas.microsoft.com/office/drawing/2014/main" id="{133EDB34-96E1-9611-BEED-0E3D71BB708B}"/>
              </a:ext>
            </a:extLst>
          </p:cNvPr>
          <p:cNvSpPr/>
          <p:nvPr/>
        </p:nvSpPr>
        <p:spPr>
          <a:xfrm>
            <a:off x="10092719" y="4800004"/>
            <a:ext cx="1610704" cy="1190784"/>
          </a:xfrm>
          <a:prstGeom prst="ellipse">
            <a:avLst/>
          </a:prstGeom>
          <a:solidFill>
            <a:schemeClr val="bg1"/>
          </a:solidFill>
          <a:ln>
            <a:solidFill>
              <a:srgbClr val="D9D1CC"/>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400" b="1" dirty="0">
                <a:solidFill>
                  <a:schemeClr val="accent2">
                    <a:lumMod val="50000"/>
                  </a:schemeClr>
                </a:solidFill>
              </a:rPr>
              <a:t>Mobility</a:t>
            </a:r>
            <a:br>
              <a:rPr lang="en-GB" sz="1400" b="1" dirty="0">
                <a:solidFill>
                  <a:schemeClr val="accent2">
                    <a:lumMod val="50000"/>
                  </a:schemeClr>
                </a:solidFill>
              </a:rPr>
            </a:br>
            <a:r>
              <a:rPr lang="en-GB" sz="1400" b="1" dirty="0">
                <a:solidFill>
                  <a:schemeClr val="accent2">
                    <a:lumMod val="50000"/>
                  </a:schemeClr>
                </a:solidFill>
              </a:rPr>
              <a:t>issues</a:t>
            </a:r>
          </a:p>
        </p:txBody>
      </p:sp>
      <p:sp>
        <p:nvSpPr>
          <p:cNvPr id="21" name="Oval 20">
            <a:extLst>
              <a:ext uri="{FF2B5EF4-FFF2-40B4-BE49-F238E27FC236}">
                <a16:creationId xmlns:a16="http://schemas.microsoft.com/office/drawing/2014/main" id="{5598C91F-7077-D5D7-5643-BBB7DDFD52C9}"/>
              </a:ext>
            </a:extLst>
          </p:cNvPr>
          <p:cNvSpPr/>
          <p:nvPr/>
        </p:nvSpPr>
        <p:spPr>
          <a:xfrm>
            <a:off x="6882733" y="4914576"/>
            <a:ext cx="1479300" cy="1093638"/>
          </a:xfrm>
          <a:prstGeom prst="ellipse">
            <a:avLst/>
          </a:prstGeom>
          <a:solidFill>
            <a:schemeClr val="bg1"/>
          </a:solidFill>
          <a:ln>
            <a:solidFill>
              <a:srgbClr val="D9D1CC"/>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400" b="1" dirty="0">
                <a:solidFill>
                  <a:schemeClr val="accent2">
                    <a:lumMod val="50000"/>
                  </a:schemeClr>
                </a:solidFill>
              </a:rPr>
              <a:t>Pain</a:t>
            </a:r>
          </a:p>
        </p:txBody>
      </p:sp>
    </p:spTree>
    <p:custDataLst>
      <p:tags r:id="rId1"/>
    </p:custDataLst>
    <p:extLst>
      <p:ext uri="{BB962C8B-B14F-4D97-AF65-F5344CB8AC3E}">
        <p14:creationId xmlns:p14="http://schemas.microsoft.com/office/powerpoint/2010/main" val="819457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81462ED-89D8-BC66-ACA8-1CD0BDE269FC}"/>
              </a:ext>
            </a:extLst>
          </p:cNvPr>
          <p:cNvSpPr>
            <a:spLocks noGrp="1"/>
          </p:cNvSpPr>
          <p:nvPr>
            <p:ph type="title"/>
          </p:nvPr>
        </p:nvSpPr>
        <p:spPr/>
        <p:txBody>
          <a:bodyPr/>
          <a:lstStyle/>
          <a:p>
            <a:r>
              <a:rPr lang="en-GB"/>
              <a:t>Summary</a:t>
            </a:r>
          </a:p>
        </p:txBody>
      </p:sp>
      <p:sp>
        <p:nvSpPr>
          <p:cNvPr id="8" name="Text Placeholder 7">
            <a:extLst>
              <a:ext uri="{FF2B5EF4-FFF2-40B4-BE49-F238E27FC236}">
                <a16:creationId xmlns:a16="http://schemas.microsoft.com/office/drawing/2014/main" id="{58CDBB56-0BA5-8369-6C19-7FF1FBD5C07C}"/>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7614897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CBFCBA-70F4-AB8F-48B3-E229066CD29D}"/>
              </a:ext>
            </a:extLst>
          </p:cNvPr>
          <p:cNvSpPr>
            <a:spLocks noGrp="1"/>
          </p:cNvSpPr>
          <p:nvPr>
            <p:ph type="body" sz="quarter" idx="17"/>
          </p:nvPr>
        </p:nvSpPr>
        <p:spPr/>
        <p:txBody>
          <a:bodyPr/>
          <a:lstStyle/>
          <a:p>
            <a:r>
              <a:rPr lang="en-GB"/>
              <a:t>Parkinson’s disease – </a:t>
            </a:r>
            <a:r>
              <a:rPr lang="en-US"/>
              <a:t>Course, natural history and prognosis</a:t>
            </a:r>
            <a:endParaRPr lang="en-GB"/>
          </a:p>
        </p:txBody>
      </p:sp>
      <p:sp>
        <p:nvSpPr>
          <p:cNvPr id="3" name="Title 2">
            <a:extLst>
              <a:ext uri="{FF2B5EF4-FFF2-40B4-BE49-F238E27FC236}">
                <a16:creationId xmlns:a16="http://schemas.microsoft.com/office/drawing/2014/main" id="{5E3CF067-2D3A-1A45-78D3-251F6C2AA703}"/>
              </a:ext>
            </a:extLst>
          </p:cNvPr>
          <p:cNvSpPr>
            <a:spLocks noGrp="1"/>
          </p:cNvSpPr>
          <p:nvPr>
            <p:ph type="title"/>
          </p:nvPr>
        </p:nvSpPr>
        <p:spPr/>
        <p:txBody>
          <a:bodyPr/>
          <a:lstStyle/>
          <a:p>
            <a:r>
              <a:rPr lang="en-GB"/>
              <a:t>Summary</a:t>
            </a:r>
          </a:p>
        </p:txBody>
      </p:sp>
      <p:sp>
        <p:nvSpPr>
          <p:cNvPr id="8" name="Content Placeholder 7">
            <a:extLst>
              <a:ext uri="{FF2B5EF4-FFF2-40B4-BE49-F238E27FC236}">
                <a16:creationId xmlns:a16="http://schemas.microsoft.com/office/drawing/2014/main" id="{CCEC1795-AEC0-9E89-7AF9-94CEB89D4512}"/>
              </a:ext>
            </a:extLst>
          </p:cNvPr>
          <p:cNvSpPr>
            <a:spLocks noGrp="1"/>
          </p:cNvSpPr>
          <p:nvPr>
            <p:ph idx="19"/>
          </p:nvPr>
        </p:nvSpPr>
        <p:spPr/>
        <p:txBody>
          <a:bodyPr/>
          <a:lstStyle/>
          <a:p>
            <a:r>
              <a:rPr lang="en-US" dirty="0"/>
              <a:t>The progression of PD pathology occurs on a number of levels: within a cell, between nearby cells, and over longer distances throughout the brain, as well as in tissues and organs outside the brain</a:t>
            </a:r>
          </a:p>
          <a:p>
            <a:r>
              <a:rPr lang="en-US" sz="1600" dirty="0">
                <a:latin typeface="Arial" panose="020B0604020202020204" pitchFamily="34" charset="0"/>
                <a:cs typeface="Arial" panose="020B0604020202020204" pitchFamily="34" charset="0"/>
              </a:rPr>
              <a:t>Many long-term studies have been devised to study the prodrome of PD, which can include </a:t>
            </a:r>
            <a:r>
              <a:rPr lang="en-GB" dirty="0"/>
              <a:t>symptoms such as tremor, constipation, depression, and memory problems</a:t>
            </a:r>
          </a:p>
          <a:p>
            <a:r>
              <a:rPr lang="en-US" sz="1600" dirty="0">
                <a:latin typeface="Arial" panose="020B0604020202020204" pitchFamily="34" charset="0"/>
                <a:cs typeface="Arial" panose="020B0604020202020204" pitchFamily="34" charset="0"/>
              </a:rPr>
              <a:t>Treatment of PD involves symptomatic therapy, that should adapt as the disease progresses</a:t>
            </a:r>
          </a:p>
          <a:p>
            <a:r>
              <a:rPr lang="en-US" sz="1600" dirty="0">
                <a:latin typeface="Arial" panose="020B0604020202020204" pitchFamily="34" charset="0"/>
                <a:cs typeface="Arial" panose="020B0604020202020204" pitchFamily="34" charset="0"/>
              </a:rPr>
              <a:t>In early-stage PD, dopaminergic treatment is often highly effective in controlling motor symptoms, with coverage generally provided for many hours post-treatment with a single dose of levodopa</a:t>
            </a:r>
          </a:p>
          <a:p>
            <a:r>
              <a:rPr lang="en-US" dirty="0">
                <a:latin typeface="Arial" panose="020B0604020202020204" pitchFamily="34" charset="0"/>
                <a:cs typeface="Arial" panose="020B0604020202020204" pitchFamily="34" charset="0"/>
              </a:rPr>
              <a:t>H</a:t>
            </a:r>
            <a:r>
              <a:rPr lang="en-US" sz="1600" dirty="0">
                <a:latin typeface="Arial" panose="020B0604020202020204" pitchFamily="34" charset="0"/>
                <a:cs typeface="Arial" panose="020B0604020202020204" pitchFamily="34" charset="0"/>
              </a:rPr>
              <a:t>owever, as the disease progresses through the mid-to-late stages, the therapeutic window narrows with significant OFF time, increased incidence of dyskinesia, and the development of levodopa-unresponsive motor and non-motor features</a:t>
            </a:r>
          </a:p>
          <a:p>
            <a:r>
              <a:rPr lang="en-US" dirty="0"/>
              <a:t>People with PD have a somewhat shorter life expectancy than people without PD, and have a greater risk of developing cognitive impairment or dementia, which has a negative impact on quality of life – </a:t>
            </a:r>
            <a:r>
              <a:rPr lang="en-US" b="1" dirty="0"/>
              <a:t>there is still an urgent unmet need for disease modifying therapies for PD</a:t>
            </a:r>
          </a:p>
        </p:txBody>
      </p:sp>
      <p:sp>
        <p:nvSpPr>
          <p:cNvPr id="7" name="Text Placeholder 6">
            <a:extLst>
              <a:ext uri="{FF2B5EF4-FFF2-40B4-BE49-F238E27FC236}">
                <a16:creationId xmlns:a16="http://schemas.microsoft.com/office/drawing/2014/main" id="{9DEC20F5-6218-B4EB-9E53-C34868FEC1FB}"/>
              </a:ext>
            </a:extLst>
          </p:cNvPr>
          <p:cNvSpPr>
            <a:spLocks noGrp="1"/>
          </p:cNvSpPr>
          <p:nvPr>
            <p:ph type="body" sz="quarter" idx="18"/>
          </p:nvPr>
        </p:nvSpPr>
        <p:spPr/>
        <p:txBody>
          <a:bodyPr/>
          <a:lstStyle/>
          <a:p>
            <a:r>
              <a:rPr lang="en-GB"/>
              <a:t>PD=Parkinson’s disease</a:t>
            </a:r>
          </a:p>
        </p:txBody>
      </p:sp>
      <p:sp>
        <p:nvSpPr>
          <p:cNvPr id="6" name="Slide Number Placeholder 5">
            <a:extLst>
              <a:ext uri="{FF2B5EF4-FFF2-40B4-BE49-F238E27FC236}">
                <a16:creationId xmlns:a16="http://schemas.microsoft.com/office/drawing/2014/main" id="{FC6BF8C6-299D-C539-AC8C-6F8C591EF595}"/>
              </a:ext>
            </a:extLst>
          </p:cNvPr>
          <p:cNvSpPr>
            <a:spLocks noGrp="1"/>
          </p:cNvSpPr>
          <p:nvPr>
            <p:ph type="sldNum" sz="quarter" idx="4"/>
          </p:nvPr>
        </p:nvSpPr>
        <p:spPr/>
        <p:txBody>
          <a:bodyPr/>
          <a:lstStyle/>
          <a:p>
            <a:fld id="{6DBC486D-4FAB-B746-8B02-8D7C842291C6}" type="slidenum">
              <a:rPr lang="en-US" smtClean="0"/>
              <a:pPr/>
              <a:t>33</a:t>
            </a:fld>
            <a:endParaRPr lang="en-US"/>
          </a:p>
        </p:txBody>
      </p:sp>
    </p:spTree>
    <p:extLst>
      <p:ext uri="{BB962C8B-B14F-4D97-AF65-F5344CB8AC3E}">
        <p14:creationId xmlns:p14="http://schemas.microsoft.com/office/powerpoint/2010/main" val="9469709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Neurotorium - PowerPoint-Skabelon - 2022-01-28">
  <a:themeElements>
    <a:clrScheme name="Neurotorium - Light Brown">
      <a:dk1>
        <a:srgbClr val="3F1A01"/>
      </a:dk1>
      <a:lt1>
        <a:srgbClr val="FFFFFF"/>
      </a:lt1>
      <a:dk2>
        <a:srgbClr val="1A1A17"/>
      </a:dk2>
      <a:lt2>
        <a:srgbClr val="F0F0F0"/>
      </a:lt2>
      <a:accent1>
        <a:srgbClr val="717171"/>
      </a:accent1>
      <a:accent2>
        <a:srgbClr val="B59E5F"/>
      </a:accent2>
      <a:accent3>
        <a:srgbClr val="99B3A8"/>
      </a:accent3>
      <a:accent4>
        <a:srgbClr val="B2A499"/>
      </a:accent4>
      <a:accent5>
        <a:srgbClr val="7B9CBB"/>
      </a:accent5>
      <a:accent6>
        <a:srgbClr val="DADADA"/>
      </a:accent6>
      <a:hlink>
        <a:srgbClr val="B59E5F"/>
      </a:hlink>
      <a:folHlink>
        <a:srgbClr val="DADADA"/>
      </a:folHlink>
    </a:clrScheme>
    <a:fontScheme name="Neurotorium">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Neurotorium - PowerPoint-Skabelon - Med slideeksempler" id="{B125BEC1-C9EF-40C8-ADC3-5EA0EC0C5B61}" vid="{3E446576-775D-4049-A944-33D0490B24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10931A5-2B3B-43B2-9FAA-19668B26B05D}">
  <we:reference id="e3b93a0b-ccfa-4110-a55c-43ea778c55ae" version="2.0.0.0" store="EXCatalog" storeType="EXCatalog"/>
  <we:alternateReferences>
    <we:reference id="WA200003915" version="2.0.0.0" store="en-GB"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2B393518E922946AD600E2E02326B8A" ma:contentTypeVersion="15" ma:contentTypeDescription="Create a new document." ma:contentTypeScope="" ma:versionID="f3e46bd671af22874b8b36d04e1c77ea">
  <xsd:schema xmlns:xsd="http://www.w3.org/2001/XMLSchema" xmlns:xs="http://www.w3.org/2001/XMLSchema" xmlns:p="http://schemas.microsoft.com/office/2006/metadata/properties" xmlns:ns2="28627d7c-4416-4bc1-86cf-ca6c3a42a8f2" xmlns:ns3="08562aa6-c0ad-4fb9-8a82-15409d3a28b4" targetNamespace="http://schemas.microsoft.com/office/2006/metadata/properties" ma:root="true" ma:fieldsID="9f69a753dd815c958e9a0d3771e06274" ns2:_="" ns3:_="">
    <xsd:import namespace="28627d7c-4416-4bc1-86cf-ca6c3a42a8f2"/>
    <xsd:import namespace="08562aa6-c0ad-4fb9-8a82-15409d3a28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OCR" minOccurs="0"/>
                <xsd:element ref="ns2:MediaServiceGenerationTime" minOccurs="0"/>
                <xsd:element ref="ns2:MediaServiceEventHashCode"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627d7c-4416-4bc1-86cf-ca6c3a42a8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e078bdb-18a8-4b38-96d3-955d15450c4a"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8562aa6-c0ad-4fb9-8a82-15409d3a28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61de0876-55d8-41bd-b4f0-ce3da1a25b06}" ma:internalName="TaxCatchAll" ma:showField="CatchAllData" ma:web="08562aa6-c0ad-4fb9-8a82-15409d3a28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D4A34C-2FA0-492E-A757-1DB91E9C2A67}">
  <ds:schemaRefs>
    <ds:schemaRef ds:uri="08562aa6-c0ad-4fb9-8a82-15409d3a28b4"/>
    <ds:schemaRef ds:uri="28627d7c-4416-4bc1-86cf-ca6c3a42a8f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3EDB25A-60CB-466D-B325-A36AE19E8CD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Neurotorium - PowerPoint-Skabelon - 2022-01-28</Template>
  <TotalTime>9254</TotalTime>
  <Words>13975</Words>
  <Application>Microsoft Office PowerPoint</Application>
  <PresentationFormat>Widescreen</PresentationFormat>
  <Paragraphs>899</Paragraphs>
  <Slides>33</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Begum Sans Medium</vt:lpstr>
      <vt:lpstr>Calibri</vt:lpstr>
      <vt:lpstr>Times New Roman</vt:lpstr>
      <vt:lpstr>Wingdings</vt:lpstr>
      <vt:lpstr>Neurotorium - PowerPoint-Skabelon - 2022-01-28</vt:lpstr>
      <vt:lpstr>PowerPoint Presentation</vt:lpstr>
      <vt:lpstr>The course of Parkinson’s disease</vt:lpstr>
      <vt:lpstr>The progression of Parkinson’s disease</vt:lpstr>
      <vt:lpstr>Clinical symptoms and time course of Parkinson’s disease progression</vt:lpstr>
      <vt:lpstr>The effect of genetic subtypes of Parkinson’s disease on disease course</vt:lpstr>
      <vt:lpstr>Thresholds for the appearance of Parkinson’s disease symptoms</vt:lpstr>
      <vt:lpstr>The therapeutic benefits of modifying the disease course</vt:lpstr>
      <vt:lpstr>Change in levodopa response over time – ‘wearing-off’</vt:lpstr>
      <vt:lpstr>Definitions of terms used in Parkinson’s disease</vt:lpstr>
      <vt:lpstr>Drug-induced dyskinesias in Parkinson’s disease</vt:lpstr>
      <vt:lpstr>Relationship between levodopa administration and motor fluctuations</vt:lpstr>
      <vt:lpstr>Prodromal Parkinson’s disease </vt:lpstr>
      <vt:lpstr>MDS research criteria for prodromal Parkinson’s disease</vt:lpstr>
      <vt:lpstr>Symptoms of prodromal Parkinson’s disease</vt:lpstr>
      <vt:lpstr>Distribution of α-synuclein pathology in Parkinson’s disease</vt:lpstr>
      <vt:lpstr>The gastrointestinal system and Parkinson’s disease</vt:lpstr>
      <vt:lpstr>The stages of Parkinson’s disease</vt:lpstr>
      <vt:lpstr>Motor symptoms can define three stages of Parkinson’s disease</vt:lpstr>
      <vt:lpstr>Hoehn &amp; Yahr staging of Parkinson’s disease</vt:lpstr>
      <vt:lpstr>Emerging methods for Parkinson’s disease staging</vt:lpstr>
      <vt:lpstr>Identifying biomarkers of Parkinson’s disease progression using observational cohorts</vt:lpstr>
      <vt:lpstr>Observational cohorts of Parkinson’s disease progression</vt:lpstr>
      <vt:lpstr>The Parkinson’s disease progression marker initiative (PPMI)</vt:lpstr>
      <vt:lpstr>Preliminary results of the PPMI study</vt:lpstr>
      <vt:lpstr>Parkinson’s disease prognosis</vt:lpstr>
      <vt:lpstr>Parkinson’s disease prognosis</vt:lpstr>
      <vt:lpstr>Multicentre studies of long-term prognosis</vt:lpstr>
      <vt:lpstr>The influence of comorbidities on prognosis of Parkinson’s disease</vt:lpstr>
      <vt:lpstr>Cognitive impairment and dementia in Parkinson’s disease</vt:lpstr>
      <vt:lpstr>Braak stage and cognitive status of patients with Parkinson’s disease</vt:lpstr>
      <vt:lpstr>Clinical approach during late-stage Parkinson’s disease</vt:lpstr>
      <vt:lpstr>Summary</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Christopher Edge</dc:creator>
  <cp:lastModifiedBy>Rachel Jagger</cp:lastModifiedBy>
  <cp:revision>23</cp:revision>
  <cp:lastPrinted>2017-11-17T15:26:40Z</cp:lastPrinted>
  <dcterms:created xsi:type="dcterms:W3CDTF">2017-01-23T14:24:15Z</dcterms:created>
  <dcterms:modified xsi:type="dcterms:W3CDTF">2025-03-06T12:48:30Z</dcterms:modified>
</cp:coreProperties>
</file>